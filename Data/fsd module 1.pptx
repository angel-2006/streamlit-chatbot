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6F50-6E29-ECBB-4542-0A9B48E9F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19EC4-1E10-FA67-B5CD-BD4F57A4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0957A-85E6-DC28-D226-2887803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2C1A-BFA6-2963-1958-202B5C93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E9889-8E76-9A08-E80C-49805160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93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C39E-3C06-9715-0617-7454622D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B7404-F9E5-6B3C-A70F-F81B2849B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0AB3-F3D5-3C2A-2A4F-7731FD7C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3DBE2-1CED-AAA7-6F1A-10805947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6CCB-D73B-F0DF-04D0-B9AA09E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33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A664-3360-E346-D2F4-D76D1C5C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EDC65-F639-9A2E-5B7F-5A18476F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1D602-9507-7E5B-4350-804F38C8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91A7D-3514-E63D-25F2-B956CCB3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D832-BBD8-B78D-2EF8-475284FF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1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5501-0D2C-A8C0-C3E9-51807E5D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8304-7D25-FDB7-1BC3-877865225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99388-3280-E5CD-D206-D3F6413D8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E8ED4-3732-680D-D7C8-7C0E1BBA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E7483-AB47-D726-CED1-0CE471A6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64DB6-9361-D05D-9224-987747F8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6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9D79-FAD7-503E-EBF9-0CD587F7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5A523-FDD3-A488-ED67-5A0BE02FD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85C13-D1FD-5752-C1BC-749A1751F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59267-3506-48F5-2848-94ED99CCB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FBB3-DC06-E450-6560-37EBE1963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24E32-547B-00DF-CD6D-9AF00A9E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B6CBE-BA51-7388-56AF-61A7A2C5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8FF93-7F7C-D42D-D66D-1A4A6990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9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BCCD-1DB4-02AE-E5D6-21FE611B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2E328-8885-4461-591B-E912203F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13C72-576D-7F83-9B9E-C564E838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4D986-6474-8D57-F387-99D044B3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2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F3E98-83B8-55A3-8E7D-00B65D27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BB593-4991-4457-5F45-BFB05B10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61A5F-B111-2451-32E3-32B7F958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09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270D-3583-EE69-2AA5-E4AEB9DF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4ACFD-9818-F811-6BCF-F0BFA1276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8FB25-088E-3EDC-C7C2-B089F08CE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885F-71A2-1ACF-35FE-EC157314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00618-5A9F-06C3-79E5-82BA11AC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CF7D3-2003-1265-D758-27C5D15B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8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2DD2-B072-ED8C-59A5-862D054DF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EE178-5C4C-6254-0C04-E9DDB8833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520A2-1EC6-758B-5BBB-A54C11327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E9F3C-0560-A09E-973B-B5E66F1F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2508-DBD5-4D78-F801-A078D8F5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AB7D2-6AB9-C26B-E252-E42D7F44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3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8C32-2435-4740-BF1D-338EEB8F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3E1AF-761B-AA18-4554-97D23180F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EB97B-9562-DA9B-26EE-15C60EE2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B2961-5424-C23F-D6DF-3CFDD5D1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9556-3F19-D3F2-6559-8A031653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96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9D163-5593-D30E-5C0C-BF8D1920F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9AA29-34B1-1416-29A7-7DC592FED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4C36-9683-03D8-8355-BEF4AC76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C52E-8C0E-6108-D7B2-63B51187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F8B10-71BE-EBB7-2A94-B5B477FB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38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B00A-0CA4-4E5B-925F-951D759C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6B003-4D1B-8E0F-DECC-4BBC592C5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544E1-F474-AB94-9EA2-B87841F00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E2A52-5D9A-4C5D-8576-8F0FD34B05A5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52732-A9BC-1282-BACE-A920C858C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44CD7-E226-CCCC-A5BE-C1C8663A8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525D1A3D-337F-3285-F367-21BF96B2FA36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2226183" cy="713206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ED5D3EF2-7E45-EEE1-B429-14A2BD02DA0E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1353800" y="0"/>
            <a:ext cx="733744" cy="75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pseudo_classes.asp" TargetMode="External"/><Relationship Id="rId2" Type="http://schemas.openxmlformats.org/officeDocument/2006/relationships/hyperlink" Target="https://www.w3schools.com/css/css_combinator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/css_attribute_selectors.asp" TargetMode="External"/><Relationship Id="rId4" Type="http://schemas.openxmlformats.org/officeDocument/2006/relationships/hyperlink" Target="https://www.w3schools.com/css/css_pseudo_elements.as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B2C7-9CB3-029D-A2D6-5384E1ACC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034" y="173457"/>
            <a:ext cx="9144000" cy="499403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Dayananda Sagar University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78BB208-306B-D095-1397-9DAB57589938}"/>
              </a:ext>
            </a:extLst>
          </p:cNvPr>
          <p:cNvSpPr txBox="1"/>
          <p:nvPr/>
        </p:nvSpPr>
        <p:spPr>
          <a:xfrm>
            <a:off x="1240814" y="1298945"/>
            <a:ext cx="10124440" cy="3718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195" dirty="0">
                <a:solidFill>
                  <a:srgbClr val="002060"/>
                </a:solidFill>
                <a:latin typeface="Cambria"/>
                <a:cs typeface="Cambria"/>
              </a:rPr>
              <a:t>School</a:t>
            </a:r>
            <a:r>
              <a:rPr sz="2800" b="1" spc="345" dirty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sz="2800" b="1" spc="135" dirty="0">
                <a:solidFill>
                  <a:srgbClr val="002060"/>
                </a:solidFill>
                <a:latin typeface="Cambria"/>
                <a:cs typeface="Cambria"/>
              </a:rPr>
              <a:t>of</a:t>
            </a:r>
            <a:r>
              <a:rPr sz="2800" b="1" spc="340" dirty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2060"/>
                </a:solidFill>
                <a:latin typeface="Cambria"/>
                <a:cs typeface="Cambria"/>
              </a:rPr>
              <a:t>Engineering</a:t>
            </a:r>
            <a:endParaRPr sz="2800" dirty="0">
              <a:solidFill>
                <a:srgbClr val="002060"/>
              </a:solidFill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800" b="1" spc="85" dirty="0">
                <a:latin typeface="Cambria"/>
                <a:cs typeface="Cambria"/>
              </a:rPr>
              <a:t>Devarakaggalahalli,</a:t>
            </a:r>
            <a:r>
              <a:rPr sz="1800" b="1" spc="275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Harohalli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Kanakapura</a:t>
            </a:r>
            <a:r>
              <a:rPr sz="1800" b="1" spc="260" dirty="0">
                <a:latin typeface="Cambria"/>
                <a:cs typeface="Cambria"/>
              </a:rPr>
              <a:t> </a:t>
            </a:r>
            <a:r>
              <a:rPr sz="1800" b="1" spc="125" dirty="0">
                <a:latin typeface="Cambria"/>
                <a:cs typeface="Cambria"/>
              </a:rPr>
              <a:t>Road,</a:t>
            </a:r>
            <a:r>
              <a:rPr sz="1800" b="1" spc="245" dirty="0">
                <a:latin typeface="Cambria"/>
                <a:cs typeface="Cambria"/>
              </a:rPr>
              <a:t> </a:t>
            </a:r>
            <a:r>
              <a:rPr sz="1800" b="1" spc="160" dirty="0">
                <a:latin typeface="Cambria"/>
                <a:cs typeface="Cambria"/>
              </a:rPr>
              <a:t>Dt,</a:t>
            </a:r>
            <a:r>
              <a:rPr sz="1800" b="1" spc="220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Ramanagara,</a:t>
            </a:r>
            <a:r>
              <a:rPr sz="1800" b="1" spc="280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Karnataka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562112</a:t>
            </a:r>
            <a:endParaRPr sz="1800" dirty="0">
              <a:latin typeface="Cambria"/>
              <a:cs typeface="Cambria"/>
            </a:endParaRPr>
          </a:p>
          <a:p>
            <a:pPr marR="190500" algn="ctr">
              <a:lnSpc>
                <a:spcPct val="100000"/>
              </a:lnSpc>
              <a:spcBef>
                <a:spcPts val="1885"/>
              </a:spcBef>
            </a:pPr>
            <a:r>
              <a:rPr sz="2000" b="1" spc="120" dirty="0">
                <a:latin typeface="Cambria"/>
                <a:cs typeface="Cambria"/>
              </a:rPr>
              <a:t>Department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of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Computer</a:t>
            </a:r>
            <a:r>
              <a:rPr sz="2000" b="1" spc="210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Science</a:t>
            </a:r>
            <a:r>
              <a:rPr sz="2000" b="1" spc="26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&amp;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Engineering</a:t>
            </a:r>
            <a:endParaRPr sz="2000" dirty="0">
              <a:latin typeface="Cambria"/>
              <a:cs typeface="Cambria"/>
            </a:endParaRPr>
          </a:p>
          <a:p>
            <a:pPr marR="191135" algn="ctr">
              <a:lnSpc>
                <a:spcPct val="100000"/>
              </a:lnSpc>
            </a:pPr>
            <a:r>
              <a:rPr sz="2000" b="1" spc="80" dirty="0">
                <a:latin typeface="Cambria"/>
                <a:cs typeface="Cambria"/>
              </a:rPr>
              <a:t>(Artificial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Intelligence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&amp;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Machine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60" dirty="0">
                <a:latin typeface="Cambria"/>
                <a:cs typeface="Cambria"/>
              </a:rPr>
              <a:t>Learning)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2000" dirty="0">
              <a:latin typeface="Cambria"/>
              <a:cs typeface="Cambria"/>
            </a:endParaRPr>
          </a:p>
          <a:p>
            <a:pPr marL="148590" algn="ctr">
              <a:lnSpc>
                <a:spcPct val="100000"/>
              </a:lnSpc>
              <a:spcBef>
                <a:spcPts val="5"/>
              </a:spcBef>
              <a:tabLst>
                <a:tab pos="2138680" algn="l"/>
                <a:tab pos="3382645" algn="l"/>
              </a:tabLst>
            </a:pPr>
            <a:r>
              <a:rPr lang="en-IN" sz="3600" b="1" spc="180" dirty="0">
                <a:latin typeface="Cambria"/>
                <a:cs typeface="Cambria"/>
              </a:rPr>
              <a:t>FULL STACK DEVELOPMENT</a:t>
            </a:r>
            <a:endParaRPr sz="3600" dirty="0">
              <a:latin typeface="Cambria"/>
              <a:cs typeface="Cambria"/>
            </a:endParaRPr>
          </a:p>
          <a:p>
            <a:pPr marL="250825" algn="ctr">
              <a:lnSpc>
                <a:spcPct val="100000"/>
              </a:lnSpc>
              <a:spcBef>
                <a:spcPts val="1814"/>
              </a:spcBef>
            </a:pPr>
            <a:r>
              <a:rPr sz="2400" b="1" spc="290" dirty="0">
                <a:latin typeface="Cambria"/>
                <a:cs typeface="Cambria"/>
              </a:rPr>
              <a:t>SEMESTER</a:t>
            </a:r>
            <a:r>
              <a:rPr sz="2400" b="1" spc="254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–</a:t>
            </a:r>
            <a:r>
              <a:rPr sz="2400" b="1" spc="280" dirty="0">
                <a:latin typeface="Cambria"/>
                <a:cs typeface="Cambria"/>
              </a:rPr>
              <a:t> </a:t>
            </a:r>
            <a:r>
              <a:rPr lang="en-IN" sz="2400" b="1" spc="145" dirty="0">
                <a:latin typeface="Cambria"/>
                <a:cs typeface="Cambria"/>
              </a:rPr>
              <a:t>IV</a:t>
            </a:r>
            <a:endParaRPr sz="2400" dirty="0">
              <a:latin typeface="Cambria"/>
              <a:cs typeface="Cambria"/>
            </a:endParaRPr>
          </a:p>
          <a:p>
            <a:pPr marL="250190" algn="ctr">
              <a:lnSpc>
                <a:spcPct val="100000"/>
              </a:lnSpc>
              <a:spcBef>
                <a:spcPts val="705"/>
              </a:spcBef>
            </a:pPr>
            <a:r>
              <a:rPr sz="2400" b="1" spc="140" dirty="0">
                <a:latin typeface="Cambria"/>
                <a:cs typeface="Cambria"/>
              </a:rPr>
              <a:t>Unit-</a:t>
            </a:r>
            <a:r>
              <a:rPr lang="en-IN" sz="2400" b="1" spc="105" dirty="0">
                <a:latin typeface="Cambria"/>
                <a:cs typeface="Cambria"/>
              </a:rPr>
              <a:t>1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2927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20D1-FE94-41EC-701F-0ABF6CC9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25" y="0"/>
            <a:ext cx="10515600" cy="687298"/>
          </a:xfrm>
        </p:spPr>
        <p:txBody>
          <a:bodyPr>
            <a:noAutofit/>
          </a:bodyPr>
          <a:lstStyle/>
          <a:p>
            <a:pPr algn="ctr"/>
            <a:r>
              <a:rPr lang="en-IN" b="1" spc="33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BC917FD-3385-2A29-8AC8-C3CC89649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44194"/>
              </p:ext>
            </p:extLst>
          </p:nvPr>
        </p:nvGraphicFramePr>
        <p:xfrm>
          <a:off x="442260" y="893809"/>
          <a:ext cx="10996930" cy="5119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9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algn="ctr">
                        <a:lnSpc>
                          <a:spcPts val="3265"/>
                        </a:lnSpc>
                      </a:pPr>
                      <a:r>
                        <a:rPr sz="2800" b="1" spc="1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r>
                        <a:rPr sz="2800" b="1" spc="3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sz="2800" b="1" spc="3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spc="1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2870">
                <a:tc>
                  <a:txBody>
                    <a:bodyPr/>
                    <a:lstStyle/>
                    <a:p>
                      <a:pPr marL="29845">
                        <a:lnSpc>
                          <a:spcPts val="3265"/>
                        </a:lnSpc>
                      </a:pPr>
                      <a:r>
                        <a:rPr lang="en-IN" sz="3200" b="1" i="0" u="sng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Introduction to HTML</a:t>
                      </a:r>
                      <a:r>
                        <a:rPr sz="3200" b="1" u="sng" spc="229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sz="3200" b="1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 syntax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 document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CSS selectors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properties, and values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Build your first web page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Semantics of HTML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Block and inline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Hyperlinks, Lists, Tables, Forms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Create a basic multi page website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Cascading effect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Advanced selectors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CSS resets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Positioning</a:t>
                      </a:r>
                      <a:r>
                        <a:rPr sz="2000" b="1" spc="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886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A6E0-F462-893A-422E-2C260E84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8" y="10992"/>
            <a:ext cx="10515600" cy="67004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9F47-37DA-4317-90FE-F40EA3838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" y="1066501"/>
            <a:ext cx="12186968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Markup Language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standard language used to create and design webpages.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the structure of a webpage by using elements like headings, paragraphs, images, links, and tables 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works alongside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(Cascading Style Sheets)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styling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81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309E-61A2-2356-0D7C-04A0A436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43" y="0"/>
            <a:ext cx="10515600" cy="825320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syntax</a:t>
            </a:r>
            <a:br>
              <a:rPr lang="en-IN" sz="4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AFC27-489E-666A-DE6C-310D8571B17D}"/>
              </a:ext>
            </a:extLst>
          </p:cNvPr>
          <p:cNvSpPr txBox="1"/>
          <p:nvPr/>
        </p:nvSpPr>
        <p:spPr>
          <a:xfrm>
            <a:off x="189781" y="1135549"/>
            <a:ext cx="79017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</a:t>
            </a: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&gt;My First Webpage&lt;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/title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&gt;Welcome to My Website&lt;/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&gt;This is a simple webpage using HTML.&lt;/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="https://www.example.com"&gt;Click here&lt;/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to visit an example site.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96131-0383-8D84-7871-3075AFCB41CF}"/>
              </a:ext>
            </a:extLst>
          </p:cNvPr>
          <p:cNvSpPr txBox="1"/>
          <p:nvPr/>
        </p:nvSpPr>
        <p:spPr>
          <a:xfrm>
            <a:off x="8034068" y="1691999"/>
            <a:ext cx="41579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The root element of an HTML document.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Contains metadata like the title and links to stylesheets.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Defines the title of the webpage (shown on the browser tab).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Contains the content of the webpage (text, images, links, etc.)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to 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Headings, where 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is the largest and 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is the smallest.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Paragraphs for text content.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Anchor tag for hyperlinks.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Displays images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.&lt;table&gt;, &lt;div&gt;, &lt;span&gt;, &lt;form&gt;,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etc.:Used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layout and forms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140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8A2D-84C0-7914-EF63-D32918EB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elements</a:t>
            </a:r>
            <a:br>
              <a:rPr lang="en-IN" sz="4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43B0A-25A3-B7A6-5B77-4AD3F41C5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40" y="1014741"/>
            <a:ext cx="12026660" cy="53688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HTML element is defined by a start tag, some content, and an end tag.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 algn="ctr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tagname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goes here...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tagname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Examples of some HTML elements:</a:t>
            </a:r>
          </a:p>
          <a:p>
            <a:pPr marL="0" indent="0" algn="ctr"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First Heading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/h1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elements can be nested (this means that elements can contain other elements).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Empty HTML Elements (no content)</a:t>
            </a:r>
          </a:p>
          <a:p>
            <a:pPr marL="0" indent="0" algn="ctr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 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paragraph with a line break.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79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7CB7-EB20-DE13-62C2-CC3C989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44387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document structure</a:t>
            </a:r>
            <a:br>
              <a:rPr lang="en-IN" sz="4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62CB-7220-0BA8-941F-8F396B8E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0" y="862642"/>
            <a:ext cx="12026660" cy="84438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document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a standard structure that defines the layout and elements of a webpage.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5098D-1102-B335-3074-EDCD00FDCE52}"/>
              </a:ext>
            </a:extLst>
          </p:cNvPr>
          <p:cNvSpPr txBox="1"/>
          <p:nvPr/>
        </p:nvSpPr>
        <p:spPr>
          <a:xfrm>
            <a:off x="-1" y="1707029"/>
            <a:ext cx="120266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&lt;meta charset="UTF-8"&gt;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&lt;meta name="viewport" content="width=device-width, initial-scale=1.0"&gt;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&lt;title&gt;Simple Webpage&lt;/title&gt;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&lt;h1&gt;Welcome to My Website&lt;/h1&gt;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&lt;p&gt;This is a simple webpage created using HTML.&lt;/p&gt; 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="https://www.example.com"&gt;Visit Example&lt;/a&gt; 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&lt;h2&gt;My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Fruits&lt;/h2&gt;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&lt;li&gt;Apple&lt;/li&gt;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&lt;li&gt;Banana&lt;/li&gt;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&lt;li&gt;Orange&lt;/li&gt;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&lt;p&gt;&amp;copy; 2025 My Website&lt;/p&gt;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1003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200D-9A3E-38CD-0E99-C38F5588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02" y="0"/>
            <a:ext cx="10515600" cy="61828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CSS selectors and advanced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9E571-2864-A73C-E562-4F0AD196A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730"/>
            <a:ext cx="12192000" cy="57483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CSS selector selects the HTML element(s) we want to style.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selectors are used to "find" (or select) the HTML elements we want to style. We can divide CSS selectors into five categories: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selectors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(select elements based on name, id, class)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Combinator selectors</a:t>
            </a:r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(select elements based on a specific relationship between them)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Pseudo-class selectors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(select elements based on a certain state)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Pseudo-elements selectors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(select and style a part of an element)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Attribute selectors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(select elements based on an attribute or attribute value)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3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endParaRPr lang="en-US" sz="3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09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C177-51CF-8D6E-B386-C57DC1D2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98"/>
            <a:ext cx="10515600" cy="63553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selectors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705A-04B5-89DF-EE9F-90A2524CF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3752"/>
            <a:ext cx="12192000" cy="5558587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element Selector-</a:t>
            </a: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element selector selects HTML elements based on the element name.</a:t>
            </a: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Here, all &lt;p&gt; elements on the page will be center-aligned, with a red text color: </a:t>
            </a:r>
          </a:p>
          <a:p>
            <a:pPr marL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4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 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42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200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42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42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v"/>
            </a:pP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id Selector-The id selector uses the id attribute of an HTML element to select a specific element.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sz="4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Example:The</a:t>
            </a: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CSS rule below will be applied to the HTML element with id="para1": 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s-ES" sz="42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#para1 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s-ES" sz="42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4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4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4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32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8C53-C9AE-2A55-A451-A3406EAD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selectors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5D22-8AD6-80B8-DB05-453401A90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2984"/>
            <a:ext cx="12192000" cy="5895016"/>
          </a:xfrm>
        </p:spPr>
        <p:txBody>
          <a:bodyPr>
            <a:normAutofit lnSpcReduction="10000"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Class Selector-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class selector selects HTML elements with a specific class attribute.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 this example all HTML elements with class="center" will be red and center-aligned: 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text-align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Universal Selector-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universal selector (*) selects all HTML elements on the page.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 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blue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24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7D61-EFBE-E576-5EC1-3C60954B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selectors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565A-91B7-F439-7F11-ED827DBF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2842"/>
            <a:ext cx="12192000" cy="5676901"/>
          </a:xfrm>
        </p:spPr>
        <p:txBody>
          <a:bodyPr>
            <a:normAutofit fontScale="55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IN" sz="5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Grouping Selector-</a:t>
            </a:r>
            <a:r>
              <a:rPr kumimoji="0" lang="en-US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grouping selector selects all the HTML elements with the same style definitions.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A52A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h1 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IN" sz="5100" b="0" i="0" u="none" strike="noStrike" kern="1200" cap="none" spc="0" normalizeH="0" baseline="0" noProof="0" dirty="0" err="1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kumimoji="0" lang="en-IN" sz="51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A52A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h2 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 text-align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IN" sz="5100" b="0" i="0" u="none" strike="noStrike" kern="1200" cap="none" spc="0" normalizeH="0" baseline="0" noProof="0" dirty="0" err="1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kumimoji="0" lang="en-IN" sz="51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A52A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 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IN" sz="5100" b="0" i="0" u="none" strike="noStrike" kern="1200" cap="none" spc="0" normalizeH="0" baseline="0" noProof="0" dirty="0" err="1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kumimoji="0" lang="en-IN" sz="51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5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sz="5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91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83E5-BA04-BF6B-DEB0-B4553488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Properties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6911-546F-1120-25E8-9EA8D59B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3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HTML,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(often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provide additional information about elements. They are written inside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tag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element and have corresponding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C12839-6426-39DF-1149-911BCFDFE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60626"/>
              </p:ext>
            </p:extLst>
          </p:nvPr>
        </p:nvGraphicFramePr>
        <p:xfrm>
          <a:off x="479246" y="2133045"/>
          <a:ext cx="1149421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84">
                  <a:extLst>
                    <a:ext uri="{9D8B030D-6E8A-4147-A177-3AD203B41FA5}">
                      <a16:colId xmlns:a16="http://schemas.microsoft.com/office/drawing/2014/main" val="2849749068"/>
                    </a:ext>
                  </a:extLst>
                </a:gridCol>
                <a:gridCol w="3795622">
                  <a:extLst>
                    <a:ext uri="{9D8B030D-6E8A-4147-A177-3AD203B41FA5}">
                      <a16:colId xmlns:a16="http://schemas.microsoft.com/office/drawing/2014/main" val="1417758911"/>
                    </a:ext>
                  </a:extLst>
                </a:gridCol>
                <a:gridCol w="5555412">
                  <a:extLst>
                    <a:ext uri="{9D8B030D-6E8A-4147-A177-3AD203B41FA5}">
                      <a16:colId xmlns:a16="http://schemas.microsoft.com/office/drawing/2014/main" val="3881638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 (Property)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86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an element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&lt;div id="header"&gt;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684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one or more classes for styling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&lt;p class="intro"&gt;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595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 CSS styles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&lt;h1 style="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blue;"&gt;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Tooltip text on hover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title="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HyperText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Markup Language"&gt;HTML&lt;/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90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href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 link for &lt;a&gt;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&lt;a href="https://example.com"&gt;Visit&lt;/a&gt;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20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or media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="image.jpg"&gt;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04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text for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="logo.png" alt="Website Logo"&gt;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99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 &amp;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or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iframe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="photo.jpg" width="300" height="200"&gt;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96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739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1D2A-442E-201F-CD1F-E7F32412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1803"/>
          </a:xfrm>
        </p:spPr>
        <p:txBody>
          <a:bodyPr>
            <a:normAutofit/>
          </a:bodyPr>
          <a:lstStyle/>
          <a:p>
            <a:pPr algn="ctr"/>
            <a:r>
              <a:rPr lang="en-US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your first web page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B31F4-C565-F456-F384-73BFBC80C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8" t="21316" r="3251" b="11291"/>
          <a:stretch/>
        </p:blipFill>
        <p:spPr>
          <a:xfrm>
            <a:off x="-12000" y="1811528"/>
            <a:ext cx="12204000" cy="4586343"/>
          </a:xfrm>
        </p:spPr>
      </p:pic>
    </p:spTree>
    <p:extLst>
      <p:ext uri="{BB962C8B-B14F-4D97-AF65-F5344CB8AC3E}">
        <p14:creationId xmlns:p14="http://schemas.microsoft.com/office/powerpoint/2010/main" val="12398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664C-3D18-2413-3D23-5E61E625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Build your first web page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6648-0220-FDC3-22AE-3193FEE8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8556"/>
            <a:ext cx="12192000" cy="642840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HTML File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following code as index.html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&lt;meta charset="UTF-8"&gt;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&lt;meta name="viewport" content="width=device-width, initial-scale=1.0"&gt;                           &lt;title&gt;My First Web Page&lt;/title&gt;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&lt;link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="stylesheet"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="styles.css"&gt;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&lt;header&gt;    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&lt;h1&gt;Welcome to My Website&lt;/h1&gt;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&lt;/header&gt;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71388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2CC6F-1A80-D895-4238-12D940EB6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914"/>
            <a:ext cx="12192000" cy="6067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&lt;nav&gt;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&lt;li&gt;&lt;a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="#"&gt;Home&lt;/a&gt;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&lt;/li&gt; &lt;li&gt;&lt;a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="#"&gt;About&lt;/a&gt;&lt;/li&gt;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&lt;li&gt;&lt;a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="#"&gt;Contact&lt;/a&gt;&lt;/li&gt;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&lt;/nav&gt;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&lt;section&gt;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&lt;h2&gt;About Me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&lt;/h2&gt; &lt;p&gt;This is my first web page, and I am excited to learn HTML!&lt;/p&gt;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&lt;/section&gt;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&lt;footer&gt;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&lt;p&gt;&amp;copy; 2025 My Website. All rights reserved.&lt;/p&gt;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&lt;/footer&gt;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BD0F0-6541-6B36-3BEF-A4C6D32CFF88}"/>
              </a:ext>
            </a:extLst>
          </p:cNvPr>
          <p:cNvSpPr txBox="1"/>
          <p:nvPr/>
        </p:nvSpPr>
        <p:spPr>
          <a:xfrm>
            <a:off x="2825152" y="0"/>
            <a:ext cx="8061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Build your first web page continued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713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A470D5-AA71-ED4B-67E8-12C269FF3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8426" y="0"/>
            <a:ext cx="9789543" cy="66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Build your first web page continued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835411-4BCC-532B-7BD1-B0703E3553B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949325"/>
            <a:ext cx="12422038" cy="603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CSS 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following as styles.css in the same folder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font-family: Arial, sans-serif;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margin: 0;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padding: 0;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text-align: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background-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#f4f4f4;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{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background: #333;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white;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padding: 20px;}</a:t>
            </a: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ul {    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list-style: none;    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2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2E1B91-E806-4066-AA9A-EA0D4E08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808" y="0"/>
            <a:ext cx="10515600" cy="414068"/>
          </a:xfrm>
        </p:spPr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Build your first web page continued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90D829-4973-9C6A-7F7B-3E2BCCDE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0454"/>
            <a:ext cx="4986068" cy="6067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{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display: inline;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margin: 10px;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a {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text-decoration: none;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color: #333;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font-weight: bold;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{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margin: 20px;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padding: 20px;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background: white;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border-radius: 5px;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box-shadow: 0 0 10px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rgba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0, 0.1);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16130-821B-DC1E-F3CE-BAC19E65DEAD}"/>
              </a:ext>
            </a:extLst>
          </p:cNvPr>
          <p:cNvSpPr txBox="1"/>
          <p:nvPr/>
        </p:nvSpPr>
        <p:spPr>
          <a:xfrm>
            <a:off x="6478438" y="790454"/>
            <a:ext cx="553097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footer {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background: #333;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color: white;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padding: 10px;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position: absolute;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width: 100%;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bottom: 0;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Your Web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Double-click index.html to open it in a web browser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881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3A56-B363-4689-EF67-12CE2B0B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1803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 of HTML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D7F3-9520-C402-91F2-342ECB5F3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9465"/>
            <a:ext cx="12192000" cy="56103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semantic element clearly describes its meaning to both the browser and the developer.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non-semantic elements: &lt;div&gt; and &lt;span&gt; - Tells nothing about its content.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semantic elements: &lt;form&gt;, &lt;table&gt;, and &lt;article&gt; - Clearly defines its content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Elements in HTML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web sites contain HTML code like: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&lt;div id="nav"&gt; &lt;div class="header"&gt;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&lt;div id="footer"&gt; to indicate navigation,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header, and footer.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E384A-E35D-E2FA-EA86-D6ED3D83F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800" y="3289712"/>
            <a:ext cx="2916000" cy="331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34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268C-F370-2AD6-B1FB-6ED99051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Semantics of HTML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4F80-74A1-5ADD-FA07-F1543A14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214"/>
            <a:ext cx="12192000" cy="601578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&lt;section&gt; element defines a section in a document. Examples- 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Chapters, Introduction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items, Contact information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&lt;article&gt; element specifies independent, self-contained content. Examples- Forum posts, Blog posts, User comments, Product cards, Newspaper articles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&lt;header&gt; element represents a container for introductory content or a set of navigational links. Examples-one or more heading elements (&lt;h1&gt; - &lt;h6&gt;),logo 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icon,authorship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&lt;footer&gt; element defines a footer for a document or section. Examples-authorship information, copyright information, contact information, sitemap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&lt;nav&gt; element defines a set of navigation links.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&lt;aside&gt; element defines some content aside from the content it is placed in (like a sidebar).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19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6BFD-9E28-FF68-4FB5-C3DCC80A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499330"/>
          </a:xfrm>
        </p:spPr>
        <p:txBody>
          <a:bodyPr>
            <a:no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and inline elements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98669-DC86-52C4-5D0F-AB4121F3F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9466"/>
            <a:ext cx="12192000" cy="548957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HTML element has a default display value, depending on what type of element it is. The two most common display values are block and inline.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Block-level Elements: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block-level element always starts on a new line, and the browsers automatically add some space (a margin) before and after the element.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block-level element always takes up the full width available (stretches out to the left and right as far as it can).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commonly used block elements are: &lt;p&gt; and &lt;div&gt;.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&lt;p&gt; element defines a paragraph in an HTML document.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&lt;div&gt; element defines a division or a section in an HTML document.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/div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106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8C94-83B4-D9EB-5C80-831B92D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4769"/>
          </a:xfrm>
        </p:spPr>
        <p:txBody>
          <a:bodyPr>
            <a:no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Block and inline elements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C8BF-20C8-D546-3DC0-B8F89CEE0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4351338"/>
          </a:xfrm>
        </p:spPr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Inline Elements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inline element does not start on a new line.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inline element only takes up as much width as necessary.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 a &lt;span&gt; element inside a paragraph.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/span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8E926-6414-28CC-6F2C-83CC67660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0" y="3782470"/>
            <a:ext cx="12192000" cy="253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72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C5B6-2722-1F7F-D3FE-457C840C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751"/>
            <a:ext cx="10515600" cy="61828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Hyperlinks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ACF3F-91C1-DF46-CB9C-C90B259081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012954"/>
            <a:ext cx="1196353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Hyperlinks (&lt;a&gt; tag) are used to link pages, external websites, sections within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page, emails, and more.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Hyperlink Syntax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&lt;a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="https://www.google.com"&gt;Visit Google&lt;/a&gt;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Specifies the URL. Clicking on 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Visit Google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will open Google.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Another Page in the Same Website syntax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&lt;a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="about.html"&gt;About Us&lt;/a&gt;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about.html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(another page in the same directory).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216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9B00-CFD6-C53C-A2A9-0C726FD5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4769"/>
          </a:xfrm>
        </p:spPr>
        <p:txBody>
          <a:bodyPr>
            <a:no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Hyperlinks</a:t>
            </a:r>
            <a:endParaRPr lang="en-IN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CB15B-28A2-9173-6549-A4653142F1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858838"/>
            <a:ext cx="12192000" cy="597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&lt;meta charset="UTF-8"&gt;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&lt;title&gt;Hyperlink Examples&lt;/title&gt;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&lt;h1&gt;Hyperlink Examples&lt;/h1&gt;  &lt;p&gt;&lt;a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="https://www.google.com" target="_blank"&gt;Open Google in a new tab&lt;/a&gt;&lt;/p&gt;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808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6760-F4E1-B090-68E4-5D8975F0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34739-570C-65ED-C468-006CE5724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5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lists allow web developers to group a set of related items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lists:Ordered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unordered lists.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Unordered HTML List-An unordered list starts with the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tag. Each list item starts with the &lt;li&gt; tag.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49E77-AE9E-F27C-FEAB-2BAE80572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00" y="3086894"/>
            <a:ext cx="11628000" cy="310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20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6ED8-1FD2-491A-8AA9-98E1C8E1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44387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172B-F88A-0387-D40C-3D275780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2642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Ordered HTML List-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ordered list starts with the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tag. Each list item starts with the &lt;li&gt; tag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5ACD3-6E40-35A3-7764-7EC023EC6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00" y="2119420"/>
            <a:ext cx="11052000" cy="30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26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FDB2-428A-48A1-8F03-B4AB8189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1327-70F2-B684-8CDB-1FA2CE969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tables allow web developers to arrange data into rows and columns-A ta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HTML consists of table cells inside rows and columns.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09DB3-1C66-CDBD-55B4-69AE5CCB2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6797"/>
            <a:ext cx="12192000" cy="276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7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8675-9660-41BD-9BD6-262FD75A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82" y="20068"/>
            <a:ext cx="10515600" cy="660969"/>
          </a:xfrm>
        </p:spPr>
        <p:txBody>
          <a:bodyPr>
            <a:norm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continued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95D056-27AE-B0D0-8675-E081C4421F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482727"/>
            <a:ext cx="12192000" cy="14721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Cells-Each table cell is defined by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&lt;td&gt;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tag.</a:t>
            </a:r>
          </a:p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td stands for table data. Everything between &lt;td&gt; and &lt;/td&gt; are the content of the table cell.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DC6E6-33A1-3316-CB93-3FA42745E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7527"/>
            <a:ext cx="12192000" cy="37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68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D92C-DCE1-45F4-667B-66FABE3C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80264"/>
          </a:xfrm>
        </p:spPr>
        <p:txBody>
          <a:bodyPr>
            <a:no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continued</a:t>
            </a:r>
            <a:endParaRPr lang="en-IN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6C54-5FA6-2F9F-1267-F74CDE09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5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Rows-Each table row starts with a &lt;tr&gt; and ends with a &lt;/tr&gt; tag. tr stands for table row.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D28C0-DD06-6BA9-B76C-C13DA5972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3270"/>
            <a:ext cx="12192000" cy="377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95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3CED-AE91-F68F-13D6-73A2941C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9056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394-28C0-9C9C-9F0D-5D80AD0CB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7489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Headers- To make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 to be table header cells. In those cases use the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instead of the &lt;td&gt; tag.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table header.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29DC6-4F64-CF26-3ED2-F3BB5779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611"/>
            <a:ext cx="12192000" cy="397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10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FBF2-022B-3D96-A572-AD299D86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3515-802E-834F-DDBE-055EB346E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730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HTML form is used to collect user input. The user input is most often sent to a server for processing.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81541-EA6F-063A-8B5D-DCE24E65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2728"/>
            <a:ext cx="12192000" cy="321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15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C2F2-FCE5-A802-3997-D4E3DD7E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061" y="0"/>
            <a:ext cx="10515600" cy="53202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Basic Multi-Page Website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E8E6-453B-C90D-F467-D94C76D4A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3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Home Page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About Page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Contact Page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Navigation Menu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Home Page (index.html)</a:t>
            </a: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7D021-AE7A-069A-895D-0AB2716B1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"/>
          <a:stretch/>
        </p:blipFill>
        <p:spPr>
          <a:xfrm>
            <a:off x="4158053" y="1612689"/>
            <a:ext cx="7868608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61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A636-D8F1-176D-206E-D185A3A1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098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Creating a Basic Multi-Page Website</a:t>
            </a:r>
            <a:endParaRPr lang="en-IN" sz="40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1E469F-D426-1A22-BAC3-13AF04305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000" y="1194296"/>
            <a:ext cx="7416000" cy="5389168"/>
          </a:xfrm>
        </p:spPr>
      </p:pic>
    </p:spTree>
    <p:extLst>
      <p:ext uri="{BB962C8B-B14F-4D97-AF65-F5344CB8AC3E}">
        <p14:creationId xmlns:p14="http://schemas.microsoft.com/office/powerpoint/2010/main" val="508139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B422-1A89-50C9-0BF3-A5FDDCF7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93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CD6FB-F5E5-5B3B-CCF3-859D2951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9467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About Page (about.html)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21908-035E-70DE-A7AA-5899D886B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78"/>
          <a:stretch/>
        </p:blipFill>
        <p:spPr>
          <a:xfrm>
            <a:off x="0" y="1570403"/>
            <a:ext cx="6264000" cy="429983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028E3EE-C78A-3571-F338-3DA636DC8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" r="15421"/>
          <a:stretch/>
        </p:blipFill>
        <p:spPr>
          <a:xfrm>
            <a:off x="6432000" y="1570403"/>
            <a:ext cx="5760000" cy="432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92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0935-F7BD-33C0-2497-587199C9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785" y="18255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268F-8616-2284-5DF1-97861E4B7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236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Contact Page (contact.html)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60E16-ABFD-3CBD-0DB5-7EE94A223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385" y="1152765"/>
            <a:ext cx="7020000" cy="54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80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E3B8-3253-F480-609B-995C10A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970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Creating a Basic Multi-Page Website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DFA0B6-1C87-1BF4-CF61-E15119C8F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007" y="935744"/>
            <a:ext cx="6762508" cy="5904000"/>
          </a:xfrm>
        </p:spPr>
      </p:pic>
    </p:spTree>
    <p:extLst>
      <p:ext uri="{BB962C8B-B14F-4D97-AF65-F5344CB8AC3E}">
        <p14:creationId xmlns:p14="http://schemas.microsoft.com/office/powerpoint/2010/main" val="911872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5925-D1F7-02DA-E717-022AFE8F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5E86B-4111-63C8-0044-DC20E46B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77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File (styles.css)</a:t>
            </a: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56678-BD34-4C80-DB52-A2AFCBF76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62" y="1578185"/>
            <a:ext cx="3024000" cy="5241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99658B-162B-4D23-DC29-BE0DB5A78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9" y="1578185"/>
            <a:ext cx="3744000" cy="44748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2E4038-518D-1BF5-0322-E7BB8C1E8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2" y="827604"/>
            <a:ext cx="2815496" cy="5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95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C84B-D15D-E3D5-4389-5971E894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656" y="0"/>
            <a:ext cx="10515600" cy="681037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86EE-7237-0C50-81FF-36C9D215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the Website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all the files in a folder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index.html in a web browser.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navigation links to switch between pages.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2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2495-E504-8A62-EC75-25421010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effect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C7348-A1BD-C65D-063A-F437F517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4037"/>
            <a:ext cx="1233577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in HTML -The term "Cascading" in Cascading Style Sheets (CSS) refers to how styles are applied to elements based on priority rules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004C7-26F0-BB62-1A4A-EC3403C46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00" y="1672625"/>
            <a:ext cx="8064000" cy="490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02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0F58-F9A0-C9BC-28FE-A10F7D9E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988" y="18256"/>
            <a:ext cx="7926238" cy="662782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Resets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CE941-5C02-D62C-893B-A24B1C82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4961"/>
            <a:ext cx="12192000" cy="573111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resets are used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default browser styling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margins, paddings, font sizes, and heading styles) to create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baseline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browsers. Each browser applies default styles differently, which can cause inconsistencies in the web design.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CSS Reset: For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reset (small projects).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margin: 0;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box-sizing: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border-box;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margin: 0; padding: 0; → removes default spacing.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box-sizing: border-box; → makes width calculations easier.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40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22EB-E8B7-CBC9-81F5-B28D9527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Resets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9BE03-49C0-970D-CA5E-B1CCFBFE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58200"/>
            <a:ext cx="5417389" cy="3893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body, div, h1, h2,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dl, dt{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0;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border: 0;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font-size: 100%;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font: inherit;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vertical-align: baseline;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2FA94E-65AE-F878-7C17-C9847C87AB8E}"/>
              </a:ext>
            </a:extLst>
          </p:cNvPr>
          <p:cNvSpPr txBox="1">
            <a:spLocks/>
          </p:cNvSpPr>
          <p:nvPr/>
        </p:nvSpPr>
        <p:spPr>
          <a:xfrm>
            <a:off x="5745194" y="1768274"/>
            <a:ext cx="6590580" cy="5109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Set default styles */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line-height: 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list-style: none;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}table {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border-collapse: collapse;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border-spacing: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60BD1-6F67-623A-3333-55F0DBBF037A}"/>
              </a:ext>
            </a:extLst>
          </p:cNvPr>
          <p:cNvSpPr txBox="1"/>
          <p:nvPr/>
        </p:nvSpPr>
        <p:spPr>
          <a:xfrm>
            <a:off x="-163902" y="900344"/>
            <a:ext cx="12499676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Eric Meyer’s CSS Reset: Resets almost all elements,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Removes list bullets, table spacing, and border styling, Normalizes font and vertical alignment.</a:t>
            </a:r>
          </a:p>
        </p:txBody>
      </p:sp>
    </p:spTree>
    <p:extLst>
      <p:ext uri="{BB962C8B-B14F-4D97-AF65-F5344CB8AC3E}">
        <p14:creationId xmlns:p14="http://schemas.microsoft.com/office/powerpoint/2010/main" val="97322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0C5E-207C-E38D-B6DA-46A5DD71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Resets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C0C6-1FB4-21A1-A994-9C2F8082E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9348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 Modern Reset: For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but effective reset. Keeps a clean layout while maintaining readability. Useful for modern web designs.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62850-01DC-E7B6-F644-CB1BEDEEAFD7}"/>
              </a:ext>
            </a:extLst>
          </p:cNvPr>
          <p:cNvSpPr txBox="1"/>
          <p:nvPr/>
        </p:nvSpPr>
        <p:spPr>
          <a:xfrm>
            <a:off x="0" y="1955470"/>
            <a:ext cx="61592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0;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box-sizing: border-box;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font-family: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Arial, sans-serif;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line-height: 1.6; 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#333;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8A4FA-6190-D0EB-E5B1-67749F333A3B}"/>
              </a:ext>
            </a:extLst>
          </p:cNvPr>
          <p:cNvSpPr txBox="1"/>
          <p:nvPr/>
        </p:nvSpPr>
        <p:spPr>
          <a:xfrm>
            <a:off x="5654615" y="1955470"/>
            <a:ext cx="616788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background-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#f8f9fa;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{ text-decoration: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none;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inherit;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list-style: none;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0763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9B82-B573-0610-CD69-96D00B0A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23BE8-DF56-1C60-4E1B-6F5702B9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4"/>
            <a:ext cx="12192000" cy="612793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positioning controls how elements are placed on a webpage. There are five main position values: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(default)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Sticky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Position (Default)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behavior of all elements, No special positioning applied, can't use top, left, right, or bottom.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 {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static;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5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BF8C-F176-9545-7D83-19C29A7C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156D6-56A4-86D2-41FB-72045E389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4"/>
            <a:ext cx="12192000" cy="59467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is positioned relative to its original position. Can use top, left, right, bottom to move it, Other elements do not shift; only the positioned element moves.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.box {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relative;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left: 50px; /* Moves right by 50px */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top: 20px; /* Moves down by 20px */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Position-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is positioned relative to the nearest positioned ancestor (relative, absolute, fixed) or the &lt;html&gt; if no ancestor is positioned. Removed from normal flow; it does not affect siblings. Can be placed anywhere inside a parent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container.Parent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have position: relative; to control it.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010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281E-A739-3472-302B-C139A753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81" y="0"/>
            <a:ext cx="10515600" cy="681037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2AFB6-3E5F-E63C-C836-B0A9A941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78"/>
            <a:ext cx="12192000" cy="59295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.parent {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position: relative; /* Needed to control absolute child */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width: 300px;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height: 200px;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background: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lightblue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.child {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position: absolute;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right: 20px;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bottom: 10px;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background: red;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9772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ADA4-F870-7057-033A-C05539B2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90B2A-C776-D021-7BC0-B019D247B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731"/>
            <a:ext cx="12192000" cy="5437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Position-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 is positioned relative to the viewport (the screen), staying fixed even when scrolling. Always stays in the same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place.Useful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navigation bars, floating buttons, etc.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.fixed-nav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position: fixed;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top: 0;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width: 100%;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background: black;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color: white;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padding: 10px;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07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F2E7-6D40-FD45-481B-BF4F07C8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030D9-1F97-648C-4BED-C17145410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6719"/>
            <a:ext cx="12192000" cy="504100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Sticky Position-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acts like relative until scrolling reaches a certain point, then sticks like fixed. Great for sticky headers or sidebars. Only works if parent has enough height.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.sticky-header {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position: sticky;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top: 0;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background: yellow;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padding: 10px;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9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3305</Words>
  <Application>Microsoft Office PowerPoint</Application>
  <PresentationFormat>Widescreen</PresentationFormat>
  <Paragraphs>416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Calibri Light</vt:lpstr>
      <vt:lpstr>Cambria</vt:lpstr>
      <vt:lpstr>Consolas</vt:lpstr>
      <vt:lpstr>Segoe UI</vt:lpstr>
      <vt:lpstr>Times New Roman</vt:lpstr>
      <vt:lpstr>Wingdings</vt:lpstr>
      <vt:lpstr>Office Theme</vt:lpstr>
      <vt:lpstr>Dayananda Sagar University</vt:lpstr>
      <vt:lpstr>Syllabus</vt:lpstr>
      <vt:lpstr>WHAT IS HTML</vt:lpstr>
      <vt:lpstr> HTML syntax </vt:lpstr>
      <vt:lpstr> HTML elements </vt:lpstr>
      <vt:lpstr> HTML document structure </vt:lpstr>
      <vt:lpstr>CSS selectors and advanced</vt:lpstr>
      <vt:lpstr>CSS selectors continued</vt:lpstr>
      <vt:lpstr>CSS selectors continued</vt:lpstr>
      <vt:lpstr>CSS selectors continued</vt:lpstr>
      <vt:lpstr>HTML Properties and Values</vt:lpstr>
      <vt:lpstr>Build your first web page</vt:lpstr>
      <vt:lpstr>Build your first web page</vt:lpstr>
      <vt:lpstr>PowerPoint Presentation</vt:lpstr>
      <vt:lpstr>Build your first web page continued</vt:lpstr>
      <vt:lpstr> Build your first web page continued </vt:lpstr>
      <vt:lpstr>Semantics of HTML</vt:lpstr>
      <vt:lpstr>Semantics of HTML continued</vt:lpstr>
      <vt:lpstr>Block and inline elements</vt:lpstr>
      <vt:lpstr>Block and inline elements</vt:lpstr>
      <vt:lpstr>Hyperlinks</vt:lpstr>
      <vt:lpstr>Hyperlinks</vt:lpstr>
      <vt:lpstr>Lists</vt:lpstr>
      <vt:lpstr>Lists continued</vt:lpstr>
      <vt:lpstr>Tables</vt:lpstr>
      <vt:lpstr>Tables continued</vt:lpstr>
      <vt:lpstr>Tables continued</vt:lpstr>
      <vt:lpstr>Tables continued</vt:lpstr>
      <vt:lpstr>Forms</vt:lpstr>
      <vt:lpstr>Creating a Basic Multi-Page Website</vt:lpstr>
      <vt:lpstr>     Creating a Basic Multi-Page Website</vt:lpstr>
      <vt:lpstr>Creating a Basic Multi-Page Website</vt:lpstr>
      <vt:lpstr>Creating a Basic Multi-Page Website</vt:lpstr>
      <vt:lpstr>   Creating a Basic Multi-Page Website</vt:lpstr>
      <vt:lpstr>      Creating a Basic Multi-Page Website</vt:lpstr>
      <vt:lpstr>Creating a Basic Multi-Page Website</vt:lpstr>
      <vt:lpstr>Cascading effect</vt:lpstr>
      <vt:lpstr>CSS Resets</vt:lpstr>
      <vt:lpstr>CSS Resets</vt:lpstr>
      <vt:lpstr>CSS Resets</vt:lpstr>
      <vt:lpstr>Positioning</vt:lpstr>
      <vt:lpstr>Positioning continued</vt:lpstr>
      <vt:lpstr>Positioning continued</vt:lpstr>
      <vt:lpstr>Positioning continued</vt:lpstr>
      <vt:lpstr>Positioning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Kanaka Raja Rajeswari Satuluri</dc:creator>
  <cp:lastModifiedBy>Venkata Kanaka Raja Rajeswari Satuluri</cp:lastModifiedBy>
  <cp:revision>26</cp:revision>
  <dcterms:created xsi:type="dcterms:W3CDTF">2025-01-30T03:26:50Z</dcterms:created>
  <dcterms:modified xsi:type="dcterms:W3CDTF">2025-01-30T09:09:27Z</dcterms:modified>
</cp:coreProperties>
</file>