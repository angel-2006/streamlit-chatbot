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333" r:id="rId3"/>
    <p:sldId id="334" r:id="rId4"/>
    <p:sldId id="335" r:id="rId5"/>
    <p:sldId id="336" r:id="rId6"/>
    <p:sldId id="337" r:id="rId7"/>
    <p:sldId id="338" r:id="rId8"/>
    <p:sldId id="340" r:id="rId9"/>
    <p:sldId id="341" r:id="rId10"/>
    <p:sldId id="342" r:id="rId11"/>
    <p:sldId id="304" r:id="rId12"/>
    <p:sldId id="332" r:id="rId13"/>
    <p:sldId id="343" r:id="rId14"/>
    <p:sldId id="344" r:id="rId15"/>
    <p:sldId id="345" r:id="rId16"/>
    <p:sldId id="346" r:id="rId17"/>
    <p:sldId id="339" r:id="rId18"/>
    <p:sldId id="349" r:id="rId19"/>
    <p:sldId id="350" r:id="rId20"/>
    <p:sldId id="308" r:id="rId21"/>
    <p:sldId id="309" r:id="rId22"/>
    <p:sldId id="310" r:id="rId23"/>
    <p:sldId id="311" r:id="rId24"/>
    <p:sldId id="313" r:id="rId25"/>
    <p:sldId id="315" r:id="rId26"/>
    <p:sldId id="317" r:id="rId27"/>
    <p:sldId id="319" r:id="rId28"/>
    <p:sldId id="320" r:id="rId29"/>
    <p:sldId id="321" r:id="rId30"/>
    <p:sldId id="322" r:id="rId31"/>
    <p:sldId id="351" r:id="rId32"/>
    <p:sldId id="323" r:id="rId33"/>
    <p:sldId id="324" r:id="rId34"/>
    <p:sldId id="352" r:id="rId35"/>
    <p:sldId id="353" r:id="rId36"/>
    <p:sldId id="354" r:id="rId37"/>
    <p:sldId id="355" r:id="rId38"/>
    <p:sldId id="356" r:id="rId39"/>
    <p:sldId id="357" r:id="rId40"/>
    <p:sldId id="347" r:id="rId41"/>
    <p:sldId id="348" r:id="rId42"/>
    <p:sldId id="358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66" d="100"/>
          <a:sy n="66" d="100"/>
        </p:scale>
        <p:origin x="5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4A194-34DD-481F-837E-48037352368D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564A6-3D58-4DD6-BA36-5588D147ED2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4" name="Google Shape;66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4" name="Google Shape;66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4" name="Google Shape;66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4" name="Google Shape;66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4" name="Google Shape;66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4" name="Google Shape;664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7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55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55784" y="3829051"/>
            <a:ext cx="53848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AF6392-5797-4AC8-98D7-AA660DE8838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7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55784" y="1214439"/>
            <a:ext cx="53848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0B30C-6BA5-49A0-96A8-42BB19F5B82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55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7784" y="3829051"/>
            <a:ext cx="109728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21DD5-ECFC-42BA-AA2B-C491BFE3F4F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5084" y="100013"/>
            <a:ext cx="10972800" cy="9064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55784" y="1214438"/>
            <a:ext cx="53848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7784" y="3829051"/>
            <a:ext cx="53848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55784" y="3829051"/>
            <a:ext cx="53848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737600" y="6397625"/>
            <a:ext cx="2844800" cy="3238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FD5DA2-60B3-424F-86A1-B2B731ADA6D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0CA8B-4E02-43FF-8CB1-8BDB42ED7B9A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2ECB9-B2F8-42F6-B075-048904806CB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8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17.bin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5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0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endParaRPr lang="en-I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294796" cy="291426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000" b="1" dirty="0"/>
              <a:t>BRUTE </a:t>
            </a:r>
            <a:r>
              <a:rPr lang="en-US" sz="2000" b="1" dirty="0" err="1"/>
              <a:t>FORCE</a:t>
            </a:r>
            <a:r>
              <a:rPr lang="en-US" sz="2000" dirty="0" err="1"/>
              <a:t>:Background</a:t>
            </a:r>
            <a:r>
              <a:rPr lang="en-US" sz="2000" dirty="0"/>
              <a:t>, Selection Sort, Brute-Force String Matching. TSP</a:t>
            </a:r>
          </a:p>
          <a:p>
            <a:pPr algn="l"/>
            <a:r>
              <a:rPr lang="en-US" sz="2000"/>
              <a:t>(</a:t>
            </a:r>
            <a:r>
              <a:rPr lang="en-US" sz="2000" dirty="0"/>
              <a:t>Text Book-1: Chapter 3: 3.1, 3.2)</a:t>
            </a:r>
          </a:p>
          <a:p>
            <a:pPr algn="l"/>
            <a:r>
              <a:rPr lang="en-US" sz="2000" b="1" dirty="0"/>
              <a:t>DIVIDE AND CONQUER: </a:t>
            </a:r>
            <a:r>
              <a:rPr lang="en-US" sz="2000" dirty="0"/>
              <a:t>General method, Recurrences: The substitution method, The recursion-tree method, The master method.</a:t>
            </a:r>
          </a:p>
          <a:p>
            <a:pPr algn="l"/>
            <a:r>
              <a:rPr lang="en-US" sz="2000" dirty="0"/>
              <a:t>(Text Book-2: Chapter 4: 4.4, 4.5),</a:t>
            </a:r>
          </a:p>
          <a:p>
            <a:pPr algn="l"/>
            <a:r>
              <a:rPr lang="en-US" sz="2000" dirty="0"/>
              <a:t>Merge sort, Quick sort, Binary Search, Multiplication of large integers,</a:t>
            </a:r>
          </a:p>
          <a:p>
            <a:pPr algn="l"/>
            <a:r>
              <a:rPr lang="en-US" sz="2000" dirty="0"/>
              <a:t>Case study: Strassen’s Matrix Multiplication.</a:t>
            </a:r>
          </a:p>
          <a:p>
            <a:pPr algn="l"/>
            <a:r>
              <a:rPr lang="en-US" sz="2000" dirty="0"/>
              <a:t>(Text Book-1: Chapter 4: 4.1 to 4.3, 4.5)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8"/>
          <p:cNvSpPr txBox="1">
            <a:spLocks noGrp="1"/>
          </p:cNvSpPr>
          <p:nvPr>
            <p:ph type="ftr" idx="4294967295"/>
          </p:nvPr>
        </p:nvSpPr>
        <p:spPr>
          <a:xfrm>
            <a:off x="1698171" y="6365777"/>
            <a:ext cx="88718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dirty="0">
                <a:solidFill>
                  <a:srgbClr val="888888"/>
                </a:solidFill>
              </a:rPr>
              <a:t>Slides prepared by: Prof. </a:t>
            </a:r>
            <a:r>
              <a:rPr lang="en-US" dirty="0">
                <a:solidFill>
                  <a:srgbClr val="888888"/>
                </a:solidFill>
              </a:rPr>
              <a:t>Bharath M B</a:t>
            </a:r>
            <a:r>
              <a:rPr lang="en-US" sz="1200" dirty="0">
                <a:solidFill>
                  <a:srgbClr val="888888"/>
                </a:solidFill>
              </a:rPr>
              <a:t>, Assistant Professor, Department of CSE, Dayananda Sagar University, Harohalli, Karnataka.</a:t>
            </a:r>
            <a:endParaRPr sz="1200" dirty="0">
              <a:solidFill>
                <a:srgbClr val="888888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240" y="42980"/>
            <a:ext cx="2499577" cy="76206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Brute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529" y="1526650"/>
            <a:ext cx="98244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straightforward approach, usually based directly on the problem’s statement and definitions of the concepts involved.</a:t>
            </a:r>
          </a:p>
          <a:p>
            <a:endParaRPr lang="en-US" dirty="0"/>
          </a:p>
          <a:p>
            <a:r>
              <a:rPr lang="en-US" b="1" i="1" dirty="0"/>
              <a:t>“ A straight forward technique to find the solution for the given problem “</a:t>
            </a:r>
          </a:p>
          <a:p>
            <a:endParaRPr lang="en-US" dirty="0"/>
          </a:p>
          <a:p>
            <a:r>
              <a:rPr lang="en-US" dirty="0"/>
              <a:t> Examples:</a:t>
            </a:r>
          </a:p>
          <a:p>
            <a:r>
              <a:rPr lang="en-US" dirty="0"/>
              <a:t> </a:t>
            </a:r>
          </a:p>
          <a:p>
            <a:pPr marL="342900" indent="-342900">
              <a:buAutoNum type="arabicPeriod"/>
            </a:pPr>
            <a:r>
              <a:rPr lang="en-US" dirty="0"/>
              <a:t>Computing an (a &gt; 0, </a:t>
            </a:r>
            <a:r>
              <a:rPr lang="en-US" dirty="0" err="1"/>
              <a:t>na</a:t>
            </a:r>
            <a:r>
              <a:rPr lang="en-US" dirty="0"/>
              <a:t> nonnegative integer) </a:t>
            </a:r>
          </a:p>
          <a:p>
            <a:endParaRPr lang="en-US" dirty="0"/>
          </a:p>
          <a:p>
            <a:r>
              <a:rPr lang="en-US" dirty="0"/>
              <a:t>2.   Computing n! </a:t>
            </a:r>
          </a:p>
          <a:p>
            <a:endParaRPr lang="en-US" dirty="0"/>
          </a:p>
          <a:p>
            <a:r>
              <a:rPr lang="en-US" dirty="0"/>
              <a:t>3.   Multiplying two matrices</a:t>
            </a:r>
          </a:p>
          <a:p>
            <a:endParaRPr lang="en-US" dirty="0"/>
          </a:p>
          <a:p>
            <a:r>
              <a:rPr lang="en-US" dirty="0"/>
              <a:t>4.   Searching for a key of a given value in a list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8"/>
          <p:cNvSpPr txBox="1">
            <a:spLocks noGrp="1"/>
          </p:cNvSpPr>
          <p:nvPr>
            <p:ph type="ftr" idx="4294967295"/>
          </p:nvPr>
        </p:nvSpPr>
        <p:spPr>
          <a:xfrm>
            <a:off x="1698171" y="6365777"/>
            <a:ext cx="88718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dirty="0">
                <a:solidFill>
                  <a:srgbClr val="888888"/>
                </a:solidFill>
              </a:rPr>
              <a:t>Slides prepared by: Prof. </a:t>
            </a:r>
            <a:r>
              <a:rPr lang="en-US" dirty="0">
                <a:solidFill>
                  <a:srgbClr val="888888"/>
                </a:solidFill>
              </a:rPr>
              <a:t>Bharath M B</a:t>
            </a:r>
            <a:r>
              <a:rPr lang="en-US" sz="1200" dirty="0">
                <a:solidFill>
                  <a:srgbClr val="888888"/>
                </a:solidFill>
              </a:rPr>
              <a:t>, Assistant Professor, Department of CSE, Dayananda Sagar University, Harohalli, Karnataka</a:t>
            </a:r>
            <a:endParaRPr sz="1200" dirty="0">
              <a:solidFill>
                <a:srgbClr val="888888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240" y="42980"/>
            <a:ext cx="2499577" cy="76206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Brute-Force Sorting Algorithm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2183" y="1690688"/>
            <a:ext cx="596347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u="sng" dirty="0">
                <a:solidFill>
                  <a:schemeClr val="accent5">
                    <a:lumMod val="75000"/>
                  </a:schemeClr>
                </a:solidFill>
              </a:rPr>
              <a:t>Selection Sort :</a:t>
            </a:r>
          </a:p>
          <a:p>
            <a:pPr algn="just"/>
            <a:endParaRPr lang="en-US" b="1" u="sng" dirty="0">
              <a:solidFill>
                <a:schemeClr val="accent5">
                  <a:lumMod val="75000"/>
                </a:schemeClr>
              </a:solidFill>
            </a:endParaRPr>
          </a:p>
          <a:p>
            <a:pPr algn="just"/>
            <a:r>
              <a:rPr lang="en-US" dirty="0"/>
              <a:t>Scan the array to find its smallest element and swap it with the first element.  </a:t>
            </a:r>
          </a:p>
          <a:p>
            <a:pPr algn="just"/>
            <a:r>
              <a:rPr lang="en-US" dirty="0"/>
              <a:t>Then, starting with the second element, scan the elements to the right of it to find the smallest among them and swap it with the second elements.  </a:t>
            </a:r>
          </a:p>
          <a:p>
            <a:pPr algn="just"/>
            <a:r>
              <a:rPr lang="en-US" dirty="0"/>
              <a:t>Generally, on pass i (0 &lt;=i &lt;=n-2), find the smallest element in A[i..n-1] and swap it with A[i]:</a:t>
            </a:r>
          </a:p>
          <a:p>
            <a:pPr algn="just"/>
            <a:r>
              <a:rPr lang="en-US" dirty="0"/>
              <a:t> A[0]  &lt;= .   .   .   &lt;=A[i-1]  |  A[i],  .   .   .  , A[min], .   .   ., A[n-1]        in their final positions.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 Example: 7   5  4  2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480" y="1690688"/>
            <a:ext cx="5396287" cy="39261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8"/>
          <p:cNvSpPr txBox="1">
            <a:spLocks noGrp="1"/>
          </p:cNvSpPr>
          <p:nvPr>
            <p:ph type="ftr" idx="4294967295"/>
          </p:nvPr>
        </p:nvSpPr>
        <p:spPr>
          <a:xfrm>
            <a:off x="1698171" y="6365777"/>
            <a:ext cx="88718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dirty="0">
                <a:solidFill>
                  <a:srgbClr val="888888"/>
                </a:solidFill>
              </a:rPr>
              <a:t>Slides prepared by: Prof. </a:t>
            </a:r>
            <a:r>
              <a:rPr lang="en-US" dirty="0">
                <a:solidFill>
                  <a:srgbClr val="888888"/>
                </a:solidFill>
              </a:rPr>
              <a:t>Bharath M B</a:t>
            </a:r>
            <a:r>
              <a:rPr lang="en-US" sz="1200" dirty="0">
                <a:solidFill>
                  <a:srgbClr val="888888"/>
                </a:solidFill>
              </a:rPr>
              <a:t>, Assistant Professor, Department of CSE, Dayananda Sagar University, Harohalli, Karnataka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240" y="42980"/>
            <a:ext cx="2499577" cy="76206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Analysis of Selection Sort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89" y="2012833"/>
            <a:ext cx="4526672" cy="33713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11186" y="2488758"/>
            <a:ext cx="46197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Time efficiency</a:t>
            </a:r>
            <a:r>
              <a:rPr lang="en-US" dirty="0"/>
              <a:t>:    </a:t>
            </a:r>
            <a:r>
              <a:rPr lang="en-US" dirty="0">
                <a:solidFill>
                  <a:srgbClr val="FF0000"/>
                </a:solidFill>
              </a:rPr>
              <a:t>Θ(n^2)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accent2"/>
                </a:solidFill>
              </a:rPr>
              <a:t>Space efficiency</a:t>
            </a:r>
            <a:r>
              <a:rPr lang="en-US" dirty="0"/>
              <a:t>:    </a:t>
            </a:r>
            <a:r>
              <a:rPr lang="en-US" dirty="0">
                <a:solidFill>
                  <a:srgbClr val="FF0000"/>
                </a:solidFill>
              </a:rPr>
              <a:t>Θ(1)</a:t>
            </a:r>
            <a:r>
              <a:rPr lang="en-US" dirty="0"/>
              <a:t> , so in place 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Stability</a:t>
            </a:r>
            <a:r>
              <a:rPr lang="en-US" dirty="0"/>
              <a:t>:    </a:t>
            </a:r>
            <a:r>
              <a:rPr lang="en-US" dirty="0">
                <a:solidFill>
                  <a:srgbClr val="FF0000"/>
                </a:solidFill>
              </a:rPr>
              <a:t>YES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8"/>
          <p:cNvSpPr txBox="1">
            <a:spLocks noGrp="1"/>
          </p:cNvSpPr>
          <p:nvPr>
            <p:ph type="ftr" idx="4294967295"/>
          </p:nvPr>
        </p:nvSpPr>
        <p:spPr>
          <a:xfrm>
            <a:off x="1698171" y="6365777"/>
            <a:ext cx="88718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dirty="0">
                <a:solidFill>
                  <a:srgbClr val="888888"/>
                </a:solidFill>
              </a:rPr>
              <a:t>Slides prepared by: Prof. </a:t>
            </a:r>
            <a:r>
              <a:rPr lang="en-US" dirty="0">
                <a:solidFill>
                  <a:srgbClr val="888888"/>
                </a:solidFill>
              </a:rPr>
              <a:t>Bharath M B</a:t>
            </a:r>
            <a:r>
              <a:rPr lang="en-US" sz="1200" dirty="0">
                <a:solidFill>
                  <a:srgbClr val="888888"/>
                </a:solidFill>
              </a:rPr>
              <a:t>, Assistant Professor, Department of CSE, Dayananda Sagar University, Harohalli, Karnataka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240" y="42980"/>
            <a:ext cx="2499577" cy="76206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127098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Brute-Force String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4003" y="1240404"/>
            <a:ext cx="7502718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Pattern: a string of m characters to search for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Text: a (longer) string of n characters to search in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Problem: find a substring in the text that matches the pattern</a:t>
            </a:r>
            <a:endParaRPr lang="en-I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44002" y="2849335"/>
            <a:ext cx="10809797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dirty="0">
                <a:solidFill>
                  <a:schemeClr val="accent5"/>
                </a:solidFill>
              </a:rPr>
              <a:t>Brute-force algorithm</a:t>
            </a:r>
            <a:r>
              <a:rPr lang="en-IN" dirty="0"/>
              <a:t>: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Step 1:  Align pattern at beginning of text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Step 2 : Moving from left to right, compare each character of pattern to the corresponding character in text until–all characters are found to match (successful search); or–a mismatch is detected 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Step 3:  While pattern is not found and the text is not yet exhausted, realign pattern one position to the right and repeat Step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8"/>
          <p:cNvSpPr txBox="1">
            <a:spLocks noGrp="1"/>
          </p:cNvSpPr>
          <p:nvPr>
            <p:ph type="ftr" idx="4294967295"/>
          </p:nvPr>
        </p:nvSpPr>
        <p:spPr>
          <a:xfrm>
            <a:off x="1698171" y="6365777"/>
            <a:ext cx="88718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dirty="0">
                <a:solidFill>
                  <a:srgbClr val="888888"/>
                </a:solidFill>
              </a:rPr>
              <a:t>Slides prepared by: Prof. </a:t>
            </a:r>
            <a:r>
              <a:rPr lang="en-US" dirty="0">
                <a:solidFill>
                  <a:srgbClr val="888888"/>
                </a:solidFill>
              </a:rPr>
              <a:t>Bharath M B</a:t>
            </a:r>
            <a:r>
              <a:rPr lang="en-US" sz="1200" dirty="0">
                <a:solidFill>
                  <a:srgbClr val="888888"/>
                </a:solidFill>
              </a:rPr>
              <a:t>, Assistant Professor, Department of CSE, Dayananda Sagar University, Harohalli, Karnataka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240" y="42980"/>
            <a:ext cx="2499577" cy="76206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Examples of Brute-Force String Matching</a:t>
            </a:r>
            <a:endParaRPr lang="en-IN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2091193"/>
            <a:ext cx="9824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Pattern:     001011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Text: 10010101101001100101111010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998836"/>
            <a:ext cx="69633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2. Pattern: happy 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Text: It is never too late to have a happy childhood.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07" y="3589911"/>
            <a:ext cx="5593565" cy="182895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6675" y="4130032"/>
            <a:ext cx="4747671" cy="3734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Pseudocode and Efficiency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517" y="1588930"/>
            <a:ext cx="4813851" cy="3154953"/>
          </a:xfr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74755" y="2558591"/>
          <a:ext cx="537904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9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efficiency: Θ(</a:t>
                      </a:r>
                      <a:r>
                        <a:rPr lang="en-US" dirty="0" err="1"/>
                        <a:t>mn</a:t>
                      </a:r>
                      <a:r>
                        <a:rPr lang="en-US" dirty="0"/>
                        <a:t>)comparisons (in the worst case)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240" y="42980"/>
            <a:ext cx="2499577" cy="762066"/>
          </a:xfrm>
          <a:prstGeom prst="rect">
            <a:avLst/>
          </a:prstGeom>
        </p:spPr>
      </p:pic>
      <p:sp>
        <p:nvSpPr>
          <p:cNvPr id="8" name="Google Shape;670;p78"/>
          <p:cNvSpPr txBox="1"/>
          <p:nvPr/>
        </p:nvSpPr>
        <p:spPr>
          <a:xfrm>
            <a:off x="1698171" y="6365777"/>
            <a:ext cx="8871858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</a:pPr>
            <a:r>
              <a:rPr lang="en-US">
                <a:solidFill>
                  <a:srgbClr val="888888"/>
                </a:solidFill>
              </a:rPr>
              <a:t>Slides prepared by: Prof. Bharath M B, Assistant Professor, Department of CSE, Dayananda Sagar University, Harohalli, Karnataka</a:t>
            </a:r>
            <a:endParaRPr lang="en-US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/>
                </a:solidFill>
              </a:rPr>
              <a:t>Brute-Force Strengths and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accent6"/>
                </a:solidFill>
              </a:rPr>
              <a:t>Strengths ::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Wide applicability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Simplicity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Yields reasonable algorithms for some important problems</a:t>
            </a:r>
          </a:p>
          <a:p>
            <a:pPr marL="457200" lvl="1" indent="0" algn="just">
              <a:buNone/>
            </a:pPr>
            <a:r>
              <a:rPr lang="en-IN" dirty="0"/>
              <a:t> (e.g., matrix multiplication, sorting, searching, string matching)</a:t>
            </a:r>
          </a:p>
          <a:p>
            <a:pPr marL="457200" lvl="1" indent="0" algn="just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FF0000"/>
                </a:solidFill>
              </a:rPr>
              <a:t> Weaknesses ::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Rarely yields efficient algorithms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Some brute-force algorithms are unacceptably slow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 Not as constructive as some other design techniques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0240" y="42980"/>
            <a:ext cx="2499577" cy="762066"/>
          </a:xfrm>
          <a:prstGeom prst="rect">
            <a:avLst/>
          </a:prstGeom>
        </p:spPr>
      </p:pic>
      <p:sp>
        <p:nvSpPr>
          <p:cNvPr id="5" name="Google Shape;670;p78"/>
          <p:cNvSpPr txBox="1"/>
          <p:nvPr/>
        </p:nvSpPr>
        <p:spPr>
          <a:xfrm>
            <a:off x="1698171" y="6365777"/>
            <a:ext cx="8871858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</a:pPr>
            <a:r>
              <a:rPr lang="en-US">
                <a:solidFill>
                  <a:srgbClr val="888888"/>
                </a:solidFill>
              </a:rPr>
              <a:t>Slides prepared by: Prof. Bharath M B, Assistant Professor, Department of CSE, Dayananda Sagar University, Harohalli, Karnataka</a:t>
            </a:r>
            <a:endParaRPr lang="en-US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8"/>
          <p:cNvSpPr txBox="1">
            <a:spLocks noGrp="1"/>
          </p:cNvSpPr>
          <p:nvPr>
            <p:ph type="ftr" idx="4294967295"/>
          </p:nvPr>
        </p:nvSpPr>
        <p:spPr>
          <a:xfrm>
            <a:off x="1698171" y="6365777"/>
            <a:ext cx="88718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dirty="0">
                <a:solidFill>
                  <a:srgbClr val="888888"/>
                </a:solidFill>
              </a:rPr>
              <a:t>Slides prepared by: Prof.</a:t>
            </a:r>
            <a:r>
              <a:rPr lang="en-US" dirty="0">
                <a:solidFill>
                  <a:srgbClr val="888888"/>
                </a:solidFill>
              </a:rPr>
              <a:t> Bharath M B</a:t>
            </a:r>
            <a:r>
              <a:rPr lang="en-US" sz="1200" dirty="0">
                <a:solidFill>
                  <a:srgbClr val="888888"/>
                </a:solidFill>
              </a:rPr>
              <a:t>, Assistant Professor, Department of CSE, Dayananda Sagar University, Harohalli, Karnataka.</a:t>
            </a:r>
            <a:endParaRPr sz="1200" dirty="0">
              <a:solidFill>
                <a:srgbClr val="888888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240" y="42980"/>
            <a:ext cx="2499577" cy="76206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Traveling Salesman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580" y="1690688"/>
            <a:ext cx="60946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Given N cities with known distances between each pair, find the shortest tour that passes through all the cities exactly once before returning to the starting city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Alternatively: Find shortest Hamiltonian circuit in a weighted connected graph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/>
              <a:t>Example: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064" y="3713845"/>
            <a:ext cx="2453853" cy="176799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659" y="3429000"/>
            <a:ext cx="66037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TSP by Exhaustive Search::</a:t>
            </a:r>
          </a:p>
          <a:p>
            <a:r>
              <a:rPr lang="en-IN" b="1" u="sng" dirty="0">
                <a:solidFill>
                  <a:schemeClr val="accent1"/>
                </a:solidFill>
              </a:rPr>
              <a:t>Tour   </a:t>
            </a:r>
            <a:r>
              <a:rPr lang="en-IN" dirty="0"/>
              <a:t>                                          </a:t>
            </a:r>
            <a:r>
              <a:rPr lang="en-IN" u="sng" dirty="0">
                <a:solidFill>
                  <a:schemeClr val="accent1"/>
                </a:solidFill>
              </a:rPr>
              <a:t>Cost</a:t>
            </a:r>
          </a:p>
          <a:p>
            <a:r>
              <a:rPr lang="en-IN" dirty="0"/>
              <a:t> a→ b→ c→ d→ a         =           2+3+7+5 = 17 </a:t>
            </a:r>
          </a:p>
          <a:p>
            <a:r>
              <a:rPr lang="en-IN" dirty="0"/>
              <a:t>a→ b→ d→ c→  a         =            2+4+7+8 = 21 </a:t>
            </a:r>
          </a:p>
          <a:p>
            <a:r>
              <a:rPr lang="en-IN" dirty="0"/>
              <a:t>a→ c→ b→ d→  a         =            8+3+4+5 = 20 </a:t>
            </a:r>
          </a:p>
          <a:p>
            <a:r>
              <a:rPr lang="en-IN" dirty="0"/>
              <a:t>a→ c→ d→ b→  a         =            8+7+4+2 = 21</a:t>
            </a:r>
          </a:p>
          <a:p>
            <a:r>
              <a:rPr lang="en-IN" dirty="0"/>
              <a:t> a→ d→ b→ c→ a         =             5+4+3+8 = 20</a:t>
            </a:r>
          </a:p>
          <a:p>
            <a:r>
              <a:rPr lang="en-IN" dirty="0"/>
              <a:t> a→ d→ c→ b→ a         =             5+7+3+2 = 17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5566" y="5925625"/>
            <a:ext cx="60946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Efficiency: </a:t>
            </a:r>
            <a:r>
              <a:rPr lang="el-GR" sz="2400" b="1" dirty="0">
                <a:solidFill>
                  <a:srgbClr val="C00000"/>
                </a:solidFill>
              </a:rPr>
              <a:t>Θ((</a:t>
            </a:r>
            <a:r>
              <a:rPr lang="en-IN" sz="2400" b="1" dirty="0">
                <a:solidFill>
                  <a:srgbClr val="C00000"/>
                </a:solidFill>
              </a:rPr>
              <a:t>n-1)!)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1117" y="1371600"/>
            <a:ext cx="6647331" cy="22288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5400" dirty="0"/>
              <a:t>Analysis of Algorithms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49500" y="4456113"/>
            <a:ext cx="7543800" cy="1143000"/>
          </a:xfrm>
        </p:spPr>
        <p:txBody>
          <a:bodyPr rtlCol="0"/>
          <a:lstStyle/>
          <a:p>
            <a:pPr fontAlgn="auto">
              <a:defRPr/>
            </a:pPr>
            <a:r>
              <a:rPr lang="en-US" altLang="en-US" dirty="0"/>
              <a:t>Recurrences</a:t>
            </a:r>
          </a:p>
          <a:p>
            <a:pPr fontAlgn="auto">
              <a:defRPr/>
            </a:pPr>
            <a:r>
              <a:rPr lang="fr-FR" altLang="en-US" sz="2000" b="1" dirty="0"/>
              <a:t>(</a:t>
            </a:r>
            <a:r>
              <a:rPr lang="en-US" altLang="en-US" sz="2000" b="1" dirty="0"/>
              <a:t>Chapter 2)</a:t>
            </a:r>
          </a:p>
          <a:p>
            <a:pPr fontAlgn="auto">
              <a:defRPr/>
            </a:pPr>
            <a:endParaRPr lang="en-US" altLang="en-US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87344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Recurrences and Running Time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874838" y="1214439"/>
            <a:ext cx="8229600" cy="5368925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sz="2400" dirty="0"/>
              <a:t>An equation or inequality that describes a function in terms of its value on smaller inputs.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 sz="2400" dirty="0"/>
              <a:t>				 </a:t>
            </a:r>
            <a:r>
              <a:rPr lang="en-US" altLang="en-US" sz="2400" dirty="0">
                <a:latin typeface="Comic Sans MS" panose="030F0702030302020204" pitchFamily="66" charset="0"/>
              </a:rPr>
              <a:t>T(n) = T(n-1) + n</a:t>
            </a:r>
            <a:endParaRPr lang="en-US" altLang="en-US" sz="2400" dirty="0"/>
          </a:p>
          <a:p>
            <a:pPr>
              <a:lnSpc>
                <a:spcPct val="130000"/>
              </a:lnSpc>
            </a:pPr>
            <a:r>
              <a:rPr lang="en-US" altLang="en-US" sz="2400" dirty="0">
                <a:solidFill>
                  <a:srgbClr val="CC0000"/>
                </a:solidFill>
              </a:rPr>
              <a:t>Recurrences arise when an algorithm contains recursive calls to itself</a:t>
            </a:r>
          </a:p>
          <a:p>
            <a:pPr>
              <a:lnSpc>
                <a:spcPct val="160000"/>
              </a:lnSpc>
            </a:pPr>
            <a:r>
              <a:rPr lang="en-US" altLang="en-US" sz="2400" dirty="0"/>
              <a:t>What is the actual running time of the algorithm?</a:t>
            </a:r>
          </a:p>
          <a:p>
            <a:pPr>
              <a:lnSpc>
                <a:spcPct val="130000"/>
              </a:lnSpc>
            </a:pPr>
            <a:r>
              <a:rPr lang="en-US" altLang="en-US" sz="2400" dirty="0"/>
              <a:t>Need to solve the recurrence	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Find an explicit formula of the expression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Bound the recurrence by an expression that involves n</a:t>
            </a: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BBAAEB-A66E-4F3F-A32B-EC5D28ADEF4B}" type="slidenum">
              <a:rPr lang="en-US" altLang="en-US"/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543800" cy="70167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Recurrences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Comic Sans MS" panose="030F0702030302020204" pitchFamily="66" charset="0"/>
              </a:rPr>
              <a:t>T(n) = T(n-1) + n			</a:t>
            </a:r>
            <a:r>
              <a:rPr lang="el-GR" altLang="en-US">
                <a:latin typeface="Comic Sans MS" panose="030F0702030302020204" pitchFamily="66" charset="0"/>
              </a:rPr>
              <a:t>Θ</a:t>
            </a:r>
            <a:r>
              <a:rPr lang="en-US" altLang="en-US">
                <a:latin typeface="Comic Sans MS" panose="030F0702030302020204" pitchFamily="66" charset="0"/>
              </a:rPr>
              <a:t>(n</a:t>
            </a:r>
            <a:r>
              <a:rPr lang="en-US" altLang="en-US" baseline="30000">
                <a:latin typeface="Comic Sans MS" panose="030F0702030302020204" pitchFamily="66" charset="0"/>
              </a:rPr>
              <a:t>2</a:t>
            </a:r>
            <a:r>
              <a:rPr lang="en-US" altLang="en-US">
                <a:latin typeface="Comic Sans MS" panose="030F0702030302020204" pitchFamily="66" charset="0"/>
              </a:rPr>
              <a:t>)</a:t>
            </a:r>
            <a:endParaRPr lang="el-GR" altLang="en-US">
              <a:latin typeface="Comic Sans MS" panose="030F0702030302020204" pitchFamily="66" charset="0"/>
            </a:endParaRPr>
          </a:p>
          <a:p>
            <a:pPr lvl="1"/>
            <a:r>
              <a:rPr lang="en-US" altLang="en-US"/>
              <a:t>Recursive algorithm that loops through the input to eliminate one item</a:t>
            </a:r>
          </a:p>
          <a:p>
            <a:r>
              <a:rPr lang="en-US" altLang="en-US">
                <a:latin typeface="Comic Sans MS" panose="030F0702030302020204" pitchFamily="66" charset="0"/>
              </a:rPr>
              <a:t>T(n) = T(n/2) + c			</a:t>
            </a:r>
            <a:r>
              <a:rPr lang="el-GR" altLang="en-US">
                <a:latin typeface="Comic Sans MS" panose="030F0702030302020204" pitchFamily="66" charset="0"/>
              </a:rPr>
              <a:t>Θ</a:t>
            </a:r>
            <a:r>
              <a:rPr lang="en-US" altLang="en-US">
                <a:latin typeface="Comic Sans MS" panose="030F0702030302020204" pitchFamily="66" charset="0"/>
              </a:rPr>
              <a:t>(lgn)</a:t>
            </a:r>
          </a:p>
          <a:p>
            <a:pPr lvl="1"/>
            <a:r>
              <a:rPr lang="en-US" altLang="en-US"/>
              <a:t>Recursive algorithm that halves the input in one step</a:t>
            </a:r>
          </a:p>
          <a:p>
            <a:r>
              <a:rPr lang="en-US" altLang="en-US">
                <a:latin typeface="Comic Sans MS" panose="030F0702030302020204" pitchFamily="66" charset="0"/>
              </a:rPr>
              <a:t>T(n) = T(n/2) + n			</a:t>
            </a:r>
            <a:r>
              <a:rPr lang="el-GR" altLang="en-US">
                <a:latin typeface="Comic Sans MS" panose="030F0702030302020204" pitchFamily="66" charset="0"/>
              </a:rPr>
              <a:t>Θ</a:t>
            </a:r>
            <a:r>
              <a:rPr lang="en-US" altLang="en-US">
                <a:latin typeface="Comic Sans MS" panose="030F0702030302020204" pitchFamily="66" charset="0"/>
              </a:rPr>
              <a:t>(n)</a:t>
            </a:r>
          </a:p>
          <a:p>
            <a:pPr lvl="1"/>
            <a:r>
              <a:rPr lang="en-US" altLang="en-US"/>
              <a:t>Recursive algorithm that halves the input but must examine every item in the input</a:t>
            </a:r>
          </a:p>
          <a:p>
            <a:r>
              <a:rPr lang="en-US" altLang="en-US">
                <a:latin typeface="Comic Sans MS" panose="030F0702030302020204" pitchFamily="66" charset="0"/>
              </a:rPr>
              <a:t>T(n) = 2T(n/2) + 1			</a:t>
            </a:r>
            <a:r>
              <a:rPr lang="el-GR" altLang="en-US">
                <a:latin typeface="Comic Sans MS" panose="030F0702030302020204" pitchFamily="66" charset="0"/>
              </a:rPr>
              <a:t>Θ</a:t>
            </a:r>
            <a:r>
              <a:rPr lang="en-US" altLang="en-US">
                <a:latin typeface="Comic Sans MS" panose="030F0702030302020204" pitchFamily="66" charset="0"/>
              </a:rPr>
              <a:t>(n)</a:t>
            </a:r>
          </a:p>
          <a:p>
            <a:pPr lvl="1"/>
            <a:r>
              <a:rPr lang="en-US" altLang="en-US"/>
              <a:t>Recursive algorithm that splits the input into 2 halves and does a constant amount of other work</a:t>
            </a: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A23316-EBEE-44A4-9108-559401E454F4}" type="slidenum">
              <a:rPr lang="en-US" altLang="en-US"/>
              <a:t>12</a:t>
            </a:fld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Recurrent Algorithms</a:t>
            </a:r>
            <a:b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BINARY-SEARCH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8"/>
            <a:ext cx="8183562" cy="5262562"/>
          </a:xfrm>
        </p:spPr>
        <p:txBody>
          <a:bodyPr rtlCol="0">
            <a:normAutofit fontScale="92500" lnSpcReduction="10000"/>
          </a:bodyPr>
          <a:lstStyle/>
          <a:p>
            <a:pPr marL="457200" indent="-457200">
              <a:defRPr/>
            </a:pP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for an ordered array A, finds if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x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is in the array A[lo…hi]</a:t>
            </a:r>
          </a:p>
          <a:p>
            <a:pPr marL="457200" indent="-457200">
              <a:defRPr/>
            </a:pPr>
            <a:endParaRPr lang="en-US" altLang="en-US" sz="2400">
              <a:solidFill>
                <a:schemeClr val="tx1">
                  <a:lumMod val="75000"/>
                  <a:lumOff val="25000"/>
                </a:schemeClr>
              </a:solidFill>
              <a:sym typeface="Symbol" panose="05050102010706020507" pitchFamily="18" charset="2"/>
            </a:endParaRPr>
          </a:p>
          <a:p>
            <a:pPr marL="457200" indent="-457200">
              <a:buNone/>
              <a:defRPr/>
            </a:pPr>
            <a:r>
              <a:rPr lang="en-US" altLang="en-US" sz="2400">
                <a:solidFill>
                  <a:srgbClr val="DD011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Alg.: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>
                <a:sym typeface="Symbol" panose="05050102010706020507" pitchFamily="18" charset="2"/>
              </a:rPr>
              <a:t>BINARY-SEARCH (A, lo, hi, x) </a:t>
            </a:r>
          </a:p>
          <a:p>
            <a:pPr marL="457200" indent="-457200">
              <a:buNone/>
              <a:defRPr/>
            </a:pPr>
            <a:r>
              <a:rPr lang="en-US" altLang="en-US" sz="900">
                <a:sym typeface="Symbol" panose="05050102010706020507" pitchFamily="18" charset="2"/>
              </a:rPr>
              <a:t>	</a:t>
            </a:r>
          </a:p>
          <a:p>
            <a:pPr marL="457200" indent="-457200">
              <a:buNone/>
              <a:defRPr/>
            </a:pPr>
            <a:r>
              <a:rPr lang="en-US" altLang="en-US" sz="2400">
                <a:sym typeface="Symbol" panose="05050102010706020507" pitchFamily="18" charset="2"/>
              </a:rPr>
              <a:t>	</a:t>
            </a:r>
            <a:r>
              <a:rPr lang="en-US" altLang="en-US" sz="2400" b="1">
                <a:sym typeface="Symbol" panose="05050102010706020507" pitchFamily="18" charset="2"/>
              </a:rPr>
              <a:t>if</a:t>
            </a:r>
            <a:r>
              <a:rPr lang="en-US" altLang="en-US" sz="2400">
                <a:sym typeface="Symbol" panose="05050102010706020507" pitchFamily="18" charset="2"/>
              </a:rPr>
              <a:t> (lo &gt; hi)</a:t>
            </a:r>
          </a:p>
          <a:p>
            <a:pPr marL="457200" indent="-457200">
              <a:buNone/>
              <a:defRPr/>
            </a:pPr>
            <a:r>
              <a:rPr lang="en-US" altLang="en-US" sz="2400">
                <a:sym typeface="Symbol" panose="05050102010706020507" pitchFamily="18" charset="2"/>
              </a:rPr>
              <a:t>		</a:t>
            </a:r>
            <a:r>
              <a:rPr lang="en-US" altLang="en-US" sz="2400" b="1">
                <a:sym typeface="Symbol" panose="05050102010706020507" pitchFamily="18" charset="2"/>
              </a:rPr>
              <a:t>return</a:t>
            </a:r>
            <a:r>
              <a:rPr lang="en-US" altLang="en-US" sz="2400">
                <a:sym typeface="Symbol" panose="05050102010706020507" pitchFamily="18" charset="2"/>
              </a:rPr>
              <a:t> FALSE</a:t>
            </a:r>
          </a:p>
          <a:p>
            <a:pPr marL="457200" indent="-457200">
              <a:buNone/>
              <a:defRPr/>
            </a:pPr>
            <a:r>
              <a:rPr lang="en-US" altLang="en-US" sz="2400">
                <a:sym typeface="Symbol" panose="05050102010706020507" pitchFamily="18" charset="2"/>
              </a:rPr>
              <a:t>	mid  (lo+hi)/2</a:t>
            </a:r>
          </a:p>
          <a:p>
            <a:pPr marL="457200" indent="-457200">
              <a:buNone/>
              <a:defRPr/>
            </a:pPr>
            <a:r>
              <a:rPr lang="en-US" altLang="en-US" sz="2400">
                <a:sym typeface="Symbol" panose="05050102010706020507" pitchFamily="18" charset="2"/>
              </a:rPr>
              <a:t>	</a:t>
            </a:r>
            <a:r>
              <a:rPr lang="en-US" altLang="en-US" sz="2400" b="1">
                <a:sym typeface="Symbol" panose="05050102010706020507" pitchFamily="18" charset="2"/>
              </a:rPr>
              <a:t>if</a:t>
            </a:r>
            <a:r>
              <a:rPr lang="en-US" altLang="en-US" sz="2400">
                <a:sym typeface="Symbol" panose="05050102010706020507" pitchFamily="18" charset="2"/>
              </a:rPr>
              <a:t> x = A[mid]</a:t>
            </a:r>
          </a:p>
          <a:p>
            <a:pPr marL="457200" indent="-457200">
              <a:buNone/>
              <a:defRPr/>
            </a:pPr>
            <a:r>
              <a:rPr lang="en-US" altLang="en-US" sz="2400">
                <a:sym typeface="Symbol" panose="05050102010706020507" pitchFamily="18" charset="2"/>
              </a:rPr>
              <a:t>		return TRUE</a:t>
            </a:r>
          </a:p>
          <a:p>
            <a:pPr marL="457200" indent="-457200">
              <a:buNone/>
              <a:defRPr/>
            </a:pPr>
            <a:r>
              <a:rPr lang="en-US" altLang="en-US" sz="2400">
                <a:sym typeface="Symbol" panose="05050102010706020507" pitchFamily="18" charset="2"/>
              </a:rPr>
              <a:t>	</a:t>
            </a:r>
            <a:r>
              <a:rPr lang="en-US" altLang="en-US" sz="2400" b="1">
                <a:sym typeface="Symbol" panose="05050102010706020507" pitchFamily="18" charset="2"/>
              </a:rPr>
              <a:t>if</a:t>
            </a:r>
            <a:r>
              <a:rPr lang="en-US" altLang="en-US" sz="2400">
                <a:sym typeface="Symbol" panose="05050102010706020507" pitchFamily="18" charset="2"/>
              </a:rPr>
              <a:t> ( x &lt; A[mid] )</a:t>
            </a:r>
          </a:p>
          <a:p>
            <a:pPr marL="457200" indent="-457200">
              <a:buNone/>
              <a:defRPr/>
            </a:pPr>
            <a:r>
              <a:rPr lang="en-US" altLang="en-US" sz="2400">
                <a:sym typeface="Symbol" panose="05050102010706020507" pitchFamily="18" charset="2"/>
              </a:rPr>
              <a:t>		BINARY-SEARCH (A, lo, mid-1, x)</a:t>
            </a:r>
          </a:p>
          <a:p>
            <a:pPr marL="457200" indent="-457200">
              <a:buNone/>
              <a:defRPr/>
            </a:pPr>
            <a:r>
              <a:rPr lang="en-US" altLang="en-US" sz="2400">
                <a:sym typeface="Symbol" panose="05050102010706020507" pitchFamily="18" charset="2"/>
              </a:rPr>
              <a:t>	</a:t>
            </a:r>
            <a:r>
              <a:rPr lang="en-US" altLang="en-US" sz="2400" b="1">
                <a:sym typeface="Symbol" panose="05050102010706020507" pitchFamily="18" charset="2"/>
              </a:rPr>
              <a:t>if</a:t>
            </a:r>
            <a:r>
              <a:rPr lang="en-US" altLang="en-US" sz="2400">
                <a:sym typeface="Symbol" panose="05050102010706020507" pitchFamily="18" charset="2"/>
              </a:rPr>
              <a:t> ( x &gt; A[mid] )</a:t>
            </a:r>
          </a:p>
          <a:p>
            <a:pPr marL="457200" indent="-457200">
              <a:buNone/>
              <a:defRPr/>
            </a:pPr>
            <a:r>
              <a:rPr lang="en-US" altLang="en-US" sz="2400">
                <a:sym typeface="Symbol" panose="05050102010706020507" pitchFamily="18" charset="2"/>
              </a:rPr>
              <a:t> 		BINARY-SEARCH (A, mid+1, hi, x)</a:t>
            </a:r>
          </a:p>
        </p:txBody>
      </p:sp>
      <p:sp>
        <p:nvSpPr>
          <p:cNvPr id="2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991ED7-6228-4F8A-8E35-C043C74D166C}" type="slidenum">
              <a:rPr lang="en-US" altLang="en-US"/>
              <a:t>13</a:t>
            </a:fld>
            <a:endParaRPr lang="en-US" altLang="en-US"/>
          </a:p>
        </p:txBody>
      </p:sp>
      <p:grpSp>
        <p:nvGrpSpPr>
          <p:cNvPr id="17413" name="Group 4"/>
          <p:cNvGrpSpPr/>
          <p:nvPr/>
        </p:nvGrpSpPr>
        <p:grpSpPr bwMode="auto">
          <a:xfrm>
            <a:off x="6110288" y="2325689"/>
            <a:ext cx="4267200" cy="1665287"/>
            <a:chOff x="2736" y="1872"/>
            <a:chExt cx="2688" cy="1049"/>
          </a:xfrm>
        </p:grpSpPr>
        <p:grpSp>
          <p:nvGrpSpPr>
            <p:cNvPr id="17414" name="Group 5"/>
            <p:cNvGrpSpPr/>
            <p:nvPr/>
          </p:nvGrpSpPr>
          <p:grpSpPr bwMode="auto">
            <a:xfrm>
              <a:off x="2736" y="1872"/>
              <a:ext cx="2688" cy="480"/>
              <a:chOff x="528" y="1392"/>
              <a:chExt cx="2688" cy="480"/>
            </a:xfrm>
          </p:grpSpPr>
          <p:grpSp>
            <p:nvGrpSpPr>
              <p:cNvPr id="17423" name="Group 6"/>
              <p:cNvGrpSpPr/>
              <p:nvPr/>
            </p:nvGrpSpPr>
            <p:grpSpPr bwMode="auto">
              <a:xfrm>
                <a:off x="528" y="1584"/>
                <a:ext cx="2688" cy="288"/>
                <a:chOff x="528" y="1440"/>
                <a:chExt cx="2688" cy="288"/>
              </a:xfrm>
            </p:grpSpPr>
            <p:sp>
              <p:nvSpPr>
                <p:cNvPr id="17432" name="Rectangle 7"/>
                <p:cNvSpPr>
                  <a:spLocks noChangeArrowheads="1"/>
                </p:cNvSpPr>
                <p:nvPr/>
              </p:nvSpPr>
              <p:spPr bwMode="auto">
                <a:xfrm>
                  <a:off x="2880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  <a:latin typeface="Arial" panose="020B0604020202020204" pitchFamily="34" charset="0"/>
                    </a:rPr>
                    <a:t>12</a:t>
                  </a:r>
                  <a:endParaRPr lang="en-US" altLang="en-US" sz="2400" baseline="-25000">
                    <a:solidFill>
                      <a:schemeClr val="accent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33" name="Rectangle 8"/>
                <p:cNvSpPr>
                  <a:spLocks noChangeArrowheads="1"/>
                </p:cNvSpPr>
                <p:nvPr/>
              </p:nvSpPr>
              <p:spPr bwMode="auto">
                <a:xfrm>
                  <a:off x="2544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  <a:latin typeface="Arial" panose="020B0604020202020204" pitchFamily="34" charset="0"/>
                    </a:rPr>
                    <a:t>11</a:t>
                  </a:r>
                  <a:endParaRPr lang="en-US" altLang="en-US" sz="2400" baseline="-25000">
                    <a:solidFill>
                      <a:schemeClr val="accent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34" name="Rectangle 9"/>
                <p:cNvSpPr>
                  <a:spLocks noChangeArrowheads="1"/>
                </p:cNvSpPr>
                <p:nvPr/>
              </p:nvSpPr>
              <p:spPr bwMode="auto">
                <a:xfrm>
                  <a:off x="2208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  <a:latin typeface="Arial" panose="020B0604020202020204" pitchFamily="34" charset="0"/>
                    </a:rPr>
                    <a:t>10</a:t>
                  </a:r>
                  <a:endParaRPr lang="en-US" altLang="en-US" sz="2400" baseline="-25000">
                    <a:solidFill>
                      <a:schemeClr val="accent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35" name="Rectangle 10"/>
                <p:cNvSpPr>
                  <a:spLocks noChangeArrowheads="1"/>
                </p:cNvSpPr>
                <p:nvPr/>
              </p:nvSpPr>
              <p:spPr bwMode="auto">
                <a:xfrm>
                  <a:off x="1872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  <a:latin typeface="Arial" panose="020B0604020202020204" pitchFamily="34" charset="0"/>
                    </a:rPr>
                    <a:t>9</a:t>
                  </a:r>
                  <a:endParaRPr lang="en-US" altLang="en-US" sz="2400" baseline="-25000">
                    <a:solidFill>
                      <a:schemeClr val="accent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36" name="Rectangle 11"/>
                <p:cNvSpPr>
                  <a:spLocks noChangeArrowheads="1"/>
                </p:cNvSpPr>
                <p:nvPr/>
              </p:nvSpPr>
              <p:spPr bwMode="auto">
                <a:xfrm>
                  <a:off x="1536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  <a:latin typeface="Arial" panose="020B0604020202020204" pitchFamily="34" charset="0"/>
                    </a:rPr>
                    <a:t>7</a:t>
                  </a:r>
                  <a:endParaRPr lang="en-US" altLang="en-US" sz="2400" baseline="-25000">
                    <a:solidFill>
                      <a:schemeClr val="accent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37" name="Rectangle 12"/>
                <p:cNvSpPr>
                  <a:spLocks noChangeArrowheads="1"/>
                </p:cNvSpPr>
                <p:nvPr/>
              </p:nvSpPr>
              <p:spPr bwMode="auto">
                <a:xfrm>
                  <a:off x="1200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  <a:latin typeface="Arial" panose="020B0604020202020204" pitchFamily="34" charset="0"/>
                    </a:rPr>
                    <a:t>5</a:t>
                  </a:r>
                  <a:endParaRPr lang="en-US" altLang="en-US" sz="2400" baseline="-25000">
                    <a:solidFill>
                      <a:schemeClr val="accent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38" name="Rectangle 13"/>
                <p:cNvSpPr>
                  <a:spLocks noChangeArrowheads="1"/>
                </p:cNvSpPr>
                <p:nvPr/>
              </p:nvSpPr>
              <p:spPr bwMode="auto">
                <a:xfrm>
                  <a:off x="864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  <a:latin typeface="Arial" panose="020B0604020202020204" pitchFamily="34" charset="0"/>
                    </a:rPr>
                    <a:t>3</a:t>
                  </a:r>
                  <a:endParaRPr lang="en-US" altLang="en-US" sz="2400" baseline="-25000">
                    <a:solidFill>
                      <a:schemeClr val="accent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39" name="Rectangle 14"/>
                <p:cNvSpPr>
                  <a:spLocks noChangeArrowheads="1"/>
                </p:cNvSpPr>
                <p:nvPr/>
              </p:nvSpPr>
              <p:spPr bwMode="auto">
                <a:xfrm>
                  <a:off x="528" y="1440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charset="0"/>
                    </a:defRPr>
                  </a:lvl9pPr>
                </a:lstStyle>
                <a:p>
                  <a:pPr eaLnBrk="1" hangingPunct="1">
                    <a:spcBef>
                      <a:spcPct val="20000"/>
                    </a:spcBef>
                  </a:pPr>
                  <a:r>
                    <a:rPr lang="en-US" altLang="en-US" sz="2400">
                      <a:solidFill>
                        <a:schemeClr val="accent2"/>
                      </a:solidFill>
                      <a:latin typeface="Arial" panose="020B0604020202020204" pitchFamily="34" charset="0"/>
                    </a:rPr>
                    <a:t>2</a:t>
                  </a:r>
                  <a:endParaRPr lang="en-US" altLang="en-US" sz="2400" baseline="-25000">
                    <a:solidFill>
                      <a:schemeClr val="accent2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440" name="Line 15"/>
                <p:cNvSpPr>
                  <a:spLocks noChangeShapeType="1"/>
                </p:cNvSpPr>
                <p:nvPr/>
              </p:nvSpPr>
              <p:spPr bwMode="auto">
                <a:xfrm>
                  <a:off x="528" y="1440"/>
                  <a:ext cx="268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17441" name="Line 16"/>
                <p:cNvSpPr>
                  <a:spLocks noChangeShapeType="1"/>
                </p:cNvSpPr>
                <p:nvPr/>
              </p:nvSpPr>
              <p:spPr bwMode="auto">
                <a:xfrm>
                  <a:off x="528" y="1728"/>
                  <a:ext cx="2688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17442" name="Line 17"/>
                <p:cNvSpPr>
                  <a:spLocks noChangeShapeType="1"/>
                </p:cNvSpPr>
                <p:nvPr/>
              </p:nvSpPr>
              <p:spPr bwMode="auto">
                <a:xfrm>
                  <a:off x="528" y="1440"/>
                  <a:ext cx="0" cy="28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17443" name="Line 18"/>
                <p:cNvSpPr>
                  <a:spLocks noChangeShapeType="1"/>
                </p:cNvSpPr>
                <p:nvPr/>
              </p:nvSpPr>
              <p:spPr bwMode="auto">
                <a:xfrm>
                  <a:off x="864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17444" name="Line 19"/>
                <p:cNvSpPr>
                  <a:spLocks noChangeShapeType="1"/>
                </p:cNvSpPr>
                <p:nvPr/>
              </p:nvSpPr>
              <p:spPr bwMode="auto">
                <a:xfrm>
                  <a:off x="1200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17445" name="Line 20"/>
                <p:cNvSpPr>
                  <a:spLocks noChangeShapeType="1"/>
                </p:cNvSpPr>
                <p:nvPr/>
              </p:nvSpPr>
              <p:spPr bwMode="auto">
                <a:xfrm>
                  <a:off x="1536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17446" name="Line 21"/>
                <p:cNvSpPr>
                  <a:spLocks noChangeShapeType="1"/>
                </p:cNvSpPr>
                <p:nvPr/>
              </p:nvSpPr>
              <p:spPr bwMode="auto">
                <a:xfrm>
                  <a:off x="1872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17447" name="Line 22"/>
                <p:cNvSpPr>
                  <a:spLocks noChangeShapeType="1"/>
                </p:cNvSpPr>
                <p:nvPr/>
              </p:nvSpPr>
              <p:spPr bwMode="auto">
                <a:xfrm>
                  <a:off x="2208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17448" name="Line 23"/>
                <p:cNvSpPr>
                  <a:spLocks noChangeShapeType="1"/>
                </p:cNvSpPr>
                <p:nvPr/>
              </p:nvSpPr>
              <p:spPr bwMode="auto">
                <a:xfrm>
                  <a:off x="2544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17449" name="Line 24"/>
                <p:cNvSpPr>
                  <a:spLocks noChangeShapeType="1"/>
                </p:cNvSpPr>
                <p:nvPr/>
              </p:nvSpPr>
              <p:spPr bwMode="auto">
                <a:xfrm>
                  <a:off x="2880" y="1440"/>
                  <a:ext cx="0" cy="2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  <p:sp>
              <p:nvSpPr>
                <p:cNvPr id="17450" name="Line 25"/>
                <p:cNvSpPr>
                  <a:spLocks noChangeShapeType="1"/>
                </p:cNvSpPr>
                <p:nvPr/>
              </p:nvSpPr>
              <p:spPr bwMode="auto">
                <a:xfrm>
                  <a:off x="3216" y="1440"/>
                  <a:ext cx="0" cy="28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 anchorCtr="1"/>
                <a:lstStyle/>
                <a:p>
                  <a:endParaRPr lang="en-IN"/>
                </a:p>
              </p:txBody>
            </p:sp>
          </p:grpSp>
          <p:sp>
            <p:nvSpPr>
              <p:cNvPr id="17424" name="Text Box 26"/>
              <p:cNvSpPr txBox="1">
                <a:spLocks noChangeArrowheads="1"/>
              </p:cNvSpPr>
              <p:nvPr/>
            </p:nvSpPr>
            <p:spPr bwMode="auto">
              <a:xfrm>
                <a:off x="624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1</a:t>
                </a:r>
              </a:p>
            </p:txBody>
          </p:sp>
          <p:sp>
            <p:nvSpPr>
              <p:cNvPr id="17425" name="Text Box 27"/>
              <p:cNvSpPr txBox="1">
                <a:spLocks noChangeArrowheads="1"/>
              </p:cNvSpPr>
              <p:nvPr/>
            </p:nvSpPr>
            <p:spPr bwMode="auto">
              <a:xfrm>
                <a:off x="960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2</a:t>
                </a:r>
              </a:p>
            </p:txBody>
          </p:sp>
          <p:sp>
            <p:nvSpPr>
              <p:cNvPr id="17426" name="Text Box 28"/>
              <p:cNvSpPr txBox="1">
                <a:spLocks noChangeArrowheads="1"/>
              </p:cNvSpPr>
              <p:nvPr/>
            </p:nvSpPr>
            <p:spPr bwMode="auto">
              <a:xfrm>
                <a:off x="1296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3</a:t>
                </a:r>
              </a:p>
            </p:txBody>
          </p:sp>
          <p:sp>
            <p:nvSpPr>
              <p:cNvPr id="17427" name="Text Box 29"/>
              <p:cNvSpPr txBox="1">
                <a:spLocks noChangeArrowheads="1"/>
              </p:cNvSpPr>
              <p:nvPr/>
            </p:nvSpPr>
            <p:spPr bwMode="auto">
              <a:xfrm>
                <a:off x="1632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4</a:t>
                </a:r>
              </a:p>
            </p:txBody>
          </p:sp>
          <p:sp>
            <p:nvSpPr>
              <p:cNvPr id="17428" name="Text Box 30"/>
              <p:cNvSpPr txBox="1">
                <a:spLocks noChangeArrowheads="1"/>
              </p:cNvSpPr>
              <p:nvPr/>
            </p:nvSpPr>
            <p:spPr bwMode="auto">
              <a:xfrm>
                <a:off x="1968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5</a:t>
                </a:r>
              </a:p>
            </p:txBody>
          </p:sp>
          <p:sp>
            <p:nvSpPr>
              <p:cNvPr id="17429" name="Text Box 31"/>
              <p:cNvSpPr txBox="1">
                <a:spLocks noChangeArrowheads="1"/>
              </p:cNvSpPr>
              <p:nvPr/>
            </p:nvSpPr>
            <p:spPr bwMode="auto">
              <a:xfrm>
                <a:off x="2304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6</a:t>
                </a:r>
              </a:p>
            </p:txBody>
          </p:sp>
          <p:sp>
            <p:nvSpPr>
              <p:cNvPr id="17430" name="Text Box 32"/>
              <p:cNvSpPr txBox="1">
                <a:spLocks noChangeArrowheads="1"/>
              </p:cNvSpPr>
              <p:nvPr/>
            </p:nvSpPr>
            <p:spPr bwMode="auto">
              <a:xfrm>
                <a:off x="2640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7</a:t>
                </a:r>
              </a:p>
            </p:txBody>
          </p:sp>
          <p:sp>
            <p:nvSpPr>
              <p:cNvPr id="17431" name="Text Box 33"/>
              <p:cNvSpPr txBox="1">
                <a:spLocks noChangeArrowheads="1"/>
              </p:cNvSpPr>
              <p:nvPr/>
            </p:nvSpPr>
            <p:spPr bwMode="auto">
              <a:xfrm>
                <a:off x="2976" y="1392"/>
                <a:ext cx="144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/>
                <a:r>
                  <a:rPr lang="en-US" altLang="en-US" sz="1000"/>
                  <a:t>8</a:t>
                </a:r>
              </a:p>
            </p:txBody>
          </p:sp>
        </p:grpSp>
        <p:grpSp>
          <p:nvGrpSpPr>
            <p:cNvPr id="17415" name="Group 34"/>
            <p:cNvGrpSpPr/>
            <p:nvPr/>
          </p:nvGrpSpPr>
          <p:grpSpPr bwMode="auto">
            <a:xfrm>
              <a:off x="3936" y="2448"/>
              <a:ext cx="636" cy="377"/>
              <a:chOff x="3936" y="2448"/>
              <a:chExt cx="636" cy="377"/>
            </a:xfrm>
          </p:grpSpPr>
          <p:sp>
            <p:nvSpPr>
              <p:cNvPr id="17420" name="Text Box 35"/>
              <p:cNvSpPr txBox="1">
                <a:spLocks noChangeArrowheads="1"/>
              </p:cNvSpPr>
              <p:nvPr/>
            </p:nvSpPr>
            <p:spPr bwMode="auto">
              <a:xfrm>
                <a:off x="4224" y="2592"/>
                <a:ext cx="34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/>
                <a:r>
                  <a:rPr lang="en-US" altLang="en-US" b="1"/>
                  <a:t>mid</a:t>
                </a:r>
              </a:p>
            </p:txBody>
          </p:sp>
          <p:sp>
            <p:nvSpPr>
              <p:cNvPr id="17421" name="Line 36"/>
              <p:cNvSpPr>
                <a:spLocks noChangeShapeType="1"/>
              </p:cNvSpPr>
              <p:nvPr/>
            </p:nvSpPr>
            <p:spPr bwMode="auto">
              <a:xfrm flipH="1">
                <a:off x="3936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422" name="Line 37"/>
              <p:cNvSpPr>
                <a:spLocks noChangeShapeType="1"/>
              </p:cNvSpPr>
              <p:nvPr/>
            </p:nvSpPr>
            <p:spPr bwMode="auto">
              <a:xfrm flipV="1">
                <a:off x="3936" y="244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416" name="Text Box 38"/>
            <p:cNvSpPr txBox="1">
              <a:spLocks noChangeArrowheads="1"/>
            </p:cNvSpPr>
            <p:nvPr/>
          </p:nvSpPr>
          <p:spPr bwMode="auto">
            <a:xfrm>
              <a:off x="2784" y="2688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b="1"/>
                <a:t>lo</a:t>
              </a:r>
            </a:p>
          </p:txBody>
        </p:sp>
        <p:sp>
          <p:nvSpPr>
            <p:cNvPr id="17417" name="Text Box 39"/>
            <p:cNvSpPr txBox="1">
              <a:spLocks noChangeArrowheads="1"/>
            </p:cNvSpPr>
            <p:nvPr/>
          </p:nvSpPr>
          <p:spPr bwMode="auto">
            <a:xfrm>
              <a:off x="5126" y="2688"/>
              <a:ext cx="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b="1"/>
                <a:t>hi</a:t>
              </a:r>
            </a:p>
          </p:txBody>
        </p:sp>
        <p:sp>
          <p:nvSpPr>
            <p:cNvPr id="17418" name="Line 40"/>
            <p:cNvSpPr>
              <a:spLocks noChangeShapeType="1"/>
            </p:cNvSpPr>
            <p:nvPr/>
          </p:nvSpPr>
          <p:spPr bwMode="auto">
            <a:xfrm flipV="1">
              <a:off x="2880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419" name="Line 41"/>
            <p:cNvSpPr>
              <a:spLocks noChangeShapeType="1"/>
            </p:cNvSpPr>
            <p:nvPr/>
          </p:nvSpPr>
          <p:spPr bwMode="auto">
            <a:xfrm flipV="1">
              <a:off x="5232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8"/>
            <a:ext cx="8259762" cy="1376362"/>
          </a:xfrm>
        </p:spPr>
        <p:txBody>
          <a:bodyPr/>
          <a:lstStyle/>
          <a:p>
            <a:r>
              <a:rPr lang="en-US" altLang="en-US" sz="2400"/>
              <a:t>A[8] = {1, 2, 3, 4, 5, 7, 9, 11}</a:t>
            </a:r>
          </a:p>
          <a:p>
            <a:pPr lvl="1"/>
            <a:r>
              <a:rPr lang="en-US" altLang="en-US"/>
              <a:t>lo = 1	hi = 8	  </a:t>
            </a:r>
            <a:r>
              <a:rPr lang="en-US" altLang="en-US">
                <a:solidFill>
                  <a:srgbClr val="DD0111"/>
                </a:solidFill>
              </a:rPr>
              <a:t>x = 7</a:t>
            </a: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26DBDC-2FC0-46CF-A1A7-03E626EF68B0}" type="slidenum">
              <a:rPr lang="en-US" altLang="en-US"/>
              <a:t>14</a:t>
            </a:fld>
            <a:endParaRPr lang="en-US" altLang="en-US"/>
          </a:p>
        </p:txBody>
      </p:sp>
      <p:grpSp>
        <p:nvGrpSpPr>
          <p:cNvPr id="18437" name="Group 4"/>
          <p:cNvGrpSpPr/>
          <p:nvPr/>
        </p:nvGrpSpPr>
        <p:grpSpPr bwMode="auto">
          <a:xfrm>
            <a:off x="3962400" y="2633663"/>
            <a:ext cx="5638800" cy="457200"/>
            <a:chOff x="1536" y="1584"/>
            <a:chExt cx="3552" cy="288"/>
          </a:xfrm>
        </p:grpSpPr>
        <p:sp>
          <p:nvSpPr>
            <p:cNvPr id="18493" name="Text Box 5"/>
            <p:cNvSpPr txBox="1">
              <a:spLocks noChangeArrowheads="1"/>
            </p:cNvSpPr>
            <p:nvPr/>
          </p:nvSpPr>
          <p:spPr bwMode="auto">
            <a:xfrm>
              <a:off x="3360" y="1613"/>
              <a:ext cx="17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sz="2000"/>
                <a:t>mid = 4, lo = 5, hi = 8</a:t>
              </a:r>
            </a:p>
          </p:txBody>
        </p:sp>
        <p:sp>
          <p:nvSpPr>
            <p:cNvPr id="18494" name="Oval 6"/>
            <p:cNvSpPr>
              <a:spLocks noChangeArrowheads="1"/>
            </p:cNvSpPr>
            <p:nvPr/>
          </p:nvSpPr>
          <p:spPr bwMode="auto">
            <a:xfrm>
              <a:off x="1536" y="158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endParaRPr lang="en-IN" altLang="en-US"/>
            </a:p>
          </p:txBody>
        </p:sp>
      </p:grpSp>
      <p:grpSp>
        <p:nvGrpSpPr>
          <p:cNvPr id="18438" name="Group 7"/>
          <p:cNvGrpSpPr/>
          <p:nvPr/>
        </p:nvGrpSpPr>
        <p:grpSpPr bwMode="auto">
          <a:xfrm>
            <a:off x="5029200" y="3867148"/>
            <a:ext cx="4953000" cy="457200"/>
            <a:chOff x="2208" y="2064"/>
            <a:chExt cx="3120" cy="288"/>
          </a:xfrm>
        </p:grpSpPr>
        <p:sp>
          <p:nvSpPr>
            <p:cNvPr id="18491" name="Oval 8"/>
            <p:cNvSpPr>
              <a:spLocks noChangeArrowheads="1"/>
            </p:cNvSpPr>
            <p:nvPr/>
          </p:nvSpPr>
          <p:spPr bwMode="auto">
            <a:xfrm>
              <a:off x="2208" y="206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endParaRPr lang="en-IN" altLang="en-US"/>
            </a:p>
          </p:txBody>
        </p:sp>
        <p:sp>
          <p:nvSpPr>
            <p:cNvPr id="18492" name="Text Box 9"/>
            <p:cNvSpPr txBox="1">
              <a:spLocks noChangeArrowheads="1"/>
            </p:cNvSpPr>
            <p:nvPr/>
          </p:nvSpPr>
          <p:spPr bwMode="auto">
            <a:xfrm>
              <a:off x="3360" y="2093"/>
              <a:ext cx="1968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sz="2000"/>
                <a:t>mid = 6, A[mid] = x  Found!</a:t>
              </a:r>
            </a:p>
          </p:txBody>
        </p:sp>
      </p:grpSp>
      <p:grpSp>
        <p:nvGrpSpPr>
          <p:cNvPr id="18439" name="Group 10"/>
          <p:cNvGrpSpPr/>
          <p:nvPr/>
        </p:nvGrpSpPr>
        <p:grpSpPr bwMode="auto">
          <a:xfrm>
            <a:off x="2362200" y="3867150"/>
            <a:ext cx="4267200" cy="457200"/>
            <a:chOff x="528" y="1440"/>
            <a:chExt cx="2688" cy="288"/>
          </a:xfrm>
        </p:grpSpPr>
        <p:sp>
          <p:nvSpPr>
            <p:cNvPr id="18472" name="Rectangle 11"/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11</a:t>
              </a:r>
            </a:p>
          </p:txBody>
        </p:sp>
        <p:sp>
          <p:nvSpPr>
            <p:cNvPr id="18473" name="Rectangle 12"/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18474" name="Rectangle 13"/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18475" name="Rectangle 14"/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8476" name="Rectangle 15"/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477" name="Rectangle 16"/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8478" name="Rectangle 17"/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8479" name="Rectangle 18"/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8480" name="Line 19"/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81" name="Line 20"/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82" name="Line 21"/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83" name="Line 22"/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84" name="Line 23"/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85" name="Line 24"/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86" name="Line 25"/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87" name="Line 26"/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88" name="Line 27"/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89" name="Line 28"/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90" name="Line 29"/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</p:grpSp>
      <p:grpSp>
        <p:nvGrpSpPr>
          <p:cNvPr id="18440" name="Group 31"/>
          <p:cNvGrpSpPr/>
          <p:nvPr/>
        </p:nvGrpSpPr>
        <p:grpSpPr bwMode="auto">
          <a:xfrm>
            <a:off x="2362200" y="2633663"/>
            <a:ext cx="4267200" cy="457200"/>
            <a:chOff x="528" y="1440"/>
            <a:chExt cx="2688" cy="288"/>
          </a:xfrm>
        </p:grpSpPr>
        <p:sp>
          <p:nvSpPr>
            <p:cNvPr id="18453" name="Rectangle 32"/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11</a:t>
              </a:r>
            </a:p>
          </p:txBody>
        </p:sp>
        <p:sp>
          <p:nvSpPr>
            <p:cNvPr id="18454" name="Rectangle 33"/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18455" name="Rectangle 34"/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18456" name="Rectangle 35"/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8457" name="Rectangle 36"/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8458" name="Rectangle 37"/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8459" name="Rectangle 38"/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8460" name="Rectangle 39"/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8461" name="Line 40"/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62" name="Line 41"/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63" name="Line 42"/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64" name="Line 43"/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65" name="Line 44"/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66" name="Line 45"/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67" name="Line 46"/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68" name="Line 47"/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69" name="Line 48"/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70" name="Line 49"/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8471" name="Line 50"/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</p:grpSp>
      <p:sp>
        <p:nvSpPr>
          <p:cNvPr id="18441" name="Text Box 51"/>
          <p:cNvSpPr txBox="1">
            <a:spLocks noChangeArrowheads="1"/>
          </p:cNvSpPr>
          <p:nvPr/>
        </p:nvSpPr>
        <p:spPr bwMode="auto">
          <a:xfrm>
            <a:off x="25146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1</a:t>
            </a:r>
          </a:p>
        </p:txBody>
      </p:sp>
      <p:sp>
        <p:nvSpPr>
          <p:cNvPr id="18442" name="Text Box 52"/>
          <p:cNvSpPr txBox="1">
            <a:spLocks noChangeArrowheads="1"/>
          </p:cNvSpPr>
          <p:nvPr/>
        </p:nvSpPr>
        <p:spPr bwMode="auto">
          <a:xfrm>
            <a:off x="30480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2</a:t>
            </a:r>
          </a:p>
        </p:txBody>
      </p:sp>
      <p:sp>
        <p:nvSpPr>
          <p:cNvPr id="18443" name="Text Box 53"/>
          <p:cNvSpPr txBox="1">
            <a:spLocks noChangeArrowheads="1"/>
          </p:cNvSpPr>
          <p:nvPr/>
        </p:nvSpPr>
        <p:spPr bwMode="auto">
          <a:xfrm>
            <a:off x="35814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3</a:t>
            </a:r>
          </a:p>
        </p:txBody>
      </p:sp>
      <p:sp>
        <p:nvSpPr>
          <p:cNvPr id="18444" name="Text Box 54"/>
          <p:cNvSpPr txBox="1">
            <a:spLocks noChangeArrowheads="1"/>
          </p:cNvSpPr>
          <p:nvPr/>
        </p:nvSpPr>
        <p:spPr bwMode="auto">
          <a:xfrm>
            <a:off x="41148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4</a:t>
            </a:r>
          </a:p>
        </p:txBody>
      </p:sp>
      <p:sp>
        <p:nvSpPr>
          <p:cNvPr id="18445" name="Text Box 55"/>
          <p:cNvSpPr txBox="1">
            <a:spLocks noChangeArrowheads="1"/>
          </p:cNvSpPr>
          <p:nvPr/>
        </p:nvSpPr>
        <p:spPr bwMode="auto">
          <a:xfrm>
            <a:off x="46482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5</a:t>
            </a:r>
          </a:p>
        </p:txBody>
      </p:sp>
      <p:sp>
        <p:nvSpPr>
          <p:cNvPr id="18446" name="Text Box 56"/>
          <p:cNvSpPr txBox="1">
            <a:spLocks noChangeArrowheads="1"/>
          </p:cNvSpPr>
          <p:nvPr/>
        </p:nvSpPr>
        <p:spPr bwMode="auto">
          <a:xfrm>
            <a:off x="51816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6</a:t>
            </a:r>
          </a:p>
        </p:txBody>
      </p:sp>
      <p:sp>
        <p:nvSpPr>
          <p:cNvPr id="18447" name="Text Box 57"/>
          <p:cNvSpPr txBox="1">
            <a:spLocks noChangeArrowheads="1"/>
          </p:cNvSpPr>
          <p:nvPr/>
        </p:nvSpPr>
        <p:spPr bwMode="auto">
          <a:xfrm>
            <a:off x="57150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7</a:t>
            </a:r>
          </a:p>
        </p:txBody>
      </p:sp>
      <p:sp>
        <p:nvSpPr>
          <p:cNvPr id="18448" name="Text Box 58"/>
          <p:cNvSpPr txBox="1">
            <a:spLocks noChangeArrowheads="1"/>
          </p:cNvSpPr>
          <p:nvPr/>
        </p:nvSpPr>
        <p:spPr bwMode="auto">
          <a:xfrm>
            <a:off x="6248400" y="232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8</a:t>
            </a:r>
          </a:p>
        </p:txBody>
      </p:sp>
      <p:sp>
        <p:nvSpPr>
          <p:cNvPr id="18449" name="Text Box 59"/>
          <p:cNvSpPr txBox="1">
            <a:spLocks noChangeArrowheads="1"/>
          </p:cNvSpPr>
          <p:nvPr/>
        </p:nvSpPr>
        <p:spPr bwMode="auto">
          <a:xfrm>
            <a:off x="6272213" y="3552826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8</a:t>
            </a:r>
          </a:p>
        </p:txBody>
      </p:sp>
      <p:sp>
        <p:nvSpPr>
          <p:cNvPr id="18450" name="Text Box 60"/>
          <p:cNvSpPr txBox="1">
            <a:spLocks noChangeArrowheads="1"/>
          </p:cNvSpPr>
          <p:nvPr/>
        </p:nvSpPr>
        <p:spPr bwMode="auto">
          <a:xfrm>
            <a:off x="5756275" y="3570289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7</a:t>
            </a:r>
          </a:p>
        </p:txBody>
      </p:sp>
      <p:sp>
        <p:nvSpPr>
          <p:cNvPr id="18451" name="Text Box 61"/>
          <p:cNvSpPr txBox="1">
            <a:spLocks noChangeArrowheads="1"/>
          </p:cNvSpPr>
          <p:nvPr/>
        </p:nvSpPr>
        <p:spPr bwMode="auto">
          <a:xfrm>
            <a:off x="5176838" y="357981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6</a:t>
            </a:r>
          </a:p>
        </p:txBody>
      </p:sp>
      <p:sp>
        <p:nvSpPr>
          <p:cNvPr id="18452" name="Text Box 62"/>
          <p:cNvSpPr txBox="1">
            <a:spLocks noChangeArrowheads="1"/>
          </p:cNvSpPr>
          <p:nvPr/>
        </p:nvSpPr>
        <p:spPr bwMode="auto">
          <a:xfrm>
            <a:off x="4670425" y="3598864"/>
            <a:ext cx="22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1000"/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Another Example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8"/>
            <a:ext cx="8259762" cy="455612"/>
          </a:xfrm>
        </p:spPr>
        <p:txBody>
          <a:bodyPr/>
          <a:lstStyle/>
          <a:p>
            <a:r>
              <a:rPr lang="en-US" altLang="en-US" sz="2400"/>
              <a:t>A[8] = {1, 2, 3, 4, 5, 7, 9, 11}</a:t>
            </a: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64BEEA8-D8B3-4766-9D90-23EA52CB5FA1}" type="slidenum">
              <a:rPr lang="en-US" altLang="en-US"/>
              <a:t>15</a:t>
            </a:fld>
            <a:endParaRPr lang="en-US" altLang="en-US"/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1752601" y="1762125"/>
            <a:ext cx="825976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lvl="1" eaLnBrk="1" hangingPunct="1">
              <a:spcBef>
                <a:spcPct val="20000"/>
              </a:spcBef>
              <a:buFontTx/>
              <a:buChar char="–"/>
            </a:pPr>
            <a:r>
              <a:rPr lang="en-US" altLang="en-US" sz="2400">
                <a:latin typeface="Arial" panose="020B0604020202020204" pitchFamily="34" charset="0"/>
              </a:rPr>
              <a:t>lo = 1	hi = 8	  </a:t>
            </a:r>
            <a:r>
              <a:rPr lang="en-US" altLang="en-US" sz="2400">
                <a:solidFill>
                  <a:srgbClr val="DD0111"/>
                </a:solidFill>
                <a:latin typeface="Arial" panose="020B0604020202020204" pitchFamily="34" charset="0"/>
              </a:rPr>
              <a:t>x = 6</a:t>
            </a:r>
          </a:p>
        </p:txBody>
      </p:sp>
      <p:grpSp>
        <p:nvGrpSpPr>
          <p:cNvPr id="19462" name="Group 5"/>
          <p:cNvGrpSpPr/>
          <p:nvPr/>
        </p:nvGrpSpPr>
        <p:grpSpPr bwMode="auto">
          <a:xfrm>
            <a:off x="3733800" y="2505075"/>
            <a:ext cx="5638800" cy="457200"/>
            <a:chOff x="1536" y="1584"/>
            <a:chExt cx="3552" cy="288"/>
          </a:xfrm>
        </p:grpSpPr>
        <p:sp>
          <p:nvSpPr>
            <p:cNvPr id="19572" name="Text Box 6"/>
            <p:cNvSpPr txBox="1">
              <a:spLocks noChangeArrowheads="1"/>
            </p:cNvSpPr>
            <p:nvPr/>
          </p:nvSpPr>
          <p:spPr bwMode="auto">
            <a:xfrm>
              <a:off x="3360" y="1613"/>
              <a:ext cx="17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/>
                <a:t>mid = 4, lo = 5, hi = 8</a:t>
              </a:r>
            </a:p>
          </p:txBody>
        </p:sp>
        <p:sp>
          <p:nvSpPr>
            <p:cNvPr id="19573" name="Oval 7"/>
            <p:cNvSpPr>
              <a:spLocks noChangeArrowheads="1"/>
            </p:cNvSpPr>
            <p:nvPr/>
          </p:nvSpPr>
          <p:spPr bwMode="auto">
            <a:xfrm>
              <a:off x="1536" y="1584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endParaRPr lang="en-IN" altLang="en-US"/>
            </a:p>
          </p:txBody>
        </p:sp>
      </p:grpSp>
      <p:grpSp>
        <p:nvGrpSpPr>
          <p:cNvPr id="19463" name="Group 8"/>
          <p:cNvGrpSpPr/>
          <p:nvPr/>
        </p:nvGrpSpPr>
        <p:grpSpPr bwMode="auto">
          <a:xfrm>
            <a:off x="4800600" y="3333750"/>
            <a:ext cx="5257800" cy="457200"/>
            <a:chOff x="2208" y="3408"/>
            <a:chExt cx="3312" cy="288"/>
          </a:xfrm>
        </p:grpSpPr>
        <p:sp>
          <p:nvSpPr>
            <p:cNvPr id="19570" name="Oval 9"/>
            <p:cNvSpPr>
              <a:spLocks noChangeArrowheads="1"/>
            </p:cNvSpPr>
            <p:nvPr/>
          </p:nvSpPr>
          <p:spPr bwMode="auto">
            <a:xfrm>
              <a:off x="2208" y="3408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endParaRPr lang="en-IN" altLang="en-US"/>
            </a:p>
          </p:txBody>
        </p:sp>
        <p:sp>
          <p:nvSpPr>
            <p:cNvPr id="19571" name="Text Box 10"/>
            <p:cNvSpPr txBox="1">
              <a:spLocks noChangeArrowheads="1"/>
            </p:cNvSpPr>
            <p:nvPr/>
          </p:nvSpPr>
          <p:spPr bwMode="auto">
            <a:xfrm>
              <a:off x="3360" y="3437"/>
              <a:ext cx="21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/>
                <a:t>mid = 6, A[6] = 7, lo = 5, hi = 5</a:t>
              </a:r>
            </a:p>
          </p:txBody>
        </p:sp>
      </p:grpSp>
      <p:grpSp>
        <p:nvGrpSpPr>
          <p:cNvPr id="19464" name="Group 11"/>
          <p:cNvGrpSpPr/>
          <p:nvPr/>
        </p:nvGrpSpPr>
        <p:grpSpPr bwMode="auto">
          <a:xfrm>
            <a:off x="2133600" y="3333750"/>
            <a:ext cx="4267200" cy="457200"/>
            <a:chOff x="528" y="1440"/>
            <a:chExt cx="2688" cy="288"/>
          </a:xfrm>
        </p:grpSpPr>
        <p:sp>
          <p:nvSpPr>
            <p:cNvPr id="19551" name="Rectangle 12"/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11</a:t>
              </a:r>
            </a:p>
          </p:txBody>
        </p:sp>
        <p:sp>
          <p:nvSpPr>
            <p:cNvPr id="19552" name="Rectangle 13"/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19553" name="Rectangle 14"/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19554" name="Rectangle 15"/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9555" name="Rectangle 16"/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9556" name="Rectangle 17"/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557" name="Rectangle 18"/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9558" name="Rectangle 19"/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9559" name="Line 20"/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60" name="Line 21"/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61" name="Line 22"/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62" name="Line 23"/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63" name="Line 24"/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64" name="Line 25"/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65" name="Line 26"/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66" name="Line 27"/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67" name="Line 28"/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68" name="Line 29"/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69" name="Line 30"/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</p:grpSp>
      <p:grpSp>
        <p:nvGrpSpPr>
          <p:cNvPr id="19465" name="Group 31"/>
          <p:cNvGrpSpPr/>
          <p:nvPr/>
        </p:nvGrpSpPr>
        <p:grpSpPr bwMode="auto">
          <a:xfrm>
            <a:off x="2133600" y="2200275"/>
            <a:ext cx="4267200" cy="762000"/>
            <a:chOff x="528" y="1392"/>
            <a:chExt cx="2688" cy="480"/>
          </a:xfrm>
        </p:grpSpPr>
        <p:grpSp>
          <p:nvGrpSpPr>
            <p:cNvPr id="19523" name="Group 32"/>
            <p:cNvGrpSpPr/>
            <p:nvPr/>
          </p:nvGrpSpPr>
          <p:grpSpPr bwMode="auto">
            <a:xfrm>
              <a:off x="528" y="1584"/>
              <a:ext cx="2688" cy="288"/>
              <a:chOff x="528" y="1440"/>
              <a:chExt cx="2688" cy="288"/>
            </a:xfrm>
          </p:grpSpPr>
          <p:sp>
            <p:nvSpPr>
              <p:cNvPr id="19532" name="Rectangle 33"/>
              <p:cNvSpPr>
                <a:spLocks noChangeArrowheads="1"/>
              </p:cNvSpPr>
              <p:nvPr/>
            </p:nvSpPr>
            <p:spPr bwMode="auto">
              <a:xfrm>
                <a:off x="2880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9533" name="Rectangle 34"/>
              <p:cNvSpPr>
                <a:spLocks noChangeArrowheads="1"/>
              </p:cNvSpPr>
              <p:nvPr/>
            </p:nvSpPr>
            <p:spPr bwMode="auto">
              <a:xfrm>
                <a:off x="2544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9</a:t>
                </a:r>
              </a:p>
            </p:txBody>
          </p:sp>
          <p:sp>
            <p:nvSpPr>
              <p:cNvPr id="19534" name="Rectangle 35"/>
              <p:cNvSpPr>
                <a:spLocks noChangeArrowheads="1"/>
              </p:cNvSpPr>
              <p:nvPr/>
            </p:nvSpPr>
            <p:spPr bwMode="auto">
              <a:xfrm>
                <a:off x="2208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7</a:t>
                </a:r>
              </a:p>
            </p:txBody>
          </p:sp>
          <p:sp>
            <p:nvSpPr>
              <p:cNvPr id="19535" name="Rectangle 36"/>
              <p:cNvSpPr>
                <a:spLocks noChangeArrowheads="1"/>
              </p:cNvSpPr>
              <p:nvPr/>
            </p:nvSpPr>
            <p:spPr bwMode="auto">
              <a:xfrm>
                <a:off x="1872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9536" name="Rectangle 37"/>
              <p:cNvSpPr>
                <a:spLocks noChangeArrowheads="1"/>
              </p:cNvSpPr>
              <p:nvPr/>
            </p:nvSpPr>
            <p:spPr bwMode="auto">
              <a:xfrm>
                <a:off x="1536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9537" name="Rectangle 38"/>
              <p:cNvSpPr>
                <a:spLocks noChangeArrowheads="1"/>
              </p:cNvSpPr>
              <p:nvPr/>
            </p:nvSpPr>
            <p:spPr bwMode="auto">
              <a:xfrm>
                <a:off x="1200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9538" name="Rectangle 39"/>
              <p:cNvSpPr>
                <a:spLocks noChangeArrowheads="1"/>
              </p:cNvSpPr>
              <p:nvPr/>
            </p:nvSpPr>
            <p:spPr bwMode="auto">
              <a:xfrm>
                <a:off x="864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9539" name="Rectangle 40"/>
              <p:cNvSpPr>
                <a:spLocks noChangeArrowheads="1"/>
              </p:cNvSpPr>
              <p:nvPr/>
            </p:nvSpPr>
            <p:spPr bwMode="auto">
              <a:xfrm>
                <a:off x="528" y="144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charset="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400">
                    <a:solidFill>
                      <a:schemeClr val="accent2"/>
                    </a:solidFill>
                    <a:latin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9540" name="Line 41"/>
              <p:cNvSpPr>
                <a:spLocks noChangeShapeType="1"/>
              </p:cNvSpPr>
              <p:nvPr/>
            </p:nvSpPr>
            <p:spPr bwMode="auto">
              <a:xfrm>
                <a:off x="528" y="1440"/>
                <a:ext cx="26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  <p:sp>
            <p:nvSpPr>
              <p:cNvPr id="19541" name="Line 42"/>
              <p:cNvSpPr>
                <a:spLocks noChangeShapeType="1"/>
              </p:cNvSpPr>
              <p:nvPr/>
            </p:nvSpPr>
            <p:spPr bwMode="auto">
              <a:xfrm>
                <a:off x="528" y="1728"/>
                <a:ext cx="268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  <p:sp>
            <p:nvSpPr>
              <p:cNvPr id="19542" name="Line 43"/>
              <p:cNvSpPr>
                <a:spLocks noChangeShapeType="1"/>
              </p:cNvSpPr>
              <p:nvPr/>
            </p:nvSpPr>
            <p:spPr bwMode="auto">
              <a:xfrm>
                <a:off x="528" y="1440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  <p:sp>
            <p:nvSpPr>
              <p:cNvPr id="19543" name="Line 44"/>
              <p:cNvSpPr>
                <a:spLocks noChangeShapeType="1"/>
              </p:cNvSpPr>
              <p:nvPr/>
            </p:nvSpPr>
            <p:spPr bwMode="auto">
              <a:xfrm>
                <a:off x="864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  <p:sp>
            <p:nvSpPr>
              <p:cNvPr id="19544" name="Line 45"/>
              <p:cNvSpPr>
                <a:spLocks noChangeShapeType="1"/>
              </p:cNvSpPr>
              <p:nvPr/>
            </p:nvSpPr>
            <p:spPr bwMode="auto">
              <a:xfrm>
                <a:off x="1200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  <p:sp>
            <p:nvSpPr>
              <p:cNvPr id="19545" name="Line 46"/>
              <p:cNvSpPr>
                <a:spLocks noChangeShapeType="1"/>
              </p:cNvSpPr>
              <p:nvPr/>
            </p:nvSpPr>
            <p:spPr bwMode="auto">
              <a:xfrm>
                <a:off x="1536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  <p:sp>
            <p:nvSpPr>
              <p:cNvPr id="19546" name="Line 47"/>
              <p:cNvSpPr>
                <a:spLocks noChangeShapeType="1"/>
              </p:cNvSpPr>
              <p:nvPr/>
            </p:nvSpPr>
            <p:spPr bwMode="auto">
              <a:xfrm>
                <a:off x="1872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  <p:sp>
            <p:nvSpPr>
              <p:cNvPr id="19547" name="Line 48"/>
              <p:cNvSpPr>
                <a:spLocks noChangeShapeType="1"/>
              </p:cNvSpPr>
              <p:nvPr/>
            </p:nvSpPr>
            <p:spPr bwMode="auto">
              <a:xfrm>
                <a:off x="2208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  <p:sp>
            <p:nvSpPr>
              <p:cNvPr id="19548" name="Line 49"/>
              <p:cNvSpPr>
                <a:spLocks noChangeShapeType="1"/>
              </p:cNvSpPr>
              <p:nvPr/>
            </p:nvSpPr>
            <p:spPr bwMode="auto">
              <a:xfrm>
                <a:off x="2544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  <p:sp>
            <p:nvSpPr>
              <p:cNvPr id="19549" name="Line 50"/>
              <p:cNvSpPr>
                <a:spLocks noChangeShapeType="1"/>
              </p:cNvSpPr>
              <p:nvPr/>
            </p:nvSpPr>
            <p:spPr bwMode="auto">
              <a:xfrm>
                <a:off x="2880" y="144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  <p:sp>
            <p:nvSpPr>
              <p:cNvPr id="19550" name="Line 51"/>
              <p:cNvSpPr>
                <a:spLocks noChangeShapeType="1"/>
              </p:cNvSpPr>
              <p:nvPr/>
            </p:nvSpPr>
            <p:spPr bwMode="auto">
              <a:xfrm>
                <a:off x="3216" y="1440"/>
                <a:ext cx="0" cy="28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 anchorCtr="1"/>
              <a:lstStyle/>
              <a:p>
                <a:endParaRPr lang="en-IN"/>
              </a:p>
            </p:txBody>
          </p:sp>
        </p:grpSp>
        <p:sp>
          <p:nvSpPr>
            <p:cNvPr id="19524" name="Text Box 52"/>
            <p:cNvSpPr txBox="1">
              <a:spLocks noChangeArrowheads="1"/>
            </p:cNvSpPr>
            <p:nvPr/>
          </p:nvSpPr>
          <p:spPr bwMode="auto">
            <a:xfrm>
              <a:off x="624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sz="1000"/>
                <a:t>1</a:t>
              </a:r>
            </a:p>
          </p:txBody>
        </p:sp>
        <p:sp>
          <p:nvSpPr>
            <p:cNvPr id="19525" name="Text Box 53"/>
            <p:cNvSpPr txBox="1">
              <a:spLocks noChangeArrowheads="1"/>
            </p:cNvSpPr>
            <p:nvPr/>
          </p:nvSpPr>
          <p:spPr bwMode="auto">
            <a:xfrm>
              <a:off x="960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sz="1000"/>
                <a:t>2</a:t>
              </a:r>
            </a:p>
          </p:txBody>
        </p:sp>
        <p:sp>
          <p:nvSpPr>
            <p:cNvPr id="19526" name="Text Box 54"/>
            <p:cNvSpPr txBox="1">
              <a:spLocks noChangeArrowheads="1"/>
            </p:cNvSpPr>
            <p:nvPr/>
          </p:nvSpPr>
          <p:spPr bwMode="auto">
            <a:xfrm>
              <a:off x="1296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sz="1000"/>
                <a:t>3</a:t>
              </a:r>
            </a:p>
          </p:txBody>
        </p:sp>
        <p:sp>
          <p:nvSpPr>
            <p:cNvPr id="19527" name="Text Box 55"/>
            <p:cNvSpPr txBox="1">
              <a:spLocks noChangeArrowheads="1"/>
            </p:cNvSpPr>
            <p:nvPr/>
          </p:nvSpPr>
          <p:spPr bwMode="auto">
            <a:xfrm>
              <a:off x="1632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sz="1000"/>
                <a:t>4</a:t>
              </a:r>
            </a:p>
          </p:txBody>
        </p:sp>
        <p:sp>
          <p:nvSpPr>
            <p:cNvPr id="19528" name="Text Box 56"/>
            <p:cNvSpPr txBox="1">
              <a:spLocks noChangeArrowheads="1"/>
            </p:cNvSpPr>
            <p:nvPr/>
          </p:nvSpPr>
          <p:spPr bwMode="auto">
            <a:xfrm>
              <a:off x="1968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sz="1000"/>
                <a:t>5</a:t>
              </a:r>
            </a:p>
          </p:txBody>
        </p:sp>
        <p:sp>
          <p:nvSpPr>
            <p:cNvPr id="19529" name="Text Box 57"/>
            <p:cNvSpPr txBox="1">
              <a:spLocks noChangeArrowheads="1"/>
            </p:cNvSpPr>
            <p:nvPr/>
          </p:nvSpPr>
          <p:spPr bwMode="auto">
            <a:xfrm>
              <a:off x="2304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sz="1000"/>
                <a:t>6</a:t>
              </a:r>
            </a:p>
          </p:txBody>
        </p:sp>
        <p:sp>
          <p:nvSpPr>
            <p:cNvPr id="19530" name="Text Box 58"/>
            <p:cNvSpPr txBox="1">
              <a:spLocks noChangeArrowheads="1"/>
            </p:cNvSpPr>
            <p:nvPr/>
          </p:nvSpPr>
          <p:spPr bwMode="auto">
            <a:xfrm>
              <a:off x="2640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sz="1000"/>
                <a:t>7</a:t>
              </a:r>
            </a:p>
          </p:txBody>
        </p:sp>
        <p:sp>
          <p:nvSpPr>
            <p:cNvPr id="19531" name="Text Box 59"/>
            <p:cNvSpPr txBox="1">
              <a:spLocks noChangeArrowheads="1"/>
            </p:cNvSpPr>
            <p:nvPr/>
          </p:nvSpPr>
          <p:spPr bwMode="auto">
            <a:xfrm>
              <a:off x="2976" y="1392"/>
              <a:ext cx="144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 sz="1000"/>
                <a:t>8</a:t>
              </a:r>
            </a:p>
          </p:txBody>
        </p:sp>
      </p:grpSp>
      <p:grpSp>
        <p:nvGrpSpPr>
          <p:cNvPr id="19466" name="Group 60"/>
          <p:cNvGrpSpPr/>
          <p:nvPr/>
        </p:nvGrpSpPr>
        <p:grpSpPr bwMode="auto">
          <a:xfrm>
            <a:off x="2133600" y="4197350"/>
            <a:ext cx="4267200" cy="457200"/>
            <a:chOff x="528" y="1440"/>
            <a:chExt cx="2688" cy="288"/>
          </a:xfrm>
        </p:grpSpPr>
        <p:sp>
          <p:nvSpPr>
            <p:cNvPr id="19504" name="Rectangle 61"/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11</a:t>
              </a:r>
            </a:p>
          </p:txBody>
        </p:sp>
        <p:sp>
          <p:nvSpPr>
            <p:cNvPr id="19505" name="Rectangle 62"/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19506" name="Rectangle 63"/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19507" name="Rectangle 64"/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9508" name="Rectangle 65"/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9509" name="Rectangle 66"/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510" name="Rectangle 67"/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9511" name="Rectangle 68"/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9512" name="Line 69"/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13" name="Line 70"/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14" name="Line 71"/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15" name="Line 72"/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16" name="Line 73"/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17" name="Line 74"/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18" name="Line 75"/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19" name="Line 76"/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20" name="Line 77"/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21" name="Line 78"/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22" name="Line 79"/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</p:grpSp>
      <p:grpSp>
        <p:nvGrpSpPr>
          <p:cNvPr id="19467" name="Group 80"/>
          <p:cNvGrpSpPr/>
          <p:nvPr/>
        </p:nvGrpSpPr>
        <p:grpSpPr bwMode="auto">
          <a:xfrm>
            <a:off x="4267200" y="4197350"/>
            <a:ext cx="5791200" cy="687388"/>
            <a:chOff x="1872" y="3792"/>
            <a:chExt cx="3648" cy="433"/>
          </a:xfrm>
        </p:grpSpPr>
        <p:sp>
          <p:nvSpPr>
            <p:cNvPr id="19502" name="Oval 81"/>
            <p:cNvSpPr>
              <a:spLocks noChangeArrowheads="1"/>
            </p:cNvSpPr>
            <p:nvPr/>
          </p:nvSpPr>
          <p:spPr bwMode="auto">
            <a:xfrm>
              <a:off x="1872" y="3792"/>
              <a:ext cx="336" cy="288"/>
            </a:xfrm>
            <a:prstGeom prst="ellipse">
              <a:avLst/>
            </a:prstGeom>
            <a:noFill/>
            <a:ln w="38100">
              <a:solidFill>
                <a:srgbClr val="DD011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endParaRPr lang="en-IN" altLang="en-US"/>
            </a:p>
          </p:txBody>
        </p:sp>
        <p:sp>
          <p:nvSpPr>
            <p:cNvPr id="19503" name="Text Box 82"/>
            <p:cNvSpPr txBox="1">
              <a:spLocks noChangeArrowheads="1"/>
            </p:cNvSpPr>
            <p:nvPr/>
          </p:nvSpPr>
          <p:spPr bwMode="auto">
            <a:xfrm>
              <a:off x="3360" y="3821"/>
              <a:ext cx="21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/>
                <a:t>mid = 5, A[5] = 5, lo = 6, hi = 5 </a:t>
              </a:r>
            </a:p>
            <a:p>
              <a:pPr eaLnBrk="1" hangingPunct="1"/>
              <a:r>
                <a:rPr lang="en-US" altLang="en-US"/>
                <a:t>	NOT FOUND!</a:t>
              </a:r>
            </a:p>
          </p:txBody>
        </p:sp>
      </p:grpSp>
      <p:sp>
        <p:nvSpPr>
          <p:cNvPr id="19468" name="Line 83"/>
          <p:cNvSpPr>
            <a:spLocks noChangeShapeType="1"/>
          </p:cNvSpPr>
          <p:nvPr/>
        </p:nvSpPr>
        <p:spPr bwMode="auto">
          <a:xfrm flipV="1">
            <a:off x="2346325" y="3038476"/>
            <a:ext cx="0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69" name="Line 84"/>
          <p:cNvSpPr>
            <a:spLocks noChangeShapeType="1"/>
          </p:cNvSpPr>
          <p:nvPr/>
        </p:nvSpPr>
        <p:spPr bwMode="auto">
          <a:xfrm flipV="1">
            <a:off x="6122988" y="2982913"/>
            <a:ext cx="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0" name="Line 85"/>
          <p:cNvSpPr>
            <a:spLocks noChangeShapeType="1"/>
          </p:cNvSpPr>
          <p:nvPr/>
        </p:nvSpPr>
        <p:spPr bwMode="auto">
          <a:xfrm flipH="1" flipV="1">
            <a:off x="4489450" y="3814764"/>
            <a:ext cx="7938" cy="249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1" name="Line 86"/>
          <p:cNvSpPr>
            <a:spLocks noChangeShapeType="1"/>
          </p:cNvSpPr>
          <p:nvPr/>
        </p:nvSpPr>
        <p:spPr bwMode="auto">
          <a:xfrm flipV="1">
            <a:off x="6115050" y="3841750"/>
            <a:ext cx="0" cy="24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9472" name="Group 89"/>
          <p:cNvGrpSpPr/>
          <p:nvPr/>
        </p:nvGrpSpPr>
        <p:grpSpPr bwMode="auto">
          <a:xfrm>
            <a:off x="2157413" y="5035550"/>
            <a:ext cx="4267200" cy="457200"/>
            <a:chOff x="528" y="1440"/>
            <a:chExt cx="2688" cy="288"/>
          </a:xfrm>
        </p:grpSpPr>
        <p:sp>
          <p:nvSpPr>
            <p:cNvPr id="19483" name="Rectangle 90"/>
            <p:cNvSpPr>
              <a:spLocks noChangeArrowheads="1"/>
            </p:cNvSpPr>
            <p:nvPr/>
          </p:nvSpPr>
          <p:spPr bwMode="auto">
            <a:xfrm>
              <a:off x="288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11</a:t>
              </a:r>
            </a:p>
          </p:txBody>
        </p:sp>
        <p:sp>
          <p:nvSpPr>
            <p:cNvPr id="19484" name="Rectangle 91"/>
            <p:cNvSpPr>
              <a:spLocks noChangeArrowheads="1"/>
            </p:cNvSpPr>
            <p:nvPr/>
          </p:nvSpPr>
          <p:spPr bwMode="auto">
            <a:xfrm>
              <a:off x="254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9</a:t>
              </a:r>
            </a:p>
          </p:txBody>
        </p:sp>
        <p:sp>
          <p:nvSpPr>
            <p:cNvPr id="19485" name="Rectangle 92"/>
            <p:cNvSpPr>
              <a:spLocks noChangeArrowheads="1"/>
            </p:cNvSpPr>
            <p:nvPr/>
          </p:nvSpPr>
          <p:spPr bwMode="auto">
            <a:xfrm>
              <a:off x="220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19486" name="Rectangle 93"/>
            <p:cNvSpPr>
              <a:spLocks noChangeArrowheads="1"/>
            </p:cNvSpPr>
            <p:nvPr/>
          </p:nvSpPr>
          <p:spPr bwMode="auto">
            <a:xfrm>
              <a:off x="1872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9487" name="Rectangle 94"/>
            <p:cNvSpPr>
              <a:spLocks noChangeArrowheads="1"/>
            </p:cNvSpPr>
            <p:nvPr/>
          </p:nvSpPr>
          <p:spPr bwMode="auto">
            <a:xfrm>
              <a:off x="1536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9488" name="Rectangle 95"/>
            <p:cNvSpPr>
              <a:spLocks noChangeArrowheads="1"/>
            </p:cNvSpPr>
            <p:nvPr/>
          </p:nvSpPr>
          <p:spPr bwMode="auto">
            <a:xfrm>
              <a:off x="1200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9489" name="Rectangle 96"/>
            <p:cNvSpPr>
              <a:spLocks noChangeArrowheads="1"/>
            </p:cNvSpPr>
            <p:nvPr/>
          </p:nvSpPr>
          <p:spPr bwMode="auto">
            <a:xfrm>
              <a:off x="864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9490" name="Rectangle 97"/>
            <p:cNvSpPr>
              <a:spLocks noChangeArrowheads="1"/>
            </p:cNvSpPr>
            <p:nvPr/>
          </p:nvSpPr>
          <p:spPr bwMode="auto">
            <a:xfrm>
              <a:off x="528" y="144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400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9491" name="Line 98"/>
            <p:cNvSpPr>
              <a:spLocks noChangeShapeType="1"/>
            </p:cNvSpPr>
            <p:nvPr/>
          </p:nvSpPr>
          <p:spPr bwMode="auto">
            <a:xfrm>
              <a:off x="528" y="1440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492" name="Line 99"/>
            <p:cNvSpPr>
              <a:spLocks noChangeShapeType="1"/>
            </p:cNvSpPr>
            <p:nvPr/>
          </p:nvSpPr>
          <p:spPr bwMode="auto">
            <a:xfrm>
              <a:off x="528" y="1728"/>
              <a:ext cx="26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493" name="Line 100"/>
            <p:cNvSpPr>
              <a:spLocks noChangeShapeType="1"/>
            </p:cNvSpPr>
            <p:nvPr/>
          </p:nvSpPr>
          <p:spPr bwMode="auto">
            <a:xfrm>
              <a:off x="528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494" name="Line 101"/>
            <p:cNvSpPr>
              <a:spLocks noChangeShapeType="1"/>
            </p:cNvSpPr>
            <p:nvPr/>
          </p:nvSpPr>
          <p:spPr bwMode="auto">
            <a:xfrm>
              <a:off x="86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495" name="Line 102"/>
            <p:cNvSpPr>
              <a:spLocks noChangeShapeType="1"/>
            </p:cNvSpPr>
            <p:nvPr/>
          </p:nvSpPr>
          <p:spPr bwMode="auto">
            <a:xfrm>
              <a:off x="120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496" name="Line 103"/>
            <p:cNvSpPr>
              <a:spLocks noChangeShapeType="1"/>
            </p:cNvSpPr>
            <p:nvPr/>
          </p:nvSpPr>
          <p:spPr bwMode="auto">
            <a:xfrm>
              <a:off x="1536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497" name="Line 104"/>
            <p:cNvSpPr>
              <a:spLocks noChangeShapeType="1"/>
            </p:cNvSpPr>
            <p:nvPr/>
          </p:nvSpPr>
          <p:spPr bwMode="auto">
            <a:xfrm>
              <a:off x="1872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498" name="Line 105"/>
            <p:cNvSpPr>
              <a:spLocks noChangeShapeType="1"/>
            </p:cNvSpPr>
            <p:nvPr/>
          </p:nvSpPr>
          <p:spPr bwMode="auto">
            <a:xfrm>
              <a:off x="2208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499" name="Line 106"/>
            <p:cNvSpPr>
              <a:spLocks noChangeShapeType="1"/>
            </p:cNvSpPr>
            <p:nvPr/>
          </p:nvSpPr>
          <p:spPr bwMode="auto">
            <a:xfrm>
              <a:off x="2544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00" name="Line 107"/>
            <p:cNvSpPr>
              <a:spLocks noChangeShapeType="1"/>
            </p:cNvSpPr>
            <p:nvPr/>
          </p:nvSpPr>
          <p:spPr bwMode="auto">
            <a:xfrm>
              <a:off x="2880" y="1440"/>
              <a:ext cx="0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  <p:sp>
          <p:nvSpPr>
            <p:cNvPr id="19501" name="Line 108"/>
            <p:cNvSpPr>
              <a:spLocks noChangeShapeType="1"/>
            </p:cNvSpPr>
            <p:nvPr/>
          </p:nvSpPr>
          <p:spPr bwMode="auto">
            <a:xfrm>
              <a:off x="3216" y="1440"/>
              <a:ext cx="0" cy="28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 anchorCtr="1"/>
            <a:lstStyle/>
            <a:p>
              <a:endParaRPr lang="en-IN"/>
            </a:p>
          </p:txBody>
        </p:sp>
      </p:grpSp>
      <p:sp>
        <p:nvSpPr>
          <p:cNvPr id="19473" name="Line 109"/>
          <p:cNvSpPr>
            <a:spLocks noChangeShapeType="1"/>
          </p:cNvSpPr>
          <p:nvPr/>
        </p:nvSpPr>
        <p:spPr bwMode="auto">
          <a:xfrm flipH="1" flipV="1">
            <a:off x="4405314" y="4710113"/>
            <a:ext cx="9525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4" name="Line 110"/>
          <p:cNvSpPr>
            <a:spLocks noChangeShapeType="1"/>
          </p:cNvSpPr>
          <p:nvPr/>
        </p:nvSpPr>
        <p:spPr bwMode="auto">
          <a:xfrm flipV="1">
            <a:off x="4627563" y="4729164"/>
            <a:ext cx="0" cy="193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5" name="Line 111"/>
          <p:cNvSpPr>
            <a:spLocks noChangeShapeType="1"/>
          </p:cNvSpPr>
          <p:nvPr/>
        </p:nvSpPr>
        <p:spPr bwMode="auto">
          <a:xfrm flipV="1">
            <a:off x="5116513" y="5551488"/>
            <a:ext cx="0" cy="341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6" name="Line 112"/>
          <p:cNvSpPr>
            <a:spLocks noChangeShapeType="1"/>
          </p:cNvSpPr>
          <p:nvPr/>
        </p:nvSpPr>
        <p:spPr bwMode="auto">
          <a:xfrm flipV="1">
            <a:off x="4554538" y="5561014"/>
            <a:ext cx="0" cy="31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477" name="Text Box 113"/>
          <p:cNvSpPr txBox="1">
            <a:spLocks noChangeArrowheads="1"/>
          </p:cNvSpPr>
          <p:nvPr/>
        </p:nvSpPr>
        <p:spPr bwMode="auto">
          <a:xfrm>
            <a:off x="2346325" y="2917826"/>
            <a:ext cx="527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low</a:t>
            </a:r>
          </a:p>
        </p:txBody>
      </p:sp>
      <p:sp>
        <p:nvSpPr>
          <p:cNvPr id="19478" name="Text Box 114"/>
          <p:cNvSpPr txBox="1">
            <a:spLocks noChangeArrowheads="1"/>
          </p:cNvSpPr>
          <p:nvPr/>
        </p:nvSpPr>
        <p:spPr bwMode="auto">
          <a:xfrm>
            <a:off x="6151563" y="2900363"/>
            <a:ext cx="590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high</a:t>
            </a:r>
          </a:p>
        </p:txBody>
      </p:sp>
      <p:sp>
        <p:nvSpPr>
          <p:cNvPr id="19479" name="Text Box 115"/>
          <p:cNvSpPr txBox="1">
            <a:spLocks noChangeArrowheads="1"/>
          </p:cNvSpPr>
          <p:nvPr/>
        </p:nvSpPr>
        <p:spPr bwMode="auto">
          <a:xfrm>
            <a:off x="4567238" y="3827463"/>
            <a:ext cx="527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low</a:t>
            </a:r>
          </a:p>
        </p:txBody>
      </p:sp>
      <p:sp>
        <p:nvSpPr>
          <p:cNvPr id="19480" name="Text Box 116"/>
          <p:cNvSpPr txBox="1">
            <a:spLocks noChangeArrowheads="1"/>
          </p:cNvSpPr>
          <p:nvPr/>
        </p:nvSpPr>
        <p:spPr bwMode="auto">
          <a:xfrm>
            <a:off x="5224463" y="5591176"/>
            <a:ext cx="527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low</a:t>
            </a:r>
          </a:p>
        </p:txBody>
      </p:sp>
      <p:sp>
        <p:nvSpPr>
          <p:cNvPr id="19481" name="Text Box 117"/>
          <p:cNvSpPr txBox="1">
            <a:spLocks noChangeArrowheads="1"/>
          </p:cNvSpPr>
          <p:nvPr/>
        </p:nvSpPr>
        <p:spPr bwMode="auto">
          <a:xfrm>
            <a:off x="3792538" y="5592763"/>
            <a:ext cx="590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high</a:t>
            </a:r>
          </a:p>
        </p:txBody>
      </p:sp>
      <p:sp>
        <p:nvSpPr>
          <p:cNvPr id="19482" name="Text Box 118"/>
          <p:cNvSpPr txBox="1">
            <a:spLocks noChangeArrowheads="1"/>
          </p:cNvSpPr>
          <p:nvPr/>
        </p:nvSpPr>
        <p:spPr bwMode="auto">
          <a:xfrm>
            <a:off x="6165850" y="3819525"/>
            <a:ext cx="5902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high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543800" cy="79851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Analysis of BINARY-SEARCH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>
          <a:xfrm>
            <a:off x="1665288" y="1214438"/>
            <a:ext cx="8229600" cy="5397500"/>
          </a:xfrm>
        </p:spPr>
        <p:txBody>
          <a:bodyPr rtlCol="0">
            <a:normAutofit fontScale="92500" lnSpcReduction="10000"/>
          </a:bodyPr>
          <a:lstStyle/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	</a:t>
            </a:r>
          </a:p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2400" dirty="0">
                <a:solidFill>
                  <a:srgbClr val="DD011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Alg.: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BINARY-SEARCH (A, lo, hi, x)</a:t>
            </a:r>
          </a:p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16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(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lo &gt; hi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b="1" dirty="0">
                <a:sym typeface="Symbol" panose="05050102010706020507" pitchFamily="18" charset="2"/>
              </a:rPr>
              <a:t>return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FALSE</a:t>
            </a:r>
          </a:p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mid</a:t>
            </a:r>
            <a:r>
              <a:rPr lang="en-US" altLang="en-US" sz="2400" dirty="0">
                <a:sym typeface="Symbol" panose="05050102010706020507" pitchFamily="18" charset="2"/>
              </a:rPr>
              <a:t> 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(</a:t>
            </a:r>
            <a:r>
              <a:rPr lang="en-US" altLang="en-US" sz="2400" dirty="0" err="1">
                <a:latin typeface="Comic Sans MS" panose="030F0702030302020204" pitchFamily="66" charset="0"/>
                <a:sym typeface="Symbol" panose="05050102010706020507" pitchFamily="18" charset="2"/>
              </a:rPr>
              <a:t>lo+hi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)/2</a:t>
            </a:r>
          </a:p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x = A[mid]</a:t>
            </a:r>
          </a:p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	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return </a:t>
            </a:r>
            <a:r>
              <a:rPr lang="en-US" altLang="en-US" sz="2400" b="1" dirty="0">
                <a:sym typeface="Symbol" panose="05050102010706020507" pitchFamily="18" charset="2"/>
              </a:rPr>
              <a:t>TRUE</a:t>
            </a:r>
          </a:p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(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x &lt; A[mid]</a:t>
            </a:r>
            <a:r>
              <a:rPr lang="en-US" altLang="en-US" sz="2400" dirty="0">
                <a:sym typeface="Symbol" panose="05050102010706020507" pitchFamily="18" charset="2"/>
              </a:rPr>
              <a:t> )</a:t>
            </a:r>
          </a:p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	BINARY-SEARCH (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A, lo, mid-1, x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	</a:t>
            </a:r>
            <a:r>
              <a:rPr lang="en-US" altLang="en-US" sz="2400" b="1" dirty="0">
                <a:sym typeface="Symbol" panose="05050102010706020507" pitchFamily="18" charset="2"/>
              </a:rPr>
              <a:t>if</a:t>
            </a:r>
            <a:r>
              <a:rPr lang="en-US" altLang="en-US" sz="2400" dirty="0">
                <a:sym typeface="Symbol" panose="05050102010706020507" pitchFamily="18" charset="2"/>
              </a:rPr>
              <a:t> ( 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x &gt; A[mid]</a:t>
            </a:r>
            <a:r>
              <a:rPr lang="en-US" altLang="en-US" sz="2400" dirty="0">
                <a:sym typeface="Symbol" panose="05050102010706020507" pitchFamily="18" charset="2"/>
              </a:rPr>
              <a:t> )</a:t>
            </a:r>
          </a:p>
          <a:p>
            <a:pPr marL="533400" indent="-533400">
              <a:lnSpc>
                <a:spcPct val="80000"/>
              </a:lnSpc>
              <a:buNone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 		BINARY-SEARCH (</a:t>
            </a:r>
            <a:r>
              <a:rPr lang="en-US" altLang="en-US" sz="2400" dirty="0">
                <a:latin typeface="Comic Sans MS" panose="030F0702030302020204" pitchFamily="66" charset="0"/>
                <a:sym typeface="Symbol" panose="05050102010706020507" pitchFamily="18" charset="2"/>
              </a:rPr>
              <a:t>A, mid+1, hi, x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</a:p>
          <a:p>
            <a:pPr marL="533400" indent="-533400">
              <a:lnSpc>
                <a:spcPct val="150000"/>
              </a:lnSpc>
              <a:defRPr/>
            </a:pPr>
            <a:r>
              <a:rPr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T(n) = c +</a:t>
            </a:r>
            <a:endParaRPr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sym typeface="Symbol" panose="05050102010706020507" pitchFamily="18" charset="2"/>
            </a:endParaRPr>
          </a:p>
          <a:p>
            <a:pPr marL="914400" lvl="1" indent="-457200">
              <a:lnSpc>
                <a:spcPct val="150000"/>
              </a:lnSpc>
              <a:defRPr/>
            </a:pP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T(n)</a:t>
            </a:r>
            <a:r>
              <a:rPr lang="en-US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– running time for an array of size n</a:t>
            </a:r>
            <a:endParaRPr lang="en-US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49DFDC-C8C3-47D6-8F18-79E55AAAC275}" type="slidenum">
              <a:rPr lang="en-US" altLang="en-US"/>
              <a:t>16</a:t>
            </a:fld>
            <a:endParaRPr lang="en-US" altLang="en-US"/>
          </a:p>
        </p:txBody>
      </p:sp>
      <p:sp>
        <p:nvSpPr>
          <p:cNvPr id="224260" name="Line 4"/>
          <p:cNvSpPr>
            <a:spLocks noChangeShapeType="1"/>
          </p:cNvSpPr>
          <p:nvPr/>
        </p:nvSpPr>
        <p:spPr bwMode="auto">
          <a:xfrm flipH="1">
            <a:off x="5511801" y="2724150"/>
            <a:ext cx="1795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4261" name="Text Box 5"/>
          <p:cNvSpPr txBox="1">
            <a:spLocks noChangeArrowheads="1"/>
          </p:cNvSpPr>
          <p:nvPr/>
        </p:nvSpPr>
        <p:spPr bwMode="auto">
          <a:xfrm>
            <a:off x="7446963" y="2536825"/>
            <a:ext cx="17670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constant time: c</a:t>
            </a:r>
            <a:r>
              <a:rPr lang="en-US" altLang="en-US" baseline="-25000"/>
              <a:t>2</a:t>
            </a:r>
            <a:endParaRPr lang="en-US" altLang="en-US"/>
          </a:p>
        </p:txBody>
      </p:sp>
      <p:sp>
        <p:nvSpPr>
          <p:cNvPr id="224262" name="Text Box 6"/>
          <p:cNvSpPr txBox="1">
            <a:spLocks noChangeArrowheads="1"/>
          </p:cNvSpPr>
          <p:nvPr/>
        </p:nvSpPr>
        <p:spPr bwMode="auto">
          <a:xfrm>
            <a:off x="7799388" y="4032251"/>
            <a:ext cx="27670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same problem of size n/2</a:t>
            </a:r>
          </a:p>
        </p:txBody>
      </p:sp>
      <p:sp>
        <p:nvSpPr>
          <p:cNvPr id="224263" name="Text Box 7"/>
          <p:cNvSpPr txBox="1">
            <a:spLocks noChangeArrowheads="1"/>
          </p:cNvSpPr>
          <p:nvPr/>
        </p:nvSpPr>
        <p:spPr bwMode="auto">
          <a:xfrm>
            <a:off x="7799388" y="4770438"/>
            <a:ext cx="27860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same problem of size n/2</a:t>
            </a:r>
          </a:p>
        </p:txBody>
      </p:sp>
      <p:sp>
        <p:nvSpPr>
          <p:cNvPr id="224264" name="Line 8"/>
          <p:cNvSpPr>
            <a:spLocks noChangeShapeType="1"/>
          </p:cNvSpPr>
          <p:nvPr/>
        </p:nvSpPr>
        <p:spPr bwMode="auto">
          <a:xfrm flipH="1">
            <a:off x="5507039" y="2154238"/>
            <a:ext cx="1793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4265" name="Text Box 9"/>
          <p:cNvSpPr txBox="1">
            <a:spLocks noChangeArrowheads="1"/>
          </p:cNvSpPr>
          <p:nvPr/>
        </p:nvSpPr>
        <p:spPr bwMode="auto">
          <a:xfrm>
            <a:off x="7440613" y="1966913"/>
            <a:ext cx="17670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constant time: c</a:t>
            </a:r>
            <a:r>
              <a:rPr lang="en-US" altLang="en-US" baseline="-25000"/>
              <a:t>1</a:t>
            </a:r>
            <a:endParaRPr lang="en-US" altLang="en-US"/>
          </a:p>
        </p:txBody>
      </p:sp>
      <p:sp>
        <p:nvSpPr>
          <p:cNvPr id="224266" name="Line 10"/>
          <p:cNvSpPr>
            <a:spLocks noChangeShapeType="1"/>
          </p:cNvSpPr>
          <p:nvPr/>
        </p:nvSpPr>
        <p:spPr bwMode="auto">
          <a:xfrm flipH="1">
            <a:off x="5543551" y="3257550"/>
            <a:ext cx="1757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4267" name="Text Box 11"/>
          <p:cNvSpPr txBox="1">
            <a:spLocks noChangeArrowheads="1"/>
          </p:cNvSpPr>
          <p:nvPr/>
        </p:nvSpPr>
        <p:spPr bwMode="auto">
          <a:xfrm>
            <a:off x="7440613" y="3070225"/>
            <a:ext cx="17670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constant time: c</a:t>
            </a:r>
            <a:r>
              <a:rPr lang="en-US" altLang="en-US" baseline="-25000"/>
              <a:t>3</a:t>
            </a:r>
            <a:endParaRPr lang="en-US" altLang="en-US"/>
          </a:p>
        </p:txBody>
      </p:sp>
      <p:sp>
        <p:nvSpPr>
          <p:cNvPr id="224268" name="Line 12"/>
          <p:cNvSpPr>
            <a:spLocks noChangeShapeType="1"/>
          </p:cNvSpPr>
          <p:nvPr/>
        </p:nvSpPr>
        <p:spPr bwMode="auto">
          <a:xfrm flipH="1">
            <a:off x="7405689" y="4240213"/>
            <a:ext cx="363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4269" name="Line 13"/>
          <p:cNvSpPr>
            <a:spLocks noChangeShapeType="1"/>
          </p:cNvSpPr>
          <p:nvPr/>
        </p:nvSpPr>
        <p:spPr bwMode="auto">
          <a:xfrm flipH="1">
            <a:off x="7456489" y="4973638"/>
            <a:ext cx="3635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495" name="Rectangle 14"/>
          <p:cNvSpPr>
            <a:spLocks noChangeArrowheads="1"/>
          </p:cNvSpPr>
          <p:nvPr/>
        </p:nvSpPr>
        <p:spPr bwMode="auto">
          <a:xfrm>
            <a:off x="4157663" y="5372100"/>
            <a:ext cx="14271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3200">
                <a:solidFill>
                  <a:schemeClr val="accent2"/>
                </a:solidFill>
                <a:latin typeface="Comic Sans MS" panose="030F0702030302020204" pitchFamily="66" charset="0"/>
              </a:rPr>
              <a:t>T(n/2)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1" grpId="0"/>
      <p:bldP spid="224262" grpId="0"/>
      <p:bldP spid="224263" grpId="0"/>
      <p:bldP spid="224265" grpId="0"/>
      <p:bldP spid="22426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96304"/>
            <a:ext cx="7543800" cy="1449387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Methods for Solving Recurrences</a:t>
            </a:r>
          </a:p>
        </p:txBody>
      </p:sp>
      <p:sp>
        <p:nvSpPr>
          <p:cNvPr id="227331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marL="91440" indent="-91440">
              <a:lnSpc>
                <a:spcPct val="300000"/>
              </a:lnSpc>
              <a:defRPr/>
            </a:pP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Iteration method</a:t>
            </a:r>
          </a:p>
          <a:p>
            <a:pPr marL="91440" indent="-91440">
              <a:lnSpc>
                <a:spcPct val="300000"/>
              </a:lnSpc>
              <a:defRPr/>
            </a:pP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Substitution method</a:t>
            </a:r>
          </a:p>
          <a:p>
            <a:pPr marL="91440" indent="-91440">
              <a:lnSpc>
                <a:spcPct val="300000"/>
              </a:lnSpc>
              <a:defRPr/>
            </a:pP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Recursion tree method</a:t>
            </a:r>
          </a:p>
          <a:p>
            <a:pPr marL="91440" indent="-91440">
              <a:lnSpc>
                <a:spcPct val="300000"/>
              </a:lnSpc>
              <a:defRPr/>
            </a:pP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Master method</a:t>
            </a: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A4630C-9ED9-4AA8-91D6-C3B88F2BEAC2}" type="slidenum">
              <a:rPr lang="en-US" altLang="en-US"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 Iteration Method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>
                <a:solidFill>
                  <a:schemeClr val="tx1"/>
                </a:solidFill>
              </a:rPr>
              <a:t>Convert the recurrence into a summation and try to bound it using known series</a:t>
            </a:r>
          </a:p>
          <a:p>
            <a:pPr lvl="1">
              <a:lnSpc>
                <a:spcPct val="130000"/>
              </a:lnSpc>
            </a:pPr>
            <a:r>
              <a:rPr lang="en-US" altLang="en-US"/>
              <a:t>Iterate the recurrence until the initial condition is reached.</a:t>
            </a:r>
          </a:p>
          <a:p>
            <a:pPr lvl="1">
              <a:lnSpc>
                <a:spcPct val="130000"/>
              </a:lnSpc>
            </a:pPr>
            <a:r>
              <a:rPr lang="en-US" altLang="en-US"/>
              <a:t>Use back-substitution to express the recurrence in terms of </a:t>
            </a:r>
            <a:r>
              <a:rPr lang="en-US" altLang="en-US" i="1"/>
              <a:t>n</a:t>
            </a:r>
            <a:r>
              <a:rPr lang="en-US" altLang="en-US"/>
              <a:t> and the initial (boundary) condition.</a:t>
            </a:r>
            <a:endParaRPr lang="el-GR" altLang="en-US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D0F287-A30D-4391-9D6B-9C813B01594C}" type="slidenum">
              <a:rPr lang="en-US" altLang="en-US"/>
              <a:t>18</a:t>
            </a:fld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543800" cy="70167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Iteration Method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idx="1"/>
          </p:nvPr>
        </p:nvSpPr>
        <p:spPr>
          <a:xfrm>
            <a:off x="2070847" y="1649506"/>
            <a:ext cx="7819278" cy="4219483"/>
          </a:xfrm>
        </p:spPr>
        <p:txBody>
          <a:bodyPr rtlCol="0">
            <a:normAutofit fontScale="92500" lnSpcReduction="10000"/>
          </a:bodyPr>
          <a:lstStyle/>
          <a:p>
            <a:pPr marL="91440" indent="-91440" algn="ctr">
              <a:lnSpc>
                <a:spcPct val="130000"/>
              </a:lnSpc>
              <a:buNone/>
              <a:defRPr/>
            </a:pP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T(n) = c + T(n/2)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>
              <a:buNone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T(n) = c + T(n/2)		</a:t>
            </a:r>
          </a:p>
          <a:p>
            <a:pPr marL="91440" indent="-91440">
              <a:buNone/>
              <a:defRPr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	  = c + c + T(n/4)		</a:t>
            </a:r>
          </a:p>
          <a:p>
            <a:pPr marL="91440" indent="-91440">
              <a:buNone/>
              <a:defRPr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	  = c + c + c + T(n/8)</a:t>
            </a:r>
          </a:p>
          <a:p>
            <a:pPr marL="91440" indent="-91440">
              <a:buNone/>
              <a:defRPr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Assume n = 2</a:t>
            </a:r>
            <a:r>
              <a:rPr lang="en-US" altLang="en-US" baseline="30000" dirty="0">
                <a:solidFill>
                  <a:schemeClr val="tx1"/>
                </a:solidFill>
                <a:latin typeface="Comic Sans MS" panose="030F0702030302020204" pitchFamily="66" charset="0"/>
              </a:rPr>
              <a:t>k</a:t>
            </a:r>
            <a:endParaRPr lang="en-US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91440" indent="-91440">
              <a:buNone/>
              <a:defRPr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T(n) = c + c + … + c + T(1) </a:t>
            </a:r>
          </a:p>
          <a:p>
            <a:pPr marL="91440" indent="-91440">
              <a:buNone/>
              <a:defRPr/>
            </a:pPr>
            <a:endParaRPr lang="en-US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91440" indent="-91440">
              <a:buNone/>
              <a:defRPr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	   =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clgn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+ T(1)</a:t>
            </a:r>
          </a:p>
          <a:p>
            <a:pPr marL="91440" indent="-91440">
              <a:buNone/>
              <a:defRPr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	   = </a:t>
            </a:r>
            <a:r>
              <a:rPr lang="el-GR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Θ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(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)</a:t>
            </a:r>
            <a:endParaRPr lang="el-GR" altLang="en-US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73A2C4-D24D-4FD1-9A3E-E165240F0C8E}" type="slidenum">
              <a:rPr lang="en-US" altLang="en-US"/>
              <a:t>19</a:t>
            </a:fld>
            <a:endParaRPr lang="en-US" altLang="en-US"/>
          </a:p>
        </p:txBody>
      </p:sp>
      <p:sp>
        <p:nvSpPr>
          <p:cNvPr id="228356" name="AutoShape 4"/>
          <p:cNvSpPr/>
          <p:nvPr/>
        </p:nvSpPr>
        <p:spPr bwMode="auto">
          <a:xfrm rot="-5400000">
            <a:off x="4386263" y="3436938"/>
            <a:ext cx="147638" cy="2049463"/>
          </a:xfrm>
          <a:prstGeom prst="leftBrace">
            <a:avLst>
              <a:gd name="adj1" fmla="val 115681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28357" name="Text Box 5"/>
          <p:cNvSpPr txBox="1">
            <a:spLocks noChangeArrowheads="1"/>
          </p:cNvSpPr>
          <p:nvPr/>
        </p:nvSpPr>
        <p:spPr bwMode="auto">
          <a:xfrm>
            <a:off x="3887788" y="4522788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2400">
                <a:latin typeface="Comic Sans MS" panose="030F0702030302020204" pitchFamily="66" charset="0"/>
              </a:rPr>
              <a:t>k times</a:t>
            </a:r>
          </a:p>
        </p:txBody>
      </p:sp>
      <p:sp>
        <p:nvSpPr>
          <p:cNvPr id="228358" name="Rectangle 6"/>
          <p:cNvSpPr>
            <a:spLocks noChangeArrowheads="1"/>
          </p:cNvSpPr>
          <p:nvPr/>
        </p:nvSpPr>
        <p:spPr bwMode="auto">
          <a:xfrm>
            <a:off x="6500813" y="1870076"/>
            <a:ext cx="3319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2800" dirty="0">
                <a:latin typeface="Comic Sans MS" panose="030F0702030302020204" pitchFamily="66" charset="0"/>
              </a:rPr>
              <a:t>T(n/2) = c + T(n/4)</a:t>
            </a:r>
          </a:p>
        </p:txBody>
      </p:sp>
      <p:sp>
        <p:nvSpPr>
          <p:cNvPr id="228359" name="Rectangle 7"/>
          <p:cNvSpPr>
            <a:spLocks noChangeArrowheads="1"/>
          </p:cNvSpPr>
          <p:nvPr/>
        </p:nvSpPr>
        <p:spPr bwMode="auto">
          <a:xfrm>
            <a:off x="6570663" y="2360613"/>
            <a:ext cx="3319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2800" dirty="0">
                <a:latin typeface="Comic Sans MS" panose="030F0702030302020204" pitchFamily="66" charset="0"/>
              </a:rPr>
              <a:t>T(n/4) = c + T(n/8)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7" grpId="0"/>
      <p:bldP spid="22835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96304"/>
            <a:ext cx="7543800" cy="75882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Iteration Method – Example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xfrm>
            <a:off x="1874839" y="1214439"/>
            <a:ext cx="8599487" cy="5076825"/>
          </a:xfrm>
        </p:spPr>
        <p:txBody>
          <a:bodyPr/>
          <a:lstStyle/>
          <a:p>
            <a:pPr algn="ctr">
              <a:lnSpc>
                <a:spcPct val="130000"/>
              </a:lnSpc>
              <a:buFontTx/>
              <a:buNone/>
            </a:pPr>
            <a:r>
              <a:rPr lang="en-US" altLang="en-US" b="1">
                <a:latin typeface="Comic Sans MS" panose="030F0702030302020204" pitchFamily="66" charset="0"/>
              </a:rPr>
              <a:t>T(n) = n + 2T(n/2)</a:t>
            </a:r>
            <a:endParaRPr lang="en-US" altLang="en-US"/>
          </a:p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T(n) = n + 2T(n/2) 	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	    = n + 2(n/2 + 2T(n/4)) 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	    = n + n + 4T(n/4)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	    = n + n + 4(n/4 + 2T(n/8))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	    = n + n + n + 8T(n/8)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	…  = in + 2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T(n/2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)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	    = kn + 2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</a:rPr>
              <a:t>k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T(1) </a:t>
            </a:r>
          </a:p>
          <a:p>
            <a:pPr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	    = nlgn + nT(1) = </a:t>
            </a:r>
            <a:r>
              <a:rPr lang="el-GR" altLang="en-US">
                <a:solidFill>
                  <a:schemeClr val="tx1"/>
                </a:solidFill>
                <a:latin typeface="Comic Sans MS" panose="030F0702030302020204" pitchFamily="66" charset="0"/>
              </a:rPr>
              <a:t>Θ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(nlgn)</a:t>
            </a:r>
            <a:endParaRPr lang="el-GR" altLang="en-US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95A3DD-6D56-488B-B2D1-1F273BC6C549}" type="slidenum">
              <a:rPr lang="en-US" altLang="en-US"/>
              <a:t>20</a:t>
            </a:fld>
            <a:endParaRPr lang="en-US" altLang="en-US"/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8267701" y="1346200"/>
            <a:ext cx="2282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2400">
                <a:latin typeface="Comic Sans MS" panose="030F0702030302020204" pitchFamily="66" charset="0"/>
              </a:rPr>
              <a:t>Assume: n = 2</a:t>
            </a:r>
            <a:r>
              <a:rPr lang="en-US" altLang="en-US" sz="2400" baseline="30000">
                <a:latin typeface="Comic Sans MS" panose="030F0702030302020204" pitchFamily="66" charset="0"/>
              </a:rPr>
              <a:t>k</a:t>
            </a:r>
            <a:endParaRPr lang="en-US" altLang="en-US" sz="2400">
              <a:latin typeface="Comic Sans MS" panose="030F0702030302020204" pitchFamily="66" charset="0"/>
            </a:endParaRPr>
          </a:p>
        </p:txBody>
      </p:sp>
      <p:sp>
        <p:nvSpPr>
          <p:cNvPr id="181253" name="Rectangle 5"/>
          <p:cNvSpPr>
            <a:spLocks noChangeArrowheads="1"/>
          </p:cNvSpPr>
          <p:nvPr/>
        </p:nvSpPr>
        <p:spPr bwMode="auto">
          <a:xfrm>
            <a:off x="6459539" y="1879601"/>
            <a:ext cx="3940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 sz="2800">
                <a:latin typeface="Comic Sans MS" panose="030F0702030302020204" pitchFamily="66" charset="0"/>
              </a:rPr>
              <a:t>T(n/2) = n/2 + 2T(n/4)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543800" cy="770497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substitution method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048000" y="2514600"/>
            <a:ext cx="6019800" cy="2133600"/>
          </a:xfrm>
          <a:ln w="38100">
            <a:solidFill>
              <a:schemeClr val="tx1"/>
            </a:solidFill>
            <a:miter lim="800000"/>
          </a:ln>
        </p:spPr>
        <p:txBody>
          <a:bodyPr/>
          <a:lstStyle/>
          <a:p>
            <a:pPr marL="533400" indent="-533400" algn="ctr">
              <a:buFontTx/>
              <a:buAutoNum type="arabicPeriod"/>
            </a:pPr>
            <a:r>
              <a:rPr lang="en-US" altLang="en-US"/>
              <a:t>Guess a solution</a:t>
            </a:r>
          </a:p>
          <a:p>
            <a:pPr marL="533400" indent="-533400" algn="ctr">
              <a:buFontTx/>
              <a:buAutoNum type="arabicPeriod"/>
            </a:pPr>
            <a:endParaRPr lang="en-US" altLang="en-US"/>
          </a:p>
          <a:p>
            <a:pPr marL="533400" indent="-533400" algn="ctr">
              <a:buFontTx/>
              <a:buAutoNum type="arabicPeriod"/>
            </a:pPr>
            <a:r>
              <a:rPr lang="en-US" altLang="en-US"/>
              <a:t>Use induction to prove that the solution works</a:t>
            </a: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46F715-8926-4557-95ED-67794D760029}" type="slidenum">
              <a:rPr lang="en-US" altLang="en-US"/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Substitution method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533400" indent="-533400">
              <a:lnSpc>
                <a:spcPct val="150000"/>
              </a:lnSpc>
              <a:defRPr/>
            </a:pP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Guess a solution</a:t>
            </a:r>
          </a:p>
          <a:p>
            <a:pPr marL="914400" lvl="1" indent="-457200">
              <a:lnSpc>
                <a:spcPct val="150000"/>
              </a:lnSpc>
              <a:defRPr/>
            </a:pP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T(n) = O(g(n))</a:t>
            </a:r>
          </a:p>
          <a:p>
            <a:pPr marL="914400" lvl="1" indent="-457200">
              <a:lnSpc>
                <a:spcPct val="150000"/>
              </a:lnSpc>
              <a:defRPr/>
            </a:pP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Induction goal: </a:t>
            </a:r>
            <a:r>
              <a:rPr lang="en-US" altLang="en-US" sz="2000">
                <a:solidFill>
                  <a:srgbClr val="DD0111"/>
                </a:solidFill>
              </a:rPr>
              <a:t>apply the definition of the asymptotic notation</a:t>
            </a:r>
          </a:p>
          <a:p>
            <a:pPr marL="1295400" lvl="2" indent="-381000">
              <a:lnSpc>
                <a:spcPct val="150000"/>
              </a:lnSpc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T(n)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d g(n)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, for some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d &gt; 0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</a:p>
          <a:p>
            <a:pPr marL="914400" lvl="1" indent="-457200">
              <a:lnSpc>
                <a:spcPct val="150000"/>
              </a:lnSpc>
              <a:defRPr/>
            </a:pP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Induction</a:t>
            </a: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hypothesis: </a:t>
            </a: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T(k) </a:t>
            </a: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d g(k) for all k &lt; n </a:t>
            </a:r>
            <a:endParaRPr lang="en-US" altLang="en-US" sz="2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33400" indent="-533400">
              <a:lnSpc>
                <a:spcPct val="150000"/>
              </a:lnSpc>
              <a:defRPr/>
            </a:pP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Prove the induction goal</a:t>
            </a:r>
          </a:p>
          <a:p>
            <a:pPr marL="914400" lvl="1" indent="-457200">
              <a:lnSpc>
                <a:spcPct val="150000"/>
              </a:lnSpc>
              <a:defRPr/>
            </a:pP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Use the </a:t>
            </a:r>
            <a:r>
              <a:rPr lang="en-US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induction hypothesis</a:t>
            </a: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to </a:t>
            </a:r>
            <a:r>
              <a:rPr lang="en-US" altLang="en-US" sz="2000">
                <a:solidFill>
                  <a:srgbClr val="DD0111"/>
                </a:solidFill>
              </a:rPr>
              <a:t>find some values of the constants </a:t>
            </a:r>
            <a:r>
              <a:rPr lang="en-US" altLang="en-US" sz="2000">
                <a:solidFill>
                  <a:srgbClr val="DD0111"/>
                </a:solidFill>
                <a:latin typeface="Comic Sans MS" panose="030F0702030302020204" pitchFamily="66" charset="0"/>
              </a:rPr>
              <a:t>d </a:t>
            </a:r>
            <a:r>
              <a:rPr lang="en-US" altLang="en-US" sz="2000">
                <a:solidFill>
                  <a:srgbClr val="DD0111"/>
                </a:solidFill>
              </a:rPr>
              <a:t>and</a:t>
            </a:r>
            <a:r>
              <a:rPr lang="en-US" altLang="en-US" sz="2000">
                <a:solidFill>
                  <a:srgbClr val="DD0111"/>
                </a:solidFill>
                <a:latin typeface="Comic Sans MS" panose="030F0702030302020204" pitchFamily="66" charset="0"/>
              </a:rPr>
              <a:t> n</a:t>
            </a:r>
            <a:r>
              <a:rPr lang="en-US" altLang="en-US" sz="2000" baseline="-25000">
                <a:solidFill>
                  <a:srgbClr val="DD0111"/>
                </a:solidFill>
                <a:latin typeface="Comic Sans MS" panose="030F0702030302020204" pitchFamily="66" charset="0"/>
              </a:rPr>
              <a:t>0</a:t>
            </a: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for which the </a:t>
            </a:r>
            <a:r>
              <a:rPr lang="en-US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induction goal</a:t>
            </a:r>
            <a:r>
              <a:rPr lang="en-US" altLang="en-U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holds</a:t>
            </a: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719764-3438-4042-94D0-D434769FDC94}" type="slidenum">
              <a:rPr lang="en-US" altLang="en-US"/>
              <a:t>22</a:t>
            </a:fld>
            <a:endParaRPr lang="en-US" altLang="en-US"/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8442326" y="3519488"/>
            <a:ext cx="18615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(strong induction)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543800" cy="63602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Binary Search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174377"/>
            <a:ext cx="8610600" cy="5683623"/>
          </a:xfrm>
        </p:spPr>
        <p:txBody>
          <a:bodyPr>
            <a:normAutofit lnSpcReduction="10000"/>
          </a:bodyPr>
          <a:lstStyle/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/>
              <a:t>				</a:t>
            </a:r>
            <a:r>
              <a:rPr lang="en-US" altLang="en-US" b="1" dirty="0">
                <a:latin typeface="Comic Sans MS" panose="030F0702030302020204" pitchFamily="66" charset="0"/>
              </a:rPr>
              <a:t>T(n) = c + T(n/2)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Guess: </a:t>
            </a:r>
            <a:r>
              <a:rPr lang="en-US" altLang="en-US" dirty="0">
                <a:latin typeface="Comic Sans MS" panose="030F0702030302020204" pitchFamily="66" charset="0"/>
              </a:rPr>
              <a:t>T(n) = O(</a:t>
            </a:r>
            <a:r>
              <a:rPr lang="en-US" altLang="en-US" dirty="0" err="1">
                <a:latin typeface="Comic Sans MS" panose="030F0702030302020204" pitchFamily="66" charset="0"/>
              </a:rPr>
              <a:t>lgn</a:t>
            </a:r>
            <a:r>
              <a:rPr lang="en-US" altLang="en-US" dirty="0">
                <a:latin typeface="Comic Sans MS" panose="030F0702030302020204" pitchFamily="66" charset="0"/>
              </a:rPr>
              <a:t>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dirty="0"/>
              <a:t>Induction goal: </a:t>
            </a:r>
            <a:r>
              <a:rPr lang="en-US" altLang="en-US" dirty="0">
                <a:latin typeface="Comic Sans MS" panose="030F0702030302020204" pitchFamily="66" charset="0"/>
              </a:rPr>
              <a:t>T(n)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>
                <a:latin typeface="Comic Sans MS" panose="030F0702030302020204" pitchFamily="66" charset="0"/>
              </a:rPr>
              <a:t>d </a:t>
            </a:r>
            <a:r>
              <a:rPr lang="en-US" altLang="en-US" dirty="0" err="1">
                <a:latin typeface="Comic Sans MS" panose="030F0702030302020204" pitchFamily="66" charset="0"/>
              </a:rPr>
              <a:t>lgn</a:t>
            </a:r>
            <a:r>
              <a:rPr lang="en-US" altLang="en-US" dirty="0"/>
              <a:t>, for some </a:t>
            </a:r>
            <a:r>
              <a:rPr lang="en-US" altLang="en-US" dirty="0">
                <a:latin typeface="Comic Sans MS" panose="030F0702030302020204" pitchFamily="66" charset="0"/>
              </a:rPr>
              <a:t>d</a:t>
            </a:r>
            <a:r>
              <a:rPr lang="en-US" altLang="en-US" dirty="0"/>
              <a:t> and </a:t>
            </a:r>
            <a:r>
              <a:rPr lang="en-US" altLang="en-US" dirty="0">
                <a:latin typeface="Comic Sans MS" panose="030F0702030302020204" pitchFamily="66" charset="0"/>
              </a:rPr>
              <a:t>n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baseline="-25000" dirty="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endParaRPr lang="en-US" altLang="en-US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30000"/>
              </a:lnSpc>
            </a:pPr>
            <a:r>
              <a:rPr lang="en-US" altLang="en-US" dirty="0">
                <a:cs typeface="Arial" panose="020B0604020202020204" pitchFamily="34" charset="0"/>
              </a:rPr>
              <a:t>Induction</a:t>
            </a:r>
            <a:r>
              <a:rPr lang="en-US" altLang="en-US" dirty="0"/>
              <a:t> hypothesis: </a:t>
            </a:r>
            <a:r>
              <a:rPr lang="en-US" altLang="en-US" dirty="0">
                <a:latin typeface="Comic Sans MS" panose="030F0702030302020204" pitchFamily="66" charset="0"/>
              </a:rPr>
              <a:t>T(n/2)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>
                <a:latin typeface="Comic Sans MS" panose="030F0702030302020204" pitchFamily="66" charset="0"/>
              </a:rPr>
              <a:t>d lg(n/2)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Proof of induction goal: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/>
              <a:t>	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T(n) = T(n/2) + c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≤ d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lg(n/2) + c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		    = d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</a:rPr>
              <a:t>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</a:rPr>
              <a:t> – d + c 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≤ d 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lgn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					</a:t>
            </a:r>
            <a:r>
              <a:rPr lang="en-US" altLang="en-US" dirty="0">
                <a:solidFill>
                  <a:schemeClr val="tx1"/>
                </a:solidFill>
                <a:cs typeface="Arial" panose="020B0604020202020204" pitchFamily="34" charset="0"/>
              </a:rPr>
              <a:t>if:</a:t>
            </a:r>
            <a:r>
              <a:rPr lang="en-US" altLang="en-US" dirty="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 – d + c ≤ 0, d ≥ c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>
                <a:solidFill>
                  <a:srgbClr val="003399"/>
                </a:solidFill>
                <a:cs typeface="Arial" panose="020B0604020202020204" pitchFamily="34" charset="0"/>
              </a:rPr>
              <a:t>Base case?</a:t>
            </a: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4E66F5-F3A3-4D70-BB42-38C1E5E50041}" type="slidenum">
              <a:rPr lang="en-US" altLang="en-US"/>
              <a:t>23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543800" cy="63602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idx="1"/>
          </p:nvPr>
        </p:nvSpPr>
        <p:spPr>
          <a:xfrm>
            <a:off x="1874838" y="1754655"/>
            <a:ext cx="8488362" cy="4697413"/>
          </a:xfrm>
        </p:spPr>
        <p:txBody>
          <a:bodyPr>
            <a:normAutofit lnSpcReduction="10000"/>
          </a:bodyPr>
          <a:lstStyle/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 dirty="0"/>
              <a:t>				</a:t>
            </a:r>
            <a:r>
              <a:rPr lang="en-US" altLang="en-US" sz="2400" b="1" dirty="0">
                <a:latin typeface="Comic Sans MS" panose="030F0702030302020204" pitchFamily="66" charset="0"/>
              </a:rPr>
              <a:t>T(n) = T(n-1) + n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sz="2400" dirty="0"/>
              <a:t>Guess: </a:t>
            </a:r>
            <a:r>
              <a:rPr lang="en-US" altLang="en-US" sz="2400" dirty="0">
                <a:latin typeface="Comic Sans MS" panose="030F0702030302020204" pitchFamily="66" charset="0"/>
              </a:rPr>
              <a:t>T(n) = O(n</a:t>
            </a:r>
            <a:r>
              <a:rPr lang="en-US" altLang="en-US" sz="2400" baseline="30000" dirty="0">
                <a:latin typeface="Comic Sans MS" panose="030F0702030302020204" pitchFamily="66" charset="0"/>
              </a:rPr>
              <a:t>2</a:t>
            </a:r>
            <a:r>
              <a:rPr lang="en-US" altLang="en-US" sz="2400" dirty="0">
                <a:latin typeface="Comic Sans MS" panose="030F0702030302020204" pitchFamily="66" charset="0"/>
              </a:rPr>
              <a:t>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sz="2000" dirty="0"/>
              <a:t>Induction goal: </a:t>
            </a:r>
            <a:r>
              <a:rPr lang="en-US" altLang="en-US" sz="2000" dirty="0">
                <a:latin typeface="Comic Sans MS" panose="030F0702030302020204" pitchFamily="66" charset="0"/>
              </a:rPr>
              <a:t>T(n)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sz="2000" dirty="0">
                <a:latin typeface="Comic Sans MS" panose="030F0702030302020204" pitchFamily="66" charset="0"/>
              </a:rPr>
              <a:t>c n</a:t>
            </a:r>
            <a:r>
              <a:rPr lang="en-US" altLang="en-US" sz="2000" baseline="30000" dirty="0">
                <a:latin typeface="Comic Sans MS" panose="030F0702030302020204" pitchFamily="66" charset="0"/>
              </a:rPr>
              <a:t>2</a:t>
            </a:r>
            <a:r>
              <a:rPr lang="en-US" altLang="en-US" sz="2000" dirty="0"/>
              <a:t>, for some </a:t>
            </a:r>
            <a:r>
              <a:rPr lang="en-US" altLang="en-US" sz="2000" dirty="0">
                <a:latin typeface="Comic Sans MS" panose="030F0702030302020204" pitchFamily="66" charset="0"/>
              </a:rPr>
              <a:t>c</a:t>
            </a:r>
            <a:r>
              <a:rPr lang="en-US" altLang="en-US" sz="2000" dirty="0"/>
              <a:t> and </a:t>
            </a:r>
            <a:r>
              <a:rPr lang="en-US" altLang="en-US" sz="2000" dirty="0">
                <a:latin typeface="Comic Sans MS" panose="030F0702030302020204" pitchFamily="66" charset="0"/>
              </a:rPr>
              <a:t>n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sz="2000" baseline="-25000" dirty="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endParaRPr lang="en-US" altLang="en-US" sz="2000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3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Induction</a:t>
            </a:r>
            <a:r>
              <a:rPr lang="en-US" altLang="en-US" sz="2000" dirty="0"/>
              <a:t> hypothesis: </a:t>
            </a:r>
            <a:r>
              <a:rPr lang="en-US" altLang="en-US" sz="2000" dirty="0">
                <a:latin typeface="Comic Sans MS" panose="030F0702030302020204" pitchFamily="66" charset="0"/>
              </a:rPr>
              <a:t>T(n-1)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sz="2000" dirty="0">
                <a:latin typeface="Comic Sans MS" panose="030F0702030302020204" pitchFamily="66" charset="0"/>
              </a:rPr>
              <a:t>c(n-1)</a:t>
            </a:r>
            <a:r>
              <a:rPr lang="en-US" altLang="en-US" sz="2000" baseline="30000" dirty="0">
                <a:latin typeface="Comic Sans MS" panose="030F0702030302020204" pitchFamily="66" charset="0"/>
              </a:rPr>
              <a:t>2</a:t>
            </a:r>
            <a:r>
              <a:rPr lang="en-US" altLang="en-US" sz="2000" dirty="0"/>
              <a:t> for all </a:t>
            </a:r>
            <a:r>
              <a:rPr lang="en-US" altLang="en-US" sz="2000" dirty="0">
                <a:latin typeface="Comic Sans MS" panose="030F0702030302020204" pitchFamily="66" charset="0"/>
              </a:rPr>
              <a:t>k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&lt;</a:t>
            </a:r>
            <a:r>
              <a:rPr lang="en-US" altLang="en-US" sz="2000" dirty="0">
                <a:latin typeface="Comic Sans MS" panose="030F0702030302020204" pitchFamily="66" charset="0"/>
              </a:rPr>
              <a:t> n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sz="2400" dirty="0"/>
              <a:t>Proof of induction goal: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 dirty="0"/>
              <a:t>	</a:t>
            </a:r>
            <a:r>
              <a:rPr lang="en-US" altLang="en-US" sz="2400" dirty="0">
                <a:latin typeface="Comic Sans MS" panose="030F0702030302020204" pitchFamily="66" charset="0"/>
              </a:rPr>
              <a:t>T(n) = T(n-1) + n </a:t>
            </a:r>
            <a:r>
              <a:rPr lang="en-US" alt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≤ c </a:t>
            </a:r>
            <a:r>
              <a:rPr lang="en-US" altLang="en-US" sz="2400" dirty="0">
                <a:latin typeface="Comic Sans MS" panose="030F0702030302020204" pitchFamily="66" charset="0"/>
              </a:rPr>
              <a:t>(n-1)</a:t>
            </a:r>
            <a:r>
              <a:rPr lang="en-US" altLang="en-US" sz="2400" baseline="30000" dirty="0">
                <a:latin typeface="Comic Sans MS" panose="030F0702030302020204" pitchFamily="66" charset="0"/>
              </a:rPr>
              <a:t>2</a:t>
            </a:r>
            <a:r>
              <a:rPr lang="en-US" altLang="en-US" sz="2400" dirty="0">
                <a:latin typeface="Comic Sans MS" panose="030F0702030302020204" pitchFamily="66" charset="0"/>
              </a:rPr>
              <a:t> + n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 dirty="0">
                <a:latin typeface="Comic Sans MS" panose="030F0702030302020204" pitchFamily="66" charset="0"/>
              </a:rPr>
              <a:t>		= cn</a:t>
            </a:r>
            <a:r>
              <a:rPr lang="en-US" altLang="en-US" sz="2400" baseline="30000" dirty="0">
                <a:latin typeface="Comic Sans MS" panose="030F0702030302020204" pitchFamily="66" charset="0"/>
              </a:rPr>
              <a:t>2</a:t>
            </a:r>
            <a:r>
              <a:rPr lang="en-US" altLang="en-US" sz="2400" dirty="0">
                <a:latin typeface="Comic Sans MS" panose="030F0702030302020204" pitchFamily="66" charset="0"/>
              </a:rPr>
              <a:t> – (2cn – c - n) </a:t>
            </a:r>
            <a:r>
              <a:rPr lang="en-US" alt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≤ cn</a:t>
            </a:r>
            <a:r>
              <a:rPr lang="en-US" altLang="en-US" sz="2400" baseline="30000" dirty="0">
                <a:latin typeface="Comic Sans MS" panose="030F0702030302020204" pitchFamily="66" charset="0"/>
                <a:cs typeface="Arial" panose="020B0604020202020204" pitchFamily="34" charset="0"/>
              </a:rPr>
              <a:t>2</a:t>
            </a:r>
            <a:r>
              <a:rPr lang="en-US" alt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		if:  2cn – c – n ≥ 0 </a:t>
            </a:r>
            <a:r>
              <a:rPr lang="en-US" altLang="en-US" sz="24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 c </a:t>
            </a:r>
            <a:r>
              <a:rPr lang="en-US" alt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≥ n/(2n-1) </a:t>
            </a:r>
            <a:r>
              <a:rPr lang="en-US" altLang="en-US" sz="24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 c </a:t>
            </a:r>
            <a:r>
              <a:rPr lang="en-US" altLang="en-US" sz="2400" dirty="0">
                <a:latin typeface="Comic Sans MS" panose="030F0702030302020204" pitchFamily="66" charset="0"/>
                <a:cs typeface="Arial" panose="020B0604020202020204" pitchFamily="34" charset="0"/>
              </a:rPr>
              <a:t>≥ 1/(2 – 1/n)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sz="2000" dirty="0">
                <a:cs typeface="Arial" panose="020B0604020202020204" pitchFamily="34" charset="0"/>
                <a:sym typeface="Symbol" panose="05050102010706020507" pitchFamily="18" charset="2"/>
              </a:rPr>
              <a:t>For n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≥ 1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 2 – 1/n ≥ 1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any </a:t>
            </a:r>
            <a:r>
              <a:rPr lang="en-US" altLang="en-US" sz="2000" dirty="0">
                <a:latin typeface="Comic Sans MS" panose="030F0702030302020204" pitchFamily="66" charset="0"/>
                <a:cs typeface="Arial" panose="020B0604020202020204" pitchFamily="34" charset="0"/>
              </a:rPr>
              <a:t>c ≥ 1 </a:t>
            </a:r>
            <a:r>
              <a:rPr lang="en-US" altLang="en-US" sz="2000" dirty="0">
                <a:cs typeface="Arial" panose="020B0604020202020204" pitchFamily="34" charset="0"/>
              </a:rPr>
              <a:t>will work</a:t>
            </a:r>
            <a:endParaRPr lang="en-US" altLang="en-US" sz="2000" dirty="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40FA0D-D99B-47B0-B468-0CECE80DB40E}" type="slidenum">
              <a:rPr lang="en-US" altLang="en-US"/>
              <a:t>24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543800" cy="76153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3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1752601" y="1246095"/>
            <a:ext cx="9097963" cy="5688105"/>
          </a:xfrm>
        </p:spPr>
        <p:txBody>
          <a:bodyPr>
            <a:normAutofit lnSpcReduction="10000"/>
          </a:bodyPr>
          <a:lstStyle/>
          <a:p>
            <a:pPr marL="533400" indent="-533400" algn="ctr">
              <a:lnSpc>
                <a:spcPct val="130000"/>
              </a:lnSpc>
              <a:buNone/>
            </a:pPr>
            <a:r>
              <a:rPr lang="en-US" altLang="en-US" b="1" dirty="0">
                <a:latin typeface="Comic Sans MS" panose="030F0702030302020204" pitchFamily="66" charset="0"/>
              </a:rPr>
              <a:t>T(n) = 2T(n/2) + n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Guess: </a:t>
            </a:r>
            <a:r>
              <a:rPr lang="en-US" altLang="en-US" dirty="0">
                <a:latin typeface="Comic Sans MS" panose="030F0702030302020204" pitchFamily="66" charset="0"/>
              </a:rPr>
              <a:t>T(n) = O(</a:t>
            </a:r>
            <a:r>
              <a:rPr lang="en-US" altLang="en-US" dirty="0" err="1">
                <a:latin typeface="Comic Sans MS" panose="030F0702030302020204" pitchFamily="66" charset="0"/>
              </a:rPr>
              <a:t>nlgn</a:t>
            </a:r>
            <a:r>
              <a:rPr lang="en-US" altLang="en-US" dirty="0">
                <a:latin typeface="Comic Sans MS" panose="030F0702030302020204" pitchFamily="66" charset="0"/>
              </a:rPr>
              <a:t>)</a:t>
            </a:r>
          </a:p>
          <a:p>
            <a:pPr marL="914400" lvl="1" indent="-457200">
              <a:lnSpc>
                <a:spcPct val="130000"/>
              </a:lnSpc>
            </a:pPr>
            <a:r>
              <a:rPr lang="en-US" altLang="en-US" dirty="0"/>
              <a:t>Induction goal: </a:t>
            </a:r>
            <a:r>
              <a:rPr lang="en-US" altLang="en-US" dirty="0">
                <a:latin typeface="Comic Sans MS" panose="030F0702030302020204" pitchFamily="66" charset="0"/>
              </a:rPr>
              <a:t>T(n)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 err="1">
                <a:latin typeface="Comic Sans MS" panose="030F0702030302020204" pitchFamily="66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</a:rPr>
              <a:t> </a:t>
            </a:r>
            <a:r>
              <a:rPr lang="en-US" altLang="en-US" dirty="0" err="1">
                <a:latin typeface="Comic Sans MS" panose="030F0702030302020204" pitchFamily="66" charset="0"/>
              </a:rPr>
              <a:t>lgn</a:t>
            </a:r>
            <a:r>
              <a:rPr lang="en-US" altLang="en-US" dirty="0"/>
              <a:t>, for some </a:t>
            </a:r>
            <a:r>
              <a:rPr lang="en-US" altLang="en-US" dirty="0">
                <a:latin typeface="Comic Sans MS" panose="030F0702030302020204" pitchFamily="66" charset="0"/>
              </a:rPr>
              <a:t>c</a:t>
            </a:r>
            <a:r>
              <a:rPr lang="en-US" altLang="en-US" dirty="0"/>
              <a:t> and </a:t>
            </a:r>
            <a:r>
              <a:rPr lang="en-US" altLang="en-US" dirty="0">
                <a:latin typeface="Comic Sans MS" panose="030F0702030302020204" pitchFamily="66" charset="0"/>
              </a:rPr>
              <a:t>n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baseline="-25000" dirty="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endParaRPr lang="en-US" altLang="en-US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30000"/>
              </a:lnSpc>
            </a:pPr>
            <a:r>
              <a:rPr lang="en-US" altLang="en-US" dirty="0">
                <a:cs typeface="Arial" panose="020B0604020202020204" pitchFamily="34" charset="0"/>
              </a:rPr>
              <a:t>Induction</a:t>
            </a:r>
            <a:r>
              <a:rPr lang="en-US" altLang="en-US" dirty="0"/>
              <a:t> hypothesis: </a:t>
            </a:r>
            <a:r>
              <a:rPr lang="en-US" altLang="en-US" dirty="0">
                <a:latin typeface="Comic Sans MS" panose="030F0702030302020204" pitchFamily="66" charset="0"/>
              </a:rPr>
              <a:t>T(n/2)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 err="1">
                <a:latin typeface="Comic Sans MS" panose="030F0702030302020204" pitchFamily="66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</a:rPr>
              <a:t>/2 lg(n/2)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/>
              <a:t>Proof of induction goal: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Comic Sans MS" panose="030F0702030302020204" pitchFamily="66" charset="0"/>
              </a:rPr>
              <a:t>T(n) = 2T(n/2) + n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2c (n/2)</a:t>
            </a:r>
            <a:r>
              <a:rPr lang="en-US" altLang="en-US" dirty="0">
                <a:latin typeface="Comic Sans MS" panose="030F0702030302020204" pitchFamily="66" charset="0"/>
              </a:rPr>
              <a:t>lg(n/2) + n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>
                <a:latin typeface="Comic Sans MS" panose="030F0702030302020204" pitchFamily="66" charset="0"/>
              </a:rPr>
              <a:t>	        = </a:t>
            </a:r>
            <a:r>
              <a:rPr lang="en-US" altLang="en-US" dirty="0" err="1">
                <a:latin typeface="Comic Sans MS" panose="030F0702030302020204" pitchFamily="66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</a:rPr>
              <a:t> </a:t>
            </a:r>
            <a:r>
              <a:rPr lang="en-US" altLang="en-US" dirty="0" err="1">
                <a:latin typeface="Comic Sans MS" panose="030F0702030302020204" pitchFamily="66" charset="0"/>
              </a:rPr>
              <a:t>lgn</a:t>
            </a:r>
            <a:r>
              <a:rPr lang="en-US" altLang="en-US" dirty="0">
                <a:latin typeface="Comic Sans MS" panose="030F0702030302020204" pitchFamily="66" charset="0"/>
              </a:rPr>
              <a:t> – </a:t>
            </a:r>
            <a:r>
              <a:rPr lang="en-US" altLang="en-US" dirty="0" err="1">
                <a:latin typeface="Comic Sans MS" panose="030F0702030302020204" pitchFamily="66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</a:rPr>
              <a:t> + n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 err="1">
                <a:latin typeface="Comic Sans MS" panose="030F0702030302020204" pitchFamily="66" charset="0"/>
                <a:cs typeface="Arial" panose="020B0604020202020204" pitchFamily="34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latin typeface="Comic Sans MS" panose="030F0702030302020204" pitchFamily="66" charset="0"/>
                <a:cs typeface="Arial" panose="020B0604020202020204" pitchFamily="34" charset="0"/>
              </a:rPr>
              <a:t>lgn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</a:p>
          <a:p>
            <a:pPr marL="533400" indent="-533400">
              <a:lnSpc>
                <a:spcPct val="130000"/>
              </a:lnSpc>
              <a:buNone/>
            </a:pP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					if:  - </a:t>
            </a:r>
            <a:r>
              <a:rPr lang="en-US" altLang="en-US" dirty="0" err="1">
                <a:latin typeface="Comic Sans MS" panose="030F0702030302020204" pitchFamily="66" charset="0"/>
                <a:cs typeface="Arial" panose="020B0604020202020204" pitchFamily="34" charset="0"/>
              </a:rPr>
              <a:t>cn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 + n ≤ 0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c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≥ 1</a:t>
            </a:r>
          </a:p>
          <a:p>
            <a:pPr marL="533400" indent="-533400">
              <a:lnSpc>
                <a:spcPct val="130000"/>
              </a:lnSpc>
            </a:pPr>
            <a:r>
              <a:rPr lang="en-US" altLang="en-US" dirty="0">
                <a:cs typeface="Arial" panose="020B0604020202020204" pitchFamily="34" charset="0"/>
              </a:rPr>
              <a:t>Base case?</a:t>
            </a: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366AF7-2517-49EF-863C-96C04CE9A40D}" type="slidenum">
              <a:rPr lang="en-US" altLang="en-US"/>
              <a:t>25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Changing variables</a:t>
            </a:r>
          </a:p>
        </p:txBody>
      </p:sp>
      <p:graphicFrame>
        <p:nvGraphicFramePr>
          <p:cNvPr id="30723" name="Object 5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505451" y="1287463"/>
          <a:ext cx="455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300" imgH="228600" progId="Equation.3">
                  <p:embed/>
                </p:oleObj>
              </mc:Choice>
              <mc:Fallback>
                <p:oleObj name="Equation" r:id="rId2" imgW="241300" imgH="228600" progId="Equation.3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5451" y="1287463"/>
                        <a:ext cx="4556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67" name="Rectangle 3"/>
          <p:cNvSpPr>
            <a:spLocks noGrp="1" noChangeArrowheads="1"/>
          </p:cNvSpPr>
          <p:nvPr>
            <p:ph type="body" sz="half" idx="3"/>
          </p:nvPr>
        </p:nvSpPr>
        <p:spPr>
          <a:xfrm>
            <a:off x="1874838" y="1828801"/>
            <a:ext cx="8229600" cy="4462463"/>
          </a:xfrm>
        </p:spPr>
        <p:txBody>
          <a:bodyPr rtlCol="0">
            <a:normAutofit lnSpcReduction="10000"/>
          </a:bodyPr>
          <a:lstStyle/>
          <a:p>
            <a:pPr marL="384175" lvl="1" indent="-182880">
              <a:lnSpc>
                <a:spcPct val="120000"/>
              </a:lnSpc>
              <a:defRPr/>
            </a:pP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Rename: </a:t>
            </a: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m = lgn</a:t>
            </a: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n = 2</a:t>
            </a:r>
            <a:r>
              <a:rPr lang="en-US" altLang="en-US" sz="2800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endParaRPr lang="en-US" altLang="en-US" sz="280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84175" lvl="1" indent="-182880">
              <a:lnSpc>
                <a:spcPct val="120000"/>
              </a:lnSpc>
              <a:buNone/>
              <a:defRPr/>
            </a:pP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T (</a:t>
            </a: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800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 = 2T(2</a:t>
            </a:r>
            <a:r>
              <a:rPr lang="en-US" altLang="en-US" sz="2800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m/2</a:t>
            </a: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 + m</a:t>
            </a:r>
          </a:p>
          <a:p>
            <a:pPr marL="384175" lvl="1" indent="-182880">
              <a:lnSpc>
                <a:spcPct val="120000"/>
              </a:lnSpc>
              <a:defRPr/>
            </a:pP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Rename: </a:t>
            </a: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S(m) = T(2</a:t>
            </a:r>
            <a:r>
              <a:rPr lang="en-US" altLang="en-US" sz="2800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marL="384175" lvl="1" indent="-182880">
              <a:lnSpc>
                <a:spcPct val="120000"/>
              </a:lnSpc>
              <a:buNone/>
              <a:defRPr/>
            </a:pP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S(m) = 2S(m/2) + m  S(m) = O(mlgm)</a:t>
            </a: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(demonstrated before)</a:t>
            </a:r>
          </a:p>
          <a:p>
            <a:pPr marL="384175" lvl="1" indent="-182880">
              <a:lnSpc>
                <a:spcPct val="120000"/>
              </a:lnSpc>
              <a:buNone/>
              <a:defRPr/>
            </a:pP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T(2</a:t>
            </a:r>
            <a:r>
              <a:rPr lang="en-US" altLang="en-US" sz="2800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en-US" sz="28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 = S(m) = O(mlgm)=O(lgnlglgn)</a:t>
            </a:r>
          </a:p>
          <a:p>
            <a:pPr marL="384175" lvl="1" indent="-182880">
              <a:lnSpc>
                <a:spcPct val="120000"/>
              </a:lnSpc>
              <a:buNone/>
              <a:defRPr/>
            </a:pPr>
            <a:r>
              <a:rPr lang="en-US" altLang="en-US" sz="2800">
                <a:solidFill>
                  <a:srgbClr val="DD011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Idea: transform the recurrence to one that you have seen before</a:t>
            </a:r>
            <a:endParaRPr lang="en-US" altLang="en-US" sz="2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A6DA6C-B4DD-469F-8862-0D526D725442}" type="slidenum">
              <a:rPr lang="en-US" altLang="en-US"/>
              <a:t>26</a:t>
            </a:fld>
            <a:endParaRPr lang="en-US" altLang="en-US"/>
          </a:p>
        </p:txBody>
      </p:sp>
      <p:sp>
        <p:nvSpPr>
          <p:cNvPr id="30726" name="Text Box 4"/>
          <p:cNvSpPr txBox="1">
            <a:spLocks noChangeArrowheads="1"/>
          </p:cNvSpPr>
          <p:nvPr/>
        </p:nvSpPr>
        <p:spPr bwMode="auto">
          <a:xfrm>
            <a:off x="3844926" y="1233488"/>
            <a:ext cx="33639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533400" indent="-53340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743200" indent="-4572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3200400" indent="-4572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657600" indent="-4572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4114800" indent="-4572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2800">
                <a:latin typeface="Comic Sans MS" panose="030F0702030302020204" pitchFamily="66" charset="0"/>
              </a:rPr>
              <a:t>T(n) = 2T(    ) + lgn</a:t>
            </a:r>
            <a:r>
              <a:rPr lang="en-US" altLang="en-US" sz="2800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The recursion-tree method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38400" y="2057400"/>
            <a:ext cx="6934200" cy="2743200"/>
          </a:xfrm>
          <a:noFill/>
          <a:ln w="38100">
            <a:solidFill>
              <a:schemeClr val="tx1"/>
            </a:solidFill>
            <a:miter lim="800000"/>
          </a:ln>
        </p:spPr>
        <p:txBody>
          <a:bodyPr/>
          <a:lstStyle/>
          <a:p>
            <a:pPr marL="533400" indent="-533400">
              <a:lnSpc>
                <a:spcPct val="150000"/>
              </a:lnSpc>
              <a:buNone/>
            </a:pPr>
            <a:r>
              <a:rPr lang="en-US" altLang="en-US" sz="2400"/>
              <a:t>	Convert the recurrence into a tree: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/>
              <a:t>Each node represents the cost incurred at various levels of recursion</a:t>
            </a:r>
          </a:p>
          <a:p>
            <a:pPr marL="914400" lvl="1" indent="-457200">
              <a:lnSpc>
                <a:spcPct val="150000"/>
              </a:lnSpc>
            </a:pPr>
            <a:r>
              <a:rPr lang="en-US" altLang="en-US" sz="2000"/>
              <a:t>Sum up the costs of all levels</a:t>
            </a:r>
          </a:p>
        </p:txBody>
      </p:sp>
      <p:sp>
        <p:nvSpPr>
          <p:cNvPr id="2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F6D0737-191D-4066-BD5A-BA8E81997243}" type="slidenum">
              <a:rPr lang="en-US" altLang="en-US"/>
              <a:t>27</a:t>
            </a:fld>
            <a:endParaRPr lang="en-US" altLang="en-US"/>
          </a:p>
        </p:txBody>
      </p:sp>
      <p:sp>
        <p:nvSpPr>
          <p:cNvPr id="31749" name="Text Box 4"/>
          <p:cNvSpPr txBox="1">
            <a:spLocks noChangeArrowheads="1"/>
          </p:cNvSpPr>
          <p:nvPr/>
        </p:nvSpPr>
        <p:spPr bwMode="auto">
          <a:xfrm>
            <a:off x="3565525" y="5441950"/>
            <a:ext cx="44070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r>
              <a:rPr lang="en-US" altLang="en-US"/>
              <a:t>Used to “guess” a solution for the recurrence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Rectangle 3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543800" cy="1449387"/>
          </a:xfrm>
        </p:spPr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Example 1</a:t>
            </a:r>
          </a:p>
        </p:txBody>
      </p:sp>
      <p:graphicFrame>
        <p:nvGraphicFramePr>
          <p:cNvPr id="193538" name="Object 2"/>
          <p:cNvGraphicFramePr>
            <a:graphicFrameLocks noGrp="1" noChangeAspect="1"/>
          </p:cNvGraphicFramePr>
          <p:nvPr>
            <p:ph sz="half" idx="1"/>
          </p:nvPr>
        </p:nvGraphicFramePr>
        <p:xfrm>
          <a:off x="3581400" y="1295400"/>
          <a:ext cx="6934200" cy="361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2" imgW="7597140" imgH="3959225" progId="PaintShopPro">
                  <p:embed/>
                </p:oleObj>
              </mc:Choice>
              <mc:Fallback>
                <p:oleObj name="Paint Shop Pro Image" r:id="rId2" imgW="7597140" imgH="3959225" progId="PaintShopPro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295400"/>
                        <a:ext cx="6934200" cy="361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40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1874838" y="1138238"/>
            <a:ext cx="4602162" cy="46196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z="2400" dirty="0">
                <a:latin typeface="Comic Sans MS" panose="030F0702030302020204" pitchFamily="66" charset="0"/>
              </a:rPr>
              <a:t>W(n) = 2W(n/2) + n</a:t>
            </a:r>
            <a:r>
              <a:rPr lang="en-US" altLang="en-US" sz="2400" baseline="30000" dirty="0">
                <a:latin typeface="Comic Sans MS" panose="030F0702030302020204" pitchFamily="66" charset="0"/>
              </a:rPr>
              <a:t>2</a:t>
            </a:r>
            <a:endParaRPr lang="en-US" altLang="en-US" sz="2400" dirty="0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15BF50-AF46-416B-980E-A5E83F97554C}" type="slidenum">
              <a:rPr lang="en-US" altLang="en-US"/>
              <a:t>28</a:t>
            </a:fld>
            <a:endParaRPr lang="en-US" altLang="en-US"/>
          </a:p>
        </p:txBody>
      </p:sp>
      <p:sp>
        <p:nvSpPr>
          <p:cNvPr id="193541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57400" y="4343400"/>
            <a:ext cx="8610600" cy="2514600"/>
          </a:xfrm>
        </p:spPr>
        <p:txBody>
          <a:bodyPr rtlCol="0">
            <a:normAutofit fontScale="77500" lnSpcReduction="20000"/>
          </a:bodyPr>
          <a:lstStyle/>
          <a:p>
            <a:pPr marL="457200" indent="-457200"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Subproblem size at level i is: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n/2</a:t>
            </a:r>
            <a:r>
              <a:rPr lang="en-US" altLang="en-US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</a:t>
            </a:r>
          </a:p>
          <a:p>
            <a:pPr marL="457200" indent="-457200"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Subproblem size hits 1 when 1 =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n/2</a:t>
            </a:r>
            <a:r>
              <a:rPr lang="en-US" altLang="en-US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i = lgn</a:t>
            </a:r>
          </a:p>
          <a:p>
            <a:pPr marL="457200" indent="-457200"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Cost of the problem at level i = (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n/2</a:t>
            </a:r>
            <a:r>
              <a:rPr lang="en-US" altLang="en-US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)</a:t>
            </a:r>
            <a:r>
              <a:rPr lang="en-US" altLang="en-US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    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No. of nodes at level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 = 2</a:t>
            </a:r>
            <a:r>
              <a:rPr lang="en-US" altLang="en-US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en-US" baseline="3000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 marL="457200" indent="-457200"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Total cost: </a:t>
            </a:r>
          </a:p>
          <a:p>
            <a:pPr marL="457200" indent="-457200">
              <a:defRPr/>
            </a:pPr>
            <a:endParaRPr lang="en-US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None/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W(n) = O(n</a:t>
            </a:r>
            <a:r>
              <a:rPr lang="en-US" altLang="en-US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)</a:t>
            </a:r>
          </a:p>
        </p:txBody>
      </p:sp>
      <p:graphicFrame>
        <p:nvGraphicFramePr>
          <p:cNvPr id="193542" name="Object 6"/>
          <p:cNvGraphicFramePr>
            <a:graphicFrameLocks noChangeAspect="1"/>
          </p:cNvGraphicFramePr>
          <p:nvPr/>
        </p:nvGraphicFramePr>
        <p:xfrm>
          <a:off x="3349625" y="5545138"/>
          <a:ext cx="69484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219700" imgH="533400" progId="Equation.3">
                  <p:embed/>
                </p:oleObj>
              </mc:Choice>
              <mc:Fallback>
                <p:oleObj name="Equation" r:id="rId4" imgW="5219700" imgH="533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5545138"/>
                        <a:ext cx="69484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 build="p"/>
      <p:bldP spid="19354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Example 2</a:t>
            </a:r>
          </a:p>
        </p:txBody>
      </p:sp>
      <p:sp>
        <p:nvSpPr>
          <p:cNvPr id="19456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8"/>
            <a:ext cx="8335962" cy="614362"/>
          </a:xfrm>
        </p:spPr>
        <p:txBody>
          <a:bodyPr/>
          <a:lstStyle/>
          <a:p>
            <a:pPr marL="533400" indent="-533400">
              <a:buNone/>
            </a:pPr>
            <a:r>
              <a:rPr lang="en-US" altLang="en-US" sz="2400">
                <a:solidFill>
                  <a:srgbClr val="DD0111"/>
                </a:solidFill>
                <a:latin typeface="Monotype Corsiva" panose="03010101010201010101" pitchFamily="66" charset="0"/>
              </a:rPr>
              <a:t>E.g.:</a:t>
            </a:r>
            <a:r>
              <a:rPr lang="en-US" altLang="en-US" sz="2400"/>
              <a:t> </a:t>
            </a:r>
            <a:r>
              <a:rPr lang="en-US" altLang="en-US" sz="2400">
                <a:latin typeface="Comic Sans MS" panose="030F0702030302020204" pitchFamily="66" charset="0"/>
              </a:rPr>
              <a:t>T(n) = 3T(n/4) + cn</a:t>
            </a:r>
            <a:r>
              <a:rPr lang="en-US" altLang="en-US" sz="2400" baseline="30000">
                <a:latin typeface="Comic Sans MS" panose="030F0702030302020204" pitchFamily="66" charset="0"/>
              </a:rPr>
              <a:t>2</a:t>
            </a:r>
          </a:p>
        </p:txBody>
      </p:sp>
      <p:graphicFrame>
        <p:nvGraphicFramePr>
          <p:cNvPr id="194566" name="Object 6"/>
          <p:cNvGraphicFramePr>
            <a:graphicFrameLocks noGrp="1" noChangeAspect="1"/>
          </p:cNvGraphicFramePr>
          <p:nvPr>
            <p:ph sz="half" idx="2"/>
          </p:nvPr>
        </p:nvGraphicFramePr>
        <p:xfrm>
          <a:off x="2363789" y="5727701"/>
          <a:ext cx="7615237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10200" imgH="635000" progId="Equation.3">
                  <p:embed/>
                </p:oleObj>
              </mc:Choice>
              <mc:Fallback>
                <p:oleObj name="Equation" r:id="rId2" imgW="5410200" imgH="635000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9" y="5727701"/>
                        <a:ext cx="7615237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6E90E1-8438-4A3D-BD27-E6BE3CFCB9AF}" type="slidenum">
              <a:rPr lang="en-US" altLang="en-US"/>
              <a:t>29</a:t>
            </a:fld>
            <a:endParaRPr lang="en-US" altLang="en-US"/>
          </a:p>
        </p:txBody>
      </p:sp>
      <p:pic>
        <p:nvPicPr>
          <p:cNvPr id="19456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41426"/>
            <a:ext cx="8763000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65" name="Rectangle 5"/>
          <p:cNvSpPr>
            <a:spLocks noChangeArrowheads="1"/>
          </p:cNvSpPr>
          <p:nvPr/>
        </p:nvSpPr>
        <p:spPr bwMode="auto">
          <a:xfrm>
            <a:off x="1828800" y="3886200"/>
            <a:ext cx="86106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838200" indent="-38100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76400" indent="-3048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95500" indent="-2667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527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30099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671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9243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Subproblem size at level i is: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n/4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</a:rPr>
              <a:t>i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Subproblem size hits 1 when 1 =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n/4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</a:rPr>
              <a:t>i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i = log</a:t>
            </a:r>
            <a:r>
              <a:rPr lang="en-US" altLang="en-US" sz="2000" baseline="-25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Cost of a node at level i = c(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n/4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)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</a:rPr>
              <a:t>2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Number of nodes at level i = 3</a:t>
            </a:r>
            <a:r>
              <a:rPr lang="en-US" altLang="en-US" sz="2000" baseline="30000">
                <a:solidFill>
                  <a:schemeClr val="accent2"/>
                </a:solidFill>
                <a:latin typeface="Arial" panose="020B0604020202020204" pitchFamily="34" charset="0"/>
              </a:rPr>
              <a:t>i</a:t>
            </a: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last level has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3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log</a:t>
            </a:r>
            <a:r>
              <a:rPr lang="en-US" altLang="en-US" sz="2000" baseline="-25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= n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log</a:t>
            </a:r>
            <a:r>
              <a:rPr lang="en-US" altLang="en-US" sz="2000" baseline="-25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4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nodes</a:t>
            </a:r>
            <a:endParaRPr lang="en-US" altLang="en-US" sz="200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Total cost: 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00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00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	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T(n) = O(n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</a:rPr>
              <a:t>2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 build="p"/>
      <p:bldP spid="19456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543800" cy="743603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2 - Substitution</a:t>
            </a:r>
          </a:p>
        </p:txBody>
      </p:sp>
      <p:sp>
        <p:nvSpPr>
          <p:cNvPr id="195587" name="Rectangle 3"/>
          <p:cNvSpPr>
            <a:spLocks noGrp="1" noChangeArrowheads="1"/>
          </p:cNvSpPr>
          <p:nvPr>
            <p:ph idx="1"/>
          </p:nvPr>
        </p:nvSpPr>
        <p:spPr>
          <a:xfrm>
            <a:off x="1874838" y="1159669"/>
            <a:ext cx="8229600" cy="4538663"/>
          </a:xfrm>
        </p:spPr>
        <p:txBody>
          <a:bodyPr rtlCol="0">
            <a:normAutofit fontScale="62500" lnSpcReduction="20000"/>
          </a:bodyPr>
          <a:lstStyle/>
          <a:p>
            <a:pPr marL="91440" indent="-91440">
              <a:buNone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			T(n) = 3T(n/4) + cn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</a:t>
            </a:r>
          </a:p>
          <a:p>
            <a:pPr marL="91440" indent="-91440">
              <a:lnSpc>
                <a:spcPct val="130000"/>
              </a:lnSpc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Guess: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T(n) = O(n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)</a:t>
            </a:r>
          </a:p>
          <a:p>
            <a:pPr marL="384175" lvl="1" indent="-182880">
              <a:lnSpc>
                <a:spcPct val="130000"/>
              </a:lnSpc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Induction goal: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T(n)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dn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for some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d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and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baseline="-25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384175" lvl="1" indent="-182880">
              <a:lnSpc>
                <a:spcPct val="130000"/>
              </a:lnSpc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Induction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hypothesis: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T(n/4)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d (n/4)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 marL="91440" indent="-91440">
              <a:lnSpc>
                <a:spcPct val="130000"/>
              </a:lnSpc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Proof of induction goal:</a:t>
            </a:r>
          </a:p>
          <a:p>
            <a:pPr marL="91440" indent="-91440">
              <a:lnSpc>
                <a:spcPct val="130000"/>
              </a:lnSpc>
              <a:buNone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T(n) = 3T(n/4) + cn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 marL="91440" indent="-91440">
              <a:lnSpc>
                <a:spcPct val="130000"/>
              </a:lnSpc>
              <a:buNone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		 ≤ 3d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(n/4)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+ cn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 marL="91440" indent="-91440">
              <a:lnSpc>
                <a:spcPct val="130000"/>
              </a:lnSpc>
              <a:buNone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	 = (3/16) d n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+ cn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2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</a:p>
          <a:p>
            <a:pPr marL="91440" indent="-91440">
              <a:lnSpc>
                <a:spcPct val="130000"/>
              </a:lnSpc>
              <a:buNone/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		 ≤ d n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2 		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if: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d ≥ (16/13)c</a:t>
            </a:r>
            <a:endParaRPr lang="en-US" altLang="en-US" baseline="300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91440" indent="-91440">
              <a:lnSpc>
                <a:spcPct val="130000"/>
              </a:lnSpc>
              <a:buNone/>
              <a:defRPr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91440" indent="-91440">
              <a:lnSpc>
                <a:spcPct val="130000"/>
              </a:lnSpc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Therefore: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O(n</a:t>
            </a:r>
            <a:r>
              <a:rPr lang="en-US" altLang="en-US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82A45E-440E-4E8F-B4B1-9ACF8667807C}" type="slidenum">
              <a:rPr lang="en-US" altLang="en-US"/>
              <a:t>30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Example 3 (simpler proof)</a:t>
            </a:r>
          </a:p>
        </p:txBody>
      </p:sp>
      <p:sp>
        <p:nvSpPr>
          <p:cNvPr id="23962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4602162" cy="5076825"/>
          </a:xfrm>
        </p:spPr>
        <p:txBody>
          <a:bodyPr/>
          <a:lstStyle/>
          <a:p>
            <a:pPr marL="533400" indent="-533400">
              <a:buNone/>
            </a:pPr>
            <a:r>
              <a:rPr lang="en-US" altLang="en-US" sz="2400">
                <a:latin typeface="Comic Sans MS" panose="030F0702030302020204" pitchFamily="66" charset="0"/>
              </a:rPr>
              <a:t>W(n) = W(n/3) + W(2n/3) + n</a:t>
            </a:r>
          </a:p>
        </p:txBody>
      </p:sp>
      <p:graphicFrame>
        <p:nvGraphicFramePr>
          <p:cNvPr id="239621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950076" y="1214438"/>
          <a:ext cx="2270125" cy="246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2" imgW="5632450" imgH="6108700" progId="PaintShopPro">
                  <p:embed/>
                </p:oleObj>
              </mc:Choice>
              <mc:Fallback>
                <p:oleObj name="Paint Shop Pro Image" r:id="rId2" imgW="5632450" imgH="6108700" progId="PaintShopPro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0076" y="1214438"/>
                        <a:ext cx="2270125" cy="246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3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24188" y="5359401"/>
          <a:ext cx="543560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22600" imgH="584200" progId="Equation.DSMT4">
                  <p:embed/>
                </p:oleObj>
              </mc:Choice>
              <mc:Fallback>
                <p:oleObj name="Equation" r:id="rId4" imgW="3022600" imgH="584200" progId="Equation.DSMT4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5359401"/>
                        <a:ext cx="543560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E10464-CFEF-4AD4-A62C-4F6EBF9C9CB2}" type="slidenum">
              <a:rPr lang="en-US" altLang="en-US"/>
              <a:t>31</a:t>
            </a:fld>
            <a:endParaRPr lang="en-US" altLang="en-US"/>
          </a:p>
        </p:txBody>
      </p:sp>
      <p:sp>
        <p:nvSpPr>
          <p:cNvPr id="35847" name="Rectangle 2"/>
          <p:cNvSpPr>
            <a:spLocks noChangeArrowheads="1"/>
          </p:cNvSpPr>
          <p:nvPr/>
        </p:nvSpPr>
        <p:spPr bwMode="auto">
          <a:xfrm>
            <a:off x="4724400" y="6400800"/>
            <a:ext cx="5105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239622" name="Rectangle 6"/>
          <p:cNvSpPr>
            <a:spLocks noChangeArrowheads="1"/>
          </p:cNvSpPr>
          <p:nvPr/>
        </p:nvSpPr>
        <p:spPr bwMode="auto">
          <a:xfrm>
            <a:off x="1905000" y="1828800"/>
            <a:ext cx="44958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838200" indent="-38100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76400" indent="-3048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95500" indent="-2667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527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30099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671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9243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The longest path from the root to a leaf is:                  		       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n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(2/3)n  (2/3)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2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n  …  1</a:t>
            </a:r>
            <a:endParaRPr lang="en-US" altLang="en-US" sz="2000" baseline="30000">
              <a:solidFill>
                <a:schemeClr val="accent2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Subproblem size hits 1 when       1 =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(2/3)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n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 i=log</a:t>
            </a:r>
            <a:r>
              <a:rPr lang="en-US" altLang="en-US" sz="2000" baseline="-25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3/2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endParaRPr lang="en-US" altLang="en-US" sz="20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Cost of the problem at level i =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n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Total cost: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00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00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		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W(n) = O(nlgn)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0" grpId="0" build="p"/>
      <p:bldP spid="23962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Example 3</a:t>
            </a:r>
          </a:p>
        </p:txBody>
      </p:sp>
      <p:sp>
        <p:nvSpPr>
          <p:cNvPr id="198660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4602162" cy="5076825"/>
          </a:xfrm>
        </p:spPr>
        <p:txBody>
          <a:bodyPr/>
          <a:lstStyle/>
          <a:p>
            <a:pPr marL="533400" indent="-533400">
              <a:buNone/>
            </a:pPr>
            <a:r>
              <a:rPr lang="en-US" altLang="en-US" sz="2400" dirty="0">
                <a:latin typeface="Comic Sans MS" panose="030F0702030302020204" pitchFamily="66" charset="0"/>
              </a:rPr>
              <a:t>W(n) = W(n/3) + W(2n/3) + n</a:t>
            </a:r>
          </a:p>
        </p:txBody>
      </p:sp>
      <p:graphicFrame>
        <p:nvGraphicFramePr>
          <p:cNvPr id="198661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950076" y="1214438"/>
          <a:ext cx="2270125" cy="2462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int Shop Pro Image" r:id="rId2" imgW="5632450" imgH="6108700" progId="PaintShopPro">
                  <p:embed/>
                </p:oleObj>
              </mc:Choice>
              <mc:Fallback>
                <p:oleObj name="Paint Shop Pro Image" r:id="rId2" imgW="5632450" imgH="6108700" progId="PaintShopPro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0076" y="1214438"/>
                        <a:ext cx="2270125" cy="2462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8663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260850" y="5119688"/>
          <a:ext cx="4338638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17800" imgH="444500" progId="Equation.DSMT4">
                  <p:embed/>
                </p:oleObj>
              </mc:Choice>
              <mc:Fallback>
                <p:oleObj name="Equation" r:id="rId4" imgW="2717800" imgH="444500" progId="Equation.DSMT4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50" y="5119688"/>
                        <a:ext cx="4338638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88AE18-607D-4A98-8F7F-02EED66166FB}" type="slidenum">
              <a:rPr lang="en-US" altLang="en-US"/>
              <a:t>32</a:t>
            </a:fld>
            <a:endParaRPr lang="en-US" altLang="en-US"/>
          </a:p>
        </p:txBody>
      </p:sp>
      <p:sp>
        <p:nvSpPr>
          <p:cNvPr id="36871" name="Rectangle 2"/>
          <p:cNvSpPr>
            <a:spLocks noChangeArrowheads="1"/>
          </p:cNvSpPr>
          <p:nvPr/>
        </p:nvSpPr>
        <p:spPr bwMode="auto">
          <a:xfrm>
            <a:off x="4724400" y="6400800"/>
            <a:ext cx="5105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198662" name="Rectangle 6"/>
          <p:cNvSpPr>
            <a:spLocks noChangeArrowheads="1"/>
          </p:cNvSpPr>
          <p:nvPr/>
        </p:nvSpPr>
        <p:spPr bwMode="auto">
          <a:xfrm>
            <a:off x="1905000" y="1828800"/>
            <a:ext cx="44958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838200" indent="-38100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76400" indent="-3048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95500" indent="-2667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527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30099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671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924300" indent="-2667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The longest path from the root to a leaf is:                  		       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n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(2/3)n  (2/3)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2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n  …  1</a:t>
            </a:r>
            <a:endParaRPr lang="en-US" altLang="en-US" sz="2000" baseline="30000">
              <a:solidFill>
                <a:schemeClr val="accent2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Subproblem size hits 1 when       1 =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(2/3)</a:t>
            </a:r>
            <a:r>
              <a:rPr lang="en-US" altLang="en-US" sz="2000" baseline="30000">
                <a:solidFill>
                  <a:schemeClr val="accent2"/>
                </a:solidFill>
                <a:latin typeface="Comic Sans MS" panose="030F0702030302020204" pitchFamily="66" charset="0"/>
              </a:rPr>
              <a:t>i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n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 i=log</a:t>
            </a:r>
            <a:r>
              <a:rPr lang="en-US" altLang="en-US" sz="2000" baseline="-25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3/2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endParaRPr lang="en-US" altLang="en-US" sz="20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Cost of the problem at level i =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n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Total cost: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00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00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sz="20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		 </a:t>
            </a:r>
            <a:r>
              <a:rPr lang="en-US" altLang="en-US" sz="2000">
                <a:solidFill>
                  <a:schemeClr val="accent2"/>
                </a:solidFill>
                <a:latin typeface="Comic Sans MS" panose="030F0702030302020204" pitchFamily="66" charset="0"/>
              </a:rPr>
              <a:t>W(n) = O(nlgn)</a:t>
            </a:r>
          </a:p>
        </p:txBody>
      </p:sp>
      <p:graphicFrame>
        <p:nvGraphicFramePr>
          <p:cNvPr id="198667" name="Object 11"/>
          <p:cNvGraphicFramePr>
            <a:graphicFrameLocks noChangeAspect="1"/>
          </p:cNvGraphicFramePr>
          <p:nvPr/>
        </p:nvGraphicFramePr>
        <p:xfrm>
          <a:off x="3163888" y="5792788"/>
          <a:ext cx="62166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97400" imgH="444500" progId="Equation.DSMT4">
                  <p:embed/>
                </p:oleObj>
              </mc:Choice>
              <mc:Fallback>
                <p:oleObj name="Equation" r:id="rId6" imgW="4597400" imgH="4445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5792788"/>
                        <a:ext cx="621665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0" grpId="0" build="p"/>
      <p:bldP spid="198662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325" y="287339"/>
            <a:ext cx="7543800" cy="7077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3 - Substitution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idx="1"/>
          </p:nvPr>
        </p:nvSpPr>
        <p:spPr>
          <a:xfrm>
            <a:off x="1874838" y="1255060"/>
            <a:ext cx="8229600" cy="5360054"/>
          </a:xfrm>
        </p:spPr>
        <p:txBody>
          <a:bodyPr/>
          <a:lstStyle/>
          <a:p>
            <a:pPr>
              <a:lnSpc>
                <a:spcPct val="110000"/>
              </a:lnSpc>
              <a:buFontTx/>
              <a:buNone/>
            </a:pPr>
            <a:r>
              <a:rPr lang="en-US" altLang="en-US" dirty="0">
                <a:latin typeface="Comic Sans MS" panose="030F0702030302020204" pitchFamily="66" charset="0"/>
              </a:rPr>
              <a:t>			W(n) = W(n/3) + W(2n/3) + O(n)</a:t>
            </a:r>
            <a:endParaRPr lang="en-US" altLang="en-US" baseline="30000" dirty="0">
              <a:latin typeface="Comic Sans MS" panose="030F0702030302020204" pitchFamily="66" charset="0"/>
            </a:endParaRPr>
          </a:p>
          <a:p>
            <a:pPr>
              <a:lnSpc>
                <a:spcPct val="110000"/>
              </a:lnSpc>
            </a:pPr>
            <a:r>
              <a:rPr lang="en-US" altLang="en-US" dirty="0"/>
              <a:t>Guess: </a:t>
            </a:r>
            <a:r>
              <a:rPr lang="en-US" altLang="en-US" dirty="0">
                <a:latin typeface="Comic Sans MS" panose="030F0702030302020204" pitchFamily="66" charset="0"/>
              </a:rPr>
              <a:t>W(n) = O(</a:t>
            </a:r>
            <a:r>
              <a:rPr lang="en-US" altLang="en-US" dirty="0" err="1">
                <a:latin typeface="Comic Sans MS" panose="030F0702030302020204" pitchFamily="66" charset="0"/>
              </a:rPr>
              <a:t>nlgn</a:t>
            </a:r>
            <a:r>
              <a:rPr lang="en-US" altLang="en-US" dirty="0">
                <a:latin typeface="Comic Sans MS" panose="030F0702030302020204" pitchFamily="66" charset="0"/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Induction goal: </a:t>
            </a:r>
            <a:r>
              <a:rPr lang="en-US" altLang="en-US" dirty="0">
                <a:latin typeface="Comic Sans MS" panose="030F0702030302020204" pitchFamily="66" charset="0"/>
              </a:rPr>
              <a:t>W(n)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 err="1">
                <a:latin typeface="Comic Sans MS" panose="030F0702030302020204" pitchFamily="66" charset="0"/>
              </a:rPr>
              <a:t>dnlgn</a:t>
            </a:r>
            <a:r>
              <a:rPr lang="en-US" altLang="en-US" dirty="0"/>
              <a:t>, for some </a:t>
            </a:r>
            <a:r>
              <a:rPr lang="en-US" altLang="en-US" dirty="0">
                <a:latin typeface="Comic Sans MS" panose="030F0702030302020204" pitchFamily="66" charset="0"/>
              </a:rPr>
              <a:t>d</a:t>
            </a:r>
            <a:r>
              <a:rPr lang="en-US" altLang="en-US" dirty="0"/>
              <a:t> and </a:t>
            </a:r>
            <a:r>
              <a:rPr lang="en-US" altLang="en-US" dirty="0">
                <a:latin typeface="Comic Sans MS" panose="030F0702030302020204" pitchFamily="66" charset="0"/>
              </a:rPr>
              <a:t>n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≥ n</a:t>
            </a:r>
            <a:r>
              <a:rPr lang="en-US" altLang="en-US" baseline="-25000" dirty="0">
                <a:latin typeface="Comic Sans MS" panose="030F0702030302020204" pitchFamily="66" charset="0"/>
                <a:cs typeface="Arial" panose="020B0604020202020204" pitchFamily="34" charset="0"/>
              </a:rPr>
              <a:t>0</a:t>
            </a:r>
            <a:endParaRPr lang="en-US" altLang="en-US" dirty="0"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dirty="0">
                <a:cs typeface="Arial" panose="020B0604020202020204" pitchFamily="34" charset="0"/>
              </a:rPr>
              <a:t>Induction</a:t>
            </a:r>
            <a:r>
              <a:rPr lang="en-US" altLang="en-US" dirty="0"/>
              <a:t> hypothesis: </a:t>
            </a:r>
            <a:r>
              <a:rPr lang="en-US" altLang="en-US" dirty="0">
                <a:latin typeface="Comic Sans MS" panose="030F0702030302020204" pitchFamily="66" charset="0"/>
              </a:rPr>
              <a:t>W(k) 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</a:rPr>
              <a:t>≤ </a:t>
            </a:r>
            <a:r>
              <a:rPr lang="en-US" altLang="en-US" dirty="0">
                <a:latin typeface="Comic Sans MS" panose="030F0702030302020204" pitchFamily="66" charset="0"/>
              </a:rPr>
              <a:t>d </a:t>
            </a:r>
            <a:r>
              <a:rPr lang="en-US" altLang="en-US" dirty="0" err="1">
                <a:latin typeface="Comic Sans MS" panose="030F0702030302020204" pitchFamily="66" charset="0"/>
              </a:rPr>
              <a:t>klgk</a:t>
            </a:r>
            <a:r>
              <a:rPr lang="en-US" altLang="en-US" dirty="0">
                <a:latin typeface="Comic Sans MS" panose="030F0702030302020204" pitchFamily="66" charset="0"/>
              </a:rPr>
              <a:t>     </a:t>
            </a:r>
            <a:r>
              <a:rPr lang="en-US" altLang="en-US" dirty="0"/>
              <a:t>for any</a:t>
            </a:r>
            <a:r>
              <a:rPr lang="en-US" altLang="en-US" dirty="0">
                <a:latin typeface="Comic Sans MS" panose="030F0702030302020204" pitchFamily="66" charset="0"/>
              </a:rPr>
              <a:t> K &lt; n (n/3, 2n/3)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Proof of induction goal:</a:t>
            </a:r>
          </a:p>
          <a:p>
            <a:pPr>
              <a:lnSpc>
                <a:spcPct val="110000"/>
              </a:lnSpc>
              <a:buFontTx/>
              <a:buNone/>
            </a:pPr>
            <a:r>
              <a:rPr lang="en-US" altLang="en-US" dirty="0"/>
              <a:t>		</a:t>
            </a:r>
            <a:r>
              <a:rPr lang="en-US" altLang="en-US" dirty="0">
                <a:solidFill>
                  <a:srgbClr val="CC0000"/>
                </a:solidFill>
                <a:latin typeface="Comic Sans MS" panose="030F0702030302020204" pitchFamily="66" charset="0"/>
              </a:rPr>
              <a:t>Try it out as an exercise!!</a:t>
            </a:r>
            <a:endParaRPr lang="en-US" altLang="en-US" dirty="0">
              <a:solidFill>
                <a:srgbClr val="CC000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O(</a:t>
            </a:r>
            <a:r>
              <a:rPr lang="en-US" altLang="en-US" dirty="0" err="1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nlgn</a:t>
            </a:r>
            <a:r>
              <a:rPr lang="en-US" altLang="en-US" dirty="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endParaRPr lang="en-US" altLang="en-US" dirty="0"/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ECDC3-1B5B-4DA9-8C59-9B343CFD3EB1}" type="slidenum">
              <a:rPr lang="en-US" altLang="en-US"/>
              <a:t>33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Master’s method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8488362" cy="5418137"/>
          </a:xfrm>
        </p:spPr>
        <p:txBody>
          <a:bodyPr rtlCol="0">
            <a:normAutofit lnSpcReduction="10000"/>
          </a:bodyPr>
          <a:lstStyle/>
          <a:p>
            <a:pPr marL="91440" indent="-91440">
              <a:defRPr/>
            </a:pP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“Cookbook” for solving recurrences of the form:</a:t>
            </a:r>
          </a:p>
          <a:p>
            <a:pPr marL="91440" indent="-91440">
              <a:defRPr/>
            </a:pPr>
            <a:endParaRPr lang="en-US" alt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>
              <a:defRPr/>
            </a:pPr>
            <a:endParaRPr lang="en-US" alt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>
              <a:buNone/>
              <a:defRPr/>
            </a:pP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			</a:t>
            </a:r>
          </a:p>
          <a:p>
            <a:pPr marL="91440" indent="-91440">
              <a:buNone/>
              <a:defRPr/>
            </a:pP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			where,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≥ 1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,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b &gt; 1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, and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f(n) &gt; 0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</a:p>
          <a:p>
            <a:pPr marL="91440" indent="-91440">
              <a:buNone/>
              <a:defRPr/>
            </a:pPr>
            <a:endParaRPr lang="en-US" altLang="en-US" sz="120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91440" indent="-91440" algn="ctr">
              <a:lnSpc>
                <a:spcPct val="150000"/>
              </a:lnSpc>
              <a:buNone/>
              <a:defRPr/>
            </a:pPr>
            <a:r>
              <a:rPr lang="en-US" altLang="en-US" sz="3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Idea:</a:t>
            </a:r>
            <a:r>
              <a:rPr lang="en-US" altLang="en-US" sz="3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compare </a:t>
            </a:r>
            <a:r>
              <a:rPr lang="en-US" altLang="en-US" sz="3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f(n) </a:t>
            </a:r>
            <a:r>
              <a:rPr lang="en-US" altLang="en-US" sz="3200">
                <a:solidFill>
                  <a:srgbClr val="003399"/>
                </a:solidFill>
                <a:cs typeface="Arial" panose="020B0604020202020204" pitchFamily="34" charset="0"/>
              </a:rPr>
              <a:t>with</a:t>
            </a:r>
            <a:r>
              <a:rPr lang="en-US" altLang="en-US" sz="3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altLang="en-US" sz="3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3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3200" baseline="3000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</a:p>
          <a:p>
            <a:pPr marL="91440" indent="-91440">
              <a:lnSpc>
                <a:spcPct val="150000"/>
              </a:lnSpc>
              <a:defRPr/>
            </a:pPr>
            <a:r>
              <a:rPr lang="en-US" altLang="en-US" sz="26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f(n)</a:t>
            </a:r>
            <a:r>
              <a:rPr lang="en-US" altLang="en-US" sz="260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  <a:r>
              <a:rPr lang="en-US" altLang="en-US" sz="2600">
                <a:solidFill>
                  <a:srgbClr val="003399"/>
                </a:solidFill>
                <a:cs typeface="Arial" panose="020B0604020202020204" pitchFamily="34" charset="0"/>
              </a:rPr>
              <a:t>is asymptotically smaller or larger than </a:t>
            </a:r>
            <a:r>
              <a:rPr lang="en-US" altLang="en-US" sz="3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3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600">
                <a:solidFill>
                  <a:srgbClr val="003399"/>
                </a:solidFill>
                <a:cs typeface="Arial" panose="020B0604020202020204" pitchFamily="34" charset="0"/>
              </a:rPr>
              <a:t> by a polynomial factor </a:t>
            </a:r>
            <a:r>
              <a:rPr lang="en-US" altLang="en-US" sz="26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n</a:t>
            </a:r>
            <a:r>
              <a:rPr lang="en-US" altLang="en-US" sz="2600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2600" baseline="30000">
                <a:solidFill>
                  <a:srgbClr val="00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en-US" sz="2600">
              <a:solidFill>
                <a:srgbClr val="DD0111"/>
              </a:solidFill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91440" indent="-91440">
              <a:lnSpc>
                <a:spcPct val="150000"/>
              </a:lnSpc>
              <a:defRPr/>
            </a:pPr>
            <a:r>
              <a:rPr lang="en-US" altLang="en-US" sz="26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</a:t>
            </a:r>
            <a:r>
              <a:rPr lang="en-US" altLang="en-US" sz="2600">
                <a:solidFill>
                  <a:srgbClr val="003399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is asymptotically equal with </a:t>
            </a:r>
            <a:r>
              <a:rPr lang="en-US" altLang="en-US" sz="3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3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3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</a:p>
        </p:txBody>
      </p:sp>
      <p:graphicFrame>
        <p:nvGraphicFramePr>
          <p:cNvPr id="3891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192589" y="1676401"/>
          <a:ext cx="28924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500" imgH="431800" progId="Equation.3">
                  <p:embed/>
                </p:oleObj>
              </mc:Choice>
              <mc:Fallback>
                <p:oleObj name="Equation" r:id="rId2" imgW="1333500" imgH="4318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9" y="1676401"/>
                        <a:ext cx="28924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C8A97CE-E6DE-4E5E-8B17-6D3A2AADF17E}" type="slidenum">
              <a:rPr lang="en-US" altLang="en-US"/>
              <a:t>34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Master’s method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8"/>
            <a:ext cx="8488362" cy="5262562"/>
          </a:xfrm>
        </p:spPr>
        <p:txBody>
          <a:bodyPr rtlCol="0">
            <a:normAutofit fontScale="92500" lnSpcReduction="10000"/>
          </a:bodyPr>
          <a:lstStyle/>
          <a:p>
            <a:pPr marL="91440" indent="-91440"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“Cookbook” for solving recurrences of the form:</a:t>
            </a:r>
          </a:p>
          <a:p>
            <a:pPr marL="91440" indent="-91440">
              <a:defRPr/>
            </a:pPr>
            <a:endParaRPr lang="en-US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>
              <a:defRPr/>
            </a:pPr>
            <a:endParaRPr lang="en-US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" indent="-91440">
              <a:buNone/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			</a:t>
            </a:r>
          </a:p>
          <a:p>
            <a:pPr marL="91440" indent="-91440">
              <a:buNone/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			where,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≥ 1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,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b &gt; 1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, and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f(n) &gt; 0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</a:p>
          <a:p>
            <a:pPr marL="91440" indent="-91440">
              <a:buNone/>
              <a:defRPr/>
            </a:pPr>
            <a:endParaRPr lang="en-US" altLang="en-US" sz="100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91440" indent="-91440">
              <a:lnSpc>
                <a:spcPct val="150000"/>
              </a:lnSpc>
              <a:buNone/>
              <a:defRPr/>
            </a:pPr>
            <a:r>
              <a:rPr lang="en-US" altLang="en-US" sz="2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Case 1: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if 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f(n) = O(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2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200" baseline="3000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-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)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for some 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 &gt; 0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, then: 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2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91440" indent="-91440">
              <a:lnSpc>
                <a:spcPct val="150000"/>
              </a:lnSpc>
              <a:buNone/>
              <a:defRPr/>
            </a:pPr>
            <a:r>
              <a:rPr lang="en-US" altLang="en-US" sz="2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Case 2: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if 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= (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2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then: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2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lgn)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 marL="91440" indent="-91440">
              <a:lnSpc>
                <a:spcPct val="150000"/>
              </a:lnSpc>
              <a:buNone/>
              <a:defRPr/>
            </a:pPr>
            <a:r>
              <a:rPr lang="en-US" altLang="en-US" sz="2200" b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Case 3: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if 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= (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2200" baseline="-25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 sz="2200" baseline="30000">
                <a:solidFill>
                  <a:srgbClr val="DD0111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+</a:t>
            </a:r>
            <a:r>
              <a:rPr lang="en-US" altLang="en-US" sz="2200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for some 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 &gt; 0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, and if </a:t>
            </a:r>
          </a:p>
          <a:p>
            <a:pPr marL="91440" indent="-91440">
              <a:lnSpc>
                <a:spcPct val="150000"/>
              </a:lnSpc>
              <a:buNone/>
              <a:defRPr/>
            </a:pP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af(n/b) ≤ cf(n)</a:t>
            </a: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 for some c &lt; 1 and all sufficiently large n, then:</a:t>
            </a:r>
          </a:p>
          <a:p>
            <a:pPr marL="91440" indent="-91440">
              <a:lnSpc>
                <a:spcPct val="150000"/>
              </a:lnSpc>
              <a:buNone/>
              <a:defRPr/>
            </a:pPr>
            <a:r>
              <a:rPr lang="en-US" altLang="en-US" sz="220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Symbol" panose="05050102010706020507" pitchFamily="18" charset="2"/>
              </a:rPr>
              <a:t>				</a:t>
            </a:r>
            <a:r>
              <a:rPr lang="en-US" altLang="en-US" sz="22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(f(n))</a:t>
            </a:r>
          </a:p>
        </p:txBody>
      </p:sp>
      <p:graphicFrame>
        <p:nvGraphicFramePr>
          <p:cNvPr id="3994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192589" y="1676401"/>
          <a:ext cx="28924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500" imgH="431800" progId="Equation.3">
                  <p:embed/>
                </p:oleObj>
              </mc:Choice>
              <mc:Fallback>
                <p:oleObj name="Equation" r:id="rId2" imgW="1333500" imgH="4318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9" y="1676401"/>
                        <a:ext cx="28924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66928D-8229-468C-BE5B-3FF9C1BED89B}" type="slidenum">
              <a:rPr lang="en-US" altLang="en-US"/>
              <a:t>35</a:t>
            </a:fld>
            <a:endParaRPr lang="en-US" altLang="en-US"/>
          </a:p>
        </p:txBody>
      </p:sp>
      <p:grpSp>
        <p:nvGrpSpPr>
          <p:cNvPr id="230405" name="Group 5"/>
          <p:cNvGrpSpPr/>
          <p:nvPr/>
        </p:nvGrpSpPr>
        <p:grpSpPr bwMode="auto">
          <a:xfrm>
            <a:off x="2217738" y="5529263"/>
            <a:ext cx="2101850" cy="900112"/>
            <a:chOff x="432" y="3456"/>
            <a:chExt cx="1324" cy="567"/>
          </a:xfrm>
        </p:grpSpPr>
        <p:sp>
          <p:nvSpPr>
            <p:cNvPr id="39943" name="Text Box 6"/>
            <p:cNvSpPr txBox="1">
              <a:spLocks noChangeArrowheads="1"/>
            </p:cNvSpPr>
            <p:nvPr/>
          </p:nvSpPr>
          <p:spPr bwMode="auto">
            <a:xfrm>
              <a:off x="432" y="3792"/>
              <a:ext cx="13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r>
                <a:rPr lang="en-US" altLang="en-US"/>
                <a:t>regularity condition</a:t>
              </a:r>
            </a:p>
          </p:txBody>
        </p:sp>
        <p:sp>
          <p:nvSpPr>
            <p:cNvPr id="39944" name="Freeform 7"/>
            <p:cNvSpPr/>
            <p:nvPr/>
          </p:nvSpPr>
          <p:spPr bwMode="auto">
            <a:xfrm>
              <a:off x="856" y="3456"/>
              <a:ext cx="104" cy="336"/>
            </a:xfrm>
            <a:custGeom>
              <a:avLst/>
              <a:gdLst>
                <a:gd name="T0" fmla="*/ 56 w 104"/>
                <a:gd name="T1" fmla="*/ 336 h 336"/>
                <a:gd name="T2" fmla="*/ 56 w 104"/>
                <a:gd name="T3" fmla="*/ 240 h 336"/>
                <a:gd name="T4" fmla="*/ 8 w 104"/>
                <a:gd name="T5" fmla="*/ 144 h 336"/>
                <a:gd name="T6" fmla="*/ 104 w 104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336">
                  <a:moveTo>
                    <a:pt x="56" y="336"/>
                  </a:moveTo>
                  <a:cubicBezTo>
                    <a:pt x="60" y="304"/>
                    <a:pt x="64" y="272"/>
                    <a:pt x="56" y="240"/>
                  </a:cubicBezTo>
                  <a:cubicBezTo>
                    <a:pt x="48" y="208"/>
                    <a:pt x="0" y="184"/>
                    <a:pt x="8" y="144"/>
                  </a:cubicBezTo>
                  <a:cubicBezTo>
                    <a:pt x="16" y="104"/>
                    <a:pt x="60" y="52"/>
                    <a:pt x="10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Why 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</a:t>
            </a:r>
            <a:r>
              <a:rPr lang="en-US" altLang="en-US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log</a:t>
            </a:r>
            <a:r>
              <a:rPr lang="en-US" altLang="en-US" baseline="-25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b</a:t>
            </a:r>
            <a:r>
              <a:rPr lang="en-US" altLang="en-US" baseline="3000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</a:t>
            </a: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?</a:t>
            </a:r>
          </a:p>
        </p:txBody>
      </p:sp>
      <p:graphicFrame>
        <p:nvGraphicFramePr>
          <p:cNvPr id="40963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8189913" y="177801"/>
          <a:ext cx="232251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500" imgH="431800" progId="Equation.3">
                  <p:embed/>
                </p:oleObj>
              </mc:Choice>
              <mc:Fallback>
                <p:oleObj name="Equation" r:id="rId2" imgW="1333500" imgH="431800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9913" y="177801"/>
                        <a:ext cx="2322512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05000" y="1219200"/>
          <a:ext cx="13716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431800" progId="Equation.3">
                  <p:embed/>
                </p:oleObj>
              </mc:Choice>
              <mc:Fallback>
                <p:oleObj name="Equation" r:id="rId4" imgW="914400" imgH="4318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219200"/>
                        <a:ext cx="13716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63C2F4D-5278-4DDE-96FE-B0DB5C75E171}" type="slidenum">
              <a:rPr lang="en-US" altLang="en-US"/>
              <a:t>36</a:t>
            </a:fld>
            <a:endParaRPr lang="en-US" altLang="en-US"/>
          </a:p>
        </p:txBody>
      </p:sp>
      <p:sp>
        <p:nvSpPr>
          <p:cNvPr id="231429" name="Rectangle 5"/>
          <p:cNvSpPr>
            <a:spLocks noChangeArrowheads="1"/>
          </p:cNvSpPr>
          <p:nvPr/>
        </p:nvSpPr>
        <p:spPr bwMode="auto">
          <a:xfrm>
            <a:off x="1874838" y="4379913"/>
            <a:ext cx="4483100" cy="191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400">
                <a:solidFill>
                  <a:schemeClr val="accent2"/>
                </a:solidFill>
                <a:latin typeface="Arial" panose="020B0604020202020204" pitchFamily="34" charset="0"/>
              </a:rPr>
              <a:t>Assume </a:t>
            </a:r>
            <a:r>
              <a:rPr lang="en-US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n = b</a:t>
            </a:r>
            <a:r>
              <a:rPr lang="en-US" altLang="en-US" sz="2400" baseline="30000">
                <a:solidFill>
                  <a:schemeClr val="accent2"/>
                </a:solidFill>
                <a:latin typeface="Comic Sans MS" panose="030F0702030302020204" pitchFamily="66" charset="0"/>
              </a:rPr>
              <a:t>k</a:t>
            </a:r>
            <a:r>
              <a:rPr lang="en-US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24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 k = log</a:t>
            </a:r>
            <a:r>
              <a:rPr lang="en-US" altLang="en-US" sz="2400" baseline="-25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24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40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At the end of iteration i = k:</a:t>
            </a:r>
          </a:p>
        </p:txBody>
      </p:sp>
      <p:graphicFrame>
        <p:nvGraphicFramePr>
          <p:cNvPr id="231430" name="Object 6"/>
          <p:cNvGraphicFramePr>
            <a:graphicFrameLocks noChangeAspect="1"/>
          </p:cNvGraphicFramePr>
          <p:nvPr/>
        </p:nvGraphicFramePr>
        <p:xfrm>
          <a:off x="2020888" y="5449889"/>
          <a:ext cx="5986462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13100" imgH="482600" progId="Equation.3">
                  <p:embed/>
                </p:oleObj>
              </mc:Choice>
              <mc:Fallback>
                <p:oleObj name="Equation" r:id="rId6" imgW="3213100" imgH="482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888" y="5449889"/>
                        <a:ext cx="5986462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1431" name="Group 7"/>
          <p:cNvGrpSpPr/>
          <p:nvPr/>
        </p:nvGrpSpPr>
        <p:grpSpPr bwMode="auto">
          <a:xfrm>
            <a:off x="2581276" y="1790700"/>
            <a:ext cx="1133475" cy="706438"/>
            <a:chOff x="666" y="1128"/>
            <a:chExt cx="714" cy="445"/>
          </a:xfrm>
        </p:grpSpPr>
        <p:graphicFrame>
          <p:nvGraphicFramePr>
            <p:cNvPr id="40976" name="Object 8"/>
            <p:cNvGraphicFramePr>
              <a:graphicFrameLocks noChangeAspect="1"/>
            </p:cNvGraphicFramePr>
            <p:nvPr/>
          </p:nvGraphicFramePr>
          <p:xfrm>
            <a:off x="815" y="1164"/>
            <a:ext cx="565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96900" imgH="431800" progId="Equation.3">
                    <p:embed/>
                  </p:oleObj>
                </mc:Choice>
                <mc:Fallback>
                  <p:oleObj name="Equation" r:id="rId8" imgW="596900" imgH="4318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" y="1164"/>
                          <a:ext cx="565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7" name="AutoShape 9"/>
            <p:cNvSpPr/>
            <p:nvPr/>
          </p:nvSpPr>
          <p:spPr bwMode="auto">
            <a:xfrm rot="-5400000">
              <a:off x="828" y="966"/>
              <a:ext cx="96" cy="420"/>
            </a:xfrm>
            <a:prstGeom prst="leftBrace">
              <a:avLst>
                <a:gd name="adj1" fmla="val 36458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endParaRPr lang="en-IN" altLang="en-US"/>
            </a:p>
          </p:txBody>
        </p:sp>
      </p:grpSp>
      <p:grpSp>
        <p:nvGrpSpPr>
          <p:cNvPr id="231434" name="Group 10"/>
          <p:cNvGrpSpPr/>
          <p:nvPr/>
        </p:nvGrpSpPr>
        <p:grpSpPr bwMode="auto">
          <a:xfrm>
            <a:off x="2832100" y="2433639"/>
            <a:ext cx="1149350" cy="739775"/>
            <a:chOff x="824" y="1533"/>
            <a:chExt cx="724" cy="466"/>
          </a:xfrm>
        </p:grpSpPr>
        <p:graphicFrame>
          <p:nvGraphicFramePr>
            <p:cNvPr id="40974" name="Object 11"/>
            <p:cNvGraphicFramePr>
              <a:graphicFrameLocks noChangeAspect="1"/>
            </p:cNvGraphicFramePr>
            <p:nvPr/>
          </p:nvGraphicFramePr>
          <p:xfrm>
            <a:off x="995" y="1590"/>
            <a:ext cx="553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584200" imgH="431800" progId="Equation.3">
                    <p:embed/>
                  </p:oleObj>
                </mc:Choice>
                <mc:Fallback>
                  <p:oleObj name="Equation" r:id="rId10" imgW="584200" imgH="4318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1590"/>
                          <a:ext cx="553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5" name="AutoShape 12"/>
            <p:cNvSpPr/>
            <p:nvPr/>
          </p:nvSpPr>
          <p:spPr bwMode="auto">
            <a:xfrm rot="-5400000">
              <a:off x="1049" y="1308"/>
              <a:ext cx="90" cy="539"/>
            </a:xfrm>
            <a:prstGeom prst="leftBrace">
              <a:avLst>
                <a:gd name="adj1" fmla="val 4990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eaLnBrk="1" hangingPunct="1"/>
              <a:endParaRPr lang="en-IN" altLang="en-US"/>
            </a:p>
          </p:txBody>
        </p:sp>
      </p:grpSp>
      <p:grpSp>
        <p:nvGrpSpPr>
          <p:cNvPr id="231437" name="Group 13"/>
          <p:cNvGrpSpPr/>
          <p:nvPr/>
        </p:nvGrpSpPr>
        <p:grpSpPr bwMode="auto">
          <a:xfrm>
            <a:off x="3086100" y="3173413"/>
            <a:ext cx="1924050" cy="868362"/>
            <a:chOff x="984" y="1999"/>
            <a:chExt cx="1212" cy="547"/>
          </a:xfrm>
        </p:grpSpPr>
        <p:graphicFrame>
          <p:nvGraphicFramePr>
            <p:cNvPr id="40972" name="Object 14"/>
            <p:cNvGraphicFramePr>
              <a:graphicFrameLocks noChangeAspect="1"/>
            </p:cNvGraphicFramePr>
            <p:nvPr/>
          </p:nvGraphicFramePr>
          <p:xfrm>
            <a:off x="984" y="2137"/>
            <a:ext cx="1212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82700" imgH="431800" progId="Equation.3">
                    <p:embed/>
                  </p:oleObj>
                </mc:Choice>
                <mc:Fallback>
                  <p:oleObj name="Equation" r:id="rId12" imgW="1282700" imgH="4318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4" y="2137"/>
                          <a:ext cx="1212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3" name="Line 15"/>
            <p:cNvSpPr>
              <a:spLocks noChangeShapeType="1"/>
            </p:cNvSpPr>
            <p:nvPr/>
          </p:nvSpPr>
          <p:spPr bwMode="auto">
            <a:xfrm>
              <a:off x="1355" y="1999"/>
              <a:ext cx="0" cy="164"/>
            </a:xfrm>
            <a:prstGeom prst="line">
              <a:avLst/>
            </a:prstGeom>
            <a:noFill/>
            <a:ln w="25400" cap="rnd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1440" name="Rectangle 16"/>
          <p:cNvSpPr>
            <a:spLocks noChangeArrowheads="1"/>
          </p:cNvSpPr>
          <p:nvPr/>
        </p:nvSpPr>
        <p:spPr bwMode="auto">
          <a:xfrm>
            <a:off x="6354763" y="1146176"/>
            <a:ext cx="3854450" cy="440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</a:rPr>
              <a:t>Case 1: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Tx/>
              <a:buChar char="–"/>
            </a:pP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f(n) 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is dominated by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baseline="30000"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baseline="-25000"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baseline="30000"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6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T(n) = (n</a:t>
            </a:r>
            <a:r>
              <a:rPr lang="en-US" altLang="en-US" sz="1600" baseline="30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1600" baseline="-25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1600" baseline="30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sz="16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endParaRPr lang="en-US" altLang="en-US" sz="1600">
              <a:solidFill>
                <a:schemeClr val="accent2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Case 3: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Tx/>
              <a:buChar char="–"/>
            </a:pP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f(n)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 dominates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n</a:t>
            </a:r>
            <a:r>
              <a:rPr lang="en-US" altLang="en-US" baseline="30000"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baseline="-25000"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baseline="30000"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6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T(n) = (f(n))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endParaRPr lang="en-US" altLang="en-US" sz="1600">
              <a:solidFill>
                <a:schemeClr val="accent2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>
                <a:solidFill>
                  <a:schemeClr val="accent2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Case 2:</a:t>
            </a: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Tx/>
              <a:buChar char="–"/>
            </a:pP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If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f(n)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(n</a:t>
            </a:r>
            <a:r>
              <a:rPr lang="en-US" altLang="en-US" baseline="30000"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baseline="-25000"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baseline="30000">
                <a:latin typeface="Comic Sans MS" panose="030F0702030302020204" pitchFamily="66" charset="0"/>
                <a:sym typeface="Symbol" panose="05050102010706020507" pitchFamily="18" charset="2"/>
              </a:rPr>
              <a:t>a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  <a:r>
              <a:rPr lang="en-US" altLang="en-US">
                <a:latin typeface="Arial" panose="020B0604020202020204" pitchFamily="34" charset="0"/>
                <a:sym typeface="Symbol" panose="05050102010706020507" pitchFamily="18" charset="2"/>
              </a:rPr>
              <a:t>:</a:t>
            </a:r>
          </a:p>
          <a:p>
            <a:pPr lvl="2" eaLnBrk="1" hangingPunct="1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16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T(n) = (n</a:t>
            </a:r>
            <a:r>
              <a:rPr lang="en-US" altLang="en-US" sz="1600" baseline="30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sz="1600" baseline="-25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</a:t>
            </a:r>
            <a:r>
              <a:rPr lang="en-US" altLang="en-US" sz="1600" baseline="300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 </a:t>
            </a:r>
            <a:r>
              <a:rPr lang="en-US" altLang="en-US" sz="1600">
                <a:solidFill>
                  <a:schemeClr val="accent2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logn)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Examples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8412162" cy="5076825"/>
          </a:xfrm>
        </p:spPr>
        <p:txBody>
          <a:bodyPr/>
          <a:lstStyle/>
          <a:p>
            <a:pPr algn="ctr">
              <a:lnSpc>
                <a:spcPct val="20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T(n) = 2T(n/2) + n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	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a = 2, b = 2, log</a:t>
            </a:r>
            <a:r>
              <a:rPr lang="en-US" altLang="en-US" baseline="-25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 = 1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Compare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log</a:t>
            </a:r>
            <a:r>
              <a:rPr lang="en-US" altLang="en-US" baseline="-25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with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= n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 f(n) = (n) 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Case 2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(nlgn)</a:t>
            </a: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9B348CF-DF17-4327-B214-00E115A9E22A}" type="slidenum">
              <a:rPr lang="en-US" altLang="en-US"/>
              <a:t>37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1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Examples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8412162" cy="5076825"/>
          </a:xfrm>
        </p:spPr>
        <p:txBody>
          <a:bodyPr/>
          <a:lstStyle/>
          <a:p>
            <a:pPr algn="ctr">
              <a:lnSpc>
                <a:spcPct val="130000"/>
              </a:lnSpc>
              <a:buFontTx/>
              <a:buNone/>
            </a:pP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2T(n/2) + n</a:t>
            </a:r>
            <a:r>
              <a:rPr lang="en-US" altLang="en-US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		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a = 2, b = 2, log</a:t>
            </a:r>
            <a:r>
              <a:rPr lang="en-US" altLang="en-US" baseline="-25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 = 1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Compare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with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= n</a:t>
            </a:r>
            <a:r>
              <a:rPr lang="en-US" altLang="en-US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 f(n) = (n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1+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 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Case 3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</a:t>
            </a:r>
            <a:r>
              <a:rPr lang="en-US" altLang="en-US" sz="2400">
                <a:cs typeface="Arial" panose="020B0604020202020204" pitchFamily="34" charset="0"/>
                <a:sym typeface="Symbol" panose="05050102010706020507" pitchFamily="18" charset="2"/>
              </a:rPr>
              <a:t>verify regularity cond.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a f(n/b) ≤ c f(n) 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 2 n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/4 ≤ c n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 c = ½ 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is a solution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(c&lt;1)</a:t>
            </a:r>
          </a:p>
          <a:p>
            <a:pPr>
              <a:lnSpc>
                <a:spcPct val="13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 </a:t>
            </a:r>
            <a:r>
              <a:rPr lang="en-US" altLang="en-US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(n</a:t>
            </a:r>
            <a:r>
              <a:rPr lang="en-US" altLang="en-US" baseline="30000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3D8673-908A-44B8-85A7-2C0114F77DBD}" type="slidenum">
              <a:rPr lang="en-US" altLang="en-US"/>
              <a:t>38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Examples (cont.)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74838" y="1214439"/>
            <a:ext cx="8412162" cy="5076825"/>
          </a:xfrm>
        </p:spPr>
        <p:txBody>
          <a:bodyPr/>
          <a:lstStyle/>
          <a:p>
            <a:pPr algn="ctr">
              <a:lnSpc>
                <a:spcPct val="200000"/>
              </a:lnSpc>
              <a:buFontTx/>
              <a:buNone/>
            </a:pPr>
            <a:r>
              <a:rPr lang="en-US" altLang="en-US" sz="24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2T(n/2) + 		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a = 2, b = 2, log</a:t>
            </a:r>
            <a:r>
              <a:rPr lang="en-US" altLang="en-US" baseline="-25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 = 1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Compare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n 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with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f(n) = n</a:t>
            </a:r>
            <a:r>
              <a:rPr lang="en-US" altLang="en-US" baseline="30000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1/2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 f(n) = O(n</a:t>
            </a:r>
            <a:r>
              <a:rPr lang="en-US" altLang="en-US" baseline="30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1-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) 	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Case 1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20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 </a:t>
            </a:r>
            <a:r>
              <a:rPr lang="en-US" altLang="en-US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(n)</a:t>
            </a:r>
          </a:p>
        </p:txBody>
      </p:sp>
      <p:graphicFrame>
        <p:nvGraphicFramePr>
          <p:cNvPr id="4403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891339" y="1473200"/>
          <a:ext cx="630237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300" imgH="228600" progId="Equation.3">
                  <p:embed/>
                </p:oleObj>
              </mc:Choice>
              <mc:Fallback>
                <p:oleObj name="Equation" r:id="rId2" imgW="241300" imgH="2286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1339" y="1473200"/>
                        <a:ext cx="630237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08FF10-45D0-4C41-81B0-0DD2D21F3327}" type="slidenum">
              <a:rPr lang="en-US" altLang="en-US"/>
              <a:t>39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3600">
                <a:solidFill>
                  <a:schemeClr val="tx1">
                    <a:lumMod val="75000"/>
                    <a:lumOff val="25000"/>
                  </a:schemeClr>
                </a:solidFill>
              </a:rPr>
              <a:t>Examples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idx="1"/>
          </p:nvPr>
        </p:nvSpPr>
        <p:spPr>
          <a:xfrm>
            <a:off x="1874838" y="1119189"/>
            <a:ext cx="8456612" cy="5703887"/>
          </a:xfrm>
        </p:spPr>
        <p:txBody>
          <a:bodyPr/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</a:rPr>
              <a:t>T(n) = 3T(n/4) + nlgn	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a = 3, b = 4, log</a:t>
            </a:r>
            <a:r>
              <a:rPr lang="en-US" altLang="en-US" baseline="-25000">
                <a:solidFill>
                  <a:schemeClr val="tx1"/>
                </a:solidFill>
                <a:latin typeface="Comic Sans MS" panose="030F0702030302020204" pitchFamily="66" charset="0"/>
              </a:rPr>
              <a:t>4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3 = 0.793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US" altLang="en-US">
                <a:solidFill>
                  <a:schemeClr val="tx1"/>
                </a:solidFill>
              </a:rPr>
              <a:t>Compare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>
                <a:latin typeface="Comic Sans MS" panose="030F0702030302020204" pitchFamily="66" charset="0"/>
              </a:rPr>
              <a:t>n</a:t>
            </a:r>
            <a:r>
              <a:rPr lang="en-US" altLang="en-US" baseline="30000">
                <a:latin typeface="Comic Sans MS" panose="030F0702030302020204" pitchFamily="66" charset="0"/>
              </a:rPr>
              <a:t>0.793</a:t>
            </a:r>
            <a:r>
              <a:rPr lang="en-US" altLang="en-US">
                <a:solidFill>
                  <a:schemeClr val="tx1"/>
                </a:solidFill>
              </a:rPr>
              <a:t> with</a:t>
            </a:r>
            <a:r>
              <a:rPr lang="en-US" altLang="en-US"/>
              <a:t> </a:t>
            </a:r>
            <a:r>
              <a:rPr lang="en-US" altLang="en-US">
                <a:latin typeface="Comic Sans MS" panose="030F0702030302020204" pitchFamily="66" charset="0"/>
              </a:rPr>
              <a:t>f(n) = nlgn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</a:rPr>
              <a:t>	f(n) = 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(n</a:t>
            </a:r>
            <a:r>
              <a:rPr lang="en-US" altLang="en-US" baseline="30000">
                <a:latin typeface="Comic Sans MS" panose="030F0702030302020204" pitchFamily="66" charset="0"/>
                <a:sym typeface="Symbol" panose="05050102010706020507" pitchFamily="18" charset="2"/>
              </a:rPr>
              <a:t>log</a:t>
            </a:r>
            <a:r>
              <a:rPr lang="en-US" altLang="en-US" baseline="-25000">
                <a:latin typeface="Comic Sans MS" panose="030F0702030302020204" pitchFamily="66" charset="0"/>
                <a:sym typeface="Symbol" panose="05050102010706020507" pitchFamily="18" charset="2"/>
              </a:rPr>
              <a:t>4</a:t>
            </a:r>
            <a:r>
              <a:rPr lang="en-US" altLang="en-US" baseline="30000">
                <a:latin typeface="Comic Sans MS" panose="030F0702030302020204" pitchFamily="66" charset="0"/>
                <a:sym typeface="Symbol" panose="05050102010706020507" pitchFamily="18" charset="2"/>
              </a:rPr>
              <a:t>3+</a:t>
            </a:r>
            <a:r>
              <a:rPr lang="en-US" altLang="en-US"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  <a:r>
              <a:rPr lang="en-US" altLang="en-US">
                <a:sym typeface="Symbol" panose="05050102010706020507" pitchFamily="18" charset="2"/>
              </a:rPr>
              <a:t>  </a:t>
            </a: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Case 3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Check regularity condition: 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>
                <a:cs typeface="Arial" panose="020B0604020202020204" pitchFamily="34" charset="0"/>
                <a:sym typeface="Symbol" panose="05050102010706020507" pitchFamily="18" charset="2"/>
              </a:rPr>
              <a:t>		</a:t>
            </a: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3(n/4)lg(n/4) ≤ (3/4)nlgn = c f(n), c=3/4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en-US">
                <a:solidFill>
                  <a:srgbClr val="DD011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(nlgn)</a:t>
            </a:r>
            <a:endParaRPr lang="en-US" altLang="en-US">
              <a:latin typeface="Comic Sans MS" panose="030F0702030302020204" pitchFamily="66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59BBC1-7719-4D27-965E-5CC4F65C912A}" type="slidenum">
              <a:rPr lang="en-US" altLang="en-US"/>
              <a:t>40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3600">
                <a:solidFill>
                  <a:schemeClr val="tx1">
                    <a:lumMod val="75000"/>
                    <a:lumOff val="25000"/>
                  </a:schemeClr>
                </a:solidFill>
              </a:rPr>
              <a:t>Examples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idx="1"/>
          </p:nvPr>
        </p:nvSpPr>
        <p:spPr>
          <a:xfrm>
            <a:off x="1874838" y="1119189"/>
            <a:ext cx="8456612" cy="4903787"/>
          </a:xfrm>
        </p:spPr>
        <p:txBody>
          <a:bodyPr/>
          <a:lstStyle/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T(n) = 2T(n/2) + nlgn	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en-US"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a = 2, b = 2, log</a:t>
            </a:r>
            <a:r>
              <a:rPr lang="en-US" altLang="en-US" baseline="-25000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cs typeface="Arial" panose="020B0604020202020204" pitchFamily="34" charset="0"/>
                <a:sym typeface="Symbol" panose="05050102010706020507" pitchFamily="18" charset="2"/>
              </a:rPr>
              <a:t>2 = 1</a:t>
            </a: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Compare </a:t>
            </a:r>
            <a:r>
              <a:rPr lang="en-US" altLang="en-US">
                <a:solidFill>
                  <a:srgbClr val="003399"/>
                </a:solidFill>
                <a:latin typeface="Comic Sans MS" panose="030F0702030302020204" pitchFamily="66" charset="0"/>
              </a:rPr>
              <a:t>n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 with </a:t>
            </a:r>
            <a:r>
              <a:rPr lang="en-US" altLang="en-US">
                <a:solidFill>
                  <a:srgbClr val="003399"/>
                </a:solidFill>
                <a:latin typeface="Comic Sans MS" panose="030F0702030302020204" pitchFamily="66" charset="0"/>
              </a:rPr>
              <a:t>f(n) = nlgn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endParaRPr lang="en-US" altLang="en-US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en-US"/>
              <a:t>seems like case 3 should apply</a:t>
            </a: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chemeClr val="tx1"/>
                </a:solidFill>
              </a:rPr>
              <a:t>f(n) must be polynomially larger by a factor of n</a:t>
            </a:r>
            <a:r>
              <a:rPr lang="en-US" altLang="en-US" baseline="30000">
                <a:solidFill>
                  <a:schemeClr val="tx1"/>
                </a:solidFill>
                <a:sym typeface="Symbol" panose="05050102010706020507" pitchFamily="18" charset="2"/>
              </a:rPr>
              <a:t></a:t>
            </a:r>
            <a:endParaRPr lang="en-US" altLang="en-US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solidFill>
                  <a:schemeClr val="tx1"/>
                </a:solidFill>
                <a:sym typeface="Symbol" panose="05050102010706020507" pitchFamily="18" charset="2"/>
              </a:rPr>
              <a:t>In this case it is only larger by a factor of </a:t>
            </a:r>
            <a:r>
              <a:rPr lang="en-US" altLang="en-US">
                <a:solidFill>
                  <a:schemeClr val="tx1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lgn</a:t>
            </a:r>
          </a:p>
        </p:txBody>
      </p:sp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AC6CAF-5DC0-4685-9B77-8081B3BCE1A3}" type="slidenum">
              <a:rPr lang="en-US" altLang="en-US"/>
              <a:t>41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210CB4-1323-4709-AFAB-22C611760A28}" type="slidenum">
              <a:rPr lang="en-US" altLang="en-US"/>
              <a:t>42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3928</Words>
  <Application>Microsoft Office PowerPoint</Application>
  <PresentationFormat>Widescreen</PresentationFormat>
  <Paragraphs>500</Paragraphs>
  <Slides>42</Slides>
  <Notes>6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Arial</vt:lpstr>
      <vt:lpstr>Calibri</vt:lpstr>
      <vt:lpstr>Calibri Light</vt:lpstr>
      <vt:lpstr>Comic Sans MS</vt:lpstr>
      <vt:lpstr>Monotype Corsiva</vt:lpstr>
      <vt:lpstr>Symbol</vt:lpstr>
      <vt:lpstr>Times New Roman</vt:lpstr>
      <vt:lpstr>Wingdings</vt:lpstr>
      <vt:lpstr>Office Theme</vt:lpstr>
      <vt:lpstr>Equation</vt:lpstr>
      <vt:lpstr>Paint Shop Pro Image</vt:lpstr>
      <vt:lpstr>MODULE 2</vt:lpstr>
      <vt:lpstr>Brute Force</vt:lpstr>
      <vt:lpstr>Brute-Force Sorting Algorithm</vt:lpstr>
      <vt:lpstr>Analysis of Selection Sort</vt:lpstr>
      <vt:lpstr>Brute-Force String Matching</vt:lpstr>
      <vt:lpstr>Examples of Brute-Force String Matching</vt:lpstr>
      <vt:lpstr>Pseudocode and Efficiency</vt:lpstr>
      <vt:lpstr>Brute-Force Strengths and Weaknesses</vt:lpstr>
      <vt:lpstr>Traveling Salesman Problem</vt:lpstr>
      <vt:lpstr>Analysis of Algorithms</vt:lpstr>
      <vt:lpstr>Recurrences and Running Time</vt:lpstr>
      <vt:lpstr>Example Recurrences</vt:lpstr>
      <vt:lpstr>Recurrent Algorithms BINARY-SEARCH</vt:lpstr>
      <vt:lpstr>Example</vt:lpstr>
      <vt:lpstr>Another Example</vt:lpstr>
      <vt:lpstr>Analysis of BINARY-SEARCH</vt:lpstr>
      <vt:lpstr>Methods for Solving Recurrences</vt:lpstr>
      <vt:lpstr>The Iteration Method</vt:lpstr>
      <vt:lpstr>The Iteration Method</vt:lpstr>
      <vt:lpstr>Iteration Method – Example</vt:lpstr>
      <vt:lpstr>The substitution method</vt:lpstr>
      <vt:lpstr>Substitution method</vt:lpstr>
      <vt:lpstr>Example: Binary Search</vt:lpstr>
      <vt:lpstr>Example 2</vt:lpstr>
      <vt:lpstr>Example 3</vt:lpstr>
      <vt:lpstr>Changing variables</vt:lpstr>
      <vt:lpstr>The recursion-tree method</vt:lpstr>
      <vt:lpstr>Example 1</vt:lpstr>
      <vt:lpstr>Example 2</vt:lpstr>
      <vt:lpstr>Example 2 - Substitution</vt:lpstr>
      <vt:lpstr>Example 3 (simpler proof)</vt:lpstr>
      <vt:lpstr>Example 3</vt:lpstr>
      <vt:lpstr>Example 3 - Substitution</vt:lpstr>
      <vt:lpstr>Master’s method</vt:lpstr>
      <vt:lpstr>Master’s method</vt:lpstr>
      <vt:lpstr>Why nlogba?</vt:lpstr>
      <vt:lpstr>Examples</vt:lpstr>
      <vt:lpstr>Examples</vt:lpstr>
      <vt:lpstr>Examples (cont.)</vt:lpstr>
      <vt:lpstr>Examples</vt:lpstr>
      <vt:lpstr>Examples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</dc:title>
  <dc:creator>Bharath I S</dc:creator>
  <cp:lastModifiedBy>vegi fernando</cp:lastModifiedBy>
  <cp:revision>6</cp:revision>
  <dcterms:created xsi:type="dcterms:W3CDTF">2024-03-13T15:09:00Z</dcterms:created>
  <dcterms:modified xsi:type="dcterms:W3CDTF">2024-03-18T06:21:05Z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CDC661C1175E4D51B8630CB1EB60F8A6_12</vt:lpwstr>
  </property>
  <property fmtid="{D5CDD505-2E9C-101B-9397-08002B2CF9AE}" pid="3" name="KSOProductBuildVer">
    <vt:lpwstr>1033-12.2.0.13489</vt:lpwstr>
  </property>
</Properties>
</file>