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media/image32.jpg" ContentType="image/jpg"/>
  <Override PartName="/ppt/media/image46.jpg" ContentType="image/jpg"/>
  <Override PartName="/ppt/media/image47.jpg" ContentType="image/jpg"/>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76"/>
  </p:notesMasterIdLst>
  <p:sldIdLst>
    <p:sldId id="256" r:id="rId2"/>
    <p:sldId id="409" r:id="rId3"/>
    <p:sldId id="410" r:id="rId4"/>
    <p:sldId id="411" r:id="rId5"/>
    <p:sldId id="413" r:id="rId6"/>
    <p:sldId id="412" r:id="rId7"/>
    <p:sldId id="414" r:id="rId8"/>
    <p:sldId id="415" r:id="rId9"/>
    <p:sldId id="417" r:id="rId10"/>
    <p:sldId id="418" r:id="rId11"/>
    <p:sldId id="419" r:id="rId12"/>
    <p:sldId id="416" r:id="rId13"/>
    <p:sldId id="485" r:id="rId14"/>
    <p:sldId id="420" r:id="rId15"/>
    <p:sldId id="431" r:id="rId16"/>
    <p:sldId id="432" r:id="rId17"/>
    <p:sldId id="486" r:id="rId18"/>
    <p:sldId id="487" r:id="rId19"/>
    <p:sldId id="488" r:id="rId20"/>
    <p:sldId id="489" r:id="rId21"/>
    <p:sldId id="490" r:id="rId22"/>
    <p:sldId id="491" r:id="rId23"/>
    <p:sldId id="492" r:id="rId24"/>
    <p:sldId id="493" r:id="rId25"/>
    <p:sldId id="494" r:id="rId26"/>
    <p:sldId id="495" r:id="rId27"/>
    <p:sldId id="496" r:id="rId28"/>
    <p:sldId id="497" r:id="rId29"/>
    <p:sldId id="498" r:id="rId30"/>
    <p:sldId id="499" r:id="rId31"/>
    <p:sldId id="500" r:id="rId32"/>
    <p:sldId id="501" r:id="rId33"/>
    <p:sldId id="502" r:id="rId34"/>
    <p:sldId id="503" r:id="rId35"/>
    <p:sldId id="504" r:id="rId36"/>
    <p:sldId id="506" r:id="rId37"/>
    <p:sldId id="507" r:id="rId38"/>
    <p:sldId id="534" r:id="rId39"/>
    <p:sldId id="535" r:id="rId40"/>
    <p:sldId id="536" r:id="rId41"/>
    <p:sldId id="537" r:id="rId42"/>
    <p:sldId id="538" r:id="rId43"/>
    <p:sldId id="539" r:id="rId44"/>
    <p:sldId id="540" r:id="rId45"/>
    <p:sldId id="508" r:id="rId46"/>
    <p:sldId id="509" r:id="rId47"/>
    <p:sldId id="541" r:id="rId48"/>
    <p:sldId id="510" r:id="rId49"/>
    <p:sldId id="542" r:id="rId50"/>
    <p:sldId id="543" r:id="rId51"/>
    <p:sldId id="544" r:id="rId52"/>
    <p:sldId id="545" r:id="rId53"/>
    <p:sldId id="546" r:id="rId54"/>
    <p:sldId id="547" r:id="rId55"/>
    <p:sldId id="548" r:id="rId56"/>
    <p:sldId id="549" r:id="rId57"/>
    <p:sldId id="511" r:id="rId58"/>
    <p:sldId id="512" r:id="rId59"/>
    <p:sldId id="513" r:id="rId60"/>
    <p:sldId id="514" r:id="rId61"/>
    <p:sldId id="515" r:id="rId62"/>
    <p:sldId id="516" r:id="rId63"/>
    <p:sldId id="517" r:id="rId64"/>
    <p:sldId id="518" r:id="rId65"/>
    <p:sldId id="519" r:id="rId66"/>
    <p:sldId id="520" r:id="rId67"/>
    <p:sldId id="521" r:id="rId68"/>
    <p:sldId id="522" r:id="rId69"/>
    <p:sldId id="523" r:id="rId70"/>
    <p:sldId id="524" r:id="rId71"/>
    <p:sldId id="525" r:id="rId72"/>
    <p:sldId id="526" r:id="rId73"/>
    <p:sldId id="505" r:id="rId74"/>
    <p:sldId id="329" r:id="rId7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520" autoAdjust="0"/>
    <p:restoredTop sz="94660"/>
  </p:normalViewPr>
  <p:slideViewPr>
    <p:cSldViewPr snapToGrid="0">
      <p:cViewPr varScale="1">
        <p:scale>
          <a:sx n="62" d="100"/>
          <a:sy n="62" d="100"/>
        </p:scale>
        <p:origin x="964" y="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notesMaster" Target="notesMasters/notesMaster1.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3EAEDB3-D91B-4AAE-BA7E-75D173E84930}" type="doc">
      <dgm:prSet loTypeId="urn:diagrams.loki3.com/VaryingWidthList" loCatId="officeonline" qsTypeId="urn:microsoft.com/office/officeart/2005/8/quickstyle/simple1" qsCatId="simple" csTypeId="urn:microsoft.com/office/officeart/2005/8/colors/accent1_2" csCatId="accent1" phldr="1"/>
      <dgm:spPr/>
    </dgm:pt>
    <dgm:pt modelId="{1AAD87F3-AF88-492D-9897-7D278B02C7EB}">
      <dgm:prSet phldrT="[Text]"/>
      <dgm:spPr/>
      <dgm:t>
        <a:bodyPr/>
        <a:lstStyle/>
        <a:p>
          <a:r>
            <a:rPr lang="en-IN" dirty="0"/>
            <a:t>Breadth first search </a:t>
          </a:r>
          <a:endParaRPr lang="en-US" dirty="0"/>
        </a:p>
      </dgm:t>
    </dgm:pt>
    <dgm:pt modelId="{F63E2B6B-31C8-43AE-8CA4-4934A40AF602}" type="parTrans" cxnId="{80E5799E-1E4F-4E03-8A37-F58502B7E781}">
      <dgm:prSet/>
      <dgm:spPr/>
      <dgm:t>
        <a:bodyPr/>
        <a:lstStyle/>
        <a:p>
          <a:endParaRPr lang="en-US"/>
        </a:p>
      </dgm:t>
    </dgm:pt>
    <dgm:pt modelId="{E1C1109A-5DF3-4D6F-B300-7CF1777CF928}" type="sibTrans" cxnId="{80E5799E-1E4F-4E03-8A37-F58502B7E781}">
      <dgm:prSet/>
      <dgm:spPr/>
      <dgm:t>
        <a:bodyPr/>
        <a:lstStyle/>
        <a:p>
          <a:endParaRPr lang="en-US"/>
        </a:p>
      </dgm:t>
    </dgm:pt>
    <dgm:pt modelId="{23B6B083-667D-43B4-84CB-14FEFF171B7D}">
      <dgm:prSet phldrT="[Text]"/>
      <dgm:spPr/>
      <dgm:t>
        <a:bodyPr/>
        <a:lstStyle/>
        <a:p>
          <a:r>
            <a:rPr lang="en-IN" dirty="0"/>
            <a:t>Depth first search </a:t>
          </a:r>
          <a:endParaRPr lang="en-US" dirty="0"/>
        </a:p>
      </dgm:t>
    </dgm:pt>
    <dgm:pt modelId="{FB1D3546-A5A5-4924-AF47-0A4466432F89}" type="parTrans" cxnId="{5D13F7AD-9A5D-4767-9CFB-0B6BAC95EBC8}">
      <dgm:prSet/>
      <dgm:spPr/>
      <dgm:t>
        <a:bodyPr/>
        <a:lstStyle/>
        <a:p>
          <a:endParaRPr lang="en-US"/>
        </a:p>
      </dgm:t>
    </dgm:pt>
    <dgm:pt modelId="{F61B55A2-DD00-44DE-B714-D92E348B498E}" type="sibTrans" cxnId="{5D13F7AD-9A5D-4767-9CFB-0B6BAC95EBC8}">
      <dgm:prSet/>
      <dgm:spPr/>
      <dgm:t>
        <a:bodyPr/>
        <a:lstStyle/>
        <a:p>
          <a:endParaRPr lang="en-US"/>
        </a:p>
      </dgm:t>
    </dgm:pt>
    <dgm:pt modelId="{D1F22417-7A26-4A40-8625-03E9960B25E1}">
      <dgm:prSet phldrT="[Text]"/>
      <dgm:spPr/>
      <dgm:t>
        <a:bodyPr/>
        <a:lstStyle/>
        <a:p>
          <a:r>
            <a:rPr lang="en-IN" dirty="0"/>
            <a:t>Depth limited search </a:t>
          </a:r>
          <a:endParaRPr lang="en-US" dirty="0"/>
        </a:p>
      </dgm:t>
    </dgm:pt>
    <dgm:pt modelId="{2AA2EBE5-6F5F-4023-8C3B-DAEE834686FB}" type="parTrans" cxnId="{5B1FB677-233F-401B-AB9A-2AF99736556F}">
      <dgm:prSet/>
      <dgm:spPr/>
      <dgm:t>
        <a:bodyPr/>
        <a:lstStyle/>
        <a:p>
          <a:endParaRPr lang="en-US"/>
        </a:p>
      </dgm:t>
    </dgm:pt>
    <dgm:pt modelId="{01F55B41-90FE-499F-9C38-F55B2B8EB1E7}" type="sibTrans" cxnId="{5B1FB677-233F-401B-AB9A-2AF99736556F}">
      <dgm:prSet/>
      <dgm:spPr/>
      <dgm:t>
        <a:bodyPr/>
        <a:lstStyle/>
        <a:p>
          <a:endParaRPr lang="en-US"/>
        </a:p>
      </dgm:t>
    </dgm:pt>
    <dgm:pt modelId="{FB51FAE5-4C4B-47C3-8ADF-F8A93F821F6C}">
      <dgm:prSet phldrT="[Text]"/>
      <dgm:spPr/>
      <dgm:t>
        <a:bodyPr/>
        <a:lstStyle/>
        <a:p>
          <a:r>
            <a:rPr lang="en-IN" dirty="0"/>
            <a:t>Bidirectional search</a:t>
          </a:r>
          <a:endParaRPr lang="en-US" dirty="0"/>
        </a:p>
      </dgm:t>
    </dgm:pt>
    <dgm:pt modelId="{BE42C01C-C750-4A4D-BD7A-36959079B759}" type="parTrans" cxnId="{6FA4B818-DEC9-41AF-A5C8-FD944D4361FA}">
      <dgm:prSet/>
      <dgm:spPr/>
      <dgm:t>
        <a:bodyPr/>
        <a:lstStyle/>
        <a:p>
          <a:endParaRPr lang="en-US"/>
        </a:p>
      </dgm:t>
    </dgm:pt>
    <dgm:pt modelId="{C92DB787-1E9B-45A9-A968-40E4C53CF26F}" type="sibTrans" cxnId="{6FA4B818-DEC9-41AF-A5C8-FD944D4361FA}">
      <dgm:prSet/>
      <dgm:spPr/>
      <dgm:t>
        <a:bodyPr/>
        <a:lstStyle/>
        <a:p>
          <a:endParaRPr lang="en-US"/>
        </a:p>
      </dgm:t>
    </dgm:pt>
    <dgm:pt modelId="{DEAC25BE-CFEA-402A-AF25-87DF91967AF9}">
      <dgm:prSet phldrT="[Text]"/>
      <dgm:spPr/>
      <dgm:t>
        <a:bodyPr/>
        <a:lstStyle/>
        <a:p>
          <a:r>
            <a:rPr lang="en-IN" dirty="0"/>
            <a:t>Best First search</a:t>
          </a:r>
          <a:endParaRPr lang="en-US" dirty="0"/>
        </a:p>
      </dgm:t>
    </dgm:pt>
    <dgm:pt modelId="{9C336B20-5D3D-4C78-BE14-FC1A06141CB5}" type="parTrans" cxnId="{C42B8CA9-40C5-41A9-9A57-D09B813DAB52}">
      <dgm:prSet/>
      <dgm:spPr/>
      <dgm:t>
        <a:bodyPr/>
        <a:lstStyle/>
        <a:p>
          <a:endParaRPr lang="en-US"/>
        </a:p>
      </dgm:t>
    </dgm:pt>
    <dgm:pt modelId="{A5735949-FA3B-483E-95C3-91163A587695}" type="sibTrans" cxnId="{C42B8CA9-40C5-41A9-9A57-D09B813DAB52}">
      <dgm:prSet/>
      <dgm:spPr/>
      <dgm:t>
        <a:bodyPr/>
        <a:lstStyle/>
        <a:p>
          <a:endParaRPr lang="en-US"/>
        </a:p>
      </dgm:t>
    </dgm:pt>
    <dgm:pt modelId="{F982BF97-F718-4CF8-93A5-C1CACD07C496}" type="pres">
      <dgm:prSet presAssocID="{83EAEDB3-D91B-4AAE-BA7E-75D173E84930}" presName="Name0" presStyleCnt="0">
        <dgm:presLayoutVars>
          <dgm:resizeHandles/>
        </dgm:presLayoutVars>
      </dgm:prSet>
      <dgm:spPr/>
    </dgm:pt>
    <dgm:pt modelId="{1ED29963-68F7-424E-ACDF-E0D0DBF030F7}" type="pres">
      <dgm:prSet presAssocID="{1AAD87F3-AF88-492D-9897-7D278B02C7EB}" presName="text" presStyleLbl="node1" presStyleIdx="0" presStyleCnt="5" custScaleX="884121">
        <dgm:presLayoutVars>
          <dgm:bulletEnabled val="1"/>
        </dgm:presLayoutVars>
      </dgm:prSet>
      <dgm:spPr/>
    </dgm:pt>
    <dgm:pt modelId="{013829A5-5DE9-4036-9E2B-F04009A8D4F9}" type="pres">
      <dgm:prSet presAssocID="{E1C1109A-5DF3-4D6F-B300-7CF1777CF928}" presName="space" presStyleCnt="0"/>
      <dgm:spPr/>
    </dgm:pt>
    <dgm:pt modelId="{4686E334-79E8-4C57-9230-89BEBCC30202}" type="pres">
      <dgm:prSet presAssocID="{23B6B083-667D-43B4-84CB-14FEFF171B7D}" presName="text" presStyleLbl="node1" presStyleIdx="1" presStyleCnt="5" custScaleX="881390">
        <dgm:presLayoutVars>
          <dgm:bulletEnabled val="1"/>
        </dgm:presLayoutVars>
      </dgm:prSet>
      <dgm:spPr/>
    </dgm:pt>
    <dgm:pt modelId="{60454473-2708-4AF7-8415-CFF40D5650F6}" type="pres">
      <dgm:prSet presAssocID="{F61B55A2-DD00-44DE-B714-D92E348B498E}" presName="space" presStyleCnt="0"/>
      <dgm:spPr/>
    </dgm:pt>
    <dgm:pt modelId="{2F0BCED2-4E80-431D-B60F-AFEEF9073047}" type="pres">
      <dgm:prSet presAssocID="{D1F22417-7A26-4A40-8625-03E9960B25E1}" presName="text" presStyleLbl="node1" presStyleIdx="2" presStyleCnt="5" custScaleX="878659">
        <dgm:presLayoutVars>
          <dgm:bulletEnabled val="1"/>
        </dgm:presLayoutVars>
      </dgm:prSet>
      <dgm:spPr/>
    </dgm:pt>
    <dgm:pt modelId="{1D39621C-020E-4926-A51F-B108AB75D069}" type="pres">
      <dgm:prSet presAssocID="{01F55B41-90FE-499F-9C38-F55B2B8EB1E7}" presName="space" presStyleCnt="0"/>
      <dgm:spPr/>
    </dgm:pt>
    <dgm:pt modelId="{286DEC4E-1AB8-40F8-9051-4C67EEB009CB}" type="pres">
      <dgm:prSet presAssocID="{FB51FAE5-4C4B-47C3-8ADF-F8A93F821F6C}" presName="text" presStyleLbl="node1" presStyleIdx="3" presStyleCnt="5" custScaleX="878659">
        <dgm:presLayoutVars>
          <dgm:bulletEnabled val="1"/>
        </dgm:presLayoutVars>
      </dgm:prSet>
      <dgm:spPr/>
    </dgm:pt>
    <dgm:pt modelId="{4B7F1FF8-D46A-422F-81DF-495949F4E258}" type="pres">
      <dgm:prSet presAssocID="{C92DB787-1E9B-45A9-A968-40E4C53CF26F}" presName="space" presStyleCnt="0"/>
      <dgm:spPr/>
    </dgm:pt>
    <dgm:pt modelId="{CDCE1BFC-6A78-413C-B29D-C3BB848DE46E}" type="pres">
      <dgm:prSet presAssocID="{DEAC25BE-CFEA-402A-AF25-87DF91967AF9}" presName="text" presStyleLbl="node1" presStyleIdx="4" presStyleCnt="5" custScaleX="878659">
        <dgm:presLayoutVars>
          <dgm:bulletEnabled val="1"/>
        </dgm:presLayoutVars>
      </dgm:prSet>
      <dgm:spPr/>
    </dgm:pt>
  </dgm:ptLst>
  <dgm:cxnLst>
    <dgm:cxn modelId="{6FA4B818-DEC9-41AF-A5C8-FD944D4361FA}" srcId="{83EAEDB3-D91B-4AAE-BA7E-75D173E84930}" destId="{FB51FAE5-4C4B-47C3-8ADF-F8A93F821F6C}" srcOrd="3" destOrd="0" parTransId="{BE42C01C-C750-4A4D-BD7A-36959079B759}" sibTransId="{C92DB787-1E9B-45A9-A968-40E4C53CF26F}"/>
    <dgm:cxn modelId="{8F660066-3AA8-4775-A0C9-1F8EFF57C87D}" type="presOf" srcId="{83EAEDB3-D91B-4AAE-BA7E-75D173E84930}" destId="{F982BF97-F718-4CF8-93A5-C1CACD07C496}" srcOrd="0" destOrd="0" presId="urn:diagrams.loki3.com/VaryingWidthList"/>
    <dgm:cxn modelId="{7954E449-A6F0-4CD5-923A-DB1A4AAFB3F1}" type="presOf" srcId="{1AAD87F3-AF88-492D-9897-7D278B02C7EB}" destId="{1ED29963-68F7-424E-ACDF-E0D0DBF030F7}" srcOrd="0" destOrd="0" presId="urn:diagrams.loki3.com/VaryingWidthList"/>
    <dgm:cxn modelId="{5B1FB677-233F-401B-AB9A-2AF99736556F}" srcId="{83EAEDB3-D91B-4AAE-BA7E-75D173E84930}" destId="{D1F22417-7A26-4A40-8625-03E9960B25E1}" srcOrd="2" destOrd="0" parTransId="{2AA2EBE5-6F5F-4023-8C3B-DAEE834686FB}" sibTransId="{01F55B41-90FE-499F-9C38-F55B2B8EB1E7}"/>
    <dgm:cxn modelId="{EBDE6497-DBD2-4D8B-81A6-BBC06397B127}" type="presOf" srcId="{DEAC25BE-CFEA-402A-AF25-87DF91967AF9}" destId="{CDCE1BFC-6A78-413C-B29D-C3BB848DE46E}" srcOrd="0" destOrd="0" presId="urn:diagrams.loki3.com/VaryingWidthList"/>
    <dgm:cxn modelId="{D672E198-B771-4DD8-BE9A-302F5067EC7C}" type="presOf" srcId="{23B6B083-667D-43B4-84CB-14FEFF171B7D}" destId="{4686E334-79E8-4C57-9230-89BEBCC30202}" srcOrd="0" destOrd="0" presId="urn:diagrams.loki3.com/VaryingWidthList"/>
    <dgm:cxn modelId="{80E5799E-1E4F-4E03-8A37-F58502B7E781}" srcId="{83EAEDB3-D91B-4AAE-BA7E-75D173E84930}" destId="{1AAD87F3-AF88-492D-9897-7D278B02C7EB}" srcOrd="0" destOrd="0" parTransId="{F63E2B6B-31C8-43AE-8CA4-4934A40AF602}" sibTransId="{E1C1109A-5DF3-4D6F-B300-7CF1777CF928}"/>
    <dgm:cxn modelId="{C42B8CA9-40C5-41A9-9A57-D09B813DAB52}" srcId="{83EAEDB3-D91B-4AAE-BA7E-75D173E84930}" destId="{DEAC25BE-CFEA-402A-AF25-87DF91967AF9}" srcOrd="4" destOrd="0" parTransId="{9C336B20-5D3D-4C78-BE14-FC1A06141CB5}" sibTransId="{A5735949-FA3B-483E-95C3-91163A587695}"/>
    <dgm:cxn modelId="{5D13F7AD-9A5D-4767-9CFB-0B6BAC95EBC8}" srcId="{83EAEDB3-D91B-4AAE-BA7E-75D173E84930}" destId="{23B6B083-667D-43B4-84CB-14FEFF171B7D}" srcOrd="1" destOrd="0" parTransId="{FB1D3546-A5A5-4924-AF47-0A4466432F89}" sibTransId="{F61B55A2-DD00-44DE-B714-D92E348B498E}"/>
    <dgm:cxn modelId="{36A16BFB-9870-4C2F-87C4-4769A57FA268}" type="presOf" srcId="{D1F22417-7A26-4A40-8625-03E9960B25E1}" destId="{2F0BCED2-4E80-431D-B60F-AFEEF9073047}" srcOrd="0" destOrd="0" presId="urn:diagrams.loki3.com/VaryingWidthList"/>
    <dgm:cxn modelId="{73B7D2FB-60FE-433A-8EB2-9876EA8EACC2}" type="presOf" srcId="{FB51FAE5-4C4B-47C3-8ADF-F8A93F821F6C}" destId="{286DEC4E-1AB8-40F8-9051-4C67EEB009CB}" srcOrd="0" destOrd="0" presId="urn:diagrams.loki3.com/VaryingWidthList"/>
    <dgm:cxn modelId="{284C1575-8A68-4D30-9DED-D69DC3C825BD}" type="presParOf" srcId="{F982BF97-F718-4CF8-93A5-C1CACD07C496}" destId="{1ED29963-68F7-424E-ACDF-E0D0DBF030F7}" srcOrd="0" destOrd="0" presId="urn:diagrams.loki3.com/VaryingWidthList"/>
    <dgm:cxn modelId="{2A007651-43F4-4EED-A787-1A196222539B}" type="presParOf" srcId="{F982BF97-F718-4CF8-93A5-C1CACD07C496}" destId="{013829A5-5DE9-4036-9E2B-F04009A8D4F9}" srcOrd="1" destOrd="0" presId="urn:diagrams.loki3.com/VaryingWidthList"/>
    <dgm:cxn modelId="{FD3E6E0E-B18B-434B-8E87-CEA6E3CD6C17}" type="presParOf" srcId="{F982BF97-F718-4CF8-93A5-C1CACD07C496}" destId="{4686E334-79E8-4C57-9230-89BEBCC30202}" srcOrd="2" destOrd="0" presId="urn:diagrams.loki3.com/VaryingWidthList"/>
    <dgm:cxn modelId="{472AEAAF-4D88-4B94-8A90-128563E3A3EF}" type="presParOf" srcId="{F982BF97-F718-4CF8-93A5-C1CACD07C496}" destId="{60454473-2708-4AF7-8415-CFF40D5650F6}" srcOrd="3" destOrd="0" presId="urn:diagrams.loki3.com/VaryingWidthList"/>
    <dgm:cxn modelId="{DC46888D-0307-4F6A-9716-50FB4A12CCDA}" type="presParOf" srcId="{F982BF97-F718-4CF8-93A5-C1CACD07C496}" destId="{2F0BCED2-4E80-431D-B60F-AFEEF9073047}" srcOrd="4" destOrd="0" presId="urn:diagrams.loki3.com/VaryingWidthList"/>
    <dgm:cxn modelId="{44FB8132-D09B-43E5-AE4A-06D5DD536E76}" type="presParOf" srcId="{F982BF97-F718-4CF8-93A5-C1CACD07C496}" destId="{1D39621C-020E-4926-A51F-B108AB75D069}" srcOrd="5" destOrd="0" presId="urn:diagrams.loki3.com/VaryingWidthList"/>
    <dgm:cxn modelId="{6EEF6505-F0D6-4F1A-AA8D-3E52F73C85F9}" type="presParOf" srcId="{F982BF97-F718-4CF8-93A5-C1CACD07C496}" destId="{286DEC4E-1AB8-40F8-9051-4C67EEB009CB}" srcOrd="6" destOrd="0" presId="urn:diagrams.loki3.com/VaryingWidthList"/>
    <dgm:cxn modelId="{1102CAB3-8459-4B2D-A8A4-2C52C946E7AB}" type="presParOf" srcId="{F982BF97-F718-4CF8-93A5-C1CACD07C496}" destId="{4B7F1FF8-D46A-422F-81DF-495949F4E258}" srcOrd="7" destOrd="0" presId="urn:diagrams.loki3.com/VaryingWidthList"/>
    <dgm:cxn modelId="{6FD7D997-6F3C-424A-8608-286470193BCC}" type="presParOf" srcId="{F982BF97-F718-4CF8-93A5-C1CACD07C496}" destId="{CDCE1BFC-6A78-413C-B29D-C3BB848DE46E}" srcOrd="8" destOrd="0" presId="urn:diagrams.loki3.com/VaryingWidthList"/>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ED29963-68F7-424E-ACDF-E0D0DBF030F7}">
      <dsp:nvSpPr>
        <dsp:cNvPr id="0" name=""/>
        <dsp:cNvSpPr/>
      </dsp:nvSpPr>
      <dsp:spPr>
        <a:xfrm>
          <a:off x="0" y="1660"/>
          <a:ext cx="8915400" cy="725947"/>
        </a:xfrm>
        <a:prstGeom prst="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6520" tIns="96520" rIns="96520" bIns="96520" numCol="1" spcCol="1270" anchor="ctr" anchorCtr="0">
          <a:noAutofit/>
        </a:bodyPr>
        <a:lstStyle/>
        <a:p>
          <a:pPr marL="0" lvl="0" indent="0" algn="ctr" defTabSz="1689100">
            <a:lnSpc>
              <a:spcPct val="90000"/>
            </a:lnSpc>
            <a:spcBef>
              <a:spcPct val="0"/>
            </a:spcBef>
            <a:spcAft>
              <a:spcPct val="35000"/>
            </a:spcAft>
            <a:buNone/>
          </a:pPr>
          <a:r>
            <a:rPr lang="en-IN" sz="3800" kern="1200" dirty="0"/>
            <a:t>Breadth first search </a:t>
          </a:r>
          <a:endParaRPr lang="en-US" sz="3800" kern="1200" dirty="0"/>
        </a:p>
      </dsp:txBody>
      <dsp:txXfrm>
        <a:off x="0" y="1660"/>
        <a:ext cx="8915400" cy="725947"/>
      </dsp:txXfrm>
    </dsp:sp>
    <dsp:sp modelId="{4686E334-79E8-4C57-9230-89BEBCC30202}">
      <dsp:nvSpPr>
        <dsp:cNvPr id="0" name=""/>
        <dsp:cNvSpPr/>
      </dsp:nvSpPr>
      <dsp:spPr>
        <a:xfrm>
          <a:off x="0" y="763905"/>
          <a:ext cx="8915400" cy="725947"/>
        </a:xfrm>
        <a:prstGeom prst="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6520" tIns="96520" rIns="96520" bIns="96520" numCol="1" spcCol="1270" anchor="ctr" anchorCtr="0">
          <a:noAutofit/>
        </a:bodyPr>
        <a:lstStyle/>
        <a:p>
          <a:pPr marL="0" lvl="0" indent="0" algn="ctr" defTabSz="1689100">
            <a:lnSpc>
              <a:spcPct val="90000"/>
            </a:lnSpc>
            <a:spcBef>
              <a:spcPct val="0"/>
            </a:spcBef>
            <a:spcAft>
              <a:spcPct val="35000"/>
            </a:spcAft>
            <a:buNone/>
          </a:pPr>
          <a:r>
            <a:rPr lang="en-IN" sz="3800" kern="1200" dirty="0"/>
            <a:t>Depth first search </a:t>
          </a:r>
          <a:endParaRPr lang="en-US" sz="3800" kern="1200" dirty="0"/>
        </a:p>
      </dsp:txBody>
      <dsp:txXfrm>
        <a:off x="0" y="763905"/>
        <a:ext cx="8915400" cy="725947"/>
      </dsp:txXfrm>
    </dsp:sp>
    <dsp:sp modelId="{2F0BCED2-4E80-431D-B60F-AFEEF9073047}">
      <dsp:nvSpPr>
        <dsp:cNvPr id="0" name=""/>
        <dsp:cNvSpPr/>
      </dsp:nvSpPr>
      <dsp:spPr>
        <a:xfrm>
          <a:off x="0" y="1526151"/>
          <a:ext cx="8915400" cy="725947"/>
        </a:xfrm>
        <a:prstGeom prst="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6520" tIns="96520" rIns="96520" bIns="96520" numCol="1" spcCol="1270" anchor="ctr" anchorCtr="0">
          <a:noAutofit/>
        </a:bodyPr>
        <a:lstStyle/>
        <a:p>
          <a:pPr marL="0" lvl="0" indent="0" algn="ctr" defTabSz="1689100">
            <a:lnSpc>
              <a:spcPct val="90000"/>
            </a:lnSpc>
            <a:spcBef>
              <a:spcPct val="0"/>
            </a:spcBef>
            <a:spcAft>
              <a:spcPct val="35000"/>
            </a:spcAft>
            <a:buNone/>
          </a:pPr>
          <a:r>
            <a:rPr lang="en-IN" sz="3800" kern="1200" dirty="0"/>
            <a:t>Depth limited search </a:t>
          </a:r>
          <a:endParaRPr lang="en-US" sz="3800" kern="1200" dirty="0"/>
        </a:p>
      </dsp:txBody>
      <dsp:txXfrm>
        <a:off x="0" y="1526151"/>
        <a:ext cx="8915400" cy="725947"/>
      </dsp:txXfrm>
    </dsp:sp>
    <dsp:sp modelId="{286DEC4E-1AB8-40F8-9051-4C67EEB009CB}">
      <dsp:nvSpPr>
        <dsp:cNvPr id="0" name=""/>
        <dsp:cNvSpPr/>
      </dsp:nvSpPr>
      <dsp:spPr>
        <a:xfrm>
          <a:off x="0" y="2288396"/>
          <a:ext cx="8915400" cy="725947"/>
        </a:xfrm>
        <a:prstGeom prst="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6520" tIns="96520" rIns="96520" bIns="96520" numCol="1" spcCol="1270" anchor="ctr" anchorCtr="0">
          <a:noAutofit/>
        </a:bodyPr>
        <a:lstStyle/>
        <a:p>
          <a:pPr marL="0" lvl="0" indent="0" algn="ctr" defTabSz="1689100">
            <a:lnSpc>
              <a:spcPct val="90000"/>
            </a:lnSpc>
            <a:spcBef>
              <a:spcPct val="0"/>
            </a:spcBef>
            <a:spcAft>
              <a:spcPct val="35000"/>
            </a:spcAft>
            <a:buNone/>
          </a:pPr>
          <a:r>
            <a:rPr lang="en-IN" sz="3800" kern="1200" dirty="0"/>
            <a:t>Bidirectional search</a:t>
          </a:r>
          <a:endParaRPr lang="en-US" sz="3800" kern="1200" dirty="0"/>
        </a:p>
      </dsp:txBody>
      <dsp:txXfrm>
        <a:off x="0" y="2288396"/>
        <a:ext cx="8915400" cy="725947"/>
      </dsp:txXfrm>
    </dsp:sp>
    <dsp:sp modelId="{CDCE1BFC-6A78-413C-B29D-C3BB848DE46E}">
      <dsp:nvSpPr>
        <dsp:cNvPr id="0" name=""/>
        <dsp:cNvSpPr/>
      </dsp:nvSpPr>
      <dsp:spPr>
        <a:xfrm>
          <a:off x="0" y="3050641"/>
          <a:ext cx="8915400" cy="725947"/>
        </a:xfrm>
        <a:prstGeom prst="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6520" tIns="96520" rIns="96520" bIns="96520" numCol="1" spcCol="1270" anchor="ctr" anchorCtr="0">
          <a:noAutofit/>
        </a:bodyPr>
        <a:lstStyle/>
        <a:p>
          <a:pPr marL="0" lvl="0" indent="0" algn="ctr" defTabSz="1689100">
            <a:lnSpc>
              <a:spcPct val="90000"/>
            </a:lnSpc>
            <a:spcBef>
              <a:spcPct val="0"/>
            </a:spcBef>
            <a:spcAft>
              <a:spcPct val="35000"/>
            </a:spcAft>
            <a:buNone/>
          </a:pPr>
          <a:r>
            <a:rPr lang="en-IN" sz="3800" kern="1200" dirty="0"/>
            <a:t>Best First search</a:t>
          </a:r>
          <a:endParaRPr lang="en-US" sz="3800" kern="1200" dirty="0"/>
        </a:p>
      </dsp:txBody>
      <dsp:txXfrm>
        <a:off x="0" y="3050641"/>
        <a:ext cx="8915400" cy="725947"/>
      </dsp:txXfrm>
    </dsp:sp>
  </dsp:spTree>
</dsp:drawing>
</file>

<file path=ppt/diagrams/layout1.xml><?xml version="1.0" encoding="utf-8"?>
<dgm:layoutDef xmlns:dgm="http://schemas.openxmlformats.org/drawingml/2006/diagram" xmlns:a="http://schemas.openxmlformats.org/drawingml/2006/main" uniqueId="urn:diagrams.loki3.com/VaryingWidthList">
  <dgm:title val="Varying Width List"/>
  <dgm:desc val="Use for emphasizing items of different weights.  Good for large amounts of Level 1 text.  The width of each shape is independently determined based on its text."/>
  <dgm:catLst>
    <dgm:cat type="list" pri="4160"/>
    <dgm:cat type="officeonline" pri="5000"/>
  </dgm:catLst>
  <dgm:sampData useDef="1">
    <dgm:dataModel>
      <dgm:ptLst/>
      <dgm:bg/>
      <dgm:whole/>
    </dgm:dataModel>
  </dgm:sampData>
  <dgm:styleData useDef="1">
    <dgm:dataModel>
      <dgm:ptLst/>
      <dgm:bg/>
      <dgm:whole/>
    </dgm:dataModel>
  </dgm:styleData>
  <dgm:clrData useDef="1">
    <dgm:dataModel>
      <dgm:ptLst/>
      <dgm:bg/>
      <dgm:whole/>
    </dgm:dataModel>
  </dgm:clrData>
  <dgm:layoutNode name="Name0">
    <dgm:varLst>
      <dgm:resizeHandles/>
    </dgm:varLst>
    <dgm:alg type="lin">
      <dgm:param type="linDir" val="fromT"/>
    </dgm:alg>
    <dgm:shape xmlns:r="http://schemas.openxmlformats.org/officeDocument/2006/relationships" r:blip="">
      <dgm:adjLst/>
    </dgm:shape>
    <dgm:presOf/>
    <dgm:constrLst>
      <dgm:constr type="w" for="ch" forName="text" val="20"/>
      <dgm:constr type="h" for="ch" forName="text" refType="h"/>
      <dgm:constr type="primFontSz" for="ch" forName="text" op="equ" val="65"/>
      <dgm:constr type="h" for="ch" forName="space" refType="h" fact="0.05"/>
    </dgm:constrLst>
    <dgm:forEach name="Name1" axis="ch" ptType="node">
      <dgm:layoutNode name="text" styleLbl="node1">
        <dgm:varLst>
          <dgm:bulletEnabled val="1"/>
        </dgm:varLst>
        <dgm:alg type="tx"/>
        <dgm:shape xmlns:r="http://schemas.openxmlformats.org/officeDocument/2006/relationships" type="rect" r:blip="">
          <dgm:adjLst/>
        </dgm:shape>
        <dgm:presOf axis="desOrSelf" ptType="node"/>
        <dgm:constrLst>
          <dgm:constr type="tMarg" refType="primFontSz" fact="0.2"/>
          <dgm:constr type="bMarg" refType="primFontSz" fact="0.2"/>
          <dgm:constr type="lMarg" refType="primFontSz" fact="0.2"/>
          <dgm:constr type="rMarg" refType="primFontSz" fact="0.2"/>
        </dgm:constrLst>
        <dgm:ruleLst>
          <dgm:rule type="w" val="INF" fact="NaN" max="NaN"/>
          <dgm:rule type="primFontSz" val="5" fact="NaN" max="NaN"/>
        </dgm:ruleLst>
      </dgm:layoutNode>
      <dgm:choose name="Name2">
        <dgm:if name="Name3" axis="par ch" ptType="doc node" func="cnt" op="gte" val="2">
          <dgm:forEach name="Name4" axis="followSib" ptType="sibTrans" cnt="1">
            <dgm:layoutNode name="space">
              <dgm:alg type="sp"/>
              <dgm:shape xmlns:r="http://schemas.openxmlformats.org/officeDocument/2006/relationships" r:blip="">
                <dgm:adjLst/>
              </dgm:shape>
              <dgm:presOf/>
            </dgm:layoutNode>
          </dgm:forEach>
        </dgm:if>
        <dgm:else name="Name5"/>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430188B-57E9-4200-8534-BE8835512268}" type="datetimeFigureOut">
              <a:rPr lang="en-IN" smtClean="0"/>
              <a:t>03-03-2025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1099F7B-37FC-443C-BED7-64EF1ED3C687}" type="slidenum">
              <a:rPr lang="en-IN" smtClean="0"/>
              <a:t>‹#›</a:t>
            </a:fld>
            <a:endParaRPr lang="en-IN"/>
          </a:p>
        </p:txBody>
      </p:sp>
    </p:spTree>
    <p:extLst>
      <p:ext uri="{BB962C8B-B14F-4D97-AF65-F5344CB8AC3E}">
        <p14:creationId xmlns:p14="http://schemas.microsoft.com/office/powerpoint/2010/main" val="42711756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342CE377-8CD7-4FA8-B5A5-91BE201F1183}" type="datetimeFigureOut">
              <a:rPr lang="en-IN" smtClean="0"/>
              <a:t>03-03-2025</a:t>
            </a:fld>
            <a:endParaRPr lang="en-IN"/>
          </a:p>
        </p:txBody>
      </p:sp>
      <p:sp>
        <p:nvSpPr>
          <p:cNvPr id="5" name="Footer Placeholder 4"/>
          <p:cNvSpPr>
            <a:spLocks noGrp="1"/>
          </p:cNvSpPr>
          <p:nvPr>
            <p:ph type="ftr" sz="quarter" idx="11"/>
          </p:nvPr>
        </p:nvSpPr>
        <p:spPr/>
        <p:txBody>
          <a:bodyPr/>
          <a:lstStyle/>
          <a:p>
            <a:endParaRPr lang="en-IN"/>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5F0A36FC-3A38-44EE-A13D-454498C57F48}" type="slidenum">
              <a:rPr lang="en-IN" smtClean="0"/>
              <a:t>‹#›</a:t>
            </a:fld>
            <a:endParaRPr lang="en-IN"/>
          </a:p>
        </p:txBody>
      </p:sp>
    </p:spTree>
    <p:extLst>
      <p:ext uri="{BB962C8B-B14F-4D97-AF65-F5344CB8AC3E}">
        <p14:creationId xmlns:p14="http://schemas.microsoft.com/office/powerpoint/2010/main" val="134663996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42CE377-8CD7-4FA8-B5A5-91BE201F1183}" type="datetimeFigureOut">
              <a:rPr lang="en-IN" smtClean="0"/>
              <a:t>03-03-2025</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5F0A36FC-3A38-44EE-A13D-454498C57F48}" type="slidenum">
              <a:rPr lang="en-IN" smtClean="0"/>
              <a:t>‹#›</a:t>
            </a:fld>
            <a:endParaRPr lang="en-IN"/>
          </a:p>
        </p:txBody>
      </p:sp>
    </p:spTree>
    <p:extLst>
      <p:ext uri="{BB962C8B-B14F-4D97-AF65-F5344CB8AC3E}">
        <p14:creationId xmlns:p14="http://schemas.microsoft.com/office/powerpoint/2010/main" val="328052404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42CE377-8CD7-4FA8-B5A5-91BE201F1183}" type="datetimeFigureOut">
              <a:rPr lang="en-IN" smtClean="0"/>
              <a:t>03-03-2025</a:t>
            </a:fld>
            <a:endParaRPr lang="en-IN"/>
          </a:p>
        </p:txBody>
      </p:sp>
      <p:sp>
        <p:nvSpPr>
          <p:cNvPr id="5" name="Footer Placeholder 4"/>
          <p:cNvSpPr>
            <a:spLocks noGrp="1"/>
          </p:cNvSpPr>
          <p:nvPr>
            <p:ph type="ftr" sz="quarter" idx="11"/>
          </p:nvPr>
        </p:nvSpPr>
        <p:spPr/>
        <p:txBody>
          <a:bodyPr/>
          <a:lstStyle/>
          <a:p>
            <a:endParaRPr lang="en-IN"/>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5F0A36FC-3A38-44EE-A13D-454498C57F48}" type="slidenum">
              <a:rPr lang="en-IN" smtClean="0"/>
              <a:t>‹#›</a:t>
            </a:fld>
            <a:endParaRPr lang="en-IN"/>
          </a:p>
        </p:txBody>
      </p:sp>
    </p:spTree>
    <p:extLst>
      <p:ext uri="{BB962C8B-B14F-4D97-AF65-F5344CB8AC3E}">
        <p14:creationId xmlns:p14="http://schemas.microsoft.com/office/powerpoint/2010/main" val="16666628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42CE377-8CD7-4FA8-B5A5-91BE201F1183}" type="datetimeFigureOut">
              <a:rPr lang="en-IN" smtClean="0"/>
              <a:t>03-03-2025</a:t>
            </a:fld>
            <a:endParaRPr lang="en-IN"/>
          </a:p>
        </p:txBody>
      </p:sp>
      <p:sp>
        <p:nvSpPr>
          <p:cNvPr id="6" name="Footer Placeholder 5"/>
          <p:cNvSpPr>
            <a:spLocks noGrp="1"/>
          </p:cNvSpPr>
          <p:nvPr>
            <p:ph type="ftr" sz="quarter" idx="11"/>
          </p:nvPr>
        </p:nvSpPr>
        <p:spPr/>
        <p:txBody>
          <a:bodyPr/>
          <a:lstStyle/>
          <a:p>
            <a:endParaRPr lang="en-IN"/>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5F0A36FC-3A38-44EE-A13D-454498C57F48}" type="slidenum">
              <a:rPr lang="en-IN" smtClean="0"/>
              <a:t>‹#›</a:t>
            </a:fld>
            <a:endParaRPr lang="en-IN"/>
          </a:p>
        </p:txBody>
      </p:sp>
    </p:spTree>
    <p:extLst>
      <p:ext uri="{BB962C8B-B14F-4D97-AF65-F5344CB8AC3E}">
        <p14:creationId xmlns:p14="http://schemas.microsoft.com/office/powerpoint/2010/main" val="23744890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42CE377-8CD7-4FA8-B5A5-91BE201F1183}" type="datetimeFigureOut">
              <a:rPr lang="en-IN" smtClean="0"/>
              <a:t>03-03-2025</a:t>
            </a:fld>
            <a:endParaRPr lang="en-IN"/>
          </a:p>
        </p:txBody>
      </p:sp>
      <p:sp>
        <p:nvSpPr>
          <p:cNvPr id="8" name="Footer Placeholder 7"/>
          <p:cNvSpPr>
            <a:spLocks noGrp="1"/>
          </p:cNvSpPr>
          <p:nvPr>
            <p:ph type="ftr" sz="quarter" idx="11"/>
          </p:nvPr>
        </p:nvSpPr>
        <p:spPr/>
        <p:txBody>
          <a:bodyPr/>
          <a:lstStyle/>
          <a:p>
            <a:endParaRPr lang="en-IN"/>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5F0A36FC-3A38-44EE-A13D-454498C57F48}" type="slidenum">
              <a:rPr lang="en-IN" smtClean="0"/>
              <a:t>‹#›</a:t>
            </a:fld>
            <a:endParaRPr lang="en-IN"/>
          </a:p>
        </p:txBody>
      </p:sp>
    </p:spTree>
    <p:extLst>
      <p:ext uri="{BB962C8B-B14F-4D97-AF65-F5344CB8AC3E}">
        <p14:creationId xmlns:p14="http://schemas.microsoft.com/office/powerpoint/2010/main" val="37497521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342CE377-8CD7-4FA8-B5A5-91BE201F1183}" type="datetimeFigureOut">
              <a:rPr lang="en-IN" smtClean="0"/>
              <a:t>03-03-2025</a:t>
            </a:fld>
            <a:endParaRPr lang="en-IN"/>
          </a:p>
        </p:txBody>
      </p:sp>
      <p:sp>
        <p:nvSpPr>
          <p:cNvPr id="4" name="Footer Placeholder 3"/>
          <p:cNvSpPr>
            <a:spLocks noGrp="1"/>
          </p:cNvSpPr>
          <p:nvPr>
            <p:ph type="ftr" sz="quarter" idx="11"/>
          </p:nvPr>
        </p:nvSpPr>
        <p:spPr/>
        <p:txBody>
          <a:bodyPr/>
          <a:lstStyle/>
          <a:p>
            <a:endParaRPr lang="en-IN"/>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5F0A36FC-3A38-44EE-A13D-454498C57F48}" type="slidenum">
              <a:rPr lang="en-IN" smtClean="0"/>
              <a:t>‹#›</a:t>
            </a:fld>
            <a:endParaRPr lang="en-IN"/>
          </a:p>
        </p:txBody>
      </p:sp>
    </p:spTree>
    <p:extLst>
      <p:ext uri="{BB962C8B-B14F-4D97-AF65-F5344CB8AC3E}">
        <p14:creationId xmlns:p14="http://schemas.microsoft.com/office/powerpoint/2010/main" val="438197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42CE377-8CD7-4FA8-B5A5-91BE201F1183}" type="datetimeFigureOut">
              <a:rPr lang="en-IN" smtClean="0"/>
              <a:t>03-03-2025</a:t>
            </a:fld>
            <a:endParaRPr lang="en-IN"/>
          </a:p>
        </p:txBody>
      </p:sp>
      <p:sp>
        <p:nvSpPr>
          <p:cNvPr id="3" name="Footer Placeholder 2"/>
          <p:cNvSpPr>
            <a:spLocks noGrp="1"/>
          </p:cNvSpPr>
          <p:nvPr>
            <p:ph type="ftr" sz="quarter" idx="11"/>
          </p:nvPr>
        </p:nvSpPr>
        <p:spPr/>
        <p:txBody>
          <a:bodyPr/>
          <a:lstStyle/>
          <a:p>
            <a:endParaRPr lang="en-IN"/>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5F0A36FC-3A38-44EE-A13D-454498C57F48}" type="slidenum">
              <a:rPr lang="en-IN" smtClean="0"/>
              <a:t>‹#›</a:t>
            </a:fld>
            <a:endParaRPr lang="en-IN"/>
          </a:p>
        </p:txBody>
      </p:sp>
    </p:spTree>
    <p:extLst>
      <p:ext uri="{BB962C8B-B14F-4D97-AF65-F5344CB8AC3E}">
        <p14:creationId xmlns:p14="http://schemas.microsoft.com/office/powerpoint/2010/main" val="24001574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42CE377-8CD7-4FA8-B5A5-91BE201F1183}" type="datetimeFigureOut">
              <a:rPr lang="en-IN" smtClean="0"/>
              <a:t>03-03-2025</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5F0A36FC-3A38-44EE-A13D-454498C57F48}" type="slidenum">
              <a:rPr lang="en-IN" smtClean="0"/>
              <a:t>‹#›</a:t>
            </a:fld>
            <a:endParaRPr lang="en-IN"/>
          </a:p>
        </p:txBody>
      </p:sp>
    </p:spTree>
    <p:extLst>
      <p:ext uri="{BB962C8B-B14F-4D97-AF65-F5344CB8AC3E}">
        <p14:creationId xmlns:p14="http://schemas.microsoft.com/office/powerpoint/2010/main" val="23808450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42CE377-8CD7-4FA8-B5A5-91BE201F1183}" type="datetimeFigureOut">
              <a:rPr lang="en-IN" smtClean="0"/>
              <a:t>03-03-2025</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5F0A36FC-3A38-44EE-A13D-454498C57F48}" type="slidenum">
              <a:rPr lang="en-IN" smtClean="0"/>
              <a:t>‹#›</a:t>
            </a:fld>
            <a:endParaRPr lang="en-IN"/>
          </a:p>
        </p:txBody>
      </p:sp>
    </p:spTree>
    <p:extLst>
      <p:ext uri="{BB962C8B-B14F-4D97-AF65-F5344CB8AC3E}">
        <p14:creationId xmlns:p14="http://schemas.microsoft.com/office/powerpoint/2010/main" val="27453463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42CE377-8CD7-4FA8-B5A5-91BE201F1183}" type="datetimeFigureOut">
              <a:rPr lang="en-IN" smtClean="0"/>
              <a:t>03-03-2025</a:t>
            </a:fld>
            <a:endParaRPr lang="en-IN"/>
          </a:p>
        </p:txBody>
      </p:sp>
      <p:sp>
        <p:nvSpPr>
          <p:cNvPr id="5" name="Footer Placeholder 4"/>
          <p:cNvSpPr>
            <a:spLocks noGrp="1"/>
          </p:cNvSpPr>
          <p:nvPr>
            <p:ph type="ftr" sz="quarter" idx="11"/>
          </p:nvPr>
        </p:nvSpPr>
        <p:spPr/>
        <p:txBody>
          <a:bodyPr/>
          <a:lstStyle/>
          <a:p>
            <a:endParaRPr lang="en-IN"/>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5F0A36FC-3A38-44EE-A13D-454498C57F48}" type="slidenum">
              <a:rPr lang="en-IN" smtClean="0"/>
              <a:t>‹#›</a:t>
            </a:fld>
            <a:endParaRPr lang="en-IN"/>
          </a:p>
        </p:txBody>
      </p:sp>
    </p:spTree>
    <p:extLst>
      <p:ext uri="{BB962C8B-B14F-4D97-AF65-F5344CB8AC3E}">
        <p14:creationId xmlns:p14="http://schemas.microsoft.com/office/powerpoint/2010/main" val="83257330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42CE377-8CD7-4FA8-B5A5-91BE201F1183}" type="datetimeFigureOut">
              <a:rPr lang="en-IN" smtClean="0"/>
              <a:t>03-03-2025</a:t>
            </a:fld>
            <a:endParaRPr lang="en-IN"/>
          </a:p>
        </p:txBody>
      </p:sp>
      <p:sp>
        <p:nvSpPr>
          <p:cNvPr id="5" name="Footer Placeholder 4"/>
          <p:cNvSpPr>
            <a:spLocks noGrp="1"/>
          </p:cNvSpPr>
          <p:nvPr>
            <p:ph type="ftr" sz="quarter" idx="11"/>
          </p:nvPr>
        </p:nvSpPr>
        <p:spPr/>
        <p:txBody>
          <a:bodyPr/>
          <a:lstStyle/>
          <a:p>
            <a:endParaRPr lang="en-IN"/>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5F0A36FC-3A38-44EE-A13D-454498C57F48}" type="slidenum">
              <a:rPr lang="en-IN" smtClean="0"/>
              <a:t>‹#›</a:t>
            </a:fld>
            <a:endParaRPr lang="en-IN"/>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404022478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342CE377-8CD7-4FA8-B5A5-91BE201F1183}" type="datetimeFigureOut">
              <a:rPr lang="en-IN" smtClean="0"/>
              <a:t>03-03-2025</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5F0A36FC-3A38-44EE-A13D-454498C57F48}" type="slidenum">
              <a:rPr lang="en-IN" smtClean="0"/>
              <a:t>‹#›</a:t>
            </a:fld>
            <a:endParaRPr lang="en-IN"/>
          </a:p>
        </p:txBody>
      </p:sp>
    </p:spTree>
    <p:extLst>
      <p:ext uri="{BB962C8B-B14F-4D97-AF65-F5344CB8AC3E}">
        <p14:creationId xmlns:p14="http://schemas.microsoft.com/office/powerpoint/2010/main" val="283543793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342CE377-8CD7-4FA8-B5A5-91BE201F1183}" type="datetimeFigureOut">
              <a:rPr lang="en-IN" smtClean="0"/>
              <a:t>03-03-2025</a:t>
            </a:fld>
            <a:endParaRPr lang="en-IN"/>
          </a:p>
        </p:txBody>
      </p:sp>
      <p:sp>
        <p:nvSpPr>
          <p:cNvPr id="6" name="Footer Placeholder 5"/>
          <p:cNvSpPr>
            <a:spLocks noGrp="1"/>
          </p:cNvSpPr>
          <p:nvPr>
            <p:ph type="ftr" sz="quarter" idx="11"/>
          </p:nvPr>
        </p:nvSpPr>
        <p:spPr/>
        <p:txBody>
          <a:bodyPr/>
          <a:lstStyle/>
          <a:p>
            <a:endParaRPr lang="en-IN"/>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5F0A36FC-3A38-44EE-A13D-454498C57F48}" type="slidenum">
              <a:rPr lang="en-IN" smtClean="0"/>
              <a:t>‹#›</a:t>
            </a:fld>
            <a:endParaRPr lang="en-IN"/>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261120077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342CE377-8CD7-4FA8-B5A5-91BE201F1183}" type="datetimeFigureOut">
              <a:rPr lang="en-IN" smtClean="0"/>
              <a:t>03-03-2025</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5F0A36FC-3A38-44EE-A13D-454498C57F48}" type="slidenum">
              <a:rPr lang="en-IN" smtClean="0"/>
              <a:t>‹#›</a:t>
            </a:fld>
            <a:endParaRPr lang="en-IN"/>
          </a:p>
        </p:txBody>
      </p:sp>
    </p:spTree>
    <p:extLst>
      <p:ext uri="{BB962C8B-B14F-4D97-AF65-F5344CB8AC3E}">
        <p14:creationId xmlns:p14="http://schemas.microsoft.com/office/powerpoint/2010/main" val="26573576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42CE377-8CD7-4FA8-B5A5-91BE201F1183}" type="datetimeFigureOut">
              <a:rPr lang="en-IN" smtClean="0"/>
              <a:t>03-03-2025</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5F0A36FC-3A38-44EE-A13D-454498C57F48}" type="slidenum">
              <a:rPr lang="en-IN" smtClean="0"/>
              <a:t>‹#›</a:t>
            </a:fld>
            <a:endParaRPr lang="en-IN"/>
          </a:p>
        </p:txBody>
      </p:sp>
    </p:spTree>
    <p:extLst>
      <p:ext uri="{BB962C8B-B14F-4D97-AF65-F5344CB8AC3E}">
        <p14:creationId xmlns:p14="http://schemas.microsoft.com/office/powerpoint/2010/main" val="353343813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42CE377-8CD7-4FA8-B5A5-91BE201F1183}" type="datetimeFigureOut">
              <a:rPr lang="en-IN" smtClean="0"/>
              <a:t>03-03-2025</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5F0A36FC-3A38-44EE-A13D-454498C57F48}" type="slidenum">
              <a:rPr lang="en-IN" smtClean="0"/>
              <a:t>‹#›</a:t>
            </a:fld>
            <a:endParaRPr lang="en-IN"/>
          </a:p>
        </p:txBody>
      </p:sp>
    </p:spTree>
    <p:extLst>
      <p:ext uri="{BB962C8B-B14F-4D97-AF65-F5344CB8AC3E}">
        <p14:creationId xmlns:p14="http://schemas.microsoft.com/office/powerpoint/2010/main" val="37052567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342CE377-8CD7-4FA8-B5A5-91BE201F1183}" type="datetimeFigureOut">
              <a:rPr lang="en-IN" smtClean="0"/>
              <a:t>03-03-2025</a:t>
            </a:fld>
            <a:endParaRPr lang="en-IN"/>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5F0A36FC-3A38-44EE-A13D-454498C57F48}" type="slidenum">
              <a:rPr lang="en-IN" smtClean="0"/>
              <a:t>‹#›</a:t>
            </a:fld>
            <a:endParaRPr lang="en-IN"/>
          </a:p>
        </p:txBody>
      </p:sp>
    </p:spTree>
    <p:extLst>
      <p:ext uri="{BB962C8B-B14F-4D97-AF65-F5344CB8AC3E}">
        <p14:creationId xmlns:p14="http://schemas.microsoft.com/office/powerpoint/2010/main" val="232893343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1.xml"/><Relationship Id="rId5" Type="http://schemas.openxmlformats.org/officeDocument/2006/relationships/image" Target="../media/image4.jpg"/><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2.xml"/><Relationship Id="rId4" Type="http://schemas.openxmlformats.org/officeDocument/2006/relationships/image" Target="../media/image4.jp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2.xml"/><Relationship Id="rId4" Type="http://schemas.openxmlformats.org/officeDocument/2006/relationships/image" Target="../media/image4.jp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2.xml"/><Relationship Id="rId4" Type="http://schemas.openxmlformats.org/officeDocument/2006/relationships/image" Target="../media/image4.jp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2.xml"/><Relationship Id="rId4" Type="http://schemas.openxmlformats.org/officeDocument/2006/relationships/image" Target="../media/image4.jp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2.xml"/><Relationship Id="rId4" Type="http://schemas.openxmlformats.org/officeDocument/2006/relationships/image" Target="../media/image4.jp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2.xml"/><Relationship Id="rId4" Type="http://schemas.openxmlformats.org/officeDocument/2006/relationships/image" Target="../media/image4.jp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2.xml"/><Relationship Id="rId4" Type="http://schemas.openxmlformats.org/officeDocument/2006/relationships/image" Target="../media/image4.jp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2.xml"/><Relationship Id="rId4" Type="http://schemas.openxmlformats.org/officeDocument/2006/relationships/image" Target="../media/image4.jp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2.xml"/><Relationship Id="rId4" Type="http://schemas.openxmlformats.org/officeDocument/2006/relationships/image" Target="../media/image4.jpg"/></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2.xml"/><Relationship Id="rId4" Type="http://schemas.openxmlformats.org/officeDocument/2006/relationships/image" Target="../media/image4.jpg"/></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2.xml"/><Relationship Id="rId4" Type="http://schemas.openxmlformats.org/officeDocument/2006/relationships/image" Target="../media/image4.jpg"/></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2.xml"/><Relationship Id="rId4" Type="http://schemas.openxmlformats.org/officeDocument/2006/relationships/image" Target="../media/image4.jpg"/></Relationships>
</file>

<file path=ppt/slides/_rels/slide14.xml.rels><?xml version="1.0" encoding="UTF-8" standalone="yes"?>
<Relationships xmlns="http://schemas.openxmlformats.org/package/2006/relationships"><Relationship Id="rId3" Type="http://schemas.openxmlformats.org/officeDocument/2006/relationships/hyperlink" Target="https://onlinecourses.nptel.ac.in/noc23_ge40/preview" TargetMode="External"/><Relationship Id="rId2" Type="http://schemas.openxmlformats.org/officeDocument/2006/relationships/hyperlink" Target="https://onlinecourses.nptel.ac.in/noc22_cs56/preview" TargetMode="External"/><Relationship Id="rId1" Type="http://schemas.openxmlformats.org/officeDocument/2006/relationships/slideLayout" Target="../slideLayouts/slideLayout2.xml"/><Relationship Id="rId6" Type="http://schemas.openxmlformats.org/officeDocument/2006/relationships/image" Target="../media/image4.jpg"/><Relationship Id="rId5" Type="http://schemas.openxmlformats.org/officeDocument/2006/relationships/image" Target="../media/image2.png"/><Relationship Id="rId4" Type="http://schemas.openxmlformats.org/officeDocument/2006/relationships/image" Target="../media/image1.jpg"/></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2.xml"/><Relationship Id="rId6" Type="http://schemas.openxmlformats.org/officeDocument/2006/relationships/image" Target="../media/image6.jpeg"/><Relationship Id="rId5" Type="http://schemas.openxmlformats.org/officeDocument/2006/relationships/image" Target="../media/image5.png"/><Relationship Id="rId4" Type="http://schemas.openxmlformats.org/officeDocument/2006/relationships/image" Target="../media/image4.jpg"/></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2.xml"/><Relationship Id="rId4" Type="http://schemas.openxmlformats.org/officeDocument/2006/relationships/image" Target="../media/image4.jpg"/></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4.jpg"/></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2.xml"/><Relationship Id="rId4" Type="http://schemas.openxmlformats.org/officeDocument/2006/relationships/image" Target="../media/image4.jpg"/></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2.xml"/><Relationship Id="rId4" Type="http://schemas.openxmlformats.org/officeDocument/2006/relationships/image" Target="../media/image4.jpg"/></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2.xml"/><Relationship Id="rId4" Type="http://schemas.openxmlformats.org/officeDocument/2006/relationships/image" Target="../media/image4.jpg"/></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2.xml"/><Relationship Id="rId4" Type="http://schemas.openxmlformats.org/officeDocument/2006/relationships/image" Target="../media/image4.jpg"/></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4.jpg"/></Relationships>
</file>

<file path=ppt/slides/_rels/slide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4.jpg"/></Relationships>
</file>

<file path=ppt/slides/_rels/slide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2.xml"/><Relationship Id="rId5" Type="http://schemas.openxmlformats.org/officeDocument/2006/relationships/image" Target="../media/image10.jpeg"/><Relationship Id="rId4" Type="http://schemas.openxmlformats.org/officeDocument/2006/relationships/image" Target="../media/image4.jpg"/></Relationships>
</file>

<file path=ppt/slides/_rels/slide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2.xml"/><Relationship Id="rId5" Type="http://schemas.openxmlformats.org/officeDocument/2006/relationships/image" Target="../media/image11.jpeg"/><Relationship Id="rId4" Type="http://schemas.openxmlformats.org/officeDocument/2006/relationships/image" Target="../media/image4.jpg"/></Relationships>
</file>

<file path=ppt/slides/_rels/slide2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2.xml"/><Relationship Id="rId4" Type="http://schemas.openxmlformats.org/officeDocument/2006/relationships/image" Target="../media/image4.jpg"/></Relationships>
</file>

<file path=ppt/slides/_rels/slide2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2.xml"/><Relationship Id="rId4" Type="http://schemas.openxmlformats.org/officeDocument/2006/relationships/image" Target="../media/image4.jpg"/></Relationships>
</file>

<file path=ppt/slides/_rels/slide2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2.xml"/><Relationship Id="rId4" Type="http://schemas.openxmlformats.org/officeDocument/2006/relationships/image" Target="../media/image4.jpg"/></Relationships>
</file>

<file path=ppt/slides/_rels/slide29.xml.rels><?xml version="1.0" encoding="UTF-8" standalone="yes"?>
<Relationships xmlns="http://schemas.openxmlformats.org/package/2006/relationships"><Relationship Id="rId8" Type="http://schemas.openxmlformats.org/officeDocument/2006/relationships/diagramColors" Target="../diagrams/colors1.xml"/><Relationship Id="rId3" Type="http://schemas.openxmlformats.org/officeDocument/2006/relationships/image" Target="../media/image2.png"/><Relationship Id="rId7" Type="http://schemas.openxmlformats.org/officeDocument/2006/relationships/diagramQuickStyle" Target="../diagrams/quickStyle1.xml"/><Relationship Id="rId2" Type="http://schemas.openxmlformats.org/officeDocument/2006/relationships/image" Target="../media/image1.jpg"/><Relationship Id="rId1" Type="http://schemas.openxmlformats.org/officeDocument/2006/relationships/slideLayout" Target="../slideLayouts/slideLayout2.xml"/><Relationship Id="rId6" Type="http://schemas.openxmlformats.org/officeDocument/2006/relationships/diagramLayout" Target="../diagrams/layout1.xml"/><Relationship Id="rId5" Type="http://schemas.openxmlformats.org/officeDocument/2006/relationships/diagramData" Target="../diagrams/data1.xml"/><Relationship Id="rId4" Type="http://schemas.openxmlformats.org/officeDocument/2006/relationships/image" Target="../media/image4.jpg"/><Relationship Id="rId9" Type="http://schemas.microsoft.com/office/2007/relationships/diagramDrawing" Target="../diagrams/drawing1.xml"/></Relationships>
</file>

<file path=ppt/slides/_rels/slide3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2.xml"/><Relationship Id="rId4" Type="http://schemas.openxmlformats.org/officeDocument/2006/relationships/image" Target="../media/image4.jpg"/></Relationships>
</file>

<file path=ppt/slides/_rels/slide3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2.xml"/><Relationship Id="rId4" Type="http://schemas.openxmlformats.org/officeDocument/2006/relationships/image" Target="../media/image4.jpg"/></Relationships>
</file>

<file path=ppt/slides/_rels/slide3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4.jpg"/></Relationships>
</file>

<file path=ppt/slides/_rels/slide3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4.jpg"/></Relationships>
</file>

<file path=ppt/slides/_rels/slide3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2.xml"/><Relationship Id="rId5" Type="http://schemas.openxmlformats.org/officeDocument/2006/relationships/image" Target="../media/image14.png"/><Relationship Id="rId4" Type="http://schemas.openxmlformats.org/officeDocument/2006/relationships/image" Target="../media/image4.jpg"/></Relationships>
</file>

<file path=ppt/slides/_rels/slide3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2.xml"/><Relationship Id="rId4" Type="http://schemas.openxmlformats.org/officeDocument/2006/relationships/image" Target="../media/image4.jpg"/></Relationships>
</file>

<file path=ppt/slides/_rels/slide3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4.jpg"/></Relationships>
</file>

<file path=ppt/slides/_rels/slide3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2.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4.jpg"/></Relationships>
</file>

<file path=ppt/slides/_rels/slide38.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image" Target="../media/image19.png"/><Relationship Id="rId1" Type="http://schemas.openxmlformats.org/officeDocument/2006/relationships/slideLayout" Target="../slideLayouts/slideLayout2.xml"/><Relationship Id="rId6" Type="http://schemas.openxmlformats.org/officeDocument/2006/relationships/image" Target="../media/image20.png"/><Relationship Id="rId5" Type="http://schemas.openxmlformats.org/officeDocument/2006/relationships/image" Target="../media/image4.jpg"/><Relationship Id="rId4" Type="http://schemas.openxmlformats.org/officeDocument/2006/relationships/image" Target="../media/image2.png"/></Relationships>
</file>

<file path=ppt/slides/_rels/slide3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2.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4.jpg"/></Relationships>
</file>

<file path=ppt/slides/_rels/slide4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2.xml"/><Relationship Id="rId5" Type="http://schemas.openxmlformats.org/officeDocument/2006/relationships/image" Target="../media/image23.png"/><Relationship Id="rId4" Type="http://schemas.openxmlformats.org/officeDocument/2006/relationships/image" Target="../media/image4.jpg"/></Relationships>
</file>

<file path=ppt/slides/_rels/slide41.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26.png"/><Relationship Id="rId2" Type="http://schemas.openxmlformats.org/officeDocument/2006/relationships/image" Target="../media/image1.jpg"/><Relationship Id="rId1" Type="http://schemas.openxmlformats.org/officeDocument/2006/relationships/slideLayout" Target="../slideLayouts/slideLayout2.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4.jpg"/></Relationships>
</file>

<file path=ppt/slides/_rels/slide42.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image" Target="../media/image2.png"/><Relationship Id="rId7" Type="http://schemas.openxmlformats.org/officeDocument/2006/relationships/image" Target="../media/image29.png"/><Relationship Id="rId2" Type="http://schemas.openxmlformats.org/officeDocument/2006/relationships/image" Target="../media/image1.jpg"/><Relationship Id="rId1" Type="http://schemas.openxmlformats.org/officeDocument/2006/relationships/slideLayout" Target="../slideLayouts/slideLayout2.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4.jpg"/></Relationships>
</file>

<file path=ppt/slides/_rels/slide4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2.xml"/><Relationship Id="rId5" Type="http://schemas.openxmlformats.org/officeDocument/2006/relationships/image" Target="../media/image31.jpeg"/><Relationship Id="rId4" Type="http://schemas.openxmlformats.org/officeDocument/2006/relationships/image" Target="../media/image4.jpg"/></Relationships>
</file>

<file path=ppt/slides/_rels/slide4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2.xml"/><Relationship Id="rId4" Type="http://schemas.openxmlformats.org/officeDocument/2006/relationships/image" Target="../media/image4.jpg"/></Relationships>
</file>

<file path=ppt/slides/_rels/slide4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2.xml"/><Relationship Id="rId4" Type="http://schemas.openxmlformats.org/officeDocument/2006/relationships/image" Target="../media/image4.jpg"/></Relationships>
</file>

<file path=ppt/slides/_rels/slide4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2.xml"/><Relationship Id="rId5" Type="http://schemas.openxmlformats.org/officeDocument/2006/relationships/image" Target="../media/image32.jpg"/><Relationship Id="rId4" Type="http://schemas.openxmlformats.org/officeDocument/2006/relationships/image" Target="../media/image4.jpg"/></Relationships>
</file>

<file path=ppt/slides/_rels/slide4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2.xml"/><Relationship Id="rId4" Type="http://schemas.openxmlformats.org/officeDocument/2006/relationships/image" Target="../media/image4.jpg"/></Relationships>
</file>

<file path=ppt/slides/_rels/slide4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2.xml"/><Relationship Id="rId5" Type="http://schemas.openxmlformats.org/officeDocument/2006/relationships/image" Target="../media/image33.png"/><Relationship Id="rId4" Type="http://schemas.openxmlformats.org/officeDocument/2006/relationships/image" Target="../media/image4.jpg"/></Relationships>
</file>

<file path=ppt/slides/_rels/slide4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2.xml"/><Relationship Id="rId5" Type="http://schemas.openxmlformats.org/officeDocument/2006/relationships/image" Target="../media/image34.png"/><Relationship Id="rId4" Type="http://schemas.openxmlformats.org/officeDocument/2006/relationships/image" Target="../media/image4.jpg"/></Relationships>
</file>

<file path=ppt/slides/_rels/slide5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2.xml"/><Relationship Id="rId5" Type="http://schemas.openxmlformats.org/officeDocument/2006/relationships/image" Target="../media/image35.gif"/><Relationship Id="rId4" Type="http://schemas.openxmlformats.org/officeDocument/2006/relationships/image" Target="../media/image4.jpg"/></Relationships>
</file>

<file path=ppt/slides/_rels/slide51.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38.png"/><Relationship Id="rId2" Type="http://schemas.openxmlformats.org/officeDocument/2006/relationships/image" Target="../media/image1.jpg"/><Relationship Id="rId1" Type="http://schemas.openxmlformats.org/officeDocument/2006/relationships/slideLayout" Target="../slideLayouts/slideLayout2.xml"/><Relationship Id="rId6" Type="http://schemas.openxmlformats.org/officeDocument/2006/relationships/image" Target="../media/image37.png"/><Relationship Id="rId5" Type="http://schemas.openxmlformats.org/officeDocument/2006/relationships/image" Target="../media/image36.png"/><Relationship Id="rId4" Type="http://schemas.openxmlformats.org/officeDocument/2006/relationships/image" Target="../media/image4.jpg"/></Relationships>
</file>

<file path=ppt/slides/_rels/slide52.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41.png"/><Relationship Id="rId2" Type="http://schemas.openxmlformats.org/officeDocument/2006/relationships/image" Target="../media/image1.jpg"/><Relationship Id="rId1" Type="http://schemas.openxmlformats.org/officeDocument/2006/relationships/slideLayout" Target="../slideLayouts/slideLayout2.xml"/><Relationship Id="rId6" Type="http://schemas.openxmlformats.org/officeDocument/2006/relationships/image" Target="../media/image40.png"/><Relationship Id="rId5" Type="http://schemas.openxmlformats.org/officeDocument/2006/relationships/image" Target="../media/image39.png"/><Relationship Id="rId4" Type="http://schemas.openxmlformats.org/officeDocument/2006/relationships/image" Target="../media/image4.jpg"/></Relationships>
</file>

<file path=ppt/slides/_rels/slide5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2.xml"/><Relationship Id="rId5" Type="http://schemas.openxmlformats.org/officeDocument/2006/relationships/image" Target="../media/image42.jpeg"/><Relationship Id="rId4" Type="http://schemas.openxmlformats.org/officeDocument/2006/relationships/image" Target="../media/image4.jpg"/></Relationships>
</file>

<file path=ppt/slides/_rels/slide5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2.xml"/><Relationship Id="rId5" Type="http://schemas.openxmlformats.org/officeDocument/2006/relationships/image" Target="../media/image43.jpeg"/><Relationship Id="rId4" Type="http://schemas.openxmlformats.org/officeDocument/2006/relationships/image" Target="../media/image4.jpg"/></Relationships>
</file>

<file path=ppt/slides/_rels/slide5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2.xml"/><Relationship Id="rId5" Type="http://schemas.openxmlformats.org/officeDocument/2006/relationships/image" Target="../media/image44.jpeg"/><Relationship Id="rId4" Type="http://schemas.openxmlformats.org/officeDocument/2006/relationships/image" Target="../media/image4.jpg"/></Relationships>
</file>

<file path=ppt/slides/_rels/slide5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2.xml"/><Relationship Id="rId4" Type="http://schemas.openxmlformats.org/officeDocument/2006/relationships/image" Target="../media/image4.jpg"/></Relationships>
</file>

<file path=ppt/slides/_rels/slide5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2.xml"/><Relationship Id="rId4" Type="http://schemas.openxmlformats.org/officeDocument/2006/relationships/image" Target="../media/image4.jpg"/></Relationships>
</file>

<file path=ppt/slides/_rels/slide5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2.xml"/><Relationship Id="rId6" Type="http://schemas.openxmlformats.org/officeDocument/2006/relationships/hyperlink" Target="https://www.youtube.com/watch?v=SoJxjJmA9rs" TargetMode="External"/><Relationship Id="rId5" Type="http://schemas.openxmlformats.org/officeDocument/2006/relationships/image" Target="../media/image45.png"/><Relationship Id="rId4" Type="http://schemas.openxmlformats.org/officeDocument/2006/relationships/image" Target="../media/image4.jpg"/></Relationships>
</file>

<file path=ppt/slides/_rels/slide5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2.xml"/><Relationship Id="rId4" Type="http://schemas.openxmlformats.org/officeDocument/2006/relationships/image" Target="../media/image4.jpg"/></Relationships>
</file>

<file path=ppt/slides/_rels/slide6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2.xml"/><Relationship Id="rId5" Type="http://schemas.openxmlformats.org/officeDocument/2006/relationships/image" Target="../media/image46.jpg"/><Relationship Id="rId4" Type="http://schemas.openxmlformats.org/officeDocument/2006/relationships/image" Target="../media/image4.jpg"/></Relationships>
</file>

<file path=ppt/slides/_rels/slide6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2.xml"/><Relationship Id="rId4" Type="http://schemas.openxmlformats.org/officeDocument/2006/relationships/image" Target="../media/image4.jpg"/></Relationships>
</file>

<file path=ppt/slides/_rels/slide6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2.xml"/><Relationship Id="rId4" Type="http://schemas.openxmlformats.org/officeDocument/2006/relationships/image" Target="../media/image4.jpg"/></Relationships>
</file>

<file path=ppt/slides/_rels/slide6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2.xml"/><Relationship Id="rId5" Type="http://schemas.openxmlformats.org/officeDocument/2006/relationships/image" Target="../media/image47.jpg"/><Relationship Id="rId4" Type="http://schemas.openxmlformats.org/officeDocument/2006/relationships/image" Target="../media/image4.jpg"/></Relationships>
</file>

<file path=ppt/slides/_rels/slide6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2.xml"/><Relationship Id="rId4" Type="http://schemas.openxmlformats.org/officeDocument/2006/relationships/image" Target="../media/image4.jpg"/></Relationships>
</file>

<file path=ppt/slides/_rels/slide6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2.xml"/><Relationship Id="rId5" Type="http://schemas.openxmlformats.org/officeDocument/2006/relationships/image" Target="../media/image48.png"/><Relationship Id="rId4" Type="http://schemas.openxmlformats.org/officeDocument/2006/relationships/image" Target="../media/image4.jpg"/></Relationships>
</file>

<file path=ppt/slides/_rels/slide6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2.xml"/><Relationship Id="rId6" Type="http://schemas.openxmlformats.org/officeDocument/2006/relationships/image" Target="../media/image50.png"/><Relationship Id="rId5" Type="http://schemas.openxmlformats.org/officeDocument/2006/relationships/image" Target="../media/image49.png"/><Relationship Id="rId4" Type="http://schemas.openxmlformats.org/officeDocument/2006/relationships/image" Target="../media/image4.jpg"/></Relationships>
</file>

<file path=ppt/slides/_rels/slide6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2.xml"/><Relationship Id="rId5" Type="http://schemas.openxmlformats.org/officeDocument/2006/relationships/image" Target="../media/image51.png"/><Relationship Id="rId4" Type="http://schemas.openxmlformats.org/officeDocument/2006/relationships/image" Target="../media/image4.jpg"/></Relationships>
</file>

<file path=ppt/slides/_rels/slide6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2.xml"/><Relationship Id="rId5" Type="http://schemas.openxmlformats.org/officeDocument/2006/relationships/image" Target="../media/image52.png"/><Relationship Id="rId4" Type="http://schemas.openxmlformats.org/officeDocument/2006/relationships/image" Target="../media/image4.jpg"/></Relationships>
</file>

<file path=ppt/slides/_rels/slide6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2.xml"/><Relationship Id="rId4" Type="http://schemas.openxmlformats.org/officeDocument/2006/relationships/image" Target="../media/image4.jpg"/></Relationships>
</file>

<file path=ppt/slides/_rels/slide7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2.xml"/><Relationship Id="rId4" Type="http://schemas.openxmlformats.org/officeDocument/2006/relationships/image" Target="../media/image4.jpg"/></Relationships>
</file>

<file path=ppt/slides/_rels/slide7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2.xml"/><Relationship Id="rId4" Type="http://schemas.openxmlformats.org/officeDocument/2006/relationships/image" Target="../media/image4.jpg"/></Relationships>
</file>

<file path=ppt/slides/_rels/slide7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2.xml"/><Relationship Id="rId4" Type="http://schemas.openxmlformats.org/officeDocument/2006/relationships/image" Target="../media/image4.jpg"/></Relationships>
</file>

<file path=ppt/slides/_rels/slide7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hyperlink" Target="https://www.studocu.com/in/document/visvesvaraya-technological-university/artificial-intelligence/ai-unit-2-searching-techniques/39775680" TargetMode="External"/><Relationship Id="rId1" Type="http://schemas.openxmlformats.org/officeDocument/2006/relationships/slideLayout" Target="../slideLayouts/slideLayout2.xml"/><Relationship Id="rId5" Type="http://schemas.openxmlformats.org/officeDocument/2006/relationships/image" Target="../media/image4.jpg"/><Relationship Id="rId4" Type="http://schemas.openxmlformats.org/officeDocument/2006/relationships/image" Target="../media/image2.png"/></Relationships>
</file>

<file path=ppt/slides/_rels/slide74.xml.rels><?xml version="1.0" encoding="UTF-8" standalone="yes"?>
<Relationships xmlns="http://schemas.openxmlformats.org/package/2006/relationships"><Relationship Id="rId3" Type="http://schemas.openxmlformats.org/officeDocument/2006/relationships/image" Target="../media/image53.jpeg"/><Relationship Id="rId2" Type="http://schemas.openxmlformats.org/officeDocument/2006/relationships/image" Target="../media/image1.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3DFEC2-DEB5-447F-AEFE-9E7E2196D86D}"/>
              </a:ext>
            </a:extLst>
          </p:cNvPr>
          <p:cNvSpPr>
            <a:spLocks noGrp="1"/>
          </p:cNvSpPr>
          <p:nvPr>
            <p:ph type="ctrTitle"/>
          </p:nvPr>
        </p:nvSpPr>
        <p:spPr>
          <a:xfrm>
            <a:off x="1237529" y="2751777"/>
            <a:ext cx="10275580" cy="677223"/>
          </a:xfrm>
        </p:spPr>
        <p:txBody>
          <a:bodyPr>
            <a:noAutofit/>
          </a:bodyPr>
          <a:lstStyle/>
          <a:p>
            <a:pPr algn="ctr"/>
            <a:r>
              <a:rPr lang="en-US" sz="3600" b="1" dirty="0">
                <a:latin typeface="Bookman Old Style" panose="02050604050505020204" pitchFamily="18" charset="0"/>
              </a:rPr>
              <a:t>ARTIFICIAL INTELLIGENCE </a:t>
            </a:r>
            <a:endParaRPr lang="en-IN" sz="3600" b="1" dirty="0">
              <a:latin typeface="Bookman Old Style" panose="02050604050505020204" pitchFamily="18" charset="0"/>
            </a:endParaRPr>
          </a:p>
        </p:txBody>
      </p:sp>
      <p:sp>
        <p:nvSpPr>
          <p:cNvPr id="3" name="Subtitle 2">
            <a:extLst>
              <a:ext uri="{FF2B5EF4-FFF2-40B4-BE49-F238E27FC236}">
                <a16:creationId xmlns:a16="http://schemas.microsoft.com/office/drawing/2014/main" id="{A71590CC-6534-4400-AF9C-CCEBF477395D}"/>
              </a:ext>
            </a:extLst>
          </p:cNvPr>
          <p:cNvSpPr>
            <a:spLocks noGrp="1"/>
          </p:cNvSpPr>
          <p:nvPr>
            <p:ph type="subTitle" idx="1"/>
          </p:nvPr>
        </p:nvSpPr>
        <p:spPr>
          <a:xfrm>
            <a:off x="4046123" y="3686423"/>
            <a:ext cx="3429031" cy="1126283"/>
          </a:xfrm>
        </p:spPr>
        <p:txBody>
          <a:bodyPr/>
          <a:lstStyle/>
          <a:p>
            <a:pPr algn="ctr"/>
            <a:r>
              <a:rPr lang="en-IN" b="1" dirty="0">
                <a:latin typeface="Bookman Old Style" panose="02050604050505020204" pitchFamily="18" charset="0"/>
              </a:rPr>
              <a:t>SEMESTER – IV</a:t>
            </a:r>
          </a:p>
          <a:p>
            <a:pPr algn="ctr"/>
            <a:r>
              <a:rPr lang="en-IN" b="1" dirty="0">
                <a:latin typeface="Bookman Old Style" panose="02050604050505020204" pitchFamily="18" charset="0"/>
              </a:rPr>
              <a:t>Course Code: 23AM2305</a:t>
            </a:r>
          </a:p>
        </p:txBody>
      </p:sp>
      <p:sp>
        <p:nvSpPr>
          <p:cNvPr id="5" name="TextBox 4">
            <a:extLst>
              <a:ext uri="{FF2B5EF4-FFF2-40B4-BE49-F238E27FC236}">
                <a16:creationId xmlns:a16="http://schemas.microsoft.com/office/drawing/2014/main" id="{CA32C355-0531-4BF0-9153-9B9471561D8A}"/>
              </a:ext>
            </a:extLst>
          </p:cNvPr>
          <p:cNvSpPr txBox="1"/>
          <p:nvPr/>
        </p:nvSpPr>
        <p:spPr>
          <a:xfrm>
            <a:off x="167148" y="688778"/>
            <a:ext cx="12192000" cy="1292662"/>
          </a:xfrm>
          <a:prstGeom prst="rect">
            <a:avLst/>
          </a:prstGeom>
          <a:noFill/>
        </p:spPr>
        <p:txBody>
          <a:bodyPr wrap="square">
            <a:spAutoFit/>
          </a:bodyPr>
          <a:lstStyle/>
          <a:p>
            <a:pPr algn="ctr"/>
            <a:r>
              <a:rPr lang="en-US" sz="3200" b="1" i="0" dirty="0">
                <a:solidFill>
                  <a:schemeClr val="accent1"/>
                </a:solidFill>
                <a:effectLst/>
                <a:latin typeface="Bookman Old Style" panose="02050604050505020204" pitchFamily="18" charset="0"/>
              </a:rPr>
              <a:t>Dayananda Sagar University (DSU)- Main Campus</a:t>
            </a:r>
          </a:p>
          <a:p>
            <a:pPr algn="ctr"/>
            <a:r>
              <a:rPr lang="en-US" sz="2800" b="1" dirty="0">
                <a:solidFill>
                  <a:srgbClr val="0070C0"/>
                </a:solidFill>
                <a:effectLst/>
                <a:latin typeface="Bookman Old Style" panose="02050604050505020204" pitchFamily="18" charset="0"/>
                <a:ea typeface="Calibri" panose="020F0502020204030204" pitchFamily="34" charset="0"/>
                <a:cs typeface="Arial" panose="020B0604020202020204" pitchFamily="34" charset="0"/>
              </a:rPr>
              <a:t>School of Engineering </a:t>
            </a:r>
          </a:p>
          <a:p>
            <a:pPr algn="ctr"/>
            <a:r>
              <a:rPr lang="en-US" b="1" dirty="0" err="1">
                <a:latin typeface="Bookman Old Style" panose="02050604050505020204" pitchFamily="18" charset="0"/>
                <a:cs typeface="Arial" panose="020B0604020202020204" pitchFamily="34" charset="0"/>
              </a:rPr>
              <a:t>Devarakaggalahalli</a:t>
            </a:r>
            <a:r>
              <a:rPr lang="en-US" b="1" dirty="0">
                <a:latin typeface="Bookman Old Style" panose="02050604050505020204" pitchFamily="18" charset="0"/>
                <a:cs typeface="Arial" panose="020B0604020202020204" pitchFamily="34" charset="0"/>
              </a:rPr>
              <a:t>, </a:t>
            </a:r>
            <a:r>
              <a:rPr lang="en-US" b="1" dirty="0" err="1">
                <a:latin typeface="Bookman Old Style" panose="02050604050505020204" pitchFamily="18" charset="0"/>
                <a:cs typeface="Arial" panose="020B0604020202020204" pitchFamily="34" charset="0"/>
              </a:rPr>
              <a:t>Harohalli</a:t>
            </a:r>
            <a:r>
              <a:rPr lang="en-US" b="1" dirty="0">
                <a:latin typeface="Bookman Old Style" panose="02050604050505020204" pitchFamily="18" charset="0"/>
                <a:cs typeface="Arial" panose="020B0604020202020204" pitchFamily="34" charset="0"/>
              </a:rPr>
              <a:t> </a:t>
            </a:r>
            <a:r>
              <a:rPr lang="en-US" b="1" dirty="0" err="1">
                <a:latin typeface="Bookman Old Style" panose="02050604050505020204" pitchFamily="18" charset="0"/>
                <a:cs typeface="Arial" panose="020B0604020202020204" pitchFamily="34" charset="0"/>
              </a:rPr>
              <a:t>Kanakapura</a:t>
            </a:r>
            <a:r>
              <a:rPr lang="en-US" b="1" dirty="0">
                <a:latin typeface="Bookman Old Style" panose="02050604050505020204" pitchFamily="18" charset="0"/>
                <a:cs typeface="Arial" panose="020B0604020202020204" pitchFamily="34" charset="0"/>
              </a:rPr>
              <a:t> Road, Dt, </a:t>
            </a:r>
            <a:r>
              <a:rPr lang="en-US" b="1" dirty="0" err="1">
                <a:latin typeface="Bookman Old Style" panose="02050604050505020204" pitchFamily="18" charset="0"/>
                <a:cs typeface="Arial" panose="020B0604020202020204" pitchFamily="34" charset="0"/>
              </a:rPr>
              <a:t>Ramanagara</a:t>
            </a:r>
            <a:r>
              <a:rPr lang="en-US" b="1" dirty="0">
                <a:latin typeface="Bookman Old Style" panose="02050604050505020204" pitchFamily="18" charset="0"/>
                <a:cs typeface="Arial" panose="020B0604020202020204" pitchFamily="34" charset="0"/>
              </a:rPr>
              <a:t>, Karnataka 562112</a:t>
            </a:r>
            <a:endParaRPr lang="en-IN" b="1" dirty="0">
              <a:latin typeface="Bookman Old Style" panose="02050604050505020204" pitchFamily="18" charset="0"/>
              <a:cs typeface="Arial" panose="020B0604020202020204" pitchFamily="34" charset="0"/>
            </a:endParaRPr>
          </a:p>
        </p:txBody>
      </p:sp>
      <p:pic>
        <p:nvPicPr>
          <p:cNvPr id="8" name="Picture 7">
            <a:extLst>
              <a:ext uri="{FF2B5EF4-FFF2-40B4-BE49-F238E27FC236}">
                <a16:creationId xmlns:a16="http://schemas.microsoft.com/office/drawing/2014/main" id="{B3A279DF-1471-4D42-AD1D-AD5FBF0A253C}"/>
              </a:ext>
            </a:extLst>
          </p:cNvPr>
          <p:cNvPicPr>
            <a:picLocks noChangeAspect="1"/>
          </p:cNvPicPr>
          <p:nvPr/>
        </p:nvPicPr>
        <p:blipFill rotWithShape="1">
          <a:blip r:embed="rId2">
            <a:extLst>
              <a:ext uri="{28A0092B-C50C-407E-A947-70E740481C1C}">
                <a14:useLocalDpi xmlns:a14="http://schemas.microsoft.com/office/drawing/2010/main" val="0"/>
              </a:ext>
            </a:extLst>
          </a:blip>
          <a:srcRect l="7632" t="6513" r="14801" b="12673"/>
          <a:stretch/>
        </p:blipFill>
        <p:spPr>
          <a:xfrm>
            <a:off x="11003168" y="6329803"/>
            <a:ext cx="1002890" cy="342928"/>
          </a:xfrm>
          <a:prstGeom prst="rect">
            <a:avLst/>
          </a:prstGeom>
        </p:spPr>
      </p:pic>
      <p:sp>
        <p:nvSpPr>
          <p:cNvPr id="9" name="TextBox 8">
            <a:extLst>
              <a:ext uri="{FF2B5EF4-FFF2-40B4-BE49-F238E27FC236}">
                <a16:creationId xmlns:a16="http://schemas.microsoft.com/office/drawing/2014/main" id="{E324DCDB-382E-4557-97AE-304803BA095E}"/>
              </a:ext>
            </a:extLst>
          </p:cNvPr>
          <p:cNvSpPr txBox="1"/>
          <p:nvPr/>
        </p:nvSpPr>
        <p:spPr>
          <a:xfrm>
            <a:off x="137652" y="4513006"/>
            <a:ext cx="1741230" cy="369332"/>
          </a:xfrm>
          <a:prstGeom prst="rect">
            <a:avLst/>
          </a:prstGeom>
          <a:noFill/>
        </p:spPr>
        <p:txBody>
          <a:bodyPr wrap="square" rtlCol="0">
            <a:spAutoFit/>
          </a:bodyPr>
          <a:lstStyle/>
          <a:p>
            <a:r>
              <a:rPr lang="en-US" sz="1800" dirty="0">
                <a:solidFill>
                  <a:schemeClr val="bg1"/>
                </a:solidFill>
                <a:effectLst/>
                <a:latin typeface="Bookman Old Style" panose="02050604050505020204" pitchFamily="18" charset="0"/>
                <a:ea typeface="Calibri" panose="020F0502020204030204" pitchFamily="34" charset="0"/>
              </a:rPr>
              <a:t>22AM2305</a:t>
            </a:r>
            <a:endParaRPr lang="en-IN" dirty="0">
              <a:solidFill>
                <a:schemeClr val="bg1"/>
              </a:solidFill>
              <a:latin typeface="Bookman Old Style" panose="02050604050505020204" pitchFamily="18" charset="0"/>
            </a:endParaRPr>
          </a:p>
        </p:txBody>
      </p:sp>
      <p:sp>
        <p:nvSpPr>
          <p:cNvPr id="7" name="Rectangle 2">
            <a:extLst>
              <a:ext uri="{FF2B5EF4-FFF2-40B4-BE49-F238E27FC236}">
                <a16:creationId xmlns:a16="http://schemas.microsoft.com/office/drawing/2014/main" id="{943850C8-A418-61B7-267C-6B159E580BB8}"/>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pic>
        <p:nvPicPr>
          <p:cNvPr id="2049" name="Picture 2" descr="logo">
            <a:extLst>
              <a:ext uri="{FF2B5EF4-FFF2-40B4-BE49-F238E27FC236}">
                <a16:creationId xmlns:a16="http://schemas.microsoft.com/office/drawing/2014/main" id="{E3E0F2A7-81AF-75D1-69FF-0485D5EF493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7148" y="25754"/>
            <a:ext cx="1070381" cy="1049796"/>
          </a:xfrm>
          <a:prstGeom prst="rect">
            <a:avLst/>
          </a:prstGeom>
          <a:noFill/>
          <a:extLst>
            <a:ext uri="{909E8E84-426E-40DD-AFC4-6F175D3DCCD1}">
              <a14:hiddenFill xmlns:a14="http://schemas.microsoft.com/office/drawing/2010/main">
                <a:solidFill>
                  <a:srgbClr val="FFFFFF"/>
                </a:solidFill>
              </a14:hiddenFill>
            </a:ext>
          </a:extLst>
        </p:spPr>
      </p:pic>
      <p:sp>
        <p:nvSpPr>
          <p:cNvPr id="19" name="TextBox 18">
            <a:extLst>
              <a:ext uri="{FF2B5EF4-FFF2-40B4-BE49-F238E27FC236}">
                <a16:creationId xmlns:a16="http://schemas.microsoft.com/office/drawing/2014/main" id="{1B9E9AAB-A1A0-A1A0-5438-B696F404FFAA}"/>
              </a:ext>
            </a:extLst>
          </p:cNvPr>
          <p:cNvSpPr txBox="1"/>
          <p:nvPr/>
        </p:nvSpPr>
        <p:spPr>
          <a:xfrm>
            <a:off x="1878882" y="2062998"/>
            <a:ext cx="8601075" cy="846386"/>
          </a:xfrm>
          <a:prstGeom prst="rect">
            <a:avLst/>
          </a:prstGeom>
          <a:noFill/>
        </p:spPr>
        <p:txBody>
          <a:bodyPr wrap="square">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lang="en-US" altLang="en-US" sz="2000" b="1" dirty="0">
                <a:latin typeface="Bookman Old Style" panose="02050604050505020204" pitchFamily="18" charset="0"/>
                <a:cs typeface="Times New Roman" panose="02020603050405020304" pitchFamily="18" charset="0"/>
              </a:rPr>
              <a:t>Department of Computer Science &amp; Engineering</a:t>
            </a:r>
          </a:p>
          <a:p>
            <a:pPr marL="0" marR="0" lvl="0" indent="0" algn="ctr" defTabSz="914400" rtl="0" eaLnBrk="0" fontAlgn="base" latinLnBrk="0" hangingPunct="0">
              <a:lnSpc>
                <a:spcPct val="100000"/>
              </a:lnSpc>
              <a:spcBef>
                <a:spcPct val="0"/>
              </a:spcBef>
              <a:spcAft>
                <a:spcPct val="0"/>
              </a:spcAft>
              <a:buClrTx/>
              <a:buSzTx/>
              <a:buFontTx/>
              <a:buNone/>
              <a:tabLst/>
            </a:pPr>
            <a:r>
              <a:rPr lang="en-US" altLang="en-US" sz="2000" b="1" dirty="0">
                <a:latin typeface="Bookman Old Style" panose="02050604050505020204" pitchFamily="18" charset="0"/>
                <a:cs typeface="Times New Roman" panose="02020603050405020304" pitchFamily="18" charset="0"/>
              </a:rPr>
              <a:t>(Artificial Intelligence &amp; Machine Learning)</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900" b="0" i="0" u="none" strike="noStrike" cap="none" normalizeH="0" baseline="0" dirty="0">
              <a:ln>
                <a:noFill/>
              </a:ln>
              <a:solidFill>
                <a:schemeClr val="tx1"/>
              </a:solidFill>
              <a:effectLst/>
            </a:endParaRPr>
          </a:p>
        </p:txBody>
      </p:sp>
      <p:pic>
        <p:nvPicPr>
          <p:cNvPr id="1026" name="Picture 2" descr="Dr. Chandramma Dayananda Sagar Instt. of Medical Education &amp; Research,  Harohalli, Hubli">
            <a:extLst>
              <a:ext uri="{FF2B5EF4-FFF2-40B4-BE49-F238E27FC236}">
                <a16:creationId xmlns:a16="http://schemas.microsoft.com/office/drawing/2014/main" id="{43AE9262-195B-7371-D130-94067D064427}"/>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t="27616"/>
          <a:stretch/>
        </p:blipFill>
        <p:spPr bwMode="auto">
          <a:xfrm>
            <a:off x="2460803" y="4962519"/>
            <a:ext cx="7437232" cy="1538748"/>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10">
            <a:extLst>
              <a:ext uri="{FF2B5EF4-FFF2-40B4-BE49-F238E27FC236}">
                <a16:creationId xmlns:a16="http://schemas.microsoft.com/office/drawing/2014/main" id="{8117810A-6AC4-588D-3FD6-EE81B509B83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322140" y="89593"/>
            <a:ext cx="742040" cy="757183"/>
          </a:xfrm>
          <a:prstGeom prst="rect">
            <a:avLst/>
          </a:prstGeom>
        </p:spPr>
      </p:pic>
    </p:spTree>
    <p:extLst>
      <p:ext uri="{BB962C8B-B14F-4D97-AF65-F5344CB8AC3E}">
        <p14:creationId xmlns:p14="http://schemas.microsoft.com/office/powerpoint/2010/main" val="416335428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47515F-4A58-DFA9-F4DC-FA2F57C2B8AC}"/>
              </a:ext>
            </a:extLst>
          </p:cNvPr>
          <p:cNvSpPr>
            <a:spLocks noGrp="1"/>
          </p:cNvSpPr>
          <p:nvPr>
            <p:ph type="title"/>
          </p:nvPr>
        </p:nvSpPr>
        <p:spPr/>
        <p:txBody>
          <a:bodyPr/>
          <a:lstStyle/>
          <a:p>
            <a:r>
              <a:rPr lang="en-IN" b="1" dirty="0">
                <a:latin typeface="Cambria" panose="02040503050406030204" pitchFamily="18" charset="0"/>
                <a:ea typeface="Cambria" panose="02040503050406030204" pitchFamily="18" charset="0"/>
                <a:cs typeface="Cambria" panose="02040503050406030204" pitchFamily="18" charset="0"/>
              </a:rPr>
              <a:t>Course Learning Objectives</a:t>
            </a:r>
            <a:br>
              <a:rPr lang="en-US" dirty="0">
                <a:latin typeface="Calibri" panose="020F0502020204030204"/>
                <a:ea typeface="Calibri" panose="020F0502020204030204"/>
              </a:rPr>
            </a:br>
            <a:endParaRPr lang="en-US" dirty="0"/>
          </a:p>
        </p:txBody>
      </p:sp>
      <p:sp>
        <p:nvSpPr>
          <p:cNvPr id="3" name="Content Placeholder 2">
            <a:extLst>
              <a:ext uri="{FF2B5EF4-FFF2-40B4-BE49-F238E27FC236}">
                <a16:creationId xmlns:a16="http://schemas.microsoft.com/office/drawing/2014/main" id="{CD8527A1-EA1C-ABF8-E388-1F26941C7D64}"/>
              </a:ext>
            </a:extLst>
          </p:cNvPr>
          <p:cNvSpPr>
            <a:spLocks noGrp="1"/>
          </p:cNvSpPr>
          <p:nvPr>
            <p:ph idx="1"/>
          </p:nvPr>
        </p:nvSpPr>
        <p:spPr>
          <a:xfrm>
            <a:off x="1170039" y="1425678"/>
            <a:ext cx="10334573" cy="3401962"/>
          </a:xfrm>
        </p:spPr>
        <p:txBody>
          <a:bodyPr/>
          <a:lstStyle/>
          <a:p>
            <a:pPr>
              <a:lnSpc>
                <a:spcPct val="107000"/>
              </a:lnSpc>
              <a:spcAft>
                <a:spcPts val="800"/>
              </a:spcAft>
            </a:pPr>
            <a:r>
              <a:rPr lang="en-IN" sz="1800" dirty="0">
                <a:effectLst/>
                <a:latin typeface="Cambria" panose="02040503050406030204" pitchFamily="18" charset="0"/>
                <a:ea typeface="Cambria" panose="02040503050406030204" pitchFamily="18" charset="0"/>
                <a:cs typeface="Cambria" panose="02040503050406030204" pitchFamily="18" charset="0"/>
              </a:rPr>
              <a:t>This course will enable students to:</a:t>
            </a:r>
            <a:endParaRPr lang="en-US" sz="1800" dirty="0">
              <a:effectLst/>
              <a:latin typeface="Calibri" panose="020F0502020204030204"/>
              <a:ea typeface="Calibri" panose="020F0502020204030204"/>
            </a:endParaRPr>
          </a:p>
          <a:p>
            <a:pPr marL="342900" lvl="0" indent="-342900">
              <a:lnSpc>
                <a:spcPct val="107000"/>
              </a:lnSpc>
              <a:buFont typeface="+mj-lt"/>
              <a:buAutoNum type="arabicPeriod"/>
            </a:pPr>
            <a:r>
              <a:rPr lang="en-IN" sz="1800" dirty="0">
                <a:solidFill>
                  <a:srgbClr val="000000"/>
                </a:solidFill>
                <a:effectLst/>
                <a:latin typeface="Cambria" panose="02040503050406030204" pitchFamily="18" charset="0"/>
                <a:ea typeface="Cambria" panose="02040503050406030204" pitchFamily="18" charset="0"/>
                <a:cs typeface="Cambria" panose="02040503050406030204" pitchFamily="18" charset="0"/>
              </a:rPr>
              <a:t>To provide a strong foundation of fundamental concepts in artificial intelligence.</a:t>
            </a:r>
            <a:endParaRPr lang="en-US" sz="1800" dirty="0">
              <a:effectLst/>
              <a:latin typeface="Calibri" panose="020F0502020204030204"/>
              <a:ea typeface="Calibri" panose="020F0502020204030204"/>
            </a:endParaRPr>
          </a:p>
          <a:p>
            <a:pPr marL="342900" lvl="0" indent="-342900">
              <a:lnSpc>
                <a:spcPct val="107000"/>
              </a:lnSpc>
              <a:buFont typeface="+mj-lt"/>
              <a:buAutoNum type="arabicPeriod"/>
            </a:pPr>
            <a:r>
              <a:rPr lang="en-IN" sz="1800" dirty="0">
                <a:solidFill>
                  <a:srgbClr val="000000"/>
                </a:solidFill>
                <a:effectLst/>
                <a:latin typeface="Cambria" panose="02040503050406030204" pitchFamily="18" charset="0"/>
                <a:ea typeface="Cambria" panose="02040503050406030204" pitchFamily="18" charset="0"/>
                <a:cs typeface="Cambria" panose="02040503050406030204" pitchFamily="18" charset="0"/>
              </a:rPr>
              <a:t>To provide a basic exposition of different types of searching in Artificial intelligence.</a:t>
            </a:r>
            <a:endParaRPr lang="en-US" sz="1800" dirty="0">
              <a:effectLst/>
              <a:latin typeface="Calibri" panose="020F0502020204030204"/>
              <a:ea typeface="Calibri" panose="020F0502020204030204"/>
            </a:endParaRPr>
          </a:p>
          <a:p>
            <a:pPr marL="342900" lvl="0" indent="-342900" algn="just">
              <a:lnSpc>
                <a:spcPct val="115000"/>
              </a:lnSpc>
              <a:spcAft>
                <a:spcPts val="600"/>
              </a:spcAft>
              <a:buFont typeface="+mj-lt"/>
              <a:buAutoNum type="arabicPeriod"/>
            </a:pPr>
            <a:r>
              <a:rPr lang="en-IN" sz="1800" dirty="0">
                <a:solidFill>
                  <a:srgbClr val="000000"/>
                </a:solidFill>
                <a:effectLst/>
                <a:latin typeface="Cambria" panose="02040503050406030204" pitchFamily="18" charset="0"/>
                <a:ea typeface="Cambria" panose="02040503050406030204" pitchFamily="18" charset="0"/>
                <a:cs typeface="Cambria" panose="02040503050406030204" pitchFamily="18" charset="0"/>
              </a:rPr>
              <a:t>To provide different knowledge representation, reasoning, and learning techniques.</a:t>
            </a:r>
            <a:endParaRPr lang="en-US" sz="1800" dirty="0">
              <a:effectLst/>
              <a:latin typeface="Calibri" panose="020F0502020204030204"/>
              <a:ea typeface="Calibri" panose="020F0502020204030204"/>
            </a:endParaRPr>
          </a:p>
          <a:p>
            <a:pPr marL="342900" lvl="0" indent="-342900" algn="just">
              <a:lnSpc>
                <a:spcPct val="115000"/>
              </a:lnSpc>
              <a:spcAft>
                <a:spcPts val="600"/>
              </a:spcAft>
              <a:buFont typeface="+mj-lt"/>
              <a:buAutoNum type="arabicPeriod" startAt="4"/>
            </a:pPr>
            <a:r>
              <a:rPr lang="en-IN" sz="1800" dirty="0">
                <a:solidFill>
                  <a:srgbClr val="000000"/>
                </a:solidFill>
                <a:effectLst/>
                <a:latin typeface="Cambria" panose="02040503050406030204" pitchFamily="18" charset="0"/>
                <a:ea typeface="Cambria" panose="02040503050406030204" pitchFamily="18" charset="0"/>
                <a:cs typeface="Cambria" panose="02040503050406030204" pitchFamily="18" charset="0"/>
              </a:rPr>
              <a:t>To distinguish the different types of expert systems. </a:t>
            </a:r>
            <a:endParaRPr lang="en-US" sz="1800" dirty="0">
              <a:effectLst/>
              <a:latin typeface="Calibri" panose="020F0502020204030204"/>
              <a:ea typeface="Calibri" panose="020F0502020204030204"/>
            </a:endParaRPr>
          </a:p>
          <a:p>
            <a:pPr marL="342900" lvl="0" indent="-342900">
              <a:lnSpc>
                <a:spcPct val="107000"/>
              </a:lnSpc>
              <a:spcAft>
                <a:spcPts val="800"/>
              </a:spcAft>
              <a:buFont typeface="+mj-lt"/>
              <a:buAutoNum type="arabicPeriod" startAt="4"/>
            </a:pPr>
            <a:r>
              <a:rPr lang="en-IN" sz="1800" dirty="0">
                <a:solidFill>
                  <a:srgbClr val="000000"/>
                </a:solidFill>
                <a:effectLst/>
                <a:latin typeface="Cambria" panose="02040503050406030204" pitchFamily="18" charset="0"/>
                <a:ea typeface="Cambria" panose="02040503050406030204" pitchFamily="18" charset="0"/>
                <a:cs typeface="Cambria" panose="02040503050406030204" pitchFamily="18" charset="0"/>
              </a:rPr>
              <a:t>To design the Expert System based on the concepts of knowledge representation, searching and Reasoning on various applications using modernised AI tools.</a:t>
            </a:r>
            <a:endParaRPr lang="en-US" sz="1800" dirty="0">
              <a:effectLst/>
              <a:latin typeface="Calibri" panose="020F0502020204030204"/>
              <a:ea typeface="Calibri" panose="020F0502020204030204"/>
            </a:endParaRPr>
          </a:p>
          <a:p>
            <a:endParaRPr lang="en-US" dirty="0"/>
          </a:p>
        </p:txBody>
      </p:sp>
      <p:pic>
        <p:nvPicPr>
          <p:cNvPr id="4" name="Picture 3">
            <a:extLst>
              <a:ext uri="{FF2B5EF4-FFF2-40B4-BE49-F238E27FC236}">
                <a16:creationId xmlns:a16="http://schemas.microsoft.com/office/drawing/2014/main" id="{0A5EF682-BBC6-BC89-A815-2405B3BFA89F}"/>
              </a:ext>
            </a:extLst>
          </p:cNvPr>
          <p:cNvPicPr>
            <a:picLocks noChangeAspect="1"/>
          </p:cNvPicPr>
          <p:nvPr/>
        </p:nvPicPr>
        <p:blipFill rotWithShape="1">
          <a:blip r:embed="rId2">
            <a:extLst>
              <a:ext uri="{28A0092B-C50C-407E-A947-70E740481C1C}">
                <a14:useLocalDpi xmlns:a14="http://schemas.microsoft.com/office/drawing/2010/main" val="0"/>
              </a:ext>
            </a:extLst>
          </a:blip>
          <a:srcRect l="7632" t="6513" r="14801" b="12673"/>
          <a:stretch/>
        </p:blipFill>
        <p:spPr>
          <a:xfrm>
            <a:off x="11003168" y="6329803"/>
            <a:ext cx="1002890" cy="342928"/>
          </a:xfrm>
          <a:prstGeom prst="rect">
            <a:avLst/>
          </a:prstGeom>
        </p:spPr>
      </p:pic>
      <p:sp>
        <p:nvSpPr>
          <p:cNvPr id="5" name="TextBox 4">
            <a:extLst>
              <a:ext uri="{FF2B5EF4-FFF2-40B4-BE49-F238E27FC236}">
                <a16:creationId xmlns:a16="http://schemas.microsoft.com/office/drawing/2014/main" id="{CED2CCDC-C02F-B3A1-A3C5-707DECA064F1}"/>
              </a:ext>
            </a:extLst>
          </p:cNvPr>
          <p:cNvSpPr txBox="1"/>
          <p:nvPr/>
        </p:nvSpPr>
        <p:spPr>
          <a:xfrm>
            <a:off x="-30367" y="770057"/>
            <a:ext cx="1741230" cy="369332"/>
          </a:xfrm>
          <a:prstGeom prst="rect">
            <a:avLst/>
          </a:prstGeom>
          <a:noFill/>
        </p:spPr>
        <p:txBody>
          <a:bodyPr wrap="square" rtlCol="0">
            <a:spAutoFit/>
          </a:bodyPr>
          <a:lstStyle/>
          <a:p>
            <a:r>
              <a:rPr lang="en-US" sz="1800" dirty="0">
                <a:solidFill>
                  <a:schemeClr val="bg1"/>
                </a:solidFill>
                <a:effectLst/>
                <a:latin typeface="Bookman Old Style" panose="02050604050505020204" pitchFamily="18" charset="0"/>
                <a:ea typeface="Calibri" panose="020F0502020204030204" pitchFamily="34" charset="0"/>
              </a:rPr>
              <a:t>22AM2305</a:t>
            </a:r>
            <a:endParaRPr lang="en-IN" dirty="0">
              <a:solidFill>
                <a:schemeClr val="bg1"/>
              </a:solidFill>
              <a:latin typeface="Bookman Old Style" panose="02050604050505020204" pitchFamily="18" charset="0"/>
            </a:endParaRPr>
          </a:p>
        </p:txBody>
      </p:sp>
      <p:pic>
        <p:nvPicPr>
          <p:cNvPr id="6" name="Picture 2" descr="logo">
            <a:extLst>
              <a:ext uri="{FF2B5EF4-FFF2-40B4-BE49-F238E27FC236}">
                <a16:creationId xmlns:a16="http://schemas.microsoft.com/office/drawing/2014/main" id="{747D0EEE-BA48-499F-B84C-D20F74CB5DB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52799" y="89593"/>
            <a:ext cx="1070381" cy="1049796"/>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a:extLst>
              <a:ext uri="{FF2B5EF4-FFF2-40B4-BE49-F238E27FC236}">
                <a16:creationId xmlns:a16="http://schemas.microsoft.com/office/drawing/2014/main" id="{B8E50AC5-8D2A-6A5D-796D-B6863CA3B31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123180" y="89593"/>
            <a:ext cx="941000" cy="960203"/>
          </a:xfrm>
          <a:prstGeom prst="rect">
            <a:avLst/>
          </a:prstGeom>
        </p:spPr>
      </p:pic>
    </p:spTree>
    <p:extLst>
      <p:ext uri="{BB962C8B-B14F-4D97-AF65-F5344CB8AC3E}">
        <p14:creationId xmlns:p14="http://schemas.microsoft.com/office/powerpoint/2010/main" val="30251486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A5EF682-BBC6-BC89-A815-2405B3BFA89F}"/>
              </a:ext>
            </a:extLst>
          </p:cNvPr>
          <p:cNvPicPr>
            <a:picLocks noChangeAspect="1"/>
          </p:cNvPicPr>
          <p:nvPr/>
        </p:nvPicPr>
        <p:blipFill rotWithShape="1">
          <a:blip r:embed="rId2">
            <a:extLst>
              <a:ext uri="{28A0092B-C50C-407E-A947-70E740481C1C}">
                <a14:useLocalDpi xmlns:a14="http://schemas.microsoft.com/office/drawing/2010/main" val="0"/>
              </a:ext>
            </a:extLst>
          </a:blip>
          <a:srcRect l="7632" t="6513" r="14801" b="12673"/>
          <a:stretch/>
        </p:blipFill>
        <p:spPr>
          <a:xfrm>
            <a:off x="11003168" y="6329803"/>
            <a:ext cx="1002890" cy="342928"/>
          </a:xfrm>
          <a:prstGeom prst="rect">
            <a:avLst/>
          </a:prstGeom>
        </p:spPr>
      </p:pic>
      <p:sp>
        <p:nvSpPr>
          <p:cNvPr id="5" name="TextBox 4">
            <a:extLst>
              <a:ext uri="{FF2B5EF4-FFF2-40B4-BE49-F238E27FC236}">
                <a16:creationId xmlns:a16="http://schemas.microsoft.com/office/drawing/2014/main" id="{CED2CCDC-C02F-B3A1-A3C5-707DECA064F1}"/>
              </a:ext>
            </a:extLst>
          </p:cNvPr>
          <p:cNvSpPr txBox="1"/>
          <p:nvPr/>
        </p:nvSpPr>
        <p:spPr>
          <a:xfrm>
            <a:off x="-30367" y="770057"/>
            <a:ext cx="1741230" cy="369332"/>
          </a:xfrm>
          <a:prstGeom prst="rect">
            <a:avLst/>
          </a:prstGeom>
          <a:noFill/>
        </p:spPr>
        <p:txBody>
          <a:bodyPr wrap="square" rtlCol="0">
            <a:spAutoFit/>
          </a:bodyPr>
          <a:lstStyle/>
          <a:p>
            <a:r>
              <a:rPr lang="en-US" sz="1800" dirty="0">
                <a:solidFill>
                  <a:schemeClr val="bg1"/>
                </a:solidFill>
                <a:effectLst/>
                <a:latin typeface="Bookman Old Style" panose="02050604050505020204" pitchFamily="18" charset="0"/>
                <a:ea typeface="Calibri" panose="020F0502020204030204" pitchFamily="34" charset="0"/>
              </a:rPr>
              <a:t>22AM2305</a:t>
            </a:r>
            <a:endParaRPr lang="en-IN" dirty="0">
              <a:solidFill>
                <a:schemeClr val="bg1"/>
              </a:solidFill>
              <a:latin typeface="Bookman Old Style" panose="02050604050505020204" pitchFamily="18" charset="0"/>
            </a:endParaRPr>
          </a:p>
        </p:txBody>
      </p:sp>
      <p:pic>
        <p:nvPicPr>
          <p:cNvPr id="6" name="Picture 2" descr="logo">
            <a:extLst>
              <a:ext uri="{FF2B5EF4-FFF2-40B4-BE49-F238E27FC236}">
                <a16:creationId xmlns:a16="http://schemas.microsoft.com/office/drawing/2014/main" id="{747D0EEE-BA48-499F-B84C-D20F74CB5DB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52799" y="89593"/>
            <a:ext cx="1070381" cy="1049796"/>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a:extLst>
              <a:ext uri="{FF2B5EF4-FFF2-40B4-BE49-F238E27FC236}">
                <a16:creationId xmlns:a16="http://schemas.microsoft.com/office/drawing/2014/main" id="{B8E50AC5-8D2A-6A5D-796D-B6863CA3B31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123180" y="89593"/>
            <a:ext cx="941000" cy="960203"/>
          </a:xfrm>
          <a:prstGeom prst="rect">
            <a:avLst/>
          </a:prstGeom>
        </p:spPr>
      </p:pic>
      <p:graphicFrame>
        <p:nvGraphicFramePr>
          <p:cNvPr id="8" name="Table 7">
            <a:extLst>
              <a:ext uri="{FF2B5EF4-FFF2-40B4-BE49-F238E27FC236}">
                <a16:creationId xmlns:a16="http://schemas.microsoft.com/office/drawing/2014/main" id="{B504364A-B4DE-65C7-976A-445B70303647}"/>
              </a:ext>
            </a:extLst>
          </p:cNvPr>
          <p:cNvGraphicFramePr>
            <a:graphicFrameLocks noGrp="1"/>
          </p:cNvGraphicFramePr>
          <p:nvPr>
            <p:extLst>
              <p:ext uri="{D42A27DB-BD31-4B8C-83A1-F6EECF244321}">
                <p14:modId xmlns:p14="http://schemas.microsoft.com/office/powerpoint/2010/main" val="1406092620"/>
              </p:ext>
            </p:extLst>
          </p:nvPr>
        </p:nvGraphicFramePr>
        <p:xfrm>
          <a:off x="755076" y="1403110"/>
          <a:ext cx="10681847" cy="4297746"/>
        </p:xfrm>
        <a:graphic>
          <a:graphicData uri="http://schemas.openxmlformats.org/drawingml/2006/table">
            <a:tbl>
              <a:tblPr bandRow="1">
                <a:tableStyleId>{616DA210-FB5B-4158-B5E0-FEB733F419BA}</a:tableStyleId>
              </a:tblPr>
              <a:tblGrid>
                <a:gridCol w="992807">
                  <a:extLst>
                    <a:ext uri="{9D8B030D-6E8A-4147-A177-3AD203B41FA5}">
                      <a16:colId xmlns:a16="http://schemas.microsoft.com/office/drawing/2014/main" val="3732193762"/>
                    </a:ext>
                  </a:extLst>
                </a:gridCol>
                <a:gridCol w="7942439">
                  <a:extLst>
                    <a:ext uri="{9D8B030D-6E8A-4147-A177-3AD203B41FA5}">
                      <a16:colId xmlns:a16="http://schemas.microsoft.com/office/drawing/2014/main" val="87162701"/>
                    </a:ext>
                  </a:extLst>
                </a:gridCol>
                <a:gridCol w="1746601">
                  <a:extLst>
                    <a:ext uri="{9D8B030D-6E8A-4147-A177-3AD203B41FA5}">
                      <a16:colId xmlns:a16="http://schemas.microsoft.com/office/drawing/2014/main" val="1492142142"/>
                    </a:ext>
                  </a:extLst>
                </a:gridCol>
              </a:tblGrid>
              <a:tr h="492760">
                <a:tc>
                  <a:txBody>
                    <a:bodyPr/>
                    <a:lstStyle/>
                    <a:p>
                      <a:pPr indent="4445" algn="ctr">
                        <a:lnSpc>
                          <a:spcPct val="107000"/>
                        </a:lnSpc>
                      </a:pPr>
                      <a:r>
                        <a:rPr lang="en-US" sz="1800" b="1" kern="1200">
                          <a:solidFill>
                            <a:srgbClr val="000000"/>
                          </a:solidFill>
                          <a:effectLst/>
                          <a:latin typeface="Bookman Old Style" panose="02050604050505020204" pitchFamily="18" charset="0"/>
                        </a:rPr>
                        <a:t>CO No.</a:t>
                      </a:r>
                      <a:endParaRPr lang="en-US" sz="1800" b="1" kern="1200">
                        <a:solidFill>
                          <a:srgbClr val="000000"/>
                        </a:solidFill>
                        <a:effectLst/>
                        <a:latin typeface="Bookman Old Style" panose="02050604050505020204" pitchFamily="18" charset="0"/>
                        <a:ea typeface="Calibri" panose="020F0502020204030204" pitchFamily="34" charset="0"/>
                        <a:cs typeface="+mn-cs"/>
                      </a:endParaRPr>
                    </a:p>
                  </a:txBody>
                  <a:tcPr marL="68580" marR="68580" marT="0" marB="0" anchor="ctr"/>
                </a:tc>
                <a:tc>
                  <a:txBody>
                    <a:bodyPr/>
                    <a:lstStyle/>
                    <a:p>
                      <a:pPr marL="228600" indent="-228600" algn="ctr">
                        <a:lnSpc>
                          <a:spcPct val="107000"/>
                        </a:lnSpc>
                      </a:pPr>
                      <a:r>
                        <a:rPr lang="en-US" sz="1800" b="1" kern="1200" dirty="0">
                          <a:solidFill>
                            <a:srgbClr val="000000"/>
                          </a:solidFill>
                          <a:effectLst/>
                          <a:latin typeface="Bookman Old Style" panose="02050604050505020204" pitchFamily="18" charset="0"/>
                        </a:rPr>
                        <a:t>Outcomes</a:t>
                      </a:r>
                      <a:endParaRPr lang="en-US" sz="1800" b="1" kern="1200" dirty="0">
                        <a:solidFill>
                          <a:srgbClr val="000000"/>
                        </a:solidFill>
                        <a:effectLst/>
                        <a:latin typeface="Bookman Old Style" panose="02050604050505020204" pitchFamily="18" charset="0"/>
                        <a:ea typeface="Calibri" panose="020F0502020204030204" pitchFamily="34" charset="0"/>
                        <a:cs typeface="+mn-cs"/>
                      </a:endParaRPr>
                    </a:p>
                  </a:txBody>
                  <a:tcPr marL="68580" marR="68580" marT="0" marB="0" anchor="ctr"/>
                </a:tc>
                <a:tc>
                  <a:txBody>
                    <a:bodyPr/>
                    <a:lstStyle/>
                    <a:p>
                      <a:pPr marL="13970" indent="-13970" algn="ctr">
                        <a:lnSpc>
                          <a:spcPct val="107000"/>
                        </a:lnSpc>
                      </a:pPr>
                      <a:r>
                        <a:rPr lang="en-US" sz="1800" b="1" kern="1200" dirty="0">
                          <a:solidFill>
                            <a:srgbClr val="000000"/>
                          </a:solidFill>
                          <a:effectLst/>
                          <a:latin typeface="Bookman Old Style" panose="02050604050505020204" pitchFamily="18" charset="0"/>
                        </a:rPr>
                        <a:t>Bloom’s Taxonomy Level</a:t>
                      </a:r>
                      <a:endParaRPr lang="en-US" sz="1800" b="1" kern="1200" dirty="0">
                        <a:solidFill>
                          <a:srgbClr val="000000"/>
                        </a:solidFill>
                        <a:effectLst/>
                        <a:latin typeface="Bookman Old Style" panose="02050604050505020204" pitchFamily="18" charset="0"/>
                        <a:ea typeface="Calibri" panose="020F0502020204030204" pitchFamily="34" charset="0"/>
                        <a:cs typeface="+mn-cs"/>
                      </a:endParaRPr>
                    </a:p>
                  </a:txBody>
                  <a:tcPr marL="68580" marR="68580" marT="0" marB="0"/>
                </a:tc>
                <a:extLst>
                  <a:ext uri="{0D108BD9-81ED-4DB2-BD59-A6C34878D82A}">
                    <a16:rowId xmlns:a16="http://schemas.microsoft.com/office/drawing/2014/main" val="1093564784"/>
                  </a:ext>
                </a:extLst>
              </a:tr>
              <a:tr h="272415">
                <a:tc>
                  <a:txBody>
                    <a:bodyPr/>
                    <a:lstStyle/>
                    <a:p>
                      <a:pPr indent="4445" algn="just">
                        <a:lnSpc>
                          <a:spcPct val="107000"/>
                        </a:lnSpc>
                      </a:pPr>
                      <a:r>
                        <a:rPr lang="en-US" sz="1800" kern="1200" dirty="0">
                          <a:solidFill>
                            <a:srgbClr val="000000"/>
                          </a:solidFill>
                          <a:effectLst/>
                          <a:latin typeface="Bookman Old Style" panose="02050604050505020204" pitchFamily="18" charset="0"/>
                        </a:rPr>
                        <a:t>CO1</a:t>
                      </a:r>
                      <a:endParaRPr lang="en-US" sz="1800" kern="1200" dirty="0">
                        <a:solidFill>
                          <a:srgbClr val="000000"/>
                        </a:solidFill>
                        <a:effectLst/>
                        <a:latin typeface="Bookman Old Style" panose="02050604050505020204" pitchFamily="18" charset="0"/>
                        <a:ea typeface="Calibri" panose="020F0502020204030204" pitchFamily="34" charset="0"/>
                        <a:cs typeface="+mn-cs"/>
                      </a:endParaRPr>
                    </a:p>
                  </a:txBody>
                  <a:tcPr marL="68580" marR="68580" marT="0" marB="0"/>
                </a:tc>
                <a:tc>
                  <a:txBody>
                    <a:bodyPr/>
                    <a:lstStyle/>
                    <a:p>
                      <a:pPr marL="0" lvl="0" indent="4445" algn="just" defTabSz="457200" rtl="0" eaLnBrk="1" latinLnBrk="0" hangingPunct="1">
                        <a:lnSpc>
                          <a:spcPct val="107000"/>
                        </a:lnSpc>
                        <a:spcAft>
                          <a:spcPts val="600"/>
                        </a:spcAft>
                        <a:buFont typeface="+mj-lt"/>
                        <a:buNone/>
                      </a:pPr>
                      <a:r>
                        <a:rPr lang="en-IN" sz="1800" b="1" kern="1200" dirty="0">
                          <a:solidFill>
                            <a:srgbClr val="000000"/>
                          </a:solidFill>
                          <a:effectLst/>
                          <a:latin typeface="Bookman Old Style" panose="02050604050505020204" pitchFamily="18" charset="0"/>
                          <a:ea typeface="+mn-ea"/>
                          <a:cs typeface="+mn-cs"/>
                        </a:rPr>
                        <a:t>Summarize</a:t>
                      </a:r>
                      <a:r>
                        <a:rPr lang="en-IN" sz="1800" kern="1200" dirty="0">
                          <a:solidFill>
                            <a:srgbClr val="000000"/>
                          </a:solidFill>
                          <a:effectLst/>
                          <a:latin typeface="Bookman Old Style" panose="02050604050505020204" pitchFamily="18" charset="0"/>
                          <a:ea typeface="+mn-ea"/>
                          <a:cs typeface="+mn-cs"/>
                        </a:rPr>
                        <a:t> the basic concepts of Artificial Intelligence, AI principles, AI Task domains and applications. </a:t>
                      </a:r>
                      <a:endParaRPr lang="en-US" sz="1800" kern="1200" dirty="0">
                        <a:solidFill>
                          <a:srgbClr val="000000"/>
                        </a:solidFill>
                        <a:effectLst/>
                        <a:latin typeface="Bookman Old Style" panose="02050604050505020204" pitchFamily="18" charset="0"/>
                        <a:ea typeface="+mn-ea"/>
                        <a:cs typeface="+mn-cs"/>
                      </a:endParaRPr>
                    </a:p>
                  </a:txBody>
                  <a:tcPr marL="68580" marR="68580" marT="0" marB="0"/>
                </a:tc>
                <a:tc>
                  <a:txBody>
                    <a:bodyPr/>
                    <a:lstStyle/>
                    <a:p>
                      <a:pPr marL="228600" indent="-228600" algn="ctr">
                        <a:lnSpc>
                          <a:spcPct val="107000"/>
                        </a:lnSpc>
                      </a:pPr>
                      <a:r>
                        <a:rPr lang="en-US" sz="1800" kern="1200" dirty="0">
                          <a:solidFill>
                            <a:srgbClr val="000000"/>
                          </a:solidFill>
                          <a:effectLst/>
                          <a:latin typeface="Bookman Old Style" panose="02050604050505020204" pitchFamily="18" charset="0"/>
                          <a:ea typeface="Calibri" panose="020F0502020204030204" pitchFamily="34" charset="0"/>
                          <a:cs typeface="+mn-cs"/>
                        </a:rPr>
                        <a:t>L2</a:t>
                      </a:r>
                    </a:p>
                  </a:txBody>
                  <a:tcPr marL="68580" marR="68580" marT="0" marB="0"/>
                </a:tc>
                <a:extLst>
                  <a:ext uri="{0D108BD9-81ED-4DB2-BD59-A6C34878D82A}">
                    <a16:rowId xmlns:a16="http://schemas.microsoft.com/office/drawing/2014/main" val="3668317068"/>
                  </a:ext>
                </a:extLst>
              </a:tr>
              <a:tr h="325755">
                <a:tc>
                  <a:txBody>
                    <a:bodyPr/>
                    <a:lstStyle/>
                    <a:p>
                      <a:pPr indent="4445" algn="just">
                        <a:lnSpc>
                          <a:spcPct val="107000"/>
                        </a:lnSpc>
                      </a:pPr>
                      <a:r>
                        <a:rPr lang="en-US" sz="1800" kern="1200">
                          <a:solidFill>
                            <a:srgbClr val="000000"/>
                          </a:solidFill>
                          <a:effectLst/>
                          <a:latin typeface="Bookman Old Style" panose="02050604050505020204" pitchFamily="18" charset="0"/>
                        </a:rPr>
                        <a:t>CO2</a:t>
                      </a:r>
                      <a:endParaRPr lang="en-US" sz="1800" kern="1200">
                        <a:solidFill>
                          <a:srgbClr val="000000"/>
                        </a:solidFill>
                        <a:effectLst/>
                        <a:latin typeface="Bookman Old Style" panose="02050604050505020204" pitchFamily="18" charset="0"/>
                        <a:ea typeface="Calibri" panose="020F0502020204030204" pitchFamily="34" charset="0"/>
                        <a:cs typeface="+mn-cs"/>
                      </a:endParaRPr>
                    </a:p>
                  </a:txBody>
                  <a:tcPr marL="68580" marR="68580" marT="0" marB="0"/>
                </a:tc>
                <a:tc>
                  <a:txBody>
                    <a:bodyPr/>
                    <a:lstStyle/>
                    <a:p>
                      <a:pPr marL="0" lvl="0" indent="4445" algn="just" defTabSz="457200" rtl="0" eaLnBrk="1" latinLnBrk="0" hangingPunct="1">
                        <a:lnSpc>
                          <a:spcPct val="107000"/>
                        </a:lnSpc>
                        <a:spcAft>
                          <a:spcPts val="600"/>
                        </a:spcAft>
                        <a:buFont typeface="+mj-lt"/>
                        <a:buNone/>
                      </a:pPr>
                      <a:r>
                        <a:rPr lang="en-IN" sz="1800" b="1" kern="1200" dirty="0">
                          <a:solidFill>
                            <a:srgbClr val="000000"/>
                          </a:solidFill>
                          <a:effectLst/>
                          <a:latin typeface="Bookman Old Style" panose="02050604050505020204" pitchFamily="18" charset="0"/>
                          <a:ea typeface="+mn-ea"/>
                          <a:cs typeface="+mn-cs"/>
                        </a:rPr>
                        <a:t>Apply</a:t>
                      </a:r>
                      <a:r>
                        <a:rPr lang="en-IN" sz="1800" kern="1200" dirty="0">
                          <a:solidFill>
                            <a:srgbClr val="000000"/>
                          </a:solidFill>
                          <a:effectLst/>
                          <a:latin typeface="Bookman Old Style" panose="02050604050505020204" pitchFamily="18" charset="0"/>
                          <a:ea typeface="+mn-ea"/>
                          <a:cs typeface="+mn-cs"/>
                        </a:rPr>
                        <a:t> the different types of searching and knowledge representations techniques to solve the AI problems.</a:t>
                      </a:r>
                      <a:endParaRPr lang="en-US" sz="1800" kern="1200" dirty="0">
                        <a:solidFill>
                          <a:srgbClr val="000000"/>
                        </a:solidFill>
                        <a:effectLst/>
                        <a:latin typeface="Bookman Old Style" panose="02050604050505020204" pitchFamily="18" charset="0"/>
                        <a:ea typeface="+mn-ea"/>
                        <a:cs typeface="+mn-cs"/>
                      </a:endParaRPr>
                    </a:p>
                  </a:txBody>
                  <a:tcPr marL="68580" marR="68580" marT="0" marB="0"/>
                </a:tc>
                <a:tc>
                  <a:txBody>
                    <a:bodyPr/>
                    <a:lstStyle/>
                    <a:p>
                      <a:pPr algn="ctr">
                        <a:lnSpc>
                          <a:spcPct val="107000"/>
                        </a:lnSpc>
                      </a:pPr>
                      <a:r>
                        <a:rPr lang="en-US" sz="1800" kern="1200" dirty="0">
                          <a:solidFill>
                            <a:srgbClr val="000000"/>
                          </a:solidFill>
                          <a:effectLst/>
                          <a:latin typeface="Bookman Old Style" panose="02050604050505020204" pitchFamily="18" charset="0"/>
                          <a:ea typeface="Calibri" panose="020F0502020204030204" pitchFamily="34" charset="0"/>
                          <a:cs typeface="+mn-cs"/>
                        </a:rPr>
                        <a:t>L3</a:t>
                      </a:r>
                    </a:p>
                  </a:txBody>
                  <a:tcPr marL="68580" marR="68580" marT="0" marB="0"/>
                </a:tc>
                <a:extLst>
                  <a:ext uri="{0D108BD9-81ED-4DB2-BD59-A6C34878D82A}">
                    <a16:rowId xmlns:a16="http://schemas.microsoft.com/office/drawing/2014/main" val="552133446"/>
                  </a:ext>
                </a:extLst>
              </a:tr>
              <a:tr h="325755">
                <a:tc>
                  <a:txBody>
                    <a:bodyPr/>
                    <a:lstStyle/>
                    <a:p>
                      <a:pPr indent="4445" algn="just">
                        <a:lnSpc>
                          <a:spcPct val="107000"/>
                        </a:lnSpc>
                      </a:pPr>
                      <a:r>
                        <a:rPr lang="en-US" sz="1800" kern="1200">
                          <a:solidFill>
                            <a:srgbClr val="000000"/>
                          </a:solidFill>
                          <a:effectLst/>
                          <a:latin typeface="Bookman Old Style" panose="02050604050505020204" pitchFamily="18" charset="0"/>
                        </a:rPr>
                        <a:t>CO3</a:t>
                      </a:r>
                      <a:endParaRPr lang="en-US" sz="1800" kern="1200">
                        <a:solidFill>
                          <a:srgbClr val="000000"/>
                        </a:solidFill>
                        <a:effectLst/>
                        <a:latin typeface="Bookman Old Style" panose="02050604050505020204" pitchFamily="18" charset="0"/>
                        <a:ea typeface="Calibri" panose="020F0502020204030204" pitchFamily="34" charset="0"/>
                        <a:cs typeface="+mn-cs"/>
                      </a:endParaRPr>
                    </a:p>
                  </a:txBody>
                  <a:tcPr marL="68580" marR="68580" marT="0" marB="0"/>
                </a:tc>
                <a:tc>
                  <a:txBody>
                    <a:bodyPr/>
                    <a:lstStyle/>
                    <a:p>
                      <a:pPr marL="0" lvl="0" indent="4445" algn="just" defTabSz="457200" rtl="0" eaLnBrk="1" latinLnBrk="0" hangingPunct="1">
                        <a:lnSpc>
                          <a:spcPct val="107000"/>
                        </a:lnSpc>
                        <a:spcAft>
                          <a:spcPts val="600"/>
                        </a:spcAft>
                        <a:buFont typeface="+mj-lt"/>
                        <a:buNone/>
                      </a:pPr>
                      <a:r>
                        <a:rPr lang="en-IN" sz="1800" b="1" kern="1200" dirty="0">
                          <a:solidFill>
                            <a:srgbClr val="000000"/>
                          </a:solidFill>
                          <a:effectLst/>
                          <a:latin typeface="Bookman Old Style" panose="02050604050505020204" pitchFamily="18" charset="0"/>
                          <a:ea typeface="+mn-ea"/>
                          <a:cs typeface="+mn-cs"/>
                        </a:rPr>
                        <a:t>Make use of </a:t>
                      </a:r>
                      <a:r>
                        <a:rPr lang="en-IN" sz="1800" kern="1200" dirty="0">
                          <a:solidFill>
                            <a:srgbClr val="000000"/>
                          </a:solidFill>
                          <a:effectLst/>
                          <a:latin typeface="Bookman Old Style" panose="02050604050505020204" pitchFamily="18" charset="0"/>
                          <a:ea typeface="+mn-ea"/>
                          <a:cs typeface="+mn-cs"/>
                        </a:rPr>
                        <a:t>the different types of reasoning such as Monotonic Reasoning, Non-Monotonic Reasoning and Statistical Reasoning techniques for making analysis and predictions.</a:t>
                      </a:r>
                      <a:endParaRPr lang="en-US" sz="1800" kern="1200" dirty="0">
                        <a:solidFill>
                          <a:srgbClr val="000000"/>
                        </a:solidFill>
                        <a:effectLst/>
                        <a:latin typeface="Bookman Old Style" panose="02050604050505020204" pitchFamily="18" charset="0"/>
                        <a:ea typeface="+mn-ea"/>
                        <a:cs typeface="+mn-cs"/>
                      </a:endParaRPr>
                    </a:p>
                  </a:txBody>
                  <a:tcPr marL="68580" marR="68580" marT="0" marB="0"/>
                </a:tc>
                <a:tc>
                  <a:txBody>
                    <a:bodyPr/>
                    <a:lstStyle/>
                    <a:p>
                      <a:pPr marL="228600" indent="-228600" algn="ctr">
                        <a:lnSpc>
                          <a:spcPct val="107000"/>
                        </a:lnSpc>
                      </a:pPr>
                      <a:r>
                        <a:rPr lang="en-US" sz="1800" kern="1200" dirty="0">
                          <a:solidFill>
                            <a:srgbClr val="000000"/>
                          </a:solidFill>
                          <a:effectLst/>
                          <a:latin typeface="Bookman Old Style" panose="02050604050505020204" pitchFamily="18" charset="0"/>
                          <a:ea typeface="Calibri" panose="020F0502020204030204" pitchFamily="34" charset="0"/>
                          <a:cs typeface="+mn-cs"/>
                        </a:rPr>
                        <a:t>L3</a:t>
                      </a:r>
                    </a:p>
                  </a:txBody>
                  <a:tcPr marL="68580" marR="68580" marT="0" marB="0"/>
                </a:tc>
                <a:extLst>
                  <a:ext uri="{0D108BD9-81ED-4DB2-BD59-A6C34878D82A}">
                    <a16:rowId xmlns:a16="http://schemas.microsoft.com/office/drawing/2014/main" val="2591188315"/>
                  </a:ext>
                </a:extLst>
              </a:tr>
              <a:tr h="325755">
                <a:tc>
                  <a:txBody>
                    <a:bodyPr/>
                    <a:lstStyle/>
                    <a:p>
                      <a:pPr indent="4445" algn="just">
                        <a:lnSpc>
                          <a:spcPct val="107000"/>
                        </a:lnSpc>
                      </a:pPr>
                      <a:r>
                        <a:rPr lang="en-US" sz="1800" kern="1200">
                          <a:solidFill>
                            <a:srgbClr val="000000"/>
                          </a:solidFill>
                          <a:effectLst/>
                          <a:latin typeface="Bookman Old Style" panose="02050604050505020204" pitchFamily="18" charset="0"/>
                        </a:rPr>
                        <a:t>CO4</a:t>
                      </a:r>
                      <a:endParaRPr lang="en-US" sz="1800" kern="1200">
                        <a:solidFill>
                          <a:srgbClr val="000000"/>
                        </a:solidFill>
                        <a:effectLst/>
                        <a:latin typeface="Bookman Old Style" panose="02050604050505020204" pitchFamily="18" charset="0"/>
                        <a:ea typeface="Calibri" panose="020F0502020204030204" pitchFamily="34" charset="0"/>
                        <a:cs typeface="+mn-cs"/>
                      </a:endParaRPr>
                    </a:p>
                  </a:txBody>
                  <a:tcPr marL="68580" marR="68580" marT="0" marB="0"/>
                </a:tc>
                <a:tc>
                  <a:txBody>
                    <a:bodyPr/>
                    <a:lstStyle/>
                    <a:p>
                      <a:pPr marL="0" lvl="0" indent="4445" algn="just" defTabSz="457200" rtl="0" eaLnBrk="1" latinLnBrk="0" hangingPunct="1">
                        <a:lnSpc>
                          <a:spcPct val="107000"/>
                        </a:lnSpc>
                        <a:spcAft>
                          <a:spcPts val="600"/>
                        </a:spcAft>
                        <a:buFont typeface="+mj-lt"/>
                        <a:buNone/>
                      </a:pPr>
                      <a:r>
                        <a:rPr lang="en-IN" sz="1800" b="1" kern="1200" dirty="0">
                          <a:solidFill>
                            <a:srgbClr val="000000"/>
                          </a:solidFill>
                          <a:effectLst/>
                          <a:latin typeface="Bookman Old Style" panose="02050604050505020204" pitchFamily="18" charset="0"/>
                          <a:ea typeface="+mn-ea"/>
                          <a:cs typeface="+mn-cs"/>
                        </a:rPr>
                        <a:t>Differentiate</a:t>
                      </a:r>
                      <a:r>
                        <a:rPr lang="en-IN" sz="1800" kern="1200" dirty="0">
                          <a:solidFill>
                            <a:srgbClr val="000000"/>
                          </a:solidFill>
                          <a:effectLst/>
                          <a:latin typeface="Bookman Old Style" panose="02050604050505020204" pitchFamily="18" charset="0"/>
                          <a:ea typeface="+mn-ea"/>
                          <a:cs typeface="+mn-cs"/>
                        </a:rPr>
                        <a:t> the various types of Experts Systems such as Rule Based, Model Based, Case Based, Hybrid and Fuzzy Expert Systems. </a:t>
                      </a:r>
                      <a:endParaRPr lang="en-US" sz="1800" kern="1200" dirty="0">
                        <a:solidFill>
                          <a:srgbClr val="000000"/>
                        </a:solidFill>
                        <a:effectLst/>
                        <a:latin typeface="Bookman Old Style" panose="02050604050505020204" pitchFamily="18" charset="0"/>
                        <a:ea typeface="+mn-ea"/>
                        <a:cs typeface="+mn-cs"/>
                      </a:endParaRPr>
                    </a:p>
                  </a:txBody>
                  <a:tcPr marL="68580" marR="68580" marT="0" marB="0"/>
                </a:tc>
                <a:tc>
                  <a:txBody>
                    <a:bodyPr/>
                    <a:lstStyle/>
                    <a:p>
                      <a:pPr marL="228600" indent="-228600" algn="ctr">
                        <a:lnSpc>
                          <a:spcPct val="107000"/>
                        </a:lnSpc>
                      </a:pPr>
                      <a:r>
                        <a:rPr lang="en-US" sz="1800" kern="1200" dirty="0">
                          <a:solidFill>
                            <a:srgbClr val="000000"/>
                          </a:solidFill>
                          <a:effectLst/>
                          <a:latin typeface="Bookman Old Style" panose="02050604050505020204" pitchFamily="18" charset="0"/>
                          <a:ea typeface="Calibri" panose="020F0502020204030204" pitchFamily="34" charset="0"/>
                          <a:cs typeface="+mn-cs"/>
                        </a:rPr>
                        <a:t>L2</a:t>
                      </a:r>
                    </a:p>
                  </a:txBody>
                  <a:tcPr marL="68580" marR="68580" marT="0" marB="0"/>
                </a:tc>
                <a:extLst>
                  <a:ext uri="{0D108BD9-81ED-4DB2-BD59-A6C34878D82A}">
                    <a16:rowId xmlns:a16="http://schemas.microsoft.com/office/drawing/2014/main" val="771683343"/>
                  </a:ext>
                </a:extLst>
              </a:tr>
              <a:tr h="0">
                <a:tc>
                  <a:txBody>
                    <a:bodyPr/>
                    <a:lstStyle/>
                    <a:p>
                      <a:pPr indent="4445" algn="just">
                        <a:lnSpc>
                          <a:spcPct val="107000"/>
                        </a:lnSpc>
                      </a:pPr>
                      <a:r>
                        <a:rPr lang="en-US" sz="1800" kern="1200">
                          <a:solidFill>
                            <a:srgbClr val="000000"/>
                          </a:solidFill>
                          <a:effectLst/>
                          <a:latin typeface="Bookman Old Style" panose="02050604050505020204" pitchFamily="18" charset="0"/>
                        </a:rPr>
                        <a:t>CO5</a:t>
                      </a:r>
                      <a:endParaRPr lang="en-US" sz="1800" kern="1200">
                        <a:solidFill>
                          <a:srgbClr val="000000"/>
                        </a:solidFill>
                        <a:effectLst/>
                        <a:latin typeface="Bookman Old Style" panose="02050604050505020204" pitchFamily="18" charset="0"/>
                        <a:ea typeface="Calibri" panose="020F0502020204030204" pitchFamily="34" charset="0"/>
                        <a:cs typeface="+mn-cs"/>
                      </a:endParaRPr>
                    </a:p>
                  </a:txBody>
                  <a:tcPr marL="68580" marR="68580" marT="0" marB="0"/>
                </a:tc>
                <a:tc>
                  <a:txBody>
                    <a:bodyPr/>
                    <a:lstStyle/>
                    <a:p>
                      <a:pPr marL="0" lvl="0" indent="4445" algn="just" defTabSz="457200" rtl="0" eaLnBrk="1" latinLnBrk="0" hangingPunct="1">
                        <a:lnSpc>
                          <a:spcPct val="107000"/>
                        </a:lnSpc>
                        <a:spcAft>
                          <a:spcPts val="600"/>
                        </a:spcAft>
                        <a:buFont typeface="+mj-lt"/>
                        <a:buNone/>
                      </a:pPr>
                      <a:r>
                        <a:rPr lang="en-IN" sz="1800" b="1" kern="1200" dirty="0">
                          <a:solidFill>
                            <a:srgbClr val="000000"/>
                          </a:solidFill>
                          <a:effectLst/>
                          <a:latin typeface="Bookman Old Style" panose="02050604050505020204" pitchFamily="18" charset="0"/>
                          <a:ea typeface="+mn-ea"/>
                          <a:cs typeface="+mn-cs"/>
                        </a:rPr>
                        <a:t>Design</a:t>
                      </a:r>
                      <a:r>
                        <a:rPr lang="en-IN" sz="1800" kern="1200" dirty="0">
                          <a:solidFill>
                            <a:srgbClr val="000000"/>
                          </a:solidFill>
                          <a:effectLst/>
                          <a:latin typeface="Bookman Old Style" panose="02050604050505020204" pitchFamily="18" charset="0"/>
                          <a:ea typeface="+mn-ea"/>
                          <a:cs typeface="+mn-cs"/>
                        </a:rPr>
                        <a:t> the Expert System based on the concepts of knowledge representation, searching and Reasoning on various applications using modernised AI tools.</a:t>
                      </a:r>
                      <a:endParaRPr lang="en-US" sz="1800" kern="1200" dirty="0">
                        <a:solidFill>
                          <a:srgbClr val="000000"/>
                        </a:solidFill>
                        <a:effectLst/>
                        <a:latin typeface="Bookman Old Style" panose="02050604050505020204" pitchFamily="18" charset="0"/>
                        <a:ea typeface="+mn-ea"/>
                        <a:cs typeface="+mn-cs"/>
                      </a:endParaRPr>
                    </a:p>
                  </a:txBody>
                  <a:tcPr marL="68580" marR="68580" marT="0" marB="0"/>
                </a:tc>
                <a:tc>
                  <a:txBody>
                    <a:bodyPr/>
                    <a:lstStyle/>
                    <a:p>
                      <a:pPr marL="228600" indent="-228600" algn="ctr">
                        <a:lnSpc>
                          <a:spcPct val="107000"/>
                        </a:lnSpc>
                      </a:pPr>
                      <a:r>
                        <a:rPr lang="en-US" sz="1800" kern="1200" dirty="0">
                          <a:solidFill>
                            <a:srgbClr val="000000"/>
                          </a:solidFill>
                          <a:effectLst/>
                          <a:latin typeface="Bookman Old Style" panose="02050604050505020204" pitchFamily="18" charset="0"/>
                          <a:ea typeface="Calibri" panose="020F0502020204030204" pitchFamily="34" charset="0"/>
                          <a:cs typeface="+mn-cs"/>
                        </a:rPr>
                        <a:t>L6</a:t>
                      </a:r>
                    </a:p>
                  </a:txBody>
                  <a:tcPr marL="68580" marR="68580" marT="0" marB="0"/>
                </a:tc>
                <a:extLst>
                  <a:ext uri="{0D108BD9-81ED-4DB2-BD59-A6C34878D82A}">
                    <a16:rowId xmlns:a16="http://schemas.microsoft.com/office/drawing/2014/main" val="3176209796"/>
                  </a:ext>
                </a:extLst>
              </a:tr>
            </a:tbl>
          </a:graphicData>
        </a:graphic>
      </p:graphicFrame>
      <p:sp>
        <p:nvSpPr>
          <p:cNvPr id="2" name="Title 1">
            <a:extLst>
              <a:ext uri="{FF2B5EF4-FFF2-40B4-BE49-F238E27FC236}">
                <a16:creationId xmlns:a16="http://schemas.microsoft.com/office/drawing/2014/main" id="{CE889FA1-F6E3-DE2C-B562-C8C3A6337DD7}"/>
              </a:ext>
            </a:extLst>
          </p:cNvPr>
          <p:cNvSpPr>
            <a:spLocks noGrp="1"/>
          </p:cNvSpPr>
          <p:nvPr>
            <p:ph type="title"/>
          </p:nvPr>
        </p:nvSpPr>
        <p:spPr>
          <a:xfrm>
            <a:off x="1983325" y="409351"/>
            <a:ext cx="8911687" cy="747793"/>
          </a:xfrm>
        </p:spPr>
        <p:txBody>
          <a:bodyPr>
            <a:normAutofit/>
          </a:bodyPr>
          <a:lstStyle/>
          <a:p>
            <a:r>
              <a:rPr lang="en-US" b="1" dirty="0">
                <a:latin typeface="Cambria" panose="02040503050406030204" pitchFamily="18" charset="0"/>
                <a:ea typeface="Cambria" panose="02040503050406030204" pitchFamily="18" charset="0"/>
              </a:rPr>
              <a:t>Course Outcome</a:t>
            </a:r>
            <a:endParaRPr lang="en-US" dirty="0"/>
          </a:p>
        </p:txBody>
      </p:sp>
    </p:spTree>
    <p:extLst>
      <p:ext uri="{BB962C8B-B14F-4D97-AF65-F5344CB8AC3E}">
        <p14:creationId xmlns:p14="http://schemas.microsoft.com/office/powerpoint/2010/main" val="1213585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A5EF682-BBC6-BC89-A815-2405B3BFA89F}"/>
              </a:ext>
            </a:extLst>
          </p:cNvPr>
          <p:cNvPicPr>
            <a:picLocks noChangeAspect="1"/>
          </p:cNvPicPr>
          <p:nvPr/>
        </p:nvPicPr>
        <p:blipFill rotWithShape="1">
          <a:blip r:embed="rId2">
            <a:extLst>
              <a:ext uri="{28A0092B-C50C-407E-A947-70E740481C1C}">
                <a14:useLocalDpi xmlns:a14="http://schemas.microsoft.com/office/drawing/2010/main" val="0"/>
              </a:ext>
            </a:extLst>
          </a:blip>
          <a:srcRect l="7632" t="6513" r="14801" b="12673"/>
          <a:stretch/>
        </p:blipFill>
        <p:spPr>
          <a:xfrm>
            <a:off x="11003168" y="6329803"/>
            <a:ext cx="1002890" cy="342928"/>
          </a:xfrm>
          <a:prstGeom prst="rect">
            <a:avLst/>
          </a:prstGeom>
        </p:spPr>
      </p:pic>
      <p:sp>
        <p:nvSpPr>
          <p:cNvPr id="5" name="TextBox 4">
            <a:extLst>
              <a:ext uri="{FF2B5EF4-FFF2-40B4-BE49-F238E27FC236}">
                <a16:creationId xmlns:a16="http://schemas.microsoft.com/office/drawing/2014/main" id="{CED2CCDC-C02F-B3A1-A3C5-707DECA064F1}"/>
              </a:ext>
            </a:extLst>
          </p:cNvPr>
          <p:cNvSpPr txBox="1"/>
          <p:nvPr/>
        </p:nvSpPr>
        <p:spPr>
          <a:xfrm>
            <a:off x="-30367" y="770057"/>
            <a:ext cx="1741230" cy="369332"/>
          </a:xfrm>
          <a:prstGeom prst="rect">
            <a:avLst/>
          </a:prstGeom>
          <a:noFill/>
        </p:spPr>
        <p:txBody>
          <a:bodyPr wrap="square" rtlCol="0">
            <a:spAutoFit/>
          </a:bodyPr>
          <a:lstStyle/>
          <a:p>
            <a:r>
              <a:rPr lang="en-US" sz="1800" dirty="0">
                <a:solidFill>
                  <a:schemeClr val="bg1"/>
                </a:solidFill>
                <a:effectLst/>
                <a:latin typeface="Bookman Old Style" panose="02050604050505020204" pitchFamily="18" charset="0"/>
                <a:ea typeface="Calibri" panose="020F0502020204030204" pitchFamily="34" charset="0"/>
              </a:rPr>
              <a:t>22AM2305</a:t>
            </a:r>
            <a:endParaRPr lang="en-IN" dirty="0">
              <a:solidFill>
                <a:schemeClr val="bg1"/>
              </a:solidFill>
              <a:latin typeface="Bookman Old Style" panose="02050604050505020204" pitchFamily="18" charset="0"/>
            </a:endParaRPr>
          </a:p>
        </p:txBody>
      </p:sp>
      <p:pic>
        <p:nvPicPr>
          <p:cNvPr id="6" name="Picture 2" descr="logo">
            <a:extLst>
              <a:ext uri="{FF2B5EF4-FFF2-40B4-BE49-F238E27FC236}">
                <a16:creationId xmlns:a16="http://schemas.microsoft.com/office/drawing/2014/main" id="{747D0EEE-BA48-499F-B84C-D20F74CB5DB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52799" y="89593"/>
            <a:ext cx="1070381" cy="1049796"/>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a:extLst>
              <a:ext uri="{FF2B5EF4-FFF2-40B4-BE49-F238E27FC236}">
                <a16:creationId xmlns:a16="http://schemas.microsoft.com/office/drawing/2014/main" id="{B8E50AC5-8D2A-6A5D-796D-B6863CA3B31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123180" y="89593"/>
            <a:ext cx="941000" cy="960203"/>
          </a:xfrm>
          <a:prstGeom prst="rect">
            <a:avLst/>
          </a:prstGeom>
        </p:spPr>
      </p:pic>
      <p:sp>
        <p:nvSpPr>
          <p:cNvPr id="8" name="Title 1">
            <a:extLst>
              <a:ext uri="{FF2B5EF4-FFF2-40B4-BE49-F238E27FC236}">
                <a16:creationId xmlns:a16="http://schemas.microsoft.com/office/drawing/2014/main" id="{ED5D6DA4-2824-FC01-8E4D-9E668A2C27CF}"/>
              </a:ext>
            </a:extLst>
          </p:cNvPr>
          <p:cNvSpPr txBox="1">
            <a:spLocks/>
          </p:cNvSpPr>
          <p:nvPr/>
        </p:nvSpPr>
        <p:spPr>
          <a:xfrm>
            <a:off x="1676302" y="241864"/>
            <a:ext cx="8911687" cy="644251"/>
          </a:xfrm>
          <a:prstGeom prst="rect">
            <a:avLst/>
          </a:prstGeom>
        </p:spPr>
        <p:txBody>
          <a:bodyPr vert="horz" lIns="91440" tIns="45720" rIns="91440" bIns="45720" rtlCol="0" anchor="t">
            <a:normAutofit/>
          </a:bodyPr>
          <a:lst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dirty="0">
                <a:latin typeface="Bookman Old Style" panose="02050604050505020204" pitchFamily="18" charset="0"/>
              </a:rPr>
              <a:t>Text Documents Requirement </a:t>
            </a:r>
            <a:endParaRPr lang="en-IN" dirty="0">
              <a:latin typeface="Bookman Old Style" panose="02050604050505020204" pitchFamily="18" charset="0"/>
            </a:endParaRPr>
          </a:p>
        </p:txBody>
      </p:sp>
      <p:sp>
        <p:nvSpPr>
          <p:cNvPr id="9" name="Content Placeholder 2">
            <a:extLst>
              <a:ext uri="{FF2B5EF4-FFF2-40B4-BE49-F238E27FC236}">
                <a16:creationId xmlns:a16="http://schemas.microsoft.com/office/drawing/2014/main" id="{3D53C9DB-3D95-E187-A252-9F795D5B9279}"/>
              </a:ext>
            </a:extLst>
          </p:cNvPr>
          <p:cNvSpPr txBox="1">
            <a:spLocks/>
          </p:cNvSpPr>
          <p:nvPr/>
        </p:nvSpPr>
        <p:spPr>
          <a:xfrm>
            <a:off x="1410212" y="1049796"/>
            <a:ext cx="10094401" cy="5132439"/>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a:lstStyle>
          <a:p>
            <a:pPr marL="0" indent="0">
              <a:buFont typeface="Wingdings 3" charset="2"/>
              <a:buNone/>
            </a:pPr>
            <a:r>
              <a:rPr lang="en-IN" b="1" dirty="0">
                <a:solidFill>
                  <a:schemeClr val="tx1"/>
                </a:solidFill>
                <a:latin typeface="Bookman Old Style" panose="02050604050505020204" pitchFamily="18" charset="0"/>
              </a:rPr>
              <a:t>Textbooks: </a:t>
            </a:r>
          </a:p>
          <a:p>
            <a:r>
              <a:rPr lang="en-US" dirty="0">
                <a:solidFill>
                  <a:schemeClr val="tx1"/>
                </a:solidFill>
                <a:latin typeface="Bookman Old Style" panose="02050604050505020204" pitchFamily="18" charset="0"/>
              </a:rPr>
              <a:t>Artificial Intelligence, George F Luger, Sixth Edition, Pearson Education Publications, 2014. </a:t>
            </a:r>
          </a:p>
          <a:p>
            <a:r>
              <a:rPr lang="en-US" dirty="0">
                <a:solidFill>
                  <a:schemeClr val="tx1"/>
                </a:solidFill>
                <a:latin typeface="Bookman Old Style" panose="02050604050505020204" pitchFamily="18" charset="0"/>
              </a:rPr>
              <a:t>Artificial Intelligence, Elaine Rich and Knight, McGraw-Hill Publications, 2010.</a:t>
            </a:r>
          </a:p>
          <a:p>
            <a:endParaRPr lang="en-US" b="1" dirty="0">
              <a:solidFill>
                <a:srgbClr val="FF0000"/>
              </a:solidFill>
              <a:latin typeface="Bookman Old Style" panose="02050604050505020204" pitchFamily="18" charset="0"/>
            </a:endParaRPr>
          </a:p>
          <a:p>
            <a:r>
              <a:rPr lang="en-IN" b="1" dirty="0">
                <a:solidFill>
                  <a:schemeClr val="tx1"/>
                </a:solidFill>
                <a:latin typeface="Bookman Old Style" panose="02050604050505020204" pitchFamily="18" charset="0"/>
              </a:rPr>
              <a:t>Reference Books: </a:t>
            </a:r>
          </a:p>
          <a:p>
            <a:pPr>
              <a:buFont typeface="Wingdings 3" charset="2"/>
              <a:buAutoNum type="arabicPeriod"/>
            </a:pPr>
            <a:r>
              <a:rPr lang="en-US" dirty="0">
                <a:solidFill>
                  <a:srgbClr val="000000"/>
                </a:solidFill>
                <a:latin typeface="Bookman Old Style" panose="02050604050505020204" pitchFamily="18" charset="0"/>
                <a:ea typeface="Times New Roman" panose="02020603050405020304" pitchFamily="18" charset="0"/>
              </a:rPr>
              <a:t>Artificial Intelligence: A modern Approach, Russell and Norvig, </a:t>
            </a:r>
            <a:r>
              <a:rPr lang="en-US" dirty="0" err="1">
                <a:solidFill>
                  <a:srgbClr val="000000"/>
                </a:solidFill>
                <a:latin typeface="Bookman Old Style" panose="02050604050505020204" pitchFamily="18" charset="0"/>
                <a:ea typeface="Times New Roman" panose="02020603050405020304" pitchFamily="18" charset="0"/>
              </a:rPr>
              <a:t>Printice</a:t>
            </a:r>
            <a:r>
              <a:rPr lang="en-US" dirty="0">
                <a:solidFill>
                  <a:srgbClr val="000000"/>
                </a:solidFill>
                <a:latin typeface="Bookman Old Style" panose="02050604050505020204" pitchFamily="18" charset="0"/>
                <a:ea typeface="Times New Roman" panose="02020603050405020304" pitchFamily="18" charset="0"/>
              </a:rPr>
              <a:t> Hall, 2010.</a:t>
            </a:r>
          </a:p>
          <a:p>
            <a:pPr>
              <a:buFont typeface="Wingdings 3" charset="2"/>
              <a:buAutoNum type="arabicPeriod"/>
            </a:pPr>
            <a:r>
              <a:rPr lang="en-US" dirty="0">
                <a:solidFill>
                  <a:srgbClr val="000000"/>
                </a:solidFill>
                <a:latin typeface="Bookman Old Style" panose="02050604050505020204" pitchFamily="18" charset="0"/>
                <a:ea typeface="Times New Roman" panose="02020603050405020304" pitchFamily="18" charset="0"/>
              </a:rPr>
              <a:t>Introduction To Artificial Intelligence &amp; Expert Systems, Patterson, PHI.</a:t>
            </a:r>
          </a:p>
          <a:p>
            <a:pPr>
              <a:buFont typeface="Wingdings 3" charset="2"/>
              <a:buAutoNum type="arabicPeriod"/>
            </a:pPr>
            <a:r>
              <a:rPr lang="en-US" dirty="0">
                <a:solidFill>
                  <a:srgbClr val="000000"/>
                </a:solidFill>
                <a:latin typeface="Bookman Old Style" panose="02050604050505020204" pitchFamily="18" charset="0"/>
                <a:ea typeface="Times New Roman" panose="02020603050405020304" pitchFamily="18" charset="0"/>
              </a:rPr>
              <a:t>Multi Agent systems- a modern approach to Distributed Artificial intelligence, Weiss. G, MIT Press.</a:t>
            </a:r>
          </a:p>
          <a:p>
            <a:pPr>
              <a:buFont typeface="Wingdings 3" charset="2"/>
              <a:buAutoNum type="arabicPeriod"/>
            </a:pPr>
            <a:r>
              <a:rPr lang="en-US" dirty="0">
                <a:solidFill>
                  <a:srgbClr val="000000"/>
                </a:solidFill>
                <a:latin typeface="Bookman Old Style" panose="02050604050505020204" pitchFamily="18" charset="0"/>
                <a:ea typeface="Times New Roman" panose="02020603050405020304" pitchFamily="18" charset="0"/>
              </a:rPr>
              <a:t>Artificial Intelligence: A modern Approach, Russell and Norvig, </a:t>
            </a:r>
            <a:r>
              <a:rPr lang="en-US" dirty="0" err="1">
                <a:solidFill>
                  <a:srgbClr val="000000"/>
                </a:solidFill>
                <a:latin typeface="Bookman Old Style" panose="02050604050505020204" pitchFamily="18" charset="0"/>
                <a:ea typeface="Times New Roman" panose="02020603050405020304" pitchFamily="18" charset="0"/>
              </a:rPr>
              <a:t>Printice</a:t>
            </a:r>
            <a:r>
              <a:rPr lang="en-US" dirty="0">
                <a:solidFill>
                  <a:srgbClr val="000000"/>
                </a:solidFill>
                <a:latin typeface="Bookman Old Style" panose="02050604050505020204" pitchFamily="18" charset="0"/>
                <a:ea typeface="Times New Roman" panose="02020603050405020304" pitchFamily="18" charset="0"/>
              </a:rPr>
              <a:t> Hall.</a:t>
            </a:r>
          </a:p>
        </p:txBody>
      </p:sp>
    </p:spTree>
    <p:extLst>
      <p:ext uri="{BB962C8B-B14F-4D97-AF65-F5344CB8AC3E}">
        <p14:creationId xmlns:p14="http://schemas.microsoft.com/office/powerpoint/2010/main" val="350772915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47515F-4A58-DFA9-F4DC-FA2F57C2B8AC}"/>
              </a:ext>
            </a:extLst>
          </p:cNvPr>
          <p:cNvSpPr>
            <a:spLocks noGrp="1"/>
          </p:cNvSpPr>
          <p:nvPr>
            <p:ph type="title"/>
          </p:nvPr>
        </p:nvSpPr>
        <p:spPr>
          <a:xfrm>
            <a:off x="1676302" y="240652"/>
            <a:ext cx="8911687" cy="1280890"/>
          </a:xfrm>
        </p:spPr>
        <p:txBody>
          <a:bodyPr>
            <a:normAutofit fontScale="90000"/>
          </a:bodyPr>
          <a:lstStyle/>
          <a:p>
            <a:r>
              <a:rPr lang="en-IN" b="1" dirty="0">
                <a:latin typeface="Cambria" panose="02040503050406030204" pitchFamily="18" charset="0"/>
                <a:ea typeface="Cambria" panose="02040503050406030204" pitchFamily="18" charset="0"/>
                <a:cs typeface="Cambria" panose="02040503050406030204" pitchFamily="18" charset="0"/>
              </a:rPr>
              <a:t>Teaching-Learning Process (General Instructions)</a:t>
            </a:r>
            <a:br>
              <a:rPr lang="en-US" dirty="0">
                <a:latin typeface="Calibri" panose="020F0502020204030204"/>
                <a:ea typeface="Calibri" panose="020F0502020204030204"/>
              </a:rPr>
            </a:br>
            <a:endParaRPr lang="en-US" dirty="0"/>
          </a:p>
        </p:txBody>
      </p:sp>
      <p:sp>
        <p:nvSpPr>
          <p:cNvPr id="3" name="Content Placeholder 2">
            <a:extLst>
              <a:ext uri="{FF2B5EF4-FFF2-40B4-BE49-F238E27FC236}">
                <a16:creationId xmlns:a16="http://schemas.microsoft.com/office/drawing/2014/main" id="{CD8527A1-EA1C-ABF8-E388-1F26941C7D64}"/>
              </a:ext>
            </a:extLst>
          </p:cNvPr>
          <p:cNvSpPr>
            <a:spLocks noGrp="1"/>
          </p:cNvSpPr>
          <p:nvPr>
            <p:ph idx="1"/>
          </p:nvPr>
        </p:nvSpPr>
        <p:spPr>
          <a:xfrm>
            <a:off x="1170039" y="1521542"/>
            <a:ext cx="10334573" cy="4319937"/>
          </a:xfrm>
        </p:spPr>
        <p:txBody>
          <a:bodyPr>
            <a:normAutofit lnSpcReduction="10000"/>
          </a:bodyPr>
          <a:lstStyle/>
          <a:p>
            <a:pPr algn="just">
              <a:lnSpc>
                <a:spcPct val="107000"/>
              </a:lnSpc>
              <a:spcAft>
                <a:spcPts val="800"/>
              </a:spcAft>
            </a:pPr>
            <a:r>
              <a:rPr lang="en-IN" sz="1800" dirty="0">
                <a:effectLst/>
                <a:latin typeface="Cambria" panose="02040503050406030204" pitchFamily="18" charset="0"/>
                <a:ea typeface="Cambria" panose="02040503050406030204" pitchFamily="18" charset="0"/>
                <a:cs typeface="Cambria" panose="02040503050406030204" pitchFamily="18" charset="0"/>
              </a:rPr>
              <a:t>These are sample new pedagogical methods that teachers can use to accelerate the attainment of the various course outcomes.</a:t>
            </a:r>
            <a:endParaRPr lang="en-US" sz="1800" dirty="0">
              <a:effectLst/>
              <a:latin typeface="Calibri" panose="020F0502020204030204"/>
              <a:ea typeface="Calibri" panose="020F0502020204030204"/>
            </a:endParaRPr>
          </a:p>
          <a:p>
            <a:pPr marL="342900" lvl="0" indent="-342900" algn="just">
              <a:lnSpc>
                <a:spcPct val="107000"/>
              </a:lnSpc>
              <a:spcAft>
                <a:spcPts val="600"/>
              </a:spcAft>
              <a:buFont typeface="+mj-lt"/>
              <a:buAutoNum type="arabicPeriod"/>
            </a:pPr>
            <a:r>
              <a:rPr lang="en-IN" sz="1800" b="1" i="1" dirty="0">
                <a:solidFill>
                  <a:srgbClr val="000000"/>
                </a:solidFill>
                <a:effectLst/>
                <a:latin typeface="Cambria" panose="02040503050406030204" pitchFamily="18" charset="0"/>
                <a:ea typeface="Cambria" panose="02040503050406030204" pitchFamily="18" charset="0"/>
                <a:cs typeface="Cambria" panose="02040503050406030204" pitchFamily="18" charset="0"/>
              </a:rPr>
              <a:t>Lecture method</a:t>
            </a:r>
            <a:r>
              <a:rPr lang="en-IN" sz="1800" dirty="0">
                <a:solidFill>
                  <a:srgbClr val="000000"/>
                </a:solidFill>
                <a:effectLst/>
                <a:latin typeface="Cambria" panose="02040503050406030204" pitchFamily="18" charset="0"/>
                <a:ea typeface="Cambria" panose="02040503050406030204" pitchFamily="18" charset="0"/>
                <a:cs typeface="Cambria" panose="02040503050406030204" pitchFamily="18" charset="0"/>
              </a:rPr>
              <a:t> means it includes not only </a:t>
            </a:r>
            <a:r>
              <a:rPr lang="en-IN" sz="1800" dirty="0">
                <a:effectLst/>
                <a:latin typeface="Cambria" panose="02040503050406030204" pitchFamily="18" charset="0"/>
                <a:ea typeface="Cambria" panose="02040503050406030204" pitchFamily="18" charset="0"/>
                <a:cs typeface="Cambria" panose="02040503050406030204" pitchFamily="18" charset="0"/>
              </a:rPr>
              <a:t>the </a:t>
            </a:r>
            <a:r>
              <a:rPr lang="en-IN" sz="1800" dirty="0">
                <a:solidFill>
                  <a:srgbClr val="000000"/>
                </a:solidFill>
                <a:effectLst/>
                <a:latin typeface="Cambria" panose="02040503050406030204" pitchFamily="18" charset="0"/>
                <a:ea typeface="Cambria" panose="02040503050406030204" pitchFamily="18" charset="0"/>
                <a:cs typeface="Cambria" panose="02040503050406030204" pitchFamily="18" charset="0"/>
              </a:rPr>
              <a:t>traditional lecture method but </a:t>
            </a:r>
            <a:r>
              <a:rPr lang="en-IN" sz="1800" dirty="0">
                <a:effectLst/>
                <a:latin typeface="Cambria" panose="02040503050406030204" pitchFamily="18" charset="0"/>
                <a:ea typeface="Cambria" panose="02040503050406030204" pitchFamily="18" charset="0"/>
                <a:cs typeface="Cambria" panose="02040503050406030204" pitchFamily="18" charset="0"/>
              </a:rPr>
              <a:t>a </a:t>
            </a:r>
            <a:r>
              <a:rPr lang="en-IN" sz="1800" dirty="0">
                <a:solidFill>
                  <a:srgbClr val="000000"/>
                </a:solidFill>
                <a:effectLst/>
                <a:latin typeface="Cambria" panose="02040503050406030204" pitchFamily="18" charset="0"/>
                <a:ea typeface="Cambria" panose="02040503050406030204" pitchFamily="18" charset="0"/>
                <a:cs typeface="Cambria" panose="02040503050406030204" pitchFamily="18" charset="0"/>
              </a:rPr>
              <a:t>different </a:t>
            </a:r>
            <a:r>
              <a:rPr lang="en-IN" sz="1800" i="1" dirty="0">
                <a:solidFill>
                  <a:srgbClr val="000000"/>
                </a:solidFill>
                <a:effectLst/>
                <a:latin typeface="Cambria" panose="02040503050406030204" pitchFamily="18" charset="0"/>
                <a:ea typeface="Cambria" panose="02040503050406030204" pitchFamily="18" charset="0"/>
                <a:cs typeface="Cambria" panose="02040503050406030204" pitchFamily="18" charset="0"/>
              </a:rPr>
              <a:t>type of teaching </a:t>
            </a:r>
            <a:r>
              <a:rPr lang="en-IN" sz="1800" i="1" dirty="0">
                <a:effectLst/>
                <a:latin typeface="Cambria" panose="02040503050406030204" pitchFamily="18" charset="0"/>
                <a:ea typeface="Cambria" panose="02040503050406030204" pitchFamily="18" charset="0"/>
                <a:cs typeface="Cambria" panose="02040503050406030204" pitchFamily="18" charset="0"/>
              </a:rPr>
              <a:t>method</a:t>
            </a:r>
            <a:r>
              <a:rPr lang="en-IN" sz="1800" dirty="0">
                <a:solidFill>
                  <a:srgbClr val="000000"/>
                </a:solidFill>
                <a:effectLst/>
                <a:latin typeface="Cambria" panose="02040503050406030204" pitchFamily="18" charset="0"/>
                <a:ea typeface="Cambria" panose="02040503050406030204" pitchFamily="18" charset="0"/>
                <a:cs typeface="Cambria" panose="02040503050406030204" pitchFamily="18" charset="0"/>
              </a:rPr>
              <a:t> </a:t>
            </a:r>
            <a:r>
              <a:rPr lang="en-IN" sz="1800" dirty="0">
                <a:effectLst/>
                <a:latin typeface="Cambria" panose="02040503050406030204" pitchFamily="18" charset="0"/>
                <a:ea typeface="Cambria" panose="02040503050406030204" pitchFamily="18" charset="0"/>
                <a:cs typeface="Cambria" panose="02040503050406030204" pitchFamily="18" charset="0"/>
              </a:rPr>
              <a:t>that </a:t>
            </a:r>
            <a:r>
              <a:rPr lang="en-IN" sz="1800" dirty="0">
                <a:solidFill>
                  <a:srgbClr val="000000"/>
                </a:solidFill>
                <a:effectLst/>
                <a:latin typeface="Cambria" panose="02040503050406030204" pitchFamily="18" charset="0"/>
                <a:ea typeface="Cambria" panose="02040503050406030204" pitchFamily="18" charset="0"/>
                <a:cs typeface="Cambria" panose="02040503050406030204" pitchFamily="18" charset="0"/>
              </a:rPr>
              <a:t>may be adopted to develop the course outcomes.</a:t>
            </a:r>
            <a:endParaRPr lang="en-US" sz="1800" dirty="0">
              <a:effectLst/>
              <a:latin typeface="Calibri" panose="020F0502020204030204"/>
              <a:ea typeface="Calibri" panose="020F0502020204030204"/>
            </a:endParaRPr>
          </a:p>
          <a:p>
            <a:pPr marL="342900" lvl="0" indent="-342900" algn="just">
              <a:lnSpc>
                <a:spcPct val="107000"/>
              </a:lnSpc>
              <a:spcAft>
                <a:spcPts val="600"/>
              </a:spcAft>
              <a:buFont typeface="+mj-lt"/>
              <a:buAutoNum type="arabicPeriod"/>
            </a:pPr>
            <a:r>
              <a:rPr lang="en-IN" sz="1800" b="1" i="1" dirty="0">
                <a:solidFill>
                  <a:srgbClr val="000000"/>
                </a:solidFill>
                <a:effectLst/>
                <a:latin typeface="Cambria" panose="02040503050406030204" pitchFamily="18" charset="0"/>
                <a:ea typeface="Cambria" panose="02040503050406030204" pitchFamily="18" charset="0"/>
                <a:cs typeface="Cambria" panose="02040503050406030204" pitchFamily="18" charset="0"/>
              </a:rPr>
              <a:t>Interactive Teaching: </a:t>
            </a:r>
            <a:r>
              <a:rPr lang="en-IN" sz="1800" i="1" dirty="0">
                <a:solidFill>
                  <a:srgbClr val="000000"/>
                </a:solidFill>
                <a:effectLst/>
                <a:latin typeface="Cambria" panose="02040503050406030204" pitchFamily="18" charset="0"/>
                <a:ea typeface="Cambria" panose="02040503050406030204" pitchFamily="18" charset="0"/>
                <a:cs typeface="Cambria" panose="02040503050406030204" pitchFamily="18" charset="0"/>
              </a:rPr>
              <a:t>Adopt </a:t>
            </a:r>
            <a:r>
              <a:rPr lang="en-IN" sz="1800" b="1" i="1" dirty="0">
                <a:solidFill>
                  <a:srgbClr val="000000"/>
                </a:solidFill>
                <a:effectLst/>
                <a:latin typeface="Cambria" panose="02040503050406030204" pitchFamily="18" charset="0"/>
                <a:ea typeface="Cambria" panose="02040503050406030204" pitchFamily="18" charset="0"/>
                <a:cs typeface="Cambria" panose="02040503050406030204" pitchFamily="18" charset="0"/>
              </a:rPr>
              <a:t>Active learning</a:t>
            </a:r>
            <a:r>
              <a:rPr lang="en-IN" sz="1800" dirty="0">
                <a:solidFill>
                  <a:srgbClr val="000000"/>
                </a:solidFill>
                <a:effectLst/>
                <a:latin typeface="Cambria" panose="02040503050406030204" pitchFamily="18" charset="0"/>
                <a:ea typeface="Cambria" panose="02040503050406030204" pitchFamily="18" charset="0"/>
                <a:cs typeface="Cambria" panose="02040503050406030204" pitchFamily="18" charset="0"/>
              </a:rPr>
              <a:t> that includes brainstorming, discussing, group work, focused listening, formulating questions, </a:t>
            </a:r>
            <a:r>
              <a:rPr lang="en-IN" sz="1800" dirty="0">
                <a:effectLst/>
                <a:latin typeface="Cambria" panose="02040503050406030204" pitchFamily="18" charset="0"/>
                <a:ea typeface="Cambria" panose="02040503050406030204" pitchFamily="18" charset="0"/>
                <a:cs typeface="Cambria" panose="02040503050406030204" pitchFamily="18" charset="0"/>
              </a:rPr>
              <a:t>note-taking</a:t>
            </a:r>
            <a:r>
              <a:rPr lang="en-IN" sz="1800" dirty="0">
                <a:solidFill>
                  <a:srgbClr val="000000"/>
                </a:solidFill>
                <a:effectLst/>
                <a:latin typeface="Cambria" panose="02040503050406030204" pitchFamily="18" charset="0"/>
                <a:ea typeface="Cambria" panose="02040503050406030204" pitchFamily="18" charset="0"/>
                <a:cs typeface="Cambria" panose="02040503050406030204" pitchFamily="18" charset="0"/>
              </a:rPr>
              <a:t>, annotating, and roleplaying.</a:t>
            </a:r>
            <a:endParaRPr lang="en-US" sz="1800" dirty="0">
              <a:effectLst/>
              <a:latin typeface="Calibri" panose="020F0502020204030204"/>
              <a:ea typeface="Calibri" panose="020F0502020204030204"/>
            </a:endParaRPr>
          </a:p>
          <a:p>
            <a:pPr marL="342900" lvl="0" indent="-342900" algn="just">
              <a:lnSpc>
                <a:spcPct val="107000"/>
              </a:lnSpc>
              <a:spcAft>
                <a:spcPts val="600"/>
              </a:spcAft>
              <a:buFont typeface="+mj-lt"/>
              <a:buAutoNum type="arabicPeriod"/>
            </a:pPr>
            <a:r>
              <a:rPr lang="en-IN" sz="1800" dirty="0">
                <a:solidFill>
                  <a:srgbClr val="000000"/>
                </a:solidFill>
                <a:effectLst/>
                <a:latin typeface="Cambria" panose="02040503050406030204" pitchFamily="18" charset="0"/>
                <a:ea typeface="Cambria" panose="02040503050406030204" pitchFamily="18" charset="0"/>
                <a:cs typeface="Cambria" panose="02040503050406030204" pitchFamily="18" charset="0"/>
              </a:rPr>
              <a:t>Show </a:t>
            </a:r>
            <a:r>
              <a:rPr lang="en-IN" sz="1800" b="1" i="1" dirty="0">
                <a:solidFill>
                  <a:srgbClr val="000000"/>
                </a:solidFill>
                <a:effectLst/>
                <a:latin typeface="Cambria" panose="02040503050406030204" pitchFamily="18" charset="0"/>
                <a:ea typeface="Cambria" panose="02040503050406030204" pitchFamily="18" charset="0"/>
                <a:cs typeface="Cambria" panose="02040503050406030204" pitchFamily="18" charset="0"/>
              </a:rPr>
              <a:t>Video/animation</a:t>
            </a:r>
            <a:r>
              <a:rPr lang="en-IN" sz="1800" dirty="0">
                <a:solidFill>
                  <a:srgbClr val="000000"/>
                </a:solidFill>
                <a:effectLst/>
                <a:latin typeface="Cambria" panose="02040503050406030204" pitchFamily="18" charset="0"/>
                <a:ea typeface="Cambria" panose="02040503050406030204" pitchFamily="18" charset="0"/>
                <a:cs typeface="Cambria" panose="02040503050406030204" pitchFamily="18" charset="0"/>
              </a:rPr>
              <a:t> films to explain </a:t>
            </a:r>
            <a:r>
              <a:rPr lang="en-IN" sz="1800" dirty="0">
                <a:effectLst/>
                <a:latin typeface="Cambria" panose="02040503050406030204" pitchFamily="18" charset="0"/>
                <a:ea typeface="Cambria" panose="02040503050406030204" pitchFamily="18" charset="0"/>
                <a:cs typeface="Cambria" panose="02040503050406030204" pitchFamily="18" charset="0"/>
              </a:rPr>
              <a:t>the </a:t>
            </a:r>
            <a:r>
              <a:rPr lang="en-IN" sz="1800" dirty="0">
                <a:solidFill>
                  <a:srgbClr val="000000"/>
                </a:solidFill>
                <a:effectLst/>
                <a:latin typeface="Cambria" panose="02040503050406030204" pitchFamily="18" charset="0"/>
                <a:ea typeface="Cambria" panose="02040503050406030204" pitchFamily="18" charset="0"/>
                <a:cs typeface="Cambria" panose="02040503050406030204" pitchFamily="18" charset="0"/>
              </a:rPr>
              <a:t>functioning of various concepts.</a:t>
            </a:r>
            <a:endParaRPr lang="en-US" sz="1800" dirty="0">
              <a:effectLst/>
              <a:latin typeface="Calibri" panose="020F0502020204030204"/>
              <a:ea typeface="Calibri" panose="020F0502020204030204"/>
            </a:endParaRPr>
          </a:p>
          <a:p>
            <a:pPr marL="342900" lvl="0" indent="-342900" algn="just">
              <a:lnSpc>
                <a:spcPct val="107000"/>
              </a:lnSpc>
              <a:spcAft>
                <a:spcPts val="600"/>
              </a:spcAft>
              <a:buFont typeface="+mj-lt"/>
              <a:buAutoNum type="arabicPeriod"/>
            </a:pPr>
            <a:r>
              <a:rPr lang="en-IN" sz="1800" dirty="0">
                <a:solidFill>
                  <a:srgbClr val="000000"/>
                </a:solidFill>
                <a:effectLst/>
                <a:latin typeface="Cambria" panose="02040503050406030204" pitchFamily="18" charset="0"/>
                <a:ea typeface="Cambria" panose="02040503050406030204" pitchFamily="18" charset="0"/>
                <a:cs typeface="Cambria" panose="02040503050406030204" pitchFamily="18" charset="0"/>
              </a:rPr>
              <a:t>Encourage </a:t>
            </a:r>
            <a:r>
              <a:rPr lang="en-IN" sz="1800" b="1" i="1" dirty="0">
                <a:solidFill>
                  <a:srgbClr val="000000"/>
                </a:solidFill>
                <a:effectLst/>
                <a:latin typeface="Cambria" panose="02040503050406030204" pitchFamily="18" charset="0"/>
                <a:ea typeface="Cambria" panose="02040503050406030204" pitchFamily="18" charset="0"/>
                <a:cs typeface="Cambria" panose="02040503050406030204" pitchFamily="18" charset="0"/>
              </a:rPr>
              <a:t>Collaborative</a:t>
            </a:r>
            <a:r>
              <a:rPr lang="en-IN" sz="1800" dirty="0">
                <a:solidFill>
                  <a:srgbClr val="000000"/>
                </a:solidFill>
                <a:effectLst/>
                <a:latin typeface="Cambria" panose="02040503050406030204" pitchFamily="18" charset="0"/>
                <a:ea typeface="Cambria" panose="02040503050406030204" pitchFamily="18" charset="0"/>
                <a:cs typeface="Cambria" panose="02040503050406030204" pitchFamily="18" charset="0"/>
              </a:rPr>
              <a:t> (Group Learning) Learning in the class.</a:t>
            </a:r>
            <a:endParaRPr lang="en-US" sz="1800" dirty="0">
              <a:effectLst/>
              <a:latin typeface="Calibri" panose="020F0502020204030204"/>
              <a:ea typeface="Calibri" panose="020F0502020204030204"/>
            </a:endParaRPr>
          </a:p>
          <a:p>
            <a:pPr marL="342900" lvl="0" indent="-342900" algn="just">
              <a:lnSpc>
                <a:spcPct val="107000"/>
              </a:lnSpc>
              <a:spcAft>
                <a:spcPts val="600"/>
              </a:spcAft>
              <a:buFont typeface="+mj-lt"/>
              <a:buAutoNum type="arabicPeriod"/>
            </a:pPr>
            <a:r>
              <a:rPr lang="en-IN" sz="1800" dirty="0">
                <a:solidFill>
                  <a:srgbClr val="000000"/>
                </a:solidFill>
                <a:effectLst/>
                <a:latin typeface="Cambria" panose="02040503050406030204" pitchFamily="18" charset="0"/>
                <a:ea typeface="Cambria" panose="02040503050406030204" pitchFamily="18" charset="0"/>
                <a:cs typeface="Cambria" panose="02040503050406030204" pitchFamily="18" charset="0"/>
              </a:rPr>
              <a:t>To make </a:t>
            </a:r>
            <a:r>
              <a:rPr lang="en-IN" sz="1800" b="1" i="1" dirty="0">
                <a:solidFill>
                  <a:srgbClr val="000000"/>
                </a:solidFill>
                <a:effectLst/>
                <a:latin typeface="Cambria" panose="02040503050406030204" pitchFamily="18" charset="0"/>
                <a:ea typeface="Cambria" panose="02040503050406030204" pitchFamily="18" charset="0"/>
                <a:cs typeface="Cambria" panose="02040503050406030204" pitchFamily="18" charset="0"/>
              </a:rPr>
              <a:t>Critical thinking</a:t>
            </a:r>
            <a:r>
              <a:rPr lang="en-IN" sz="1800" dirty="0">
                <a:solidFill>
                  <a:srgbClr val="000000"/>
                </a:solidFill>
                <a:effectLst/>
                <a:latin typeface="Cambria" panose="02040503050406030204" pitchFamily="18" charset="0"/>
                <a:ea typeface="Cambria" panose="02040503050406030204" pitchFamily="18" charset="0"/>
                <a:cs typeface="Cambria" panose="02040503050406030204" pitchFamily="18" charset="0"/>
              </a:rPr>
              <a:t>, ask at least three </a:t>
            </a:r>
            <a:r>
              <a:rPr lang="en-IN" sz="1800" dirty="0">
                <a:effectLst/>
                <a:latin typeface="Cambria" panose="02040503050406030204" pitchFamily="18" charset="0"/>
                <a:ea typeface="Cambria" panose="02040503050406030204" pitchFamily="18" charset="0"/>
                <a:cs typeface="Cambria" panose="02040503050406030204" pitchFamily="18" charset="0"/>
              </a:rPr>
              <a:t>Higher-order</a:t>
            </a:r>
            <a:r>
              <a:rPr lang="en-IN" sz="1800" dirty="0">
                <a:solidFill>
                  <a:srgbClr val="000000"/>
                </a:solidFill>
                <a:effectLst/>
                <a:latin typeface="Cambria" panose="02040503050406030204" pitchFamily="18" charset="0"/>
                <a:ea typeface="Cambria" panose="02040503050406030204" pitchFamily="18" charset="0"/>
                <a:cs typeface="Cambria" panose="02040503050406030204" pitchFamily="18" charset="0"/>
              </a:rPr>
              <a:t> Thinking questions in the class.</a:t>
            </a:r>
          </a:p>
          <a:p>
            <a:pPr marL="342900" lvl="0" indent="-342900" algn="just">
              <a:lnSpc>
                <a:spcPct val="107000"/>
              </a:lnSpc>
              <a:spcAft>
                <a:spcPts val="600"/>
              </a:spcAft>
              <a:buFont typeface="+mj-lt"/>
              <a:buAutoNum type="arabicPeriod"/>
            </a:pPr>
            <a:r>
              <a:rPr lang="en-IN" sz="1800" dirty="0">
                <a:solidFill>
                  <a:srgbClr val="000000"/>
                </a:solidFill>
                <a:effectLst/>
                <a:latin typeface="Cambria" panose="02040503050406030204" pitchFamily="18" charset="0"/>
                <a:ea typeface="Cambria" panose="02040503050406030204" pitchFamily="18" charset="0"/>
                <a:cs typeface="Cambria" panose="02040503050406030204" pitchFamily="18" charset="0"/>
              </a:rPr>
              <a:t>Discuss how every </a:t>
            </a:r>
            <a:r>
              <a:rPr lang="en-IN" sz="1800" b="1" i="1" dirty="0">
                <a:solidFill>
                  <a:srgbClr val="000000"/>
                </a:solidFill>
                <a:effectLst/>
                <a:latin typeface="Cambria" panose="02040503050406030204" pitchFamily="18" charset="0"/>
                <a:ea typeface="Cambria" panose="02040503050406030204" pitchFamily="18" charset="0"/>
                <a:cs typeface="Cambria" panose="02040503050406030204" pitchFamily="18" charset="0"/>
              </a:rPr>
              <a:t>concept can be applied to the real world</a:t>
            </a:r>
            <a:r>
              <a:rPr lang="en-IN" sz="1800" dirty="0">
                <a:solidFill>
                  <a:srgbClr val="000000"/>
                </a:solidFill>
                <a:effectLst/>
                <a:latin typeface="Cambria" panose="02040503050406030204" pitchFamily="18" charset="0"/>
                <a:ea typeface="Cambria" panose="02040503050406030204" pitchFamily="18" charset="0"/>
                <a:cs typeface="Cambria" panose="02040503050406030204" pitchFamily="18" charset="0"/>
              </a:rPr>
              <a:t> - and when that's possible, it helps improve the </a:t>
            </a:r>
            <a:r>
              <a:rPr lang="en-IN" sz="1800" dirty="0">
                <a:effectLst/>
                <a:latin typeface="Cambria" panose="02040503050406030204" pitchFamily="18" charset="0"/>
                <a:ea typeface="Cambria" panose="02040503050406030204" pitchFamily="18" charset="0"/>
                <a:cs typeface="Cambria" panose="02040503050406030204" pitchFamily="18" charset="0"/>
              </a:rPr>
              <a:t>student's</a:t>
            </a:r>
            <a:r>
              <a:rPr lang="en-IN" sz="1800" dirty="0">
                <a:solidFill>
                  <a:srgbClr val="000000"/>
                </a:solidFill>
                <a:effectLst/>
                <a:latin typeface="Cambria" panose="02040503050406030204" pitchFamily="18" charset="0"/>
                <a:ea typeface="Cambria" panose="02040503050406030204" pitchFamily="18" charset="0"/>
                <a:cs typeface="Cambria" panose="02040503050406030204" pitchFamily="18" charset="0"/>
              </a:rPr>
              <a:t> understanding.</a:t>
            </a:r>
            <a:endParaRPr lang="en-US" dirty="0"/>
          </a:p>
        </p:txBody>
      </p:sp>
      <p:pic>
        <p:nvPicPr>
          <p:cNvPr id="4" name="Picture 3">
            <a:extLst>
              <a:ext uri="{FF2B5EF4-FFF2-40B4-BE49-F238E27FC236}">
                <a16:creationId xmlns:a16="http://schemas.microsoft.com/office/drawing/2014/main" id="{0A5EF682-BBC6-BC89-A815-2405B3BFA89F}"/>
              </a:ext>
            </a:extLst>
          </p:cNvPr>
          <p:cNvPicPr>
            <a:picLocks noChangeAspect="1"/>
          </p:cNvPicPr>
          <p:nvPr/>
        </p:nvPicPr>
        <p:blipFill rotWithShape="1">
          <a:blip r:embed="rId2">
            <a:extLst>
              <a:ext uri="{28A0092B-C50C-407E-A947-70E740481C1C}">
                <a14:useLocalDpi xmlns:a14="http://schemas.microsoft.com/office/drawing/2010/main" val="0"/>
              </a:ext>
            </a:extLst>
          </a:blip>
          <a:srcRect l="7632" t="6513" r="14801" b="12673"/>
          <a:stretch/>
        </p:blipFill>
        <p:spPr>
          <a:xfrm>
            <a:off x="11003168" y="6329803"/>
            <a:ext cx="1002890" cy="342928"/>
          </a:xfrm>
          <a:prstGeom prst="rect">
            <a:avLst/>
          </a:prstGeom>
        </p:spPr>
      </p:pic>
      <p:sp>
        <p:nvSpPr>
          <p:cNvPr id="5" name="TextBox 4">
            <a:extLst>
              <a:ext uri="{FF2B5EF4-FFF2-40B4-BE49-F238E27FC236}">
                <a16:creationId xmlns:a16="http://schemas.microsoft.com/office/drawing/2014/main" id="{CED2CCDC-C02F-B3A1-A3C5-707DECA064F1}"/>
              </a:ext>
            </a:extLst>
          </p:cNvPr>
          <p:cNvSpPr txBox="1"/>
          <p:nvPr/>
        </p:nvSpPr>
        <p:spPr>
          <a:xfrm>
            <a:off x="-30367" y="770057"/>
            <a:ext cx="1741230" cy="369332"/>
          </a:xfrm>
          <a:prstGeom prst="rect">
            <a:avLst/>
          </a:prstGeom>
          <a:noFill/>
        </p:spPr>
        <p:txBody>
          <a:bodyPr wrap="square" rtlCol="0">
            <a:spAutoFit/>
          </a:bodyPr>
          <a:lstStyle/>
          <a:p>
            <a:r>
              <a:rPr lang="en-US" sz="1800" dirty="0">
                <a:solidFill>
                  <a:schemeClr val="bg1"/>
                </a:solidFill>
                <a:effectLst/>
                <a:latin typeface="Bookman Old Style" panose="02050604050505020204" pitchFamily="18" charset="0"/>
                <a:ea typeface="Calibri" panose="020F0502020204030204" pitchFamily="34" charset="0"/>
              </a:rPr>
              <a:t>22AM2305</a:t>
            </a:r>
            <a:endParaRPr lang="en-IN" dirty="0">
              <a:solidFill>
                <a:schemeClr val="bg1"/>
              </a:solidFill>
              <a:latin typeface="Bookman Old Style" panose="02050604050505020204" pitchFamily="18" charset="0"/>
            </a:endParaRPr>
          </a:p>
        </p:txBody>
      </p:sp>
      <p:pic>
        <p:nvPicPr>
          <p:cNvPr id="6" name="Picture 2" descr="logo">
            <a:extLst>
              <a:ext uri="{FF2B5EF4-FFF2-40B4-BE49-F238E27FC236}">
                <a16:creationId xmlns:a16="http://schemas.microsoft.com/office/drawing/2014/main" id="{747D0EEE-BA48-499F-B84C-D20F74CB5DB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52799" y="89593"/>
            <a:ext cx="1070381" cy="1049796"/>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a:extLst>
              <a:ext uri="{FF2B5EF4-FFF2-40B4-BE49-F238E27FC236}">
                <a16:creationId xmlns:a16="http://schemas.microsoft.com/office/drawing/2014/main" id="{B8E50AC5-8D2A-6A5D-796D-B6863CA3B31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123180" y="89593"/>
            <a:ext cx="941000" cy="960203"/>
          </a:xfrm>
          <a:prstGeom prst="rect">
            <a:avLst/>
          </a:prstGeom>
        </p:spPr>
      </p:pic>
    </p:spTree>
    <p:extLst>
      <p:ext uri="{BB962C8B-B14F-4D97-AF65-F5344CB8AC3E}">
        <p14:creationId xmlns:p14="http://schemas.microsoft.com/office/powerpoint/2010/main" val="37268102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A5EF682-BBC6-BC89-A815-2405B3BFA89F}"/>
              </a:ext>
            </a:extLst>
          </p:cNvPr>
          <p:cNvPicPr>
            <a:picLocks noChangeAspect="1"/>
          </p:cNvPicPr>
          <p:nvPr/>
        </p:nvPicPr>
        <p:blipFill rotWithShape="1">
          <a:blip r:embed="rId2">
            <a:extLst>
              <a:ext uri="{28A0092B-C50C-407E-A947-70E740481C1C}">
                <a14:useLocalDpi xmlns:a14="http://schemas.microsoft.com/office/drawing/2010/main" val="0"/>
              </a:ext>
            </a:extLst>
          </a:blip>
          <a:srcRect l="7632" t="6513" r="14801" b="12673"/>
          <a:stretch/>
        </p:blipFill>
        <p:spPr>
          <a:xfrm>
            <a:off x="11003168" y="6329803"/>
            <a:ext cx="1002890" cy="342928"/>
          </a:xfrm>
          <a:prstGeom prst="rect">
            <a:avLst/>
          </a:prstGeom>
        </p:spPr>
      </p:pic>
      <p:sp>
        <p:nvSpPr>
          <p:cNvPr id="5" name="TextBox 4">
            <a:extLst>
              <a:ext uri="{FF2B5EF4-FFF2-40B4-BE49-F238E27FC236}">
                <a16:creationId xmlns:a16="http://schemas.microsoft.com/office/drawing/2014/main" id="{CED2CCDC-C02F-B3A1-A3C5-707DECA064F1}"/>
              </a:ext>
            </a:extLst>
          </p:cNvPr>
          <p:cNvSpPr txBox="1"/>
          <p:nvPr/>
        </p:nvSpPr>
        <p:spPr>
          <a:xfrm>
            <a:off x="-30367" y="770057"/>
            <a:ext cx="1741230" cy="369332"/>
          </a:xfrm>
          <a:prstGeom prst="rect">
            <a:avLst/>
          </a:prstGeom>
          <a:noFill/>
        </p:spPr>
        <p:txBody>
          <a:bodyPr wrap="square" rtlCol="0">
            <a:spAutoFit/>
          </a:bodyPr>
          <a:lstStyle/>
          <a:p>
            <a:r>
              <a:rPr lang="en-US" sz="1800" dirty="0">
                <a:solidFill>
                  <a:schemeClr val="bg1"/>
                </a:solidFill>
                <a:effectLst/>
                <a:latin typeface="Bookman Old Style" panose="02050604050505020204" pitchFamily="18" charset="0"/>
                <a:ea typeface="Calibri" panose="020F0502020204030204" pitchFamily="34" charset="0"/>
              </a:rPr>
              <a:t>22AM2305</a:t>
            </a:r>
            <a:endParaRPr lang="en-IN" dirty="0">
              <a:solidFill>
                <a:schemeClr val="bg1"/>
              </a:solidFill>
              <a:latin typeface="Bookman Old Style" panose="02050604050505020204" pitchFamily="18" charset="0"/>
            </a:endParaRPr>
          </a:p>
        </p:txBody>
      </p:sp>
      <p:pic>
        <p:nvPicPr>
          <p:cNvPr id="6" name="Picture 2" descr="logo">
            <a:extLst>
              <a:ext uri="{FF2B5EF4-FFF2-40B4-BE49-F238E27FC236}">
                <a16:creationId xmlns:a16="http://schemas.microsoft.com/office/drawing/2014/main" id="{747D0EEE-BA48-499F-B84C-D20F74CB5DB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52799" y="89593"/>
            <a:ext cx="1070381" cy="1049796"/>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a:extLst>
              <a:ext uri="{FF2B5EF4-FFF2-40B4-BE49-F238E27FC236}">
                <a16:creationId xmlns:a16="http://schemas.microsoft.com/office/drawing/2014/main" id="{B8E50AC5-8D2A-6A5D-796D-B6863CA3B31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123180" y="89593"/>
            <a:ext cx="941000" cy="960203"/>
          </a:xfrm>
          <a:prstGeom prst="rect">
            <a:avLst/>
          </a:prstGeom>
        </p:spPr>
      </p:pic>
      <p:sp>
        <p:nvSpPr>
          <p:cNvPr id="8" name="Title 1">
            <a:extLst>
              <a:ext uri="{FF2B5EF4-FFF2-40B4-BE49-F238E27FC236}">
                <a16:creationId xmlns:a16="http://schemas.microsoft.com/office/drawing/2014/main" id="{96E70F5A-AC52-76CD-EEC1-481D61BA0FCB}"/>
              </a:ext>
            </a:extLst>
          </p:cNvPr>
          <p:cNvSpPr txBox="1">
            <a:spLocks/>
          </p:cNvSpPr>
          <p:nvPr/>
        </p:nvSpPr>
        <p:spPr>
          <a:xfrm>
            <a:off x="1676302" y="566619"/>
            <a:ext cx="8911687" cy="585258"/>
          </a:xfrm>
          <a:prstGeom prst="rect">
            <a:avLst/>
          </a:prstGeom>
        </p:spPr>
        <p:txBody>
          <a:bodyPr vert="horz" lIns="91440" tIns="45720" rIns="91440" bIns="45720" rtlCol="0" anchor="t">
            <a:normAutofit fontScale="97500" lnSpcReduction="10000"/>
          </a:bodyPr>
          <a:lst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dirty="0">
                <a:latin typeface="Bookman Old Style" panose="02050604050505020204" pitchFamily="18" charset="0"/>
              </a:rPr>
              <a:t>Content of Syllabus</a:t>
            </a:r>
            <a:endParaRPr lang="en-IN" dirty="0">
              <a:latin typeface="Bookman Old Style" panose="02050604050505020204" pitchFamily="18" charset="0"/>
            </a:endParaRPr>
          </a:p>
        </p:txBody>
      </p:sp>
      <p:graphicFrame>
        <p:nvGraphicFramePr>
          <p:cNvPr id="9" name="Table 5">
            <a:extLst>
              <a:ext uri="{FF2B5EF4-FFF2-40B4-BE49-F238E27FC236}">
                <a16:creationId xmlns:a16="http://schemas.microsoft.com/office/drawing/2014/main" id="{1D861F19-BA83-7180-3249-5A1E6615D672}"/>
              </a:ext>
            </a:extLst>
          </p:cNvPr>
          <p:cNvGraphicFramePr>
            <a:graphicFrameLocks/>
          </p:cNvGraphicFramePr>
          <p:nvPr>
            <p:extLst>
              <p:ext uri="{D42A27DB-BD31-4B8C-83A1-F6EECF244321}">
                <p14:modId xmlns:p14="http://schemas.microsoft.com/office/powerpoint/2010/main" val="3876521487"/>
              </p:ext>
            </p:extLst>
          </p:nvPr>
        </p:nvGraphicFramePr>
        <p:xfrm>
          <a:off x="1576798" y="1749623"/>
          <a:ext cx="10429260" cy="3850640"/>
        </p:xfrm>
        <a:graphic>
          <a:graphicData uri="http://schemas.openxmlformats.org/drawingml/2006/table">
            <a:tbl>
              <a:tblPr firstRow="1" bandRow="1">
                <a:tableStyleId>{5940675A-B579-460E-94D1-54222C63F5DA}</a:tableStyleId>
              </a:tblPr>
              <a:tblGrid>
                <a:gridCol w="8780206">
                  <a:extLst>
                    <a:ext uri="{9D8B030D-6E8A-4147-A177-3AD203B41FA5}">
                      <a16:colId xmlns:a16="http://schemas.microsoft.com/office/drawing/2014/main" val="3077971440"/>
                    </a:ext>
                  </a:extLst>
                </a:gridCol>
                <a:gridCol w="1649054">
                  <a:extLst>
                    <a:ext uri="{9D8B030D-6E8A-4147-A177-3AD203B41FA5}">
                      <a16:colId xmlns:a16="http://schemas.microsoft.com/office/drawing/2014/main" val="2731420000"/>
                    </a:ext>
                  </a:extLst>
                </a:gridCol>
              </a:tblGrid>
              <a:tr h="370840">
                <a:tc>
                  <a:txBody>
                    <a:bodyPr/>
                    <a:lstStyle/>
                    <a:p>
                      <a:pPr algn="just"/>
                      <a:r>
                        <a:rPr lang="en-US" sz="1600" b="1" dirty="0">
                          <a:solidFill>
                            <a:schemeClr val="tx1"/>
                          </a:solidFill>
                          <a:latin typeface="Bookman Old Style" panose="02050604050505020204" pitchFamily="18" charset="0"/>
                        </a:rPr>
                        <a:t>Unit-1 : </a:t>
                      </a:r>
                      <a:r>
                        <a:rPr lang="en-US" sz="1600" b="1" kern="1200" dirty="0">
                          <a:solidFill>
                            <a:schemeClr val="tx1"/>
                          </a:solidFill>
                          <a:latin typeface="Bookman Old Style" panose="02050604050505020204" pitchFamily="18" charset="0"/>
                          <a:ea typeface="+mn-ea"/>
                          <a:cs typeface="+mn-cs"/>
                        </a:rPr>
                        <a:t>Introduction</a:t>
                      </a:r>
                      <a:endParaRPr lang="en-IN" sz="1600" b="1" kern="1200" dirty="0">
                        <a:solidFill>
                          <a:schemeClr val="tx1"/>
                        </a:solidFill>
                        <a:latin typeface="Bookman Old Style" panose="02050604050505020204" pitchFamily="18" charset="0"/>
                        <a:ea typeface="+mn-ea"/>
                        <a:cs typeface="+mn-cs"/>
                      </a:endParaRPr>
                    </a:p>
                  </a:txBody>
                  <a:tcPr/>
                </a:tc>
                <a:tc>
                  <a:txBody>
                    <a:bodyPr/>
                    <a:lstStyle/>
                    <a:p>
                      <a:pPr algn="just"/>
                      <a:r>
                        <a:rPr lang="en-US" sz="1600" dirty="0">
                          <a:solidFill>
                            <a:schemeClr val="tx1"/>
                          </a:solidFill>
                          <a:latin typeface="Bookman Old Style" panose="02050604050505020204" pitchFamily="18" charset="0"/>
                        </a:rPr>
                        <a:t>Contact Hours</a:t>
                      </a:r>
                      <a:endParaRPr lang="en-IN" sz="1600" dirty="0">
                        <a:solidFill>
                          <a:schemeClr val="tx1"/>
                        </a:solidFill>
                        <a:latin typeface="Bookman Old Style" panose="02050604050505020204" pitchFamily="18" charset="0"/>
                      </a:endParaRPr>
                    </a:p>
                  </a:txBody>
                  <a:tcPr/>
                </a:tc>
                <a:extLst>
                  <a:ext uri="{0D108BD9-81ED-4DB2-BD59-A6C34878D82A}">
                    <a16:rowId xmlns:a16="http://schemas.microsoft.com/office/drawing/2014/main" val="3599347431"/>
                  </a:ext>
                </a:extLst>
              </a:tr>
              <a:tr h="370840">
                <a:tc>
                  <a:txBody>
                    <a:bodyPr/>
                    <a:lstStyle/>
                    <a:p>
                      <a:pPr algn="just"/>
                      <a:r>
                        <a:rPr lang="en-US" sz="1600" b="0" dirty="0">
                          <a:solidFill>
                            <a:schemeClr val="tx1"/>
                          </a:solidFill>
                          <a:latin typeface="Bookman Old Style" panose="02050604050505020204" pitchFamily="18" charset="0"/>
                        </a:rPr>
                        <a:t>Introduction: Artificial Intelligence, AI Problems, AI Techniques: supervised learning, unsupervised learning, and reinforcement learning, Different Types of Agents: Simple reflex agents, Model‐based reflex agents, Goal‐based agents and Utility‐based agents; Environment, Problem Space and Search, Defining the Problem as a State Space Search, Problem Characteristics.</a:t>
                      </a:r>
                    </a:p>
                    <a:p>
                      <a:pPr algn="just"/>
                      <a:endParaRPr lang="en-US" sz="1600" b="0" dirty="0">
                        <a:solidFill>
                          <a:schemeClr val="tx1"/>
                        </a:solidFill>
                        <a:latin typeface="Bookman Old Style" panose="02050604050505020204" pitchFamily="18" charset="0"/>
                      </a:endParaRPr>
                    </a:p>
                    <a:p>
                      <a:pPr algn="just"/>
                      <a:r>
                        <a:rPr lang="en-US" sz="1600" b="0" dirty="0">
                          <a:solidFill>
                            <a:schemeClr val="tx1"/>
                          </a:solidFill>
                          <a:latin typeface="Bookman Old Style" panose="02050604050505020204" pitchFamily="18" charset="0"/>
                        </a:rPr>
                        <a:t>Textbook 2: Chapter 1,2 </a:t>
                      </a:r>
                    </a:p>
                  </a:txBody>
                  <a:tcPr/>
                </a:tc>
                <a:tc>
                  <a:txBody>
                    <a:bodyPr/>
                    <a:lstStyle/>
                    <a:p>
                      <a:pPr algn="ctr"/>
                      <a:r>
                        <a:rPr lang="en-IN" sz="1600" dirty="0">
                          <a:solidFill>
                            <a:schemeClr val="tx1"/>
                          </a:solidFill>
                          <a:latin typeface="Bookman Old Style" panose="02050604050505020204" pitchFamily="18" charset="0"/>
                        </a:rPr>
                        <a:t>08 </a:t>
                      </a:r>
                    </a:p>
                  </a:txBody>
                  <a:tcPr/>
                </a:tc>
                <a:extLst>
                  <a:ext uri="{0D108BD9-81ED-4DB2-BD59-A6C34878D82A}">
                    <a16:rowId xmlns:a16="http://schemas.microsoft.com/office/drawing/2014/main" val="2188060862"/>
                  </a:ext>
                </a:extLst>
              </a:tr>
              <a:tr h="370840">
                <a:tc>
                  <a:txBody>
                    <a:bodyPr/>
                    <a:lstStyle/>
                    <a:p>
                      <a:pPr algn="just"/>
                      <a:r>
                        <a:rPr lang="en-US" sz="1600" b="1" dirty="0">
                          <a:solidFill>
                            <a:schemeClr val="tx1"/>
                          </a:solidFill>
                          <a:latin typeface="Bookman Old Style" panose="02050604050505020204" pitchFamily="18" charset="0"/>
                        </a:rPr>
                        <a:t>Unit</a:t>
                      </a:r>
                      <a:r>
                        <a:rPr lang="en-US" sz="1600" b="1" dirty="0">
                          <a:latin typeface="Bookman Old Style" panose="02050604050505020204" pitchFamily="18" charset="0"/>
                        </a:rPr>
                        <a:t> – 2 : Basic Search Techniques</a:t>
                      </a:r>
                      <a:endParaRPr lang="en-IN" sz="1600" b="1" dirty="0">
                        <a:solidFill>
                          <a:schemeClr val="tx1"/>
                        </a:solidFill>
                        <a:latin typeface="Bookman Old Style" panose="02050604050505020204" pitchFamily="18" charset="0"/>
                      </a:endParaRPr>
                    </a:p>
                  </a:txBody>
                  <a:tcPr/>
                </a:tc>
                <a:tc>
                  <a:txBody>
                    <a:bodyPr/>
                    <a:lstStyle/>
                    <a:p>
                      <a:pPr algn="ctr"/>
                      <a:endParaRPr lang="en-IN" sz="1600" dirty="0">
                        <a:solidFill>
                          <a:schemeClr val="tx1"/>
                        </a:solidFill>
                        <a:latin typeface="Bookman Old Style" panose="02050604050505020204" pitchFamily="18" charset="0"/>
                      </a:endParaRPr>
                    </a:p>
                  </a:txBody>
                  <a:tcPr/>
                </a:tc>
                <a:extLst>
                  <a:ext uri="{0D108BD9-81ED-4DB2-BD59-A6C34878D82A}">
                    <a16:rowId xmlns:a16="http://schemas.microsoft.com/office/drawing/2014/main" val="2936878504"/>
                  </a:ext>
                </a:extLst>
              </a:tr>
              <a:tr h="370840">
                <a:tc>
                  <a:txBody>
                    <a:bodyPr/>
                    <a:lstStyle/>
                    <a:p>
                      <a:pPr algn="just"/>
                      <a:r>
                        <a:rPr lang="en-US" sz="1600" b="0" dirty="0">
                          <a:latin typeface="Bookman Old Style" panose="02050604050505020204" pitchFamily="18" charset="0"/>
                        </a:rPr>
                        <a:t>Basic Search Techniques: Solving problems by searching; issues in the design of search programs; uniform search strategies: Breadth first search, Depth first search, Depth limited search, Bidirectional search, Best First search.</a:t>
                      </a:r>
                    </a:p>
                    <a:p>
                      <a:pPr algn="just"/>
                      <a:endParaRPr lang="en-US" sz="1600" b="0" dirty="0">
                        <a:latin typeface="Bookman Old Style" panose="02050604050505020204" pitchFamily="18" charset="0"/>
                      </a:endParaRPr>
                    </a:p>
                    <a:p>
                      <a:pPr algn="just"/>
                      <a:r>
                        <a:rPr lang="en-US" sz="1600" b="0" dirty="0">
                          <a:latin typeface="Bookman Old Style" panose="02050604050505020204" pitchFamily="18" charset="0"/>
                        </a:rPr>
                        <a:t>Textbook 3: Chapter 3, 4; Textbook 2: Chapter 2, 3</a:t>
                      </a:r>
                    </a:p>
                  </a:txBody>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IN" sz="1600" dirty="0">
                          <a:solidFill>
                            <a:schemeClr val="tx1"/>
                          </a:solidFill>
                          <a:latin typeface="Bookman Old Style" panose="02050604050505020204" pitchFamily="18" charset="0"/>
                        </a:rPr>
                        <a:t>08 </a:t>
                      </a:r>
                    </a:p>
                    <a:p>
                      <a:pPr algn="ctr"/>
                      <a:endParaRPr lang="en-IN" sz="1600" dirty="0">
                        <a:solidFill>
                          <a:schemeClr val="tx1"/>
                        </a:solidFill>
                        <a:latin typeface="Bookman Old Style" panose="02050604050505020204" pitchFamily="18" charset="0"/>
                      </a:endParaRPr>
                    </a:p>
                  </a:txBody>
                  <a:tcPr/>
                </a:tc>
                <a:extLst>
                  <a:ext uri="{0D108BD9-81ED-4DB2-BD59-A6C34878D82A}">
                    <a16:rowId xmlns:a16="http://schemas.microsoft.com/office/drawing/2014/main" val="981463336"/>
                  </a:ext>
                </a:extLst>
              </a:tr>
            </a:tbl>
          </a:graphicData>
        </a:graphic>
      </p:graphicFrame>
    </p:spTree>
    <p:extLst>
      <p:ext uri="{BB962C8B-B14F-4D97-AF65-F5344CB8AC3E}">
        <p14:creationId xmlns:p14="http://schemas.microsoft.com/office/powerpoint/2010/main" val="41254494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A5EF682-BBC6-BC89-A815-2405B3BFA89F}"/>
              </a:ext>
            </a:extLst>
          </p:cNvPr>
          <p:cNvPicPr>
            <a:picLocks noChangeAspect="1"/>
          </p:cNvPicPr>
          <p:nvPr/>
        </p:nvPicPr>
        <p:blipFill rotWithShape="1">
          <a:blip r:embed="rId2">
            <a:extLst>
              <a:ext uri="{28A0092B-C50C-407E-A947-70E740481C1C}">
                <a14:useLocalDpi xmlns:a14="http://schemas.microsoft.com/office/drawing/2010/main" val="0"/>
              </a:ext>
            </a:extLst>
          </a:blip>
          <a:srcRect l="7632" t="6513" r="14801" b="12673"/>
          <a:stretch/>
        </p:blipFill>
        <p:spPr>
          <a:xfrm>
            <a:off x="11003168" y="6329803"/>
            <a:ext cx="1002890" cy="342928"/>
          </a:xfrm>
          <a:prstGeom prst="rect">
            <a:avLst/>
          </a:prstGeom>
        </p:spPr>
      </p:pic>
      <p:sp>
        <p:nvSpPr>
          <p:cNvPr id="5" name="TextBox 4">
            <a:extLst>
              <a:ext uri="{FF2B5EF4-FFF2-40B4-BE49-F238E27FC236}">
                <a16:creationId xmlns:a16="http://schemas.microsoft.com/office/drawing/2014/main" id="{CED2CCDC-C02F-B3A1-A3C5-707DECA064F1}"/>
              </a:ext>
            </a:extLst>
          </p:cNvPr>
          <p:cNvSpPr txBox="1"/>
          <p:nvPr/>
        </p:nvSpPr>
        <p:spPr>
          <a:xfrm>
            <a:off x="-30367" y="770057"/>
            <a:ext cx="1741230" cy="369332"/>
          </a:xfrm>
          <a:prstGeom prst="rect">
            <a:avLst/>
          </a:prstGeom>
          <a:noFill/>
        </p:spPr>
        <p:txBody>
          <a:bodyPr wrap="square" rtlCol="0">
            <a:spAutoFit/>
          </a:bodyPr>
          <a:lstStyle/>
          <a:p>
            <a:r>
              <a:rPr lang="en-US" sz="1800" dirty="0">
                <a:solidFill>
                  <a:schemeClr val="bg1"/>
                </a:solidFill>
                <a:effectLst/>
                <a:latin typeface="Bookman Old Style" panose="02050604050505020204" pitchFamily="18" charset="0"/>
                <a:ea typeface="Calibri" panose="020F0502020204030204" pitchFamily="34" charset="0"/>
              </a:rPr>
              <a:t>22AM2305</a:t>
            </a:r>
            <a:endParaRPr lang="en-IN" dirty="0">
              <a:solidFill>
                <a:schemeClr val="bg1"/>
              </a:solidFill>
              <a:latin typeface="Bookman Old Style" panose="02050604050505020204" pitchFamily="18" charset="0"/>
            </a:endParaRPr>
          </a:p>
        </p:txBody>
      </p:sp>
      <p:pic>
        <p:nvPicPr>
          <p:cNvPr id="6" name="Picture 2" descr="logo">
            <a:extLst>
              <a:ext uri="{FF2B5EF4-FFF2-40B4-BE49-F238E27FC236}">
                <a16:creationId xmlns:a16="http://schemas.microsoft.com/office/drawing/2014/main" id="{747D0EEE-BA48-499F-B84C-D20F74CB5DB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52799" y="89593"/>
            <a:ext cx="1070381" cy="1049796"/>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a:extLst>
              <a:ext uri="{FF2B5EF4-FFF2-40B4-BE49-F238E27FC236}">
                <a16:creationId xmlns:a16="http://schemas.microsoft.com/office/drawing/2014/main" id="{B8E50AC5-8D2A-6A5D-796D-B6863CA3B31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123180" y="89593"/>
            <a:ext cx="941000" cy="960203"/>
          </a:xfrm>
          <a:prstGeom prst="rect">
            <a:avLst/>
          </a:prstGeom>
        </p:spPr>
      </p:pic>
      <p:graphicFrame>
        <p:nvGraphicFramePr>
          <p:cNvPr id="8" name="Table 5">
            <a:extLst>
              <a:ext uri="{FF2B5EF4-FFF2-40B4-BE49-F238E27FC236}">
                <a16:creationId xmlns:a16="http://schemas.microsoft.com/office/drawing/2014/main" id="{DB16AB08-42E4-64C7-FAA8-76B41822E521}"/>
              </a:ext>
            </a:extLst>
          </p:cNvPr>
          <p:cNvGraphicFramePr>
            <a:graphicFrameLocks/>
          </p:cNvGraphicFramePr>
          <p:nvPr>
            <p:extLst>
              <p:ext uri="{D42A27DB-BD31-4B8C-83A1-F6EECF244321}">
                <p14:modId xmlns:p14="http://schemas.microsoft.com/office/powerpoint/2010/main" val="3503310905"/>
              </p:ext>
            </p:extLst>
          </p:nvPr>
        </p:nvGraphicFramePr>
        <p:xfrm>
          <a:off x="1576798" y="770057"/>
          <a:ext cx="10429260" cy="4582160"/>
        </p:xfrm>
        <a:graphic>
          <a:graphicData uri="http://schemas.openxmlformats.org/drawingml/2006/table">
            <a:tbl>
              <a:tblPr firstRow="1" bandRow="1">
                <a:tableStyleId>{5940675A-B579-460E-94D1-54222C63F5DA}</a:tableStyleId>
              </a:tblPr>
              <a:tblGrid>
                <a:gridCol w="8780206">
                  <a:extLst>
                    <a:ext uri="{9D8B030D-6E8A-4147-A177-3AD203B41FA5}">
                      <a16:colId xmlns:a16="http://schemas.microsoft.com/office/drawing/2014/main" val="3077971440"/>
                    </a:ext>
                  </a:extLst>
                </a:gridCol>
                <a:gridCol w="1649054">
                  <a:extLst>
                    <a:ext uri="{9D8B030D-6E8A-4147-A177-3AD203B41FA5}">
                      <a16:colId xmlns:a16="http://schemas.microsoft.com/office/drawing/2014/main" val="2731420000"/>
                    </a:ext>
                  </a:extLst>
                </a:gridCol>
              </a:tblGrid>
              <a:tr h="370840">
                <a:tc>
                  <a:txBody>
                    <a:bodyPr/>
                    <a:lstStyle/>
                    <a:p>
                      <a:pPr algn="just"/>
                      <a:r>
                        <a:rPr lang="en-US" sz="1600" b="1" dirty="0">
                          <a:solidFill>
                            <a:schemeClr val="tx1"/>
                          </a:solidFill>
                          <a:latin typeface="Bookman Old Style" panose="02050604050505020204" pitchFamily="18" charset="0"/>
                        </a:rPr>
                        <a:t>Unit-3 : Special Search Techniques &amp; Knowledge Representation</a:t>
                      </a:r>
                      <a:endParaRPr lang="en-IN" sz="1600" b="1" kern="1200" dirty="0">
                        <a:solidFill>
                          <a:schemeClr val="tx1"/>
                        </a:solidFill>
                        <a:latin typeface="Bookman Old Style" panose="02050604050505020204" pitchFamily="18" charset="0"/>
                        <a:ea typeface="+mn-ea"/>
                        <a:cs typeface="+mn-cs"/>
                      </a:endParaRPr>
                    </a:p>
                  </a:txBody>
                  <a:tcPr/>
                </a:tc>
                <a:tc>
                  <a:txBody>
                    <a:bodyPr/>
                    <a:lstStyle/>
                    <a:p>
                      <a:pPr algn="just"/>
                      <a:r>
                        <a:rPr lang="en-US" sz="1600" dirty="0">
                          <a:solidFill>
                            <a:schemeClr val="tx1"/>
                          </a:solidFill>
                          <a:latin typeface="Bookman Old Style" panose="02050604050505020204" pitchFamily="18" charset="0"/>
                        </a:rPr>
                        <a:t>Contact Hours</a:t>
                      </a:r>
                      <a:endParaRPr lang="en-IN" sz="1600" dirty="0">
                        <a:solidFill>
                          <a:schemeClr val="tx1"/>
                        </a:solidFill>
                        <a:latin typeface="Bookman Old Style" panose="02050604050505020204" pitchFamily="18" charset="0"/>
                      </a:endParaRPr>
                    </a:p>
                  </a:txBody>
                  <a:tcPr/>
                </a:tc>
                <a:extLst>
                  <a:ext uri="{0D108BD9-81ED-4DB2-BD59-A6C34878D82A}">
                    <a16:rowId xmlns:a16="http://schemas.microsoft.com/office/drawing/2014/main" val="3599347431"/>
                  </a:ext>
                </a:extLst>
              </a:tr>
              <a:tr h="370840">
                <a:tc>
                  <a:txBody>
                    <a:bodyPr/>
                    <a:lstStyle/>
                    <a:p>
                      <a:pPr algn="just"/>
                      <a:r>
                        <a:rPr lang="en-US" sz="1600" b="0" dirty="0">
                          <a:solidFill>
                            <a:schemeClr val="tx1"/>
                          </a:solidFill>
                          <a:latin typeface="Bookman Old Style" panose="02050604050505020204" pitchFamily="18" charset="0"/>
                        </a:rPr>
                        <a:t>Special Search Techniques: Heuristic Search, greedy best first search, A* search, AO*Algorithm, Hill climbing search, Simulated Annealing search, Adversarial search, Minimax search, Alpha, beta pruning, Genetic Algorithm. </a:t>
                      </a:r>
                    </a:p>
                    <a:p>
                      <a:pPr algn="just"/>
                      <a:endParaRPr lang="en-US" sz="1600" b="0" dirty="0">
                        <a:solidFill>
                          <a:schemeClr val="tx1"/>
                        </a:solidFill>
                        <a:latin typeface="Bookman Old Style" panose="02050604050505020204" pitchFamily="18" charset="0"/>
                      </a:endParaRPr>
                    </a:p>
                    <a:p>
                      <a:pPr algn="just"/>
                      <a:r>
                        <a:rPr lang="en-US" sz="1600" b="0" dirty="0">
                          <a:solidFill>
                            <a:schemeClr val="tx1"/>
                          </a:solidFill>
                          <a:latin typeface="Bookman Old Style" panose="02050604050505020204" pitchFamily="18" charset="0"/>
                        </a:rPr>
                        <a:t>Knowledge Representation: Procedural Vs Declarative Knowledge, Approaches to Knowledge Representation, Forward Vs Backward Reasoning.</a:t>
                      </a:r>
                    </a:p>
                    <a:p>
                      <a:pPr algn="just"/>
                      <a:endParaRPr lang="en-US" sz="1600" b="0" dirty="0">
                        <a:solidFill>
                          <a:schemeClr val="tx1"/>
                        </a:solidFill>
                        <a:latin typeface="Bookman Old Style" panose="02050604050505020204" pitchFamily="18" charset="0"/>
                      </a:endParaRPr>
                    </a:p>
                    <a:p>
                      <a:pPr algn="just"/>
                      <a:r>
                        <a:rPr lang="en-US" sz="1600" b="0" dirty="0">
                          <a:solidFill>
                            <a:schemeClr val="tx1"/>
                          </a:solidFill>
                          <a:latin typeface="Bookman Old Style" panose="02050604050505020204" pitchFamily="18" charset="0"/>
                        </a:rPr>
                        <a:t>Textbook 1: Chapter 5; Textbook 2: Chapter 3, 6 </a:t>
                      </a:r>
                    </a:p>
                  </a:txBody>
                  <a:tcPr/>
                </a:tc>
                <a:tc>
                  <a:txBody>
                    <a:bodyPr/>
                    <a:lstStyle/>
                    <a:p>
                      <a:pPr algn="ctr"/>
                      <a:r>
                        <a:rPr lang="en-IN" sz="1600" dirty="0">
                          <a:solidFill>
                            <a:schemeClr val="tx1"/>
                          </a:solidFill>
                          <a:latin typeface="Bookman Old Style" panose="02050604050505020204" pitchFamily="18" charset="0"/>
                        </a:rPr>
                        <a:t>08 </a:t>
                      </a:r>
                    </a:p>
                  </a:txBody>
                  <a:tcPr/>
                </a:tc>
                <a:extLst>
                  <a:ext uri="{0D108BD9-81ED-4DB2-BD59-A6C34878D82A}">
                    <a16:rowId xmlns:a16="http://schemas.microsoft.com/office/drawing/2014/main" val="2188060862"/>
                  </a:ext>
                </a:extLst>
              </a:tr>
              <a:tr h="370840">
                <a:tc>
                  <a:txBody>
                    <a:bodyPr/>
                    <a:lstStyle/>
                    <a:p>
                      <a:pPr algn="just"/>
                      <a:r>
                        <a:rPr lang="en-US" sz="1600" b="1" dirty="0">
                          <a:solidFill>
                            <a:schemeClr val="tx1"/>
                          </a:solidFill>
                          <a:latin typeface="Bookman Old Style" panose="02050604050505020204" pitchFamily="18" charset="0"/>
                        </a:rPr>
                        <a:t>Unit</a:t>
                      </a:r>
                      <a:r>
                        <a:rPr lang="en-US" sz="1600" b="1" dirty="0">
                          <a:latin typeface="Bookman Old Style" panose="02050604050505020204" pitchFamily="18" charset="0"/>
                        </a:rPr>
                        <a:t> – 4 : </a:t>
                      </a:r>
                      <a:r>
                        <a:rPr lang="en-US" sz="1600" b="1" kern="1200" dirty="0">
                          <a:solidFill>
                            <a:schemeClr val="tx1"/>
                          </a:solidFill>
                          <a:latin typeface="Bookman Old Style" panose="02050604050505020204" pitchFamily="18" charset="0"/>
                          <a:ea typeface="+mn-ea"/>
                          <a:cs typeface="+mn-cs"/>
                        </a:rPr>
                        <a:t>Symbolic Logic, Reasoning &amp; Statistical Reasoning</a:t>
                      </a:r>
                      <a:endParaRPr lang="en-IN" sz="1600" b="1" kern="1200" dirty="0">
                        <a:solidFill>
                          <a:schemeClr val="tx1"/>
                        </a:solidFill>
                        <a:latin typeface="Bookman Old Style" panose="02050604050505020204" pitchFamily="18" charset="0"/>
                        <a:ea typeface="+mn-ea"/>
                        <a:cs typeface="+mn-cs"/>
                      </a:endParaRPr>
                    </a:p>
                  </a:txBody>
                  <a:tcPr/>
                </a:tc>
                <a:tc>
                  <a:txBody>
                    <a:bodyPr/>
                    <a:lstStyle/>
                    <a:p>
                      <a:pPr algn="ctr"/>
                      <a:endParaRPr lang="en-IN" sz="1600" dirty="0">
                        <a:solidFill>
                          <a:schemeClr val="tx1"/>
                        </a:solidFill>
                        <a:latin typeface="Bookman Old Style" panose="02050604050505020204" pitchFamily="18" charset="0"/>
                      </a:endParaRPr>
                    </a:p>
                  </a:txBody>
                  <a:tcPr/>
                </a:tc>
                <a:extLst>
                  <a:ext uri="{0D108BD9-81ED-4DB2-BD59-A6C34878D82A}">
                    <a16:rowId xmlns:a16="http://schemas.microsoft.com/office/drawing/2014/main" val="2936878504"/>
                  </a:ext>
                </a:extLst>
              </a:tr>
              <a:tr h="370840">
                <a:tc>
                  <a:txBody>
                    <a:bodyPr/>
                    <a:lstStyle/>
                    <a:p>
                      <a:pPr algn="just"/>
                      <a:r>
                        <a:rPr lang="en-US" sz="1600" b="0" dirty="0">
                          <a:latin typeface="Bookman Old Style" panose="02050604050505020204" pitchFamily="18" charset="0"/>
                        </a:rPr>
                        <a:t>Symbolic Logic: Propositional Logic, First Order Predicate Logic: Representing Instance and isa Relationships.</a:t>
                      </a:r>
                    </a:p>
                    <a:p>
                      <a:pPr algn="just"/>
                      <a:r>
                        <a:rPr lang="en-US" sz="1600" b="0" dirty="0">
                          <a:latin typeface="Bookman Old Style" panose="02050604050505020204" pitchFamily="18" charset="0"/>
                        </a:rPr>
                        <a:t>Reasoning: Introduction to Monotonic Reasoning and Non-Monotonic Reasoning.</a:t>
                      </a:r>
                    </a:p>
                    <a:p>
                      <a:pPr algn="just"/>
                      <a:r>
                        <a:rPr lang="en-US" sz="1600" b="0" dirty="0">
                          <a:latin typeface="Bookman Old Style" panose="02050604050505020204" pitchFamily="18" charset="0"/>
                        </a:rPr>
                        <a:t>Statistical Reasoning: Bayes Theorem, Certainty Factors, Bayesian Networks, Dempster-Shafer Theory.</a:t>
                      </a:r>
                    </a:p>
                    <a:p>
                      <a:pPr algn="just"/>
                      <a:endParaRPr lang="en-US" sz="1600" b="0" dirty="0">
                        <a:latin typeface="Bookman Old Style" panose="02050604050505020204" pitchFamily="18" charset="0"/>
                      </a:endParaRPr>
                    </a:p>
                    <a:p>
                      <a:pPr algn="just"/>
                      <a:r>
                        <a:rPr lang="en-US" sz="1600" b="0" dirty="0">
                          <a:latin typeface="Bookman Old Style" panose="02050604050505020204" pitchFamily="18" charset="0"/>
                        </a:rPr>
                        <a:t>Textbook 2: Chapter 7,8 </a:t>
                      </a:r>
                    </a:p>
                  </a:txBody>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IN" sz="1600" dirty="0">
                          <a:solidFill>
                            <a:schemeClr val="tx1"/>
                          </a:solidFill>
                          <a:latin typeface="Bookman Old Style" panose="02050604050505020204" pitchFamily="18" charset="0"/>
                        </a:rPr>
                        <a:t>07</a:t>
                      </a:r>
                    </a:p>
                    <a:p>
                      <a:pPr algn="ctr"/>
                      <a:endParaRPr lang="en-IN" sz="1600" dirty="0">
                        <a:solidFill>
                          <a:schemeClr val="tx1"/>
                        </a:solidFill>
                        <a:latin typeface="Bookman Old Style" panose="02050604050505020204" pitchFamily="18" charset="0"/>
                      </a:endParaRPr>
                    </a:p>
                  </a:txBody>
                  <a:tcPr/>
                </a:tc>
                <a:extLst>
                  <a:ext uri="{0D108BD9-81ED-4DB2-BD59-A6C34878D82A}">
                    <a16:rowId xmlns:a16="http://schemas.microsoft.com/office/drawing/2014/main" val="981463336"/>
                  </a:ext>
                </a:extLst>
              </a:tr>
            </a:tbl>
          </a:graphicData>
        </a:graphic>
      </p:graphicFrame>
    </p:spTree>
    <p:extLst>
      <p:ext uri="{BB962C8B-B14F-4D97-AF65-F5344CB8AC3E}">
        <p14:creationId xmlns:p14="http://schemas.microsoft.com/office/powerpoint/2010/main" val="10428676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A5EF682-BBC6-BC89-A815-2405B3BFA89F}"/>
              </a:ext>
            </a:extLst>
          </p:cNvPr>
          <p:cNvPicPr>
            <a:picLocks noChangeAspect="1"/>
          </p:cNvPicPr>
          <p:nvPr/>
        </p:nvPicPr>
        <p:blipFill rotWithShape="1">
          <a:blip r:embed="rId2">
            <a:extLst>
              <a:ext uri="{28A0092B-C50C-407E-A947-70E740481C1C}">
                <a14:useLocalDpi xmlns:a14="http://schemas.microsoft.com/office/drawing/2010/main" val="0"/>
              </a:ext>
            </a:extLst>
          </a:blip>
          <a:srcRect l="7632" t="6513" r="14801" b="12673"/>
          <a:stretch/>
        </p:blipFill>
        <p:spPr>
          <a:xfrm>
            <a:off x="11003168" y="6329803"/>
            <a:ext cx="1002890" cy="342928"/>
          </a:xfrm>
          <a:prstGeom prst="rect">
            <a:avLst/>
          </a:prstGeom>
        </p:spPr>
      </p:pic>
      <p:sp>
        <p:nvSpPr>
          <p:cNvPr id="5" name="TextBox 4">
            <a:extLst>
              <a:ext uri="{FF2B5EF4-FFF2-40B4-BE49-F238E27FC236}">
                <a16:creationId xmlns:a16="http://schemas.microsoft.com/office/drawing/2014/main" id="{CED2CCDC-C02F-B3A1-A3C5-707DECA064F1}"/>
              </a:ext>
            </a:extLst>
          </p:cNvPr>
          <p:cNvSpPr txBox="1"/>
          <p:nvPr/>
        </p:nvSpPr>
        <p:spPr>
          <a:xfrm>
            <a:off x="-30367" y="770057"/>
            <a:ext cx="1741230" cy="369332"/>
          </a:xfrm>
          <a:prstGeom prst="rect">
            <a:avLst/>
          </a:prstGeom>
          <a:noFill/>
        </p:spPr>
        <p:txBody>
          <a:bodyPr wrap="square" rtlCol="0">
            <a:spAutoFit/>
          </a:bodyPr>
          <a:lstStyle/>
          <a:p>
            <a:r>
              <a:rPr lang="en-US" sz="1800" dirty="0">
                <a:solidFill>
                  <a:schemeClr val="bg1"/>
                </a:solidFill>
                <a:effectLst/>
                <a:latin typeface="Bookman Old Style" panose="02050604050505020204" pitchFamily="18" charset="0"/>
                <a:ea typeface="Calibri" panose="020F0502020204030204" pitchFamily="34" charset="0"/>
              </a:rPr>
              <a:t>22AM2305</a:t>
            </a:r>
            <a:endParaRPr lang="en-IN" dirty="0">
              <a:solidFill>
                <a:schemeClr val="bg1"/>
              </a:solidFill>
              <a:latin typeface="Bookman Old Style" panose="02050604050505020204" pitchFamily="18" charset="0"/>
            </a:endParaRPr>
          </a:p>
        </p:txBody>
      </p:sp>
      <p:pic>
        <p:nvPicPr>
          <p:cNvPr id="6" name="Picture 2" descr="logo">
            <a:extLst>
              <a:ext uri="{FF2B5EF4-FFF2-40B4-BE49-F238E27FC236}">
                <a16:creationId xmlns:a16="http://schemas.microsoft.com/office/drawing/2014/main" id="{747D0EEE-BA48-499F-B84C-D20F74CB5DB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52799" y="89593"/>
            <a:ext cx="1070381" cy="1049796"/>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a:extLst>
              <a:ext uri="{FF2B5EF4-FFF2-40B4-BE49-F238E27FC236}">
                <a16:creationId xmlns:a16="http://schemas.microsoft.com/office/drawing/2014/main" id="{B8E50AC5-8D2A-6A5D-796D-B6863CA3B31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123180" y="89593"/>
            <a:ext cx="941000" cy="960203"/>
          </a:xfrm>
          <a:prstGeom prst="rect">
            <a:avLst/>
          </a:prstGeom>
        </p:spPr>
      </p:pic>
      <p:graphicFrame>
        <p:nvGraphicFramePr>
          <p:cNvPr id="8" name="Table 5">
            <a:extLst>
              <a:ext uri="{FF2B5EF4-FFF2-40B4-BE49-F238E27FC236}">
                <a16:creationId xmlns:a16="http://schemas.microsoft.com/office/drawing/2014/main" id="{16596985-9A1F-033C-B1C0-234167242DF6}"/>
              </a:ext>
            </a:extLst>
          </p:cNvPr>
          <p:cNvGraphicFramePr>
            <a:graphicFrameLocks/>
          </p:cNvGraphicFramePr>
          <p:nvPr>
            <p:extLst>
              <p:ext uri="{D42A27DB-BD31-4B8C-83A1-F6EECF244321}">
                <p14:modId xmlns:p14="http://schemas.microsoft.com/office/powerpoint/2010/main" val="947235635"/>
              </p:ext>
            </p:extLst>
          </p:nvPr>
        </p:nvGraphicFramePr>
        <p:xfrm>
          <a:off x="1448980" y="1139389"/>
          <a:ext cx="10429260" cy="1925320"/>
        </p:xfrm>
        <a:graphic>
          <a:graphicData uri="http://schemas.openxmlformats.org/drawingml/2006/table">
            <a:tbl>
              <a:tblPr firstRow="1" bandRow="1">
                <a:tableStyleId>{5940675A-B579-460E-94D1-54222C63F5DA}</a:tableStyleId>
              </a:tblPr>
              <a:tblGrid>
                <a:gridCol w="8780206">
                  <a:extLst>
                    <a:ext uri="{9D8B030D-6E8A-4147-A177-3AD203B41FA5}">
                      <a16:colId xmlns:a16="http://schemas.microsoft.com/office/drawing/2014/main" val="3077971440"/>
                    </a:ext>
                  </a:extLst>
                </a:gridCol>
                <a:gridCol w="1649054">
                  <a:extLst>
                    <a:ext uri="{9D8B030D-6E8A-4147-A177-3AD203B41FA5}">
                      <a16:colId xmlns:a16="http://schemas.microsoft.com/office/drawing/2014/main" val="2731420000"/>
                    </a:ext>
                  </a:extLst>
                </a:gridCol>
              </a:tblGrid>
              <a:tr h="370840">
                <a:tc>
                  <a:txBody>
                    <a:bodyPr/>
                    <a:lstStyle/>
                    <a:p>
                      <a:pPr algn="just"/>
                      <a:r>
                        <a:rPr lang="en-US" sz="1600" b="1" dirty="0">
                          <a:solidFill>
                            <a:schemeClr val="tx1"/>
                          </a:solidFill>
                          <a:latin typeface="Bookman Old Style" panose="02050604050505020204" pitchFamily="18" charset="0"/>
                        </a:rPr>
                        <a:t>Unit-5 : Experts Systems</a:t>
                      </a:r>
                      <a:endParaRPr lang="en-IN" sz="1600" b="1" kern="1200" dirty="0">
                        <a:solidFill>
                          <a:schemeClr val="tx1"/>
                        </a:solidFill>
                        <a:latin typeface="Bookman Old Style" panose="02050604050505020204" pitchFamily="18" charset="0"/>
                        <a:ea typeface="+mn-ea"/>
                        <a:cs typeface="+mn-cs"/>
                      </a:endParaRPr>
                    </a:p>
                  </a:txBody>
                  <a:tcPr/>
                </a:tc>
                <a:tc>
                  <a:txBody>
                    <a:bodyPr/>
                    <a:lstStyle/>
                    <a:p>
                      <a:pPr algn="just"/>
                      <a:r>
                        <a:rPr lang="en-US" sz="1600" dirty="0">
                          <a:solidFill>
                            <a:schemeClr val="tx1"/>
                          </a:solidFill>
                          <a:latin typeface="Bookman Old Style" panose="02050604050505020204" pitchFamily="18" charset="0"/>
                        </a:rPr>
                        <a:t>Contact Hours</a:t>
                      </a:r>
                      <a:endParaRPr lang="en-IN" sz="1600" dirty="0">
                        <a:solidFill>
                          <a:schemeClr val="tx1"/>
                        </a:solidFill>
                        <a:latin typeface="Bookman Old Style" panose="02050604050505020204" pitchFamily="18" charset="0"/>
                      </a:endParaRPr>
                    </a:p>
                  </a:txBody>
                  <a:tcPr/>
                </a:tc>
                <a:extLst>
                  <a:ext uri="{0D108BD9-81ED-4DB2-BD59-A6C34878D82A}">
                    <a16:rowId xmlns:a16="http://schemas.microsoft.com/office/drawing/2014/main" val="3599347431"/>
                  </a:ext>
                </a:extLst>
              </a:tr>
              <a:tr h="370840">
                <a:tc>
                  <a:txBody>
                    <a:bodyPr/>
                    <a:lstStyle/>
                    <a:p>
                      <a:pPr algn="just"/>
                      <a:r>
                        <a:rPr lang="en-US" sz="1600" b="0" dirty="0">
                          <a:solidFill>
                            <a:schemeClr val="tx1"/>
                          </a:solidFill>
                          <a:latin typeface="Bookman Old Style" panose="02050604050505020204" pitchFamily="18" charset="0"/>
                        </a:rPr>
                        <a:t>Experts Systems: Overview of an Expert System, Structure of an Expert Systems, Different Types of Expert Systems: Rule Based, Model Based, Case Based and Hybrid Expert Systems, Knowledge Building System Tools, Expert System Shells and Fuzzy Expert systems. </a:t>
                      </a:r>
                    </a:p>
                    <a:p>
                      <a:pPr algn="just"/>
                      <a:endParaRPr lang="en-US" sz="1600" b="0" dirty="0">
                        <a:solidFill>
                          <a:schemeClr val="tx1"/>
                        </a:solidFill>
                        <a:latin typeface="Bookman Old Style" panose="02050604050505020204" pitchFamily="18" charset="0"/>
                      </a:endParaRPr>
                    </a:p>
                    <a:p>
                      <a:pPr algn="just"/>
                      <a:r>
                        <a:rPr lang="en-US" sz="1600" b="0" dirty="0">
                          <a:solidFill>
                            <a:schemeClr val="tx1"/>
                          </a:solidFill>
                          <a:latin typeface="Bookman Old Style" panose="02050604050505020204" pitchFamily="18" charset="0"/>
                        </a:rPr>
                        <a:t>Textbook 1: Chapter 8,9; Textbook 2: Chapter 20,22</a:t>
                      </a:r>
                    </a:p>
                  </a:txBody>
                  <a:tcPr/>
                </a:tc>
                <a:tc>
                  <a:txBody>
                    <a:bodyPr/>
                    <a:lstStyle/>
                    <a:p>
                      <a:pPr algn="ctr"/>
                      <a:r>
                        <a:rPr lang="en-IN" sz="1600" dirty="0">
                          <a:solidFill>
                            <a:schemeClr val="tx1"/>
                          </a:solidFill>
                          <a:latin typeface="Bookman Old Style" panose="02050604050505020204" pitchFamily="18" charset="0"/>
                        </a:rPr>
                        <a:t>08 </a:t>
                      </a:r>
                    </a:p>
                  </a:txBody>
                  <a:tcPr/>
                </a:tc>
                <a:extLst>
                  <a:ext uri="{0D108BD9-81ED-4DB2-BD59-A6C34878D82A}">
                    <a16:rowId xmlns:a16="http://schemas.microsoft.com/office/drawing/2014/main" val="2188060862"/>
                  </a:ext>
                </a:extLst>
              </a:tr>
            </a:tbl>
          </a:graphicData>
        </a:graphic>
      </p:graphicFrame>
      <p:graphicFrame>
        <p:nvGraphicFramePr>
          <p:cNvPr id="2" name="Table 2">
            <a:extLst>
              <a:ext uri="{FF2B5EF4-FFF2-40B4-BE49-F238E27FC236}">
                <a16:creationId xmlns:a16="http://schemas.microsoft.com/office/drawing/2014/main" id="{7F1B4FF6-5C3C-93E2-41B0-F50B596D0714}"/>
              </a:ext>
            </a:extLst>
          </p:cNvPr>
          <p:cNvGraphicFramePr>
            <a:graphicFrameLocks noGrp="1"/>
          </p:cNvGraphicFramePr>
          <p:nvPr>
            <p:extLst>
              <p:ext uri="{D42A27DB-BD31-4B8C-83A1-F6EECF244321}">
                <p14:modId xmlns:p14="http://schemas.microsoft.com/office/powerpoint/2010/main" val="3277040022"/>
              </p:ext>
            </p:extLst>
          </p:nvPr>
        </p:nvGraphicFramePr>
        <p:xfrm>
          <a:off x="3718517" y="3416709"/>
          <a:ext cx="4235779" cy="2492478"/>
        </p:xfrm>
        <a:graphic>
          <a:graphicData uri="http://schemas.openxmlformats.org/drawingml/2006/table">
            <a:tbl>
              <a:tblPr firstRow="1" bandRow="1">
                <a:tableStyleId>{5C22544A-7EE6-4342-B048-85BDC9FD1C3A}</a:tableStyleId>
              </a:tblPr>
              <a:tblGrid>
                <a:gridCol w="1308925">
                  <a:extLst>
                    <a:ext uri="{9D8B030D-6E8A-4147-A177-3AD203B41FA5}">
                      <a16:colId xmlns:a16="http://schemas.microsoft.com/office/drawing/2014/main" val="3482328546"/>
                    </a:ext>
                  </a:extLst>
                </a:gridCol>
                <a:gridCol w="2926854">
                  <a:extLst>
                    <a:ext uri="{9D8B030D-6E8A-4147-A177-3AD203B41FA5}">
                      <a16:colId xmlns:a16="http://schemas.microsoft.com/office/drawing/2014/main" val="1324315542"/>
                    </a:ext>
                  </a:extLst>
                </a:gridCol>
              </a:tblGrid>
              <a:tr h="415413">
                <a:tc>
                  <a:txBody>
                    <a:bodyPr/>
                    <a:lstStyle/>
                    <a:p>
                      <a:r>
                        <a:rPr lang="en-US" b="1" dirty="0"/>
                        <a:t>Unit</a:t>
                      </a:r>
                    </a:p>
                  </a:txBody>
                  <a:tcPr/>
                </a:tc>
                <a:tc>
                  <a:txBody>
                    <a:bodyPr/>
                    <a:lstStyle/>
                    <a:p>
                      <a:r>
                        <a:rPr lang="en-US" b="1" dirty="0"/>
                        <a:t>CO-Mapping</a:t>
                      </a:r>
                    </a:p>
                  </a:txBody>
                  <a:tcPr/>
                </a:tc>
                <a:extLst>
                  <a:ext uri="{0D108BD9-81ED-4DB2-BD59-A6C34878D82A}">
                    <a16:rowId xmlns:a16="http://schemas.microsoft.com/office/drawing/2014/main" val="230168504"/>
                  </a:ext>
                </a:extLst>
              </a:tr>
              <a:tr h="415413">
                <a:tc>
                  <a:txBody>
                    <a:bodyPr/>
                    <a:lstStyle/>
                    <a:p>
                      <a:r>
                        <a:rPr lang="en-US" sz="1800" b="1" dirty="0">
                          <a:solidFill>
                            <a:schemeClr val="tx1"/>
                          </a:solidFill>
                          <a:latin typeface="Bookman Old Style" panose="02050604050505020204" pitchFamily="18" charset="0"/>
                        </a:rPr>
                        <a:t>Unit1</a:t>
                      </a:r>
                      <a:endParaRPr lang="en-US" b="1" dirty="0"/>
                    </a:p>
                  </a:txBody>
                  <a:tcPr/>
                </a:tc>
                <a:tc>
                  <a:txBody>
                    <a:bodyPr/>
                    <a:lstStyle/>
                    <a:p>
                      <a:r>
                        <a:rPr lang="en-US" b="1" dirty="0"/>
                        <a:t>CO1</a:t>
                      </a:r>
                    </a:p>
                  </a:txBody>
                  <a:tcPr/>
                </a:tc>
                <a:extLst>
                  <a:ext uri="{0D108BD9-81ED-4DB2-BD59-A6C34878D82A}">
                    <a16:rowId xmlns:a16="http://schemas.microsoft.com/office/drawing/2014/main" val="1221252904"/>
                  </a:ext>
                </a:extLst>
              </a:tr>
              <a:tr h="415413">
                <a:tc>
                  <a:txBody>
                    <a:bodyPr/>
                    <a:lstStyle/>
                    <a:p>
                      <a:r>
                        <a:rPr kumimoji="0" lang="en-US" sz="1600" b="1" i="0" u="none" strike="noStrike" kern="1200" cap="none" spc="0" normalizeH="0" baseline="0" noProof="0" dirty="0">
                          <a:ln>
                            <a:noFill/>
                          </a:ln>
                          <a:solidFill>
                            <a:prstClr val="black"/>
                          </a:solidFill>
                          <a:effectLst/>
                          <a:uLnTx/>
                          <a:uFillTx/>
                          <a:latin typeface="Bookman Old Style" panose="02050604050505020204" pitchFamily="18" charset="0"/>
                          <a:ea typeface="+mn-ea"/>
                          <a:cs typeface="+mn-cs"/>
                        </a:rPr>
                        <a:t>Unit2</a:t>
                      </a:r>
                      <a:endParaRPr lang="en-US" b="1" dirty="0"/>
                    </a:p>
                  </a:txBody>
                  <a:tcPr/>
                </a:tc>
                <a:tc>
                  <a:txBody>
                    <a:bodyPr/>
                    <a:lstStyle/>
                    <a:p>
                      <a:r>
                        <a:rPr lang="en-US" b="1" dirty="0"/>
                        <a:t>CO2</a:t>
                      </a:r>
                    </a:p>
                  </a:txBody>
                  <a:tcPr/>
                </a:tc>
                <a:extLst>
                  <a:ext uri="{0D108BD9-81ED-4DB2-BD59-A6C34878D82A}">
                    <a16:rowId xmlns:a16="http://schemas.microsoft.com/office/drawing/2014/main" val="15062801"/>
                  </a:ext>
                </a:extLst>
              </a:tr>
              <a:tr h="415413">
                <a:tc>
                  <a:txBody>
                    <a:bodyPr/>
                    <a:lstStyle/>
                    <a:p>
                      <a:r>
                        <a:rPr kumimoji="0" lang="en-US" sz="1600" b="1" i="0" u="none" strike="noStrike" kern="1200" cap="none" spc="0" normalizeH="0" baseline="0" noProof="0" dirty="0">
                          <a:ln>
                            <a:noFill/>
                          </a:ln>
                          <a:solidFill>
                            <a:prstClr val="black"/>
                          </a:solidFill>
                          <a:effectLst/>
                          <a:uLnTx/>
                          <a:uFillTx/>
                          <a:latin typeface="Bookman Old Style" panose="02050604050505020204" pitchFamily="18" charset="0"/>
                          <a:ea typeface="+mn-ea"/>
                          <a:cs typeface="+mn-cs"/>
                        </a:rPr>
                        <a:t>Unit3</a:t>
                      </a:r>
                      <a:endParaRPr lang="en-US" b="1" dirty="0"/>
                    </a:p>
                  </a:txBody>
                  <a:tcPr/>
                </a:tc>
                <a:tc>
                  <a:txBody>
                    <a:bodyPr/>
                    <a:lstStyle/>
                    <a:p>
                      <a:r>
                        <a:rPr lang="en-US" b="1" dirty="0"/>
                        <a:t>CO2</a:t>
                      </a:r>
                    </a:p>
                  </a:txBody>
                  <a:tcPr/>
                </a:tc>
                <a:extLst>
                  <a:ext uri="{0D108BD9-81ED-4DB2-BD59-A6C34878D82A}">
                    <a16:rowId xmlns:a16="http://schemas.microsoft.com/office/drawing/2014/main" val="3245604561"/>
                  </a:ext>
                </a:extLst>
              </a:tr>
              <a:tr h="415413">
                <a:tc>
                  <a:txBody>
                    <a:bodyPr/>
                    <a:lstStyle/>
                    <a:p>
                      <a:r>
                        <a:rPr kumimoji="0" lang="en-US" sz="1600" b="1" i="0" u="none" strike="noStrike" kern="1200" cap="none" spc="0" normalizeH="0" baseline="0" noProof="0" dirty="0">
                          <a:ln>
                            <a:noFill/>
                          </a:ln>
                          <a:solidFill>
                            <a:prstClr val="black"/>
                          </a:solidFill>
                          <a:effectLst/>
                          <a:uLnTx/>
                          <a:uFillTx/>
                          <a:latin typeface="Bookman Old Style" panose="02050604050505020204" pitchFamily="18" charset="0"/>
                          <a:ea typeface="+mn-ea"/>
                          <a:cs typeface="+mn-cs"/>
                        </a:rPr>
                        <a:t>Unit4</a:t>
                      </a:r>
                      <a:endParaRPr lang="en-US" b="1" dirty="0"/>
                    </a:p>
                  </a:txBody>
                  <a:tcPr/>
                </a:tc>
                <a:tc>
                  <a:txBody>
                    <a:bodyPr/>
                    <a:lstStyle/>
                    <a:p>
                      <a:r>
                        <a:rPr lang="en-US" b="1" dirty="0"/>
                        <a:t>CO3</a:t>
                      </a:r>
                    </a:p>
                  </a:txBody>
                  <a:tcPr/>
                </a:tc>
                <a:extLst>
                  <a:ext uri="{0D108BD9-81ED-4DB2-BD59-A6C34878D82A}">
                    <a16:rowId xmlns:a16="http://schemas.microsoft.com/office/drawing/2014/main" val="3020042688"/>
                  </a:ext>
                </a:extLst>
              </a:tr>
              <a:tr h="415413">
                <a:tc>
                  <a:txBody>
                    <a:bodyPr/>
                    <a:lstStyle/>
                    <a:p>
                      <a:r>
                        <a:rPr kumimoji="0" lang="en-US" sz="1600" b="1" i="0" u="none" strike="noStrike" kern="1200" cap="none" spc="0" normalizeH="0" baseline="0" noProof="0" dirty="0">
                          <a:ln>
                            <a:noFill/>
                          </a:ln>
                          <a:solidFill>
                            <a:prstClr val="black"/>
                          </a:solidFill>
                          <a:effectLst/>
                          <a:uLnTx/>
                          <a:uFillTx/>
                          <a:latin typeface="Bookman Old Style" panose="02050604050505020204" pitchFamily="18" charset="0"/>
                          <a:ea typeface="+mn-ea"/>
                          <a:cs typeface="+mn-cs"/>
                        </a:rPr>
                        <a:t>Unit5</a:t>
                      </a:r>
                      <a:endParaRPr lang="en-US" b="1" dirty="0"/>
                    </a:p>
                  </a:txBody>
                  <a:tcPr/>
                </a:tc>
                <a:tc>
                  <a:txBody>
                    <a:bodyPr/>
                    <a:lstStyle/>
                    <a:p>
                      <a:r>
                        <a:rPr lang="en-US" b="1" dirty="0"/>
                        <a:t>CO4 &amp; CO5</a:t>
                      </a:r>
                    </a:p>
                  </a:txBody>
                  <a:tcPr/>
                </a:tc>
                <a:extLst>
                  <a:ext uri="{0D108BD9-81ED-4DB2-BD59-A6C34878D82A}">
                    <a16:rowId xmlns:a16="http://schemas.microsoft.com/office/drawing/2014/main" val="95544261"/>
                  </a:ext>
                </a:extLst>
              </a:tr>
            </a:tbl>
          </a:graphicData>
        </a:graphic>
      </p:graphicFrame>
    </p:spTree>
    <p:extLst>
      <p:ext uri="{BB962C8B-B14F-4D97-AF65-F5344CB8AC3E}">
        <p14:creationId xmlns:p14="http://schemas.microsoft.com/office/powerpoint/2010/main" val="13495188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47515F-4A58-DFA9-F4DC-FA2F57C2B8AC}"/>
              </a:ext>
            </a:extLst>
          </p:cNvPr>
          <p:cNvSpPr>
            <a:spLocks noGrp="1"/>
          </p:cNvSpPr>
          <p:nvPr>
            <p:ph type="title"/>
          </p:nvPr>
        </p:nvSpPr>
        <p:spPr>
          <a:xfrm>
            <a:off x="1676302" y="240652"/>
            <a:ext cx="8911687" cy="1280890"/>
          </a:xfrm>
        </p:spPr>
        <p:txBody>
          <a:bodyPr/>
          <a:lstStyle/>
          <a:p>
            <a:r>
              <a:rPr lang="en-US" b="0" i="0" cap="all" dirty="0">
                <a:solidFill>
                  <a:srgbClr val="000000"/>
                </a:solidFill>
                <a:effectLst/>
                <a:latin typeface="Rockwell" panose="02060603020205020403" pitchFamily="18" charset="0"/>
              </a:rPr>
              <a:t>PEO'S</a:t>
            </a:r>
            <a:br>
              <a:rPr lang="en-US" b="0" i="0" cap="all" dirty="0">
                <a:solidFill>
                  <a:srgbClr val="000000"/>
                </a:solidFill>
                <a:effectLst/>
                <a:latin typeface="Rockwell" panose="02060603020205020403" pitchFamily="18" charset="0"/>
              </a:rPr>
            </a:br>
            <a:endParaRPr lang="en-US" dirty="0"/>
          </a:p>
        </p:txBody>
      </p:sp>
      <p:sp>
        <p:nvSpPr>
          <p:cNvPr id="3" name="Content Placeholder 2">
            <a:extLst>
              <a:ext uri="{FF2B5EF4-FFF2-40B4-BE49-F238E27FC236}">
                <a16:creationId xmlns:a16="http://schemas.microsoft.com/office/drawing/2014/main" id="{CD8527A1-EA1C-ABF8-E388-1F26941C7D64}"/>
              </a:ext>
            </a:extLst>
          </p:cNvPr>
          <p:cNvSpPr>
            <a:spLocks noGrp="1"/>
          </p:cNvSpPr>
          <p:nvPr>
            <p:ph idx="1"/>
          </p:nvPr>
        </p:nvSpPr>
        <p:spPr>
          <a:xfrm>
            <a:off x="1170040" y="1579201"/>
            <a:ext cx="10334573" cy="3401962"/>
          </a:xfrm>
        </p:spPr>
        <p:txBody>
          <a:bodyPr/>
          <a:lstStyle/>
          <a:p>
            <a:pPr algn="just">
              <a:buFont typeface="Arial" panose="020B0604020202020204" pitchFamily="34" charset="0"/>
              <a:buChar char="•"/>
            </a:pPr>
            <a:r>
              <a:rPr lang="en-US" b="1" i="0" dirty="0">
                <a:solidFill>
                  <a:srgbClr val="3C3939"/>
                </a:solidFill>
                <a:effectLst/>
                <a:latin typeface="Bookman Old Style" panose="02050604050505020204" pitchFamily="18" charset="0"/>
              </a:rPr>
              <a:t>PEO1.</a:t>
            </a:r>
            <a:r>
              <a:rPr lang="en-US" b="0" i="0" dirty="0">
                <a:solidFill>
                  <a:srgbClr val="3C3939"/>
                </a:solidFill>
                <a:effectLst/>
                <a:latin typeface="Bookman Old Style" panose="02050604050505020204" pitchFamily="18" charset="0"/>
              </a:rPr>
              <a:t> Promote design, research, product implementation and services in the field of Artificial Intelligence Engineering through strong technical, communication and entrepreneurial skills</a:t>
            </a:r>
          </a:p>
          <a:p>
            <a:pPr algn="just">
              <a:buFont typeface="Arial" panose="020B0604020202020204" pitchFamily="34" charset="0"/>
              <a:buChar char="•"/>
            </a:pPr>
            <a:r>
              <a:rPr lang="en-US" b="1" i="0" dirty="0">
                <a:solidFill>
                  <a:srgbClr val="3C3939"/>
                </a:solidFill>
                <a:effectLst/>
                <a:latin typeface="Bookman Old Style" panose="02050604050505020204" pitchFamily="18" charset="0"/>
              </a:rPr>
              <a:t>PEO2.</a:t>
            </a:r>
            <a:r>
              <a:rPr lang="en-US" b="0" i="0" dirty="0">
                <a:solidFill>
                  <a:srgbClr val="3C3939"/>
                </a:solidFill>
                <a:effectLst/>
                <a:latin typeface="Bookman Old Style" panose="02050604050505020204" pitchFamily="18" charset="0"/>
              </a:rPr>
              <a:t> Engage to work productively as design and development Engineers, cater to supportive and leadership roles in multidisciplinary domains.</a:t>
            </a:r>
          </a:p>
          <a:p>
            <a:pPr algn="just">
              <a:buFont typeface="Arial" panose="020B0604020202020204" pitchFamily="34" charset="0"/>
              <a:buChar char="•"/>
            </a:pPr>
            <a:r>
              <a:rPr lang="en-US" b="1" i="0" dirty="0">
                <a:solidFill>
                  <a:srgbClr val="3C3939"/>
                </a:solidFill>
                <a:effectLst/>
                <a:latin typeface="Bookman Old Style" panose="02050604050505020204" pitchFamily="18" charset="0"/>
              </a:rPr>
              <a:t>PEO3.</a:t>
            </a:r>
            <a:r>
              <a:rPr lang="en-US" b="0" i="0" dirty="0">
                <a:solidFill>
                  <a:srgbClr val="3C3939"/>
                </a:solidFill>
                <a:effectLst/>
                <a:latin typeface="Bookman Old Style" panose="02050604050505020204" pitchFamily="18" charset="0"/>
              </a:rPr>
              <a:t> Learn and advance their careers by attaining professional certification and seeking higher education.</a:t>
            </a:r>
          </a:p>
          <a:p>
            <a:pPr algn="just">
              <a:buFont typeface="Arial" panose="020B0604020202020204" pitchFamily="34" charset="0"/>
              <a:buChar char="•"/>
            </a:pPr>
            <a:r>
              <a:rPr lang="en-US" b="1" i="0" dirty="0">
                <a:solidFill>
                  <a:srgbClr val="3C3939"/>
                </a:solidFill>
                <a:effectLst/>
                <a:latin typeface="Bookman Old Style" panose="02050604050505020204" pitchFamily="18" charset="0"/>
              </a:rPr>
              <a:t>PEO4.</a:t>
            </a:r>
            <a:r>
              <a:rPr lang="en-US" b="0" i="0" dirty="0">
                <a:solidFill>
                  <a:srgbClr val="3C3939"/>
                </a:solidFill>
                <a:effectLst/>
                <a:latin typeface="Bookman Old Style" panose="02050604050505020204" pitchFamily="18" charset="0"/>
              </a:rPr>
              <a:t> Possess skill in AI &amp; ML expertise ready to serve the society locally and internationally</a:t>
            </a:r>
          </a:p>
          <a:p>
            <a:endParaRPr lang="en-US" dirty="0">
              <a:latin typeface="Bookman Old Style" panose="02050604050505020204" pitchFamily="18" charset="0"/>
            </a:endParaRPr>
          </a:p>
        </p:txBody>
      </p:sp>
      <p:pic>
        <p:nvPicPr>
          <p:cNvPr id="4" name="Picture 3">
            <a:extLst>
              <a:ext uri="{FF2B5EF4-FFF2-40B4-BE49-F238E27FC236}">
                <a16:creationId xmlns:a16="http://schemas.microsoft.com/office/drawing/2014/main" id="{0A5EF682-BBC6-BC89-A815-2405B3BFA89F}"/>
              </a:ext>
            </a:extLst>
          </p:cNvPr>
          <p:cNvPicPr>
            <a:picLocks noChangeAspect="1"/>
          </p:cNvPicPr>
          <p:nvPr/>
        </p:nvPicPr>
        <p:blipFill rotWithShape="1">
          <a:blip r:embed="rId2">
            <a:extLst>
              <a:ext uri="{28A0092B-C50C-407E-A947-70E740481C1C}">
                <a14:useLocalDpi xmlns:a14="http://schemas.microsoft.com/office/drawing/2010/main" val="0"/>
              </a:ext>
            </a:extLst>
          </a:blip>
          <a:srcRect l="7632" t="6513" r="14801" b="12673"/>
          <a:stretch/>
        </p:blipFill>
        <p:spPr>
          <a:xfrm>
            <a:off x="11003168" y="6329803"/>
            <a:ext cx="1002890" cy="342928"/>
          </a:xfrm>
          <a:prstGeom prst="rect">
            <a:avLst/>
          </a:prstGeom>
        </p:spPr>
      </p:pic>
      <p:sp>
        <p:nvSpPr>
          <p:cNvPr id="5" name="TextBox 4">
            <a:extLst>
              <a:ext uri="{FF2B5EF4-FFF2-40B4-BE49-F238E27FC236}">
                <a16:creationId xmlns:a16="http://schemas.microsoft.com/office/drawing/2014/main" id="{CED2CCDC-C02F-B3A1-A3C5-707DECA064F1}"/>
              </a:ext>
            </a:extLst>
          </p:cNvPr>
          <p:cNvSpPr txBox="1"/>
          <p:nvPr/>
        </p:nvSpPr>
        <p:spPr>
          <a:xfrm>
            <a:off x="-30367" y="770057"/>
            <a:ext cx="1741230" cy="369332"/>
          </a:xfrm>
          <a:prstGeom prst="rect">
            <a:avLst/>
          </a:prstGeom>
          <a:noFill/>
        </p:spPr>
        <p:txBody>
          <a:bodyPr wrap="square" rtlCol="0">
            <a:spAutoFit/>
          </a:bodyPr>
          <a:lstStyle/>
          <a:p>
            <a:r>
              <a:rPr lang="en-US" sz="1800" dirty="0">
                <a:solidFill>
                  <a:schemeClr val="bg1"/>
                </a:solidFill>
                <a:effectLst/>
                <a:latin typeface="Bookman Old Style" panose="02050604050505020204" pitchFamily="18" charset="0"/>
                <a:ea typeface="Calibri" panose="020F0502020204030204" pitchFamily="34" charset="0"/>
              </a:rPr>
              <a:t>22AM2305</a:t>
            </a:r>
            <a:endParaRPr lang="en-IN" dirty="0">
              <a:solidFill>
                <a:schemeClr val="bg1"/>
              </a:solidFill>
              <a:latin typeface="Bookman Old Style" panose="02050604050505020204" pitchFamily="18" charset="0"/>
            </a:endParaRPr>
          </a:p>
        </p:txBody>
      </p:sp>
      <p:pic>
        <p:nvPicPr>
          <p:cNvPr id="6" name="Picture 2" descr="logo">
            <a:extLst>
              <a:ext uri="{FF2B5EF4-FFF2-40B4-BE49-F238E27FC236}">
                <a16:creationId xmlns:a16="http://schemas.microsoft.com/office/drawing/2014/main" id="{747D0EEE-BA48-499F-B84C-D20F74CB5DB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52799" y="89593"/>
            <a:ext cx="1070381" cy="1049796"/>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a:extLst>
              <a:ext uri="{FF2B5EF4-FFF2-40B4-BE49-F238E27FC236}">
                <a16:creationId xmlns:a16="http://schemas.microsoft.com/office/drawing/2014/main" id="{B8E50AC5-8D2A-6A5D-796D-B6863CA3B31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123180" y="89593"/>
            <a:ext cx="941000" cy="960203"/>
          </a:xfrm>
          <a:prstGeom prst="rect">
            <a:avLst/>
          </a:prstGeom>
        </p:spPr>
      </p:pic>
    </p:spTree>
    <p:extLst>
      <p:ext uri="{BB962C8B-B14F-4D97-AF65-F5344CB8AC3E}">
        <p14:creationId xmlns:p14="http://schemas.microsoft.com/office/powerpoint/2010/main" val="7064060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47515F-4A58-DFA9-F4DC-FA2F57C2B8AC}"/>
              </a:ext>
            </a:extLst>
          </p:cNvPr>
          <p:cNvSpPr>
            <a:spLocks noGrp="1"/>
          </p:cNvSpPr>
          <p:nvPr>
            <p:ph type="title"/>
          </p:nvPr>
        </p:nvSpPr>
        <p:spPr>
          <a:xfrm>
            <a:off x="1676302" y="240652"/>
            <a:ext cx="8911687" cy="1280890"/>
          </a:xfrm>
        </p:spPr>
        <p:txBody>
          <a:bodyPr/>
          <a:lstStyle/>
          <a:p>
            <a:r>
              <a:rPr lang="en-US" b="0" i="0" cap="all" dirty="0">
                <a:solidFill>
                  <a:srgbClr val="000000"/>
                </a:solidFill>
                <a:effectLst/>
                <a:latin typeface="Rockwell" panose="02060603020205020403" pitchFamily="18" charset="0"/>
              </a:rPr>
              <a:t>PO'S</a:t>
            </a:r>
            <a:endParaRPr lang="en-US" dirty="0"/>
          </a:p>
        </p:txBody>
      </p:sp>
      <p:sp>
        <p:nvSpPr>
          <p:cNvPr id="3" name="Content Placeholder 2">
            <a:extLst>
              <a:ext uri="{FF2B5EF4-FFF2-40B4-BE49-F238E27FC236}">
                <a16:creationId xmlns:a16="http://schemas.microsoft.com/office/drawing/2014/main" id="{CD8527A1-EA1C-ABF8-E388-1F26941C7D64}"/>
              </a:ext>
            </a:extLst>
          </p:cNvPr>
          <p:cNvSpPr>
            <a:spLocks noGrp="1"/>
          </p:cNvSpPr>
          <p:nvPr>
            <p:ph idx="1"/>
          </p:nvPr>
        </p:nvSpPr>
        <p:spPr>
          <a:xfrm>
            <a:off x="1259107" y="1269031"/>
            <a:ext cx="10334573" cy="4319937"/>
          </a:xfrm>
        </p:spPr>
        <p:txBody>
          <a:bodyPr>
            <a:normAutofit fontScale="92500" lnSpcReduction="10000"/>
          </a:bodyPr>
          <a:lstStyle/>
          <a:p>
            <a:r>
              <a:rPr lang="en-US" dirty="0"/>
              <a:t>PO1. Engineering knowledge </a:t>
            </a:r>
          </a:p>
          <a:p>
            <a:r>
              <a:rPr lang="en-US" dirty="0"/>
              <a:t>PO2. Problem analysis </a:t>
            </a:r>
          </a:p>
          <a:p>
            <a:r>
              <a:rPr lang="en-US" dirty="0"/>
              <a:t>PO3. Design/development of solutions </a:t>
            </a:r>
          </a:p>
          <a:p>
            <a:r>
              <a:rPr lang="en-US" dirty="0"/>
              <a:t>PO4. Conduct investigations of complex problems</a:t>
            </a:r>
          </a:p>
          <a:p>
            <a:r>
              <a:rPr lang="en-US" dirty="0"/>
              <a:t>PO5. Modern tool usage</a:t>
            </a:r>
          </a:p>
          <a:p>
            <a:r>
              <a:rPr lang="en-US" dirty="0"/>
              <a:t>PO6. The engineer and society</a:t>
            </a:r>
          </a:p>
          <a:p>
            <a:r>
              <a:rPr lang="en-US" dirty="0"/>
              <a:t>PO7. Environment and sustainability</a:t>
            </a:r>
          </a:p>
          <a:p>
            <a:r>
              <a:rPr lang="en-US" dirty="0"/>
              <a:t>PO8. Ethics</a:t>
            </a:r>
          </a:p>
          <a:p>
            <a:r>
              <a:rPr lang="en-US" dirty="0"/>
              <a:t>PO9. Individual and team work</a:t>
            </a:r>
          </a:p>
          <a:p>
            <a:r>
              <a:rPr lang="en-US" dirty="0"/>
              <a:t>PO10. Communication</a:t>
            </a:r>
          </a:p>
          <a:p>
            <a:r>
              <a:rPr lang="en-US" dirty="0"/>
              <a:t>PO11. Project management and finance</a:t>
            </a:r>
          </a:p>
          <a:p>
            <a:r>
              <a:rPr lang="en-US" dirty="0"/>
              <a:t>PO12. Life-long learning</a:t>
            </a:r>
          </a:p>
        </p:txBody>
      </p:sp>
      <p:pic>
        <p:nvPicPr>
          <p:cNvPr id="4" name="Picture 3">
            <a:extLst>
              <a:ext uri="{FF2B5EF4-FFF2-40B4-BE49-F238E27FC236}">
                <a16:creationId xmlns:a16="http://schemas.microsoft.com/office/drawing/2014/main" id="{0A5EF682-BBC6-BC89-A815-2405B3BFA89F}"/>
              </a:ext>
            </a:extLst>
          </p:cNvPr>
          <p:cNvPicPr>
            <a:picLocks noChangeAspect="1"/>
          </p:cNvPicPr>
          <p:nvPr/>
        </p:nvPicPr>
        <p:blipFill rotWithShape="1">
          <a:blip r:embed="rId2">
            <a:extLst>
              <a:ext uri="{28A0092B-C50C-407E-A947-70E740481C1C}">
                <a14:useLocalDpi xmlns:a14="http://schemas.microsoft.com/office/drawing/2010/main" val="0"/>
              </a:ext>
            </a:extLst>
          </a:blip>
          <a:srcRect l="7632" t="6513" r="14801" b="12673"/>
          <a:stretch/>
        </p:blipFill>
        <p:spPr>
          <a:xfrm>
            <a:off x="11003168" y="6329803"/>
            <a:ext cx="1002890" cy="342928"/>
          </a:xfrm>
          <a:prstGeom prst="rect">
            <a:avLst/>
          </a:prstGeom>
        </p:spPr>
      </p:pic>
      <p:sp>
        <p:nvSpPr>
          <p:cNvPr id="5" name="TextBox 4">
            <a:extLst>
              <a:ext uri="{FF2B5EF4-FFF2-40B4-BE49-F238E27FC236}">
                <a16:creationId xmlns:a16="http://schemas.microsoft.com/office/drawing/2014/main" id="{CED2CCDC-C02F-B3A1-A3C5-707DECA064F1}"/>
              </a:ext>
            </a:extLst>
          </p:cNvPr>
          <p:cNvSpPr txBox="1"/>
          <p:nvPr/>
        </p:nvSpPr>
        <p:spPr>
          <a:xfrm>
            <a:off x="-30367" y="770057"/>
            <a:ext cx="1741230" cy="369332"/>
          </a:xfrm>
          <a:prstGeom prst="rect">
            <a:avLst/>
          </a:prstGeom>
          <a:noFill/>
        </p:spPr>
        <p:txBody>
          <a:bodyPr wrap="square" rtlCol="0">
            <a:spAutoFit/>
          </a:bodyPr>
          <a:lstStyle/>
          <a:p>
            <a:r>
              <a:rPr lang="en-US" sz="1800" dirty="0">
                <a:solidFill>
                  <a:schemeClr val="bg1"/>
                </a:solidFill>
                <a:effectLst/>
                <a:latin typeface="Bookman Old Style" panose="02050604050505020204" pitchFamily="18" charset="0"/>
                <a:ea typeface="Calibri" panose="020F0502020204030204" pitchFamily="34" charset="0"/>
              </a:rPr>
              <a:t>22AM2305</a:t>
            </a:r>
            <a:endParaRPr lang="en-IN" dirty="0">
              <a:solidFill>
                <a:schemeClr val="bg1"/>
              </a:solidFill>
              <a:latin typeface="Bookman Old Style" panose="02050604050505020204" pitchFamily="18" charset="0"/>
            </a:endParaRPr>
          </a:p>
        </p:txBody>
      </p:sp>
      <p:pic>
        <p:nvPicPr>
          <p:cNvPr id="6" name="Picture 2" descr="logo">
            <a:extLst>
              <a:ext uri="{FF2B5EF4-FFF2-40B4-BE49-F238E27FC236}">
                <a16:creationId xmlns:a16="http://schemas.microsoft.com/office/drawing/2014/main" id="{747D0EEE-BA48-499F-B84C-D20F74CB5DB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52799" y="89593"/>
            <a:ext cx="1070381" cy="1049796"/>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a:extLst>
              <a:ext uri="{FF2B5EF4-FFF2-40B4-BE49-F238E27FC236}">
                <a16:creationId xmlns:a16="http://schemas.microsoft.com/office/drawing/2014/main" id="{B8E50AC5-8D2A-6A5D-796D-B6863CA3B31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123180" y="89593"/>
            <a:ext cx="941000" cy="960203"/>
          </a:xfrm>
          <a:prstGeom prst="rect">
            <a:avLst/>
          </a:prstGeom>
        </p:spPr>
      </p:pic>
    </p:spTree>
    <p:extLst>
      <p:ext uri="{BB962C8B-B14F-4D97-AF65-F5344CB8AC3E}">
        <p14:creationId xmlns:p14="http://schemas.microsoft.com/office/powerpoint/2010/main" val="138138041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47515F-4A58-DFA9-F4DC-FA2F57C2B8AC}"/>
              </a:ext>
            </a:extLst>
          </p:cNvPr>
          <p:cNvSpPr>
            <a:spLocks noGrp="1"/>
          </p:cNvSpPr>
          <p:nvPr>
            <p:ph type="title"/>
          </p:nvPr>
        </p:nvSpPr>
        <p:spPr>
          <a:xfrm>
            <a:off x="1676302" y="240652"/>
            <a:ext cx="8911687" cy="1280890"/>
          </a:xfrm>
        </p:spPr>
        <p:txBody>
          <a:bodyPr/>
          <a:lstStyle/>
          <a:p>
            <a:r>
              <a:rPr lang="en-US" b="0" i="0" cap="all" dirty="0">
                <a:solidFill>
                  <a:srgbClr val="000000"/>
                </a:solidFill>
                <a:effectLst/>
                <a:latin typeface="Rockwell" panose="02060603020205020403" pitchFamily="18" charset="0"/>
              </a:rPr>
              <a:t>PSO'S</a:t>
            </a:r>
            <a:endParaRPr lang="en-US" dirty="0"/>
          </a:p>
        </p:txBody>
      </p:sp>
      <p:sp>
        <p:nvSpPr>
          <p:cNvPr id="3" name="Content Placeholder 2">
            <a:extLst>
              <a:ext uri="{FF2B5EF4-FFF2-40B4-BE49-F238E27FC236}">
                <a16:creationId xmlns:a16="http://schemas.microsoft.com/office/drawing/2014/main" id="{CD8527A1-EA1C-ABF8-E388-1F26941C7D64}"/>
              </a:ext>
            </a:extLst>
          </p:cNvPr>
          <p:cNvSpPr>
            <a:spLocks noGrp="1"/>
          </p:cNvSpPr>
          <p:nvPr>
            <p:ph idx="1"/>
          </p:nvPr>
        </p:nvSpPr>
        <p:spPr>
          <a:xfrm>
            <a:off x="1259107" y="1521542"/>
            <a:ext cx="10334573" cy="3401962"/>
          </a:xfrm>
        </p:spPr>
        <p:txBody>
          <a:bodyPr/>
          <a:lstStyle/>
          <a:p>
            <a:pPr algn="just">
              <a:buFont typeface="Arial" panose="020B0604020202020204" pitchFamily="34" charset="0"/>
              <a:buChar char="•"/>
            </a:pPr>
            <a:r>
              <a:rPr lang="en-US" b="1" i="0" dirty="0">
                <a:solidFill>
                  <a:srgbClr val="3C3939"/>
                </a:solidFill>
                <a:effectLst/>
                <a:latin typeface="Source Sans Pro" panose="020B0503030403020204" pitchFamily="34" charset="0"/>
              </a:rPr>
              <a:t>PSO1.</a:t>
            </a:r>
            <a:r>
              <a:rPr lang="en-US" b="0" i="0" dirty="0">
                <a:solidFill>
                  <a:srgbClr val="3C3939"/>
                </a:solidFill>
                <a:effectLst/>
                <a:latin typeface="Source Sans Pro" panose="020B0503030403020204" pitchFamily="34" charset="0"/>
              </a:rPr>
              <a:t> Apply the principal concepts of AI Engineering to design, develop, deploy and prototype AI Subsystems</a:t>
            </a:r>
          </a:p>
          <a:p>
            <a:pPr algn="just">
              <a:buFont typeface="Arial" panose="020B0604020202020204" pitchFamily="34" charset="0"/>
              <a:buChar char="•"/>
            </a:pPr>
            <a:r>
              <a:rPr lang="en-US" b="1" i="0" dirty="0">
                <a:solidFill>
                  <a:srgbClr val="3C3939"/>
                </a:solidFill>
                <a:effectLst/>
                <a:latin typeface="Source Sans Pro" panose="020B0503030403020204" pitchFamily="34" charset="0"/>
              </a:rPr>
              <a:t>PSO2.</a:t>
            </a:r>
            <a:r>
              <a:rPr lang="en-US" b="0" i="0" dirty="0">
                <a:solidFill>
                  <a:srgbClr val="3C3939"/>
                </a:solidFill>
                <a:effectLst/>
                <a:latin typeface="Source Sans Pro" panose="020B0503030403020204" pitchFamily="34" charset="0"/>
              </a:rPr>
              <a:t> Apply the knowledge gained pertaining to data storage, data analytics and AI concepts to solve real world business problems.</a:t>
            </a:r>
          </a:p>
          <a:p>
            <a:pPr algn="just">
              <a:buFont typeface="Arial" panose="020B0604020202020204" pitchFamily="34" charset="0"/>
              <a:buChar char="•"/>
            </a:pPr>
            <a:r>
              <a:rPr lang="en-US" b="1" i="0" dirty="0">
                <a:solidFill>
                  <a:srgbClr val="3C3939"/>
                </a:solidFill>
                <a:effectLst/>
                <a:latin typeface="Source Sans Pro" panose="020B0503030403020204" pitchFamily="34" charset="0"/>
              </a:rPr>
              <a:t>PSO3.</a:t>
            </a:r>
            <a:r>
              <a:rPr lang="en-US" b="0" i="0" dirty="0">
                <a:solidFill>
                  <a:srgbClr val="3C3939"/>
                </a:solidFill>
                <a:effectLst/>
                <a:latin typeface="Source Sans Pro" panose="020B0503030403020204" pitchFamily="34" charset="0"/>
              </a:rPr>
              <a:t> Apply, </a:t>
            </a:r>
            <a:r>
              <a:rPr lang="en-US" b="0" i="0" dirty="0" err="1">
                <a:solidFill>
                  <a:srgbClr val="3C3939"/>
                </a:solidFill>
                <a:effectLst/>
                <a:latin typeface="Source Sans Pro" panose="020B0503030403020204" pitchFamily="34" charset="0"/>
              </a:rPr>
              <a:t>analyse</a:t>
            </a:r>
            <a:r>
              <a:rPr lang="en-US" b="0" i="0" dirty="0">
                <a:solidFill>
                  <a:srgbClr val="3C3939"/>
                </a:solidFill>
                <a:effectLst/>
                <a:latin typeface="Source Sans Pro" panose="020B0503030403020204" pitchFamily="34" charset="0"/>
              </a:rPr>
              <a:t>, design, develop, and test principles of AI concepts on Intelligent Systems</a:t>
            </a:r>
          </a:p>
          <a:p>
            <a:endParaRPr lang="en-US" dirty="0"/>
          </a:p>
        </p:txBody>
      </p:sp>
      <p:pic>
        <p:nvPicPr>
          <p:cNvPr id="4" name="Picture 3">
            <a:extLst>
              <a:ext uri="{FF2B5EF4-FFF2-40B4-BE49-F238E27FC236}">
                <a16:creationId xmlns:a16="http://schemas.microsoft.com/office/drawing/2014/main" id="{0A5EF682-BBC6-BC89-A815-2405B3BFA89F}"/>
              </a:ext>
            </a:extLst>
          </p:cNvPr>
          <p:cNvPicPr>
            <a:picLocks noChangeAspect="1"/>
          </p:cNvPicPr>
          <p:nvPr/>
        </p:nvPicPr>
        <p:blipFill rotWithShape="1">
          <a:blip r:embed="rId2">
            <a:extLst>
              <a:ext uri="{28A0092B-C50C-407E-A947-70E740481C1C}">
                <a14:useLocalDpi xmlns:a14="http://schemas.microsoft.com/office/drawing/2010/main" val="0"/>
              </a:ext>
            </a:extLst>
          </a:blip>
          <a:srcRect l="7632" t="6513" r="14801" b="12673"/>
          <a:stretch/>
        </p:blipFill>
        <p:spPr>
          <a:xfrm>
            <a:off x="11003168" y="6329803"/>
            <a:ext cx="1002890" cy="342928"/>
          </a:xfrm>
          <a:prstGeom prst="rect">
            <a:avLst/>
          </a:prstGeom>
        </p:spPr>
      </p:pic>
      <p:sp>
        <p:nvSpPr>
          <p:cNvPr id="5" name="TextBox 4">
            <a:extLst>
              <a:ext uri="{FF2B5EF4-FFF2-40B4-BE49-F238E27FC236}">
                <a16:creationId xmlns:a16="http://schemas.microsoft.com/office/drawing/2014/main" id="{CED2CCDC-C02F-B3A1-A3C5-707DECA064F1}"/>
              </a:ext>
            </a:extLst>
          </p:cNvPr>
          <p:cNvSpPr txBox="1"/>
          <p:nvPr/>
        </p:nvSpPr>
        <p:spPr>
          <a:xfrm>
            <a:off x="-30367" y="770057"/>
            <a:ext cx="1741230" cy="369332"/>
          </a:xfrm>
          <a:prstGeom prst="rect">
            <a:avLst/>
          </a:prstGeom>
          <a:noFill/>
        </p:spPr>
        <p:txBody>
          <a:bodyPr wrap="square" rtlCol="0">
            <a:spAutoFit/>
          </a:bodyPr>
          <a:lstStyle/>
          <a:p>
            <a:r>
              <a:rPr lang="en-US" sz="1800" dirty="0">
                <a:solidFill>
                  <a:schemeClr val="bg1"/>
                </a:solidFill>
                <a:effectLst/>
                <a:latin typeface="Bookman Old Style" panose="02050604050505020204" pitchFamily="18" charset="0"/>
                <a:ea typeface="Calibri" panose="020F0502020204030204" pitchFamily="34" charset="0"/>
              </a:rPr>
              <a:t>22AM2305</a:t>
            </a:r>
            <a:endParaRPr lang="en-IN" dirty="0">
              <a:solidFill>
                <a:schemeClr val="bg1"/>
              </a:solidFill>
              <a:latin typeface="Bookman Old Style" panose="02050604050505020204" pitchFamily="18" charset="0"/>
            </a:endParaRPr>
          </a:p>
        </p:txBody>
      </p:sp>
      <p:pic>
        <p:nvPicPr>
          <p:cNvPr id="6" name="Picture 2" descr="logo">
            <a:extLst>
              <a:ext uri="{FF2B5EF4-FFF2-40B4-BE49-F238E27FC236}">
                <a16:creationId xmlns:a16="http://schemas.microsoft.com/office/drawing/2014/main" id="{747D0EEE-BA48-499F-B84C-D20F74CB5DB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52799" y="89593"/>
            <a:ext cx="1070381" cy="1049796"/>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a:extLst>
              <a:ext uri="{FF2B5EF4-FFF2-40B4-BE49-F238E27FC236}">
                <a16:creationId xmlns:a16="http://schemas.microsoft.com/office/drawing/2014/main" id="{B8E50AC5-8D2A-6A5D-796D-B6863CA3B31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123180" y="89593"/>
            <a:ext cx="941000" cy="960203"/>
          </a:xfrm>
          <a:prstGeom prst="rect">
            <a:avLst/>
          </a:prstGeom>
        </p:spPr>
      </p:pic>
    </p:spTree>
    <p:extLst>
      <p:ext uri="{BB962C8B-B14F-4D97-AF65-F5344CB8AC3E}">
        <p14:creationId xmlns:p14="http://schemas.microsoft.com/office/powerpoint/2010/main" val="174334418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A5EF682-BBC6-BC89-A815-2405B3BFA89F}"/>
              </a:ext>
            </a:extLst>
          </p:cNvPr>
          <p:cNvPicPr>
            <a:picLocks noChangeAspect="1"/>
          </p:cNvPicPr>
          <p:nvPr/>
        </p:nvPicPr>
        <p:blipFill rotWithShape="1">
          <a:blip r:embed="rId2">
            <a:extLst>
              <a:ext uri="{28A0092B-C50C-407E-A947-70E740481C1C}">
                <a14:useLocalDpi xmlns:a14="http://schemas.microsoft.com/office/drawing/2010/main" val="0"/>
              </a:ext>
            </a:extLst>
          </a:blip>
          <a:srcRect l="7632" t="6513" r="14801" b="12673"/>
          <a:stretch/>
        </p:blipFill>
        <p:spPr>
          <a:xfrm>
            <a:off x="11003168" y="6329803"/>
            <a:ext cx="1002890" cy="342928"/>
          </a:xfrm>
          <a:prstGeom prst="rect">
            <a:avLst/>
          </a:prstGeom>
        </p:spPr>
      </p:pic>
      <p:sp>
        <p:nvSpPr>
          <p:cNvPr id="5" name="TextBox 4">
            <a:extLst>
              <a:ext uri="{FF2B5EF4-FFF2-40B4-BE49-F238E27FC236}">
                <a16:creationId xmlns:a16="http://schemas.microsoft.com/office/drawing/2014/main" id="{CED2CCDC-C02F-B3A1-A3C5-707DECA064F1}"/>
              </a:ext>
            </a:extLst>
          </p:cNvPr>
          <p:cNvSpPr txBox="1"/>
          <p:nvPr/>
        </p:nvSpPr>
        <p:spPr>
          <a:xfrm>
            <a:off x="-30367" y="770057"/>
            <a:ext cx="1741230" cy="369332"/>
          </a:xfrm>
          <a:prstGeom prst="rect">
            <a:avLst/>
          </a:prstGeom>
          <a:noFill/>
        </p:spPr>
        <p:txBody>
          <a:bodyPr wrap="square" rtlCol="0">
            <a:spAutoFit/>
          </a:bodyPr>
          <a:lstStyle/>
          <a:p>
            <a:r>
              <a:rPr lang="en-US" sz="1800" dirty="0">
                <a:solidFill>
                  <a:schemeClr val="bg1"/>
                </a:solidFill>
                <a:effectLst/>
                <a:latin typeface="Bookman Old Style" panose="02050604050505020204" pitchFamily="18" charset="0"/>
                <a:ea typeface="Calibri" panose="020F0502020204030204" pitchFamily="34" charset="0"/>
              </a:rPr>
              <a:t>22AM2305</a:t>
            </a:r>
            <a:endParaRPr lang="en-IN" dirty="0">
              <a:solidFill>
                <a:schemeClr val="bg1"/>
              </a:solidFill>
              <a:latin typeface="Bookman Old Style" panose="02050604050505020204" pitchFamily="18" charset="0"/>
            </a:endParaRPr>
          </a:p>
        </p:txBody>
      </p:sp>
      <p:pic>
        <p:nvPicPr>
          <p:cNvPr id="6" name="Picture 2" descr="logo">
            <a:extLst>
              <a:ext uri="{FF2B5EF4-FFF2-40B4-BE49-F238E27FC236}">
                <a16:creationId xmlns:a16="http://schemas.microsoft.com/office/drawing/2014/main" id="{747D0EEE-BA48-499F-B84C-D20F74CB5DB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52799" y="89593"/>
            <a:ext cx="1070381" cy="1049796"/>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a:extLst>
              <a:ext uri="{FF2B5EF4-FFF2-40B4-BE49-F238E27FC236}">
                <a16:creationId xmlns:a16="http://schemas.microsoft.com/office/drawing/2014/main" id="{B8E50AC5-8D2A-6A5D-796D-B6863CA3B31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123180" y="89593"/>
            <a:ext cx="941000" cy="960203"/>
          </a:xfrm>
          <a:prstGeom prst="rect">
            <a:avLst/>
          </a:prstGeom>
        </p:spPr>
      </p:pic>
      <p:graphicFrame>
        <p:nvGraphicFramePr>
          <p:cNvPr id="8" name="Table 7">
            <a:extLst>
              <a:ext uri="{FF2B5EF4-FFF2-40B4-BE49-F238E27FC236}">
                <a16:creationId xmlns:a16="http://schemas.microsoft.com/office/drawing/2014/main" id="{5E318B87-B129-FBB0-D12E-0B441B616693}"/>
              </a:ext>
            </a:extLst>
          </p:cNvPr>
          <p:cNvGraphicFramePr>
            <a:graphicFrameLocks noGrp="1"/>
          </p:cNvGraphicFramePr>
          <p:nvPr>
            <p:extLst>
              <p:ext uri="{D42A27DB-BD31-4B8C-83A1-F6EECF244321}">
                <p14:modId xmlns:p14="http://schemas.microsoft.com/office/powerpoint/2010/main" val="1330402325"/>
              </p:ext>
            </p:extLst>
          </p:nvPr>
        </p:nvGraphicFramePr>
        <p:xfrm>
          <a:off x="1505109" y="645671"/>
          <a:ext cx="9998633" cy="5442272"/>
        </p:xfrm>
        <a:graphic>
          <a:graphicData uri="http://schemas.openxmlformats.org/drawingml/2006/table">
            <a:tbl>
              <a:tblPr bandRow="1">
                <a:tableStyleId>{5C22544A-7EE6-4342-B048-85BDC9FD1C3A}</a:tableStyleId>
              </a:tblPr>
              <a:tblGrid>
                <a:gridCol w="566478">
                  <a:extLst>
                    <a:ext uri="{9D8B030D-6E8A-4147-A177-3AD203B41FA5}">
                      <a16:colId xmlns:a16="http://schemas.microsoft.com/office/drawing/2014/main" val="2841301817"/>
                    </a:ext>
                  </a:extLst>
                </a:gridCol>
                <a:gridCol w="692466">
                  <a:extLst>
                    <a:ext uri="{9D8B030D-6E8A-4147-A177-3AD203B41FA5}">
                      <a16:colId xmlns:a16="http://schemas.microsoft.com/office/drawing/2014/main" val="3617592628"/>
                    </a:ext>
                  </a:extLst>
                </a:gridCol>
                <a:gridCol w="497005">
                  <a:extLst>
                    <a:ext uri="{9D8B030D-6E8A-4147-A177-3AD203B41FA5}">
                      <a16:colId xmlns:a16="http://schemas.microsoft.com/office/drawing/2014/main" val="3311449518"/>
                    </a:ext>
                  </a:extLst>
                </a:gridCol>
                <a:gridCol w="455536">
                  <a:extLst>
                    <a:ext uri="{9D8B030D-6E8A-4147-A177-3AD203B41FA5}">
                      <a16:colId xmlns:a16="http://schemas.microsoft.com/office/drawing/2014/main" val="3867863272"/>
                    </a:ext>
                  </a:extLst>
                </a:gridCol>
                <a:gridCol w="747251">
                  <a:extLst>
                    <a:ext uri="{9D8B030D-6E8A-4147-A177-3AD203B41FA5}">
                      <a16:colId xmlns:a16="http://schemas.microsoft.com/office/drawing/2014/main" val="1235751164"/>
                    </a:ext>
                  </a:extLst>
                </a:gridCol>
                <a:gridCol w="314632">
                  <a:extLst>
                    <a:ext uri="{9D8B030D-6E8A-4147-A177-3AD203B41FA5}">
                      <a16:colId xmlns:a16="http://schemas.microsoft.com/office/drawing/2014/main" val="3675751306"/>
                    </a:ext>
                  </a:extLst>
                </a:gridCol>
                <a:gridCol w="651034">
                  <a:extLst>
                    <a:ext uri="{9D8B030D-6E8A-4147-A177-3AD203B41FA5}">
                      <a16:colId xmlns:a16="http://schemas.microsoft.com/office/drawing/2014/main" val="2780390034"/>
                    </a:ext>
                  </a:extLst>
                </a:gridCol>
                <a:gridCol w="497005">
                  <a:extLst>
                    <a:ext uri="{9D8B030D-6E8A-4147-A177-3AD203B41FA5}">
                      <a16:colId xmlns:a16="http://schemas.microsoft.com/office/drawing/2014/main" val="2314065011"/>
                    </a:ext>
                  </a:extLst>
                </a:gridCol>
                <a:gridCol w="346465">
                  <a:extLst>
                    <a:ext uri="{9D8B030D-6E8A-4147-A177-3AD203B41FA5}">
                      <a16:colId xmlns:a16="http://schemas.microsoft.com/office/drawing/2014/main" val="1507263401"/>
                    </a:ext>
                  </a:extLst>
                </a:gridCol>
                <a:gridCol w="650217">
                  <a:extLst>
                    <a:ext uri="{9D8B030D-6E8A-4147-A177-3AD203B41FA5}">
                      <a16:colId xmlns:a16="http://schemas.microsoft.com/office/drawing/2014/main" val="4074622093"/>
                    </a:ext>
                  </a:extLst>
                </a:gridCol>
                <a:gridCol w="500566">
                  <a:extLst>
                    <a:ext uri="{9D8B030D-6E8A-4147-A177-3AD203B41FA5}">
                      <a16:colId xmlns:a16="http://schemas.microsoft.com/office/drawing/2014/main" val="3752590902"/>
                    </a:ext>
                  </a:extLst>
                </a:gridCol>
                <a:gridCol w="500566">
                  <a:extLst>
                    <a:ext uri="{9D8B030D-6E8A-4147-A177-3AD203B41FA5}">
                      <a16:colId xmlns:a16="http://schemas.microsoft.com/office/drawing/2014/main" val="1075012704"/>
                    </a:ext>
                  </a:extLst>
                </a:gridCol>
                <a:gridCol w="521580">
                  <a:extLst>
                    <a:ext uri="{9D8B030D-6E8A-4147-A177-3AD203B41FA5}">
                      <a16:colId xmlns:a16="http://schemas.microsoft.com/office/drawing/2014/main" val="1280756045"/>
                    </a:ext>
                  </a:extLst>
                </a:gridCol>
                <a:gridCol w="927571">
                  <a:extLst>
                    <a:ext uri="{9D8B030D-6E8A-4147-A177-3AD203B41FA5}">
                      <a16:colId xmlns:a16="http://schemas.microsoft.com/office/drawing/2014/main" val="1406083689"/>
                    </a:ext>
                  </a:extLst>
                </a:gridCol>
                <a:gridCol w="1215861">
                  <a:extLst>
                    <a:ext uri="{9D8B030D-6E8A-4147-A177-3AD203B41FA5}">
                      <a16:colId xmlns:a16="http://schemas.microsoft.com/office/drawing/2014/main" val="2434064028"/>
                    </a:ext>
                  </a:extLst>
                </a:gridCol>
                <a:gridCol w="914400">
                  <a:extLst>
                    <a:ext uri="{9D8B030D-6E8A-4147-A177-3AD203B41FA5}">
                      <a16:colId xmlns:a16="http://schemas.microsoft.com/office/drawing/2014/main" val="593366053"/>
                    </a:ext>
                  </a:extLst>
                </a:gridCol>
              </a:tblGrid>
              <a:tr h="309628">
                <a:tc gridSpan="16">
                  <a:txBody>
                    <a:bodyPr/>
                    <a:lstStyle/>
                    <a:p>
                      <a:pPr algn="ctr">
                        <a:lnSpc>
                          <a:spcPct val="107000"/>
                        </a:lnSpc>
                        <a:spcAft>
                          <a:spcPts val="800"/>
                        </a:spcAft>
                      </a:pPr>
                      <a:r>
                        <a:rPr lang="en-IN" sz="1400">
                          <a:effectLst/>
                        </a:rPr>
                        <a:t>Table: Mapping Levels of COs to POs / PSOs</a:t>
                      </a:r>
                      <a:endParaRPr lang="en-US" sz="1400">
                        <a:effectLst/>
                        <a:latin typeface="Calibri" panose="020F0502020204030204" pitchFamily="34" charset="0"/>
                        <a:ea typeface="Calibri" panose="020F0502020204030204" pitchFamily="34" charset="0"/>
                      </a:endParaRPr>
                    </a:p>
                  </a:txBody>
                  <a:tcPr marL="58801" marR="58801" marT="0" marB="0"/>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707566774"/>
                  </a:ext>
                </a:extLst>
              </a:tr>
              <a:tr h="187102">
                <a:tc rowSpan="2">
                  <a:txBody>
                    <a:bodyPr/>
                    <a:lstStyle/>
                    <a:p>
                      <a:pPr>
                        <a:lnSpc>
                          <a:spcPct val="107000"/>
                        </a:lnSpc>
                        <a:spcAft>
                          <a:spcPts val="800"/>
                        </a:spcAft>
                      </a:pPr>
                      <a:r>
                        <a:rPr lang="en-IN" sz="1400">
                          <a:effectLst/>
                        </a:rPr>
                        <a:t>COs</a:t>
                      </a:r>
                      <a:endParaRPr lang="en-US" sz="1400">
                        <a:effectLst/>
                        <a:latin typeface="Calibri" panose="020F0502020204030204" pitchFamily="34" charset="0"/>
                        <a:ea typeface="Calibri" panose="020F0502020204030204" pitchFamily="34" charset="0"/>
                      </a:endParaRPr>
                    </a:p>
                  </a:txBody>
                  <a:tcPr marL="58801" marR="58801" marT="0" marB="0"/>
                </a:tc>
                <a:tc gridSpan="12">
                  <a:txBody>
                    <a:bodyPr/>
                    <a:lstStyle/>
                    <a:p>
                      <a:pPr algn="ctr">
                        <a:lnSpc>
                          <a:spcPct val="107000"/>
                        </a:lnSpc>
                        <a:spcAft>
                          <a:spcPts val="800"/>
                        </a:spcAft>
                      </a:pPr>
                      <a:r>
                        <a:rPr lang="en-IN" sz="1400">
                          <a:effectLst/>
                        </a:rPr>
                        <a:t>Program Outcomes (POs)</a:t>
                      </a:r>
                      <a:endParaRPr lang="en-US" sz="1400">
                        <a:effectLst/>
                        <a:latin typeface="Calibri" panose="020F0502020204030204" pitchFamily="34" charset="0"/>
                        <a:ea typeface="Calibri" panose="020F0502020204030204" pitchFamily="34" charset="0"/>
                      </a:endParaRPr>
                    </a:p>
                  </a:txBody>
                  <a:tcPr marL="58801" marR="58801" marT="0" marB="0" anchor="ct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gridSpan="3">
                  <a:txBody>
                    <a:bodyPr/>
                    <a:lstStyle/>
                    <a:p>
                      <a:pPr algn="ctr">
                        <a:lnSpc>
                          <a:spcPct val="107000"/>
                        </a:lnSpc>
                        <a:spcAft>
                          <a:spcPts val="800"/>
                        </a:spcAft>
                      </a:pPr>
                      <a:r>
                        <a:rPr lang="en-IN" sz="1400">
                          <a:effectLst/>
                        </a:rPr>
                        <a:t>PSOs</a:t>
                      </a:r>
                      <a:endParaRPr lang="en-US" sz="1400">
                        <a:effectLst/>
                        <a:latin typeface="Calibri" panose="020F0502020204030204" pitchFamily="34" charset="0"/>
                        <a:ea typeface="Calibri" panose="020F0502020204030204" pitchFamily="34" charset="0"/>
                      </a:endParaRPr>
                    </a:p>
                  </a:txBody>
                  <a:tcPr marL="58801" marR="58801" marT="0" marB="0" anchor="ct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71174534"/>
                  </a:ext>
                </a:extLst>
              </a:tr>
              <a:tr h="2010495">
                <a:tc vMerge="1">
                  <a:txBody>
                    <a:bodyPr/>
                    <a:lstStyle/>
                    <a:p>
                      <a:endParaRPr lang="en-US"/>
                    </a:p>
                  </a:txBody>
                  <a:tcPr/>
                </a:tc>
                <a:tc>
                  <a:txBody>
                    <a:bodyPr/>
                    <a:lstStyle/>
                    <a:p>
                      <a:pPr marL="71755" marR="71755" lvl="0" indent="0" algn="ctr" defTabSz="457200" rtl="0" eaLnBrk="1" fontAlgn="auto" latinLnBrk="0" hangingPunct="1">
                        <a:lnSpc>
                          <a:spcPct val="107000"/>
                        </a:lnSpc>
                        <a:spcBef>
                          <a:spcPts val="0"/>
                        </a:spcBef>
                        <a:spcAft>
                          <a:spcPts val="800"/>
                        </a:spcAft>
                        <a:buClrTx/>
                        <a:buSzTx/>
                        <a:buFontTx/>
                        <a:buNone/>
                        <a:tabLst/>
                        <a:defRPr/>
                      </a:pPr>
                      <a:r>
                        <a:rPr lang="en-US" sz="1400" dirty="0"/>
                        <a:t>Engineering knowledge </a:t>
                      </a:r>
                    </a:p>
                  </a:txBody>
                  <a:tcPr marL="58801" marR="58801" marT="0" marB="0" vert="vert270" anchor="ctr"/>
                </a:tc>
                <a:tc>
                  <a:txBody>
                    <a:bodyPr/>
                    <a:lstStyle/>
                    <a:p>
                      <a:pPr marL="88900" indent="0"/>
                      <a:r>
                        <a:rPr lang="en-US" sz="1400" dirty="0"/>
                        <a:t>Problem analysis </a:t>
                      </a:r>
                    </a:p>
                  </a:txBody>
                  <a:tcPr marL="58801" marR="58801" marT="0" marB="0" vert="vert270" anchor="ctr"/>
                </a:tc>
                <a:tc>
                  <a:txBody>
                    <a:bodyPr/>
                    <a:lstStyle/>
                    <a:p>
                      <a:pPr marL="88900" indent="0"/>
                      <a:r>
                        <a:rPr lang="en-US" sz="1400" dirty="0"/>
                        <a:t>Design/development of solutions </a:t>
                      </a:r>
                    </a:p>
                  </a:txBody>
                  <a:tcPr marL="58801" marR="58801" marT="0" marB="0" vert="vert270" anchor="ctr"/>
                </a:tc>
                <a:tc>
                  <a:txBody>
                    <a:bodyPr/>
                    <a:lstStyle/>
                    <a:p>
                      <a:pPr marL="71755" marR="71755" lvl="0" indent="0" algn="ctr" defTabSz="457200" rtl="0" eaLnBrk="1" fontAlgn="auto" latinLnBrk="0" hangingPunct="1">
                        <a:lnSpc>
                          <a:spcPct val="107000"/>
                        </a:lnSpc>
                        <a:spcBef>
                          <a:spcPts val="0"/>
                        </a:spcBef>
                        <a:spcAft>
                          <a:spcPts val="800"/>
                        </a:spcAft>
                        <a:buClrTx/>
                        <a:buSzTx/>
                        <a:buFontTx/>
                        <a:buNone/>
                        <a:tabLst/>
                        <a:defRPr/>
                      </a:pPr>
                      <a:r>
                        <a:rPr lang="en-US" sz="1400" dirty="0"/>
                        <a:t>Conduct investigations of complex problems</a:t>
                      </a:r>
                    </a:p>
                  </a:txBody>
                  <a:tcPr marL="58801" marR="58801" marT="0" marB="0" vert="vert270" anchor="ctr"/>
                </a:tc>
                <a:tc>
                  <a:txBody>
                    <a:bodyPr/>
                    <a:lstStyle/>
                    <a:p>
                      <a:pPr marL="71755" marR="71755" lvl="0" indent="0" algn="ctr" defTabSz="457200" rtl="0" eaLnBrk="1" fontAlgn="auto" latinLnBrk="0" hangingPunct="1">
                        <a:lnSpc>
                          <a:spcPct val="107000"/>
                        </a:lnSpc>
                        <a:spcBef>
                          <a:spcPts val="0"/>
                        </a:spcBef>
                        <a:spcAft>
                          <a:spcPts val="800"/>
                        </a:spcAft>
                        <a:buClrTx/>
                        <a:buSzTx/>
                        <a:buFontTx/>
                        <a:buNone/>
                        <a:tabLst/>
                        <a:defRPr/>
                      </a:pPr>
                      <a:r>
                        <a:rPr lang="en-US" sz="1400" dirty="0"/>
                        <a:t>Modern tool usage</a:t>
                      </a:r>
                    </a:p>
                  </a:txBody>
                  <a:tcPr marL="58801" marR="58801" marT="0" marB="0" vert="vert270" anchor="ctr"/>
                </a:tc>
                <a:tc>
                  <a:txBody>
                    <a:bodyPr/>
                    <a:lstStyle/>
                    <a:p>
                      <a:pPr marL="71755" marR="71755" lvl="0" indent="0" algn="ctr" defTabSz="457200" rtl="0" eaLnBrk="1" fontAlgn="auto" latinLnBrk="0" hangingPunct="1">
                        <a:lnSpc>
                          <a:spcPct val="107000"/>
                        </a:lnSpc>
                        <a:spcBef>
                          <a:spcPts val="0"/>
                        </a:spcBef>
                        <a:spcAft>
                          <a:spcPts val="800"/>
                        </a:spcAft>
                        <a:buClrTx/>
                        <a:buSzTx/>
                        <a:buFontTx/>
                        <a:buNone/>
                        <a:tabLst/>
                        <a:defRPr/>
                      </a:pPr>
                      <a:r>
                        <a:rPr lang="en-US" sz="1400" dirty="0"/>
                        <a:t>The engineer and society</a:t>
                      </a:r>
                    </a:p>
                  </a:txBody>
                  <a:tcPr marL="58801" marR="58801" marT="0" marB="0" vert="vert270" anchor="ctr"/>
                </a:tc>
                <a:tc>
                  <a:txBody>
                    <a:bodyPr/>
                    <a:lstStyle/>
                    <a:p>
                      <a:pPr marL="71755" marR="71755" lvl="0" indent="0" algn="ctr" defTabSz="457200" rtl="0" eaLnBrk="1" fontAlgn="auto" latinLnBrk="0" hangingPunct="1">
                        <a:lnSpc>
                          <a:spcPct val="107000"/>
                        </a:lnSpc>
                        <a:spcBef>
                          <a:spcPts val="0"/>
                        </a:spcBef>
                        <a:spcAft>
                          <a:spcPts val="800"/>
                        </a:spcAft>
                        <a:buClrTx/>
                        <a:buSzTx/>
                        <a:buFontTx/>
                        <a:buNone/>
                        <a:tabLst/>
                        <a:defRPr/>
                      </a:pPr>
                      <a:r>
                        <a:rPr lang="en-US" sz="1400" dirty="0"/>
                        <a:t>Environment and sustainability</a:t>
                      </a:r>
                    </a:p>
                  </a:txBody>
                  <a:tcPr marL="58801" marR="58801" marT="0" marB="0" vert="vert270" anchor="ctr"/>
                </a:tc>
                <a:tc>
                  <a:txBody>
                    <a:bodyPr/>
                    <a:lstStyle/>
                    <a:p>
                      <a:pPr marL="71755" marR="71755" lvl="0" indent="0" algn="ctr" defTabSz="457200" rtl="0" eaLnBrk="1" fontAlgn="auto" latinLnBrk="0" hangingPunct="1">
                        <a:lnSpc>
                          <a:spcPct val="107000"/>
                        </a:lnSpc>
                        <a:spcBef>
                          <a:spcPts val="0"/>
                        </a:spcBef>
                        <a:spcAft>
                          <a:spcPts val="800"/>
                        </a:spcAft>
                        <a:buClrTx/>
                        <a:buSzTx/>
                        <a:buFontTx/>
                        <a:buNone/>
                        <a:tabLst/>
                        <a:defRPr/>
                      </a:pPr>
                      <a:r>
                        <a:rPr lang="en-US" sz="1400" dirty="0"/>
                        <a:t>Ethics</a:t>
                      </a:r>
                    </a:p>
                  </a:txBody>
                  <a:tcPr marL="58801" marR="58801" marT="0" marB="0" vert="vert270" anchor="ctr"/>
                </a:tc>
                <a:tc>
                  <a:txBody>
                    <a:bodyPr/>
                    <a:lstStyle/>
                    <a:p>
                      <a:pPr marL="71755" marR="71755" lvl="0" indent="0" algn="ctr" defTabSz="457200" rtl="0" eaLnBrk="1" fontAlgn="auto" latinLnBrk="0" hangingPunct="1">
                        <a:lnSpc>
                          <a:spcPct val="107000"/>
                        </a:lnSpc>
                        <a:spcBef>
                          <a:spcPts val="0"/>
                        </a:spcBef>
                        <a:spcAft>
                          <a:spcPts val="800"/>
                        </a:spcAft>
                        <a:buClrTx/>
                        <a:buSzTx/>
                        <a:buFontTx/>
                        <a:buNone/>
                        <a:tabLst/>
                        <a:defRPr/>
                      </a:pPr>
                      <a:r>
                        <a:rPr lang="en-US" sz="1400" dirty="0"/>
                        <a:t>Individual and team work</a:t>
                      </a:r>
                    </a:p>
                  </a:txBody>
                  <a:tcPr marL="58801" marR="58801" marT="0" marB="0" vert="vert270" anchor="ctr"/>
                </a:tc>
                <a:tc>
                  <a:txBody>
                    <a:bodyPr/>
                    <a:lstStyle/>
                    <a:p>
                      <a:pPr marL="71755" marR="71755" lvl="0" indent="0" algn="ctr" defTabSz="457200" rtl="0" eaLnBrk="1" fontAlgn="auto" latinLnBrk="0" hangingPunct="1">
                        <a:lnSpc>
                          <a:spcPct val="107000"/>
                        </a:lnSpc>
                        <a:spcBef>
                          <a:spcPts val="0"/>
                        </a:spcBef>
                        <a:spcAft>
                          <a:spcPts val="800"/>
                        </a:spcAft>
                        <a:buClrTx/>
                        <a:buSzTx/>
                        <a:buFontTx/>
                        <a:buNone/>
                        <a:tabLst/>
                        <a:defRPr/>
                      </a:pPr>
                      <a:r>
                        <a:rPr lang="en-US" sz="1400" dirty="0"/>
                        <a:t>Communication</a:t>
                      </a:r>
                    </a:p>
                  </a:txBody>
                  <a:tcPr marL="58801" marR="58801" marT="0" marB="0" vert="vert270" anchor="ctr"/>
                </a:tc>
                <a:tc>
                  <a:txBody>
                    <a:bodyPr/>
                    <a:lstStyle/>
                    <a:p>
                      <a:pPr marL="71755" marR="71755" algn="ctr">
                        <a:lnSpc>
                          <a:spcPct val="107000"/>
                        </a:lnSpc>
                        <a:spcAft>
                          <a:spcPts val="800"/>
                        </a:spcAft>
                      </a:pPr>
                      <a:r>
                        <a:rPr lang="en-US" sz="1400" dirty="0"/>
                        <a:t>Project management and finance</a:t>
                      </a:r>
                      <a:endParaRPr lang="en-US" sz="1400" dirty="0">
                        <a:effectLst/>
                        <a:latin typeface="Calibri" panose="020F0502020204030204" pitchFamily="34" charset="0"/>
                        <a:ea typeface="Calibri" panose="020F0502020204030204" pitchFamily="34" charset="0"/>
                      </a:endParaRPr>
                    </a:p>
                  </a:txBody>
                  <a:tcPr marL="58801" marR="58801" marT="0" marB="0" vert="vert270" anchor="ctr"/>
                </a:tc>
                <a:tc>
                  <a:txBody>
                    <a:bodyPr/>
                    <a:lstStyle/>
                    <a:p>
                      <a:pPr marL="71755" marR="71755" algn="ctr">
                        <a:lnSpc>
                          <a:spcPct val="107000"/>
                        </a:lnSpc>
                        <a:spcAft>
                          <a:spcPts val="800"/>
                        </a:spcAft>
                      </a:pPr>
                      <a:r>
                        <a:rPr lang="en-US" sz="1400" dirty="0"/>
                        <a:t>Life-long learning</a:t>
                      </a:r>
                      <a:endParaRPr lang="en-US" sz="1400" dirty="0">
                        <a:effectLst/>
                        <a:latin typeface="Calibri" panose="020F0502020204030204" pitchFamily="34" charset="0"/>
                        <a:ea typeface="Calibri" panose="020F0502020204030204" pitchFamily="34" charset="0"/>
                      </a:endParaRPr>
                    </a:p>
                  </a:txBody>
                  <a:tcPr marL="58801" marR="58801" marT="0" marB="0" vert="vert270" anchor="ctr"/>
                </a:tc>
                <a:tc>
                  <a:txBody>
                    <a:bodyPr/>
                    <a:lstStyle/>
                    <a:p>
                      <a:pPr marL="71755" marR="71755" lvl="0" indent="0" algn="ctr" defTabSz="457200" rtl="0" eaLnBrk="1" fontAlgn="auto" latinLnBrk="0" hangingPunct="1">
                        <a:lnSpc>
                          <a:spcPct val="107000"/>
                        </a:lnSpc>
                        <a:spcBef>
                          <a:spcPts val="0"/>
                        </a:spcBef>
                        <a:spcAft>
                          <a:spcPts val="800"/>
                        </a:spcAft>
                        <a:buClrTx/>
                        <a:buSzTx/>
                        <a:buFontTx/>
                        <a:buNone/>
                        <a:tabLst/>
                        <a:defRPr/>
                      </a:pPr>
                      <a:r>
                        <a:rPr lang="en-US" sz="1200" b="0" i="0" dirty="0">
                          <a:solidFill>
                            <a:srgbClr val="3C3939"/>
                          </a:solidFill>
                          <a:effectLst/>
                          <a:latin typeface="Source Sans Pro" panose="020B0503030403020204" pitchFamily="34" charset="0"/>
                        </a:rPr>
                        <a:t>Apply the principal concepts of AI Engineering to design, develop, deploy and prototype AI Subsystems</a:t>
                      </a:r>
                    </a:p>
                  </a:txBody>
                  <a:tcPr marL="58801" marR="58801" marT="0" marB="0" vert="vert270" anchor="ctr"/>
                </a:tc>
                <a:tc>
                  <a:txBody>
                    <a:bodyPr/>
                    <a:lstStyle/>
                    <a:p>
                      <a:pPr marL="71755" marR="71755" lvl="0" indent="0" algn="ctr" defTabSz="457200" rtl="0" eaLnBrk="1" fontAlgn="auto" latinLnBrk="0" hangingPunct="1">
                        <a:lnSpc>
                          <a:spcPct val="107000"/>
                        </a:lnSpc>
                        <a:spcBef>
                          <a:spcPts val="0"/>
                        </a:spcBef>
                        <a:spcAft>
                          <a:spcPts val="800"/>
                        </a:spcAft>
                        <a:buClrTx/>
                        <a:buSzTx/>
                        <a:buFontTx/>
                        <a:buNone/>
                        <a:tabLst/>
                        <a:defRPr/>
                      </a:pPr>
                      <a:r>
                        <a:rPr lang="en-US" sz="1200" b="0" i="0" dirty="0">
                          <a:solidFill>
                            <a:srgbClr val="3C3939"/>
                          </a:solidFill>
                          <a:effectLst/>
                          <a:latin typeface="Source Sans Pro" panose="020B0503030403020204" pitchFamily="34" charset="0"/>
                        </a:rPr>
                        <a:t>Apply the knowledge gained pertaining to data storage, data analytics and AI concepts to solve real world business problems.</a:t>
                      </a:r>
                      <a:endParaRPr lang="en-US" sz="1400" dirty="0">
                        <a:effectLst/>
                        <a:latin typeface="Calibri" panose="020F0502020204030204" pitchFamily="34" charset="0"/>
                        <a:ea typeface="Calibri" panose="020F0502020204030204" pitchFamily="34" charset="0"/>
                      </a:endParaRPr>
                    </a:p>
                  </a:txBody>
                  <a:tcPr marL="58801" marR="58801" marT="0" marB="0" vert="vert270" anchor="ctr"/>
                </a:tc>
                <a:tc>
                  <a:txBody>
                    <a:bodyPr/>
                    <a:lstStyle/>
                    <a:p>
                      <a:pPr marL="71755" marR="71755" lvl="0" indent="0" algn="ctr" defTabSz="457200" rtl="0" eaLnBrk="1" fontAlgn="auto" latinLnBrk="0" hangingPunct="1">
                        <a:lnSpc>
                          <a:spcPct val="107000"/>
                        </a:lnSpc>
                        <a:spcBef>
                          <a:spcPts val="0"/>
                        </a:spcBef>
                        <a:spcAft>
                          <a:spcPts val="800"/>
                        </a:spcAft>
                        <a:buClrTx/>
                        <a:buSzTx/>
                        <a:buFontTx/>
                        <a:buNone/>
                        <a:tabLst/>
                        <a:defRPr/>
                      </a:pPr>
                      <a:r>
                        <a:rPr lang="en-US" sz="1200" b="0" i="0" dirty="0">
                          <a:solidFill>
                            <a:srgbClr val="3C3939"/>
                          </a:solidFill>
                          <a:effectLst/>
                          <a:latin typeface="Source Sans Pro" panose="020B0503030403020204" pitchFamily="34" charset="0"/>
                        </a:rPr>
                        <a:t>Apply, </a:t>
                      </a:r>
                      <a:r>
                        <a:rPr lang="en-US" sz="1200" b="0" i="0" dirty="0" err="1">
                          <a:solidFill>
                            <a:srgbClr val="3C3939"/>
                          </a:solidFill>
                          <a:effectLst/>
                          <a:latin typeface="Source Sans Pro" panose="020B0503030403020204" pitchFamily="34" charset="0"/>
                        </a:rPr>
                        <a:t>analyse</a:t>
                      </a:r>
                      <a:r>
                        <a:rPr lang="en-US" sz="1200" b="0" i="0" dirty="0">
                          <a:solidFill>
                            <a:srgbClr val="3C3939"/>
                          </a:solidFill>
                          <a:effectLst/>
                          <a:latin typeface="Source Sans Pro" panose="020B0503030403020204" pitchFamily="34" charset="0"/>
                        </a:rPr>
                        <a:t>, design, develop, and test principles of AI concepts on Intelligent Systems</a:t>
                      </a:r>
                    </a:p>
                  </a:txBody>
                  <a:tcPr marL="58801" marR="58801" marT="0" marB="0" vert="vert270" anchor="ctr"/>
                </a:tc>
                <a:extLst>
                  <a:ext uri="{0D108BD9-81ED-4DB2-BD59-A6C34878D82A}">
                    <a16:rowId xmlns:a16="http://schemas.microsoft.com/office/drawing/2014/main" val="3198922309"/>
                  </a:ext>
                </a:extLst>
              </a:tr>
              <a:tr h="581110">
                <a:tc>
                  <a:txBody>
                    <a:bodyPr/>
                    <a:lstStyle/>
                    <a:p>
                      <a:pPr algn="ctr">
                        <a:lnSpc>
                          <a:spcPct val="107000"/>
                        </a:lnSpc>
                        <a:spcAft>
                          <a:spcPts val="800"/>
                        </a:spcAft>
                      </a:pPr>
                      <a:r>
                        <a:rPr lang="en-IN" sz="1400">
                          <a:effectLst/>
                        </a:rPr>
                        <a:t>CO1</a:t>
                      </a:r>
                      <a:endParaRPr lang="en-US" sz="1400">
                        <a:effectLst/>
                        <a:latin typeface="Calibri" panose="020F0502020204030204" pitchFamily="34" charset="0"/>
                        <a:ea typeface="Calibri" panose="020F0502020204030204" pitchFamily="34" charset="0"/>
                      </a:endParaRPr>
                    </a:p>
                  </a:txBody>
                  <a:tcPr marL="58801" marR="58801" marT="0" marB="0"/>
                </a:tc>
                <a:tc>
                  <a:txBody>
                    <a:bodyPr/>
                    <a:lstStyle/>
                    <a:p>
                      <a:pPr algn="ctr">
                        <a:lnSpc>
                          <a:spcPct val="107000"/>
                        </a:lnSpc>
                        <a:spcAft>
                          <a:spcPts val="800"/>
                        </a:spcAft>
                      </a:pPr>
                      <a:r>
                        <a:rPr lang="en-IN" sz="1400" dirty="0">
                          <a:effectLst/>
                        </a:rPr>
                        <a:t>2</a:t>
                      </a:r>
                      <a:endParaRPr lang="en-US" sz="1400" dirty="0">
                        <a:effectLst/>
                        <a:latin typeface="Calibri" panose="020F0502020204030204" pitchFamily="34" charset="0"/>
                        <a:ea typeface="Calibri" panose="020F0502020204030204" pitchFamily="34" charset="0"/>
                      </a:endParaRPr>
                    </a:p>
                  </a:txBody>
                  <a:tcPr marL="58801" marR="58801" marT="0" marB="0" anchor="ctr"/>
                </a:tc>
                <a:tc>
                  <a:txBody>
                    <a:bodyPr/>
                    <a:lstStyle/>
                    <a:p>
                      <a:pPr algn="ctr">
                        <a:lnSpc>
                          <a:spcPct val="107000"/>
                        </a:lnSpc>
                        <a:spcAft>
                          <a:spcPts val="800"/>
                        </a:spcAft>
                      </a:pPr>
                      <a:r>
                        <a:rPr lang="en-IN" sz="1400" dirty="0">
                          <a:effectLst/>
                        </a:rPr>
                        <a:t> -</a:t>
                      </a:r>
                      <a:endParaRPr lang="en-US" sz="1400" dirty="0">
                        <a:effectLst/>
                        <a:latin typeface="Calibri" panose="020F0502020204030204" pitchFamily="34" charset="0"/>
                        <a:ea typeface="Calibri" panose="020F0502020204030204" pitchFamily="34" charset="0"/>
                      </a:endParaRPr>
                    </a:p>
                  </a:txBody>
                  <a:tcPr marL="58801" marR="58801" marT="0" marB="0" anchor="ctr"/>
                </a:tc>
                <a:tc>
                  <a:txBody>
                    <a:bodyPr/>
                    <a:lstStyle/>
                    <a:p>
                      <a:pPr marL="0" marR="0" lvl="0" indent="0" algn="ctr" defTabSz="457200" rtl="0" eaLnBrk="1" fontAlgn="auto" latinLnBrk="0" hangingPunct="1">
                        <a:lnSpc>
                          <a:spcPct val="107000"/>
                        </a:lnSpc>
                        <a:spcBef>
                          <a:spcPts val="0"/>
                        </a:spcBef>
                        <a:spcAft>
                          <a:spcPts val="800"/>
                        </a:spcAft>
                        <a:buClrTx/>
                        <a:buSzTx/>
                        <a:buFontTx/>
                        <a:buNone/>
                        <a:tabLst/>
                        <a:defRPr/>
                      </a:pPr>
                      <a:r>
                        <a:rPr kumimoji="0" lang="en-IN" sz="1400" b="0" i="0" u="none" strike="noStrike" kern="1200" cap="none" spc="0" normalizeH="0" baseline="0" noProof="0">
                          <a:ln>
                            <a:noFill/>
                          </a:ln>
                          <a:solidFill>
                            <a:prstClr val="black"/>
                          </a:solidFill>
                          <a:effectLst/>
                          <a:uLnTx/>
                          <a:uFillTx/>
                          <a:latin typeface="Century Gothic" panose="020B0502020202020204"/>
                          <a:ea typeface="+mn-ea"/>
                          <a:cs typeface="+mn-cs"/>
                        </a:rPr>
                        <a:t>-</a:t>
                      </a:r>
                      <a:endParaRPr kumimoji="0" lang="en-US" sz="14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mn-cs"/>
                      </a:endParaRPr>
                    </a:p>
                  </a:txBody>
                  <a:tcPr marL="58801" marR="58801" marT="0" marB="0" anchor="ctr"/>
                </a:tc>
                <a:tc>
                  <a:txBody>
                    <a:bodyPr/>
                    <a:lstStyle/>
                    <a:p>
                      <a:pPr marL="0" marR="0" lvl="0" indent="0" algn="ctr" defTabSz="457200" rtl="0" eaLnBrk="1" fontAlgn="auto" latinLnBrk="0" hangingPunct="1">
                        <a:lnSpc>
                          <a:spcPct val="107000"/>
                        </a:lnSpc>
                        <a:spcBef>
                          <a:spcPts val="0"/>
                        </a:spcBef>
                        <a:spcAft>
                          <a:spcPts val="800"/>
                        </a:spcAft>
                        <a:buClrTx/>
                        <a:buSzTx/>
                        <a:buFontTx/>
                        <a:buNone/>
                        <a:tabLst/>
                        <a:defRPr/>
                      </a:pPr>
                      <a:r>
                        <a:rPr kumimoji="0" lang="en-IN" sz="1400" b="0" i="0" u="none" strike="noStrike" kern="1200" cap="none" spc="0" normalizeH="0" baseline="0" noProof="0" dirty="0">
                          <a:ln>
                            <a:noFill/>
                          </a:ln>
                          <a:solidFill>
                            <a:prstClr val="black"/>
                          </a:solidFill>
                          <a:effectLst/>
                          <a:uLnTx/>
                          <a:uFillTx/>
                          <a:latin typeface="Century Gothic" panose="020B0502020202020204"/>
                          <a:ea typeface="+mn-ea"/>
                          <a:cs typeface="+mn-cs"/>
                        </a:rPr>
                        <a:t>-</a:t>
                      </a:r>
                      <a:endParaRPr kumimoji="0" lang="en-US" sz="14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mn-cs"/>
                      </a:endParaRPr>
                    </a:p>
                  </a:txBody>
                  <a:tcPr marL="58801" marR="58801" marT="0" marB="0" anchor="ctr"/>
                </a:tc>
                <a:tc>
                  <a:txBody>
                    <a:bodyPr/>
                    <a:lstStyle/>
                    <a:p>
                      <a:pPr algn="ctr">
                        <a:lnSpc>
                          <a:spcPct val="107000"/>
                        </a:lnSpc>
                        <a:spcAft>
                          <a:spcPts val="800"/>
                        </a:spcAft>
                      </a:pPr>
                      <a:r>
                        <a:rPr lang="en-IN" sz="1400">
                          <a:effectLst/>
                        </a:rPr>
                        <a:t>2</a:t>
                      </a:r>
                      <a:endParaRPr lang="en-US" sz="1400">
                        <a:effectLst/>
                        <a:latin typeface="Calibri" panose="020F0502020204030204" pitchFamily="34" charset="0"/>
                        <a:ea typeface="Calibri" panose="020F0502020204030204" pitchFamily="34" charset="0"/>
                      </a:endParaRPr>
                    </a:p>
                  </a:txBody>
                  <a:tcPr marL="58801" marR="58801" marT="0" marB="0" anchor="ctr"/>
                </a:tc>
                <a:tc>
                  <a:txBody>
                    <a:bodyPr/>
                    <a:lstStyle/>
                    <a:p>
                      <a:pPr algn="ctr">
                        <a:lnSpc>
                          <a:spcPct val="107000"/>
                        </a:lnSpc>
                        <a:spcAft>
                          <a:spcPts val="800"/>
                        </a:spcAft>
                      </a:pPr>
                      <a:r>
                        <a:rPr lang="en-IN" sz="1400">
                          <a:effectLst/>
                        </a:rPr>
                        <a:t>1</a:t>
                      </a:r>
                      <a:endParaRPr lang="en-US" sz="1400">
                        <a:effectLst/>
                        <a:latin typeface="Calibri" panose="020F0502020204030204" pitchFamily="34" charset="0"/>
                        <a:ea typeface="Calibri" panose="020F0502020204030204" pitchFamily="34" charset="0"/>
                      </a:endParaRPr>
                    </a:p>
                  </a:txBody>
                  <a:tcPr marL="58801" marR="58801" marT="0" marB="0" anchor="ctr"/>
                </a:tc>
                <a:tc>
                  <a:txBody>
                    <a:bodyPr/>
                    <a:lstStyle/>
                    <a:p>
                      <a:pPr marL="0" marR="0" lvl="0" indent="0" algn="ctr" defTabSz="457200" rtl="0" eaLnBrk="1" fontAlgn="auto" latinLnBrk="0" hangingPunct="1">
                        <a:lnSpc>
                          <a:spcPct val="107000"/>
                        </a:lnSpc>
                        <a:spcBef>
                          <a:spcPts val="0"/>
                        </a:spcBef>
                        <a:spcAft>
                          <a:spcPts val="800"/>
                        </a:spcAft>
                        <a:buClrTx/>
                        <a:buSzTx/>
                        <a:buFontTx/>
                        <a:buNone/>
                        <a:tabLst/>
                        <a:defRPr/>
                      </a:pPr>
                      <a:r>
                        <a:rPr kumimoji="0" lang="en-IN" sz="1400" b="0" i="0" u="none" strike="noStrike" kern="1200" cap="none" spc="0" normalizeH="0" baseline="0" noProof="0">
                          <a:ln>
                            <a:noFill/>
                          </a:ln>
                          <a:solidFill>
                            <a:prstClr val="black"/>
                          </a:solidFill>
                          <a:effectLst/>
                          <a:uLnTx/>
                          <a:uFillTx/>
                          <a:latin typeface="Century Gothic" panose="020B0502020202020204"/>
                          <a:ea typeface="+mn-ea"/>
                          <a:cs typeface="+mn-cs"/>
                        </a:rPr>
                        <a:t>-</a:t>
                      </a:r>
                      <a:endParaRPr kumimoji="0" lang="en-US" sz="14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mn-cs"/>
                      </a:endParaRPr>
                    </a:p>
                  </a:txBody>
                  <a:tcPr marL="58801" marR="58801" marT="0" marB="0" anchor="ctr"/>
                </a:tc>
                <a:tc>
                  <a:txBody>
                    <a:bodyPr/>
                    <a:lstStyle/>
                    <a:p>
                      <a:pPr marL="0" marR="0" lvl="0" indent="0" algn="ctr" defTabSz="457200" rtl="0" eaLnBrk="1" fontAlgn="auto" latinLnBrk="0" hangingPunct="1">
                        <a:lnSpc>
                          <a:spcPct val="107000"/>
                        </a:lnSpc>
                        <a:spcBef>
                          <a:spcPts val="0"/>
                        </a:spcBef>
                        <a:spcAft>
                          <a:spcPts val="800"/>
                        </a:spcAft>
                        <a:buClrTx/>
                        <a:buSzTx/>
                        <a:buFontTx/>
                        <a:buNone/>
                        <a:tabLst/>
                        <a:defRPr/>
                      </a:pPr>
                      <a:r>
                        <a:rPr kumimoji="0" lang="en-IN" sz="1400" b="0" i="0" u="none" strike="noStrike" kern="1200" cap="none" spc="0" normalizeH="0" baseline="0" noProof="0">
                          <a:ln>
                            <a:noFill/>
                          </a:ln>
                          <a:solidFill>
                            <a:prstClr val="black"/>
                          </a:solidFill>
                          <a:effectLst/>
                          <a:uLnTx/>
                          <a:uFillTx/>
                          <a:latin typeface="Century Gothic" panose="020B0502020202020204"/>
                          <a:ea typeface="+mn-ea"/>
                          <a:cs typeface="+mn-cs"/>
                        </a:rPr>
                        <a:t>-</a:t>
                      </a:r>
                      <a:endParaRPr kumimoji="0" lang="en-US" sz="14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mn-cs"/>
                      </a:endParaRPr>
                    </a:p>
                  </a:txBody>
                  <a:tcPr marL="58801" marR="58801" marT="0" marB="0" anchor="ctr"/>
                </a:tc>
                <a:tc>
                  <a:txBody>
                    <a:bodyPr/>
                    <a:lstStyle/>
                    <a:p>
                      <a:pPr algn="ctr">
                        <a:lnSpc>
                          <a:spcPct val="107000"/>
                        </a:lnSpc>
                        <a:spcAft>
                          <a:spcPts val="800"/>
                        </a:spcAft>
                      </a:pPr>
                      <a:r>
                        <a:rPr lang="en-IN" sz="1400">
                          <a:effectLst/>
                        </a:rPr>
                        <a:t>1</a:t>
                      </a:r>
                      <a:endParaRPr lang="en-US" sz="1400">
                        <a:effectLst/>
                        <a:latin typeface="Calibri" panose="020F0502020204030204" pitchFamily="34" charset="0"/>
                        <a:ea typeface="Calibri" panose="020F0502020204030204" pitchFamily="34" charset="0"/>
                      </a:endParaRPr>
                    </a:p>
                  </a:txBody>
                  <a:tcPr marL="58801" marR="58801" marT="0" marB="0" anchor="ctr"/>
                </a:tc>
                <a:tc>
                  <a:txBody>
                    <a:bodyPr/>
                    <a:lstStyle/>
                    <a:p>
                      <a:pPr algn="ctr">
                        <a:lnSpc>
                          <a:spcPct val="107000"/>
                        </a:lnSpc>
                        <a:spcAft>
                          <a:spcPts val="800"/>
                        </a:spcAft>
                      </a:pPr>
                      <a:r>
                        <a:rPr lang="en-IN" sz="1400">
                          <a:effectLst/>
                        </a:rPr>
                        <a:t>1</a:t>
                      </a:r>
                      <a:endParaRPr lang="en-US" sz="1400">
                        <a:effectLst/>
                        <a:latin typeface="Calibri" panose="020F0502020204030204" pitchFamily="34" charset="0"/>
                        <a:ea typeface="Calibri" panose="020F0502020204030204" pitchFamily="34" charset="0"/>
                      </a:endParaRPr>
                    </a:p>
                  </a:txBody>
                  <a:tcPr marL="58801" marR="58801" marT="0" marB="0" anchor="ctr"/>
                </a:tc>
                <a:tc>
                  <a:txBody>
                    <a:bodyPr/>
                    <a:lstStyle/>
                    <a:p>
                      <a:pPr marL="0" marR="0" lvl="0" indent="0" algn="ctr" defTabSz="457200" rtl="0" eaLnBrk="1" fontAlgn="auto" latinLnBrk="0" hangingPunct="1">
                        <a:lnSpc>
                          <a:spcPct val="107000"/>
                        </a:lnSpc>
                        <a:spcBef>
                          <a:spcPts val="0"/>
                        </a:spcBef>
                        <a:spcAft>
                          <a:spcPts val="800"/>
                        </a:spcAft>
                        <a:buClrTx/>
                        <a:buSzTx/>
                        <a:buFontTx/>
                        <a:buNone/>
                        <a:tabLst/>
                        <a:defRPr/>
                      </a:pPr>
                      <a:r>
                        <a:rPr kumimoji="0" lang="en-IN" sz="1400" b="0" i="0" u="none" strike="noStrike" kern="1200" cap="none" spc="0" normalizeH="0" baseline="0" noProof="0">
                          <a:ln>
                            <a:noFill/>
                          </a:ln>
                          <a:solidFill>
                            <a:prstClr val="black"/>
                          </a:solidFill>
                          <a:effectLst/>
                          <a:uLnTx/>
                          <a:uFillTx/>
                          <a:latin typeface="Century Gothic" panose="020B0502020202020204"/>
                          <a:ea typeface="+mn-ea"/>
                          <a:cs typeface="+mn-cs"/>
                        </a:rPr>
                        <a:t>-</a:t>
                      </a:r>
                      <a:endParaRPr kumimoji="0" lang="en-US" sz="14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mn-cs"/>
                      </a:endParaRPr>
                    </a:p>
                  </a:txBody>
                  <a:tcPr marL="58801" marR="58801" marT="0" marB="0" anchor="ctr"/>
                </a:tc>
                <a:tc>
                  <a:txBody>
                    <a:bodyPr/>
                    <a:lstStyle/>
                    <a:p>
                      <a:pPr marL="0" marR="0" lvl="0" indent="0" algn="ctr" defTabSz="457200" rtl="0" eaLnBrk="1" fontAlgn="auto" latinLnBrk="0" hangingPunct="1">
                        <a:lnSpc>
                          <a:spcPct val="107000"/>
                        </a:lnSpc>
                        <a:spcBef>
                          <a:spcPts val="0"/>
                        </a:spcBef>
                        <a:spcAft>
                          <a:spcPts val="800"/>
                        </a:spcAft>
                        <a:buClrTx/>
                        <a:buSzTx/>
                        <a:buFontTx/>
                        <a:buNone/>
                        <a:tabLst/>
                        <a:defRPr/>
                      </a:pPr>
                      <a:r>
                        <a:rPr kumimoji="0" lang="en-IN" sz="1400" b="0" i="0" u="none" strike="noStrike" kern="1200" cap="none" spc="0" normalizeH="0" baseline="0" noProof="0">
                          <a:ln>
                            <a:noFill/>
                          </a:ln>
                          <a:solidFill>
                            <a:prstClr val="black"/>
                          </a:solidFill>
                          <a:effectLst/>
                          <a:uLnTx/>
                          <a:uFillTx/>
                          <a:latin typeface="Century Gothic" panose="020B0502020202020204"/>
                          <a:ea typeface="+mn-ea"/>
                          <a:cs typeface="+mn-cs"/>
                        </a:rPr>
                        <a:t>-</a:t>
                      </a:r>
                      <a:endParaRPr kumimoji="0" lang="en-US" sz="14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mn-cs"/>
                      </a:endParaRPr>
                    </a:p>
                  </a:txBody>
                  <a:tcPr marL="58801" marR="58801" marT="0" marB="0" anchor="ctr"/>
                </a:tc>
                <a:tc>
                  <a:txBody>
                    <a:bodyPr/>
                    <a:lstStyle/>
                    <a:p>
                      <a:pPr algn="ctr">
                        <a:lnSpc>
                          <a:spcPct val="107000"/>
                        </a:lnSpc>
                        <a:spcAft>
                          <a:spcPts val="800"/>
                        </a:spcAft>
                      </a:pPr>
                      <a:r>
                        <a:rPr lang="en-IN" sz="1400">
                          <a:effectLst/>
                        </a:rPr>
                        <a:t>2</a:t>
                      </a:r>
                      <a:endParaRPr lang="en-US" sz="1400">
                        <a:effectLst/>
                        <a:latin typeface="Calibri" panose="020F0502020204030204" pitchFamily="34" charset="0"/>
                        <a:ea typeface="Calibri" panose="020F0502020204030204" pitchFamily="34" charset="0"/>
                      </a:endParaRPr>
                    </a:p>
                  </a:txBody>
                  <a:tcPr marL="58801" marR="58801" marT="0" marB="0" anchor="ctr"/>
                </a:tc>
                <a:tc>
                  <a:txBody>
                    <a:bodyPr/>
                    <a:lstStyle/>
                    <a:p>
                      <a:pPr algn="ctr">
                        <a:lnSpc>
                          <a:spcPct val="107000"/>
                        </a:lnSpc>
                        <a:spcAft>
                          <a:spcPts val="800"/>
                        </a:spcAft>
                      </a:pPr>
                      <a:r>
                        <a:rPr lang="en-IN" sz="1400">
                          <a:effectLst/>
                        </a:rPr>
                        <a:t>2</a:t>
                      </a:r>
                      <a:endParaRPr lang="en-US" sz="1400">
                        <a:effectLst/>
                        <a:latin typeface="Calibri" panose="020F0502020204030204" pitchFamily="34" charset="0"/>
                        <a:ea typeface="Calibri" panose="020F0502020204030204" pitchFamily="34" charset="0"/>
                      </a:endParaRPr>
                    </a:p>
                  </a:txBody>
                  <a:tcPr marL="58801" marR="58801" marT="0" marB="0" anchor="ctr"/>
                </a:tc>
                <a:tc>
                  <a:txBody>
                    <a:bodyPr/>
                    <a:lstStyle/>
                    <a:p>
                      <a:pPr algn="ctr">
                        <a:lnSpc>
                          <a:spcPct val="107000"/>
                        </a:lnSpc>
                        <a:spcAft>
                          <a:spcPts val="800"/>
                        </a:spcAft>
                      </a:pPr>
                      <a:r>
                        <a:rPr lang="en-IN" sz="1400">
                          <a:effectLst/>
                        </a:rPr>
                        <a:t>2</a:t>
                      </a:r>
                      <a:endParaRPr lang="en-US" sz="1400">
                        <a:effectLst/>
                        <a:latin typeface="Calibri" panose="020F0502020204030204" pitchFamily="34" charset="0"/>
                        <a:ea typeface="Calibri" panose="020F0502020204030204" pitchFamily="34" charset="0"/>
                      </a:endParaRPr>
                    </a:p>
                  </a:txBody>
                  <a:tcPr marL="58801" marR="58801" marT="0" marB="0" anchor="ctr"/>
                </a:tc>
                <a:extLst>
                  <a:ext uri="{0D108BD9-81ED-4DB2-BD59-A6C34878D82A}">
                    <a16:rowId xmlns:a16="http://schemas.microsoft.com/office/drawing/2014/main" val="2221781865"/>
                  </a:ext>
                </a:extLst>
              </a:tr>
              <a:tr h="581110">
                <a:tc>
                  <a:txBody>
                    <a:bodyPr/>
                    <a:lstStyle/>
                    <a:p>
                      <a:pPr algn="ctr">
                        <a:lnSpc>
                          <a:spcPct val="107000"/>
                        </a:lnSpc>
                        <a:spcAft>
                          <a:spcPts val="800"/>
                        </a:spcAft>
                      </a:pPr>
                      <a:r>
                        <a:rPr lang="en-IN" sz="1400">
                          <a:effectLst/>
                        </a:rPr>
                        <a:t>CO2</a:t>
                      </a:r>
                      <a:endParaRPr lang="en-US" sz="1400">
                        <a:effectLst/>
                        <a:latin typeface="Calibri" panose="020F0502020204030204" pitchFamily="34" charset="0"/>
                        <a:ea typeface="Calibri" panose="020F0502020204030204" pitchFamily="34" charset="0"/>
                      </a:endParaRPr>
                    </a:p>
                  </a:txBody>
                  <a:tcPr marL="58801" marR="58801" marT="0" marB="0"/>
                </a:tc>
                <a:tc>
                  <a:txBody>
                    <a:bodyPr/>
                    <a:lstStyle/>
                    <a:p>
                      <a:pPr algn="ctr">
                        <a:lnSpc>
                          <a:spcPct val="107000"/>
                        </a:lnSpc>
                        <a:spcAft>
                          <a:spcPts val="800"/>
                        </a:spcAft>
                      </a:pPr>
                      <a:r>
                        <a:rPr lang="en-IN" sz="1400" dirty="0">
                          <a:effectLst/>
                        </a:rPr>
                        <a:t>3</a:t>
                      </a:r>
                      <a:endParaRPr lang="en-US" sz="1400" dirty="0">
                        <a:effectLst/>
                        <a:latin typeface="Calibri" panose="020F0502020204030204" pitchFamily="34" charset="0"/>
                        <a:ea typeface="Calibri" panose="020F0502020204030204" pitchFamily="34" charset="0"/>
                      </a:endParaRPr>
                    </a:p>
                  </a:txBody>
                  <a:tcPr marL="58801" marR="58801" marT="0" marB="0" anchor="ctr"/>
                </a:tc>
                <a:tc>
                  <a:txBody>
                    <a:bodyPr/>
                    <a:lstStyle/>
                    <a:p>
                      <a:pPr algn="ctr">
                        <a:lnSpc>
                          <a:spcPct val="107000"/>
                        </a:lnSpc>
                        <a:spcAft>
                          <a:spcPts val="800"/>
                        </a:spcAft>
                      </a:pPr>
                      <a:r>
                        <a:rPr lang="en-IN" sz="1400" dirty="0">
                          <a:effectLst/>
                        </a:rPr>
                        <a:t>2</a:t>
                      </a:r>
                      <a:endParaRPr lang="en-US" sz="1400" dirty="0">
                        <a:effectLst/>
                        <a:latin typeface="Calibri" panose="020F0502020204030204" pitchFamily="34" charset="0"/>
                        <a:ea typeface="Calibri" panose="020F0502020204030204" pitchFamily="34" charset="0"/>
                      </a:endParaRPr>
                    </a:p>
                  </a:txBody>
                  <a:tcPr marL="58801" marR="58801" marT="0" marB="0" anchor="ctr"/>
                </a:tc>
                <a:tc>
                  <a:txBody>
                    <a:bodyPr/>
                    <a:lstStyle/>
                    <a:p>
                      <a:pPr marL="0" marR="0" lvl="0" indent="0" algn="ctr" defTabSz="457200" rtl="0" eaLnBrk="1" fontAlgn="auto" latinLnBrk="0" hangingPunct="1">
                        <a:lnSpc>
                          <a:spcPct val="107000"/>
                        </a:lnSpc>
                        <a:spcBef>
                          <a:spcPts val="0"/>
                        </a:spcBef>
                        <a:spcAft>
                          <a:spcPts val="800"/>
                        </a:spcAft>
                        <a:buClrTx/>
                        <a:buSzTx/>
                        <a:buFontTx/>
                        <a:buNone/>
                        <a:tabLst/>
                        <a:defRPr/>
                      </a:pPr>
                      <a:r>
                        <a:rPr kumimoji="0" lang="en-IN" sz="1400" b="0" i="0" u="none" strike="noStrike" kern="1200" cap="none" spc="0" normalizeH="0" baseline="0" noProof="0">
                          <a:ln>
                            <a:noFill/>
                          </a:ln>
                          <a:solidFill>
                            <a:prstClr val="black"/>
                          </a:solidFill>
                          <a:effectLst/>
                          <a:uLnTx/>
                          <a:uFillTx/>
                          <a:latin typeface="Century Gothic" panose="020B0502020202020204"/>
                          <a:ea typeface="+mn-ea"/>
                          <a:cs typeface="+mn-cs"/>
                        </a:rPr>
                        <a:t>-</a:t>
                      </a:r>
                      <a:endParaRPr kumimoji="0" lang="en-US" sz="14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mn-cs"/>
                      </a:endParaRPr>
                    </a:p>
                  </a:txBody>
                  <a:tcPr marL="58801" marR="58801" marT="0" marB="0" anchor="ctr"/>
                </a:tc>
                <a:tc>
                  <a:txBody>
                    <a:bodyPr/>
                    <a:lstStyle/>
                    <a:p>
                      <a:pPr marL="0" marR="0" lvl="0" indent="0" algn="ctr" defTabSz="457200" rtl="0" eaLnBrk="1" fontAlgn="auto" latinLnBrk="0" hangingPunct="1">
                        <a:lnSpc>
                          <a:spcPct val="107000"/>
                        </a:lnSpc>
                        <a:spcBef>
                          <a:spcPts val="0"/>
                        </a:spcBef>
                        <a:spcAft>
                          <a:spcPts val="800"/>
                        </a:spcAft>
                        <a:buClrTx/>
                        <a:buSzTx/>
                        <a:buFontTx/>
                        <a:buNone/>
                        <a:tabLst/>
                        <a:defRPr/>
                      </a:pPr>
                      <a:r>
                        <a:rPr kumimoji="0" lang="en-IN" sz="1400" b="0" i="0" u="none" strike="noStrike" kern="1200" cap="none" spc="0" normalizeH="0" baseline="0" noProof="0">
                          <a:ln>
                            <a:noFill/>
                          </a:ln>
                          <a:solidFill>
                            <a:prstClr val="black"/>
                          </a:solidFill>
                          <a:effectLst/>
                          <a:uLnTx/>
                          <a:uFillTx/>
                          <a:latin typeface="Century Gothic" panose="020B0502020202020204"/>
                          <a:ea typeface="+mn-ea"/>
                          <a:cs typeface="+mn-cs"/>
                        </a:rPr>
                        <a:t>-</a:t>
                      </a:r>
                      <a:endParaRPr kumimoji="0" lang="en-US" sz="14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mn-cs"/>
                      </a:endParaRPr>
                    </a:p>
                  </a:txBody>
                  <a:tcPr marL="58801" marR="58801" marT="0" marB="0" anchor="ctr"/>
                </a:tc>
                <a:tc>
                  <a:txBody>
                    <a:bodyPr/>
                    <a:lstStyle/>
                    <a:p>
                      <a:pPr algn="ctr">
                        <a:lnSpc>
                          <a:spcPct val="107000"/>
                        </a:lnSpc>
                        <a:spcAft>
                          <a:spcPts val="800"/>
                        </a:spcAft>
                      </a:pPr>
                      <a:r>
                        <a:rPr lang="en-IN" sz="1400">
                          <a:effectLst/>
                        </a:rPr>
                        <a:t>2</a:t>
                      </a:r>
                      <a:endParaRPr lang="en-US" sz="1400">
                        <a:effectLst/>
                        <a:latin typeface="Calibri" panose="020F0502020204030204" pitchFamily="34" charset="0"/>
                        <a:ea typeface="Calibri" panose="020F0502020204030204" pitchFamily="34" charset="0"/>
                      </a:endParaRPr>
                    </a:p>
                  </a:txBody>
                  <a:tcPr marL="58801" marR="58801" marT="0" marB="0" anchor="ctr"/>
                </a:tc>
                <a:tc>
                  <a:txBody>
                    <a:bodyPr/>
                    <a:lstStyle/>
                    <a:p>
                      <a:pPr algn="ctr">
                        <a:lnSpc>
                          <a:spcPct val="107000"/>
                        </a:lnSpc>
                        <a:spcAft>
                          <a:spcPts val="800"/>
                        </a:spcAft>
                      </a:pPr>
                      <a:r>
                        <a:rPr lang="en-IN" sz="1400">
                          <a:effectLst/>
                        </a:rPr>
                        <a:t>1</a:t>
                      </a:r>
                      <a:endParaRPr lang="en-US" sz="1400">
                        <a:effectLst/>
                        <a:latin typeface="Calibri" panose="020F0502020204030204" pitchFamily="34" charset="0"/>
                        <a:ea typeface="Calibri" panose="020F0502020204030204" pitchFamily="34" charset="0"/>
                      </a:endParaRPr>
                    </a:p>
                  </a:txBody>
                  <a:tcPr marL="58801" marR="58801" marT="0" marB="0" anchor="ctr"/>
                </a:tc>
                <a:tc>
                  <a:txBody>
                    <a:bodyPr/>
                    <a:lstStyle/>
                    <a:p>
                      <a:pPr marL="0" marR="0" lvl="0" indent="0" algn="ctr" defTabSz="457200" rtl="0" eaLnBrk="1" fontAlgn="auto" latinLnBrk="0" hangingPunct="1">
                        <a:lnSpc>
                          <a:spcPct val="107000"/>
                        </a:lnSpc>
                        <a:spcBef>
                          <a:spcPts val="0"/>
                        </a:spcBef>
                        <a:spcAft>
                          <a:spcPts val="800"/>
                        </a:spcAft>
                        <a:buClrTx/>
                        <a:buSzTx/>
                        <a:buFontTx/>
                        <a:buNone/>
                        <a:tabLst/>
                        <a:defRPr/>
                      </a:pPr>
                      <a:r>
                        <a:rPr kumimoji="0" lang="en-IN" sz="1400" b="0" i="0" u="none" strike="noStrike" kern="1200" cap="none" spc="0" normalizeH="0" baseline="0" noProof="0">
                          <a:ln>
                            <a:noFill/>
                          </a:ln>
                          <a:solidFill>
                            <a:prstClr val="black"/>
                          </a:solidFill>
                          <a:effectLst/>
                          <a:uLnTx/>
                          <a:uFillTx/>
                          <a:latin typeface="Century Gothic" panose="020B0502020202020204"/>
                          <a:ea typeface="+mn-ea"/>
                          <a:cs typeface="+mn-cs"/>
                        </a:rPr>
                        <a:t>-</a:t>
                      </a:r>
                      <a:endParaRPr kumimoji="0" lang="en-US" sz="14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mn-cs"/>
                      </a:endParaRPr>
                    </a:p>
                  </a:txBody>
                  <a:tcPr marL="58801" marR="58801" marT="0" marB="0" anchor="ctr"/>
                </a:tc>
                <a:tc>
                  <a:txBody>
                    <a:bodyPr/>
                    <a:lstStyle/>
                    <a:p>
                      <a:pPr marL="0" marR="0" lvl="0" indent="0" algn="ctr" defTabSz="457200" rtl="0" eaLnBrk="1" fontAlgn="auto" latinLnBrk="0" hangingPunct="1">
                        <a:lnSpc>
                          <a:spcPct val="107000"/>
                        </a:lnSpc>
                        <a:spcBef>
                          <a:spcPts val="0"/>
                        </a:spcBef>
                        <a:spcAft>
                          <a:spcPts val="800"/>
                        </a:spcAft>
                        <a:buClrTx/>
                        <a:buSzTx/>
                        <a:buFontTx/>
                        <a:buNone/>
                        <a:tabLst/>
                        <a:defRPr/>
                      </a:pPr>
                      <a:r>
                        <a:rPr kumimoji="0" lang="en-IN" sz="1400" b="0" i="0" u="none" strike="noStrike" kern="1200" cap="none" spc="0" normalizeH="0" baseline="0" noProof="0">
                          <a:ln>
                            <a:noFill/>
                          </a:ln>
                          <a:solidFill>
                            <a:prstClr val="black"/>
                          </a:solidFill>
                          <a:effectLst/>
                          <a:uLnTx/>
                          <a:uFillTx/>
                          <a:latin typeface="Century Gothic" panose="020B0502020202020204"/>
                          <a:ea typeface="+mn-ea"/>
                          <a:cs typeface="+mn-cs"/>
                        </a:rPr>
                        <a:t>-</a:t>
                      </a:r>
                      <a:endParaRPr kumimoji="0" lang="en-US" sz="14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mn-cs"/>
                      </a:endParaRPr>
                    </a:p>
                  </a:txBody>
                  <a:tcPr marL="58801" marR="58801" marT="0" marB="0" anchor="ctr"/>
                </a:tc>
                <a:tc>
                  <a:txBody>
                    <a:bodyPr/>
                    <a:lstStyle/>
                    <a:p>
                      <a:pPr algn="ctr">
                        <a:lnSpc>
                          <a:spcPct val="107000"/>
                        </a:lnSpc>
                        <a:spcAft>
                          <a:spcPts val="800"/>
                        </a:spcAft>
                      </a:pPr>
                      <a:r>
                        <a:rPr lang="en-IN" sz="1400">
                          <a:effectLst/>
                        </a:rPr>
                        <a:t>1</a:t>
                      </a:r>
                      <a:endParaRPr lang="en-US" sz="1400">
                        <a:effectLst/>
                        <a:latin typeface="Calibri" panose="020F0502020204030204" pitchFamily="34" charset="0"/>
                        <a:ea typeface="Calibri" panose="020F0502020204030204" pitchFamily="34" charset="0"/>
                      </a:endParaRPr>
                    </a:p>
                  </a:txBody>
                  <a:tcPr marL="58801" marR="58801" marT="0" marB="0" anchor="ctr"/>
                </a:tc>
                <a:tc>
                  <a:txBody>
                    <a:bodyPr/>
                    <a:lstStyle/>
                    <a:p>
                      <a:pPr algn="ctr">
                        <a:lnSpc>
                          <a:spcPct val="107000"/>
                        </a:lnSpc>
                        <a:spcAft>
                          <a:spcPts val="800"/>
                        </a:spcAft>
                      </a:pPr>
                      <a:r>
                        <a:rPr lang="en-IN" sz="1400">
                          <a:effectLst/>
                        </a:rPr>
                        <a:t>1</a:t>
                      </a:r>
                      <a:endParaRPr lang="en-US" sz="1400">
                        <a:effectLst/>
                        <a:latin typeface="Calibri" panose="020F0502020204030204" pitchFamily="34" charset="0"/>
                        <a:ea typeface="Calibri" panose="020F0502020204030204" pitchFamily="34" charset="0"/>
                      </a:endParaRPr>
                    </a:p>
                  </a:txBody>
                  <a:tcPr marL="58801" marR="58801" marT="0" marB="0" anchor="ctr"/>
                </a:tc>
                <a:tc>
                  <a:txBody>
                    <a:bodyPr/>
                    <a:lstStyle/>
                    <a:p>
                      <a:pPr marL="0" marR="0" lvl="0" indent="0" algn="ctr" defTabSz="457200" rtl="0" eaLnBrk="1" fontAlgn="auto" latinLnBrk="0" hangingPunct="1">
                        <a:lnSpc>
                          <a:spcPct val="107000"/>
                        </a:lnSpc>
                        <a:spcBef>
                          <a:spcPts val="0"/>
                        </a:spcBef>
                        <a:spcAft>
                          <a:spcPts val="800"/>
                        </a:spcAft>
                        <a:buClrTx/>
                        <a:buSzTx/>
                        <a:buFontTx/>
                        <a:buNone/>
                        <a:tabLst/>
                        <a:defRPr/>
                      </a:pPr>
                      <a:r>
                        <a:rPr kumimoji="0" lang="en-IN" sz="1400" b="0" i="0" u="none" strike="noStrike" kern="1200" cap="none" spc="0" normalizeH="0" baseline="0" noProof="0">
                          <a:ln>
                            <a:noFill/>
                          </a:ln>
                          <a:solidFill>
                            <a:prstClr val="black"/>
                          </a:solidFill>
                          <a:effectLst/>
                          <a:uLnTx/>
                          <a:uFillTx/>
                          <a:latin typeface="Century Gothic" panose="020B0502020202020204"/>
                          <a:ea typeface="+mn-ea"/>
                          <a:cs typeface="+mn-cs"/>
                        </a:rPr>
                        <a:t>-</a:t>
                      </a:r>
                      <a:endParaRPr kumimoji="0" lang="en-US" sz="14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mn-cs"/>
                      </a:endParaRPr>
                    </a:p>
                  </a:txBody>
                  <a:tcPr marL="58801" marR="58801" marT="0" marB="0" anchor="ctr"/>
                </a:tc>
                <a:tc>
                  <a:txBody>
                    <a:bodyPr/>
                    <a:lstStyle/>
                    <a:p>
                      <a:pPr marL="0" marR="0" lvl="0" indent="0" algn="ctr" defTabSz="457200" rtl="0" eaLnBrk="1" fontAlgn="auto" latinLnBrk="0" hangingPunct="1">
                        <a:lnSpc>
                          <a:spcPct val="107000"/>
                        </a:lnSpc>
                        <a:spcBef>
                          <a:spcPts val="0"/>
                        </a:spcBef>
                        <a:spcAft>
                          <a:spcPts val="800"/>
                        </a:spcAft>
                        <a:buClrTx/>
                        <a:buSzTx/>
                        <a:buFontTx/>
                        <a:buNone/>
                        <a:tabLst/>
                        <a:defRPr/>
                      </a:pPr>
                      <a:r>
                        <a:rPr kumimoji="0" lang="en-IN" sz="1400" b="0" i="0" u="none" strike="noStrike" kern="1200" cap="none" spc="0" normalizeH="0" baseline="0" noProof="0">
                          <a:ln>
                            <a:noFill/>
                          </a:ln>
                          <a:solidFill>
                            <a:prstClr val="black"/>
                          </a:solidFill>
                          <a:effectLst/>
                          <a:uLnTx/>
                          <a:uFillTx/>
                          <a:latin typeface="Century Gothic" panose="020B0502020202020204"/>
                          <a:ea typeface="+mn-ea"/>
                          <a:cs typeface="+mn-cs"/>
                        </a:rPr>
                        <a:t>-</a:t>
                      </a:r>
                      <a:endParaRPr kumimoji="0" lang="en-US" sz="14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mn-cs"/>
                      </a:endParaRPr>
                    </a:p>
                  </a:txBody>
                  <a:tcPr marL="58801" marR="58801" marT="0" marB="0" anchor="ctr"/>
                </a:tc>
                <a:tc>
                  <a:txBody>
                    <a:bodyPr/>
                    <a:lstStyle/>
                    <a:p>
                      <a:pPr algn="ctr">
                        <a:lnSpc>
                          <a:spcPct val="107000"/>
                        </a:lnSpc>
                        <a:spcAft>
                          <a:spcPts val="800"/>
                        </a:spcAft>
                      </a:pPr>
                      <a:r>
                        <a:rPr lang="en-IN" sz="1400">
                          <a:effectLst/>
                        </a:rPr>
                        <a:t>2</a:t>
                      </a:r>
                      <a:endParaRPr lang="en-US" sz="1400">
                        <a:effectLst/>
                        <a:latin typeface="Calibri" panose="020F0502020204030204" pitchFamily="34" charset="0"/>
                        <a:ea typeface="Calibri" panose="020F0502020204030204" pitchFamily="34" charset="0"/>
                      </a:endParaRPr>
                    </a:p>
                  </a:txBody>
                  <a:tcPr marL="58801" marR="58801" marT="0" marB="0" anchor="ctr"/>
                </a:tc>
                <a:tc>
                  <a:txBody>
                    <a:bodyPr/>
                    <a:lstStyle/>
                    <a:p>
                      <a:pPr algn="ctr">
                        <a:lnSpc>
                          <a:spcPct val="107000"/>
                        </a:lnSpc>
                        <a:spcAft>
                          <a:spcPts val="800"/>
                        </a:spcAft>
                      </a:pPr>
                      <a:r>
                        <a:rPr lang="en-IN" sz="1400">
                          <a:effectLst/>
                        </a:rPr>
                        <a:t>2</a:t>
                      </a:r>
                      <a:endParaRPr lang="en-US" sz="1400">
                        <a:effectLst/>
                        <a:latin typeface="Calibri" panose="020F0502020204030204" pitchFamily="34" charset="0"/>
                        <a:ea typeface="Calibri" panose="020F0502020204030204" pitchFamily="34" charset="0"/>
                      </a:endParaRPr>
                    </a:p>
                  </a:txBody>
                  <a:tcPr marL="58801" marR="58801" marT="0" marB="0" anchor="ctr"/>
                </a:tc>
                <a:tc>
                  <a:txBody>
                    <a:bodyPr/>
                    <a:lstStyle/>
                    <a:p>
                      <a:pPr algn="ctr">
                        <a:lnSpc>
                          <a:spcPct val="107000"/>
                        </a:lnSpc>
                        <a:spcAft>
                          <a:spcPts val="800"/>
                        </a:spcAft>
                      </a:pPr>
                      <a:r>
                        <a:rPr lang="en-IN" sz="1400">
                          <a:effectLst/>
                        </a:rPr>
                        <a:t>2</a:t>
                      </a:r>
                      <a:endParaRPr lang="en-US" sz="1400">
                        <a:effectLst/>
                        <a:latin typeface="Calibri" panose="020F0502020204030204" pitchFamily="34" charset="0"/>
                        <a:ea typeface="Calibri" panose="020F0502020204030204" pitchFamily="34" charset="0"/>
                      </a:endParaRPr>
                    </a:p>
                  </a:txBody>
                  <a:tcPr marL="58801" marR="58801" marT="0" marB="0" anchor="ctr"/>
                </a:tc>
                <a:extLst>
                  <a:ext uri="{0D108BD9-81ED-4DB2-BD59-A6C34878D82A}">
                    <a16:rowId xmlns:a16="http://schemas.microsoft.com/office/drawing/2014/main" val="2404060517"/>
                  </a:ext>
                </a:extLst>
              </a:tr>
              <a:tr h="581110">
                <a:tc>
                  <a:txBody>
                    <a:bodyPr/>
                    <a:lstStyle/>
                    <a:p>
                      <a:pPr algn="ctr">
                        <a:lnSpc>
                          <a:spcPct val="107000"/>
                        </a:lnSpc>
                        <a:spcAft>
                          <a:spcPts val="800"/>
                        </a:spcAft>
                      </a:pPr>
                      <a:r>
                        <a:rPr lang="en-IN" sz="1400">
                          <a:effectLst/>
                        </a:rPr>
                        <a:t>CO3</a:t>
                      </a:r>
                      <a:endParaRPr lang="en-US" sz="1400">
                        <a:effectLst/>
                        <a:latin typeface="Calibri" panose="020F0502020204030204" pitchFamily="34" charset="0"/>
                        <a:ea typeface="Calibri" panose="020F0502020204030204" pitchFamily="34" charset="0"/>
                      </a:endParaRPr>
                    </a:p>
                  </a:txBody>
                  <a:tcPr marL="58801" marR="58801" marT="0" marB="0"/>
                </a:tc>
                <a:tc>
                  <a:txBody>
                    <a:bodyPr/>
                    <a:lstStyle/>
                    <a:p>
                      <a:pPr algn="ctr">
                        <a:lnSpc>
                          <a:spcPct val="107000"/>
                        </a:lnSpc>
                        <a:spcAft>
                          <a:spcPts val="800"/>
                        </a:spcAft>
                      </a:pPr>
                      <a:r>
                        <a:rPr lang="en-IN" sz="1400" dirty="0">
                          <a:effectLst/>
                        </a:rPr>
                        <a:t>3</a:t>
                      </a:r>
                      <a:endParaRPr lang="en-US" sz="1400" dirty="0">
                        <a:effectLst/>
                        <a:latin typeface="Calibri" panose="020F0502020204030204" pitchFamily="34" charset="0"/>
                        <a:ea typeface="Calibri" panose="020F0502020204030204" pitchFamily="34" charset="0"/>
                      </a:endParaRPr>
                    </a:p>
                  </a:txBody>
                  <a:tcPr marL="58801" marR="58801" marT="0" marB="0" anchor="ctr"/>
                </a:tc>
                <a:tc>
                  <a:txBody>
                    <a:bodyPr/>
                    <a:lstStyle/>
                    <a:p>
                      <a:pPr algn="ctr">
                        <a:lnSpc>
                          <a:spcPct val="107000"/>
                        </a:lnSpc>
                        <a:spcAft>
                          <a:spcPts val="800"/>
                        </a:spcAft>
                      </a:pPr>
                      <a:r>
                        <a:rPr lang="en-IN" sz="1400">
                          <a:effectLst/>
                        </a:rPr>
                        <a:t>2</a:t>
                      </a:r>
                      <a:endParaRPr lang="en-US" sz="1400">
                        <a:effectLst/>
                        <a:latin typeface="Calibri" panose="020F0502020204030204" pitchFamily="34" charset="0"/>
                        <a:ea typeface="Calibri" panose="020F0502020204030204" pitchFamily="34" charset="0"/>
                      </a:endParaRPr>
                    </a:p>
                  </a:txBody>
                  <a:tcPr marL="58801" marR="58801" marT="0" marB="0" anchor="ctr"/>
                </a:tc>
                <a:tc>
                  <a:txBody>
                    <a:bodyPr/>
                    <a:lstStyle/>
                    <a:p>
                      <a:pPr marL="0" marR="0" lvl="0" indent="0" algn="ctr" defTabSz="457200" rtl="0" eaLnBrk="1" fontAlgn="auto" latinLnBrk="0" hangingPunct="1">
                        <a:lnSpc>
                          <a:spcPct val="107000"/>
                        </a:lnSpc>
                        <a:spcBef>
                          <a:spcPts val="0"/>
                        </a:spcBef>
                        <a:spcAft>
                          <a:spcPts val="800"/>
                        </a:spcAft>
                        <a:buClrTx/>
                        <a:buSzTx/>
                        <a:buFontTx/>
                        <a:buNone/>
                        <a:tabLst/>
                        <a:defRPr/>
                      </a:pPr>
                      <a:r>
                        <a:rPr kumimoji="0" lang="en-IN" sz="1400" b="0" i="0" u="none" strike="noStrike" kern="1200" cap="none" spc="0" normalizeH="0" baseline="0" noProof="0">
                          <a:ln>
                            <a:noFill/>
                          </a:ln>
                          <a:solidFill>
                            <a:prstClr val="black"/>
                          </a:solidFill>
                          <a:effectLst/>
                          <a:uLnTx/>
                          <a:uFillTx/>
                          <a:latin typeface="Century Gothic" panose="020B0502020202020204"/>
                          <a:ea typeface="+mn-ea"/>
                          <a:cs typeface="+mn-cs"/>
                        </a:rPr>
                        <a:t>-</a:t>
                      </a:r>
                      <a:endParaRPr kumimoji="0" lang="en-US" sz="14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mn-cs"/>
                      </a:endParaRPr>
                    </a:p>
                  </a:txBody>
                  <a:tcPr marL="58801" marR="58801" marT="0" marB="0" anchor="ctr"/>
                </a:tc>
                <a:tc>
                  <a:txBody>
                    <a:bodyPr/>
                    <a:lstStyle/>
                    <a:p>
                      <a:pPr marL="0" marR="0" lvl="0" indent="0" algn="ctr" defTabSz="457200" rtl="0" eaLnBrk="1" fontAlgn="auto" latinLnBrk="0" hangingPunct="1">
                        <a:lnSpc>
                          <a:spcPct val="107000"/>
                        </a:lnSpc>
                        <a:spcBef>
                          <a:spcPts val="0"/>
                        </a:spcBef>
                        <a:spcAft>
                          <a:spcPts val="800"/>
                        </a:spcAft>
                        <a:buClrTx/>
                        <a:buSzTx/>
                        <a:buFontTx/>
                        <a:buNone/>
                        <a:tabLst/>
                        <a:defRPr/>
                      </a:pPr>
                      <a:r>
                        <a:rPr kumimoji="0" lang="en-IN" sz="1400" b="0" i="0" u="none" strike="noStrike" kern="1200" cap="none" spc="0" normalizeH="0" baseline="0" noProof="0">
                          <a:ln>
                            <a:noFill/>
                          </a:ln>
                          <a:solidFill>
                            <a:prstClr val="black"/>
                          </a:solidFill>
                          <a:effectLst/>
                          <a:uLnTx/>
                          <a:uFillTx/>
                          <a:latin typeface="Century Gothic" panose="020B0502020202020204"/>
                          <a:ea typeface="+mn-ea"/>
                          <a:cs typeface="+mn-cs"/>
                        </a:rPr>
                        <a:t>-</a:t>
                      </a:r>
                      <a:endParaRPr kumimoji="0" lang="en-US" sz="14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mn-cs"/>
                      </a:endParaRPr>
                    </a:p>
                  </a:txBody>
                  <a:tcPr marL="58801" marR="58801" marT="0" marB="0" anchor="ctr"/>
                </a:tc>
                <a:tc>
                  <a:txBody>
                    <a:bodyPr/>
                    <a:lstStyle/>
                    <a:p>
                      <a:pPr algn="ctr">
                        <a:lnSpc>
                          <a:spcPct val="107000"/>
                        </a:lnSpc>
                        <a:spcAft>
                          <a:spcPts val="800"/>
                        </a:spcAft>
                      </a:pPr>
                      <a:r>
                        <a:rPr lang="en-IN" sz="1400">
                          <a:effectLst/>
                        </a:rPr>
                        <a:t>2</a:t>
                      </a:r>
                      <a:endParaRPr lang="en-US" sz="1400">
                        <a:effectLst/>
                        <a:latin typeface="Calibri" panose="020F0502020204030204" pitchFamily="34" charset="0"/>
                        <a:ea typeface="Calibri" panose="020F0502020204030204" pitchFamily="34" charset="0"/>
                      </a:endParaRPr>
                    </a:p>
                  </a:txBody>
                  <a:tcPr marL="58801" marR="58801" marT="0" marB="0" anchor="ctr"/>
                </a:tc>
                <a:tc>
                  <a:txBody>
                    <a:bodyPr/>
                    <a:lstStyle/>
                    <a:p>
                      <a:pPr algn="ctr">
                        <a:lnSpc>
                          <a:spcPct val="107000"/>
                        </a:lnSpc>
                        <a:spcAft>
                          <a:spcPts val="800"/>
                        </a:spcAft>
                      </a:pPr>
                      <a:r>
                        <a:rPr lang="en-IN" sz="1400">
                          <a:effectLst/>
                        </a:rPr>
                        <a:t>1</a:t>
                      </a:r>
                      <a:endParaRPr lang="en-US" sz="1400">
                        <a:effectLst/>
                        <a:latin typeface="Calibri" panose="020F0502020204030204" pitchFamily="34" charset="0"/>
                        <a:ea typeface="Calibri" panose="020F0502020204030204" pitchFamily="34" charset="0"/>
                      </a:endParaRPr>
                    </a:p>
                  </a:txBody>
                  <a:tcPr marL="58801" marR="58801" marT="0" marB="0" anchor="ctr"/>
                </a:tc>
                <a:tc>
                  <a:txBody>
                    <a:bodyPr/>
                    <a:lstStyle/>
                    <a:p>
                      <a:pPr marL="0" marR="0" lvl="0" indent="0" algn="ctr" defTabSz="457200" rtl="0" eaLnBrk="1" fontAlgn="auto" latinLnBrk="0" hangingPunct="1">
                        <a:lnSpc>
                          <a:spcPct val="107000"/>
                        </a:lnSpc>
                        <a:spcBef>
                          <a:spcPts val="0"/>
                        </a:spcBef>
                        <a:spcAft>
                          <a:spcPts val="800"/>
                        </a:spcAft>
                        <a:buClrTx/>
                        <a:buSzTx/>
                        <a:buFontTx/>
                        <a:buNone/>
                        <a:tabLst/>
                        <a:defRPr/>
                      </a:pPr>
                      <a:r>
                        <a:rPr kumimoji="0" lang="en-IN" sz="1400" b="0" i="0" u="none" strike="noStrike" kern="1200" cap="none" spc="0" normalizeH="0" baseline="0" noProof="0">
                          <a:ln>
                            <a:noFill/>
                          </a:ln>
                          <a:solidFill>
                            <a:prstClr val="black"/>
                          </a:solidFill>
                          <a:effectLst/>
                          <a:uLnTx/>
                          <a:uFillTx/>
                          <a:latin typeface="Century Gothic" panose="020B0502020202020204"/>
                          <a:ea typeface="+mn-ea"/>
                          <a:cs typeface="+mn-cs"/>
                        </a:rPr>
                        <a:t>-</a:t>
                      </a:r>
                      <a:endParaRPr kumimoji="0" lang="en-US" sz="14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mn-cs"/>
                      </a:endParaRPr>
                    </a:p>
                  </a:txBody>
                  <a:tcPr marL="58801" marR="58801" marT="0" marB="0" anchor="ctr"/>
                </a:tc>
                <a:tc>
                  <a:txBody>
                    <a:bodyPr/>
                    <a:lstStyle/>
                    <a:p>
                      <a:pPr marL="0" marR="0" lvl="0" indent="0" algn="ctr" defTabSz="457200" rtl="0" eaLnBrk="1" fontAlgn="auto" latinLnBrk="0" hangingPunct="1">
                        <a:lnSpc>
                          <a:spcPct val="107000"/>
                        </a:lnSpc>
                        <a:spcBef>
                          <a:spcPts val="0"/>
                        </a:spcBef>
                        <a:spcAft>
                          <a:spcPts val="800"/>
                        </a:spcAft>
                        <a:buClrTx/>
                        <a:buSzTx/>
                        <a:buFontTx/>
                        <a:buNone/>
                        <a:tabLst/>
                        <a:defRPr/>
                      </a:pPr>
                      <a:r>
                        <a:rPr kumimoji="0" lang="en-IN" sz="1400" b="0" i="0" u="none" strike="noStrike" kern="1200" cap="none" spc="0" normalizeH="0" baseline="0" noProof="0">
                          <a:ln>
                            <a:noFill/>
                          </a:ln>
                          <a:solidFill>
                            <a:prstClr val="black"/>
                          </a:solidFill>
                          <a:effectLst/>
                          <a:uLnTx/>
                          <a:uFillTx/>
                          <a:latin typeface="Century Gothic" panose="020B0502020202020204"/>
                          <a:ea typeface="+mn-ea"/>
                          <a:cs typeface="+mn-cs"/>
                        </a:rPr>
                        <a:t>-</a:t>
                      </a:r>
                      <a:endParaRPr kumimoji="0" lang="en-US" sz="14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mn-cs"/>
                      </a:endParaRPr>
                    </a:p>
                  </a:txBody>
                  <a:tcPr marL="58801" marR="58801" marT="0" marB="0" anchor="ctr"/>
                </a:tc>
                <a:tc>
                  <a:txBody>
                    <a:bodyPr/>
                    <a:lstStyle/>
                    <a:p>
                      <a:pPr algn="ctr">
                        <a:lnSpc>
                          <a:spcPct val="107000"/>
                        </a:lnSpc>
                        <a:spcAft>
                          <a:spcPts val="800"/>
                        </a:spcAft>
                      </a:pPr>
                      <a:r>
                        <a:rPr lang="en-IN" sz="1400">
                          <a:effectLst/>
                        </a:rPr>
                        <a:t>1</a:t>
                      </a:r>
                      <a:endParaRPr lang="en-US" sz="1400">
                        <a:effectLst/>
                        <a:latin typeface="Calibri" panose="020F0502020204030204" pitchFamily="34" charset="0"/>
                        <a:ea typeface="Calibri" panose="020F0502020204030204" pitchFamily="34" charset="0"/>
                      </a:endParaRPr>
                    </a:p>
                  </a:txBody>
                  <a:tcPr marL="58801" marR="58801" marT="0" marB="0" anchor="ctr"/>
                </a:tc>
                <a:tc>
                  <a:txBody>
                    <a:bodyPr/>
                    <a:lstStyle/>
                    <a:p>
                      <a:pPr algn="ctr">
                        <a:lnSpc>
                          <a:spcPct val="107000"/>
                        </a:lnSpc>
                        <a:spcAft>
                          <a:spcPts val="800"/>
                        </a:spcAft>
                      </a:pPr>
                      <a:r>
                        <a:rPr lang="en-IN" sz="1400">
                          <a:effectLst/>
                        </a:rPr>
                        <a:t>1</a:t>
                      </a:r>
                      <a:endParaRPr lang="en-US" sz="1400">
                        <a:effectLst/>
                        <a:latin typeface="Calibri" panose="020F0502020204030204" pitchFamily="34" charset="0"/>
                        <a:ea typeface="Calibri" panose="020F0502020204030204" pitchFamily="34" charset="0"/>
                      </a:endParaRPr>
                    </a:p>
                  </a:txBody>
                  <a:tcPr marL="58801" marR="58801" marT="0" marB="0" anchor="ctr"/>
                </a:tc>
                <a:tc>
                  <a:txBody>
                    <a:bodyPr/>
                    <a:lstStyle/>
                    <a:p>
                      <a:pPr marL="0" marR="0" lvl="0" indent="0" algn="ctr" defTabSz="457200" rtl="0" eaLnBrk="1" fontAlgn="auto" latinLnBrk="0" hangingPunct="1">
                        <a:lnSpc>
                          <a:spcPct val="107000"/>
                        </a:lnSpc>
                        <a:spcBef>
                          <a:spcPts val="0"/>
                        </a:spcBef>
                        <a:spcAft>
                          <a:spcPts val="800"/>
                        </a:spcAft>
                        <a:buClrTx/>
                        <a:buSzTx/>
                        <a:buFontTx/>
                        <a:buNone/>
                        <a:tabLst/>
                        <a:defRPr/>
                      </a:pPr>
                      <a:r>
                        <a:rPr kumimoji="0" lang="en-IN" sz="1400" b="0" i="0" u="none" strike="noStrike" kern="1200" cap="none" spc="0" normalizeH="0" baseline="0" noProof="0">
                          <a:ln>
                            <a:noFill/>
                          </a:ln>
                          <a:solidFill>
                            <a:prstClr val="black"/>
                          </a:solidFill>
                          <a:effectLst/>
                          <a:uLnTx/>
                          <a:uFillTx/>
                          <a:latin typeface="Century Gothic" panose="020B0502020202020204"/>
                          <a:ea typeface="+mn-ea"/>
                          <a:cs typeface="+mn-cs"/>
                        </a:rPr>
                        <a:t>-</a:t>
                      </a:r>
                      <a:endParaRPr kumimoji="0" lang="en-US" sz="14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mn-cs"/>
                      </a:endParaRPr>
                    </a:p>
                  </a:txBody>
                  <a:tcPr marL="58801" marR="58801" marT="0" marB="0" anchor="ctr"/>
                </a:tc>
                <a:tc>
                  <a:txBody>
                    <a:bodyPr/>
                    <a:lstStyle/>
                    <a:p>
                      <a:pPr marL="0" marR="0" lvl="0" indent="0" algn="ctr" defTabSz="457200" rtl="0" eaLnBrk="1" fontAlgn="auto" latinLnBrk="0" hangingPunct="1">
                        <a:lnSpc>
                          <a:spcPct val="107000"/>
                        </a:lnSpc>
                        <a:spcBef>
                          <a:spcPts val="0"/>
                        </a:spcBef>
                        <a:spcAft>
                          <a:spcPts val="800"/>
                        </a:spcAft>
                        <a:buClrTx/>
                        <a:buSzTx/>
                        <a:buFontTx/>
                        <a:buNone/>
                        <a:tabLst/>
                        <a:defRPr/>
                      </a:pPr>
                      <a:r>
                        <a:rPr kumimoji="0" lang="en-IN" sz="1400" b="0" i="0" u="none" strike="noStrike" kern="1200" cap="none" spc="0" normalizeH="0" baseline="0" noProof="0">
                          <a:ln>
                            <a:noFill/>
                          </a:ln>
                          <a:solidFill>
                            <a:prstClr val="black"/>
                          </a:solidFill>
                          <a:effectLst/>
                          <a:uLnTx/>
                          <a:uFillTx/>
                          <a:latin typeface="Century Gothic" panose="020B0502020202020204"/>
                          <a:ea typeface="+mn-ea"/>
                          <a:cs typeface="+mn-cs"/>
                        </a:rPr>
                        <a:t>-</a:t>
                      </a:r>
                      <a:endParaRPr kumimoji="0" lang="en-US" sz="14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mn-cs"/>
                      </a:endParaRPr>
                    </a:p>
                  </a:txBody>
                  <a:tcPr marL="58801" marR="58801" marT="0" marB="0" anchor="ctr"/>
                </a:tc>
                <a:tc>
                  <a:txBody>
                    <a:bodyPr/>
                    <a:lstStyle/>
                    <a:p>
                      <a:pPr algn="ctr">
                        <a:lnSpc>
                          <a:spcPct val="107000"/>
                        </a:lnSpc>
                        <a:spcAft>
                          <a:spcPts val="800"/>
                        </a:spcAft>
                      </a:pPr>
                      <a:r>
                        <a:rPr lang="en-IN" sz="1400">
                          <a:effectLst/>
                        </a:rPr>
                        <a:t>2</a:t>
                      </a:r>
                      <a:endParaRPr lang="en-US" sz="1400">
                        <a:effectLst/>
                        <a:latin typeface="Calibri" panose="020F0502020204030204" pitchFamily="34" charset="0"/>
                        <a:ea typeface="Calibri" panose="020F0502020204030204" pitchFamily="34" charset="0"/>
                      </a:endParaRPr>
                    </a:p>
                  </a:txBody>
                  <a:tcPr marL="58801" marR="58801" marT="0" marB="0" anchor="ctr"/>
                </a:tc>
                <a:tc>
                  <a:txBody>
                    <a:bodyPr/>
                    <a:lstStyle/>
                    <a:p>
                      <a:pPr algn="ctr">
                        <a:lnSpc>
                          <a:spcPct val="107000"/>
                        </a:lnSpc>
                        <a:spcAft>
                          <a:spcPts val="800"/>
                        </a:spcAft>
                      </a:pPr>
                      <a:r>
                        <a:rPr lang="en-IN" sz="1400">
                          <a:effectLst/>
                        </a:rPr>
                        <a:t>2</a:t>
                      </a:r>
                      <a:endParaRPr lang="en-US" sz="1400">
                        <a:effectLst/>
                        <a:latin typeface="Calibri" panose="020F0502020204030204" pitchFamily="34" charset="0"/>
                        <a:ea typeface="Calibri" panose="020F0502020204030204" pitchFamily="34" charset="0"/>
                      </a:endParaRPr>
                    </a:p>
                  </a:txBody>
                  <a:tcPr marL="58801" marR="58801" marT="0" marB="0" anchor="ctr"/>
                </a:tc>
                <a:tc>
                  <a:txBody>
                    <a:bodyPr/>
                    <a:lstStyle/>
                    <a:p>
                      <a:pPr algn="ctr">
                        <a:lnSpc>
                          <a:spcPct val="107000"/>
                        </a:lnSpc>
                        <a:spcAft>
                          <a:spcPts val="800"/>
                        </a:spcAft>
                      </a:pPr>
                      <a:r>
                        <a:rPr lang="en-IN" sz="1400">
                          <a:effectLst/>
                        </a:rPr>
                        <a:t>2</a:t>
                      </a:r>
                      <a:endParaRPr lang="en-US" sz="1400">
                        <a:effectLst/>
                        <a:latin typeface="Calibri" panose="020F0502020204030204" pitchFamily="34" charset="0"/>
                        <a:ea typeface="Calibri" panose="020F0502020204030204" pitchFamily="34" charset="0"/>
                      </a:endParaRPr>
                    </a:p>
                  </a:txBody>
                  <a:tcPr marL="58801" marR="58801" marT="0" marB="0" anchor="ctr"/>
                </a:tc>
                <a:extLst>
                  <a:ext uri="{0D108BD9-81ED-4DB2-BD59-A6C34878D82A}">
                    <a16:rowId xmlns:a16="http://schemas.microsoft.com/office/drawing/2014/main" val="3375233841"/>
                  </a:ext>
                </a:extLst>
              </a:tr>
              <a:tr h="581110">
                <a:tc>
                  <a:txBody>
                    <a:bodyPr/>
                    <a:lstStyle/>
                    <a:p>
                      <a:pPr algn="ctr">
                        <a:lnSpc>
                          <a:spcPct val="107000"/>
                        </a:lnSpc>
                        <a:spcAft>
                          <a:spcPts val="800"/>
                        </a:spcAft>
                      </a:pPr>
                      <a:r>
                        <a:rPr lang="en-IN" sz="1400">
                          <a:effectLst/>
                        </a:rPr>
                        <a:t>CO4</a:t>
                      </a:r>
                      <a:endParaRPr lang="en-US" sz="1400">
                        <a:effectLst/>
                        <a:latin typeface="Calibri" panose="020F0502020204030204" pitchFamily="34" charset="0"/>
                        <a:ea typeface="Calibri" panose="020F0502020204030204" pitchFamily="34" charset="0"/>
                      </a:endParaRPr>
                    </a:p>
                  </a:txBody>
                  <a:tcPr marL="58801" marR="58801" marT="0" marB="0"/>
                </a:tc>
                <a:tc>
                  <a:txBody>
                    <a:bodyPr/>
                    <a:lstStyle/>
                    <a:p>
                      <a:pPr algn="ctr">
                        <a:lnSpc>
                          <a:spcPct val="107000"/>
                        </a:lnSpc>
                        <a:spcAft>
                          <a:spcPts val="800"/>
                        </a:spcAft>
                      </a:pPr>
                      <a:r>
                        <a:rPr lang="en-IN" sz="1400" dirty="0">
                          <a:effectLst/>
                        </a:rPr>
                        <a:t>3</a:t>
                      </a:r>
                      <a:endParaRPr lang="en-US" sz="1400" dirty="0">
                        <a:effectLst/>
                        <a:latin typeface="Calibri" panose="020F0502020204030204" pitchFamily="34" charset="0"/>
                        <a:ea typeface="Calibri" panose="020F0502020204030204" pitchFamily="34" charset="0"/>
                      </a:endParaRPr>
                    </a:p>
                  </a:txBody>
                  <a:tcPr marL="58801" marR="58801" marT="0" marB="0" anchor="ctr"/>
                </a:tc>
                <a:tc>
                  <a:txBody>
                    <a:bodyPr/>
                    <a:lstStyle/>
                    <a:p>
                      <a:pPr algn="ctr">
                        <a:lnSpc>
                          <a:spcPct val="107000"/>
                        </a:lnSpc>
                        <a:spcAft>
                          <a:spcPts val="800"/>
                        </a:spcAft>
                      </a:pPr>
                      <a:r>
                        <a:rPr lang="en-IN" sz="1400" dirty="0">
                          <a:effectLst/>
                        </a:rPr>
                        <a:t>2</a:t>
                      </a:r>
                      <a:endParaRPr lang="en-US" sz="1400" dirty="0">
                        <a:effectLst/>
                        <a:latin typeface="Calibri" panose="020F0502020204030204" pitchFamily="34" charset="0"/>
                        <a:ea typeface="Calibri" panose="020F0502020204030204" pitchFamily="34" charset="0"/>
                      </a:endParaRPr>
                    </a:p>
                  </a:txBody>
                  <a:tcPr marL="58801" marR="58801" marT="0" marB="0" anchor="ctr"/>
                </a:tc>
                <a:tc>
                  <a:txBody>
                    <a:bodyPr/>
                    <a:lstStyle/>
                    <a:p>
                      <a:pPr marL="0" marR="0" lvl="0" indent="0" algn="ctr" defTabSz="457200" rtl="0" eaLnBrk="1" fontAlgn="auto" latinLnBrk="0" hangingPunct="1">
                        <a:lnSpc>
                          <a:spcPct val="107000"/>
                        </a:lnSpc>
                        <a:spcBef>
                          <a:spcPts val="0"/>
                        </a:spcBef>
                        <a:spcAft>
                          <a:spcPts val="800"/>
                        </a:spcAft>
                        <a:buClrTx/>
                        <a:buSzTx/>
                        <a:buFontTx/>
                        <a:buNone/>
                        <a:tabLst/>
                        <a:defRPr/>
                      </a:pPr>
                      <a:r>
                        <a:rPr kumimoji="0" lang="en-IN" sz="1400" b="0" i="0" u="none" strike="noStrike" kern="1200" cap="none" spc="0" normalizeH="0" baseline="0" noProof="0">
                          <a:ln>
                            <a:noFill/>
                          </a:ln>
                          <a:solidFill>
                            <a:prstClr val="black"/>
                          </a:solidFill>
                          <a:effectLst/>
                          <a:uLnTx/>
                          <a:uFillTx/>
                          <a:latin typeface="Century Gothic" panose="020B0502020202020204"/>
                          <a:ea typeface="+mn-ea"/>
                          <a:cs typeface="+mn-cs"/>
                        </a:rPr>
                        <a:t>-</a:t>
                      </a:r>
                      <a:endParaRPr kumimoji="0" lang="en-US" sz="14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mn-cs"/>
                      </a:endParaRPr>
                    </a:p>
                  </a:txBody>
                  <a:tcPr marL="58801" marR="58801" marT="0" marB="0" anchor="ctr"/>
                </a:tc>
                <a:tc>
                  <a:txBody>
                    <a:bodyPr/>
                    <a:lstStyle/>
                    <a:p>
                      <a:pPr marL="0" marR="0" lvl="0" indent="0" algn="ctr" defTabSz="457200" rtl="0" eaLnBrk="1" fontAlgn="auto" latinLnBrk="0" hangingPunct="1">
                        <a:lnSpc>
                          <a:spcPct val="107000"/>
                        </a:lnSpc>
                        <a:spcBef>
                          <a:spcPts val="0"/>
                        </a:spcBef>
                        <a:spcAft>
                          <a:spcPts val="800"/>
                        </a:spcAft>
                        <a:buClrTx/>
                        <a:buSzTx/>
                        <a:buFontTx/>
                        <a:buNone/>
                        <a:tabLst/>
                        <a:defRPr/>
                      </a:pPr>
                      <a:r>
                        <a:rPr kumimoji="0" lang="en-IN" sz="1400" b="0" i="0" u="none" strike="noStrike" kern="1200" cap="none" spc="0" normalizeH="0" baseline="0" noProof="0" dirty="0">
                          <a:ln>
                            <a:noFill/>
                          </a:ln>
                          <a:solidFill>
                            <a:prstClr val="black"/>
                          </a:solidFill>
                          <a:effectLst/>
                          <a:uLnTx/>
                          <a:uFillTx/>
                          <a:latin typeface="Century Gothic" panose="020B0502020202020204"/>
                          <a:ea typeface="+mn-ea"/>
                          <a:cs typeface="+mn-cs"/>
                        </a:rPr>
                        <a:t>-</a:t>
                      </a:r>
                      <a:endParaRPr kumimoji="0" lang="en-US" sz="14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mn-cs"/>
                      </a:endParaRPr>
                    </a:p>
                  </a:txBody>
                  <a:tcPr marL="58801" marR="58801" marT="0" marB="0" anchor="ctr"/>
                </a:tc>
                <a:tc>
                  <a:txBody>
                    <a:bodyPr/>
                    <a:lstStyle/>
                    <a:p>
                      <a:pPr algn="ctr">
                        <a:lnSpc>
                          <a:spcPct val="107000"/>
                        </a:lnSpc>
                        <a:spcAft>
                          <a:spcPts val="800"/>
                        </a:spcAft>
                      </a:pPr>
                      <a:r>
                        <a:rPr lang="en-IN" sz="1400">
                          <a:effectLst/>
                        </a:rPr>
                        <a:t>2</a:t>
                      </a:r>
                      <a:endParaRPr lang="en-US" sz="1400">
                        <a:effectLst/>
                        <a:latin typeface="Calibri" panose="020F0502020204030204" pitchFamily="34" charset="0"/>
                        <a:ea typeface="Calibri" panose="020F0502020204030204" pitchFamily="34" charset="0"/>
                      </a:endParaRPr>
                    </a:p>
                  </a:txBody>
                  <a:tcPr marL="58801" marR="58801" marT="0" marB="0" anchor="ctr"/>
                </a:tc>
                <a:tc>
                  <a:txBody>
                    <a:bodyPr/>
                    <a:lstStyle/>
                    <a:p>
                      <a:pPr algn="ctr">
                        <a:lnSpc>
                          <a:spcPct val="107000"/>
                        </a:lnSpc>
                        <a:spcAft>
                          <a:spcPts val="800"/>
                        </a:spcAft>
                      </a:pPr>
                      <a:r>
                        <a:rPr lang="en-IN" sz="1400">
                          <a:effectLst/>
                        </a:rPr>
                        <a:t>1</a:t>
                      </a:r>
                      <a:endParaRPr lang="en-US" sz="1400">
                        <a:effectLst/>
                        <a:latin typeface="Calibri" panose="020F0502020204030204" pitchFamily="34" charset="0"/>
                        <a:ea typeface="Calibri" panose="020F0502020204030204" pitchFamily="34" charset="0"/>
                      </a:endParaRPr>
                    </a:p>
                  </a:txBody>
                  <a:tcPr marL="58801" marR="58801" marT="0" marB="0" anchor="ctr"/>
                </a:tc>
                <a:tc>
                  <a:txBody>
                    <a:bodyPr/>
                    <a:lstStyle/>
                    <a:p>
                      <a:pPr marL="0" marR="0" lvl="0" indent="0" algn="ctr" defTabSz="457200" rtl="0" eaLnBrk="1" fontAlgn="auto" latinLnBrk="0" hangingPunct="1">
                        <a:lnSpc>
                          <a:spcPct val="107000"/>
                        </a:lnSpc>
                        <a:spcBef>
                          <a:spcPts val="0"/>
                        </a:spcBef>
                        <a:spcAft>
                          <a:spcPts val="800"/>
                        </a:spcAft>
                        <a:buClrTx/>
                        <a:buSzTx/>
                        <a:buFontTx/>
                        <a:buNone/>
                        <a:tabLst/>
                        <a:defRPr/>
                      </a:pPr>
                      <a:r>
                        <a:rPr kumimoji="0" lang="en-IN" sz="1400" b="0" i="0" u="none" strike="noStrike" kern="1200" cap="none" spc="0" normalizeH="0" baseline="0" noProof="0">
                          <a:ln>
                            <a:noFill/>
                          </a:ln>
                          <a:solidFill>
                            <a:prstClr val="black"/>
                          </a:solidFill>
                          <a:effectLst/>
                          <a:uLnTx/>
                          <a:uFillTx/>
                          <a:latin typeface="Century Gothic" panose="020B0502020202020204"/>
                          <a:ea typeface="+mn-ea"/>
                          <a:cs typeface="+mn-cs"/>
                        </a:rPr>
                        <a:t>-</a:t>
                      </a:r>
                      <a:endParaRPr kumimoji="0" lang="en-US" sz="14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mn-cs"/>
                      </a:endParaRPr>
                    </a:p>
                  </a:txBody>
                  <a:tcPr marL="58801" marR="58801" marT="0" marB="0" anchor="ctr"/>
                </a:tc>
                <a:tc>
                  <a:txBody>
                    <a:bodyPr/>
                    <a:lstStyle/>
                    <a:p>
                      <a:pPr marL="0" marR="0" lvl="0" indent="0" algn="ctr" defTabSz="457200" rtl="0" eaLnBrk="1" fontAlgn="auto" latinLnBrk="0" hangingPunct="1">
                        <a:lnSpc>
                          <a:spcPct val="107000"/>
                        </a:lnSpc>
                        <a:spcBef>
                          <a:spcPts val="0"/>
                        </a:spcBef>
                        <a:spcAft>
                          <a:spcPts val="800"/>
                        </a:spcAft>
                        <a:buClrTx/>
                        <a:buSzTx/>
                        <a:buFontTx/>
                        <a:buNone/>
                        <a:tabLst/>
                        <a:defRPr/>
                      </a:pPr>
                      <a:r>
                        <a:rPr kumimoji="0" lang="en-IN" sz="1400" b="0" i="0" u="none" strike="noStrike" kern="1200" cap="none" spc="0" normalizeH="0" baseline="0" noProof="0">
                          <a:ln>
                            <a:noFill/>
                          </a:ln>
                          <a:solidFill>
                            <a:prstClr val="black"/>
                          </a:solidFill>
                          <a:effectLst/>
                          <a:uLnTx/>
                          <a:uFillTx/>
                          <a:latin typeface="Century Gothic" panose="020B0502020202020204"/>
                          <a:ea typeface="+mn-ea"/>
                          <a:cs typeface="+mn-cs"/>
                        </a:rPr>
                        <a:t>-</a:t>
                      </a:r>
                      <a:endParaRPr kumimoji="0" lang="en-US" sz="14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mn-cs"/>
                      </a:endParaRPr>
                    </a:p>
                  </a:txBody>
                  <a:tcPr marL="58801" marR="58801" marT="0" marB="0" anchor="ctr"/>
                </a:tc>
                <a:tc>
                  <a:txBody>
                    <a:bodyPr/>
                    <a:lstStyle/>
                    <a:p>
                      <a:pPr algn="ctr">
                        <a:lnSpc>
                          <a:spcPct val="107000"/>
                        </a:lnSpc>
                        <a:spcAft>
                          <a:spcPts val="800"/>
                        </a:spcAft>
                      </a:pPr>
                      <a:r>
                        <a:rPr lang="en-IN" sz="1400">
                          <a:effectLst/>
                        </a:rPr>
                        <a:t>1</a:t>
                      </a:r>
                      <a:endParaRPr lang="en-US" sz="1400">
                        <a:effectLst/>
                        <a:latin typeface="Calibri" panose="020F0502020204030204" pitchFamily="34" charset="0"/>
                        <a:ea typeface="Calibri" panose="020F0502020204030204" pitchFamily="34" charset="0"/>
                      </a:endParaRPr>
                    </a:p>
                  </a:txBody>
                  <a:tcPr marL="58801" marR="58801" marT="0" marB="0" anchor="ctr"/>
                </a:tc>
                <a:tc>
                  <a:txBody>
                    <a:bodyPr/>
                    <a:lstStyle/>
                    <a:p>
                      <a:pPr algn="ctr">
                        <a:lnSpc>
                          <a:spcPct val="107000"/>
                        </a:lnSpc>
                        <a:spcAft>
                          <a:spcPts val="800"/>
                        </a:spcAft>
                      </a:pPr>
                      <a:r>
                        <a:rPr lang="en-IN" sz="1400">
                          <a:effectLst/>
                        </a:rPr>
                        <a:t>1</a:t>
                      </a:r>
                      <a:endParaRPr lang="en-US" sz="1400">
                        <a:effectLst/>
                        <a:latin typeface="Calibri" panose="020F0502020204030204" pitchFamily="34" charset="0"/>
                        <a:ea typeface="Calibri" panose="020F0502020204030204" pitchFamily="34" charset="0"/>
                      </a:endParaRPr>
                    </a:p>
                  </a:txBody>
                  <a:tcPr marL="58801" marR="58801" marT="0" marB="0" anchor="ctr"/>
                </a:tc>
                <a:tc>
                  <a:txBody>
                    <a:bodyPr/>
                    <a:lstStyle/>
                    <a:p>
                      <a:pPr marL="0" marR="0" lvl="0" indent="0" algn="ctr" defTabSz="457200" rtl="0" eaLnBrk="1" fontAlgn="auto" latinLnBrk="0" hangingPunct="1">
                        <a:lnSpc>
                          <a:spcPct val="107000"/>
                        </a:lnSpc>
                        <a:spcBef>
                          <a:spcPts val="0"/>
                        </a:spcBef>
                        <a:spcAft>
                          <a:spcPts val="800"/>
                        </a:spcAft>
                        <a:buClrTx/>
                        <a:buSzTx/>
                        <a:buFontTx/>
                        <a:buNone/>
                        <a:tabLst/>
                        <a:defRPr/>
                      </a:pPr>
                      <a:r>
                        <a:rPr kumimoji="0" lang="en-IN" sz="1400" b="0" i="0" u="none" strike="noStrike" kern="1200" cap="none" spc="0" normalizeH="0" baseline="0" noProof="0">
                          <a:ln>
                            <a:noFill/>
                          </a:ln>
                          <a:solidFill>
                            <a:prstClr val="black"/>
                          </a:solidFill>
                          <a:effectLst/>
                          <a:uLnTx/>
                          <a:uFillTx/>
                          <a:latin typeface="Century Gothic" panose="020B0502020202020204"/>
                          <a:ea typeface="+mn-ea"/>
                          <a:cs typeface="+mn-cs"/>
                        </a:rPr>
                        <a:t>-</a:t>
                      </a:r>
                      <a:endParaRPr kumimoji="0" lang="en-US" sz="14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mn-cs"/>
                      </a:endParaRPr>
                    </a:p>
                  </a:txBody>
                  <a:tcPr marL="58801" marR="58801" marT="0" marB="0" anchor="ctr"/>
                </a:tc>
                <a:tc>
                  <a:txBody>
                    <a:bodyPr/>
                    <a:lstStyle/>
                    <a:p>
                      <a:pPr marL="0" marR="0" lvl="0" indent="0" algn="ctr" defTabSz="457200" rtl="0" eaLnBrk="1" fontAlgn="auto" latinLnBrk="0" hangingPunct="1">
                        <a:lnSpc>
                          <a:spcPct val="107000"/>
                        </a:lnSpc>
                        <a:spcBef>
                          <a:spcPts val="0"/>
                        </a:spcBef>
                        <a:spcAft>
                          <a:spcPts val="800"/>
                        </a:spcAft>
                        <a:buClrTx/>
                        <a:buSzTx/>
                        <a:buFontTx/>
                        <a:buNone/>
                        <a:tabLst/>
                        <a:defRPr/>
                      </a:pPr>
                      <a:r>
                        <a:rPr kumimoji="0" lang="en-IN" sz="1400" b="0" i="0" u="none" strike="noStrike" kern="1200" cap="none" spc="0" normalizeH="0" baseline="0" noProof="0">
                          <a:ln>
                            <a:noFill/>
                          </a:ln>
                          <a:solidFill>
                            <a:prstClr val="black"/>
                          </a:solidFill>
                          <a:effectLst/>
                          <a:uLnTx/>
                          <a:uFillTx/>
                          <a:latin typeface="Century Gothic" panose="020B0502020202020204"/>
                          <a:ea typeface="+mn-ea"/>
                          <a:cs typeface="+mn-cs"/>
                        </a:rPr>
                        <a:t>-</a:t>
                      </a:r>
                      <a:endParaRPr kumimoji="0" lang="en-US" sz="14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mn-cs"/>
                      </a:endParaRPr>
                    </a:p>
                  </a:txBody>
                  <a:tcPr marL="58801" marR="58801" marT="0" marB="0" anchor="ctr"/>
                </a:tc>
                <a:tc>
                  <a:txBody>
                    <a:bodyPr/>
                    <a:lstStyle/>
                    <a:p>
                      <a:pPr algn="ctr">
                        <a:lnSpc>
                          <a:spcPct val="107000"/>
                        </a:lnSpc>
                        <a:spcAft>
                          <a:spcPts val="800"/>
                        </a:spcAft>
                      </a:pPr>
                      <a:r>
                        <a:rPr lang="en-IN" sz="1400">
                          <a:effectLst/>
                        </a:rPr>
                        <a:t>2</a:t>
                      </a:r>
                      <a:endParaRPr lang="en-US" sz="1400">
                        <a:effectLst/>
                        <a:latin typeface="Calibri" panose="020F0502020204030204" pitchFamily="34" charset="0"/>
                        <a:ea typeface="Calibri" panose="020F0502020204030204" pitchFamily="34" charset="0"/>
                      </a:endParaRPr>
                    </a:p>
                  </a:txBody>
                  <a:tcPr marL="58801" marR="58801" marT="0" marB="0" anchor="ctr"/>
                </a:tc>
                <a:tc>
                  <a:txBody>
                    <a:bodyPr/>
                    <a:lstStyle/>
                    <a:p>
                      <a:pPr algn="ctr">
                        <a:lnSpc>
                          <a:spcPct val="107000"/>
                        </a:lnSpc>
                        <a:spcAft>
                          <a:spcPts val="800"/>
                        </a:spcAft>
                      </a:pPr>
                      <a:r>
                        <a:rPr lang="en-IN" sz="1400">
                          <a:effectLst/>
                        </a:rPr>
                        <a:t>2</a:t>
                      </a:r>
                      <a:endParaRPr lang="en-US" sz="1400">
                        <a:effectLst/>
                        <a:latin typeface="Calibri" panose="020F0502020204030204" pitchFamily="34" charset="0"/>
                        <a:ea typeface="Calibri" panose="020F0502020204030204" pitchFamily="34" charset="0"/>
                      </a:endParaRPr>
                    </a:p>
                  </a:txBody>
                  <a:tcPr marL="58801" marR="58801" marT="0" marB="0" anchor="ctr"/>
                </a:tc>
                <a:tc>
                  <a:txBody>
                    <a:bodyPr/>
                    <a:lstStyle/>
                    <a:p>
                      <a:pPr algn="ctr">
                        <a:lnSpc>
                          <a:spcPct val="107000"/>
                        </a:lnSpc>
                        <a:spcAft>
                          <a:spcPts val="800"/>
                        </a:spcAft>
                      </a:pPr>
                      <a:r>
                        <a:rPr lang="en-IN" sz="1400">
                          <a:effectLst/>
                        </a:rPr>
                        <a:t>2</a:t>
                      </a:r>
                      <a:endParaRPr lang="en-US" sz="1400">
                        <a:effectLst/>
                        <a:latin typeface="Calibri" panose="020F0502020204030204" pitchFamily="34" charset="0"/>
                        <a:ea typeface="Calibri" panose="020F0502020204030204" pitchFamily="34" charset="0"/>
                      </a:endParaRPr>
                    </a:p>
                  </a:txBody>
                  <a:tcPr marL="58801" marR="58801" marT="0" marB="0" anchor="ctr"/>
                </a:tc>
                <a:extLst>
                  <a:ext uri="{0D108BD9-81ED-4DB2-BD59-A6C34878D82A}">
                    <a16:rowId xmlns:a16="http://schemas.microsoft.com/office/drawing/2014/main" val="3165535384"/>
                  </a:ext>
                </a:extLst>
              </a:tr>
              <a:tr h="581110">
                <a:tc>
                  <a:txBody>
                    <a:bodyPr/>
                    <a:lstStyle/>
                    <a:p>
                      <a:pPr algn="ctr">
                        <a:lnSpc>
                          <a:spcPct val="107000"/>
                        </a:lnSpc>
                        <a:spcAft>
                          <a:spcPts val="800"/>
                        </a:spcAft>
                      </a:pPr>
                      <a:r>
                        <a:rPr lang="en-IN" sz="1400">
                          <a:effectLst/>
                        </a:rPr>
                        <a:t>CO5</a:t>
                      </a:r>
                      <a:endParaRPr lang="en-US" sz="1400">
                        <a:effectLst/>
                        <a:latin typeface="Calibri" panose="020F0502020204030204" pitchFamily="34" charset="0"/>
                        <a:ea typeface="Calibri" panose="020F0502020204030204" pitchFamily="34" charset="0"/>
                      </a:endParaRPr>
                    </a:p>
                  </a:txBody>
                  <a:tcPr marL="58801" marR="58801" marT="0" marB="0"/>
                </a:tc>
                <a:tc>
                  <a:txBody>
                    <a:bodyPr/>
                    <a:lstStyle/>
                    <a:p>
                      <a:pPr algn="ctr">
                        <a:lnSpc>
                          <a:spcPct val="107000"/>
                        </a:lnSpc>
                        <a:spcAft>
                          <a:spcPts val="800"/>
                        </a:spcAft>
                      </a:pPr>
                      <a:r>
                        <a:rPr lang="en-IN" sz="1400" dirty="0">
                          <a:effectLst/>
                        </a:rPr>
                        <a:t>3</a:t>
                      </a:r>
                      <a:endParaRPr lang="en-US" sz="1400" dirty="0">
                        <a:effectLst/>
                        <a:latin typeface="Calibri" panose="020F0502020204030204" pitchFamily="34" charset="0"/>
                        <a:ea typeface="Calibri" panose="020F0502020204030204" pitchFamily="34" charset="0"/>
                      </a:endParaRPr>
                    </a:p>
                  </a:txBody>
                  <a:tcPr marL="58801" marR="58801" marT="0" marB="0" anchor="ctr"/>
                </a:tc>
                <a:tc>
                  <a:txBody>
                    <a:bodyPr/>
                    <a:lstStyle/>
                    <a:p>
                      <a:pPr algn="ctr">
                        <a:lnSpc>
                          <a:spcPct val="107000"/>
                        </a:lnSpc>
                        <a:spcAft>
                          <a:spcPts val="800"/>
                        </a:spcAft>
                      </a:pPr>
                      <a:r>
                        <a:rPr lang="en-IN" sz="1400" dirty="0">
                          <a:effectLst/>
                        </a:rPr>
                        <a:t>3</a:t>
                      </a:r>
                      <a:endParaRPr lang="en-US" sz="1400" dirty="0">
                        <a:effectLst/>
                        <a:latin typeface="Calibri" panose="020F0502020204030204" pitchFamily="34" charset="0"/>
                        <a:ea typeface="Calibri" panose="020F0502020204030204" pitchFamily="34" charset="0"/>
                      </a:endParaRPr>
                    </a:p>
                  </a:txBody>
                  <a:tcPr marL="58801" marR="58801" marT="0" marB="0" anchor="ctr"/>
                </a:tc>
                <a:tc>
                  <a:txBody>
                    <a:bodyPr/>
                    <a:lstStyle/>
                    <a:p>
                      <a:pPr algn="ctr">
                        <a:lnSpc>
                          <a:spcPct val="107000"/>
                        </a:lnSpc>
                        <a:spcAft>
                          <a:spcPts val="800"/>
                        </a:spcAft>
                      </a:pPr>
                      <a:r>
                        <a:rPr lang="en-IN" sz="1400" dirty="0">
                          <a:effectLst/>
                        </a:rPr>
                        <a:t>2</a:t>
                      </a:r>
                      <a:endParaRPr lang="en-US" sz="1400" dirty="0">
                        <a:effectLst/>
                        <a:latin typeface="Calibri" panose="020F0502020204030204" pitchFamily="34" charset="0"/>
                        <a:ea typeface="Calibri" panose="020F0502020204030204" pitchFamily="34" charset="0"/>
                      </a:endParaRPr>
                    </a:p>
                  </a:txBody>
                  <a:tcPr marL="58801" marR="58801" marT="0" marB="0" anchor="ctr"/>
                </a:tc>
                <a:tc>
                  <a:txBody>
                    <a:bodyPr/>
                    <a:lstStyle/>
                    <a:p>
                      <a:pPr marL="0" marR="0" lvl="0" indent="0" algn="ctr" defTabSz="457200" rtl="0" eaLnBrk="1" fontAlgn="auto" latinLnBrk="0" hangingPunct="1">
                        <a:lnSpc>
                          <a:spcPct val="107000"/>
                        </a:lnSpc>
                        <a:spcBef>
                          <a:spcPts val="0"/>
                        </a:spcBef>
                        <a:spcAft>
                          <a:spcPts val="800"/>
                        </a:spcAft>
                        <a:buClrTx/>
                        <a:buSzTx/>
                        <a:buFontTx/>
                        <a:buNone/>
                        <a:tabLst/>
                        <a:defRPr/>
                      </a:pPr>
                      <a:r>
                        <a:rPr lang="en-IN" sz="1400" dirty="0">
                          <a:effectLst/>
                        </a:rPr>
                        <a:t>-</a:t>
                      </a:r>
                      <a:endParaRPr lang="en-US" sz="1400" dirty="0">
                        <a:effectLst/>
                        <a:latin typeface="Calibri" panose="020F0502020204030204" pitchFamily="34" charset="0"/>
                        <a:ea typeface="Calibri" panose="020F0502020204030204" pitchFamily="34" charset="0"/>
                      </a:endParaRPr>
                    </a:p>
                    <a:p>
                      <a:pPr algn="ctr">
                        <a:lnSpc>
                          <a:spcPct val="107000"/>
                        </a:lnSpc>
                        <a:spcAft>
                          <a:spcPts val="800"/>
                        </a:spcAft>
                      </a:pPr>
                      <a:r>
                        <a:rPr lang="en-IN" sz="1400" dirty="0">
                          <a:effectLst/>
                        </a:rPr>
                        <a:t> </a:t>
                      </a:r>
                      <a:endParaRPr lang="en-US" sz="1400" dirty="0">
                        <a:effectLst/>
                        <a:latin typeface="Calibri" panose="020F0502020204030204" pitchFamily="34" charset="0"/>
                        <a:ea typeface="Calibri" panose="020F0502020204030204" pitchFamily="34" charset="0"/>
                      </a:endParaRPr>
                    </a:p>
                  </a:txBody>
                  <a:tcPr marL="58801" marR="58801" marT="0" marB="0" anchor="ctr"/>
                </a:tc>
                <a:tc>
                  <a:txBody>
                    <a:bodyPr/>
                    <a:lstStyle/>
                    <a:p>
                      <a:pPr algn="ctr">
                        <a:lnSpc>
                          <a:spcPct val="107000"/>
                        </a:lnSpc>
                        <a:spcAft>
                          <a:spcPts val="800"/>
                        </a:spcAft>
                      </a:pPr>
                      <a:r>
                        <a:rPr lang="en-IN" sz="1400" dirty="0">
                          <a:effectLst/>
                        </a:rPr>
                        <a:t>2</a:t>
                      </a:r>
                      <a:endParaRPr lang="en-US" sz="1400" dirty="0">
                        <a:effectLst/>
                        <a:latin typeface="Calibri" panose="020F0502020204030204" pitchFamily="34" charset="0"/>
                        <a:ea typeface="Calibri" panose="020F0502020204030204" pitchFamily="34" charset="0"/>
                      </a:endParaRPr>
                    </a:p>
                  </a:txBody>
                  <a:tcPr marL="58801" marR="58801" marT="0" marB="0" anchor="ctr"/>
                </a:tc>
                <a:tc>
                  <a:txBody>
                    <a:bodyPr/>
                    <a:lstStyle/>
                    <a:p>
                      <a:pPr algn="ctr">
                        <a:lnSpc>
                          <a:spcPct val="107000"/>
                        </a:lnSpc>
                        <a:spcAft>
                          <a:spcPts val="800"/>
                        </a:spcAft>
                      </a:pPr>
                      <a:r>
                        <a:rPr lang="en-IN" sz="1400">
                          <a:effectLst/>
                        </a:rPr>
                        <a:t>1</a:t>
                      </a:r>
                      <a:endParaRPr lang="en-US" sz="1400">
                        <a:effectLst/>
                        <a:latin typeface="Calibri" panose="020F0502020204030204" pitchFamily="34" charset="0"/>
                        <a:ea typeface="Calibri" panose="020F0502020204030204" pitchFamily="34" charset="0"/>
                      </a:endParaRPr>
                    </a:p>
                  </a:txBody>
                  <a:tcPr marL="58801" marR="58801" marT="0" marB="0" anchor="ctr"/>
                </a:tc>
                <a:tc>
                  <a:txBody>
                    <a:bodyPr/>
                    <a:lstStyle/>
                    <a:p>
                      <a:pPr marL="0" marR="0" lvl="0" indent="0" algn="ctr" defTabSz="457200" rtl="0" eaLnBrk="1" fontAlgn="auto" latinLnBrk="0" hangingPunct="1">
                        <a:lnSpc>
                          <a:spcPct val="107000"/>
                        </a:lnSpc>
                        <a:spcBef>
                          <a:spcPts val="0"/>
                        </a:spcBef>
                        <a:spcAft>
                          <a:spcPts val="800"/>
                        </a:spcAft>
                        <a:buClrTx/>
                        <a:buSzTx/>
                        <a:buFontTx/>
                        <a:buNone/>
                        <a:tabLst/>
                        <a:defRPr/>
                      </a:pPr>
                      <a:r>
                        <a:rPr kumimoji="0" lang="en-IN" sz="1400" b="0" i="0" u="none" strike="noStrike" kern="1200" cap="none" spc="0" normalizeH="0" baseline="0" noProof="0">
                          <a:ln>
                            <a:noFill/>
                          </a:ln>
                          <a:solidFill>
                            <a:prstClr val="black"/>
                          </a:solidFill>
                          <a:effectLst/>
                          <a:uLnTx/>
                          <a:uFillTx/>
                          <a:latin typeface="Century Gothic" panose="020B0502020202020204"/>
                          <a:ea typeface="+mn-ea"/>
                          <a:cs typeface="+mn-cs"/>
                        </a:rPr>
                        <a:t>-</a:t>
                      </a:r>
                      <a:endParaRPr kumimoji="0" lang="en-US" sz="14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mn-cs"/>
                      </a:endParaRPr>
                    </a:p>
                  </a:txBody>
                  <a:tcPr marL="58801" marR="58801" marT="0" marB="0" anchor="ctr"/>
                </a:tc>
                <a:tc>
                  <a:txBody>
                    <a:bodyPr/>
                    <a:lstStyle/>
                    <a:p>
                      <a:pPr marL="0" marR="0" lvl="0" indent="0" algn="ctr" defTabSz="457200" rtl="0" eaLnBrk="1" fontAlgn="auto" latinLnBrk="0" hangingPunct="1">
                        <a:lnSpc>
                          <a:spcPct val="107000"/>
                        </a:lnSpc>
                        <a:spcBef>
                          <a:spcPts val="0"/>
                        </a:spcBef>
                        <a:spcAft>
                          <a:spcPts val="800"/>
                        </a:spcAft>
                        <a:buClrTx/>
                        <a:buSzTx/>
                        <a:buFontTx/>
                        <a:buNone/>
                        <a:tabLst/>
                        <a:defRPr/>
                      </a:pPr>
                      <a:r>
                        <a:rPr kumimoji="0" lang="en-IN" sz="1400" b="0" i="0" u="none" strike="noStrike" kern="1200" cap="none" spc="0" normalizeH="0" baseline="0" noProof="0" dirty="0">
                          <a:ln>
                            <a:noFill/>
                          </a:ln>
                          <a:solidFill>
                            <a:prstClr val="black"/>
                          </a:solidFill>
                          <a:effectLst/>
                          <a:uLnTx/>
                          <a:uFillTx/>
                          <a:latin typeface="Century Gothic" panose="020B0502020202020204"/>
                          <a:ea typeface="+mn-ea"/>
                          <a:cs typeface="+mn-cs"/>
                        </a:rPr>
                        <a:t>-</a:t>
                      </a:r>
                      <a:endParaRPr kumimoji="0" lang="en-US" sz="14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mn-cs"/>
                      </a:endParaRPr>
                    </a:p>
                  </a:txBody>
                  <a:tcPr marL="58801" marR="58801" marT="0" marB="0" anchor="ctr"/>
                </a:tc>
                <a:tc>
                  <a:txBody>
                    <a:bodyPr/>
                    <a:lstStyle/>
                    <a:p>
                      <a:pPr algn="ctr">
                        <a:lnSpc>
                          <a:spcPct val="107000"/>
                        </a:lnSpc>
                        <a:spcAft>
                          <a:spcPts val="800"/>
                        </a:spcAft>
                      </a:pPr>
                      <a:r>
                        <a:rPr lang="en-IN" sz="1400">
                          <a:effectLst/>
                        </a:rPr>
                        <a:t>1</a:t>
                      </a:r>
                      <a:endParaRPr lang="en-US" sz="1400">
                        <a:effectLst/>
                        <a:latin typeface="Calibri" panose="020F0502020204030204" pitchFamily="34" charset="0"/>
                        <a:ea typeface="Calibri" panose="020F0502020204030204" pitchFamily="34" charset="0"/>
                      </a:endParaRPr>
                    </a:p>
                  </a:txBody>
                  <a:tcPr marL="58801" marR="58801" marT="0" marB="0" anchor="ctr"/>
                </a:tc>
                <a:tc>
                  <a:txBody>
                    <a:bodyPr/>
                    <a:lstStyle/>
                    <a:p>
                      <a:pPr algn="ctr">
                        <a:lnSpc>
                          <a:spcPct val="107000"/>
                        </a:lnSpc>
                        <a:spcAft>
                          <a:spcPts val="800"/>
                        </a:spcAft>
                      </a:pPr>
                      <a:r>
                        <a:rPr lang="en-IN" sz="1400">
                          <a:effectLst/>
                        </a:rPr>
                        <a:t>1</a:t>
                      </a:r>
                      <a:endParaRPr lang="en-US" sz="1400">
                        <a:effectLst/>
                        <a:latin typeface="Calibri" panose="020F0502020204030204" pitchFamily="34" charset="0"/>
                        <a:ea typeface="Calibri" panose="020F0502020204030204" pitchFamily="34" charset="0"/>
                      </a:endParaRPr>
                    </a:p>
                  </a:txBody>
                  <a:tcPr marL="58801" marR="58801" marT="0" marB="0" anchor="ctr"/>
                </a:tc>
                <a:tc>
                  <a:txBody>
                    <a:bodyPr/>
                    <a:lstStyle/>
                    <a:p>
                      <a:pPr marL="0" marR="0" lvl="0" indent="0" algn="ctr" defTabSz="457200" rtl="0" eaLnBrk="1" fontAlgn="auto" latinLnBrk="0" hangingPunct="1">
                        <a:lnSpc>
                          <a:spcPct val="107000"/>
                        </a:lnSpc>
                        <a:spcBef>
                          <a:spcPts val="0"/>
                        </a:spcBef>
                        <a:spcAft>
                          <a:spcPts val="800"/>
                        </a:spcAft>
                        <a:buClrTx/>
                        <a:buSzTx/>
                        <a:buFontTx/>
                        <a:buNone/>
                        <a:tabLst/>
                        <a:defRPr/>
                      </a:pPr>
                      <a:r>
                        <a:rPr kumimoji="0" lang="en-IN" sz="1400" b="0" i="0" u="none" strike="noStrike" kern="1200" cap="none" spc="0" normalizeH="0" baseline="0" noProof="0">
                          <a:ln>
                            <a:noFill/>
                          </a:ln>
                          <a:solidFill>
                            <a:prstClr val="black"/>
                          </a:solidFill>
                          <a:effectLst/>
                          <a:uLnTx/>
                          <a:uFillTx/>
                          <a:latin typeface="Century Gothic" panose="020B0502020202020204"/>
                          <a:ea typeface="+mn-ea"/>
                          <a:cs typeface="+mn-cs"/>
                        </a:rPr>
                        <a:t>-</a:t>
                      </a:r>
                      <a:endParaRPr kumimoji="0" lang="en-US" sz="14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mn-cs"/>
                      </a:endParaRPr>
                    </a:p>
                  </a:txBody>
                  <a:tcPr marL="58801" marR="58801" marT="0" marB="0" anchor="ctr"/>
                </a:tc>
                <a:tc>
                  <a:txBody>
                    <a:bodyPr/>
                    <a:lstStyle/>
                    <a:p>
                      <a:pPr marL="0" marR="0" lvl="0" indent="0" algn="ctr" defTabSz="457200" rtl="0" eaLnBrk="1" fontAlgn="auto" latinLnBrk="0" hangingPunct="1">
                        <a:lnSpc>
                          <a:spcPct val="107000"/>
                        </a:lnSpc>
                        <a:spcBef>
                          <a:spcPts val="0"/>
                        </a:spcBef>
                        <a:spcAft>
                          <a:spcPts val="800"/>
                        </a:spcAft>
                        <a:buClrTx/>
                        <a:buSzTx/>
                        <a:buFontTx/>
                        <a:buNone/>
                        <a:tabLst/>
                        <a:defRPr/>
                      </a:pPr>
                      <a:r>
                        <a:rPr kumimoji="0" lang="en-IN" sz="1400" b="0" i="0" u="none" strike="noStrike" kern="1200" cap="none" spc="0" normalizeH="0" baseline="0" noProof="0" dirty="0">
                          <a:ln>
                            <a:noFill/>
                          </a:ln>
                          <a:solidFill>
                            <a:prstClr val="black"/>
                          </a:solidFill>
                          <a:effectLst/>
                          <a:uLnTx/>
                          <a:uFillTx/>
                          <a:latin typeface="Century Gothic" panose="020B0502020202020204"/>
                          <a:ea typeface="+mn-ea"/>
                          <a:cs typeface="+mn-cs"/>
                        </a:rPr>
                        <a:t>-</a:t>
                      </a:r>
                      <a:endParaRPr kumimoji="0" lang="en-US" sz="14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mn-cs"/>
                      </a:endParaRPr>
                    </a:p>
                  </a:txBody>
                  <a:tcPr marL="58801" marR="58801" marT="0" marB="0" anchor="ctr"/>
                </a:tc>
                <a:tc>
                  <a:txBody>
                    <a:bodyPr/>
                    <a:lstStyle/>
                    <a:p>
                      <a:pPr algn="ctr">
                        <a:lnSpc>
                          <a:spcPct val="107000"/>
                        </a:lnSpc>
                        <a:spcAft>
                          <a:spcPts val="800"/>
                        </a:spcAft>
                      </a:pPr>
                      <a:r>
                        <a:rPr lang="en-IN" sz="1400">
                          <a:effectLst/>
                        </a:rPr>
                        <a:t>2</a:t>
                      </a:r>
                      <a:endParaRPr lang="en-US" sz="1400">
                        <a:effectLst/>
                        <a:latin typeface="Calibri" panose="020F0502020204030204" pitchFamily="34" charset="0"/>
                        <a:ea typeface="Calibri" panose="020F0502020204030204" pitchFamily="34" charset="0"/>
                      </a:endParaRPr>
                    </a:p>
                  </a:txBody>
                  <a:tcPr marL="58801" marR="58801" marT="0" marB="0" anchor="ctr"/>
                </a:tc>
                <a:tc>
                  <a:txBody>
                    <a:bodyPr/>
                    <a:lstStyle/>
                    <a:p>
                      <a:pPr algn="ctr">
                        <a:lnSpc>
                          <a:spcPct val="107000"/>
                        </a:lnSpc>
                        <a:spcAft>
                          <a:spcPts val="800"/>
                        </a:spcAft>
                      </a:pPr>
                      <a:r>
                        <a:rPr lang="en-IN" sz="1400">
                          <a:effectLst/>
                        </a:rPr>
                        <a:t>2</a:t>
                      </a:r>
                      <a:endParaRPr lang="en-US" sz="1400">
                        <a:effectLst/>
                        <a:latin typeface="Calibri" panose="020F0502020204030204" pitchFamily="34" charset="0"/>
                        <a:ea typeface="Calibri" panose="020F0502020204030204" pitchFamily="34" charset="0"/>
                      </a:endParaRPr>
                    </a:p>
                  </a:txBody>
                  <a:tcPr marL="58801" marR="58801" marT="0" marB="0" anchor="ctr"/>
                </a:tc>
                <a:tc>
                  <a:txBody>
                    <a:bodyPr/>
                    <a:lstStyle/>
                    <a:p>
                      <a:pPr algn="ctr">
                        <a:lnSpc>
                          <a:spcPct val="107000"/>
                        </a:lnSpc>
                        <a:spcAft>
                          <a:spcPts val="800"/>
                        </a:spcAft>
                      </a:pPr>
                      <a:r>
                        <a:rPr lang="en-IN" sz="1400" dirty="0">
                          <a:effectLst/>
                        </a:rPr>
                        <a:t>2</a:t>
                      </a:r>
                      <a:endParaRPr lang="en-US" sz="1400" dirty="0">
                        <a:effectLst/>
                        <a:latin typeface="Calibri" panose="020F0502020204030204" pitchFamily="34" charset="0"/>
                        <a:ea typeface="Calibri" panose="020F0502020204030204" pitchFamily="34" charset="0"/>
                      </a:endParaRPr>
                    </a:p>
                  </a:txBody>
                  <a:tcPr marL="58801" marR="58801" marT="0" marB="0" anchor="ctr"/>
                </a:tc>
                <a:extLst>
                  <a:ext uri="{0D108BD9-81ED-4DB2-BD59-A6C34878D82A}">
                    <a16:rowId xmlns:a16="http://schemas.microsoft.com/office/drawing/2014/main" val="3674051648"/>
                  </a:ext>
                </a:extLst>
              </a:tr>
            </a:tbl>
          </a:graphicData>
        </a:graphic>
      </p:graphicFrame>
      <p:sp>
        <p:nvSpPr>
          <p:cNvPr id="9" name="Rectangle 1">
            <a:extLst>
              <a:ext uri="{FF2B5EF4-FFF2-40B4-BE49-F238E27FC236}">
                <a16:creationId xmlns:a16="http://schemas.microsoft.com/office/drawing/2014/main" id="{D429BC22-2A94-8F83-1051-E05CBD778660}"/>
              </a:ext>
            </a:extLst>
          </p:cNvPr>
          <p:cNvSpPr>
            <a:spLocks noChangeArrowheads="1"/>
          </p:cNvSpPr>
          <p:nvPr/>
        </p:nvSpPr>
        <p:spPr bwMode="auto">
          <a:xfrm>
            <a:off x="3071995" y="6087943"/>
            <a:ext cx="6048009"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tabLst>
                <a:tab pos="400050" algn="l"/>
              </a:tabLst>
              <a:defRPr>
                <a:solidFill>
                  <a:schemeClr val="tx1"/>
                </a:solidFill>
                <a:latin typeface="Arial" panose="020B0604020202020204" pitchFamily="34" charset="0"/>
              </a:defRPr>
            </a:lvl1pPr>
            <a:lvl2pPr eaLnBrk="0" fontAlgn="base" hangingPunct="0">
              <a:spcBef>
                <a:spcPct val="0"/>
              </a:spcBef>
              <a:spcAft>
                <a:spcPct val="0"/>
              </a:spcAft>
              <a:tabLst>
                <a:tab pos="400050" algn="l"/>
              </a:tabLst>
              <a:defRPr>
                <a:solidFill>
                  <a:schemeClr val="tx1"/>
                </a:solidFill>
                <a:latin typeface="Arial" panose="020B0604020202020204" pitchFamily="34" charset="0"/>
              </a:defRPr>
            </a:lvl2pPr>
            <a:lvl3pPr eaLnBrk="0" fontAlgn="base" hangingPunct="0">
              <a:spcBef>
                <a:spcPct val="0"/>
              </a:spcBef>
              <a:spcAft>
                <a:spcPct val="0"/>
              </a:spcAft>
              <a:tabLst>
                <a:tab pos="400050" algn="l"/>
              </a:tabLst>
              <a:defRPr>
                <a:solidFill>
                  <a:schemeClr val="tx1"/>
                </a:solidFill>
                <a:latin typeface="Arial" panose="020B0604020202020204" pitchFamily="34" charset="0"/>
              </a:defRPr>
            </a:lvl3pPr>
            <a:lvl4pPr eaLnBrk="0" fontAlgn="base" hangingPunct="0">
              <a:spcBef>
                <a:spcPct val="0"/>
              </a:spcBef>
              <a:spcAft>
                <a:spcPct val="0"/>
              </a:spcAft>
              <a:tabLst>
                <a:tab pos="400050" algn="l"/>
              </a:tabLst>
              <a:defRPr>
                <a:solidFill>
                  <a:schemeClr val="tx1"/>
                </a:solidFill>
                <a:latin typeface="Arial" panose="020B0604020202020204" pitchFamily="34" charset="0"/>
              </a:defRPr>
            </a:lvl4pPr>
            <a:lvl5pPr eaLnBrk="0" fontAlgn="base" hangingPunct="0">
              <a:spcBef>
                <a:spcPct val="0"/>
              </a:spcBef>
              <a:spcAft>
                <a:spcPct val="0"/>
              </a:spcAft>
              <a:tabLst>
                <a:tab pos="400050" algn="l"/>
              </a:tabLst>
              <a:defRPr>
                <a:solidFill>
                  <a:schemeClr val="tx1"/>
                </a:solidFill>
                <a:latin typeface="Arial" panose="020B0604020202020204" pitchFamily="34" charset="0"/>
              </a:defRPr>
            </a:lvl5pPr>
            <a:lvl6pPr eaLnBrk="0" fontAlgn="base" hangingPunct="0">
              <a:spcBef>
                <a:spcPct val="0"/>
              </a:spcBef>
              <a:spcAft>
                <a:spcPct val="0"/>
              </a:spcAft>
              <a:tabLst>
                <a:tab pos="400050" algn="l"/>
              </a:tabLst>
              <a:defRPr>
                <a:solidFill>
                  <a:schemeClr val="tx1"/>
                </a:solidFill>
                <a:latin typeface="Arial" panose="020B0604020202020204" pitchFamily="34" charset="0"/>
              </a:defRPr>
            </a:lvl6pPr>
            <a:lvl7pPr eaLnBrk="0" fontAlgn="base" hangingPunct="0">
              <a:spcBef>
                <a:spcPct val="0"/>
              </a:spcBef>
              <a:spcAft>
                <a:spcPct val="0"/>
              </a:spcAft>
              <a:tabLst>
                <a:tab pos="400050" algn="l"/>
              </a:tabLst>
              <a:defRPr>
                <a:solidFill>
                  <a:schemeClr val="tx1"/>
                </a:solidFill>
                <a:latin typeface="Arial" panose="020B0604020202020204" pitchFamily="34" charset="0"/>
              </a:defRPr>
            </a:lvl7pPr>
            <a:lvl8pPr eaLnBrk="0" fontAlgn="base" hangingPunct="0">
              <a:spcBef>
                <a:spcPct val="0"/>
              </a:spcBef>
              <a:spcAft>
                <a:spcPct val="0"/>
              </a:spcAft>
              <a:tabLst>
                <a:tab pos="400050" algn="l"/>
              </a:tabLst>
              <a:defRPr>
                <a:solidFill>
                  <a:schemeClr val="tx1"/>
                </a:solidFill>
                <a:latin typeface="Arial" panose="020B0604020202020204" pitchFamily="34" charset="0"/>
              </a:defRPr>
            </a:lvl8pPr>
            <a:lvl9pPr eaLnBrk="0" fontAlgn="base" hangingPunct="0">
              <a:spcBef>
                <a:spcPct val="0"/>
              </a:spcBef>
              <a:spcAft>
                <a:spcPct val="0"/>
              </a:spcAft>
              <a:tabLst>
                <a:tab pos="400050" algn="l"/>
              </a:tabLs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tab pos="400050" algn="l"/>
              </a:tabLst>
            </a:pPr>
            <a:r>
              <a:rPr kumimoji="0" lang="en-US" altLang="en-US" sz="1100" b="1" i="0" u="none" strike="noStrike" cap="none" normalizeH="0" baseline="0" dirty="0">
                <a:ln>
                  <a:noFill/>
                </a:ln>
                <a:solidFill>
                  <a:srgbClr val="000000"/>
                </a:solidFill>
                <a:effectLst/>
                <a:latin typeface="Arial" panose="020B0604020202020204" pitchFamily="34" charset="0"/>
                <a:ea typeface="Cambria" panose="02040503050406030204" pitchFamily="18" charset="0"/>
                <a:cs typeface="Cambria" panose="02040503050406030204" pitchFamily="18" charset="0"/>
              </a:rPr>
              <a:t>	3: Substantial (High)                     2: Moderate (Medium)                       1: Poor (Low) </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2" name="TextBox 1">
            <a:extLst>
              <a:ext uri="{FF2B5EF4-FFF2-40B4-BE49-F238E27FC236}">
                <a16:creationId xmlns:a16="http://schemas.microsoft.com/office/drawing/2014/main" id="{A0BC8553-8EC9-19D7-FC0E-9DF50E99747D}"/>
              </a:ext>
            </a:extLst>
          </p:cNvPr>
          <p:cNvSpPr txBox="1"/>
          <p:nvPr/>
        </p:nvSpPr>
        <p:spPr>
          <a:xfrm>
            <a:off x="1710863" y="255639"/>
            <a:ext cx="2153214" cy="369332"/>
          </a:xfrm>
          <a:prstGeom prst="rect">
            <a:avLst/>
          </a:prstGeom>
          <a:noFill/>
        </p:spPr>
        <p:txBody>
          <a:bodyPr wrap="square" rtlCol="0">
            <a:spAutoFit/>
          </a:bodyPr>
          <a:lstStyle/>
          <a:p>
            <a:r>
              <a:rPr lang="en-US" dirty="0"/>
              <a:t>(Old PSO’S)</a:t>
            </a:r>
          </a:p>
        </p:txBody>
      </p:sp>
    </p:spTree>
    <p:extLst>
      <p:ext uri="{BB962C8B-B14F-4D97-AF65-F5344CB8AC3E}">
        <p14:creationId xmlns:p14="http://schemas.microsoft.com/office/powerpoint/2010/main" val="246403255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A5EF682-BBC6-BC89-A815-2405B3BFA89F}"/>
              </a:ext>
            </a:extLst>
          </p:cNvPr>
          <p:cNvPicPr>
            <a:picLocks noChangeAspect="1"/>
          </p:cNvPicPr>
          <p:nvPr/>
        </p:nvPicPr>
        <p:blipFill rotWithShape="1">
          <a:blip r:embed="rId2">
            <a:extLst>
              <a:ext uri="{28A0092B-C50C-407E-A947-70E740481C1C}">
                <a14:useLocalDpi xmlns:a14="http://schemas.microsoft.com/office/drawing/2010/main" val="0"/>
              </a:ext>
            </a:extLst>
          </a:blip>
          <a:srcRect l="7632" t="6513" r="14801" b="12673"/>
          <a:stretch/>
        </p:blipFill>
        <p:spPr>
          <a:xfrm>
            <a:off x="11003168" y="6329803"/>
            <a:ext cx="1002890" cy="342928"/>
          </a:xfrm>
          <a:prstGeom prst="rect">
            <a:avLst/>
          </a:prstGeom>
        </p:spPr>
      </p:pic>
      <p:sp>
        <p:nvSpPr>
          <p:cNvPr id="5" name="TextBox 4">
            <a:extLst>
              <a:ext uri="{FF2B5EF4-FFF2-40B4-BE49-F238E27FC236}">
                <a16:creationId xmlns:a16="http://schemas.microsoft.com/office/drawing/2014/main" id="{CED2CCDC-C02F-B3A1-A3C5-707DECA064F1}"/>
              </a:ext>
            </a:extLst>
          </p:cNvPr>
          <p:cNvSpPr txBox="1"/>
          <p:nvPr/>
        </p:nvSpPr>
        <p:spPr>
          <a:xfrm>
            <a:off x="-30367" y="770057"/>
            <a:ext cx="1741230" cy="369332"/>
          </a:xfrm>
          <a:prstGeom prst="rect">
            <a:avLst/>
          </a:prstGeom>
          <a:noFill/>
        </p:spPr>
        <p:txBody>
          <a:bodyPr wrap="square" rtlCol="0">
            <a:spAutoFit/>
          </a:bodyPr>
          <a:lstStyle/>
          <a:p>
            <a:r>
              <a:rPr lang="en-US" sz="1800" dirty="0">
                <a:solidFill>
                  <a:schemeClr val="bg1"/>
                </a:solidFill>
                <a:effectLst/>
                <a:latin typeface="Bookman Old Style" panose="02050604050505020204" pitchFamily="18" charset="0"/>
                <a:ea typeface="Calibri" panose="020F0502020204030204" pitchFamily="34" charset="0"/>
              </a:rPr>
              <a:t>22AM2305</a:t>
            </a:r>
            <a:endParaRPr lang="en-IN" dirty="0">
              <a:solidFill>
                <a:schemeClr val="bg1"/>
              </a:solidFill>
              <a:latin typeface="Bookman Old Style" panose="02050604050505020204" pitchFamily="18" charset="0"/>
            </a:endParaRPr>
          </a:p>
        </p:txBody>
      </p:sp>
      <p:pic>
        <p:nvPicPr>
          <p:cNvPr id="6" name="Picture 2" descr="logo">
            <a:extLst>
              <a:ext uri="{FF2B5EF4-FFF2-40B4-BE49-F238E27FC236}">
                <a16:creationId xmlns:a16="http://schemas.microsoft.com/office/drawing/2014/main" id="{747D0EEE-BA48-499F-B84C-D20F74CB5DB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52799" y="89593"/>
            <a:ext cx="1070381" cy="1049796"/>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a:extLst>
              <a:ext uri="{FF2B5EF4-FFF2-40B4-BE49-F238E27FC236}">
                <a16:creationId xmlns:a16="http://schemas.microsoft.com/office/drawing/2014/main" id="{B8E50AC5-8D2A-6A5D-796D-B6863CA3B31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123180" y="89593"/>
            <a:ext cx="941000" cy="960203"/>
          </a:xfrm>
          <a:prstGeom prst="rect">
            <a:avLst/>
          </a:prstGeom>
        </p:spPr>
      </p:pic>
      <p:sp>
        <p:nvSpPr>
          <p:cNvPr id="9" name="Rectangle 1">
            <a:extLst>
              <a:ext uri="{FF2B5EF4-FFF2-40B4-BE49-F238E27FC236}">
                <a16:creationId xmlns:a16="http://schemas.microsoft.com/office/drawing/2014/main" id="{D429BC22-2A94-8F83-1051-E05CBD778660}"/>
              </a:ext>
            </a:extLst>
          </p:cNvPr>
          <p:cNvSpPr>
            <a:spLocks noChangeArrowheads="1"/>
          </p:cNvSpPr>
          <p:nvPr/>
        </p:nvSpPr>
        <p:spPr bwMode="auto">
          <a:xfrm>
            <a:off x="3071995" y="6087943"/>
            <a:ext cx="6048009"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tabLst>
                <a:tab pos="400050" algn="l"/>
              </a:tabLst>
              <a:defRPr>
                <a:solidFill>
                  <a:schemeClr val="tx1"/>
                </a:solidFill>
                <a:latin typeface="Arial" panose="020B0604020202020204" pitchFamily="34" charset="0"/>
              </a:defRPr>
            </a:lvl1pPr>
            <a:lvl2pPr eaLnBrk="0" fontAlgn="base" hangingPunct="0">
              <a:spcBef>
                <a:spcPct val="0"/>
              </a:spcBef>
              <a:spcAft>
                <a:spcPct val="0"/>
              </a:spcAft>
              <a:tabLst>
                <a:tab pos="400050" algn="l"/>
              </a:tabLst>
              <a:defRPr>
                <a:solidFill>
                  <a:schemeClr val="tx1"/>
                </a:solidFill>
                <a:latin typeface="Arial" panose="020B0604020202020204" pitchFamily="34" charset="0"/>
              </a:defRPr>
            </a:lvl2pPr>
            <a:lvl3pPr eaLnBrk="0" fontAlgn="base" hangingPunct="0">
              <a:spcBef>
                <a:spcPct val="0"/>
              </a:spcBef>
              <a:spcAft>
                <a:spcPct val="0"/>
              </a:spcAft>
              <a:tabLst>
                <a:tab pos="400050" algn="l"/>
              </a:tabLst>
              <a:defRPr>
                <a:solidFill>
                  <a:schemeClr val="tx1"/>
                </a:solidFill>
                <a:latin typeface="Arial" panose="020B0604020202020204" pitchFamily="34" charset="0"/>
              </a:defRPr>
            </a:lvl3pPr>
            <a:lvl4pPr eaLnBrk="0" fontAlgn="base" hangingPunct="0">
              <a:spcBef>
                <a:spcPct val="0"/>
              </a:spcBef>
              <a:spcAft>
                <a:spcPct val="0"/>
              </a:spcAft>
              <a:tabLst>
                <a:tab pos="400050" algn="l"/>
              </a:tabLst>
              <a:defRPr>
                <a:solidFill>
                  <a:schemeClr val="tx1"/>
                </a:solidFill>
                <a:latin typeface="Arial" panose="020B0604020202020204" pitchFamily="34" charset="0"/>
              </a:defRPr>
            </a:lvl4pPr>
            <a:lvl5pPr eaLnBrk="0" fontAlgn="base" hangingPunct="0">
              <a:spcBef>
                <a:spcPct val="0"/>
              </a:spcBef>
              <a:spcAft>
                <a:spcPct val="0"/>
              </a:spcAft>
              <a:tabLst>
                <a:tab pos="400050" algn="l"/>
              </a:tabLst>
              <a:defRPr>
                <a:solidFill>
                  <a:schemeClr val="tx1"/>
                </a:solidFill>
                <a:latin typeface="Arial" panose="020B0604020202020204" pitchFamily="34" charset="0"/>
              </a:defRPr>
            </a:lvl5pPr>
            <a:lvl6pPr eaLnBrk="0" fontAlgn="base" hangingPunct="0">
              <a:spcBef>
                <a:spcPct val="0"/>
              </a:spcBef>
              <a:spcAft>
                <a:spcPct val="0"/>
              </a:spcAft>
              <a:tabLst>
                <a:tab pos="400050" algn="l"/>
              </a:tabLst>
              <a:defRPr>
                <a:solidFill>
                  <a:schemeClr val="tx1"/>
                </a:solidFill>
                <a:latin typeface="Arial" panose="020B0604020202020204" pitchFamily="34" charset="0"/>
              </a:defRPr>
            </a:lvl6pPr>
            <a:lvl7pPr eaLnBrk="0" fontAlgn="base" hangingPunct="0">
              <a:spcBef>
                <a:spcPct val="0"/>
              </a:spcBef>
              <a:spcAft>
                <a:spcPct val="0"/>
              </a:spcAft>
              <a:tabLst>
                <a:tab pos="400050" algn="l"/>
              </a:tabLst>
              <a:defRPr>
                <a:solidFill>
                  <a:schemeClr val="tx1"/>
                </a:solidFill>
                <a:latin typeface="Arial" panose="020B0604020202020204" pitchFamily="34" charset="0"/>
              </a:defRPr>
            </a:lvl7pPr>
            <a:lvl8pPr eaLnBrk="0" fontAlgn="base" hangingPunct="0">
              <a:spcBef>
                <a:spcPct val="0"/>
              </a:spcBef>
              <a:spcAft>
                <a:spcPct val="0"/>
              </a:spcAft>
              <a:tabLst>
                <a:tab pos="400050" algn="l"/>
              </a:tabLst>
              <a:defRPr>
                <a:solidFill>
                  <a:schemeClr val="tx1"/>
                </a:solidFill>
                <a:latin typeface="Arial" panose="020B0604020202020204" pitchFamily="34" charset="0"/>
              </a:defRPr>
            </a:lvl8pPr>
            <a:lvl9pPr eaLnBrk="0" fontAlgn="base" hangingPunct="0">
              <a:spcBef>
                <a:spcPct val="0"/>
              </a:spcBef>
              <a:spcAft>
                <a:spcPct val="0"/>
              </a:spcAft>
              <a:tabLst>
                <a:tab pos="400050" algn="l"/>
              </a:tabLs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tab pos="400050" algn="l"/>
              </a:tabLst>
            </a:pPr>
            <a:r>
              <a:rPr kumimoji="0" lang="en-US" altLang="en-US" sz="1100" b="1" i="0" u="none" strike="noStrike" cap="none" normalizeH="0" baseline="0" dirty="0">
                <a:ln>
                  <a:noFill/>
                </a:ln>
                <a:solidFill>
                  <a:srgbClr val="000000"/>
                </a:solidFill>
                <a:effectLst/>
                <a:latin typeface="Arial" panose="020B0604020202020204" pitchFamily="34" charset="0"/>
                <a:ea typeface="Cambria" panose="02040503050406030204" pitchFamily="18" charset="0"/>
                <a:cs typeface="Cambria" panose="02040503050406030204" pitchFamily="18" charset="0"/>
              </a:rPr>
              <a:t>	3: Substantial (High)                     2: Moderate (Medium)                       1: Poor (Low) </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graphicFrame>
        <p:nvGraphicFramePr>
          <p:cNvPr id="2" name="Table 1">
            <a:extLst>
              <a:ext uri="{FF2B5EF4-FFF2-40B4-BE49-F238E27FC236}">
                <a16:creationId xmlns:a16="http://schemas.microsoft.com/office/drawing/2014/main" id="{57599B20-EC68-69E2-6224-3AA9F60D78AC}"/>
              </a:ext>
            </a:extLst>
          </p:cNvPr>
          <p:cNvGraphicFramePr>
            <a:graphicFrameLocks noGrp="1"/>
          </p:cNvGraphicFramePr>
          <p:nvPr>
            <p:extLst>
              <p:ext uri="{D42A27DB-BD31-4B8C-83A1-F6EECF244321}">
                <p14:modId xmlns:p14="http://schemas.microsoft.com/office/powerpoint/2010/main" val="8188575"/>
              </p:ext>
            </p:extLst>
          </p:nvPr>
        </p:nvGraphicFramePr>
        <p:xfrm>
          <a:off x="1741738" y="508447"/>
          <a:ext cx="9261430" cy="5629625"/>
        </p:xfrm>
        <a:graphic>
          <a:graphicData uri="http://schemas.openxmlformats.org/drawingml/2006/table">
            <a:tbl>
              <a:tblPr bandRow="1">
                <a:tableStyleId>{5C22544A-7EE6-4342-B048-85BDC9FD1C3A}</a:tableStyleId>
              </a:tblPr>
              <a:tblGrid>
                <a:gridCol w="585174">
                  <a:extLst>
                    <a:ext uri="{9D8B030D-6E8A-4147-A177-3AD203B41FA5}">
                      <a16:colId xmlns:a16="http://schemas.microsoft.com/office/drawing/2014/main" val="1463236724"/>
                    </a:ext>
                  </a:extLst>
                </a:gridCol>
                <a:gridCol w="332144">
                  <a:extLst>
                    <a:ext uri="{9D8B030D-6E8A-4147-A177-3AD203B41FA5}">
                      <a16:colId xmlns:a16="http://schemas.microsoft.com/office/drawing/2014/main" val="3604954817"/>
                    </a:ext>
                  </a:extLst>
                </a:gridCol>
                <a:gridCol w="334758">
                  <a:extLst>
                    <a:ext uri="{9D8B030D-6E8A-4147-A177-3AD203B41FA5}">
                      <a16:colId xmlns:a16="http://schemas.microsoft.com/office/drawing/2014/main" val="595568692"/>
                    </a:ext>
                  </a:extLst>
                </a:gridCol>
                <a:gridCol w="369411">
                  <a:extLst>
                    <a:ext uri="{9D8B030D-6E8A-4147-A177-3AD203B41FA5}">
                      <a16:colId xmlns:a16="http://schemas.microsoft.com/office/drawing/2014/main" val="167415497"/>
                    </a:ext>
                  </a:extLst>
                </a:gridCol>
                <a:gridCol w="369411">
                  <a:extLst>
                    <a:ext uri="{9D8B030D-6E8A-4147-A177-3AD203B41FA5}">
                      <a16:colId xmlns:a16="http://schemas.microsoft.com/office/drawing/2014/main" val="3674388907"/>
                    </a:ext>
                  </a:extLst>
                </a:gridCol>
                <a:gridCol w="369411">
                  <a:extLst>
                    <a:ext uri="{9D8B030D-6E8A-4147-A177-3AD203B41FA5}">
                      <a16:colId xmlns:a16="http://schemas.microsoft.com/office/drawing/2014/main" val="618168838"/>
                    </a:ext>
                  </a:extLst>
                </a:gridCol>
                <a:gridCol w="369411">
                  <a:extLst>
                    <a:ext uri="{9D8B030D-6E8A-4147-A177-3AD203B41FA5}">
                      <a16:colId xmlns:a16="http://schemas.microsoft.com/office/drawing/2014/main" val="3804881025"/>
                    </a:ext>
                  </a:extLst>
                </a:gridCol>
                <a:gridCol w="369411">
                  <a:extLst>
                    <a:ext uri="{9D8B030D-6E8A-4147-A177-3AD203B41FA5}">
                      <a16:colId xmlns:a16="http://schemas.microsoft.com/office/drawing/2014/main" val="38761729"/>
                    </a:ext>
                  </a:extLst>
                </a:gridCol>
                <a:gridCol w="369411">
                  <a:extLst>
                    <a:ext uri="{9D8B030D-6E8A-4147-A177-3AD203B41FA5}">
                      <a16:colId xmlns:a16="http://schemas.microsoft.com/office/drawing/2014/main" val="1444288773"/>
                    </a:ext>
                  </a:extLst>
                </a:gridCol>
                <a:gridCol w="369411">
                  <a:extLst>
                    <a:ext uri="{9D8B030D-6E8A-4147-A177-3AD203B41FA5}">
                      <a16:colId xmlns:a16="http://schemas.microsoft.com/office/drawing/2014/main" val="3055907202"/>
                    </a:ext>
                  </a:extLst>
                </a:gridCol>
                <a:gridCol w="369411">
                  <a:extLst>
                    <a:ext uri="{9D8B030D-6E8A-4147-A177-3AD203B41FA5}">
                      <a16:colId xmlns:a16="http://schemas.microsoft.com/office/drawing/2014/main" val="2897197589"/>
                    </a:ext>
                  </a:extLst>
                </a:gridCol>
                <a:gridCol w="461600">
                  <a:extLst>
                    <a:ext uri="{9D8B030D-6E8A-4147-A177-3AD203B41FA5}">
                      <a16:colId xmlns:a16="http://schemas.microsoft.com/office/drawing/2014/main" val="2910070043"/>
                    </a:ext>
                  </a:extLst>
                </a:gridCol>
                <a:gridCol w="1006891">
                  <a:extLst>
                    <a:ext uri="{9D8B030D-6E8A-4147-A177-3AD203B41FA5}">
                      <a16:colId xmlns:a16="http://schemas.microsoft.com/office/drawing/2014/main" val="3250176563"/>
                    </a:ext>
                  </a:extLst>
                </a:gridCol>
                <a:gridCol w="1006891">
                  <a:extLst>
                    <a:ext uri="{9D8B030D-6E8A-4147-A177-3AD203B41FA5}">
                      <a16:colId xmlns:a16="http://schemas.microsoft.com/office/drawing/2014/main" val="456731765"/>
                    </a:ext>
                  </a:extLst>
                </a:gridCol>
                <a:gridCol w="1289342">
                  <a:extLst>
                    <a:ext uri="{9D8B030D-6E8A-4147-A177-3AD203B41FA5}">
                      <a16:colId xmlns:a16="http://schemas.microsoft.com/office/drawing/2014/main" val="3652891518"/>
                    </a:ext>
                  </a:extLst>
                </a:gridCol>
                <a:gridCol w="1289342">
                  <a:extLst>
                    <a:ext uri="{9D8B030D-6E8A-4147-A177-3AD203B41FA5}">
                      <a16:colId xmlns:a16="http://schemas.microsoft.com/office/drawing/2014/main" val="2109804406"/>
                    </a:ext>
                  </a:extLst>
                </a:gridCol>
              </a:tblGrid>
              <a:tr h="396201">
                <a:tc gridSpan="15">
                  <a:txBody>
                    <a:bodyPr/>
                    <a:lstStyle/>
                    <a:p>
                      <a:pPr algn="just"/>
                      <a:r>
                        <a:rPr lang="en-IN" sz="1200">
                          <a:effectLst/>
                        </a:rPr>
                        <a:t>Table: Mapping Levels of COs to POs / PSOs</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algn="just"/>
                      <a:r>
                        <a:rPr lang="en-IN" sz="1200">
                          <a:effectLst/>
                        </a:rPr>
                        <a:t> </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952781916"/>
                  </a:ext>
                </a:extLst>
              </a:tr>
              <a:tr h="239506">
                <a:tc rowSpan="2">
                  <a:txBody>
                    <a:bodyPr/>
                    <a:lstStyle/>
                    <a:p>
                      <a:pPr algn="just"/>
                      <a:r>
                        <a:rPr lang="en-IN" sz="1200">
                          <a:effectLst/>
                        </a:rPr>
                        <a:t>COs</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gridSpan="12">
                  <a:txBody>
                    <a:bodyPr/>
                    <a:lstStyle/>
                    <a:p>
                      <a:pPr algn="just"/>
                      <a:r>
                        <a:rPr lang="en-IN" sz="1200">
                          <a:effectLst/>
                        </a:rPr>
                        <a:t>Program Outcomes (POs)</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gridSpan="2">
                  <a:txBody>
                    <a:bodyPr/>
                    <a:lstStyle/>
                    <a:p>
                      <a:pPr algn="just"/>
                      <a:r>
                        <a:rPr lang="en-IN" sz="1200">
                          <a:effectLst/>
                        </a:rPr>
                        <a:t>PSOs</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hMerge="1">
                  <a:txBody>
                    <a:bodyPr/>
                    <a:lstStyle/>
                    <a:p>
                      <a:endParaRPr lang="en-US"/>
                    </a:p>
                  </a:txBody>
                  <a:tcPr/>
                </a:tc>
                <a:tc>
                  <a:txBody>
                    <a:bodyPr/>
                    <a:lstStyle/>
                    <a:p>
                      <a:pPr algn="just"/>
                      <a:r>
                        <a:rPr lang="en-IN" sz="1200">
                          <a:effectLst/>
                        </a:rPr>
                        <a:t> </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811928783"/>
                  </a:ext>
                </a:extLst>
              </a:tr>
              <a:tr h="2655683">
                <a:tc vMerge="1">
                  <a:txBody>
                    <a:bodyPr/>
                    <a:lstStyle/>
                    <a:p>
                      <a:endParaRPr lang="en-US"/>
                    </a:p>
                  </a:txBody>
                  <a:tcPr/>
                </a:tc>
                <a:tc>
                  <a:txBody>
                    <a:bodyPr/>
                    <a:lstStyle/>
                    <a:p>
                      <a:pPr algn="ctr"/>
                      <a:r>
                        <a:rPr lang="en-US" sz="900">
                          <a:effectLst/>
                        </a:rPr>
                        <a:t>Engineering knowledge</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vert="vert270"/>
                </a:tc>
                <a:tc>
                  <a:txBody>
                    <a:bodyPr/>
                    <a:lstStyle/>
                    <a:p>
                      <a:pPr algn="ctr"/>
                      <a:r>
                        <a:rPr lang="en-US" sz="900">
                          <a:effectLst/>
                        </a:rPr>
                        <a:t>Problem analysis</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vert="vert270"/>
                </a:tc>
                <a:tc>
                  <a:txBody>
                    <a:bodyPr/>
                    <a:lstStyle/>
                    <a:p>
                      <a:pPr algn="ctr"/>
                      <a:r>
                        <a:rPr lang="en-US" sz="900">
                          <a:effectLst/>
                        </a:rPr>
                        <a:t>Design/development of solutions</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vert="vert270"/>
                </a:tc>
                <a:tc>
                  <a:txBody>
                    <a:bodyPr/>
                    <a:lstStyle/>
                    <a:p>
                      <a:pPr algn="ctr"/>
                      <a:r>
                        <a:rPr lang="en-US" sz="900">
                          <a:effectLst/>
                        </a:rPr>
                        <a:t>Conduct investigations of complex problems</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vert="vert270"/>
                </a:tc>
                <a:tc>
                  <a:txBody>
                    <a:bodyPr/>
                    <a:lstStyle/>
                    <a:p>
                      <a:pPr algn="ctr"/>
                      <a:r>
                        <a:rPr lang="en-US" sz="900">
                          <a:effectLst/>
                        </a:rPr>
                        <a:t>Modern tool usage</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vert="vert270"/>
                </a:tc>
                <a:tc>
                  <a:txBody>
                    <a:bodyPr/>
                    <a:lstStyle/>
                    <a:p>
                      <a:pPr algn="ctr"/>
                      <a:r>
                        <a:rPr lang="en-US" sz="900">
                          <a:effectLst/>
                        </a:rPr>
                        <a:t>The engineer and society</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vert="vert270"/>
                </a:tc>
                <a:tc>
                  <a:txBody>
                    <a:bodyPr/>
                    <a:lstStyle/>
                    <a:p>
                      <a:pPr algn="ctr"/>
                      <a:r>
                        <a:rPr lang="en-US" sz="900">
                          <a:effectLst/>
                        </a:rPr>
                        <a:t>Environment and sustainability</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vert="vert270"/>
                </a:tc>
                <a:tc>
                  <a:txBody>
                    <a:bodyPr/>
                    <a:lstStyle/>
                    <a:p>
                      <a:pPr algn="ctr"/>
                      <a:r>
                        <a:rPr lang="en-US" sz="900">
                          <a:effectLst/>
                        </a:rPr>
                        <a:t>Ethics</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vert="vert270"/>
                </a:tc>
                <a:tc>
                  <a:txBody>
                    <a:bodyPr/>
                    <a:lstStyle/>
                    <a:p>
                      <a:pPr algn="ctr"/>
                      <a:r>
                        <a:rPr lang="en-US" sz="900">
                          <a:effectLst/>
                        </a:rPr>
                        <a:t>Individual and team work</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vert="vert270"/>
                </a:tc>
                <a:tc>
                  <a:txBody>
                    <a:bodyPr/>
                    <a:lstStyle/>
                    <a:p>
                      <a:pPr algn="ctr"/>
                      <a:r>
                        <a:rPr lang="en-US" sz="900">
                          <a:effectLst/>
                        </a:rPr>
                        <a:t>Communication</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vert="vert270"/>
                </a:tc>
                <a:tc>
                  <a:txBody>
                    <a:bodyPr/>
                    <a:lstStyle/>
                    <a:p>
                      <a:pPr algn="ctr"/>
                      <a:r>
                        <a:rPr lang="en-US" sz="900">
                          <a:effectLst/>
                        </a:rPr>
                        <a:t>Project management and finance</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vert="vert270"/>
                </a:tc>
                <a:tc>
                  <a:txBody>
                    <a:bodyPr/>
                    <a:lstStyle/>
                    <a:p>
                      <a:pPr algn="ctr"/>
                      <a:r>
                        <a:rPr lang="en-US" sz="900">
                          <a:effectLst/>
                        </a:rPr>
                        <a:t>Life-long learning</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vert="vert270"/>
                </a:tc>
                <a:tc>
                  <a:txBody>
                    <a:bodyPr/>
                    <a:lstStyle/>
                    <a:p>
                      <a:pPr algn="ctr"/>
                      <a:r>
                        <a:rPr lang="en-US" sz="900">
                          <a:effectLst/>
                        </a:rPr>
                        <a:t>Apply Analytical, Mathematical and Programming Skills in AI and ML domain for Design and Development, Analyse and test principles of Intelligent Systems used to solve Real World Problems.</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vert="vert270"/>
                </a:tc>
                <a:tc>
                  <a:txBody>
                    <a:bodyPr/>
                    <a:lstStyle/>
                    <a:p>
                      <a:pPr algn="ctr"/>
                      <a:r>
                        <a:rPr lang="en-US" sz="900">
                          <a:effectLst/>
                        </a:rPr>
                        <a:t>Formulate &amp; Build Optimized Solutions for Computationally Intensive Applications.</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vert="vert270"/>
                </a:tc>
                <a:tc>
                  <a:txBody>
                    <a:bodyPr/>
                    <a:lstStyle/>
                    <a:p>
                      <a:pPr algn="ctr"/>
                      <a:r>
                        <a:rPr lang="en-US" sz="900">
                          <a:effectLst/>
                        </a:rPr>
                        <a:t>PO’s Average</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vert="vert270"/>
                </a:tc>
                <a:extLst>
                  <a:ext uri="{0D108BD9-81ED-4DB2-BD59-A6C34878D82A}">
                    <a16:rowId xmlns:a16="http://schemas.microsoft.com/office/drawing/2014/main" val="4154411364"/>
                  </a:ext>
                </a:extLst>
              </a:tr>
              <a:tr h="467647">
                <a:tc>
                  <a:txBody>
                    <a:bodyPr/>
                    <a:lstStyle/>
                    <a:p>
                      <a:pPr algn="just"/>
                      <a:r>
                        <a:rPr lang="en-IN" sz="1200">
                          <a:effectLst/>
                        </a:rPr>
                        <a:t>CO1</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just"/>
                      <a:r>
                        <a:rPr lang="en-IN" sz="1200">
                          <a:effectLst/>
                        </a:rPr>
                        <a:t>2</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just"/>
                      <a:r>
                        <a:rPr lang="en-IN" sz="1200">
                          <a:effectLst/>
                        </a:rPr>
                        <a:t> -</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just"/>
                      <a:r>
                        <a:rPr lang="en-IN" sz="1200">
                          <a:effectLst/>
                        </a:rPr>
                        <a:t>-</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just"/>
                      <a:r>
                        <a:rPr lang="en-IN" sz="1200">
                          <a:effectLst/>
                        </a:rPr>
                        <a:t>-</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just"/>
                      <a:r>
                        <a:rPr lang="en-IN" sz="1200">
                          <a:effectLst/>
                        </a:rPr>
                        <a:t>2</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just"/>
                      <a:r>
                        <a:rPr lang="en-IN" sz="1200">
                          <a:effectLst/>
                        </a:rPr>
                        <a:t>1</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just"/>
                      <a:r>
                        <a:rPr lang="en-IN" sz="1200">
                          <a:effectLst/>
                        </a:rPr>
                        <a:t>-</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just"/>
                      <a:r>
                        <a:rPr lang="en-IN" sz="1200">
                          <a:effectLst/>
                        </a:rPr>
                        <a:t>-</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just"/>
                      <a:r>
                        <a:rPr lang="en-IN" sz="1200">
                          <a:effectLst/>
                        </a:rPr>
                        <a:t>1</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just"/>
                      <a:r>
                        <a:rPr lang="en-IN" sz="1200">
                          <a:effectLst/>
                        </a:rPr>
                        <a:t>1</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just"/>
                      <a:r>
                        <a:rPr lang="en-IN" sz="1200">
                          <a:effectLst/>
                        </a:rPr>
                        <a:t>-</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just"/>
                      <a:r>
                        <a:rPr lang="en-IN" sz="1200">
                          <a:effectLst/>
                        </a:rPr>
                        <a:t>-</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just"/>
                      <a:r>
                        <a:rPr lang="en-IN" sz="1200">
                          <a:effectLst/>
                        </a:rPr>
                        <a:t>2</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just"/>
                      <a:r>
                        <a:rPr lang="en-IN" sz="1200">
                          <a:effectLst/>
                        </a:rPr>
                        <a:t>2</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just"/>
                      <a:r>
                        <a:rPr lang="en-IN" sz="1200">
                          <a:effectLst/>
                        </a:rPr>
                        <a:t>1.40</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207361798"/>
                  </a:ext>
                </a:extLst>
              </a:tr>
              <a:tr h="467647">
                <a:tc>
                  <a:txBody>
                    <a:bodyPr/>
                    <a:lstStyle/>
                    <a:p>
                      <a:pPr algn="just"/>
                      <a:r>
                        <a:rPr lang="en-IN" sz="1200">
                          <a:effectLst/>
                        </a:rPr>
                        <a:t>CO2</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just"/>
                      <a:r>
                        <a:rPr lang="en-IN" sz="1200">
                          <a:effectLst/>
                        </a:rPr>
                        <a:t>3</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just"/>
                      <a:r>
                        <a:rPr lang="en-IN" sz="1200">
                          <a:effectLst/>
                        </a:rPr>
                        <a:t>2</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just"/>
                      <a:r>
                        <a:rPr lang="en-IN" sz="1200">
                          <a:effectLst/>
                        </a:rPr>
                        <a:t>-</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just"/>
                      <a:r>
                        <a:rPr lang="en-IN" sz="1200">
                          <a:effectLst/>
                        </a:rPr>
                        <a:t>-</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just"/>
                      <a:r>
                        <a:rPr lang="en-IN" sz="1200">
                          <a:effectLst/>
                        </a:rPr>
                        <a:t>2</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just"/>
                      <a:r>
                        <a:rPr lang="en-IN" sz="1200">
                          <a:effectLst/>
                        </a:rPr>
                        <a:t>1</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just"/>
                      <a:r>
                        <a:rPr lang="en-IN" sz="1200">
                          <a:effectLst/>
                        </a:rPr>
                        <a:t>-</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just"/>
                      <a:r>
                        <a:rPr lang="en-IN" sz="1200">
                          <a:effectLst/>
                        </a:rPr>
                        <a:t>-</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just"/>
                      <a:r>
                        <a:rPr lang="en-IN" sz="1200">
                          <a:effectLst/>
                        </a:rPr>
                        <a:t>1</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just"/>
                      <a:r>
                        <a:rPr lang="en-IN" sz="1200">
                          <a:effectLst/>
                        </a:rPr>
                        <a:t>1</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just"/>
                      <a:r>
                        <a:rPr lang="en-IN" sz="1200">
                          <a:effectLst/>
                        </a:rPr>
                        <a:t>-</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just"/>
                      <a:r>
                        <a:rPr lang="en-IN" sz="1200">
                          <a:effectLst/>
                        </a:rPr>
                        <a:t>-</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just"/>
                      <a:r>
                        <a:rPr lang="en-IN" sz="1200">
                          <a:effectLst/>
                        </a:rPr>
                        <a:t>2</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just"/>
                      <a:r>
                        <a:rPr lang="en-IN" sz="1200">
                          <a:effectLst/>
                        </a:rPr>
                        <a:t>2</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just"/>
                      <a:r>
                        <a:rPr lang="en-IN" sz="1200">
                          <a:effectLst/>
                        </a:rPr>
                        <a:t>1.66</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530719150"/>
                  </a:ext>
                </a:extLst>
              </a:tr>
              <a:tr h="467647">
                <a:tc>
                  <a:txBody>
                    <a:bodyPr/>
                    <a:lstStyle/>
                    <a:p>
                      <a:pPr algn="just"/>
                      <a:r>
                        <a:rPr lang="en-IN" sz="1200">
                          <a:effectLst/>
                        </a:rPr>
                        <a:t>CO3</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just"/>
                      <a:r>
                        <a:rPr lang="en-IN" sz="1200">
                          <a:effectLst/>
                        </a:rPr>
                        <a:t>3</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just"/>
                      <a:r>
                        <a:rPr lang="en-IN" sz="1200">
                          <a:effectLst/>
                        </a:rPr>
                        <a:t>2</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just"/>
                      <a:r>
                        <a:rPr lang="en-IN" sz="1200">
                          <a:effectLst/>
                        </a:rPr>
                        <a:t>-</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just"/>
                      <a:r>
                        <a:rPr lang="en-IN" sz="1200">
                          <a:effectLst/>
                        </a:rPr>
                        <a:t>-</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just"/>
                      <a:r>
                        <a:rPr lang="en-IN" sz="1200">
                          <a:effectLst/>
                        </a:rPr>
                        <a:t>2</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just"/>
                      <a:r>
                        <a:rPr lang="en-IN" sz="1200">
                          <a:effectLst/>
                        </a:rPr>
                        <a:t>1</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just"/>
                      <a:r>
                        <a:rPr lang="en-IN" sz="1200">
                          <a:effectLst/>
                        </a:rPr>
                        <a:t>-</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just"/>
                      <a:r>
                        <a:rPr lang="en-IN" sz="1200">
                          <a:effectLst/>
                        </a:rPr>
                        <a:t>-</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just"/>
                      <a:r>
                        <a:rPr lang="en-IN" sz="1200">
                          <a:effectLst/>
                        </a:rPr>
                        <a:t>1</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just"/>
                      <a:r>
                        <a:rPr lang="en-IN" sz="1200">
                          <a:effectLst/>
                        </a:rPr>
                        <a:t>1</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just"/>
                      <a:r>
                        <a:rPr lang="en-IN" sz="1200">
                          <a:effectLst/>
                        </a:rPr>
                        <a:t>-</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just"/>
                      <a:r>
                        <a:rPr lang="en-IN" sz="1200">
                          <a:effectLst/>
                        </a:rPr>
                        <a:t>-</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just"/>
                      <a:r>
                        <a:rPr lang="en-IN" sz="1200">
                          <a:effectLst/>
                        </a:rPr>
                        <a:t>2</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just"/>
                      <a:r>
                        <a:rPr lang="en-IN" sz="1200">
                          <a:effectLst/>
                        </a:rPr>
                        <a:t>2</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just"/>
                      <a:r>
                        <a:rPr lang="en-IN" sz="1200">
                          <a:effectLst/>
                        </a:rPr>
                        <a:t>1.66</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629748215"/>
                  </a:ext>
                </a:extLst>
              </a:tr>
              <a:tr h="467647">
                <a:tc>
                  <a:txBody>
                    <a:bodyPr/>
                    <a:lstStyle/>
                    <a:p>
                      <a:pPr algn="just"/>
                      <a:r>
                        <a:rPr lang="en-IN" sz="1200">
                          <a:effectLst/>
                        </a:rPr>
                        <a:t>CO4</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just"/>
                      <a:r>
                        <a:rPr lang="en-IN" sz="1200">
                          <a:effectLst/>
                        </a:rPr>
                        <a:t>3</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just"/>
                      <a:r>
                        <a:rPr lang="en-IN" sz="1200">
                          <a:effectLst/>
                        </a:rPr>
                        <a:t>2</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just"/>
                      <a:r>
                        <a:rPr lang="en-IN" sz="1200">
                          <a:effectLst/>
                        </a:rPr>
                        <a:t>-</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just"/>
                      <a:r>
                        <a:rPr lang="en-IN" sz="1200">
                          <a:effectLst/>
                        </a:rPr>
                        <a:t>-</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just"/>
                      <a:r>
                        <a:rPr lang="en-IN" sz="1200">
                          <a:effectLst/>
                        </a:rPr>
                        <a:t>2</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just"/>
                      <a:r>
                        <a:rPr lang="en-IN" sz="1200">
                          <a:effectLst/>
                        </a:rPr>
                        <a:t>1</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just"/>
                      <a:r>
                        <a:rPr lang="en-IN" sz="1200">
                          <a:effectLst/>
                        </a:rPr>
                        <a:t>-</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just"/>
                      <a:r>
                        <a:rPr lang="en-IN" sz="1200">
                          <a:effectLst/>
                        </a:rPr>
                        <a:t>-</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just"/>
                      <a:r>
                        <a:rPr lang="en-IN" sz="1200">
                          <a:effectLst/>
                        </a:rPr>
                        <a:t>1</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just"/>
                      <a:r>
                        <a:rPr lang="en-IN" sz="1200">
                          <a:effectLst/>
                        </a:rPr>
                        <a:t>1</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just"/>
                      <a:r>
                        <a:rPr lang="en-IN" sz="1200">
                          <a:effectLst/>
                        </a:rPr>
                        <a:t>-</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just"/>
                      <a:r>
                        <a:rPr lang="en-IN" sz="1200">
                          <a:effectLst/>
                        </a:rPr>
                        <a:t>-</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just"/>
                      <a:r>
                        <a:rPr lang="en-IN" sz="1200">
                          <a:effectLst/>
                        </a:rPr>
                        <a:t>2</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just"/>
                      <a:r>
                        <a:rPr lang="en-IN" sz="1200">
                          <a:effectLst/>
                        </a:rPr>
                        <a:t>2</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just"/>
                      <a:r>
                        <a:rPr lang="en-IN" sz="1200">
                          <a:effectLst/>
                        </a:rPr>
                        <a:t>1.66</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578623738"/>
                  </a:ext>
                </a:extLst>
              </a:tr>
              <a:tr h="467647">
                <a:tc>
                  <a:txBody>
                    <a:bodyPr/>
                    <a:lstStyle/>
                    <a:p>
                      <a:pPr algn="just"/>
                      <a:r>
                        <a:rPr lang="en-IN" sz="1200">
                          <a:effectLst/>
                        </a:rPr>
                        <a:t>CO5</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just"/>
                      <a:r>
                        <a:rPr lang="en-IN" sz="1200">
                          <a:effectLst/>
                        </a:rPr>
                        <a:t>3</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just"/>
                      <a:r>
                        <a:rPr lang="en-IN" sz="1200">
                          <a:effectLst/>
                        </a:rPr>
                        <a:t>3</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just"/>
                      <a:r>
                        <a:rPr lang="en-IN" sz="1200">
                          <a:effectLst/>
                        </a:rPr>
                        <a:t>2</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just"/>
                      <a:r>
                        <a:rPr lang="en-IN" sz="1200">
                          <a:effectLst/>
                        </a:rPr>
                        <a:t>- </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just"/>
                      <a:r>
                        <a:rPr lang="en-IN" sz="1200">
                          <a:effectLst/>
                        </a:rPr>
                        <a:t>2</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just"/>
                      <a:r>
                        <a:rPr lang="en-IN" sz="1200">
                          <a:effectLst/>
                        </a:rPr>
                        <a:t>1</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just"/>
                      <a:r>
                        <a:rPr lang="en-IN" sz="1200">
                          <a:effectLst/>
                        </a:rPr>
                        <a:t>-</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just"/>
                      <a:r>
                        <a:rPr lang="en-IN" sz="1200">
                          <a:effectLst/>
                        </a:rPr>
                        <a:t>-</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just"/>
                      <a:r>
                        <a:rPr lang="en-IN" sz="1200">
                          <a:effectLst/>
                        </a:rPr>
                        <a:t>1</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just"/>
                      <a:r>
                        <a:rPr lang="en-IN" sz="1200">
                          <a:effectLst/>
                        </a:rPr>
                        <a:t>1</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just"/>
                      <a:r>
                        <a:rPr lang="en-IN" sz="1200">
                          <a:effectLst/>
                        </a:rPr>
                        <a:t>-</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just"/>
                      <a:r>
                        <a:rPr lang="en-IN" sz="1200">
                          <a:effectLst/>
                        </a:rPr>
                        <a:t>-</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just"/>
                      <a:r>
                        <a:rPr lang="en-IN" sz="1200">
                          <a:effectLst/>
                        </a:rPr>
                        <a:t>2</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just"/>
                      <a:r>
                        <a:rPr lang="en-IN" sz="1200">
                          <a:effectLst/>
                        </a:rPr>
                        <a:t>2</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just"/>
                      <a:r>
                        <a:rPr lang="en-IN" sz="1200" dirty="0">
                          <a:effectLst/>
                        </a:rPr>
                        <a:t>1.85</a:t>
                      </a:r>
                      <a:endParaRPr lang="en-US" sz="1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871678492"/>
                  </a:ext>
                </a:extLst>
              </a:tr>
            </a:tbl>
          </a:graphicData>
        </a:graphic>
      </p:graphicFrame>
      <p:sp>
        <p:nvSpPr>
          <p:cNvPr id="10" name="TextBox 9">
            <a:extLst>
              <a:ext uri="{FF2B5EF4-FFF2-40B4-BE49-F238E27FC236}">
                <a16:creationId xmlns:a16="http://schemas.microsoft.com/office/drawing/2014/main" id="{455DF195-6BD4-0B7A-5A23-8847F491C8B3}"/>
              </a:ext>
            </a:extLst>
          </p:cNvPr>
          <p:cNvSpPr txBox="1"/>
          <p:nvPr/>
        </p:nvSpPr>
        <p:spPr>
          <a:xfrm>
            <a:off x="840248" y="89593"/>
            <a:ext cx="6135328" cy="369332"/>
          </a:xfrm>
          <a:prstGeom prst="rect">
            <a:avLst/>
          </a:prstGeom>
          <a:noFill/>
        </p:spPr>
        <p:txBody>
          <a:bodyPr wrap="square">
            <a:spAutoFit/>
          </a:bodyPr>
          <a:lstStyle/>
          <a:p>
            <a:r>
              <a:rPr lang="en-US" dirty="0"/>
              <a:t>(New PSO’S)</a:t>
            </a:r>
          </a:p>
        </p:txBody>
      </p:sp>
    </p:spTree>
    <p:extLst>
      <p:ext uri="{BB962C8B-B14F-4D97-AF65-F5344CB8AC3E}">
        <p14:creationId xmlns:p14="http://schemas.microsoft.com/office/powerpoint/2010/main" val="426512952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47515F-4A58-DFA9-F4DC-FA2F57C2B8AC}"/>
              </a:ext>
            </a:extLst>
          </p:cNvPr>
          <p:cNvSpPr>
            <a:spLocks noGrp="1"/>
          </p:cNvSpPr>
          <p:nvPr>
            <p:ph type="title"/>
          </p:nvPr>
        </p:nvSpPr>
        <p:spPr>
          <a:xfrm>
            <a:off x="1676302" y="240652"/>
            <a:ext cx="8911687" cy="1280890"/>
          </a:xfrm>
        </p:spPr>
        <p:txBody>
          <a:bodyPr/>
          <a:lstStyle/>
          <a:p>
            <a:endParaRPr lang="en-US" dirty="0"/>
          </a:p>
        </p:txBody>
      </p:sp>
      <p:sp>
        <p:nvSpPr>
          <p:cNvPr id="3" name="Content Placeholder 2">
            <a:extLst>
              <a:ext uri="{FF2B5EF4-FFF2-40B4-BE49-F238E27FC236}">
                <a16:creationId xmlns:a16="http://schemas.microsoft.com/office/drawing/2014/main" id="{CD8527A1-EA1C-ABF8-E388-1F26941C7D64}"/>
              </a:ext>
            </a:extLst>
          </p:cNvPr>
          <p:cNvSpPr>
            <a:spLocks noGrp="1"/>
          </p:cNvSpPr>
          <p:nvPr>
            <p:ph idx="1"/>
          </p:nvPr>
        </p:nvSpPr>
        <p:spPr>
          <a:xfrm>
            <a:off x="1259107" y="1849581"/>
            <a:ext cx="10334573" cy="3401962"/>
          </a:xfrm>
        </p:spPr>
        <p:txBody>
          <a:bodyPr>
            <a:noAutofit/>
          </a:bodyPr>
          <a:lstStyle/>
          <a:p>
            <a:pPr algn="just">
              <a:lnSpc>
                <a:spcPct val="107000"/>
              </a:lnSpc>
              <a:spcAft>
                <a:spcPts val="800"/>
              </a:spcAft>
            </a:pPr>
            <a:r>
              <a:rPr lang="en-IN" sz="1600" b="1" dirty="0">
                <a:solidFill>
                  <a:srgbClr val="000000"/>
                </a:solidFill>
                <a:effectLst/>
                <a:latin typeface="Cambria" panose="02040503050406030204" pitchFamily="18" charset="0"/>
                <a:ea typeface="Cambria" panose="02040503050406030204" pitchFamily="18" charset="0"/>
                <a:cs typeface="Cambria" panose="02040503050406030204" pitchFamily="18" charset="0"/>
              </a:rPr>
              <a:t>E-Resources:</a:t>
            </a:r>
            <a:endParaRPr lang="en-US" sz="1600" dirty="0">
              <a:effectLst/>
              <a:latin typeface="Calibri" panose="020F0502020204030204" pitchFamily="34" charset="0"/>
              <a:ea typeface="Calibri" panose="020F0502020204030204" pitchFamily="34" charset="0"/>
            </a:endParaRPr>
          </a:p>
          <a:p>
            <a:pPr marL="342900" lvl="0" indent="-342900" algn="just">
              <a:lnSpc>
                <a:spcPct val="107000"/>
              </a:lnSpc>
              <a:spcAft>
                <a:spcPts val="800"/>
              </a:spcAft>
              <a:buSzPts val="1100"/>
              <a:buFont typeface="Cambria" panose="02040503050406030204" pitchFamily="18" charset="0"/>
              <a:buAutoNum type="arabicPeriod"/>
            </a:pPr>
            <a:r>
              <a:rPr lang="en-IN" sz="1600" u="none" strike="noStrike" dirty="0">
                <a:solidFill>
                  <a:srgbClr val="0563C1"/>
                </a:solidFill>
                <a:effectLst/>
                <a:latin typeface="Cambria" panose="02040503050406030204" pitchFamily="18" charset="0"/>
                <a:ea typeface="Cambria" panose="02040503050406030204" pitchFamily="18" charset="0"/>
                <a:cs typeface="Cambria" panose="02040503050406030204" pitchFamily="18" charset="0"/>
                <a:hlinkClick r:id="rId2"/>
              </a:rPr>
              <a:t>https://onlinecourses.nptel.ac.in/noc22_cs56/preview</a:t>
            </a:r>
            <a:endParaRPr lang="en-US" sz="1600" dirty="0">
              <a:effectLst/>
              <a:latin typeface="Calibri" panose="020F0502020204030204" pitchFamily="34" charset="0"/>
              <a:ea typeface="Cambria" panose="02040503050406030204" pitchFamily="18" charset="0"/>
              <a:cs typeface="Cambria" panose="02040503050406030204" pitchFamily="18" charset="0"/>
            </a:endParaRPr>
          </a:p>
          <a:p>
            <a:pPr marL="342900" lvl="0" indent="-342900" algn="just">
              <a:lnSpc>
                <a:spcPct val="107000"/>
              </a:lnSpc>
              <a:spcAft>
                <a:spcPts val="800"/>
              </a:spcAft>
              <a:buSzPts val="1100"/>
              <a:buFont typeface="Cambria" panose="02040503050406030204" pitchFamily="18" charset="0"/>
              <a:buAutoNum type="arabicPeriod"/>
            </a:pPr>
            <a:r>
              <a:rPr lang="en-IN" sz="1600" u="sng" dirty="0">
                <a:solidFill>
                  <a:srgbClr val="0563C1"/>
                </a:solidFill>
                <a:effectLst/>
                <a:latin typeface="Cambria" panose="02040503050406030204" pitchFamily="18" charset="0"/>
                <a:ea typeface="Cambria" panose="02040503050406030204" pitchFamily="18" charset="0"/>
                <a:cs typeface="Cambria" panose="02040503050406030204" pitchFamily="18" charset="0"/>
                <a:hlinkClick r:id="rId3"/>
              </a:rPr>
              <a:t>https://onlinecourses.nptel.ac.in/noc23_ge40/preview</a:t>
            </a:r>
            <a:endParaRPr lang="en-US" sz="1600" dirty="0">
              <a:effectLst/>
              <a:latin typeface="Calibri" panose="020F0502020204030204" pitchFamily="34" charset="0"/>
              <a:ea typeface="Calibri" panose="020F0502020204030204" pitchFamily="34" charset="0"/>
            </a:endParaRPr>
          </a:p>
          <a:p>
            <a:pPr algn="just">
              <a:lnSpc>
                <a:spcPct val="107000"/>
              </a:lnSpc>
              <a:spcAft>
                <a:spcPts val="800"/>
              </a:spcAft>
            </a:pPr>
            <a:r>
              <a:rPr lang="en-IN" sz="1600" b="1" dirty="0">
                <a:solidFill>
                  <a:srgbClr val="000000"/>
                </a:solidFill>
                <a:effectLst/>
                <a:latin typeface="Cambria" panose="02040503050406030204" pitchFamily="18" charset="0"/>
                <a:ea typeface="Cambria" panose="02040503050406030204" pitchFamily="18" charset="0"/>
                <a:cs typeface="Cambria" panose="02040503050406030204" pitchFamily="18" charset="0"/>
              </a:rPr>
              <a:t>Activity Based Learning (Suggested Activities in Class)</a:t>
            </a:r>
            <a:endParaRPr lang="en-US" sz="1600" dirty="0">
              <a:effectLst/>
              <a:latin typeface="Calibri" panose="020F0502020204030204" pitchFamily="34" charset="0"/>
              <a:ea typeface="Calibri" panose="020F0502020204030204" pitchFamily="34" charset="0"/>
            </a:endParaRPr>
          </a:p>
          <a:p>
            <a:pPr marL="342900" lvl="0" indent="-342900" algn="just">
              <a:lnSpc>
                <a:spcPct val="107000"/>
              </a:lnSpc>
              <a:spcAft>
                <a:spcPts val="600"/>
              </a:spcAft>
              <a:buFont typeface="+mj-lt"/>
              <a:buAutoNum type="arabicPeriod"/>
            </a:pPr>
            <a:r>
              <a:rPr lang="en-IN" sz="1600" dirty="0">
                <a:solidFill>
                  <a:srgbClr val="000000"/>
                </a:solidFill>
                <a:effectLst/>
                <a:latin typeface="Cambria" panose="02040503050406030204" pitchFamily="18" charset="0"/>
                <a:ea typeface="Cambria" panose="02040503050406030204" pitchFamily="18" charset="0"/>
                <a:cs typeface="Cambria" panose="02040503050406030204" pitchFamily="18" charset="0"/>
              </a:rPr>
              <a:t>Flipped Class Activity on Searching Techniques.</a:t>
            </a:r>
            <a:endParaRPr lang="en-US" sz="1600" dirty="0">
              <a:effectLst/>
              <a:latin typeface="Calibri" panose="020F0502020204030204" pitchFamily="34" charset="0"/>
              <a:ea typeface="Calibri" panose="020F0502020204030204" pitchFamily="34" charset="0"/>
            </a:endParaRPr>
          </a:p>
          <a:p>
            <a:pPr marL="342900" lvl="0" indent="-342900" algn="just">
              <a:lnSpc>
                <a:spcPct val="107000"/>
              </a:lnSpc>
              <a:spcAft>
                <a:spcPts val="600"/>
              </a:spcAft>
              <a:buFont typeface="+mj-lt"/>
              <a:buAutoNum type="arabicPeriod"/>
            </a:pPr>
            <a:r>
              <a:rPr lang="en-IN" sz="1600" dirty="0">
                <a:solidFill>
                  <a:srgbClr val="000000"/>
                </a:solidFill>
                <a:effectLst/>
                <a:latin typeface="Cambria" panose="02040503050406030204" pitchFamily="18" charset="0"/>
                <a:ea typeface="Cambria" panose="02040503050406030204" pitchFamily="18" charset="0"/>
                <a:cs typeface="Cambria" panose="02040503050406030204" pitchFamily="18" charset="0"/>
              </a:rPr>
              <a:t>Problem Solving and Discussion.</a:t>
            </a:r>
            <a:endParaRPr lang="en-US" sz="1600" dirty="0">
              <a:effectLst/>
              <a:latin typeface="Calibri" panose="020F0502020204030204" pitchFamily="34" charset="0"/>
              <a:ea typeface="Calibri" panose="020F0502020204030204" pitchFamily="34" charset="0"/>
            </a:endParaRPr>
          </a:p>
          <a:p>
            <a:pPr marL="342900" lvl="0" indent="-342900" algn="just">
              <a:lnSpc>
                <a:spcPct val="107000"/>
              </a:lnSpc>
              <a:spcAft>
                <a:spcPts val="600"/>
              </a:spcAft>
              <a:buFont typeface="+mj-lt"/>
              <a:buAutoNum type="arabicPeriod"/>
            </a:pPr>
            <a:r>
              <a:rPr lang="en-IN" sz="1600" dirty="0">
                <a:solidFill>
                  <a:srgbClr val="000000"/>
                </a:solidFill>
                <a:effectLst/>
                <a:latin typeface="Cambria" panose="02040503050406030204" pitchFamily="18" charset="0"/>
                <a:ea typeface="Cambria" panose="02040503050406030204" pitchFamily="18" charset="0"/>
                <a:cs typeface="Cambria" panose="02040503050406030204" pitchFamily="18" charset="0"/>
              </a:rPr>
              <a:t>Mini Project (presentation &amp; Report)</a:t>
            </a:r>
            <a:endParaRPr lang="en-US" sz="1600" dirty="0">
              <a:effectLst/>
              <a:latin typeface="Calibri" panose="020F0502020204030204" pitchFamily="34" charset="0"/>
              <a:ea typeface="Calibri" panose="020F0502020204030204" pitchFamily="34" charset="0"/>
            </a:endParaRPr>
          </a:p>
          <a:p>
            <a:endParaRPr lang="en-US" sz="1600" dirty="0"/>
          </a:p>
        </p:txBody>
      </p:sp>
      <p:pic>
        <p:nvPicPr>
          <p:cNvPr id="4" name="Picture 3">
            <a:extLst>
              <a:ext uri="{FF2B5EF4-FFF2-40B4-BE49-F238E27FC236}">
                <a16:creationId xmlns:a16="http://schemas.microsoft.com/office/drawing/2014/main" id="{0A5EF682-BBC6-BC89-A815-2405B3BFA89F}"/>
              </a:ext>
            </a:extLst>
          </p:cNvPr>
          <p:cNvPicPr>
            <a:picLocks noChangeAspect="1"/>
          </p:cNvPicPr>
          <p:nvPr/>
        </p:nvPicPr>
        <p:blipFill rotWithShape="1">
          <a:blip r:embed="rId4">
            <a:extLst>
              <a:ext uri="{28A0092B-C50C-407E-A947-70E740481C1C}">
                <a14:useLocalDpi xmlns:a14="http://schemas.microsoft.com/office/drawing/2010/main" val="0"/>
              </a:ext>
            </a:extLst>
          </a:blip>
          <a:srcRect l="7632" t="6513" r="14801" b="12673"/>
          <a:stretch/>
        </p:blipFill>
        <p:spPr>
          <a:xfrm>
            <a:off x="11003168" y="6329803"/>
            <a:ext cx="1002890" cy="342928"/>
          </a:xfrm>
          <a:prstGeom prst="rect">
            <a:avLst/>
          </a:prstGeom>
        </p:spPr>
      </p:pic>
      <p:sp>
        <p:nvSpPr>
          <p:cNvPr id="5" name="TextBox 4">
            <a:extLst>
              <a:ext uri="{FF2B5EF4-FFF2-40B4-BE49-F238E27FC236}">
                <a16:creationId xmlns:a16="http://schemas.microsoft.com/office/drawing/2014/main" id="{CED2CCDC-C02F-B3A1-A3C5-707DECA064F1}"/>
              </a:ext>
            </a:extLst>
          </p:cNvPr>
          <p:cNvSpPr txBox="1"/>
          <p:nvPr/>
        </p:nvSpPr>
        <p:spPr>
          <a:xfrm>
            <a:off x="-30367" y="770057"/>
            <a:ext cx="1741230" cy="369332"/>
          </a:xfrm>
          <a:prstGeom prst="rect">
            <a:avLst/>
          </a:prstGeom>
          <a:noFill/>
        </p:spPr>
        <p:txBody>
          <a:bodyPr wrap="square" rtlCol="0">
            <a:spAutoFit/>
          </a:bodyPr>
          <a:lstStyle/>
          <a:p>
            <a:r>
              <a:rPr lang="en-US" sz="1800" dirty="0">
                <a:solidFill>
                  <a:schemeClr val="bg1"/>
                </a:solidFill>
                <a:effectLst/>
                <a:latin typeface="Bookman Old Style" panose="02050604050505020204" pitchFamily="18" charset="0"/>
                <a:ea typeface="Calibri" panose="020F0502020204030204" pitchFamily="34" charset="0"/>
              </a:rPr>
              <a:t>22AM2305</a:t>
            </a:r>
            <a:endParaRPr lang="en-IN" dirty="0">
              <a:solidFill>
                <a:schemeClr val="bg1"/>
              </a:solidFill>
              <a:latin typeface="Bookman Old Style" panose="02050604050505020204" pitchFamily="18" charset="0"/>
            </a:endParaRPr>
          </a:p>
        </p:txBody>
      </p:sp>
      <p:pic>
        <p:nvPicPr>
          <p:cNvPr id="6" name="Picture 2" descr="logo">
            <a:extLst>
              <a:ext uri="{FF2B5EF4-FFF2-40B4-BE49-F238E27FC236}">
                <a16:creationId xmlns:a16="http://schemas.microsoft.com/office/drawing/2014/main" id="{747D0EEE-BA48-499F-B84C-D20F74CB5DB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052799" y="89593"/>
            <a:ext cx="1070381" cy="1049796"/>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a:extLst>
              <a:ext uri="{FF2B5EF4-FFF2-40B4-BE49-F238E27FC236}">
                <a16:creationId xmlns:a16="http://schemas.microsoft.com/office/drawing/2014/main" id="{B8E50AC5-8D2A-6A5D-796D-B6863CA3B319}"/>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1123180" y="89593"/>
            <a:ext cx="941000" cy="960203"/>
          </a:xfrm>
          <a:prstGeom prst="rect">
            <a:avLst/>
          </a:prstGeom>
        </p:spPr>
      </p:pic>
    </p:spTree>
    <p:extLst>
      <p:ext uri="{BB962C8B-B14F-4D97-AF65-F5344CB8AC3E}">
        <p14:creationId xmlns:p14="http://schemas.microsoft.com/office/powerpoint/2010/main" val="58073145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47515F-4A58-DFA9-F4DC-FA2F57C2B8AC}"/>
              </a:ext>
            </a:extLst>
          </p:cNvPr>
          <p:cNvSpPr>
            <a:spLocks noGrp="1"/>
          </p:cNvSpPr>
          <p:nvPr>
            <p:ph type="title"/>
          </p:nvPr>
        </p:nvSpPr>
        <p:spPr>
          <a:xfrm>
            <a:off x="1568147" y="129612"/>
            <a:ext cx="8911687" cy="1280890"/>
          </a:xfrm>
        </p:spPr>
        <p:txBody>
          <a:bodyPr/>
          <a:lstStyle/>
          <a:p>
            <a:r>
              <a:rPr lang="en-US" dirty="0"/>
              <a:t>Unit 2: </a:t>
            </a:r>
            <a:r>
              <a:rPr lang="en-IN" sz="3600" b="1" kern="1200" dirty="0">
                <a:solidFill>
                  <a:schemeClr val="tx1"/>
                </a:solidFill>
                <a:effectLst/>
                <a:latin typeface="+mn-lt"/>
                <a:ea typeface="+mn-ea"/>
                <a:cs typeface="+mn-cs"/>
              </a:rPr>
              <a:t>Basic Search Techniques</a:t>
            </a:r>
            <a:endParaRPr lang="en-US" dirty="0"/>
          </a:p>
        </p:txBody>
      </p:sp>
      <p:graphicFrame>
        <p:nvGraphicFramePr>
          <p:cNvPr id="8" name="Content Placeholder 7">
            <a:extLst>
              <a:ext uri="{FF2B5EF4-FFF2-40B4-BE49-F238E27FC236}">
                <a16:creationId xmlns:a16="http://schemas.microsoft.com/office/drawing/2014/main" id="{5A2040CD-8CDD-19E9-C296-DACDFB09EFA6}"/>
              </a:ext>
            </a:extLst>
          </p:cNvPr>
          <p:cNvGraphicFramePr>
            <a:graphicFrameLocks noGrp="1"/>
          </p:cNvGraphicFramePr>
          <p:nvPr>
            <p:ph idx="1"/>
            <p:extLst>
              <p:ext uri="{D42A27DB-BD31-4B8C-83A1-F6EECF244321}">
                <p14:modId xmlns:p14="http://schemas.microsoft.com/office/powerpoint/2010/main" val="3447179514"/>
              </p:ext>
            </p:extLst>
          </p:nvPr>
        </p:nvGraphicFramePr>
        <p:xfrm>
          <a:off x="1425627" y="4585516"/>
          <a:ext cx="10429260" cy="1833880"/>
        </p:xfrm>
        <a:graphic>
          <a:graphicData uri="http://schemas.openxmlformats.org/drawingml/2006/table">
            <a:tbl>
              <a:tblPr firstRow="1" bandRow="1">
                <a:tableStyleId>{5940675A-B579-460E-94D1-54222C63F5DA}</a:tableStyleId>
              </a:tblPr>
              <a:tblGrid>
                <a:gridCol w="8780206">
                  <a:extLst>
                    <a:ext uri="{9D8B030D-6E8A-4147-A177-3AD203B41FA5}">
                      <a16:colId xmlns:a16="http://schemas.microsoft.com/office/drawing/2014/main" val="3207784939"/>
                    </a:ext>
                  </a:extLst>
                </a:gridCol>
                <a:gridCol w="1649054">
                  <a:extLst>
                    <a:ext uri="{9D8B030D-6E8A-4147-A177-3AD203B41FA5}">
                      <a16:colId xmlns:a16="http://schemas.microsoft.com/office/drawing/2014/main" val="4263419739"/>
                    </a:ext>
                  </a:extLst>
                </a:gridCol>
              </a:tblGrid>
              <a:tr h="370840">
                <a:tc>
                  <a:txBody>
                    <a:bodyPr/>
                    <a:lstStyle/>
                    <a:p>
                      <a:pPr algn="just"/>
                      <a:r>
                        <a:rPr lang="en-US" sz="1600" b="1" dirty="0">
                          <a:solidFill>
                            <a:schemeClr val="tx1"/>
                          </a:solidFill>
                          <a:latin typeface="Bookman Old Style" panose="02050604050505020204" pitchFamily="18" charset="0"/>
                        </a:rPr>
                        <a:t>Unit-2 : </a:t>
                      </a:r>
                      <a:r>
                        <a:rPr lang="en-IN" sz="1800" b="1" kern="1200" dirty="0">
                          <a:solidFill>
                            <a:schemeClr val="tx1"/>
                          </a:solidFill>
                          <a:effectLst/>
                          <a:latin typeface="+mn-lt"/>
                          <a:ea typeface="+mn-ea"/>
                          <a:cs typeface="+mn-cs"/>
                        </a:rPr>
                        <a:t>Basic Search Techniques</a:t>
                      </a:r>
                      <a:endParaRPr lang="en-IN" sz="1600" b="1" kern="1200" dirty="0">
                        <a:solidFill>
                          <a:schemeClr val="tx1"/>
                        </a:solidFill>
                        <a:latin typeface="Bookman Old Style" panose="02050604050505020204" pitchFamily="18" charset="0"/>
                        <a:ea typeface="+mn-ea"/>
                        <a:cs typeface="+mn-cs"/>
                      </a:endParaRPr>
                    </a:p>
                  </a:txBody>
                  <a:tcPr/>
                </a:tc>
                <a:tc>
                  <a:txBody>
                    <a:bodyPr/>
                    <a:lstStyle/>
                    <a:p>
                      <a:pPr algn="just"/>
                      <a:r>
                        <a:rPr lang="en-US" sz="1600" dirty="0">
                          <a:solidFill>
                            <a:schemeClr val="tx1"/>
                          </a:solidFill>
                          <a:latin typeface="Bookman Old Style" panose="02050604050505020204" pitchFamily="18" charset="0"/>
                        </a:rPr>
                        <a:t>Contact Hours</a:t>
                      </a:r>
                      <a:endParaRPr lang="en-IN" sz="1600" dirty="0">
                        <a:solidFill>
                          <a:schemeClr val="tx1"/>
                        </a:solidFill>
                        <a:latin typeface="Bookman Old Style" panose="02050604050505020204" pitchFamily="18" charset="0"/>
                      </a:endParaRPr>
                    </a:p>
                  </a:txBody>
                  <a:tcPr/>
                </a:tc>
                <a:extLst>
                  <a:ext uri="{0D108BD9-81ED-4DB2-BD59-A6C34878D82A}">
                    <a16:rowId xmlns:a16="http://schemas.microsoft.com/office/drawing/2014/main" val="4026588745"/>
                  </a:ext>
                </a:extLst>
              </a:tr>
              <a:tr h="370840">
                <a:tc>
                  <a:txBody>
                    <a:bodyPr/>
                    <a:lstStyle/>
                    <a:p>
                      <a:r>
                        <a:rPr lang="en-IN" sz="1800" kern="1200" dirty="0">
                          <a:solidFill>
                            <a:schemeClr val="tx1"/>
                          </a:solidFill>
                          <a:effectLst/>
                          <a:latin typeface="+mn-lt"/>
                          <a:ea typeface="+mn-ea"/>
                          <a:cs typeface="+mn-cs"/>
                        </a:rPr>
                        <a:t>Basic Search Techniques: Solving problems by searching; issues in the design of search programs; uniform search strategies: Breadth first search, Depth first search, Depth limited search, Bidirectional search, Best First search.</a:t>
                      </a:r>
                      <a:endParaRPr lang="en-US" sz="1800" kern="1200" dirty="0">
                        <a:solidFill>
                          <a:schemeClr val="tx1"/>
                        </a:solidFill>
                        <a:effectLst/>
                        <a:latin typeface="+mn-lt"/>
                        <a:ea typeface="+mn-ea"/>
                        <a:cs typeface="+mn-cs"/>
                      </a:endParaRPr>
                    </a:p>
                    <a:p>
                      <a:r>
                        <a:rPr lang="en-IN" sz="1800" kern="1200" dirty="0">
                          <a:solidFill>
                            <a:schemeClr val="tx1"/>
                          </a:solidFill>
                          <a:effectLst/>
                          <a:latin typeface="+mn-lt"/>
                          <a:ea typeface="+mn-ea"/>
                          <a:cs typeface="+mn-cs"/>
                        </a:rPr>
                        <a:t> </a:t>
                      </a:r>
                      <a:endParaRPr lang="en-US" sz="1800" kern="1200" dirty="0">
                        <a:solidFill>
                          <a:schemeClr val="tx1"/>
                        </a:solidFill>
                        <a:effectLst/>
                        <a:latin typeface="+mn-lt"/>
                        <a:ea typeface="+mn-ea"/>
                        <a:cs typeface="+mn-cs"/>
                      </a:endParaRPr>
                    </a:p>
                    <a:p>
                      <a:r>
                        <a:rPr lang="en-IN" sz="1800" kern="1200" dirty="0">
                          <a:solidFill>
                            <a:schemeClr val="tx1"/>
                          </a:solidFill>
                          <a:effectLst/>
                          <a:latin typeface="+mn-lt"/>
                          <a:ea typeface="+mn-ea"/>
                          <a:cs typeface="+mn-cs"/>
                        </a:rPr>
                        <a:t>Textbook 2: Chapter 2, 3</a:t>
                      </a:r>
                      <a:endParaRPr lang="en-US" sz="1600" b="0" dirty="0">
                        <a:solidFill>
                          <a:schemeClr val="tx1"/>
                        </a:solidFill>
                        <a:latin typeface="Bookman Old Style" panose="02050604050505020204" pitchFamily="18" charset="0"/>
                      </a:endParaRPr>
                    </a:p>
                  </a:txBody>
                  <a:tcPr/>
                </a:tc>
                <a:tc>
                  <a:txBody>
                    <a:bodyPr/>
                    <a:lstStyle/>
                    <a:p>
                      <a:pPr algn="ctr"/>
                      <a:r>
                        <a:rPr lang="en-IN" sz="1600" dirty="0">
                          <a:solidFill>
                            <a:schemeClr val="tx1"/>
                          </a:solidFill>
                          <a:latin typeface="Bookman Old Style" panose="02050604050505020204" pitchFamily="18" charset="0"/>
                        </a:rPr>
                        <a:t>08 </a:t>
                      </a:r>
                    </a:p>
                  </a:txBody>
                  <a:tcPr/>
                </a:tc>
                <a:extLst>
                  <a:ext uri="{0D108BD9-81ED-4DB2-BD59-A6C34878D82A}">
                    <a16:rowId xmlns:a16="http://schemas.microsoft.com/office/drawing/2014/main" val="25561586"/>
                  </a:ext>
                </a:extLst>
              </a:tr>
            </a:tbl>
          </a:graphicData>
        </a:graphic>
      </p:graphicFrame>
      <p:pic>
        <p:nvPicPr>
          <p:cNvPr id="4" name="Picture 3">
            <a:extLst>
              <a:ext uri="{FF2B5EF4-FFF2-40B4-BE49-F238E27FC236}">
                <a16:creationId xmlns:a16="http://schemas.microsoft.com/office/drawing/2014/main" id="{0A5EF682-BBC6-BC89-A815-2405B3BFA89F}"/>
              </a:ext>
            </a:extLst>
          </p:cNvPr>
          <p:cNvPicPr>
            <a:picLocks noChangeAspect="1"/>
          </p:cNvPicPr>
          <p:nvPr/>
        </p:nvPicPr>
        <p:blipFill rotWithShape="1">
          <a:blip r:embed="rId2">
            <a:extLst>
              <a:ext uri="{28A0092B-C50C-407E-A947-70E740481C1C}">
                <a14:useLocalDpi xmlns:a14="http://schemas.microsoft.com/office/drawing/2010/main" val="0"/>
              </a:ext>
            </a:extLst>
          </a:blip>
          <a:srcRect l="7632" t="6513" r="14801" b="12673"/>
          <a:stretch/>
        </p:blipFill>
        <p:spPr>
          <a:xfrm>
            <a:off x="11003168" y="6329803"/>
            <a:ext cx="1002890" cy="342928"/>
          </a:xfrm>
          <a:prstGeom prst="rect">
            <a:avLst/>
          </a:prstGeom>
        </p:spPr>
      </p:pic>
      <p:sp>
        <p:nvSpPr>
          <p:cNvPr id="5" name="TextBox 4">
            <a:extLst>
              <a:ext uri="{FF2B5EF4-FFF2-40B4-BE49-F238E27FC236}">
                <a16:creationId xmlns:a16="http://schemas.microsoft.com/office/drawing/2014/main" id="{CED2CCDC-C02F-B3A1-A3C5-707DECA064F1}"/>
              </a:ext>
            </a:extLst>
          </p:cNvPr>
          <p:cNvSpPr txBox="1"/>
          <p:nvPr/>
        </p:nvSpPr>
        <p:spPr>
          <a:xfrm>
            <a:off x="-30367" y="770057"/>
            <a:ext cx="1741230" cy="369332"/>
          </a:xfrm>
          <a:prstGeom prst="rect">
            <a:avLst/>
          </a:prstGeom>
          <a:noFill/>
        </p:spPr>
        <p:txBody>
          <a:bodyPr wrap="square" rtlCol="0">
            <a:spAutoFit/>
          </a:bodyPr>
          <a:lstStyle/>
          <a:p>
            <a:r>
              <a:rPr lang="en-US" sz="1800" dirty="0">
                <a:solidFill>
                  <a:schemeClr val="bg1"/>
                </a:solidFill>
                <a:effectLst/>
                <a:latin typeface="Bookman Old Style" panose="02050604050505020204" pitchFamily="18" charset="0"/>
                <a:ea typeface="Calibri" panose="020F0502020204030204" pitchFamily="34" charset="0"/>
              </a:rPr>
              <a:t>22AM2305</a:t>
            </a:r>
            <a:endParaRPr lang="en-IN" dirty="0">
              <a:solidFill>
                <a:schemeClr val="bg1"/>
              </a:solidFill>
              <a:latin typeface="Bookman Old Style" panose="02050604050505020204" pitchFamily="18" charset="0"/>
            </a:endParaRPr>
          </a:p>
        </p:txBody>
      </p:sp>
      <p:pic>
        <p:nvPicPr>
          <p:cNvPr id="6" name="Picture 2" descr="logo">
            <a:extLst>
              <a:ext uri="{FF2B5EF4-FFF2-40B4-BE49-F238E27FC236}">
                <a16:creationId xmlns:a16="http://schemas.microsoft.com/office/drawing/2014/main" id="{747D0EEE-BA48-499F-B84C-D20F74CB5DB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52799" y="89593"/>
            <a:ext cx="1070381" cy="1049796"/>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a:extLst>
              <a:ext uri="{FF2B5EF4-FFF2-40B4-BE49-F238E27FC236}">
                <a16:creationId xmlns:a16="http://schemas.microsoft.com/office/drawing/2014/main" id="{B8E50AC5-8D2A-6A5D-796D-B6863CA3B31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123180" y="89593"/>
            <a:ext cx="941000" cy="960203"/>
          </a:xfrm>
          <a:prstGeom prst="rect">
            <a:avLst/>
          </a:prstGeom>
        </p:spPr>
      </p:pic>
      <p:pic>
        <p:nvPicPr>
          <p:cNvPr id="2050" name="Picture 2" descr="searching-768×758-3 – Judicial Appointments Commission">
            <a:extLst>
              <a:ext uri="{FF2B5EF4-FFF2-40B4-BE49-F238E27FC236}">
                <a16:creationId xmlns:a16="http://schemas.microsoft.com/office/drawing/2014/main" id="{02910022-469E-705C-F573-82D16C8BB3A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56128" y="614491"/>
            <a:ext cx="2953249" cy="2914790"/>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Girl Searching Magnifying Glass Stock Vector (Royalty Free) 69637486 |  Shutterstock">
            <a:extLst>
              <a:ext uri="{FF2B5EF4-FFF2-40B4-BE49-F238E27FC236}">
                <a16:creationId xmlns:a16="http://schemas.microsoft.com/office/drawing/2014/main" id="{4B6881D0-5D7A-83A5-4A64-8F8BD6B3D5A6}"/>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t="8310" b="14545"/>
          <a:stretch/>
        </p:blipFill>
        <p:spPr bwMode="auto">
          <a:xfrm>
            <a:off x="4976634" y="1179408"/>
            <a:ext cx="5218881" cy="291479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5581881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47515F-4A58-DFA9-F4DC-FA2F57C2B8AC}"/>
              </a:ext>
            </a:extLst>
          </p:cNvPr>
          <p:cNvSpPr>
            <a:spLocks noGrp="1"/>
          </p:cNvSpPr>
          <p:nvPr>
            <p:ph type="title"/>
          </p:nvPr>
        </p:nvSpPr>
        <p:spPr>
          <a:xfrm>
            <a:off x="1568147" y="129612"/>
            <a:ext cx="8911687" cy="1280890"/>
          </a:xfrm>
        </p:spPr>
        <p:txBody>
          <a:bodyPr/>
          <a:lstStyle/>
          <a:p>
            <a:r>
              <a:rPr lang="en-IN" sz="3600" kern="1200" dirty="0">
                <a:solidFill>
                  <a:schemeClr val="tx1"/>
                </a:solidFill>
                <a:effectLst/>
                <a:latin typeface="+mn-lt"/>
                <a:ea typeface="+mn-ea"/>
                <a:cs typeface="+mn-cs"/>
              </a:rPr>
              <a:t>Basic Search Techniques</a:t>
            </a:r>
            <a:endParaRPr lang="en-US" dirty="0"/>
          </a:p>
        </p:txBody>
      </p:sp>
      <p:sp>
        <p:nvSpPr>
          <p:cNvPr id="3" name="Content Placeholder 2">
            <a:extLst>
              <a:ext uri="{FF2B5EF4-FFF2-40B4-BE49-F238E27FC236}">
                <a16:creationId xmlns:a16="http://schemas.microsoft.com/office/drawing/2014/main" id="{CD8527A1-EA1C-ABF8-E388-1F26941C7D64}"/>
              </a:ext>
            </a:extLst>
          </p:cNvPr>
          <p:cNvSpPr>
            <a:spLocks noGrp="1"/>
          </p:cNvSpPr>
          <p:nvPr>
            <p:ph idx="1"/>
          </p:nvPr>
        </p:nvSpPr>
        <p:spPr>
          <a:xfrm>
            <a:off x="1170040" y="1579201"/>
            <a:ext cx="10334573" cy="4508742"/>
          </a:xfrm>
        </p:spPr>
        <p:txBody>
          <a:bodyPr>
            <a:normAutofit/>
          </a:bodyPr>
          <a:lstStyle/>
          <a:p>
            <a:pPr algn="just"/>
            <a:r>
              <a:rPr lang="en-US" sz="2400" dirty="0"/>
              <a:t>Searching is the universal technique of problem-solving in AI. There are some single-player games such  as  tile  games,  Sudoku,  crossword,  etc.  The search algorithms help you to search for a particular position in such games.</a:t>
            </a:r>
          </a:p>
          <a:p>
            <a:pPr algn="just"/>
            <a:r>
              <a:rPr lang="en-US" sz="2400" dirty="0"/>
              <a:t>Search  algorithms  are  important  because  they  solve  various  problems  in  artificial  intelligence. </a:t>
            </a:r>
          </a:p>
          <a:p>
            <a:pPr algn="just"/>
            <a:r>
              <a:rPr lang="en-US" sz="2400" dirty="0"/>
              <a:t>There  are  various  search  algorithms  in  AI.  </a:t>
            </a:r>
          </a:p>
        </p:txBody>
      </p:sp>
      <p:pic>
        <p:nvPicPr>
          <p:cNvPr id="4" name="Picture 3">
            <a:extLst>
              <a:ext uri="{FF2B5EF4-FFF2-40B4-BE49-F238E27FC236}">
                <a16:creationId xmlns:a16="http://schemas.microsoft.com/office/drawing/2014/main" id="{0A5EF682-BBC6-BC89-A815-2405B3BFA89F}"/>
              </a:ext>
            </a:extLst>
          </p:cNvPr>
          <p:cNvPicPr>
            <a:picLocks noChangeAspect="1"/>
          </p:cNvPicPr>
          <p:nvPr/>
        </p:nvPicPr>
        <p:blipFill rotWithShape="1">
          <a:blip r:embed="rId2">
            <a:extLst>
              <a:ext uri="{28A0092B-C50C-407E-A947-70E740481C1C}">
                <a14:useLocalDpi xmlns:a14="http://schemas.microsoft.com/office/drawing/2010/main" val="0"/>
              </a:ext>
            </a:extLst>
          </a:blip>
          <a:srcRect l="7632" t="6513" r="14801" b="12673"/>
          <a:stretch/>
        </p:blipFill>
        <p:spPr>
          <a:xfrm>
            <a:off x="11003168" y="6329803"/>
            <a:ext cx="1002890" cy="342928"/>
          </a:xfrm>
          <a:prstGeom prst="rect">
            <a:avLst/>
          </a:prstGeom>
        </p:spPr>
      </p:pic>
      <p:sp>
        <p:nvSpPr>
          <p:cNvPr id="5" name="TextBox 4">
            <a:extLst>
              <a:ext uri="{FF2B5EF4-FFF2-40B4-BE49-F238E27FC236}">
                <a16:creationId xmlns:a16="http://schemas.microsoft.com/office/drawing/2014/main" id="{CED2CCDC-C02F-B3A1-A3C5-707DECA064F1}"/>
              </a:ext>
            </a:extLst>
          </p:cNvPr>
          <p:cNvSpPr txBox="1"/>
          <p:nvPr/>
        </p:nvSpPr>
        <p:spPr>
          <a:xfrm>
            <a:off x="-30367" y="770057"/>
            <a:ext cx="1741230" cy="369332"/>
          </a:xfrm>
          <a:prstGeom prst="rect">
            <a:avLst/>
          </a:prstGeom>
          <a:noFill/>
        </p:spPr>
        <p:txBody>
          <a:bodyPr wrap="square" rtlCol="0">
            <a:spAutoFit/>
          </a:bodyPr>
          <a:lstStyle/>
          <a:p>
            <a:r>
              <a:rPr lang="en-US" sz="1800" dirty="0">
                <a:solidFill>
                  <a:schemeClr val="bg1"/>
                </a:solidFill>
                <a:effectLst/>
                <a:latin typeface="Bookman Old Style" panose="02050604050505020204" pitchFamily="18" charset="0"/>
                <a:ea typeface="Calibri" panose="020F0502020204030204" pitchFamily="34" charset="0"/>
              </a:rPr>
              <a:t>22AM2305</a:t>
            </a:r>
            <a:endParaRPr lang="en-IN" dirty="0">
              <a:solidFill>
                <a:schemeClr val="bg1"/>
              </a:solidFill>
              <a:latin typeface="Bookman Old Style" panose="02050604050505020204" pitchFamily="18" charset="0"/>
            </a:endParaRPr>
          </a:p>
        </p:txBody>
      </p:sp>
      <p:pic>
        <p:nvPicPr>
          <p:cNvPr id="6" name="Picture 2" descr="logo">
            <a:extLst>
              <a:ext uri="{FF2B5EF4-FFF2-40B4-BE49-F238E27FC236}">
                <a16:creationId xmlns:a16="http://schemas.microsoft.com/office/drawing/2014/main" id="{747D0EEE-BA48-499F-B84C-D20F74CB5DB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52799" y="89593"/>
            <a:ext cx="1070381" cy="1049796"/>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a:extLst>
              <a:ext uri="{FF2B5EF4-FFF2-40B4-BE49-F238E27FC236}">
                <a16:creationId xmlns:a16="http://schemas.microsoft.com/office/drawing/2014/main" id="{B8E50AC5-8D2A-6A5D-796D-B6863CA3B31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123180" y="89593"/>
            <a:ext cx="941000" cy="960203"/>
          </a:xfrm>
          <a:prstGeom prst="rect">
            <a:avLst/>
          </a:prstGeom>
        </p:spPr>
      </p:pic>
    </p:spTree>
    <p:extLst>
      <p:ext uri="{BB962C8B-B14F-4D97-AF65-F5344CB8AC3E}">
        <p14:creationId xmlns:p14="http://schemas.microsoft.com/office/powerpoint/2010/main" val="318699757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47515F-4A58-DFA9-F4DC-FA2F57C2B8AC}"/>
              </a:ext>
            </a:extLst>
          </p:cNvPr>
          <p:cNvSpPr>
            <a:spLocks noGrp="1"/>
          </p:cNvSpPr>
          <p:nvPr>
            <p:ph type="title"/>
          </p:nvPr>
        </p:nvSpPr>
        <p:spPr>
          <a:xfrm>
            <a:off x="1568147" y="129612"/>
            <a:ext cx="8911687" cy="1280890"/>
          </a:xfrm>
        </p:spPr>
        <p:txBody>
          <a:bodyPr/>
          <a:lstStyle/>
          <a:p>
            <a:r>
              <a:rPr lang="en-US" dirty="0"/>
              <a:t>What is a search algorithm?</a:t>
            </a:r>
          </a:p>
        </p:txBody>
      </p:sp>
      <p:sp>
        <p:nvSpPr>
          <p:cNvPr id="3" name="Content Placeholder 2">
            <a:extLst>
              <a:ext uri="{FF2B5EF4-FFF2-40B4-BE49-F238E27FC236}">
                <a16:creationId xmlns:a16="http://schemas.microsoft.com/office/drawing/2014/main" id="{CD8527A1-EA1C-ABF8-E388-1F26941C7D64}"/>
              </a:ext>
            </a:extLst>
          </p:cNvPr>
          <p:cNvSpPr>
            <a:spLocks noGrp="1"/>
          </p:cNvSpPr>
          <p:nvPr>
            <p:ph idx="1"/>
          </p:nvPr>
        </p:nvSpPr>
        <p:spPr>
          <a:xfrm>
            <a:off x="3480619" y="1579201"/>
            <a:ext cx="8308257" cy="4508742"/>
          </a:xfrm>
        </p:spPr>
        <p:txBody>
          <a:bodyPr>
            <a:normAutofit/>
          </a:bodyPr>
          <a:lstStyle/>
          <a:p>
            <a:pPr algn="just"/>
            <a:r>
              <a:rPr lang="en-US" sz="2400" b="1" dirty="0"/>
              <a:t>Search algorithms are algorithms that help in solving search problems. </a:t>
            </a:r>
          </a:p>
          <a:p>
            <a:pPr algn="just"/>
            <a:r>
              <a:rPr lang="en-US" sz="2400" dirty="0"/>
              <a:t>A search problem consists of a </a:t>
            </a:r>
            <a:r>
              <a:rPr lang="en-US" sz="2400" b="1" dirty="0"/>
              <a:t>search space</a:t>
            </a:r>
            <a:r>
              <a:rPr lang="en-US" sz="2400" dirty="0"/>
              <a:t>, </a:t>
            </a:r>
            <a:r>
              <a:rPr lang="en-US" sz="2400" b="1" dirty="0"/>
              <a:t>start state, and goal state</a:t>
            </a:r>
            <a:r>
              <a:rPr lang="en-US" sz="2400" dirty="0"/>
              <a:t>. </a:t>
            </a:r>
          </a:p>
          <a:p>
            <a:pPr algn="just"/>
            <a:r>
              <a:rPr lang="en-US" sz="2400" dirty="0"/>
              <a:t>Search algorithms </a:t>
            </a:r>
            <a:r>
              <a:rPr lang="en-US" sz="2400" b="1" dirty="0"/>
              <a:t>help the AI agents </a:t>
            </a:r>
            <a:r>
              <a:rPr lang="en-US" sz="2400" dirty="0"/>
              <a:t>to </a:t>
            </a:r>
            <a:r>
              <a:rPr lang="en-US" sz="2400" b="1" dirty="0"/>
              <a:t>attain the goal state</a:t>
            </a:r>
            <a:r>
              <a:rPr lang="en-US" sz="2400" dirty="0"/>
              <a:t> through the assessment of scenarios and alternatives.  </a:t>
            </a:r>
          </a:p>
          <a:p>
            <a:pPr algn="just"/>
            <a:r>
              <a:rPr lang="en-US" sz="2400" dirty="0"/>
              <a:t>The algorithms provide search solutions through a </a:t>
            </a:r>
            <a:r>
              <a:rPr lang="en-US" sz="2400" b="1" dirty="0"/>
              <a:t>sequence of actions that transform the initial state to the goal state</a:t>
            </a:r>
            <a:r>
              <a:rPr lang="en-US" sz="2400" dirty="0"/>
              <a:t>. </a:t>
            </a:r>
          </a:p>
        </p:txBody>
      </p:sp>
      <p:pic>
        <p:nvPicPr>
          <p:cNvPr id="4" name="Picture 3">
            <a:extLst>
              <a:ext uri="{FF2B5EF4-FFF2-40B4-BE49-F238E27FC236}">
                <a16:creationId xmlns:a16="http://schemas.microsoft.com/office/drawing/2014/main" id="{0A5EF682-BBC6-BC89-A815-2405B3BFA89F}"/>
              </a:ext>
            </a:extLst>
          </p:cNvPr>
          <p:cNvPicPr>
            <a:picLocks noChangeAspect="1"/>
          </p:cNvPicPr>
          <p:nvPr/>
        </p:nvPicPr>
        <p:blipFill rotWithShape="1">
          <a:blip r:embed="rId2">
            <a:extLst>
              <a:ext uri="{28A0092B-C50C-407E-A947-70E740481C1C}">
                <a14:useLocalDpi xmlns:a14="http://schemas.microsoft.com/office/drawing/2010/main" val="0"/>
              </a:ext>
            </a:extLst>
          </a:blip>
          <a:srcRect l="7632" t="6513" r="14801" b="12673"/>
          <a:stretch/>
        </p:blipFill>
        <p:spPr>
          <a:xfrm>
            <a:off x="11003168" y="6329803"/>
            <a:ext cx="1002890" cy="342928"/>
          </a:xfrm>
          <a:prstGeom prst="rect">
            <a:avLst/>
          </a:prstGeom>
        </p:spPr>
      </p:pic>
      <p:sp>
        <p:nvSpPr>
          <p:cNvPr id="5" name="TextBox 4">
            <a:extLst>
              <a:ext uri="{FF2B5EF4-FFF2-40B4-BE49-F238E27FC236}">
                <a16:creationId xmlns:a16="http://schemas.microsoft.com/office/drawing/2014/main" id="{CED2CCDC-C02F-B3A1-A3C5-707DECA064F1}"/>
              </a:ext>
            </a:extLst>
          </p:cNvPr>
          <p:cNvSpPr txBox="1"/>
          <p:nvPr/>
        </p:nvSpPr>
        <p:spPr>
          <a:xfrm>
            <a:off x="-30367" y="770057"/>
            <a:ext cx="1741230" cy="369332"/>
          </a:xfrm>
          <a:prstGeom prst="rect">
            <a:avLst/>
          </a:prstGeom>
          <a:noFill/>
        </p:spPr>
        <p:txBody>
          <a:bodyPr wrap="square" rtlCol="0">
            <a:spAutoFit/>
          </a:bodyPr>
          <a:lstStyle/>
          <a:p>
            <a:r>
              <a:rPr lang="en-US" sz="1800" dirty="0">
                <a:solidFill>
                  <a:schemeClr val="bg1"/>
                </a:solidFill>
                <a:effectLst/>
                <a:latin typeface="Bookman Old Style" panose="02050604050505020204" pitchFamily="18" charset="0"/>
                <a:ea typeface="Calibri" panose="020F0502020204030204" pitchFamily="34" charset="0"/>
              </a:rPr>
              <a:t>22AM2305</a:t>
            </a:r>
            <a:endParaRPr lang="en-IN" dirty="0">
              <a:solidFill>
                <a:schemeClr val="bg1"/>
              </a:solidFill>
              <a:latin typeface="Bookman Old Style" panose="02050604050505020204" pitchFamily="18" charset="0"/>
            </a:endParaRPr>
          </a:p>
        </p:txBody>
      </p:sp>
      <p:pic>
        <p:nvPicPr>
          <p:cNvPr id="6" name="Picture 2" descr="logo">
            <a:extLst>
              <a:ext uri="{FF2B5EF4-FFF2-40B4-BE49-F238E27FC236}">
                <a16:creationId xmlns:a16="http://schemas.microsoft.com/office/drawing/2014/main" id="{747D0EEE-BA48-499F-B84C-D20F74CB5DB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52799" y="89593"/>
            <a:ext cx="1070381" cy="1049796"/>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a:extLst>
              <a:ext uri="{FF2B5EF4-FFF2-40B4-BE49-F238E27FC236}">
                <a16:creationId xmlns:a16="http://schemas.microsoft.com/office/drawing/2014/main" id="{B8E50AC5-8D2A-6A5D-796D-B6863CA3B31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123180" y="89593"/>
            <a:ext cx="941000" cy="960203"/>
          </a:xfrm>
          <a:prstGeom prst="rect">
            <a:avLst/>
          </a:prstGeom>
        </p:spPr>
      </p:pic>
      <p:pic>
        <p:nvPicPr>
          <p:cNvPr id="3074" name="Picture 2" descr="Searching Algorithms - GeeksforGeeks">
            <a:extLst>
              <a:ext uri="{FF2B5EF4-FFF2-40B4-BE49-F238E27FC236}">
                <a16:creationId xmlns:a16="http://schemas.microsoft.com/office/drawing/2014/main" id="{0AB18E82-ACB9-D2B0-4C83-FFE5D2F11717}"/>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54439" t="8457" r="3135" b="5354"/>
          <a:stretch/>
        </p:blipFill>
        <p:spPr bwMode="auto">
          <a:xfrm flipH="1">
            <a:off x="147484" y="1337341"/>
            <a:ext cx="2979174" cy="410470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6612246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47515F-4A58-DFA9-F4DC-FA2F57C2B8AC}"/>
              </a:ext>
            </a:extLst>
          </p:cNvPr>
          <p:cNvSpPr>
            <a:spLocks noGrp="1"/>
          </p:cNvSpPr>
          <p:nvPr>
            <p:ph type="title"/>
          </p:nvPr>
        </p:nvSpPr>
        <p:spPr>
          <a:xfrm>
            <a:off x="1568147" y="129612"/>
            <a:ext cx="8911687" cy="1280890"/>
          </a:xfrm>
        </p:spPr>
        <p:txBody>
          <a:bodyPr/>
          <a:lstStyle/>
          <a:p>
            <a:r>
              <a:rPr lang="en-US" dirty="0"/>
              <a:t>Importance of search algorithms </a:t>
            </a:r>
          </a:p>
        </p:txBody>
      </p:sp>
      <p:sp>
        <p:nvSpPr>
          <p:cNvPr id="3" name="Content Placeholder 2">
            <a:extLst>
              <a:ext uri="{FF2B5EF4-FFF2-40B4-BE49-F238E27FC236}">
                <a16:creationId xmlns:a16="http://schemas.microsoft.com/office/drawing/2014/main" id="{CD8527A1-EA1C-ABF8-E388-1F26941C7D64}"/>
              </a:ext>
            </a:extLst>
          </p:cNvPr>
          <p:cNvSpPr>
            <a:spLocks noGrp="1"/>
          </p:cNvSpPr>
          <p:nvPr>
            <p:ph idx="1"/>
          </p:nvPr>
        </p:nvSpPr>
        <p:spPr>
          <a:xfrm>
            <a:off x="1170040" y="1168740"/>
            <a:ext cx="10334573" cy="5369600"/>
          </a:xfrm>
        </p:spPr>
        <p:txBody>
          <a:bodyPr>
            <a:normAutofit fontScale="85000" lnSpcReduction="10000"/>
          </a:bodyPr>
          <a:lstStyle/>
          <a:p>
            <a:pPr algn="just"/>
            <a:r>
              <a:rPr lang="en-US" sz="2400" b="1" i="0" dirty="0">
                <a:solidFill>
                  <a:srgbClr val="404040"/>
                </a:solidFill>
                <a:effectLst/>
                <a:latin typeface="Bookman Old Style" panose="02050604050505020204" pitchFamily="18" charset="0"/>
              </a:rPr>
              <a:t>Solving problems: </a:t>
            </a:r>
            <a:r>
              <a:rPr lang="en-US" sz="2400" b="0" i="0" dirty="0">
                <a:solidFill>
                  <a:srgbClr val="404040"/>
                </a:solidFill>
                <a:effectLst/>
                <a:latin typeface="Bookman Old Style" panose="02050604050505020204" pitchFamily="18" charset="0"/>
              </a:rPr>
              <a:t>Search algorithms enhance the solving of problems in artificial intelligence through logical search mechanisms such as </a:t>
            </a:r>
            <a:r>
              <a:rPr lang="en-US" sz="2400" b="1" i="0" dirty="0">
                <a:solidFill>
                  <a:srgbClr val="404040"/>
                </a:solidFill>
                <a:effectLst/>
                <a:latin typeface="Bookman Old Style" panose="02050604050505020204" pitchFamily="18" charset="0"/>
              </a:rPr>
              <a:t>problem definition, actions, and search space. </a:t>
            </a:r>
          </a:p>
          <a:p>
            <a:pPr algn="just"/>
            <a:r>
              <a:rPr lang="en-US" sz="2400" b="1" i="0" dirty="0">
                <a:solidFill>
                  <a:srgbClr val="404040"/>
                </a:solidFill>
                <a:effectLst/>
                <a:latin typeface="Bookman Old Style" panose="02050604050505020204" pitchFamily="18" charset="0"/>
              </a:rPr>
              <a:t>Search programming: </a:t>
            </a:r>
            <a:r>
              <a:rPr lang="en-US" sz="2400" b="0" i="0" dirty="0">
                <a:solidFill>
                  <a:srgbClr val="404040"/>
                </a:solidFill>
                <a:effectLst/>
                <a:latin typeface="Bookman Old Style" panose="02050604050505020204" pitchFamily="18" charset="0"/>
              </a:rPr>
              <a:t>Many AI tasks can be programmed in terms of search, which enhances the </a:t>
            </a:r>
            <a:r>
              <a:rPr lang="en-US" sz="2400" b="1" i="0" dirty="0">
                <a:solidFill>
                  <a:srgbClr val="404040"/>
                </a:solidFill>
                <a:effectLst/>
                <a:latin typeface="Bookman Old Style" panose="02050604050505020204" pitchFamily="18" charset="0"/>
              </a:rPr>
              <a:t>formulation of the solution </a:t>
            </a:r>
            <a:r>
              <a:rPr lang="en-US" sz="2400" b="0" i="0" dirty="0">
                <a:solidFill>
                  <a:srgbClr val="404040"/>
                </a:solidFill>
                <a:effectLst/>
                <a:latin typeface="Bookman Old Style" panose="02050604050505020204" pitchFamily="18" charset="0"/>
              </a:rPr>
              <a:t>to a given problem. </a:t>
            </a:r>
          </a:p>
          <a:p>
            <a:pPr algn="just"/>
            <a:r>
              <a:rPr lang="en-US" sz="2400" b="1" i="0" dirty="0">
                <a:solidFill>
                  <a:srgbClr val="404040"/>
                </a:solidFill>
                <a:effectLst/>
                <a:latin typeface="Bookman Old Style" panose="02050604050505020204" pitchFamily="18" charset="0"/>
              </a:rPr>
              <a:t>Goal-based agents: </a:t>
            </a:r>
            <a:r>
              <a:rPr lang="en-US" sz="2400" b="0" i="0" dirty="0">
                <a:solidFill>
                  <a:srgbClr val="404040"/>
                </a:solidFill>
                <a:effectLst/>
                <a:latin typeface="Bookman Old Style" panose="02050604050505020204" pitchFamily="18" charset="0"/>
              </a:rPr>
              <a:t>Search algorithms enhance the effective operation of goal-based agents. These agents </a:t>
            </a:r>
            <a:r>
              <a:rPr lang="en-US" sz="2400" b="1" i="0" dirty="0">
                <a:solidFill>
                  <a:srgbClr val="404040"/>
                </a:solidFill>
                <a:effectLst/>
                <a:latin typeface="Bookman Old Style" panose="02050604050505020204" pitchFamily="18" charset="0"/>
              </a:rPr>
              <a:t>solve problems by searching </a:t>
            </a:r>
            <a:r>
              <a:rPr lang="en-US" sz="2400" b="0" i="0" dirty="0">
                <a:solidFill>
                  <a:srgbClr val="404040"/>
                </a:solidFill>
                <a:effectLst/>
                <a:latin typeface="Bookman Old Style" panose="02050604050505020204" pitchFamily="18" charset="0"/>
              </a:rPr>
              <a:t>for the most ideal series of actions that can provide the best solution to a problem. </a:t>
            </a:r>
          </a:p>
          <a:p>
            <a:pPr algn="just"/>
            <a:r>
              <a:rPr lang="en-US" sz="2400" b="1" i="0" dirty="0">
                <a:solidFill>
                  <a:srgbClr val="404040"/>
                </a:solidFill>
                <a:effectLst/>
                <a:latin typeface="Bookman Old Style" panose="02050604050505020204" pitchFamily="18" charset="0"/>
              </a:rPr>
              <a:t>Support production systems: </a:t>
            </a:r>
            <a:r>
              <a:rPr lang="en-US" sz="2400" b="0" i="0" dirty="0">
                <a:solidFill>
                  <a:srgbClr val="404040"/>
                </a:solidFill>
                <a:effectLst/>
                <a:latin typeface="Bookman Old Style" panose="02050604050505020204" pitchFamily="18" charset="0"/>
              </a:rPr>
              <a:t>Search algorithms support the operation of production systems in AI. These are systems that support AI applications through the use of </a:t>
            </a:r>
            <a:r>
              <a:rPr lang="en-US" sz="2400" b="1" i="0" dirty="0">
                <a:solidFill>
                  <a:srgbClr val="404040"/>
                </a:solidFill>
                <a:effectLst/>
                <a:latin typeface="Bookman Old Style" panose="02050604050505020204" pitchFamily="18" charset="0"/>
              </a:rPr>
              <a:t>rules and the procedures for implementing </a:t>
            </a:r>
            <a:r>
              <a:rPr lang="en-US" sz="2400" b="0" i="0" dirty="0">
                <a:solidFill>
                  <a:srgbClr val="404040"/>
                </a:solidFill>
                <a:effectLst/>
                <a:latin typeface="Bookman Old Style" panose="02050604050505020204" pitchFamily="18" charset="0"/>
              </a:rPr>
              <a:t>them. </a:t>
            </a:r>
          </a:p>
          <a:p>
            <a:pPr algn="just"/>
            <a:r>
              <a:rPr lang="en-US" sz="2400" b="1" i="0" dirty="0">
                <a:solidFill>
                  <a:srgbClr val="404040"/>
                </a:solidFill>
                <a:effectLst/>
                <a:latin typeface="Bookman Old Style" panose="02050604050505020204" pitchFamily="18" charset="0"/>
              </a:rPr>
              <a:t>Neural network systems: </a:t>
            </a:r>
            <a:r>
              <a:rPr lang="en-US" sz="2400" b="0" i="0" dirty="0">
                <a:solidFill>
                  <a:srgbClr val="404040"/>
                </a:solidFill>
                <a:effectLst/>
                <a:latin typeface="Bookman Old Style" panose="02050604050505020204" pitchFamily="18" charset="0"/>
              </a:rPr>
              <a:t>These algorithms are also important in neural network systems. These are </a:t>
            </a:r>
            <a:r>
              <a:rPr lang="en-US" sz="2400" b="1" i="0" dirty="0">
                <a:solidFill>
                  <a:srgbClr val="404040"/>
                </a:solidFill>
                <a:effectLst/>
                <a:latin typeface="Bookman Old Style" panose="02050604050505020204" pitchFamily="18" charset="0"/>
              </a:rPr>
              <a:t>computing systems </a:t>
            </a:r>
            <a:r>
              <a:rPr lang="en-US" sz="2400" b="0" i="0" dirty="0">
                <a:solidFill>
                  <a:srgbClr val="404040"/>
                </a:solidFill>
                <a:effectLst/>
                <a:latin typeface="Bookman Old Style" panose="02050604050505020204" pitchFamily="18" charset="0"/>
              </a:rPr>
              <a:t>that consist of </a:t>
            </a:r>
            <a:r>
              <a:rPr lang="en-US" sz="2400" b="1" i="0" dirty="0">
                <a:solidFill>
                  <a:srgbClr val="404040"/>
                </a:solidFill>
                <a:effectLst/>
                <a:latin typeface="Bookman Old Style" panose="02050604050505020204" pitchFamily="18" charset="0"/>
              </a:rPr>
              <a:t>interconnected nodes, a hidden layer, an input layer, and an output layer</a:t>
            </a:r>
            <a:r>
              <a:rPr lang="en-US" sz="2400" b="0" i="0" dirty="0">
                <a:solidFill>
                  <a:srgbClr val="404040"/>
                </a:solidFill>
                <a:effectLst/>
                <a:latin typeface="Bookman Old Style" panose="02050604050505020204" pitchFamily="18" charset="0"/>
              </a:rPr>
              <a:t>. Neural networks are used to perform various tasks in artificial intelligence. </a:t>
            </a:r>
            <a:endParaRPr lang="en-US" sz="2400" dirty="0">
              <a:latin typeface="Bookman Old Style" panose="02050604050505020204" pitchFamily="18" charset="0"/>
            </a:endParaRPr>
          </a:p>
        </p:txBody>
      </p:sp>
      <p:pic>
        <p:nvPicPr>
          <p:cNvPr id="4" name="Picture 3">
            <a:extLst>
              <a:ext uri="{FF2B5EF4-FFF2-40B4-BE49-F238E27FC236}">
                <a16:creationId xmlns:a16="http://schemas.microsoft.com/office/drawing/2014/main" id="{0A5EF682-BBC6-BC89-A815-2405B3BFA89F}"/>
              </a:ext>
            </a:extLst>
          </p:cNvPr>
          <p:cNvPicPr>
            <a:picLocks noChangeAspect="1"/>
          </p:cNvPicPr>
          <p:nvPr/>
        </p:nvPicPr>
        <p:blipFill rotWithShape="1">
          <a:blip r:embed="rId2">
            <a:extLst>
              <a:ext uri="{28A0092B-C50C-407E-A947-70E740481C1C}">
                <a14:useLocalDpi xmlns:a14="http://schemas.microsoft.com/office/drawing/2010/main" val="0"/>
              </a:ext>
            </a:extLst>
          </a:blip>
          <a:srcRect l="7632" t="6513" r="14801" b="12673"/>
          <a:stretch/>
        </p:blipFill>
        <p:spPr>
          <a:xfrm>
            <a:off x="11003168" y="6329803"/>
            <a:ext cx="1002890" cy="342928"/>
          </a:xfrm>
          <a:prstGeom prst="rect">
            <a:avLst/>
          </a:prstGeom>
        </p:spPr>
      </p:pic>
      <p:sp>
        <p:nvSpPr>
          <p:cNvPr id="5" name="TextBox 4">
            <a:extLst>
              <a:ext uri="{FF2B5EF4-FFF2-40B4-BE49-F238E27FC236}">
                <a16:creationId xmlns:a16="http://schemas.microsoft.com/office/drawing/2014/main" id="{CED2CCDC-C02F-B3A1-A3C5-707DECA064F1}"/>
              </a:ext>
            </a:extLst>
          </p:cNvPr>
          <p:cNvSpPr txBox="1"/>
          <p:nvPr/>
        </p:nvSpPr>
        <p:spPr>
          <a:xfrm>
            <a:off x="-30367" y="770057"/>
            <a:ext cx="1741230" cy="369332"/>
          </a:xfrm>
          <a:prstGeom prst="rect">
            <a:avLst/>
          </a:prstGeom>
          <a:noFill/>
        </p:spPr>
        <p:txBody>
          <a:bodyPr wrap="square" rtlCol="0">
            <a:spAutoFit/>
          </a:bodyPr>
          <a:lstStyle/>
          <a:p>
            <a:r>
              <a:rPr lang="en-US" sz="1800" dirty="0">
                <a:solidFill>
                  <a:schemeClr val="bg1"/>
                </a:solidFill>
                <a:effectLst/>
                <a:latin typeface="Bookman Old Style" panose="02050604050505020204" pitchFamily="18" charset="0"/>
                <a:ea typeface="Calibri" panose="020F0502020204030204" pitchFamily="34" charset="0"/>
              </a:rPr>
              <a:t>22AM2305</a:t>
            </a:r>
            <a:endParaRPr lang="en-IN" dirty="0">
              <a:solidFill>
                <a:schemeClr val="bg1"/>
              </a:solidFill>
              <a:latin typeface="Bookman Old Style" panose="02050604050505020204" pitchFamily="18" charset="0"/>
            </a:endParaRPr>
          </a:p>
        </p:txBody>
      </p:sp>
      <p:pic>
        <p:nvPicPr>
          <p:cNvPr id="6" name="Picture 2" descr="logo">
            <a:extLst>
              <a:ext uri="{FF2B5EF4-FFF2-40B4-BE49-F238E27FC236}">
                <a16:creationId xmlns:a16="http://schemas.microsoft.com/office/drawing/2014/main" id="{747D0EEE-BA48-499F-B84C-D20F74CB5DB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52799" y="89593"/>
            <a:ext cx="1070381" cy="1049796"/>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a:extLst>
              <a:ext uri="{FF2B5EF4-FFF2-40B4-BE49-F238E27FC236}">
                <a16:creationId xmlns:a16="http://schemas.microsoft.com/office/drawing/2014/main" id="{B8E50AC5-8D2A-6A5D-796D-B6863CA3B31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123180" y="89593"/>
            <a:ext cx="941000" cy="960203"/>
          </a:xfrm>
          <a:prstGeom prst="rect">
            <a:avLst/>
          </a:prstGeom>
        </p:spPr>
      </p:pic>
    </p:spTree>
    <p:extLst>
      <p:ext uri="{BB962C8B-B14F-4D97-AF65-F5344CB8AC3E}">
        <p14:creationId xmlns:p14="http://schemas.microsoft.com/office/powerpoint/2010/main" val="345099848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47515F-4A58-DFA9-F4DC-FA2F57C2B8AC}"/>
              </a:ext>
            </a:extLst>
          </p:cNvPr>
          <p:cNvSpPr>
            <a:spLocks noGrp="1"/>
          </p:cNvSpPr>
          <p:nvPr>
            <p:ph type="title"/>
          </p:nvPr>
        </p:nvSpPr>
        <p:spPr>
          <a:xfrm>
            <a:off x="1568147" y="129612"/>
            <a:ext cx="8911687" cy="1280890"/>
          </a:xfrm>
        </p:spPr>
        <p:txBody>
          <a:bodyPr/>
          <a:lstStyle/>
          <a:p>
            <a:r>
              <a:rPr lang="en-US" dirty="0"/>
              <a:t>Properties of search algorithms</a:t>
            </a:r>
          </a:p>
        </p:txBody>
      </p:sp>
      <p:sp>
        <p:nvSpPr>
          <p:cNvPr id="3" name="Content Placeholder 2">
            <a:extLst>
              <a:ext uri="{FF2B5EF4-FFF2-40B4-BE49-F238E27FC236}">
                <a16:creationId xmlns:a16="http://schemas.microsoft.com/office/drawing/2014/main" id="{CD8527A1-EA1C-ABF8-E388-1F26941C7D64}"/>
              </a:ext>
            </a:extLst>
          </p:cNvPr>
          <p:cNvSpPr>
            <a:spLocks noGrp="1"/>
          </p:cNvSpPr>
          <p:nvPr>
            <p:ph idx="1"/>
          </p:nvPr>
        </p:nvSpPr>
        <p:spPr>
          <a:xfrm>
            <a:off x="1170040" y="1579201"/>
            <a:ext cx="10334573" cy="4508742"/>
          </a:xfrm>
        </p:spPr>
        <p:txBody>
          <a:bodyPr>
            <a:normAutofit lnSpcReduction="10000"/>
          </a:bodyPr>
          <a:lstStyle/>
          <a:p>
            <a:pPr algn="just"/>
            <a:r>
              <a:rPr lang="en-US" sz="2400" b="1" dirty="0"/>
              <a:t>Completeness: </a:t>
            </a:r>
            <a:r>
              <a:rPr lang="en-US" sz="2400" dirty="0"/>
              <a:t>A search algorithm can be said to be complete if </a:t>
            </a:r>
            <a:r>
              <a:rPr lang="en-US" sz="2400" b="1" dirty="0"/>
              <a:t>it provides a solution for a given input when there exists at least one solution for this input</a:t>
            </a:r>
            <a:r>
              <a:rPr lang="en-US" sz="2400" dirty="0"/>
              <a:t>. </a:t>
            </a:r>
          </a:p>
          <a:p>
            <a:pPr algn="just"/>
            <a:r>
              <a:rPr lang="en-US" sz="2400" b="1" dirty="0"/>
              <a:t>Optimality: </a:t>
            </a:r>
            <a:r>
              <a:rPr lang="en-US" sz="2400" dirty="0"/>
              <a:t>Search algorithms are also characterized by optimal solutions. These are the </a:t>
            </a:r>
            <a:r>
              <a:rPr lang="en-US" sz="2400" b="1" dirty="0"/>
              <a:t>best solutions given by the search algorithms at the lowest path cost</a:t>
            </a:r>
            <a:r>
              <a:rPr lang="en-US" sz="2400" dirty="0"/>
              <a:t>. </a:t>
            </a:r>
          </a:p>
          <a:p>
            <a:pPr algn="just"/>
            <a:r>
              <a:rPr lang="en-US" sz="2400" b="1" dirty="0"/>
              <a:t>Time Complexity: </a:t>
            </a:r>
            <a:r>
              <a:rPr lang="en-US" sz="2400" dirty="0"/>
              <a:t>These algorithms have a maximum time needed to accomplish a task or provide a solution. The </a:t>
            </a:r>
            <a:r>
              <a:rPr lang="en-US" sz="2400" b="1" dirty="0"/>
              <a:t>time taken is usually based on the complexity of the task</a:t>
            </a:r>
            <a:r>
              <a:rPr lang="en-US" sz="2400" dirty="0"/>
              <a:t>. </a:t>
            </a:r>
          </a:p>
          <a:p>
            <a:pPr algn="just"/>
            <a:r>
              <a:rPr lang="en-US" sz="2400" b="1" dirty="0"/>
              <a:t>Space  Complexity: </a:t>
            </a:r>
            <a:r>
              <a:rPr lang="en-US" sz="2400" dirty="0"/>
              <a:t>They  have  a  </a:t>
            </a:r>
            <a:r>
              <a:rPr lang="en-US" sz="2400" b="1" dirty="0"/>
              <a:t>maximum  memory  or  storage  space</a:t>
            </a:r>
            <a:r>
              <a:rPr lang="en-US" sz="2400" dirty="0"/>
              <a:t>  needed  when conducting a search operation. This memory is also based on the complexity of the task.</a:t>
            </a:r>
          </a:p>
        </p:txBody>
      </p:sp>
      <p:pic>
        <p:nvPicPr>
          <p:cNvPr id="4" name="Picture 3">
            <a:extLst>
              <a:ext uri="{FF2B5EF4-FFF2-40B4-BE49-F238E27FC236}">
                <a16:creationId xmlns:a16="http://schemas.microsoft.com/office/drawing/2014/main" id="{0A5EF682-BBC6-BC89-A815-2405B3BFA89F}"/>
              </a:ext>
            </a:extLst>
          </p:cNvPr>
          <p:cNvPicPr>
            <a:picLocks noChangeAspect="1"/>
          </p:cNvPicPr>
          <p:nvPr/>
        </p:nvPicPr>
        <p:blipFill rotWithShape="1">
          <a:blip r:embed="rId2">
            <a:extLst>
              <a:ext uri="{28A0092B-C50C-407E-A947-70E740481C1C}">
                <a14:useLocalDpi xmlns:a14="http://schemas.microsoft.com/office/drawing/2010/main" val="0"/>
              </a:ext>
            </a:extLst>
          </a:blip>
          <a:srcRect l="7632" t="6513" r="14801" b="12673"/>
          <a:stretch/>
        </p:blipFill>
        <p:spPr>
          <a:xfrm>
            <a:off x="11003168" y="6329803"/>
            <a:ext cx="1002890" cy="342928"/>
          </a:xfrm>
          <a:prstGeom prst="rect">
            <a:avLst/>
          </a:prstGeom>
        </p:spPr>
      </p:pic>
      <p:sp>
        <p:nvSpPr>
          <p:cNvPr id="5" name="TextBox 4">
            <a:extLst>
              <a:ext uri="{FF2B5EF4-FFF2-40B4-BE49-F238E27FC236}">
                <a16:creationId xmlns:a16="http://schemas.microsoft.com/office/drawing/2014/main" id="{CED2CCDC-C02F-B3A1-A3C5-707DECA064F1}"/>
              </a:ext>
            </a:extLst>
          </p:cNvPr>
          <p:cNvSpPr txBox="1"/>
          <p:nvPr/>
        </p:nvSpPr>
        <p:spPr>
          <a:xfrm>
            <a:off x="-30367" y="770057"/>
            <a:ext cx="1741230" cy="369332"/>
          </a:xfrm>
          <a:prstGeom prst="rect">
            <a:avLst/>
          </a:prstGeom>
          <a:noFill/>
        </p:spPr>
        <p:txBody>
          <a:bodyPr wrap="square" rtlCol="0">
            <a:spAutoFit/>
          </a:bodyPr>
          <a:lstStyle/>
          <a:p>
            <a:r>
              <a:rPr lang="en-US" sz="1800" dirty="0">
                <a:solidFill>
                  <a:schemeClr val="bg1"/>
                </a:solidFill>
                <a:effectLst/>
                <a:latin typeface="Bookman Old Style" panose="02050604050505020204" pitchFamily="18" charset="0"/>
                <a:ea typeface="Calibri" panose="020F0502020204030204" pitchFamily="34" charset="0"/>
              </a:rPr>
              <a:t>22AM2305</a:t>
            </a:r>
            <a:endParaRPr lang="en-IN" dirty="0">
              <a:solidFill>
                <a:schemeClr val="bg1"/>
              </a:solidFill>
              <a:latin typeface="Bookman Old Style" panose="02050604050505020204" pitchFamily="18" charset="0"/>
            </a:endParaRPr>
          </a:p>
        </p:txBody>
      </p:sp>
      <p:pic>
        <p:nvPicPr>
          <p:cNvPr id="6" name="Picture 2" descr="logo">
            <a:extLst>
              <a:ext uri="{FF2B5EF4-FFF2-40B4-BE49-F238E27FC236}">
                <a16:creationId xmlns:a16="http://schemas.microsoft.com/office/drawing/2014/main" id="{747D0EEE-BA48-499F-B84C-D20F74CB5DB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52799" y="89593"/>
            <a:ext cx="1070381" cy="1049796"/>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a:extLst>
              <a:ext uri="{FF2B5EF4-FFF2-40B4-BE49-F238E27FC236}">
                <a16:creationId xmlns:a16="http://schemas.microsoft.com/office/drawing/2014/main" id="{B8E50AC5-8D2A-6A5D-796D-B6863CA3B31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123180" y="89593"/>
            <a:ext cx="941000" cy="960203"/>
          </a:xfrm>
          <a:prstGeom prst="rect">
            <a:avLst/>
          </a:prstGeom>
        </p:spPr>
      </p:pic>
    </p:spTree>
    <p:extLst>
      <p:ext uri="{BB962C8B-B14F-4D97-AF65-F5344CB8AC3E}">
        <p14:creationId xmlns:p14="http://schemas.microsoft.com/office/powerpoint/2010/main" val="198451687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47515F-4A58-DFA9-F4DC-FA2F57C2B8AC}"/>
              </a:ext>
            </a:extLst>
          </p:cNvPr>
          <p:cNvSpPr>
            <a:spLocks noGrp="1"/>
          </p:cNvSpPr>
          <p:nvPr>
            <p:ph type="title"/>
          </p:nvPr>
        </p:nvSpPr>
        <p:spPr>
          <a:xfrm>
            <a:off x="1568147" y="129612"/>
            <a:ext cx="8911687" cy="1280890"/>
          </a:xfrm>
        </p:spPr>
        <p:txBody>
          <a:bodyPr/>
          <a:lstStyle/>
          <a:p>
            <a:r>
              <a:rPr lang="en-US" b="0" i="0" dirty="0">
                <a:solidFill>
                  <a:srgbClr val="0A0B09"/>
                </a:solidFill>
                <a:effectLst/>
                <a:latin typeface="ff1"/>
              </a:rPr>
              <a:t>How search algorithms work</a:t>
            </a:r>
            <a:endParaRPr lang="en-US" dirty="0"/>
          </a:p>
        </p:txBody>
      </p:sp>
      <p:sp>
        <p:nvSpPr>
          <p:cNvPr id="3" name="Content Placeholder 2">
            <a:extLst>
              <a:ext uri="{FF2B5EF4-FFF2-40B4-BE49-F238E27FC236}">
                <a16:creationId xmlns:a16="http://schemas.microsoft.com/office/drawing/2014/main" id="{CD8527A1-EA1C-ABF8-E388-1F26941C7D64}"/>
              </a:ext>
            </a:extLst>
          </p:cNvPr>
          <p:cNvSpPr>
            <a:spLocks noGrp="1"/>
          </p:cNvSpPr>
          <p:nvPr>
            <p:ph idx="1"/>
          </p:nvPr>
        </p:nvSpPr>
        <p:spPr>
          <a:xfrm>
            <a:off x="1170040" y="1579201"/>
            <a:ext cx="10334573" cy="4508742"/>
          </a:xfrm>
        </p:spPr>
        <p:txBody>
          <a:bodyPr>
            <a:normAutofit/>
          </a:bodyPr>
          <a:lstStyle/>
          <a:p>
            <a:pPr algn="just"/>
            <a:r>
              <a:rPr lang="en-US" sz="2400" dirty="0"/>
              <a:t>Artificial intelligence is made possible through AI agents.  These agents perform tasks toward achieving a certain goal and establish the actions that can result in the desired goal. The series of these actions provides the solution to the problem. </a:t>
            </a:r>
          </a:p>
          <a:p>
            <a:pPr algn="just"/>
            <a:r>
              <a:rPr lang="en-US" sz="2400" dirty="0"/>
              <a:t>The AI agents find the best solution for the problem by searching for all the possible alternatives or solutions. The process of searching is done using search algorithms. </a:t>
            </a:r>
          </a:p>
          <a:p>
            <a:pPr algn="just"/>
            <a:r>
              <a:rPr lang="en-US" sz="2400" dirty="0"/>
              <a:t>Search algorithms work in two main phases:  defining the problem and searching in the search space.</a:t>
            </a:r>
          </a:p>
        </p:txBody>
      </p:sp>
      <p:pic>
        <p:nvPicPr>
          <p:cNvPr id="4" name="Picture 3">
            <a:extLst>
              <a:ext uri="{FF2B5EF4-FFF2-40B4-BE49-F238E27FC236}">
                <a16:creationId xmlns:a16="http://schemas.microsoft.com/office/drawing/2014/main" id="{0A5EF682-BBC6-BC89-A815-2405B3BFA89F}"/>
              </a:ext>
            </a:extLst>
          </p:cNvPr>
          <p:cNvPicPr>
            <a:picLocks noChangeAspect="1"/>
          </p:cNvPicPr>
          <p:nvPr/>
        </p:nvPicPr>
        <p:blipFill rotWithShape="1">
          <a:blip r:embed="rId2">
            <a:extLst>
              <a:ext uri="{28A0092B-C50C-407E-A947-70E740481C1C}">
                <a14:useLocalDpi xmlns:a14="http://schemas.microsoft.com/office/drawing/2010/main" val="0"/>
              </a:ext>
            </a:extLst>
          </a:blip>
          <a:srcRect l="7632" t="6513" r="14801" b="12673"/>
          <a:stretch/>
        </p:blipFill>
        <p:spPr>
          <a:xfrm>
            <a:off x="11003168" y="6329803"/>
            <a:ext cx="1002890" cy="342928"/>
          </a:xfrm>
          <a:prstGeom prst="rect">
            <a:avLst/>
          </a:prstGeom>
        </p:spPr>
      </p:pic>
      <p:sp>
        <p:nvSpPr>
          <p:cNvPr id="5" name="TextBox 4">
            <a:extLst>
              <a:ext uri="{FF2B5EF4-FFF2-40B4-BE49-F238E27FC236}">
                <a16:creationId xmlns:a16="http://schemas.microsoft.com/office/drawing/2014/main" id="{CED2CCDC-C02F-B3A1-A3C5-707DECA064F1}"/>
              </a:ext>
            </a:extLst>
          </p:cNvPr>
          <p:cNvSpPr txBox="1"/>
          <p:nvPr/>
        </p:nvSpPr>
        <p:spPr>
          <a:xfrm>
            <a:off x="-30367" y="770057"/>
            <a:ext cx="1741230" cy="369332"/>
          </a:xfrm>
          <a:prstGeom prst="rect">
            <a:avLst/>
          </a:prstGeom>
          <a:noFill/>
        </p:spPr>
        <p:txBody>
          <a:bodyPr wrap="square" rtlCol="0">
            <a:spAutoFit/>
          </a:bodyPr>
          <a:lstStyle/>
          <a:p>
            <a:r>
              <a:rPr lang="en-US" sz="1800" dirty="0">
                <a:solidFill>
                  <a:schemeClr val="bg1"/>
                </a:solidFill>
                <a:effectLst/>
                <a:latin typeface="Bookman Old Style" panose="02050604050505020204" pitchFamily="18" charset="0"/>
                <a:ea typeface="Calibri" panose="020F0502020204030204" pitchFamily="34" charset="0"/>
              </a:rPr>
              <a:t>22AM2305</a:t>
            </a:r>
            <a:endParaRPr lang="en-IN" dirty="0">
              <a:solidFill>
                <a:schemeClr val="bg1"/>
              </a:solidFill>
              <a:latin typeface="Bookman Old Style" panose="02050604050505020204" pitchFamily="18" charset="0"/>
            </a:endParaRPr>
          </a:p>
        </p:txBody>
      </p:sp>
      <p:pic>
        <p:nvPicPr>
          <p:cNvPr id="6" name="Picture 2" descr="logo">
            <a:extLst>
              <a:ext uri="{FF2B5EF4-FFF2-40B4-BE49-F238E27FC236}">
                <a16:creationId xmlns:a16="http://schemas.microsoft.com/office/drawing/2014/main" id="{747D0EEE-BA48-499F-B84C-D20F74CB5DB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52799" y="89593"/>
            <a:ext cx="1070381" cy="1049796"/>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a:extLst>
              <a:ext uri="{FF2B5EF4-FFF2-40B4-BE49-F238E27FC236}">
                <a16:creationId xmlns:a16="http://schemas.microsoft.com/office/drawing/2014/main" id="{B8E50AC5-8D2A-6A5D-796D-B6863CA3B31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123180" y="89593"/>
            <a:ext cx="941000" cy="960203"/>
          </a:xfrm>
          <a:prstGeom prst="rect">
            <a:avLst/>
          </a:prstGeom>
        </p:spPr>
      </p:pic>
    </p:spTree>
    <p:extLst>
      <p:ext uri="{BB962C8B-B14F-4D97-AF65-F5344CB8AC3E}">
        <p14:creationId xmlns:p14="http://schemas.microsoft.com/office/powerpoint/2010/main" val="365368658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47515F-4A58-DFA9-F4DC-FA2F57C2B8AC}"/>
              </a:ext>
            </a:extLst>
          </p:cNvPr>
          <p:cNvSpPr>
            <a:spLocks noGrp="1"/>
          </p:cNvSpPr>
          <p:nvPr>
            <p:ph type="title"/>
          </p:nvPr>
        </p:nvSpPr>
        <p:spPr>
          <a:xfrm>
            <a:off x="1568147" y="129612"/>
            <a:ext cx="8911687" cy="1280890"/>
          </a:xfrm>
        </p:spPr>
        <p:txBody>
          <a:bodyPr/>
          <a:lstStyle/>
          <a:p>
            <a:r>
              <a:rPr lang="en-US" b="0" i="0" dirty="0">
                <a:solidFill>
                  <a:srgbClr val="0A0B09"/>
                </a:solidFill>
                <a:effectLst/>
                <a:latin typeface="ff1"/>
              </a:rPr>
              <a:t>Defining the problem</a:t>
            </a:r>
            <a:endParaRPr lang="en-US" dirty="0"/>
          </a:p>
        </p:txBody>
      </p:sp>
      <p:sp>
        <p:nvSpPr>
          <p:cNvPr id="3" name="Content Placeholder 2">
            <a:extLst>
              <a:ext uri="{FF2B5EF4-FFF2-40B4-BE49-F238E27FC236}">
                <a16:creationId xmlns:a16="http://schemas.microsoft.com/office/drawing/2014/main" id="{CD8527A1-EA1C-ABF8-E388-1F26941C7D64}"/>
              </a:ext>
            </a:extLst>
          </p:cNvPr>
          <p:cNvSpPr>
            <a:spLocks noGrp="1"/>
          </p:cNvSpPr>
          <p:nvPr>
            <p:ph idx="1"/>
          </p:nvPr>
        </p:nvSpPr>
        <p:spPr>
          <a:xfrm>
            <a:off x="1170040" y="1579201"/>
            <a:ext cx="10628670" cy="4508742"/>
          </a:xfrm>
        </p:spPr>
        <p:txBody>
          <a:bodyPr>
            <a:normAutofit/>
          </a:bodyPr>
          <a:lstStyle/>
          <a:p>
            <a:r>
              <a:rPr lang="en-US" sz="2400" b="1" dirty="0"/>
              <a:t>Initial state: </a:t>
            </a:r>
            <a:r>
              <a:rPr lang="en-US" sz="2400" dirty="0"/>
              <a:t>This is the start state in which the search starts. </a:t>
            </a:r>
          </a:p>
          <a:p>
            <a:r>
              <a:rPr lang="en-US" sz="2400" b="1" dirty="0"/>
              <a:t>State  space</a:t>
            </a:r>
            <a:r>
              <a:rPr lang="en-US" sz="2400" dirty="0"/>
              <a:t>: These are  all  the  possible  states  that  can  be  attained  from  the  initial  state through a series of actions. </a:t>
            </a:r>
          </a:p>
          <a:p>
            <a:r>
              <a:rPr lang="en-US" sz="2400" b="1" dirty="0"/>
              <a:t>Actions: </a:t>
            </a:r>
            <a:r>
              <a:rPr lang="en-US" sz="2400" dirty="0"/>
              <a:t>These  are  the  steps,  activities,  or  operations  undertaken  by  AI  agents  in  a particular state. </a:t>
            </a:r>
          </a:p>
          <a:p>
            <a:r>
              <a:rPr lang="en-US" sz="2400" b="1" dirty="0"/>
              <a:t>Goal state: </a:t>
            </a:r>
            <a:r>
              <a:rPr lang="en-US" sz="2400" dirty="0"/>
              <a:t>This is the endpoint or the desired state. </a:t>
            </a:r>
          </a:p>
          <a:p>
            <a:r>
              <a:rPr lang="en-US" sz="2400" b="1" dirty="0"/>
              <a:t>Goal test: </a:t>
            </a:r>
            <a:r>
              <a:rPr lang="en-US" sz="2400" dirty="0"/>
              <a:t>This is a test conducted to establish whether a particular state is a goal state. </a:t>
            </a:r>
          </a:p>
          <a:p>
            <a:r>
              <a:rPr lang="en-US" sz="2400" b="1" dirty="0"/>
              <a:t>Path cost: </a:t>
            </a:r>
            <a:r>
              <a:rPr lang="en-US" sz="2400" dirty="0"/>
              <a:t>This is the cost associated with a given path taken by the agents.</a:t>
            </a:r>
          </a:p>
        </p:txBody>
      </p:sp>
      <p:pic>
        <p:nvPicPr>
          <p:cNvPr id="4" name="Picture 3">
            <a:extLst>
              <a:ext uri="{FF2B5EF4-FFF2-40B4-BE49-F238E27FC236}">
                <a16:creationId xmlns:a16="http://schemas.microsoft.com/office/drawing/2014/main" id="{0A5EF682-BBC6-BC89-A815-2405B3BFA89F}"/>
              </a:ext>
            </a:extLst>
          </p:cNvPr>
          <p:cNvPicPr>
            <a:picLocks noChangeAspect="1"/>
          </p:cNvPicPr>
          <p:nvPr/>
        </p:nvPicPr>
        <p:blipFill rotWithShape="1">
          <a:blip r:embed="rId2">
            <a:extLst>
              <a:ext uri="{28A0092B-C50C-407E-A947-70E740481C1C}">
                <a14:useLocalDpi xmlns:a14="http://schemas.microsoft.com/office/drawing/2010/main" val="0"/>
              </a:ext>
            </a:extLst>
          </a:blip>
          <a:srcRect l="7632" t="6513" r="14801" b="12673"/>
          <a:stretch/>
        </p:blipFill>
        <p:spPr>
          <a:xfrm>
            <a:off x="11003168" y="6329803"/>
            <a:ext cx="1002890" cy="342928"/>
          </a:xfrm>
          <a:prstGeom prst="rect">
            <a:avLst/>
          </a:prstGeom>
        </p:spPr>
      </p:pic>
      <p:sp>
        <p:nvSpPr>
          <p:cNvPr id="5" name="TextBox 4">
            <a:extLst>
              <a:ext uri="{FF2B5EF4-FFF2-40B4-BE49-F238E27FC236}">
                <a16:creationId xmlns:a16="http://schemas.microsoft.com/office/drawing/2014/main" id="{CED2CCDC-C02F-B3A1-A3C5-707DECA064F1}"/>
              </a:ext>
            </a:extLst>
          </p:cNvPr>
          <p:cNvSpPr txBox="1"/>
          <p:nvPr/>
        </p:nvSpPr>
        <p:spPr>
          <a:xfrm>
            <a:off x="-30367" y="770057"/>
            <a:ext cx="1741230" cy="369332"/>
          </a:xfrm>
          <a:prstGeom prst="rect">
            <a:avLst/>
          </a:prstGeom>
          <a:noFill/>
        </p:spPr>
        <p:txBody>
          <a:bodyPr wrap="square" rtlCol="0">
            <a:spAutoFit/>
          </a:bodyPr>
          <a:lstStyle/>
          <a:p>
            <a:r>
              <a:rPr lang="en-US" sz="1800" dirty="0">
                <a:solidFill>
                  <a:schemeClr val="bg1"/>
                </a:solidFill>
                <a:effectLst/>
                <a:latin typeface="Bookman Old Style" panose="02050604050505020204" pitchFamily="18" charset="0"/>
                <a:ea typeface="Calibri" panose="020F0502020204030204" pitchFamily="34" charset="0"/>
              </a:rPr>
              <a:t>22AM2305</a:t>
            </a:r>
            <a:endParaRPr lang="en-IN" dirty="0">
              <a:solidFill>
                <a:schemeClr val="bg1"/>
              </a:solidFill>
              <a:latin typeface="Bookman Old Style" panose="02050604050505020204" pitchFamily="18" charset="0"/>
            </a:endParaRPr>
          </a:p>
        </p:txBody>
      </p:sp>
      <p:pic>
        <p:nvPicPr>
          <p:cNvPr id="6" name="Picture 2" descr="logo">
            <a:extLst>
              <a:ext uri="{FF2B5EF4-FFF2-40B4-BE49-F238E27FC236}">
                <a16:creationId xmlns:a16="http://schemas.microsoft.com/office/drawing/2014/main" id="{747D0EEE-BA48-499F-B84C-D20F74CB5DB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52799" y="89593"/>
            <a:ext cx="1070381" cy="1049796"/>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a:extLst>
              <a:ext uri="{FF2B5EF4-FFF2-40B4-BE49-F238E27FC236}">
                <a16:creationId xmlns:a16="http://schemas.microsoft.com/office/drawing/2014/main" id="{B8E50AC5-8D2A-6A5D-796D-B6863CA3B31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123180" y="89593"/>
            <a:ext cx="941000" cy="960203"/>
          </a:xfrm>
          <a:prstGeom prst="rect">
            <a:avLst/>
          </a:prstGeom>
        </p:spPr>
      </p:pic>
    </p:spTree>
    <p:extLst>
      <p:ext uri="{BB962C8B-B14F-4D97-AF65-F5344CB8AC3E}">
        <p14:creationId xmlns:p14="http://schemas.microsoft.com/office/powerpoint/2010/main" val="319128384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47515F-4A58-DFA9-F4DC-FA2F57C2B8AC}"/>
              </a:ext>
            </a:extLst>
          </p:cNvPr>
          <p:cNvSpPr>
            <a:spLocks noGrp="1"/>
          </p:cNvSpPr>
          <p:nvPr>
            <p:ph type="title"/>
          </p:nvPr>
        </p:nvSpPr>
        <p:spPr>
          <a:xfrm>
            <a:off x="1568147" y="129612"/>
            <a:ext cx="8911687" cy="1280890"/>
          </a:xfrm>
        </p:spPr>
        <p:txBody>
          <a:bodyPr/>
          <a:lstStyle/>
          <a:p>
            <a:r>
              <a:rPr lang="en-US" b="1" i="0" dirty="0">
                <a:solidFill>
                  <a:srgbClr val="273239"/>
                </a:solidFill>
                <a:effectLst/>
                <a:latin typeface="Nunito" pitchFamily="2" charset="0"/>
              </a:rPr>
              <a:t>Types of search algorithms:</a:t>
            </a:r>
            <a:br>
              <a:rPr lang="en-US" b="1" i="0" dirty="0">
                <a:solidFill>
                  <a:srgbClr val="273239"/>
                </a:solidFill>
                <a:effectLst/>
                <a:latin typeface="Nunito" pitchFamily="2" charset="0"/>
              </a:rPr>
            </a:br>
            <a:endParaRPr lang="en-US" dirty="0"/>
          </a:p>
        </p:txBody>
      </p:sp>
      <p:pic>
        <p:nvPicPr>
          <p:cNvPr id="4" name="Picture 3">
            <a:extLst>
              <a:ext uri="{FF2B5EF4-FFF2-40B4-BE49-F238E27FC236}">
                <a16:creationId xmlns:a16="http://schemas.microsoft.com/office/drawing/2014/main" id="{0A5EF682-BBC6-BC89-A815-2405B3BFA89F}"/>
              </a:ext>
            </a:extLst>
          </p:cNvPr>
          <p:cNvPicPr>
            <a:picLocks noChangeAspect="1"/>
          </p:cNvPicPr>
          <p:nvPr/>
        </p:nvPicPr>
        <p:blipFill rotWithShape="1">
          <a:blip r:embed="rId2">
            <a:extLst>
              <a:ext uri="{28A0092B-C50C-407E-A947-70E740481C1C}">
                <a14:useLocalDpi xmlns:a14="http://schemas.microsoft.com/office/drawing/2010/main" val="0"/>
              </a:ext>
            </a:extLst>
          </a:blip>
          <a:srcRect l="7632" t="6513" r="14801" b="12673"/>
          <a:stretch/>
        </p:blipFill>
        <p:spPr>
          <a:xfrm>
            <a:off x="11003168" y="6329803"/>
            <a:ext cx="1002890" cy="342928"/>
          </a:xfrm>
          <a:prstGeom prst="rect">
            <a:avLst/>
          </a:prstGeom>
        </p:spPr>
      </p:pic>
      <p:sp>
        <p:nvSpPr>
          <p:cNvPr id="5" name="TextBox 4">
            <a:extLst>
              <a:ext uri="{FF2B5EF4-FFF2-40B4-BE49-F238E27FC236}">
                <a16:creationId xmlns:a16="http://schemas.microsoft.com/office/drawing/2014/main" id="{CED2CCDC-C02F-B3A1-A3C5-707DECA064F1}"/>
              </a:ext>
            </a:extLst>
          </p:cNvPr>
          <p:cNvSpPr txBox="1"/>
          <p:nvPr/>
        </p:nvSpPr>
        <p:spPr>
          <a:xfrm>
            <a:off x="-30367" y="770057"/>
            <a:ext cx="1741230" cy="369332"/>
          </a:xfrm>
          <a:prstGeom prst="rect">
            <a:avLst/>
          </a:prstGeom>
          <a:noFill/>
        </p:spPr>
        <p:txBody>
          <a:bodyPr wrap="square" rtlCol="0">
            <a:spAutoFit/>
          </a:bodyPr>
          <a:lstStyle/>
          <a:p>
            <a:r>
              <a:rPr lang="en-US" sz="1800" dirty="0">
                <a:solidFill>
                  <a:schemeClr val="bg1"/>
                </a:solidFill>
                <a:effectLst/>
                <a:latin typeface="Bookman Old Style" panose="02050604050505020204" pitchFamily="18" charset="0"/>
                <a:ea typeface="Calibri" panose="020F0502020204030204" pitchFamily="34" charset="0"/>
              </a:rPr>
              <a:t>22AM2305</a:t>
            </a:r>
            <a:endParaRPr lang="en-IN" dirty="0">
              <a:solidFill>
                <a:schemeClr val="bg1"/>
              </a:solidFill>
              <a:latin typeface="Bookman Old Style" panose="02050604050505020204" pitchFamily="18" charset="0"/>
            </a:endParaRPr>
          </a:p>
        </p:txBody>
      </p:sp>
      <p:pic>
        <p:nvPicPr>
          <p:cNvPr id="6" name="Picture 2" descr="logo">
            <a:extLst>
              <a:ext uri="{FF2B5EF4-FFF2-40B4-BE49-F238E27FC236}">
                <a16:creationId xmlns:a16="http://schemas.microsoft.com/office/drawing/2014/main" id="{747D0EEE-BA48-499F-B84C-D20F74CB5DB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52799" y="89593"/>
            <a:ext cx="1070381" cy="1049796"/>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a:extLst>
              <a:ext uri="{FF2B5EF4-FFF2-40B4-BE49-F238E27FC236}">
                <a16:creationId xmlns:a16="http://schemas.microsoft.com/office/drawing/2014/main" id="{B8E50AC5-8D2A-6A5D-796D-B6863CA3B31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123180" y="89593"/>
            <a:ext cx="941000" cy="960203"/>
          </a:xfrm>
          <a:prstGeom prst="rect">
            <a:avLst/>
          </a:prstGeom>
        </p:spPr>
      </p:pic>
      <p:pic>
        <p:nvPicPr>
          <p:cNvPr id="4098" name="Picture 2" descr="Categories of search algorithms in AI">
            <a:extLst>
              <a:ext uri="{FF2B5EF4-FFF2-40B4-BE49-F238E27FC236}">
                <a16:creationId xmlns:a16="http://schemas.microsoft.com/office/drawing/2014/main" id="{EDBACC00-1544-53FB-914A-7B4A30469D0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88003" y="1410502"/>
            <a:ext cx="11210707" cy="400695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2381700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47515F-4A58-DFA9-F4DC-FA2F57C2B8AC}"/>
              </a:ext>
            </a:extLst>
          </p:cNvPr>
          <p:cNvSpPr>
            <a:spLocks noGrp="1"/>
          </p:cNvSpPr>
          <p:nvPr>
            <p:ph type="title"/>
          </p:nvPr>
        </p:nvSpPr>
        <p:spPr>
          <a:xfrm>
            <a:off x="1568147" y="129612"/>
            <a:ext cx="8911687" cy="1280890"/>
          </a:xfrm>
        </p:spPr>
        <p:txBody>
          <a:bodyPr/>
          <a:lstStyle/>
          <a:p>
            <a:r>
              <a:rPr lang="en-US" b="0" i="0" dirty="0">
                <a:solidFill>
                  <a:srgbClr val="000000"/>
                </a:solidFill>
                <a:effectLst/>
                <a:latin typeface="ff1"/>
              </a:rPr>
              <a:t>Informed Search</a:t>
            </a:r>
            <a:endParaRPr lang="en-US" dirty="0"/>
          </a:p>
        </p:txBody>
      </p:sp>
      <p:sp>
        <p:nvSpPr>
          <p:cNvPr id="3" name="Content Placeholder 2">
            <a:extLst>
              <a:ext uri="{FF2B5EF4-FFF2-40B4-BE49-F238E27FC236}">
                <a16:creationId xmlns:a16="http://schemas.microsoft.com/office/drawing/2014/main" id="{CD8527A1-EA1C-ABF8-E388-1F26941C7D64}"/>
              </a:ext>
            </a:extLst>
          </p:cNvPr>
          <p:cNvSpPr>
            <a:spLocks noGrp="1"/>
          </p:cNvSpPr>
          <p:nvPr>
            <p:ph idx="1"/>
          </p:nvPr>
        </p:nvSpPr>
        <p:spPr>
          <a:xfrm>
            <a:off x="1170040" y="1179408"/>
            <a:ext cx="10334573" cy="4908535"/>
          </a:xfrm>
        </p:spPr>
        <p:txBody>
          <a:bodyPr>
            <a:normAutofit fontScale="92500" lnSpcReduction="20000"/>
          </a:bodyPr>
          <a:lstStyle/>
          <a:p>
            <a:pPr algn="l"/>
            <a:r>
              <a:rPr lang="en-US" sz="2400" b="0" i="0" dirty="0">
                <a:solidFill>
                  <a:srgbClr val="000000"/>
                </a:solidFill>
                <a:effectLst/>
                <a:latin typeface="Bookman Old Style" panose="02050604050505020204" pitchFamily="18" charset="0"/>
              </a:rPr>
              <a:t>They contain information on goal state. </a:t>
            </a:r>
          </a:p>
          <a:p>
            <a:pPr algn="l"/>
            <a:r>
              <a:rPr lang="en-US" sz="2400" b="0" i="0" dirty="0">
                <a:solidFill>
                  <a:srgbClr val="000000"/>
                </a:solidFill>
                <a:effectLst/>
                <a:latin typeface="Bookman Old Style" panose="02050604050505020204" pitchFamily="18" charset="0"/>
              </a:rPr>
              <a:t>It helps search efficiently. </a:t>
            </a:r>
          </a:p>
          <a:p>
            <a:pPr algn="l"/>
            <a:r>
              <a:rPr lang="en-US" sz="2400" b="0" i="0" dirty="0">
                <a:solidFill>
                  <a:srgbClr val="000000"/>
                </a:solidFill>
                <a:effectLst/>
                <a:latin typeface="Bookman Old Style" panose="02050604050505020204" pitchFamily="18" charset="0"/>
              </a:rPr>
              <a:t>The information is obtained by a function that helps estimate how close a current state is, to the goal state. </a:t>
            </a:r>
          </a:p>
          <a:p>
            <a:pPr algn="l"/>
            <a:r>
              <a:rPr lang="en-US" sz="2400" b="0" i="0" dirty="0">
                <a:solidFill>
                  <a:srgbClr val="000000"/>
                </a:solidFill>
                <a:effectLst/>
                <a:latin typeface="Bookman Old Style" panose="02050604050505020204" pitchFamily="18" charset="0"/>
              </a:rPr>
              <a:t>Examples of informed search include greedy search and graph search. </a:t>
            </a:r>
          </a:p>
          <a:p>
            <a:pPr algn="l"/>
            <a:r>
              <a:rPr lang="en-US" sz="2400" b="0" i="0" dirty="0">
                <a:solidFill>
                  <a:srgbClr val="000000"/>
                </a:solidFill>
                <a:effectLst/>
                <a:latin typeface="Bookman Old Style" panose="02050604050505020204" pitchFamily="18" charset="0"/>
              </a:rPr>
              <a:t>It uses the knowledge in the process of searching. </a:t>
            </a:r>
          </a:p>
          <a:p>
            <a:pPr algn="l"/>
            <a:r>
              <a:rPr lang="en-US" sz="2400" b="0" i="0" dirty="0">
                <a:solidFill>
                  <a:srgbClr val="000000"/>
                </a:solidFill>
                <a:effectLst/>
                <a:latin typeface="Bookman Old Style" panose="02050604050505020204" pitchFamily="18" charset="0"/>
              </a:rPr>
              <a:t>It helps find the solution quickly. </a:t>
            </a:r>
          </a:p>
          <a:p>
            <a:pPr algn="l"/>
            <a:r>
              <a:rPr lang="en-US" sz="2400" b="0" i="0" dirty="0">
                <a:solidFill>
                  <a:srgbClr val="000000"/>
                </a:solidFill>
                <a:effectLst/>
                <a:latin typeface="Bookman Old Style" panose="02050604050505020204" pitchFamily="18" charset="0"/>
              </a:rPr>
              <a:t>It may or may not be complete. </a:t>
            </a:r>
          </a:p>
          <a:p>
            <a:pPr algn="l"/>
            <a:r>
              <a:rPr lang="en-US" sz="2400" b="0" i="0" dirty="0">
                <a:solidFill>
                  <a:srgbClr val="000000"/>
                </a:solidFill>
                <a:effectLst/>
                <a:latin typeface="Bookman Old Style" panose="02050604050505020204" pitchFamily="18" charset="0"/>
              </a:rPr>
              <a:t>It is inexpensive. </a:t>
            </a:r>
          </a:p>
          <a:p>
            <a:pPr algn="l"/>
            <a:r>
              <a:rPr lang="en-US" sz="2400" b="0" i="0" dirty="0">
                <a:solidFill>
                  <a:srgbClr val="000000"/>
                </a:solidFill>
                <a:effectLst/>
                <a:latin typeface="Bookman Old Style" panose="02050604050505020204" pitchFamily="18" charset="0"/>
              </a:rPr>
              <a:t>It consumes less time. </a:t>
            </a:r>
          </a:p>
          <a:p>
            <a:pPr algn="l"/>
            <a:r>
              <a:rPr lang="en-US" sz="2400" b="0" i="0" dirty="0">
                <a:solidFill>
                  <a:srgbClr val="000000"/>
                </a:solidFill>
                <a:effectLst/>
                <a:latin typeface="Bookman Old Style" panose="02050604050505020204" pitchFamily="18" charset="0"/>
              </a:rPr>
              <a:t>It gives the direction about the solution. </a:t>
            </a:r>
          </a:p>
          <a:p>
            <a:pPr algn="l"/>
            <a:r>
              <a:rPr lang="en-US" sz="2400" b="0" i="0" dirty="0">
                <a:solidFill>
                  <a:srgbClr val="000000"/>
                </a:solidFill>
                <a:effectLst/>
                <a:latin typeface="Bookman Old Style" panose="02050604050505020204" pitchFamily="18" charset="0"/>
              </a:rPr>
              <a:t>It is less lengthy to implement.</a:t>
            </a:r>
          </a:p>
          <a:p>
            <a:endParaRPr lang="en-US" sz="2400" dirty="0">
              <a:latin typeface="Bookman Old Style" panose="02050604050505020204" pitchFamily="18" charset="0"/>
            </a:endParaRPr>
          </a:p>
        </p:txBody>
      </p:sp>
      <p:pic>
        <p:nvPicPr>
          <p:cNvPr id="4" name="Picture 3">
            <a:extLst>
              <a:ext uri="{FF2B5EF4-FFF2-40B4-BE49-F238E27FC236}">
                <a16:creationId xmlns:a16="http://schemas.microsoft.com/office/drawing/2014/main" id="{0A5EF682-BBC6-BC89-A815-2405B3BFA89F}"/>
              </a:ext>
            </a:extLst>
          </p:cNvPr>
          <p:cNvPicPr>
            <a:picLocks noChangeAspect="1"/>
          </p:cNvPicPr>
          <p:nvPr/>
        </p:nvPicPr>
        <p:blipFill rotWithShape="1">
          <a:blip r:embed="rId2">
            <a:extLst>
              <a:ext uri="{28A0092B-C50C-407E-A947-70E740481C1C}">
                <a14:useLocalDpi xmlns:a14="http://schemas.microsoft.com/office/drawing/2010/main" val="0"/>
              </a:ext>
            </a:extLst>
          </a:blip>
          <a:srcRect l="7632" t="6513" r="14801" b="12673"/>
          <a:stretch/>
        </p:blipFill>
        <p:spPr>
          <a:xfrm>
            <a:off x="11003168" y="6329803"/>
            <a:ext cx="1002890" cy="342928"/>
          </a:xfrm>
          <a:prstGeom prst="rect">
            <a:avLst/>
          </a:prstGeom>
        </p:spPr>
      </p:pic>
      <p:sp>
        <p:nvSpPr>
          <p:cNvPr id="5" name="TextBox 4">
            <a:extLst>
              <a:ext uri="{FF2B5EF4-FFF2-40B4-BE49-F238E27FC236}">
                <a16:creationId xmlns:a16="http://schemas.microsoft.com/office/drawing/2014/main" id="{CED2CCDC-C02F-B3A1-A3C5-707DECA064F1}"/>
              </a:ext>
            </a:extLst>
          </p:cNvPr>
          <p:cNvSpPr txBox="1"/>
          <p:nvPr/>
        </p:nvSpPr>
        <p:spPr>
          <a:xfrm>
            <a:off x="-30367" y="770057"/>
            <a:ext cx="1741230" cy="369332"/>
          </a:xfrm>
          <a:prstGeom prst="rect">
            <a:avLst/>
          </a:prstGeom>
          <a:noFill/>
        </p:spPr>
        <p:txBody>
          <a:bodyPr wrap="square" rtlCol="0">
            <a:spAutoFit/>
          </a:bodyPr>
          <a:lstStyle/>
          <a:p>
            <a:r>
              <a:rPr lang="en-US" sz="1800" dirty="0">
                <a:solidFill>
                  <a:schemeClr val="bg1"/>
                </a:solidFill>
                <a:effectLst/>
                <a:latin typeface="Bookman Old Style" panose="02050604050505020204" pitchFamily="18" charset="0"/>
                <a:ea typeface="Calibri" panose="020F0502020204030204" pitchFamily="34" charset="0"/>
              </a:rPr>
              <a:t>22AM2305</a:t>
            </a:r>
            <a:endParaRPr lang="en-IN" dirty="0">
              <a:solidFill>
                <a:schemeClr val="bg1"/>
              </a:solidFill>
              <a:latin typeface="Bookman Old Style" panose="02050604050505020204" pitchFamily="18" charset="0"/>
            </a:endParaRPr>
          </a:p>
        </p:txBody>
      </p:sp>
      <p:pic>
        <p:nvPicPr>
          <p:cNvPr id="6" name="Picture 2" descr="logo">
            <a:extLst>
              <a:ext uri="{FF2B5EF4-FFF2-40B4-BE49-F238E27FC236}">
                <a16:creationId xmlns:a16="http://schemas.microsoft.com/office/drawing/2014/main" id="{747D0EEE-BA48-499F-B84C-D20F74CB5DB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52799" y="89593"/>
            <a:ext cx="1070381" cy="1049796"/>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a:extLst>
              <a:ext uri="{FF2B5EF4-FFF2-40B4-BE49-F238E27FC236}">
                <a16:creationId xmlns:a16="http://schemas.microsoft.com/office/drawing/2014/main" id="{B8E50AC5-8D2A-6A5D-796D-B6863CA3B31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123180" y="89593"/>
            <a:ext cx="941000" cy="960203"/>
          </a:xfrm>
          <a:prstGeom prst="rect">
            <a:avLst/>
          </a:prstGeom>
        </p:spPr>
      </p:pic>
      <p:pic>
        <p:nvPicPr>
          <p:cNvPr id="11" name="Picture 10">
            <a:extLst>
              <a:ext uri="{FF2B5EF4-FFF2-40B4-BE49-F238E27FC236}">
                <a16:creationId xmlns:a16="http://schemas.microsoft.com/office/drawing/2014/main" id="{1FD8E214-9CC3-9091-2A70-CFE0B3EA46FC}"/>
              </a:ext>
            </a:extLst>
          </p:cNvPr>
          <p:cNvPicPr>
            <a:picLocks noChangeAspect="1"/>
          </p:cNvPicPr>
          <p:nvPr/>
        </p:nvPicPr>
        <p:blipFill rotWithShape="1">
          <a:blip r:embed="rId5"/>
          <a:srcRect l="7258" t="16614" r="8766" b="14408"/>
          <a:stretch/>
        </p:blipFill>
        <p:spPr>
          <a:xfrm>
            <a:off x="7620000" y="3633675"/>
            <a:ext cx="4263123" cy="1969723"/>
          </a:xfrm>
          <a:prstGeom prst="rect">
            <a:avLst/>
          </a:prstGeom>
        </p:spPr>
      </p:pic>
    </p:spTree>
    <p:extLst>
      <p:ext uri="{BB962C8B-B14F-4D97-AF65-F5344CB8AC3E}">
        <p14:creationId xmlns:p14="http://schemas.microsoft.com/office/powerpoint/2010/main" val="359631279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47515F-4A58-DFA9-F4DC-FA2F57C2B8AC}"/>
              </a:ext>
            </a:extLst>
          </p:cNvPr>
          <p:cNvSpPr>
            <a:spLocks noGrp="1"/>
          </p:cNvSpPr>
          <p:nvPr>
            <p:ph type="title"/>
          </p:nvPr>
        </p:nvSpPr>
        <p:spPr>
          <a:xfrm>
            <a:off x="1568147" y="129612"/>
            <a:ext cx="8911687" cy="1280890"/>
          </a:xfrm>
        </p:spPr>
        <p:txBody>
          <a:bodyPr/>
          <a:lstStyle/>
          <a:p>
            <a:r>
              <a:rPr lang="en-US" b="0" i="0" dirty="0">
                <a:solidFill>
                  <a:srgbClr val="000000"/>
                </a:solidFill>
                <a:effectLst/>
                <a:latin typeface="ff1"/>
              </a:rPr>
              <a:t>Uninformed Search</a:t>
            </a:r>
            <a:endParaRPr lang="en-US" dirty="0"/>
          </a:p>
        </p:txBody>
      </p:sp>
      <p:sp>
        <p:nvSpPr>
          <p:cNvPr id="3" name="Content Placeholder 2">
            <a:extLst>
              <a:ext uri="{FF2B5EF4-FFF2-40B4-BE49-F238E27FC236}">
                <a16:creationId xmlns:a16="http://schemas.microsoft.com/office/drawing/2014/main" id="{CD8527A1-EA1C-ABF8-E388-1F26941C7D64}"/>
              </a:ext>
            </a:extLst>
          </p:cNvPr>
          <p:cNvSpPr>
            <a:spLocks noGrp="1"/>
          </p:cNvSpPr>
          <p:nvPr>
            <p:ph idx="1"/>
          </p:nvPr>
        </p:nvSpPr>
        <p:spPr>
          <a:xfrm>
            <a:off x="840248" y="1193729"/>
            <a:ext cx="10334573" cy="4677441"/>
          </a:xfrm>
        </p:spPr>
        <p:txBody>
          <a:bodyPr>
            <a:normAutofit fontScale="85000" lnSpcReduction="10000"/>
          </a:bodyPr>
          <a:lstStyle/>
          <a:p>
            <a:pPr algn="l"/>
            <a:r>
              <a:rPr lang="en-US" sz="2400" b="0" i="0" dirty="0">
                <a:solidFill>
                  <a:srgbClr val="000000"/>
                </a:solidFill>
                <a:effectLst/>
                <a:latin typeface="Bookman Old Style" panose="02050604050505020204" pitchFamily="18" charset="0"/>
              </a:rPr>
              <a:t>They don’t have any additional information. </a:t>
            </a:r>
          </a:p>
          <a:p>
            <a:pPr algn="l"/>
            <a:r>
              <a:rPr lang="en-US" sz="2400" b="0" i="0" dirty="0">
                <a:solidFill>
                  <a:srgbClr val="000000"/>
                </a:solidFill>
                <a:effectLst/>
                <a:latin typeface="Bookman Old Style" panose="02050604050505020204" pitchFamily="18" charset="0"/>
              </a:rPr>
              <a:t>The information is only provided in the problem definition. </a:t>
            </a:r>
          </a:p>
          <a:p>
            <a:pPr algn="l"/>
            <a:r>
              <a:rPr lang="en-US" sz="2400" b="0" i="0" dirty="0">
                <a:solidFill>
                  <a:srgbClr val="000000"/>
                </a:solidFill>
                <a:effectLst/>
                <a:latin typeface="Bookman Old Style" panose="02050604050505020204" pitchFamily="18" charset="0"/>
              </a:rPr>
              <a:t>The goal state can be reached using different order and length of actions. </a:t>
            </a:r>
          </a:p>
          <a:p>
            <a:pPr algn="l"/>
            <a:r>
              <a:rPr lang="en-US" sz="2400" b="0" i="0" dirty="0">
                <a:solidFill>
                  <a:srgbClr val="000000"/>
                </a:solidFill>
                <a:effectLst/>
                <a:latin typeface="Bookman Old Style" panose="02050604050505020204" pitchFamily="18" charset="0"/>
              </a:rPr>
              <a:t>Examples of uninformed search include depth first search (DFS) and breadth first search (BFS). </a:t>
            </a:r>
          </a:p>
          <a:p>
            <a:pPr algn="l"/>
            <a:r>
              <a:rPr lang="en-US" sz="2400" b="0" i="0" dirty="0">
                <a:solidFill>
                  <a:srgbClr val="000000"/>
                </a:solidFill>
                <a:effectLst/>
                <a:latin typeface="Bookman Old Style" panose="02050604050505020204" pitchFamily="18" charset="0"/>
              </a:rPr>
              <a:t>It doesn’t use the knowledge in the process of searching. </a:t>
            </a:r>
          </a:p>
          <a:p>
            <a:pPr algn="l"/>
            <a:r>
              <a:rPr lang="en-US" sz="2400" b="0" i="0" dirty="0">
                <a:solidFill>
                  <a:srgbClr val="000000"/>
                </a:solidFill>
                <a:effectLst/>
                <a:latin typeface="Bookman Old Style" panose="02050604050505020204" pitchFamily="18" charset="0"/>
              </a:rPr>
              <a:t>It takes more time to show the solution. </a:t>
            </a:r>
          </a:p>
          <a:p>
            <a:pPr algn="l"/>
            <a:r>
              <a:rPr lang="en-US" sz="2400" b="0" i="0" dirty="0">
                <a:solidFill>
                  <a:srgbClr val="000000"/>
                </a:solidFill>
                <a:effectLst/>
                <a:latin typeface="Bookman Old Style" panose="02050604050505020204" pitchFamily="18" charset="0"/>
              </a:rPr>
              <a:t>It is always complete. </a:t>
            </a:r>
          </a:p>
          <a:p>
            <a:pPr algn="l"/>
            <a:r>
              <a:rPr lang="en-US" sz="2400" b="0" i="0" dirty="0">
                <a:solidFill>
                  <a:srgbClr val="000000"/>
                </a:solidFill>
                <a:effectLst/>
                <a:latin typeface="Bookman Old Style" panose="02050604050505020204" pitchFamily="18" charset="0"/>
              </a:rPr>
              <a:t>It is expensive. </a:t>
            </a:r>
          </a:p>
          <a:p>
            <a:pPr algn="l"/>
            <a:r>
              <a:rPr lang="en-US" sz="2400" b="0" i="0" dirty="0">
                <a:solidFill>
                  <a:srgbClr val="000000"/>
                </a:solidFill>
                <a:effectLst/>
                <a:latin typeface="Bookman Old Style" panose="02050604050505020204" pitchFamily="18" charset="0"/>
              </a:rPr>
              <a:t>It consumes moderate time. </a:t>
            </a:r>
          </a:p>
          <a:p>
            <a:pPr algn="l"/>
            <a:r>
              <a:rPr lang="en-US" sz="2400" b="0" i="0" dirty="0">
                <a:solidFill>
                  <a:srgbClr val="000000"/>
                </a:solidFill>
                <a:effectLst/>
                <a:latin typeface="Bookman Old Style" panose="02050604050505020204" pitchFamily="18" charset="0"/>
              </a:rPr>
              <a:t>There is no suggestion regarding finding the solution. </a:t>
            </a:r>
          </a:p>
          <a:p>
            <a:pPr algn="l"/>
            <a:r>
              <a:rPr lang="en-US" sz="2400" b="0" i="0" dirty="0">
                <a:solidFill>
                  <a:srgbClr val="000000"/>
                </a:solidFill>
                <a:effectLst/>
                <a:latin typeface="Bookman Old Style" panose="02050604050505020204" pitchFamily="18" charset="0"/>
              </a:rPr>
              <a:t>It is lengthy to implement.</a:t>
            </a:r>
          </a:p>
          <a:p>
            <a:endParaRPr lang="en-US" sz="2400" dirty="0">
              <a:latin typeface="Bookman Old Style" panose="02050604050505020204" pitchFamily="18" charset="0"/>
            </a:endParaRPr>
          </a:p>
        </p:txBody>
      </p:sp>
      <p:pic>
        <p:nvPicPr>
          <p:cNvPr id="4" name="Picture 3">
            <a:extLst>
              <a:ext uri="{FF2B5EF4-FFF2-40B4-BE49-F238E27FC236}">
                <a16:creationId xmlns:a16="http://schemas.microsoft.com/office/drawing/2014/main" id="{0A5EF682-BBC6-BC89-A815-2405B3BFA89F}"/>
              </a:ext>
            </a:extLst>
          </p:cNvPr>
          <p:cNvPicPr>
            <a:picLocks noChangeAspect="1"/>
          </p:cNvPicPr>
          <p:nvPr/>
        </p:nvPicPr>
        <p:blipFill rotWithShape="1">
          <a:blip r:embed="rId2">
            <a:extLst>
              <a:ext uri="{28A0092B-C50C-407E-A947-70E740481C1C}">
                <a14:useLocalDpi xmlns:a14="http://schemas.microsoft.com/office/drawing/2010/main" val="0"/>
              </a:ext>
            </a:extLst>
          </a:blip>
          <a:srcRect l="7632" t="6513" r="14801" b="12673"/>
          <a:stretch/>
        </p:blipFill>
        <p:spPr>
          <a:xfrm>
            <a:off x="11003168" y="6329803"/>
            <a:ext cx="1002890" cy="342928"/>
          </a:xfrm>
          <a:prstGeom prst="rect">
            <a:avLst/>
          </a:prstGeom>
        </p:spPr>
      </p:pic>
      <p:sp>
        <p:nvSpPr>
          <p:cNvPr id="5" name="TextBox 4">
            <a:extLst>
              <a:ext uri="{FF2B5EF4-FFF2-40B4-BE49-F238E27FC236}">
                <a16:creationId xmlns:a16="http://schemas.microsoft.com/office/drawing/2014/main" id="{CED2CCDC-C02F-B3A1-A3C5-707DECA064F1}"/>
              </a:ext>
            </a:extLst>
          </p:cNvPr>
          <p:cNvSpPr txBox="1"/>
          <p:nvPr/>
        </p:nvSpPr>
        <p:spPr>
          <a:xfrm>
            <a:off x="-30367" y="770057"/>
            <a:ext cx="1741230" cy="369332"/>
          </a:xfrm>
          <a:prstGeom prst="rect">
            <a:avLst/>
          </a:prstGeom>
          <a:noFill/>
        </p:spPr>
        <p:txBody>
          <a:bodyPr wrap="square" rtlCol="0">
            <a:spAutoFit/>
          </a:bodyPr>
          <a:lstStyle/>
          <a:p>
            <a:r>
              <a:rPr lang="en-US" sz="1800" dirty="0">
                <a:solidFill>
                  <a:schemeClr val="bg1"/>
                </a:solidFill>
                <a:effectLst/>
                <a:latin typeface="Bookman Old Style" panose="02050604050505020204" pitchFamily="18" charset="0"/>
                <a:ea typeface="Calibri" panose="020F0502020204030204" pitchFamily="34" charset="0"/>
              </a:rPr>
              <a:t>22AM2305</a:t>
            </a:r>
            <a:endParaRPr lang="en-IN" dirty="0">
              <a:solidFill>
                <a:schemeClr val="bg1"/>
              </a:solidFill>
              <a:latin typeface="Bookman Old Style" panose="02050604050505020204" pitchFamily="18" charset="0"/>
            </a:endParaRPr>
          </a:p>
        </p:txBody>
      </p:sp>
      <p:pic>
        <p:nvPicPr>
          <p:cNvPr id="6" name="Picture 2" descr="logo">
            <a:extLst>
              <a:ext uri="{FF2B5EF4-FFF2-40B4-BE49-F238E27FC236}">
                <a16:creationId xmlns:a16="http://schemas.microsoft.com/office/drawing/2014/main" id="{747D0EEE-BA48-499F-B84C-D20F74CB5DB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52799" y="89593"/>
            <a:ext cx="1070381" cy="1049796"/>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a:extLst>
              <a:ext uri="{FF2B5EF4-FFF2-40B4-BE49-F238E27FC236}">
                <a16:creationId xmlns:a16="http://schemas.microsoft.com/office/drawing/2014/main" id="{B8E50AC5-8D2A-6A5D-796D-B6863CA3B31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123180" y="89593"/>
            <a:ext cx="941000" cy="960203"/>
          </a:xfrm>
          <a:prstGeom prst="rect">
            <a:avLst/>
          </a:prstGeom>
        </p:spPr>
      </p:pic>
      <p:pic>
        <p:nvPicPr>
          <p:cNvPr id="6162" name="Picture 18" descr="Uninformed Search | Various types of Uninformed Search Algorithms">
            <a:extLst>
              <a:ext uri="{FF2B5EF4-FFF2-40B4-BE49-F238E27FC236}">
                <a16:creationId xmlns:a16="http://schemas.microsoft.com/office/drawing/2014/main" id="{19EB4CC4-51A4-8ED7-3890-CD272F878359}"/>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t="8342" r="7627" b="10534"/>
          <a:stretch/>
        </p:blipFill>
        <p:spPr bwMode="auto">
          <a:xfrm>
            <a:off x="8162772" y="3620299"/>
            <a:ext cx="3472554" cy="17213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8142869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47515F-4A58-DFA9-F4DC-FA2F57C2B8AC}"/>
              </a:ext>
            </a:extLst>
          </p:cNvPr>
          <p:cNvSpPr>
            <a:spLocks noGrp="1"/>
          </p:cNvSpPr>
          <p:nvPr>
            <p:ph type="title"/>
          </p:nvPr>
        </p:nvSpPr>
        <p:spPr>
          <a:xfrm>
            <a:off x="1568147" y="129612"/>
            <a:ext cx="8911687" cy="1280890"/>
          </a:xfrm>
        </p:spPr>
        <p:txBody>
          <a:bodyPr/>
          <a:lstStyle/>
          <a:p>
            <a:endParaRPr lang="en-US" dirty="0"/>
          </a:p>
        </p:txBody>
      </p:sp>
      <p:sp>
        <p:nvSpPr>
          <p:cNvPr id="3" name="Content Placeholder 2">
            <a:extLst>
              <a:ext uri="{FF2B5EF4-FFF2-40B4-BE49-F238E27FC236}">
                <a16:creationId xmlns:a16="http://schemas.microsoft.com/office/drawing/2014/main" id="{CD8527A1-EA1C-ABF8-E388-1F26941C7D64}"/>
              </a:ext>
            </a:extLst>
          </p:cNvPr>
          <p:cNvSpPr>
            <a:spLocks noGrp="1"/>
          </p:cNvSpPr>
          <p:nvPr>
            <p:ph idx="1"/>
          </p:nvPr>
        </p:nvSpPr>
        <p:spPr>
          <a:xfrm>
            <a:off x="1170040" y="1579201"/>
            <a:ext cx="10334573" cy="4508742"/>
          </a:xfrm>
        </p:spPr>
        <p:txBody>
          <a:bodyPr>
            <a:normAutofit/>
          </a:bodyPr>
          <a:lstStyle/>
          <a:p>
            <a:endParaRPr lang="en-US" sz="2400" dirty="0"/>
          </a:p>
        </p:txBody>
      </p:sp>
      <p:pic>
        <p:nvPicPr>
          <p:cNvPr id="4" name="Picture 3">
            <a:extLst>
              <a:ext uri="{FF2B5EF4-FFF2-40B4-BE49-F238E27FC236}">
                <a16:creationId xmlns:a16="http://schemas.microsoft.com/office/drawing/2014/main" id="{0A5EF682-BBC6-BC89-A815-2405B3BFA89F}"/>
              </a:ext>
            </a:extLst>
          </p:cNvPr>
          <p:cNvPicPr>
            <a:picLocks noChangeAspect="1"/>
          </p:cNvPicPr>
          <p:nvPr/>
        </p:nvPicPr>
        <p:blipFill rotWithShape="1">
          <a:blip r:embed="rId2">
            <a:extLst>
              <a:ext uri="{28A0092B-C50C-407E-A947-70E740481C1C}">
                <a14:useLocalDpi xmlns:a14="http://schemas.microsoft.com/office/drawing/2010/main" val="0"/>
              </a:ext>
            </a:extLst>
          </a:blip>
          <a:srcRect l="7632" t="6513" r="14801" b="12673"/>
          <a:stretch/>
        </p:blipFill>
        <p:spPr>
          <a:xfrm>
            <a:off x="11003168" y="6329803"/>
            <a:ext cx="1002890" cy="342928"/>
          </a:xfrm>
          <a:prstGeom prst="rect">
            <a:avLst/>
          </a:prstGeom>
        </p:spPr>
      </p:pic>
      <p:sp>
        <p:nvSpPr>
          <p:cNvPr id="5" name="TextBox 4">
            <a:extLst>
              <a:ext uri="{FF2B5EF4-FFF2-40B4-BE49-F238E27FC236}">
                <a16:creationId xmlns:a16="http://schemas.microsoft.com/office/drawing/2014/main" id="{CED2CCDC-C02F-B3A1-A3C5-707DECA064F1}"/>
              </a:ext>
            </a:extLst>
          </p:cNvPr>
          <p:cNvSpPr txBox="1"/>
          <p:nvPr/>
        </p:nvSpPr>
        <p:spPr>
          <a:xfrm>
            <a:off x="-30367" y="770057"/>
            <a:ext cx="1741230" cy="369332"/>
          </a:xfrm>
          <a:prstGeom prst="rect">
            <a:avLst/>
          </a:prstGeom>
          <a:noFill/>
        </p:spPr>
        <p:txBody>
          <a:bodyPr wrap="square" rtlCol="0">
            <a:spAutoFit/>
          </a:bodyPr>
          <a:lstStyle/>
          <a:p>
            <a:r>
              <a:rPr lang="en-US" sz="1800" dirty="0">
                <a:solidFill>
                  <a:schemeClr val="bg1"/>
                </a:solidFill>
                <a:effectLst/>
                <a:latin typeface="Bookman Old Style" panose="02050604050505020204" pitchFamily="18" charset="0"/>
                <a:ea typeface="Calibri" panose="020F0502020204030204" pitchFamily="34" charset="0"/>
              </a:rPr>
              <a:t>22AM2305</a:t>
            </a:r>
            <a:endParaRPr lang="en-IN" dirty="0">
              <a:solidFill>
                <a:schemeClr val="bg1"/>
              </a:solidFill>
              <a:latin typeface="Bookman Old Style" panose="02050604050505020204" pitchFamily="18" charset="0"/>
            </a:endParaRPr>
          </a:p>
        </p:txBody>
      </p:sp>
      <p:pic>
        <p:nvPicPr>
          <p:cNvPr id="6" name="Picture 2" descr="logo">
            <a:extLst>
              <a:ext uri="{FF2B5EF4-FFF2-40B4-BE49-F238E27FC236}">
                <a16:creationId xmlns:a16="http://schemas.microsoft.com/office/drawing/2014/main" id="{747D0EEE-BA48-499F-B84C-D20F74CB5DB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52799" y="89593"/>
            <a:ext cx="1070381" cy="1049796"/>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a:extLst>
              <a:ext uri="{FF2B5EF4-FFF2-40B4-BE49-F238E27FC236}">
                <a16:creationId xmlns:a16="http://schemas.microsoft.com/office/drawing/2014/main" id="{B8E50AC5-8D2A-6A5D-796D-B6863CA3B31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123180" y="89593"/>
            <a:ext cx="941000" cy="960203"/>
          </a:xfrm>
          <a:prstGeom prst="rect">
            <a:avLst/>
          </a:prstGeom>
        </p:spPr>
      </p:pic>
      <p:pic>
        <p:nvPicPr>
          <p:cNvPr id="7170" name="Picture 2" descr="Difference Between Informed and Uninformed Search (with Comparison Chart) -  Tech Differences">
            <a:extLst>
              <a:ext uri="{FF2B5EF4-FFF2-40B4-BE49-F238E27FC236}">
                <a16:creationId xmlns:a16="http://schemas.microsoft.com/office/drawing/2014/main" id="{17498D99-5250-73FE-E560-16A23A0AE92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378946" y="1728595"/>
            <a:ext cx="6814215" cy="340081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445545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47515F-4A58-DFA9-F4DC-FA2F57C2B8AC}"/>
              </a:ext>
            </a:extLst>
          </p:cNvPr>
          <p:cNvSpPr>
            <a:spLocks noGrp="1"/>
          </p:cNvSpPr>
          <p:nvPr>
            <p:ph type="title"/>
          </p:nvPr>
        </p:nvSpPr>
        <p:spPr>
          <a:xfrm>
            <a:off x="1568147" y="129612"/>
            <a:ext cx="8911687" cy="1280890"/>
          </a:xfrm>
        </p:spPr>
        <p:txBody>
          <a:bodyPr/>
          <a:lstStyle/>
          <a:p>
            <a:endParaRPr lang="en-US" dirty="0"/>
          </a:p>
        </p:txBody>
      </p:sp>
      <p:graphicFrame>
        <p:nvGraphicFramePr>
          <p:cNvPr id="8" name="Content Placeholder 7">
            <a:extLst>
              <a:ext uri="{FF2B5EF4-FFF2-40B4-BE49-F238E27FC236}">
                <a16:creationId xmlns:a16="http://schemas.microsoft.com/office/drawing/2014/main" id="{CA3A0A0E-BF10-CB3D-BF33-60050A89F1FF}"/>
              </a:ext>
            </a:extLst>
          </p:cNvPr>
          <p:cNvGraphicFramePr>
            <a:graphicFrameLocks noGrp="1"/>
          </p:cNvGraphicFramePr>
          <p:nvPr>
            <p:ph idx="1"/>
            <p:extLst>
              <p:ext uri="{D42A27DB-BD31-4B8C-83A1-F6EECF244321}">
                <p14:modId xmlns:p14="http://schemas.microsoft.com/office/powerpoint/2010/main" val="2105570953"/>
              </p:ext>
            </p:extLst>
          </p:nvPr>
        </p:nvGraphicFramePr>
        <p:xfrm>
          <a:off x="639098" y="1410502"/>
          <a:ext cx="10667999" cy="4572000"/>
        </p:xfrm>
        <a:graphic>
          <a:graphicData uri="http://schemas.openxmlformats.org/drawingml/2006/table">
            <a:tbl>
              <a:tblPr>
                <a:tableStyleId>{5940675A-B579-460E-94D1-54222C63F5DA}</a:tableStyleId>
              </a:tblPr>
              <a:tblGrid>
                <a:gridCol w="1817731">
                  <a:extLst>
                    <a:ext uri="{9D8B030D-6E8A-4147-A177-3AD203B41FA5}">
                      <a16:colId xmlns:a16="http://schemas.microsoft.com/office/drawing/2014/main" val="19238864"/>
                    </a:ext>
                  </a:extLst>
                </a:gridCol>
                <a:gridCol w="4360570">
                  <a:extLst>
                    <a:ext uri="{9D8B030D-6E8A-4147-A177-3AD203B41FA5}">
                      <a16:colId xmlns:a16="http://schemas.microsoft.com/office/drawing/2014/main" val="1274166030"/>
                    </a:ext>
                  </a:extLst>
                </a:gridCol>
                <a:gridCol w="4489698">
                  <a:extLst>
                    <a:ext uri="{9D8B030D-6E8A-4147-A177-3AD203B41FA5}">
                      <a16:colId xmlns:a16="http://schemas.microsoft.com/office/drawing/2014/main" val="2494412993"/>
                    </a:ext>
                  </a:extLst>
                </a:gridCol>
              </a:tblGrid>
              <a:tr h="0">
                <a:tc>
                  <a:txBody>
                    <a:bodyPr/>
                    <a:lstStyle/>
                    <a:p>
                      <a:pPr algn="ctr" fontAlgn="base"/>
                      <a:r>
                        <a:rPr lang="en-US" sz="1600" b="1" dirty="0">
                          <a:effectLst/>
                        </a:rPr>
                        <a:t>Parameters</a:t>
                      </a:r>
                    </a:p>
                  </a:txBody>
                  <a:tcPr marL="38100" marR="38100" marT="76200" marB="76200" anchor="ctr"/>
                </a:tc>
                <a:tc>
                  <a:txBody>
                    <a:bodyPr/>
                    <a:lstStyle/>
                    <a:p>
                      <a:pPr algn="ctr" fontAlgn="base"/>
                      <a:r>
                        <a:rPr lang="en-US" sz="1600" b="1">
                          <a:effectLst/>
                        </a:rPr>
                        <a:t>Informed Search</a:t>
                      </a:r>
                    </a:p>
                  </a:txBody>
                  <a:tcPr marL="76200" marR="76200" marT="76200" marB="76200" anchor="ctr"/>
                </a:tc>
                <a:tc>
                  <a:txBody>
                    <a:bodyPr/>
                    <a:lstStyle/>
                    <a:p>
                      <a:pPr algn="ctr" fontAlgn="base"/>
                      <a:r>
                        <a:rPr lang="en-US" sz="1600" b="1" dirty="0">
                          <a:effectLst/>
                        </a:rPr>
                        <a:t>Uninformed Search</a:t>
                      </a:r>
                    </a:p>
                  </a:txBody>
                  <a:tcPr marL="76200" marR="76200" marT="76200" marB="76200" anchor="ctr"/>
                </a:tc>
                <a:extLst>
                  <a:ext uri="{0D108BD9-81ED-4DB2-BD59-A6C34878D82A}">
                    <a16:rowId xmlns:a16="http://schemas.microsoft.com/office/drawing/2014/main" val="1462574899"/>
                  </a:ext>
                </a:extLst>
              </a:tr>
              <a:tr h="0">
                <a:tc>
                  <a:txBody>
                    <a:bodyPr/>
                    <a:lstStyle/>
                    <a:p>
                      <a:pPr algn="l" fontAlgn="ctr"/>
                      <a:r>
                        <a:rPr lang="en-US" sz="1600" b="0" dirty="0">
                          <a:effectLst/>
                        </a:rPr>
                        <a:t>Known as</a:t>
                      </a:r>
                    </a:p>
                  </a:txBody>
                  <a:tcPr marL="76200" marR="76200" marT="106680" marB="106680" anchor="ctr"/>
                </a:tc>
                <a:tc>
                  <a:txBody>
                    <a:bodyPr/>
                    <a:lstStyle/>
                    <a:p>
                      <a:pPr algn="l" fontAlgn="ctr"/>
                      <a:r>
                        <a:rPr lang="en-US" sz="1600" b="0" dirty="0">
                          <a:effectLst/>
                        </a:rPr>
                        <a:t>It is also known as Heuristic Search. </a:t>
                      </a:r>
                    </a:p>
                  </a:txBody>
                  <a:tcPr marL="76200" marR="76200" marT="106680" marB="106680" anchor="ctr"/>
                </a:tc>
                <a:tc>
                  <a:txBody>
                    <a:bodyPr/>
                    <a:lstStyle/>
                    <a:p>
                      <a:pPr algn="l" fontAlgn="ctr"/>
                      <a:r>
                        <a:rPr lang="en-US" sz="1600" b="0">
                          <a:effectLst/>
                        </a:rPr>
                        <a:t>It is also known as Blind Search.</a:t>
                      </a:r>
                    </a:p>
                  </a:txBody>
                  <a:tcPr marL="76200" marR="76200" marT="106680" marB="106680" anchor="ctr"/>
                </a:tc>
                <a:extLst>
                  <a:ext uri="{0D108BD9-81ED-4DB2-BD59-A6C34878D82A}">
                    <a16:rowId xmlns:a16="http://schemas.microsoft.com/office/drawing/2014/main" val="1812254758"/>
                  </a:ext>
                </a:extLst>
              </a:tr>
              <a:tr h="0">
                <a:tc>
                  <a:txBody>
                    <a:bodyPr/>
                    <a:lstStyle/>
                    <a:p>
                      <a:pPr algn="l" fontAlgn="ctr"/>
                      <a:r>
                        <a:rPr lang="en-US" sz="1600" b="0" dirty="0">
                          <a:effectLst/>
                        </a:rPr>
                        <a:t>Using Knowledge</a:t>
                      </a:r>
                    </a:p>
                  </a:txBody>
                  <a:tcPr marL="76200" marR="76200" marT="106680" marB="106680" anchor="ctr"/>
                </a:tc>
                <a:tc>
                  <a:txBody>
                    <a:bodyPr/>
                    <a:lstStyle/>
                    <a:p>
                      <a:pPr algn="l" fontAlgn="ctr"/>
                      <a:r>
                        <a:rPr lang="en-US" sz="1600" b="0" dirty="0">
                          <a:effectLst/>
                        </a:rPr>
                        <a:t>It uses knowledge for the searching process. </a:t>
                      </a:r>
                    </a:p>
                  </a:txBody>
                  <a:tcPr marL="76200" marR="76200" marT="106680" marB="106680" anchor="ctr"/>
                </a:tc>
                <a:tc>
                  <a:txBody>
                    <a:bodyPr/>
                    <a:lstStyle/>
                    <a:p>
                      <a:pPr algn="l" fontAlgn="ctr"/>
                      <a:r>
                        <a:rPr lang="en-US" sz="1600" b="0">
                          <a:effectLst/>
                        </a:rPr>
                        <a:t>It doesn’t use knowledge for the searching process.</a:t>
                      </a:r>
                    </a:p>
                  </a:txBody>
                  <a:tcPr marL="76200" marR="76200" marT="106680" marB="106680" anchor="ctr"/>
                </a:tc>
                <a:extLst>
                  <a:ext uri="{0D108BD9-81ED-4DB2-BD59-A6C34878D82A}">
                    <a16:rowId xmlns:a16="http://schemas.microsoft.com/office/drawing/2014/main" val="3334634192"/>
                  </a:ext>
                </a:extLst>
              </a:tr>
              <a:tr h="0">
                <a:tc>
                  <a:txBody>
                    <a:bodyPr/>
                    <a:lstStyle/>
                    <a:p>
                      <a:pPr algn="l" fontAlgn="ctr"/>
                      <a:r>
                        <a:rPr lang="en-US" sz="1600" b="0">
                          <a:effectLst/>
                        </a:rPr>
                        <a:t>Performance</a:t>
                      </a:r>
                    </a:p>
                  </a:txBody>
                  <a:tcPr marL="76200" marR="76200" marT="106680" marB="106680" anchor="ctr"/>
                </a:tc>
                <a:tc>
                  <a:txBody>
                    <a:bodyPr/>
                    <a:lstStyle/>
                    <a:p>
                      <a:pPr algn="l" fontAlgn="ctr"/>
                      <a:r>
                        <a:rPr lang="en-US" sz="1600" b="0" dirty="0">
                          <a:effectLst/>
                        </a:rPr>
                        <a:t>It finds a solution more quickly.</a:t>
                      </a:r>
                    </a:p>
                  </a:txBody>
                  <a:tcPr marL="76200" marR="76200" marT="106680" marB="106680" anchor="ctr"/>
                </a:tc>
                <a:tc>
                  <a:txBody>
                    <a:bodyPr/>
                    <a:lstStyle/>
                    <a:p>
                      <a:pPr algn="l" fontAlgn="ctr"/>
                      <a:r>
                        <a:rPr lang="en-US" sz="1600" b="0" dirty="0">
                          <a:effectLst/>
                        </a:rPr>
                        <a:t>It finds solution slow as compared to an informed search.</a:t>
                      </a:r>
                    </a:p>
                  </a:txBody>
                  <a:tcPr marL="76200" marR="76200" marT="106680" marB="106680" anchor="ctr"/>
                </a:tc>
                <a:extLst>
                  <a:ext uri="{0D108BD9-81ED-4DB2-BD59-A6C34878D82A}">
                    <a16:rowId xmlns:a16="http://schemas.microsoft.com/office/drawing/2014/main" val="2840860495"/>
                  </a:ext>
                </a:extLst>
              </a:tr>
              <a:tr h="0">
                <a:tc>
                  <a:txBody>
                    <a:bodyPr/>
                    <a:lstStyle/>
                    <a:p>
                      <a:pPr algn="l" fontAlgn="ctr"/>
                      <a:r>
                        <a:rPr lang="en-US" sz="1600" b="0">
                          <a:effectLst/>
                        </a:rPr>
                        <a:t>Completion</a:t>
                      </a:r>
                    </a:p>
                  </a:txBody>
                  <a:tcPr marL="76200" marR="76200" marT="106680" marB="106680" anchor="ctr"/>
                </a:tc>
                <a:tc>
                  <a:txBody>
                    <a:bodyPr/>
                    <a:lstStyle/>
                    <a:p>
                      <a:pPr algn="l" fontAlgn="ctr"/>
                      <a:r>
                        <a:rPr lang="en-US" sz="1600" b="0">
                          <a:effectLst/>
                        </a:rPr>
                        <a:t>It may or may not be complete.</a:t>
                      </a:r>
                    </a:p>
                  </a:txBody>
                  <a:tcPr marL="76200" marR="76200" marT="106680" marB="106680" anchor="ctr"/>
                </a:tc>
                <a:tc>
                  <a:txBody>
                    <a:bodyPr/>
                    <a:lstStyle/>
                    <a:p>
                      <a:pPr algn="l" fontAlgn="ctr"/>
                      <a:r>
                        <a:rPr lang="en-US" sz="1600" b="0" dirty="0">
                          <a:effectLst/>
                        </a:rPr>
                        <a:t>It is always complete.</a:t>
                      </a:r>
                    </a:p>
                  </a:txBody>
                  <a:tcPr marL="76200" marR="76200" marT="106680" marB="106680" anchor="ctr"/>
                </a:tc>
                <a:extLst>
                  <a:ext uri="{0D108BD9-81ED-4DB2-BD59-A6C34878D82A}">
                    <a16:rowId xmlns:a16="http://schemas.microsoft.com/office/drawing/2014/main" val="3257750839"/>
                  </a:ext>
                </a:extLst>
              </a:tr>
              <a:tr h="0">
                <a:tc>
                  <a:txBody>
                    <a:bodyPr/>
                    <a:lstStyle/>
                    <a:p>
                      <a:pPr algn="l" fontAlgn="ctr"/>
                      <a:r>
                        <a:rPr lang="en-US" sz="1600" b="0">
                          <a:effectLst/>
                        </a:rPr>
                        <a:t>Cost Factor</a:t>
                      </a:r>
                    </a:p>
                  </a:txBody>
                  <a:tcPr marL="76200" marR="76200" marT="106680" marB="106680" anchor="ctr"/>
                </a:tc>
                <a:tc>
                  <a:txBody>
                    <a:bodyPr/>
                    <a:lstStyle/>
                    <a:p>
                      <a:pPr algn="l" fontAlgn="ctr"/>
                      <a:r>
                        <a:rPr lang="en-US" sz="1600" b="0">
                          <a:effectLst/>
                        </a:rPr>
                        <a:t>Cost is low.</a:t>
                      </a:r>
                    </a:p>
                  </a:txBody>
                  <a:tcPr marL="76200" marR="76200" marT="106680" marB="106680" anchor="ctr"/>
                </a:tc>
                <a:tc>
                  <a:txBody>
                    <a:bodyPr/>
                    <a:lstStyle/>
                    <a:p>
                      <a:pPr algn="l" fontAlgn="ctr"/>
                      <a:r>
                        <a:rPr lang="en-US" sz="1600" b="0" dirty="0">
                          <a:effectLst/>
                        </a:rPr>
                        <a:t>Cost is high.</a:t>
                      </a:r>
                    </a:p>
                  </a:txBody>
                  <a:tcPr marL="76200" marR="76200" marT="106680" marB="106680" anchor="ctr"/>
                </a:tc>
                <a:extLst>
                  <a:ext uri="{0D108BD9-81ED-4DB2-BD59-A6C34878D82A}">
                    <a16:rowId xmlns:a16="http://schemas.microsoft.com/office/drawing/2014/main" val="2489883859"/>
                  </a:ext>
                </a:extLst>
              </a:tr>
              <a:tr h="0">
                <a:tc>
                  <a:txBody>
                    <a:bodyPr/>
                    <a:lstStyle/>
                    <a:p>
                      <a:pPr algn="l" fontAlgn="ctr"/>
                      <a:r>
                        <a:rPr lang="en-US" sz="1600" b="0">
                          <a:effectLst/>
                        </a:rPr>
                        <a:t>Time</a:t>
                      </a:r>
                    </a:p>
                  </a:txBody>
                  <a:tcPr marL="76200" marR="76200" marT="106680" marB="106680" anchor="ctr"/>
                </a:tc>
                <a:tc>
                  <a:txBody>
                    <a:bodyPr/>
                    <a:lstStyle/>
                    <a:p>
                      <a:pPr algn="l" fontAlgn="ctr"/>
                      <a:r>
                        <a:rPr lang="en-US" sz="1600" b="0" dirty="0">
                          <a:effectLst/>
                        </a:rPr>
                        <a:t>It consumes less time because of quick searching.</a:t>
                      </a:r>
                    </a:p>
                  </a:txBody>
                  <a:tcPr marL="76200" marR="76200" marT="106680" marB="106680" anchor="ctr"/>
                </a:tc>
                <a:tc>
                  <a:txBody>
                    <a:bodyPr/>
                    <a:lstStyle/>
                    <a:p>
                      <a:pPr algn="l" fontAlgn="ctr"/>
                      <a:r>
                        <a:rPr lang="en-US" sz="1600" b="0" dirty="0">
                          <a:effectLst/>
                        </a:rPr>
                        <a:t>It consumes moderate time because of slow searching.</a:t>
                      </a:r>
                    </a:p>
                  </a:txBody>
                  <a:tcPr marL="76200" marR="76200" marT="106680" marB="106680" anchor="ctr"/>
                </a:tc>
                <a:extLst>
                  <a:ext uri="{0D108BD9-81ED-4DB2-BD59-A6C34878D82A}">
                    <a16:rowId xmlns:a16="http://schemas.microsoft.com/office/drawing/2014/main" val="4244237950"/>
                  </a:ext>
                </a:extLst>
              </a:tr>
              <a:tr h="0">
                <a:tc>
                  <a:txBody>
                    <a:bodyPr/>
                    <a:lstStyle/>
                    <a:p>
                      <a:pPr algn="l" fontAlgn="ctr"/>
                      <a:r>
                        <a:rPr lang="en-US" sz="1600" b="0" kern="1200" dirty="0">
                          <a:solidFill>
                            <a:schemeClr val="tx1"/>
                          </a:solidFill>
                          <a:effectLst/>
                          <a:latin typeface="+mn-lt"/>
                          <a:ea typeface="+mn-ea"/>
                          <a:cs typeface="+mn-cs"/>
                        </a:rPr>
                        <a:t>Direction</a:t>
                      </a:r>
                    </a:p>
                  </a:txBody>
                  <a:tcPr marL="76200" marR="76200" marT="106680" marB="106680" anchor="ctr"/>
                </a:tc>
                <a:tc>
                  <a:txBody>
                    <a:bodyPr/>
                    <a:lstStyle/>
                    <a:p>
                      <a:pPr algn="l" fontAlgn="ctr"/>
                      <a:r>
                        <a:rPr lang="en-US" sz="1600" b="0" kern="1200">
                          <a:solidFill>
                            <a:schemeClr val="tx1"/>
                          </a:solidFill>
                          <a:effectLst/>
                          <a:latin typeface="+mn-lt"/>
                          <a:ea typeface="+mn-ea"/>
                          <a:cs typeface="+mn-cs"/>
                        </a:rPr>
                        <a:t>There is a direction given about the solution.</a:t>
                      </a:r>
                    </a:p>
                  </a:txBody>
                  <a:tcPr marL="76200" marR="76200" marT="106680" marB="106680" anchor="ctr"/>
                </a:tc>
                <a:tc>
                  <a:txBody>
                    <a:bodyPr/>
                    <a:lstStyle/>
                    <a:p>
                      <a:pPr algn="l" fontAlgn="ctr"/>
                      <a:r>
                        <a:rPr lang="en-US" sz="1600" b="0" kern="1200" dirty="0">
                          <a:solidFill>
                            <a:schemeClr val="tx1"/>
                          </a:solidFill>
                          <a:effectLst/>
                          <a:latin typeface="+mn-lt"/>
                          <a:ea typeface="+mn-ea"/>
                          <a:cs typeface="+mn-cs"/>
                        </a:rPr>
                        <a:t>No suggestion is given regarding the solution in it.</a:t>
                      </a:r>
                    </a:p>
                  </a:txBody>
                  <a:tcPr marL="76200" marR="76200" marT="106680" marB="106680" anchor="ctr"/>
                </a:tc>
                <a:extLst>
                  <a:ext uri="{0D108BD9-81ED-4DB2-BD59-A6C34878D82A}">
                    <a16:rowId xmlns:a16="http://schemas.microsoft.com/office/drawing/2014/main" val="1473525825"/>
                  </a:ext>
                </a:extLst>
              </a:tr>
            </a:tbl>
          </a:graphicData>
        </a:graphic>
      </p:graphicFrame>
      <p:pic>
        <p:nvPicPr>
          <p:cNvPr id="4" name="Picture 3">
            <a:extLst>
              <a:ext uri="{FF2B5EF4-FFF2-40B4-BE49-F238E27FC236}">
                <a16:creationId xmlns:a16="http://schemas.microsoft.com/office/drawing/2014/main" id="{0A5EF682-BBC6-BC89-A815-2405B3BFA89F}"/>
              </a:ext>
            </a:extLst>
          </p:cNvPr>
          <p:cNvPicPr>
            <a:picLocks noChangeAspect="1"/>
          </p:cNvPicPr>
          <p:nvPr/>
        </p:nvPicPr>
        <p:blipFill rotWithShape="1">
          <a:blip r:embed="rId2">
            <a:extLst>
              <a:ext uri="{28A0092B-C50C-407E-A947-70E740481C1C}">
                <a14:useLocalDpi xmlns:a14="http://schemas.microsoft.com/office/drawing/2010/main" val="0"/>
              </a:ext>
            </a:extLst>
          </a:blip>
          <a:srcRect l="7632" t="6513" r="14801" b="12673"/>
          <a:stretch/>
        </p:blipFill>
        <p:spPr>
          <a:xfrm>
            <a:off x="11003168" y="6329803"/>
            <a:ext cx="1002890" cy="342928"/>
          </a:xfrm>
          <a:prstGeom prst="rect">
            <a:avLst/>
          </a:prstGeom>
        </p:spPr>
      </p:pic>
      <p:sp>
        <p:nvSpPr>
          <p:cNvPr id="5" name="TextBox 4">
            <a:extLst>
              <a:ext uri="{FF2B5EF4-FFF2-40B4-BE49-F238E27FC236}">
                <a16:creationId xmlns:a16="http://schemas.microsoft.com/office/drawing/2014/main" id="{CED2CCDC-C02F-B3A1-A3C5-707DECA064F1}"/>
              </a:ext>
            </a:extLst>
          </p:cNvPr>
          <p:cNvSpPr txBox="1"/>
          <p:nvPr/>
        </p:nvSpPr>
        <p:spPr>
          <a:xfrm>
            <a:off x="-30367" y="770057"/>
            <a:ext cx="1741230" cy="369332"/>
          </a:xfrm>
          <a:prstGeom prst="rect">
            <a:avLst/>
          </a:prstGeom>
          <a:noFill/>
        </p:spPr>
        <p:txBody>
          <a:bodyPr wrap="square" rtlCol="0">
            <a:spAutoFit/>
          </a:bodyPr>
          <a:lstStyle/>
          <a:p>
            <a:r>
              <a:rPr lang="en-US" sz="1800" dirty="0">
                <a:solidFill>
                  <a:schemeClr val="bg1"/>
                </a:solidFill>
                <a:effectLst/>
                <a:latin typeface="Bookman Old Style" panose="02050604050505020204" pitchFamily="18" charset="0"/>
                <a:ea typeface="Calibri" panose="020F0502020204030204" pitchFamily="34" charset="0"/>
              </a:rPr>
              <a:t>22AM2305</a:t>
            </a:r>
            <a:endParaRPr lang="en-IN" dirty="0">
              <a:solidFill>
                <a:schemeClr val="bg1"/>
              </a:solidFill>
              <a:latin typeface="Bookman Old Style" panose="02050604050505020204" pitchFamily="18" charset="0"/>
            </a:endParaRPr>
          </a:p>
        </p:txBody>
      </p:sp>
      <p:pic>
        <p:nvPicPr>
          <p:cNvPr id="6" name="Picture 2" descr="logo">
            <a:extLst>
              <a:ext uri="{FF2B5EF4-FFF2-40B4-BE49-F238E27FC236}">
                <a16:creationId xmlns:a16="http://schemas.microsoft.com/office/drawing/2014/main" id="{747D0EEE-BA48-499F-B84C-D20F74CB5DB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52799" y="89593"/>
            <a:ext cx="1070381" cy="1049796"/>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a:extLst>
              <a:ext uri="{FF2B5EF4-FFF2-40B4-BE49-F238E27FC236}">
                <a16:creationId xmlns:a16="http://schemas.microsoft.com/office/drawing/2014/main" id="{B8E50AC5-8D2A-6A5D-796D-B6863CA3B31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123180" y="89593"/>
            <a:ext cx="941000" cy="960203"/>
          </a:xfrm>
          <a:prstGeom prst="rect">
            <a:avLst/>
          </a:prstGeom>
        </p:spPr>
      </p:pic>
    </p:spTree>
    <p:extLst>
      <p:ext uri="{BB962C8B-B14F-4D97-AF65-F5344CB8AC3E}">
        <p14:creationId xmlns:p14="http://schemas.microsoft.com/office/powerpoint/2010/main" val="300669294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47515F-4A58-DFA9-F4DC-FA2F57C2B8AC}"/>
              </a:ext>
            </a:extLst>
          </p:cNvPr>
          <p:cNvSpPr>
            <a:spLocks noGrp="1"/>
          </p:cNvSpPr>
          <p:nvPr>
            <p:ph type="title"/>
          </p:nvPr>
        </p:nvSpPr>
        <p:spPr>
          <a:xfrm>
            <a:off x="1568147" y="129612"/>
            <a:ext cx="8911687" cy="1280890"/>
          </a:xfrm>
        </p:spPr>
        <p:txBody>
          <a:bodyPr/>
          <a:lstStyle/>
          <a:p>
            <a:endParaRPr lang="en-US" dirty="0"/>
          </a:p>
        </p:txBody>
      </p:sp>
      <p:graphicFrame>
        <p:nvGraphicFramePr>
          <p:cNvPr id="8" name="Content Placeholder 7">
            <a:extLst>
              <a:ext uri="{FF2B5EF4-FFF2-40B4-BE49-F238E27FC236}">
                <a16:creationId xmlns:a16="http://schemas.microsoft.com/office/drawing/2014/main" id="{9543272D-2172-1F87-2D24-F6772F41896A}"/>
              </a:ext>
            </a:extLst>
          </p:cNvPr>
          <p:cNvGraphicFramePr>
            <a:graphicFrameLocks noGrp="1"/>
          </p:cNvGraphicFramePr>
          <p:nvPr>
            <p:ph idx="1"/>
            <p:extLst>
              <p:ext uri="{D42A27DB-BD31-4B8C-83A1-F6EECF244321}">
                <p14:modId xmlns:p14="http://schemas.microsoft.com/office/powerpoint/2010/main" val="1036755660"/>
              </p:ext>
            </p:extLst>
          </p:nvPr>
        </p:nvGraphicFramePr>
        <p:xfrm>
          <a:off x="1002778" y="1363410"/>
          <a:ext cx="10835260" cy="4876800"/>
        </p:xfrm>
        <a:graphic>
          <a:graphicData uri="http://schemas.openxmlformats.org/drawingml/2006/table">
            <a:tbl>
              <a:tblPr>
                <a:tableStyleId>{5940675A-B579-460E-94D1-54222C63F5DA}</a:tableStyleId>
              </a:tblPr>
              <a:tblGrid>
                <a:gridCol w="2694398">
                  <a:extLst>
                    <a:ext uri="{9D8B030D-6E8A-4147-A177-3AD203B41FA5}">
                      <a16:colId xmlns:a16="http://schemas.microsoft.com/office/drawing/2014/main" val="667043601"/>
                    </a:ext>
                  </a:extLst>
                </a:gridCol>
                <a:gridCol w="4529109">
                  <a:extLst>
                    <a:ext uri="{9D8B030D-6E8A-4147-A177-3AD203B41FA5}">
                      <a16:colId xmlns:a16="http://schemas.microsoft.com/office/drawing/2014/main" val="3583442417"/>
                    </a:ext>
                  </a:extLst>
                </a:gridCol>
                <a:gridCol w="3611753">
                  <a:extLst>
                    <a:ext uri="{9D8B030D-6E8A-4147-A177-3AD203B41FA5}">
                      <a16:colId xmlns:a16="http://schemas.microsoft.com/office/drawing/2014/main" val="2843664670"/>
                    </a:ext>
                  </a:extLst>
                </a:gridCol>
              </a:tblGrid>
              <a:tr h="0">
                <a:tc>
                  <a:txBody>
                    <a:bodyPr/>
                    <a:lstStyle/>
                    <a:p>
                      <a:pPr algn="ctr" fontAlgn="base"/>
                      <a:r>
                        <a:rPr lang="en-US" sz="1600" b="1" dirty="0">
                          <a:effectLst/>
                        </a:rPr>
                        <a:t>Parameters</a:t>
                      </a:r>
                    </a:p>
                  </a:txBody>
                  <a:tcPr marL="38100" marR="38100" marT="76200" marB="76200" anchor="ctr"/>
                </a:tc>
                <a:tc>
                  <a:txBody>
                    <a:bodyPr/>
                    <a:lstStyle/>
                    <a:p>
                      <a:pPr algn="ctr" fontAlgn="base"/>
                      <a:r>
                        <a:rPr lang="en-US" sz="1600" b="1">
                          <a:effectLst/>
                        </a:rPr>
                        <a:t>Informed Search</a:t>
                      </a:r>
                    </a:p>
                  </a:txBody>
                  <a:tcPr marL="76200" marR="76200" marT="76200" marB="76200" anchor="ctr"/>
                </a:tc>
                <a:tc>
                  <a:txBody>
                    <a:bodyPr/>
                    <a:lstStyle/>
                    <a:p>
                      <a:pPr algn="ctr" fontAlgn="base"/>
                      <a:r>
                        <a:rPr lang="en-US" sz="1600" b="1" dirty="0">
                          <a:effectLst/>
                        </a:rPr>
                        <a:t>Uninformed Search</a:t>
                      </a:r>
                    </a:p>
                  </a:txBody>
                  <a:tcPr marL="76200" marR="76200" marT="76200" marB="76200" anchor="ctr"/>
                </a:tc>
                <a:extLst>
                  <a:ext uri="{0D108BD9-81ED-4DB2-BD59-A6C34878D82A}">
                    <a16:rowId xmlns:a16="http://schemas.microsoft.com/office/drawing/2014/main" val="2768932318"/>
                  </a:ext>
                </a:extLst>
              </a:tr>
              <a:tr h="0">
                <a:tc>
                  <a:txBody>
                    <a:bodyPr/>
                    <a:lstStyle/>
                    <a:p>
                      <a:pPr marL="0" algn="l" defTabSz="457200" rtl="0" eaLnBrk="1" fontAlgn="ctr" latinLnBrk="0" hangingPunct="1"/>
                      <a:r>
                        <a:rPr lang="en-US" sz="1600" b="0" kern="1200" dirty="0">
                          <a:solidFill>
                            <a:schemeClr val="tx1"/>
                          </a:solidFill>
                          <a:effectLst/>
                        </a:rPr>
                        <a:t>Implementation</a:t>
                      </a:r>
                      <a:endParaRPr lang="en-US" sz="1600" b="0" kern="1200" dirty="0">
                        <a:solidFill>
                          <a:schemeClr val="tx1"/>
                        </a:solidFill>
                        <a:effectLst/>
                        <a:latin typeface="+mn-lt"/>
                        <a:ea typeface="+mn-ea"/>
                        <a:cs typeface="+mn-cs"/>
                      </a:endParaRPr>
                    </a:p>
                  </a:txBody>
                  <a:tcPr marL="76200" marR="76200" marT="106680" marB="106680" anchor="ctr"/>
                </a:tc>
                <a:tc>
                  <a:txBody>
                    <a:bodyPr/>
                    <a:lstStyle/>
                    <a:p>
                      <a:pPr marL="0" algn="l" defTabSz="457200" rtl="0" eaLnBrk="1" fontAlgn="ctr" latinLnBrk="0" hangingPunct="1"/>
                      <a:r>
                        <a:rPr lang="en-US" sz="1600" b="0" kern="1200">
                          <a:solidFill>
                            <a:schemeClr val="tx1"/>
                          </a:solidFill>
                          <a:effectLst/>
                        </a:rPr>
                        <a:t>It is less lengthy while implemented.</a:t>
                      </a:r>
                      <a:endParaRPr lang="en-US" sz="1600" b="0" kern="1200">
                        <a:solidFill>
                          <a:schemeClr val="tx1"/>
                        </a:solidFill>
                        <a:effectLst/>
                        <a:latin typeface="+mn-lt"/>
                        <a:ea typeface="+mn-ea"/>
                        <a:cs typeface="+mn-cs"/>
                      </a:endParaRPr>
                    </a:p>
                  </a:txBody>
                  <a:tcPr marL="76200" marR="76200" marT="106680" marB="106680" anchor="ctr"/>
                </a:tc>
                <a:tc>
                  <a:txBody>
                    <a:bodyPr/>
                    <a:lstStyle/>
                    <a:p>
                      <a:pPr marL="0" algn="l" defTabSz="457200" rtl="0" eaLnBrk="1" fontAlgn="ctr" latinLnBrk="0" hangingPunct="1"/>
                      <a:r>
                        <a:rPr lang="en-US" sz="1600" b="0" kern="1200">
                          <a:solidFill>
                            <a:schemeClr val="tx1"/>
                          </a:solidFill>
                          <a:effectLst/>
                        </a:rPr>
                        <a:t>It is more lengthy while implemented.</a:t>
                      </a:r>
                      <a:endParaRPr lang="en-US" sz="1600" b="0" kern="1200">
                        <a:solidFill>
                          <a:schemeClr val="tx1"/>
                        </a:solidFill>
                        <a:effectLst/>
                        <a:latin typeface="+mn-lt"/>
                        <a:ea typeface="+mn-ea"/>
                        <a:cs typeface="+mn-cs"/>
                      </a:endParaRPr>
                    </a:p>
                  </a:txBody>
                  <a:tcPr marL="76200" marR="76200" marT="106680" marB="106680" anchor="ctr"/>
                </a:tc>
                <a:extLst>
                  <a:ext uri="{0D108BD9-81ED-4DB2-BD59-A6C34878D82A}">
                    <a16:rowId xmlns:a16="http://schemas.microsoft.com/office/drawing/2014/main" val="425893874"/>
                  </a:ext>
                </a:extLst>
              </a:tr>
              <a:tr h="0">
                <a:tc>
                  <a:txBody>
                    <a:bodyPr/>
                    <a:lstStyle/>
                    <a:p>
                      <a:pPr marL="0" algn="l" defTabSz="457200" rtl="0" eaLnBrk="1" fontAlgn="ctr" latinLnBrk="0" hangingPunct="1"/>
                      <a:r>
                        <a:rPr lang="en-US" sz="1600" b="0" kern="1200">
                          <a:solidFill>
                            <a:schemeClr val="tx1"/>
                          </a:solidFill>
                          <a:effectLst/>
                        </a:rPr>
                        <a:t>Efficiency</a:t>
                      </a:r>
                      <a:endParaRPr lang="en-US" sz="1600" b="0" kern="1200">
                        <a:solidFill>
                          <a:schemeClr val="tx1"/>
                        </a:solidFill>
                        <a:effectLst/>
                        <a:latin typeface="+mn-lt"/>
                        <a:ea typeface="+mn-ea"/>
                        <a:cs typeface="+mn-cs"/>
                      </a:endParaRPr>
                    </a:p>
                  </a:txBody>
                  <a:tcPr marL="76200" marR="76200" marT="106680" marB="106680" anchor="ctr"/>
                </a:tc>
                <a:tc>
                  <a:txBody>
                    <a:bodyPr/>
                    <a:lstStyle/>
                    <a:p>
                      <a:pPr marL="0" algn="l" defTabSz="457200" rtl="0" eaLnBrk="1" fontAlgn="ctr" latinLnBrk="0" hangingPunct="1"/>
                      <a:r>
                        <a:rPr lang="en-US" sz="1600" b="0" kern="1200">
                          <a:solidFill>
                            <a:schemeClr val="tx1"/>
                          </a:solidFill>
                          <a:effectLst/>
                        </a:rPr>
                        <a:t>It is more efficient as efficiency takes into account cost and performance. The incurred cost is less and speed of finding solutions is quick.</a:t>
                      </a:r>
                      <a:endParaRPr lang="en-US" sz="1600" b="0" kern="1200">
                        <a:solidFill>
                          <a:schemeClr val="tx1"/>
                        </a:solidFill>
                        <a:effectLst/>
                        <a:latin typeface="+mn-lt"/>
                        <a:ea typeface="+mn-ea"/>
                        <a:cs typeface="+mn-cs"/>
                      </a:endParaRPr>
                    </a:p>
                  </a:txBody>
                  <a:tcPr marL="76200" marR="76200" marT="106680" marB="106680" anchor="ctr"/>
                </a:tc>
                <a:tc>
                  <a:txBody>
                    <a:bodyPr/>
                    <a:lstStyle/>
                    <a:p>
                      <a:pPr marL="0" algn="l" defTabSz="457200" rtl="0" eaLnBrk="1" fontAlgn="ctr" latinLnBrk="0" hangingPunct="1"/>
                      <a:r>
                        <a:rPr lang="en-US" sz="1600" b="0" kern="1200">
                          <a:solidFill>
                            <a:schemeClr val="tx1"/>
                          </a:solidFill>
                          <a:effectLst/>
                        </a:rPr>
                        <a:t>It is comparatively less efficient as incurred cost is more and the speed of finding the Breadth-Firstsolution is slow.</a:t>
                      </a:r>
                      <a:endParaRPr lang="en-US" sz="1600" b="0" kern="1200">
                        <a:solidFill>
                          <a:schemeClr val="tx1"/>
                        </a:solidFill>
                        <a:effectLst/>
                        <a:latin typeface="+mn-lt"/>
                        <a:ea typeface="+mn-ea"/>
                        <a:cs typeface="+mn-cs"/>
                      </a:endParaRPr>
                    </a:p>
                  </a:txBody>
                  <a:tcPr marL="76200" marR="76200" marT="106680" marB="106680" anchor="ctr"/>
                </a:tc>
                <a:extLst>
                  <a:ext uri="{0D108BD9-81ED-4DB2-BD59-A6C34878D82A}">
                    <a16:rowId xmlns:a16="http://schemas.microsoft.com/office/drawing/2014/main" val="7391632"/>
                  </a:ext>
                </a:extLst>
              </a:tr>
              <a:tr h="0">
                <a:tc>
                  <a:txBody>
                    <a:bodyPr/>
                    <a:lstStyle/>
                    <a:p>
                      <a:pPr marL="0" algn="l" defTabSz="457200" rtl="0" eaLnBrk="1" fontAlgn="ctr" latinLnBrk="0" hangingPunct="1"/>
                      <a:r>
                        <a:rPr lang="en-US" sz="1600" b="0" kern="1200">
                          <a:solidFill>
                            <a:schemeClr val="tx1"/>
                          </a:solidFill>
                          <a:effectLst/>
                        </a:rPr>
                        <a:t>Computational requirements</a:t>
                      </a:r>
                      <a:endParaRPr lang="en-US" sz="1600" b="0" kern="1200">
                        <a:solidFill>
                          <a:schemeClr val="tx1"/>
                        </a:solidFill>
                        <a:effectLst/>
                        <a:latin typeface="+mn-lt"/>
                        <a:ea typeface="+mn-ea"/>
                        <a:cs typeface="+mn-cs"/>
                      </a:endParaRPr>
                    </a:p>
                  </a:txBody>
                  <a:tcPr marL="76200" marR="76200" marT="106680" marB="106680" anchor="ctr"/>
                </a:tc>
                <a:tc>
                  <a:txBody>
                    <a:bodyPr/>
                    <a:lstStyle/>
                    <a:p>
                      <a:pPr marL="0" algn="l" defTabSz="457200" rtl="0" eaLnBrk="1" fontAlgn="ctr" latinLnBrk="0" hangingPunct="1"/>
                      <a:r>
                        <a:rPr lang="en-US" sz="1600" b="0" kern="1200">
                          <a:solidFill>
                            <a:schemeClr val="tx1"/>
                          </a:solidFill>
                          <a:effectLst/>
                        </a:rPr>
                        <a:t>Computational requirements are lessened.</a:t>
                      </a:r>
                      <a:endParaRPr lang="en-US" sz="1600" b="0" kern="1200">
                        <a:solidFill>
                          <a:schemeClr val="tx1"/>
                        </a:solidFill>
                        <a:effectLst/>
                        <a:latin typeface="+mn-lt"/>
                        <a:ea typeface="+mn-ea"/>
                        <a:cs typeface="+mn-cs"/>
                      </a:endParaRPr>
                    </a:p>
                  </a:txBody>
                  <a:tcPr marL="76200" marR="76200" marT="106680" marB="106680" anchor="ctr"/>
                </a:tc>
                <a:tc>
                  <a:txBody>
                    <a:bodyPr/>
                    <a:lstStyle/>
                    <a:p>
                      <a:pPr marL="0" algn="l" defTabSz="457200" rtl="0" eaLnBrk="1" fontAlgn="ctr" latinLnBrk="0" hangingPunct="1"/>
                      <a:r>
                        <a:rPr lang="en-US" sz="1600" b="0" kern="1200">
                          <a:solidFill>
                            <a:schemeClr val="tx1"/>
                          </a:solidFill>
                          <a:effectLst/>
                        </a:rPr>
                        <a:t>Comparatively higher computational requirements.</a:t>
                      </a:r>
                      <a:endParaRPr lang="en-US" sz="1600" b="0" kern="1200">
                        <a:solidFill>
                          <a:schemeClr val="tx1"/>
                        </a:solidFill>
                        <a:effectLst/>
                        <a:latin typeface="+mn-lt"/>
                        <a:ea typeface="+mn-ea"/>
                        <a:cs typeface="+mn-cs"/>
                      </a:endParaRPr>
                    </a:p>
                  </a:txBody>
                  <a:tcPr marL="76200" marR="76200" marT="106680" marB="106680" anchor="ctr"/>
                </a:tc>
                <a:extLst>
                  <a:ext uri="{0D108BD9-81ED-4DB2-BD59-A6C34878D82A}">
                    <a16:rowId xmlns:a16="http://schemas.microsoft.com/office/drawing/2014/main" val="1086243401"/>
                  </a:ext>
                </a:extLst>
              </a:tr>
              <a:tr h="0">
                <a:tc>
                  <a:txBody>
                    <a:bodyPr/>
                    <a:lstStyle/>
                    <a:p>
                      <a:pPr marL="0" algn="l" defTabSz="457200" rtl="0" eaLnBrk="1" fontAlgn="ctr" latinLnBrk="0" hangingPunct="1"/>
                      <a:r>
                        <a:rPr lang="en-US" sz="1600" b="0" kern="1200">
                          <a:solidFill>
                            <a:schemeClr val="tx1"/>
                          </a:solidFill>
                          <a:effectLst/>
                        </a:rPr>
                        <a:t>Size of search problems</a:t>
                      </a:r>
                      <a:endParaRPr lang="en-US" sz="1600" b="0" kern="1200">
                        <a:solidFill>
                          <a:schemeClr val="tx1"/>
                        </a:solidFill>
                        <a:effectLst/>
                        <a:latin typeface="+mn-lt"/>
                        <a:ea typeface="+mn-ea"/>
                        <a:cs typeface="+mn-cs"/>
                      </a:endParaRPr>
                    </a:p>
                  </a:txBody>
                  <a:tcPr marL="76200" marR="76200" marT="106680" marB="106680" anchor="ctr"/>
                </a:tc>
                <a:tc>
                  <a:txBody>
                    <a:bodyPr/>
                    <a:lstStyle/>
                    <a:p>
                      <a:pPr marL="0" algn="l" defTabSz="457200" rtl="0" eaLnBrk="1" fontAlgn="ctr" latinLnBrk="0" hangingPunct="1"/>
                      <a:r>
                        <a:rPr lang="en-US" sz="1600" b="0" kern="1200">
                          <a:solidFill>
                            <a:schemeClr val="tx1"/>
                          </a:solidFill>
                          <a:effectLst/>
                        </a:rPr>
                        <a:t>Having a wide scope in terms of handling large search problems.</a:t>
                      </a:r>
                      <a:endParaRPr lang="en-US" sz="1600" b="0" kern="1200">
                        <a:solidFill>
                          <a:schemeClr val="tx1"/>
                        </a:solidFill>
                        <a:effectLst/>
                        <a:latin typeface="+mn-lt"/>
                        <a:ea typeface="+mn-ea"/>
                        <a:cs typeface="+mn-cs"/>
                      </a:endParaRPr>
                    </a:p>
                  </a:txBody>
                  <a:tcPr marL="76200" marR="76200" marT="106680" marB="106680" anchor="ctr"/>
                </a:tc>
                <a:tc>
                  <a:txBody>
                    <a:bodyPr/>
                    <a:lstStyle/>
                    <a:p>
                      <a:pPr marL="0" algn="l" defTabSz="457200" rtl="0" eaLnBrk="1" fontAlgn="ctr" latinLnBrk="0" hangingPunct="1"/>
                      <a:r>
                        <a:rPr lang="en-US" sz="1600" b="0" kern="1200">
                          <a:solidFill>
                            <a:schemeClr val="tx1"/>
                          </a:solidFill>
                          <a:effectLst/>
                        </a:rPr>
                        <a:t>Solving a massive search task is challenging.</a:t>
                      </a:r>
                      <a:endParaRPr lang="en-US" sz="1600" b="0" kern="1200">
                        <a:solidFill>
                          <a:schemeClr val="tx1"/>
                        </a:solidFill>
                        <a:effectLst/>
                        <a:latin typeface="+mn-lt"/>
                        <a:ea typeface="+mn-ea"/>
                        <a:cs typeface="+mn-cs"/>
                      </a:endParaRPr>
                    </a:p>
                  </a:txBody>
                  <a:tcPr marL="76200" marR="76200" marT="106680" marB="106680" anchor="ctr"/>
                </a:tc>
                <a:extLst>
                  <a:ext uri="{0D108BD9-81ED-4DB2-BD59-A6C34878D82A}">
                    <a16:rowId xmlns:a16="http://schemas.microsoft.com/office/drawing/2014/main" val="1190878873"/>
                  </a:ext>
                </a:extLst>
              </a:tr>
              <a:tr h="0">
                <a:tc>
                  <a:txBody>
                    <a:bodyPr/>
                    <a:lstStyle/>
                    <a:p>
                      <a:pPr marL="0" algn="l" defTabSz="457200" rtl="0" eaLnBrk="1" fontAlgn="ctr" latinLnBrk="0" hangingPunct="1"/>
                      <a:r>
                        <a:rPr lang="en-US" sz="1600" b="0" kern="1200">
                          <a:solidFill>
                            <a:schemeClr val="tx1"/>
                          </a:solidFill>
                          <a:effectLst/>
                        </a:rPr>
                        <a:t>Examples of Algorithms</a:t>
                      </a:r>
                      <a:endParaRPr lang="en-US" sz="1600" b="0" kern="1200">
                        <a:solidFill>
                          <a:schemeClr val="tx1"/>
                        </a:solidFill>
                        <a:effectLst/>
                        <a:latin typeface="+mn-lt"/>
                        <a:ea typeface="+mn-ea"/>
                        <a:cs typeface="+mn-cs"/>
                      </a:endParaRPr>
                    </a:p>
                  </a:txBody>
                  <a:tcPr marL="76200" marR="76200" marT="106680" marB="106680" anchor="ctr"/>
                </a:tc>
                <a:tc>
                  <a:txBody>
                    <a:bodyPr/>
                    <a:lstStyle/>
                    <a:p>
                      <a:pPr marL="0" algn="l" defTabSz="457200" rtl="0" eaLnBrk="1" fontAlgn="ctr" latinLnBrk="0" hangingPunct="1">
                        <a:buFont typeface="Arial" panose="020B0604020202020204" pitchFamily="34" charset="0"/>
                        <a:buChar char="•"/>
                      </a:pPr>
                      <a:r>
                        <a:rPr lang="en-US" sz="1600" b="0" kern="1200" dirty="0">
                          <a:solidFill>
                            <a:schemeClr val="tx1"/>
                          </a:solidFill>
                          <a:effectLst/>
                        </a:rPr>
                        <a:t>Greedy Search</a:t>
                      </a:r>
                    </a:p>
                    <a:p>
                      <a:pPr marL="0" algn="l" defTabSz="457200" rtl="0" eaLnBrk="1" fontAlgn="ctr" latinLnBrk="0" hangingPunct="1">
                        <a:buFont typeface="Arial" panose="020B0604020202020204" pitchFamily="34" charset="0"/>
                        <a:buChar char="•"/>
                      </a:pPr>
                      <a:r>
                        <a:rPr lang="en-US" sz="1600" b="0" kern="1200" dirty="0">
                          <a:solidFill>
                            <a:schemeClr val="tx1"/>
                          </a:solidFill>
                          <a:effectLst/>
                        </a:rPr>
                        <a:t>A* Search</a:t>
                      </a:r>
                    </a:p>
                    <a:p>
                      <a:pPr marL="0" algn="l" defTabSz="457200" rtl="0" eaLnBrk="1" fontAlgn="ctr" latinLnBrk="0" hangingPunct="1">
                        <a:buFont typeface="Arial" panose="020B0604020202020204" pitchFamily="34" charset="0"/>
                        <a:buChar char="•"/>
                      </a:pPr>
                      <a:r>
                        <a:rPr lang="en-US" sz="1600" b="0" kern="1200" dirty="0">
                          <a:solidFill>
                            <a:schemeClr val="tx1"/>
                          </a:solidFill>
                          <a:effectLst/>
                        </a:rPr>
                        <a:t>AO* Search</a:t>
                      </a:r>
                    </a:p>
                    <a:p>
                      <a:pPr marL="0" algn="l" defTabSz="457200" rtl="0" eaLnBrk="1" fontAlgn="ctr" latinLnBrk="0" hangingPunct="1">
                        <a:buFont typeface="Arial" panose="020B0604020202020204" pitchFamily="34" charset="0"/>
                        <a:buChar char="•"/>
                      </a:pPr>
                      <a:r>
                        <a:rPr lang="en-US" sz="1600" b="0" kern="1200" dirty="0">
                          <a:solidFill>
                            <a:schemeClr val="tx1"/>
                          </a:solidFill>
                          <a:effectLst/>
                        </a:rPr>
                        <a:t>Hill Climbing Algorithm</a:t>
                      </a:r>
                      <a:endParaRPr lang="en-US" sz="1600" b="0" kern="1200" dirty="0">
                        <a:solidFill>
                          <a:schemeClr val="tx1"/>
                        </a:solidFill>
                        <a:effectLst/>
                        <a:latin typeface="+mn-lt"/>
                        <a:ea typeface="+mn-ea"/>
                        <a:cs typeface="+mn-cs"/>
                      </a:endParaRPr>
                    </a:p>
                  </a:txBody>
                  <a:tcPr marL="76200" marR="76200" marT="106680" marB="106680" anchor="ctr"/>
                </a:tc>
                <a:tc>
                  <a:txBody>
                    <a:bodyPr/>
                    <a:lstStyle/>
                    <a:p>
                      <a:pPr marL="0" algn="l" defTabSz="457200" rtl="0" eaLnBrk="1" fontAlgn="ctr" latinLnBrk="0" hangingPunct="1">
                        <a:buFont typeface="Arial" panose="020B0604020202020204" pitchFamily="34" charset="0"/>
                        <a:buChar char="•"/>
                      </a:pPr>
                      <a:r>
                        <a:rPr lang="en-US" sz="1600" b="0" kern="1200" dirty="0">
                          <a:solidFill>
                            <a:schemeClr val="tx1"/>
                          </a:solidFill>
                          <a:effectLst/>
                        </a:rPr>
                        <a:t>Depth First Search (DFS)</a:t>
                      </a:r>
                    </a:p>
                    <a:p>
                      <a:pPr marL="0" algn="l" defTabSz="457200" rtl="0" eaLnBrk="1" fontAlgn="ctr" latinLnBrk="0" hangingPunct="1">
                        <a:buFont typeface="Arial" panose="020B0604020202020204" pitchFamily="34" charset="0"/>
                        <a:buChar char="•"/>
                      </a:pPr>
                      <a:r>
                        <a:rPr lang="en-US" sz="1600" b="0" kern="1200" dirty="0">
                          <a:solidFill>
                            <a:schemeClr val="tx1"/>
                          </a:solidFill>
                          <a:effectLst/>
                        </a:rPr>
                        <a:t>Breadth First Search (BFS)</a:t>
                      </a:r>
                    </a:p>
                    <a:p>
                      <a:pPr marL="0" algn="l" defTabSz="457200" rtl="0" eaLnBrk="1" fontAlgn="ctr" latinLnBrk="0" hangingPunct="1">
                        <a:buFont typeface="Arial" panose="020B0604020202020204" pitchFamily="34" charset="0"/>
                        <a:buChar char="•"/>
                      </a:pPr>
                      <a:r>
                        <a:rPr lang="en-US" sz="1600" b="0" kern="1200" dirty="0">
                          <a:solidFill>
                            <a:schemeClr val="tx1"/>
                          </a:solidFill>
                          <a:effectLst/>
                        </a:rPr>
                        <a:t>Branch and Bound</a:t>
                      </a:r>
                      <a:endParaRPr lang="en-US" sz="1600" b="0" kern="1200" dirty="0">
                        <a:solidFill>
                          <a:schemeClr val="tx1"/>
                        </a:solidFill>
                        <a:effectLst/>
                        <a:latin typeface="+mn-lt"/>
                        <a:ea typeface="+mn-ea"/>
                        <a:cs typeface="+mn-cs"/>
                      </a:endParaRPr>
                    </a:p>
                  </a:txBody>
                  <a:tcPr marL="76200" marR="76200" marT="106680" marB="106680" anchor="ctr"/>
                </a:tc>
                <a:extLst>
                  <a:ext uri="{0D108BD9-81ED-4DB2-BD59-A6C34878D82A}">
                    <a16:rowId xmlns:a16="http://schemas.microsoft.com/office/drawing/2014/main" val="2096046508"/>
                  </a:ext>
                </a:extLst>
              </a:tr>
            </a:tbl>
          </a:graphicData>
        </a:graphic>
      </p:graphicFrame>
      <p:pic>
        <p:nvPicPr>
          <p:cNvPr id="4" name="Picture 3">
            <a:extLst>
              <a:ext uri="{FF2B5EF4-FFF2-40B4-BE49-F238E27FC236}">
                <a16:creationId xmlns:a16="http://schemas.microsoft.com/office/drawing/2014/main" id="{0A5EF682-BBC6-BC89-A815-2405B3BFA89F}"/>
              </a:ext>
            </a:extLst>
          </p:cNvPr>
          <p:cNvPicPr>
            <a:picLocks noChangeAspect="1"/>
          </p:cNvPicPr>
          <p:nvPr/>
        </p:nvPicPr>
        <p:blipFill rotWithShape="1">
          <a:blip r:embed="rId2">
            <a:extLst>
              <a:ext uri="{28A0092B-C50C-407E-A947-70E740481C1C}">
                <a14:useLocalDpi xmlns:a14="http://schemas.microsoft.com/office/drawing/2010/main" val="0"/>
              </a:ext>
            </a:extLst>
          </a:blip>
          <a:srcRect l="7632" t="6513" r="14801" b="12673"/>
          <a:stretch/>
        </p:blipFill>
        <p:spPr>
          <a:xfrm>
            <a:off x="11003168" y="6329803"/>
            <a:ext cx="1002890" cy="342928"/>
          </a:xfrm>
          <a:prstGeom prst="rect">
            <a:avLst/>
          </a:prstGeom>
        </p:spPr>
      </p:pic>
      <p:sp>
        <p:nvSpPr>
          <p:cNvPr id="5" name="TextBox 4">
            <a:extLst>
              <a:ext uri="{FF2B5EF4-FFF2-40B4-BE49-F238E27FC236}">
                <a16:creationId xmlns:a16="http://schemas.microsoft.com/office/drawing/2014/main" id="{CED2CCDC-C02F-B3A1-A3C5-707DECA064F1}"/>
              </a:ext>
            </a:extLst>
          </p:cNvPr>
          <p:cNvSpPr txBox="1"/>
          <p:nvPr/>
        </p:nvSpPr>
        <p:spPr>
          <a:xfrm>
            <a:off x="-30367" y="770057"/>
            <a:ext cx="1741230" cy="369332"/>
          </a:xfrm>
          <a:prstGeom prst="rect">
            <a:avLst/>
          </a:prstGeom>
          <a:noFill/>
        </p:spPr>
        <p:txBody>
          <a:bodyPr wrap="square" rtlCol="0">
            <a:spAutoFit/>
          </a:bodyPr>
          <a:lstStyle/>
          <a:p>
            <a:r>
              <a:rPr lang="en-US" sz="1800" dirty="0">
                <a:solidFill>
                  <a:schemeClr val="bg1"/>
                </a:solidFill>
                <a:effectLst/>
                <a:latin typeface="Bookman Old Style" panose="02050604050505020204" pitchFamily="18" charset="0"/>
                <a:ea typeface="Calibri" panose="020F0502020204030204" pitchFamily="34" charset="0"/>
              </a:rPr>
              <a:t>22AM2305</a:t>
            </a:r>
            <a:endParaRPr lang="en-IN" dirty="0">
              <a:solidFill>
                <a:schemeClr val="bg1"/>
              </a:solidFill>
              <a:latin typeface="Bookman Old Style" panose="02050604050505020204" pitchFamily="18" charset="0"/>
            </a:endParaRPr>
          </a:p>
        </p:txBody>
      </p:sp>
      <p:pic>
        <p:nvPicPr>
          <p:cNvPr id="6" name="Picture 2" descr="logo">
            <a:extLst>
              <a:ext uri="{FF2B5EF4-FFF2-40B4-BE49-F238E27FC236}">
                <a16:creationId xmlns:a16="http://schemas.microsoft.com/office/drawing/2014/main" id="{747D0EEE-BA48-499F-B84C-D20F74CB5DB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52799" y="89593"/>
            <a:ext cx="1070381" cy="1049796"/>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a:extLst>
              <a:ext uri="{FF2B5EF4-FFF2-40B4-BE49-F238E27FC236}">
                <a16:creationId xmlns:a16="http://schemas.microsoft.com/office/drawing/2014/main" id="{B8E50AC5-8D2A-6A5D-796D-B6863CA3B31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123180" y="89593"/>
            <a:ext cx="941000" cy="960203"/>
          </a:xfrm>
          <a:prstGeom prst="rect">
            <a:avLst/>
          </a:prstGeom>
        </p:spPr>
      </p:pic>
    </p:spTree>
    <p:extLst>
      <p:ext uri="{BB962C8B-B14F-4D97-AF65-F5344CB8AC3E}">
        <p14:creationId xmlns:p14="http://schemas.microsoft.com/office/powerpoint/2010/main" val="310304619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47515F-4A58-DFA9-F4DC-FA2F57C2B8AC}"/>
              </a:ext>
            </a:extLst>
          </p:cNvPr>
          <p:cNvSpPr>
            <a:spLocks noGrp="1"/>
          </p:cNvSpPr>
          <p:nvPr>
            <p:ph type="title"/>
          </p:nvPr>
        </p:nvSpPr>
        <p:spPr>
          <a:xfrm>
            <a:off x="1568147" y="129612"/>
            <a:ext cx="8911687" cy="1280890"/>
          </a:xfrm>
        </p:spPr>
        <p:txBody>
          <a:bodyPr/>
          <a:lstStyle/>
          <a:p>
            <a:r>
              <a:rPr lang="en-US" dirty="0"/>
              <a:t>Uniformed/Blind Search</a:t>
            </a:r>
          </a:p>
        </p:txBody>
      </p:sp>
      <p:sp>
        <p:nvSpPr>
          <p:cNvPr id="3" name="Content Placeholder 2">
            <a:extLst>
              <a:ext uri="{FF2B5EF4-FFF2-40B4-BE49-F238E27FC236}">
                <a16:creationId xmlns:a16="http://schemas.microsoft.com/office/drawing/2014/main" id="{CD8527A1-EA1C-ABF8-E388-1F26941C7D64}"/>
              </a:ext>
            </a:extLst>
          </p:cNvPr>
          <p:cNvSpPr>
            <a:spLocks noGrp="1"/>
          </p:cNvSpPr>
          <p:nvPr>
            <p:ph idx="1"/>
          </p:nvPr>
        </p:nvSpPr>
        <p:spPr>
          <a:xfrm>
            <a:off x="1170040" y="1579201"/>
            <a:ext cx="10746657" cy="4508742"/>
          </a:xfrm>
        </p:spPr>
        <p:txBody>
          <a:bodyPr>
            <a:normAutofit fontScale="92500" lnSpcReduction="20000"/>
          </a:bodyPr>
          <a:lstStyle/>
          <a:p>
            <a:pPr algn="just"/>
            <a:r>
              <a:rPr lang="en-US" sz="2400" dirty="0"/>
              <a:t>The uninformed search </a:t>
            </a:r>
            <a:r>
              <a:rPr lang="en-US" sz="2400" b="1" dirty="0"/>
              <a:t>does not contain any domain knowledge such as closeness, the location of the goal</a:t>
            </a:r>
            <a:r>
              <a:rPr lang="en-US" sz="2400" dirty="0"/>
              <a:t>. </a:t>
            </a:r>
          </a:p>
          <a:p>
            <a:pPr algn="just"/>
            <a:r>
              <a:rPr lang="en-US" sz="2400" dirty="0"/>
              <a:t>It operates in a </a:t>
            </a:r>
            <a:r>
              <a:rPr lang="en-US" sz="2400" b="1" dirty="0"/>
              <a:t>brute-force way </a:t>
            </a:r>
            <a:r>
              <a:rPr lang="en-US" sz="2400" dirty="0"/>
              <a:t>as it only includes information about how to traverse the tree and how to identify leaf and goal nodes. </a:t>
            </a:r>
          </a:p>
          <a:p>
            <a:pPr algn="just"/>
            <a:r>
              <a:rPr lang="en-US" sz="2400" i="1" u="sng" dirty="0"/>
              <a:t>Uninformed search applies a way in which search tree is searched without any information about the search space like initial state operators and test for the goal, so it is also called blind search.</a:t>
            </a:r>
          </a:p>
          <a:p>
            <a:pPr algn="just"/>
            <a:r>
              <a:rPr lang="en-US" sz="2400" dirty="0"/>
              <a:t>It examines each node of the tree until it achieves the goal node. </a:t>
            </a:r>
          </a:p>
          <a:p>
            <a:pPr algn="just"/>
            <a:r>
              <a:rPr lang="en-US" sz="2400" dirty="0"/>
              <a:t>Uninformed search is a class of </a:t>
            </a:r>
            <a:r>
              <a:rPr lang="en-US" sz="2400" b="1" dirty="0"/>
              <a:t>general-purpose search algorithms </a:t>
            </a:r>
            <a:r>
              <a:rPr lang="en-US" sz="2400" dirty="0"/>
              <a:t>which operates in brute force-way. </a:t>
            </a:r>
          </a:p>
          <a:p>
            <a:pPr algn="just"/>
            <a:r>
              <a:rPr lang="en-US" sz="2400" dirty="0"/>
              <a:t>Uninformed search algorithms do not have additional information about state or search space other than how to traverse the tree, so it is also called blind search.</a:t>
            </a:r>
          </a:p>
        </p:txBody>
      </p:sp>
      <p:pic>
        <p:nvPicPr>
          <p:cNvPr id="4" name="Picture 3">
            <a:extLst>
              <a:ext uri="{FF2B5EF4-FFF2-40B4-BE49-F238E27FC236}">
                <a16:creationId xmlns:a16="http://schemas.microsoft.com/office/drawing/2014/main" id="{0A5EF682-BBC6-BC89-A815-2405B3BFA89F}"/>
              </a:ext>
            </a:extLst>
          </p:cNvPr>
          <p:cNvPicPr>
            <a:picLocks noChangeAspect="1"/>
          </p:cNvPicPr>
          <p:nvPr/>
        </p:nvPicPr>
        <p:blipFill rotWithShape="1">
          <a:blip r:embed="rId2">
            <a:extLst>
              <a:ext uri="{28A0092B-C50C-407E-A947-70E740481C1C}">
                <a14:useLocalDpi xmlns:a14="http://schemas.microsoft.com/office/drawing/2010/main" val="0"/>
              </a:ext>
            </a:extLst>
          </a:blip>
          <a:srcRect l="7632" t="6513" r="14801" b="12673"/>
          <a:stretch/>
        </p:blipFill>
        <p:spPr>
          <a:xfrm>
            <a:off x="11003168" y="6329803"/>
            <a:ext cx="1002890" cy="342928"/>
          </a:xfrm>
          <a:prstGeom prst="rect">
            <a:avLst/>
          </a:prstGeom>
        </p:spPr>
      </p:pic>
      <p:sp>
        <p:nvSpPr>
          <p:cNvPr id="5" name="TextBox 4">
            <a:extLst>
              <a:ext uri="{FF2B5EF4-FFF2-40B4-BE49-F238E27FC236}">
                <a16:creationId xmlns:a16="http://schemas.microsoft.com/office/drawing/2014/main" id="{CED2CCDC-C02F-B3A1-A3C5-707DECA064F1}"/>
              </a:ext>
            </a:extLst>
          </p:cNvPr>
          <p:cNvSpPr txBox="1"/>
          <p:nvPr/>
        </p:nvSpPr>
        <p:spPr>
          <a:xfrm>
            <a:off x="-30367" y="770057"/>
            <a:ext cx="1741230" cy="369332"/>
          </a:xfrm>
          <a:prstGeom prst="rect">
            <a:avLst/>
          </a:prstGeom>
          <a:noFill/>
        </p:spPr>
        <p:txBody>
          <a:bodyPr wrap="square" rtlCol="0">
            <a:spAutoFit/>
          </a:bodyPr>
          <a:lstStyle/>
          <a:p>
            <a:r>
              <a:rPr lang="en-US" sz="1800" dirty="0">
                <a:solidFill>
                  <a:schemeClr val="bg1"/>
                </a:solidFill>
                <a:effectLst/>
                <a:latin typeface="Bookman Old Style" panose="02050604050505020204" pitchFamily="18" charset="0"/>
                <a:ea typeface="Calibri" panose="020F0502020204030204" pitchFamily="34" charset="0"/>
              </a:rPr>
              <a:t>22AM2305</a:t>
            </a:r>
            <a:endParaRPr lang="en-IN" dirty="0">
              <a:solidFill>
                <a:schemeClr val="bg1"/>
              </a:solidFill>
              <a:latin typeface="Bookman Old Style" panose="02050604050505020204" pitchFamily="18" charset="0"/>
            </a:endParaRPr>
          </a:p>
        </p:txBody>
      </p:sp>
      <p:pic>
        <p:nvPicPr>
          <p:cNvPr id="6" name="Picture 2" descr="logo">
            <a:extLst>
              <a:ext uri="{FF2B5EF4-FFF2-40B4-BE49-F238E27FC236}">
                <a16:creationId xmlns:a16="http://schemas.microsoft.com/office/drawing/2014/main" id="{747D0EEE-BA48-499F-B84C-D20F74CB5DB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52799" y="89593"/>
            <a:ext cx="1070381" cy="1049796"/>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a:extLst>
              <a:ext uri="{FF2B5EF4-FFF2-40B4-BE49-F238E27FC236}">
                <a16:creationId xmlns:a16="http://schemas.microsoft.com/office/drawing/2014/main" id="{B8E50AC5-8D2A-6A5D-796D-B6863CA3B31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123180" y="89593"/>
            <a:ext cx="941000" cy="960203"/>
          </a:xfrm>
          <a:prstGeom prst="rect">
            <a:avLst/>
          </a:prstGeom>
        </p:spPr>
      </p:pic>
    </p:spTree>
    <p:extLst>
      <p:ext uri="{BB962C8B-B14F-4D97-AF65-F5344CB8AC3E}">
        <p14:creationId xmlns:p14="http://schemas.microsoft.com/office/powerpoint/2010/main" val="209112162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47515F-4A58-DFA9-F4DC-FA2F57C2B8AC}"/>
              </a:ext>
            </a:extLst>
          </p:cNvPr>
          <p:cNvSpPr>
            <a:spLocks noGrp="1"/>
          </p:cNvSpPr>
          <p:nvPr>
            <p:ph type="title"/>
          </p:nvPr>
        </p:nvSpPr>
        <p:spPr>
          <a:xfrm>
            <a:off x="1568147" y="129612"/>
            <a:ext cx="8911687" cy="1280890"/>
          </a:xfrm>
        </p:spPr>
        <p:txBody>
          <a:bodyPr/>
          <a:lstStyle/>
          <a:p>
            <a:r>
              <a:rPr lang="en-US" dirty="0"/>
              <a:t>Uniformed/Blind Search </a:t>
            </a:r>
            <a:r>
              <a:rPr lang="en-US" b="0" i="0" dirty="0">
                <a:solidFill>
                  <a:srgbClr val="333333"/>
                </a:solidFill>
                <a:effectLst/>
                <a:latin typeface="ff1"/>
              </a:rPr>
              <a:t>Divided into five main types</a:t>
            </a:r>
            <a:endParaRPr lang="en-US" dirty="0"/>
          </a:p>
        </p:txBody>
      </p:sp>
      <p:pic>
        <p:nvPicPr>
          <p:cNvPr id="4" name="Picture 3">
            <a:extLst>
              <a:ext uri="{FF2B5EF4-FFF2-40B4-BE49-F238E27FC236}">
                <a16:creationId xmlns:a16="http://schemas.microsoft.com/office/drawing/2014/main" id="{0A5EF682-BBC6-BC89-A815-2405B3BFA89F}"/>
              </a:ext>
            </a:extLst>
          </p:cNvPr>
          <p:cNvPicPr>
            <a:picLocks noChangeAspect="1"/>
          </p:cNvPicPr>
          <p:nvPr/>
        </p:nvPicPr>
        <p:blipFill rotWithShape="1">
          <a:blip r:embed="rId2">
            <a:extLst>
              <a:ext uri="{28A0092B-C50C-407E-A947-70E740481C1C}">
                <a14:useLocalDpi xmlns:a14="http://schemas.microsoft.com/office/drawing/2010/main" val="0"/>
              </a:ext>
            </a:extLst>
          </a:blip>
          <a:srcRect l="7632" t="6513" r="14801" b="12673"/>
          <a:stretch/>
        </p:blipFill>
        <p:spPr>
          <a:xfrm>
            <a:off x="11003168" y="6329803"/>
            <a:ext cx="1002890" cy="342928"/>
          </a:xfrm>
          <a:prstGeom prst="rect">
            <a:avLst/>
          </a:prstGeom>
        </p:spPr>
      </p:pic>
      <p:sp>
        <p:nvSpPr>
          <p:cNvPr id="5" name="TextBox 4">
            <a:extLst>
              <a:ext uri="{FF2B5EF4-FFF2-40B4-BE49-F238E27FC236}">
                <a16:creationId xmlns:a16="http://schemas.microsoft.com/office/drawing/2014/main" id="{CED2CCDC-C02F-B3A1-A3C5-707DECA064F1}"/>
              </a:ext>
            </a:extLst>
          </p:cNvPr>
          <p:cNvSpPr txBox="1"/>
          <p:nvPr/>
        </p:nvSpPr>
        <p:spPr>
          <a:xfrm>
            <a:off x="-30367" y="770057"/>
            <a:ext cx="1741230" cy="369332"/>
          </a:xfrm>
          <a:prstGeom prst="rect">
            <a:avLst/>
          </a:prstGeom>
          <a:noFill/>
        </p:spPr>
        <p:txBody>
          <a:bodyPr wrap="square" rtlCol="0">
            <a:spAutoFit/>
          </a:bodyPr>
          <a:lstStyle/>
          <a:p>
            <a:r>
              <a:rPr lang="en-US" sz="1800" dirty="0">
                <a:solidFill>
                  <a:schemeClr val="bg1"/>
                </a:solidFill>
                <a:effectLst/>
                <a:latin typeface="Bookman Old Style" panose="02050604050505020204" pitchFamily="18" charset="0"/>
                <a:ea typeface="Calibri" panose="020F0502020204030204" pitchFamily="34" charset="0"/>
              </a:rPr>
              <a:t>22AM2305</a:t>
            </a:r>
            <a:endParaRPr lang="en-IN" dirty="0">
              <a:solidFill>
                <a:schemeClr val="bg1"/>
              </a:solidFill>
              <a:latin typeface="Bookman Old Style" panose="02050604050505020204" pitchFamily="18" charset="0"/>
            </a:endParaRPr>
          </a:p>
        </p:txBody>
      </p:sp>
      <p:pic>
        <p:nvPicPr>
          <p:cNvPr id="6" name="Picture 2" descr="logo">
            <a:extLst>
              <a:ext uri="{FF2B5EF4-FFF2-40B4-BE49-F238E27FC236}">
                <a16:creationId xmlns:a16="http://schemas.microsoft.com/office/drawing/2014/main" id="{747D0EEE-BA48-499F-B84C-D20F74CB5DB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52799" y="89593"/>
            <a:ext cx="1070381" cy="1049796"/>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a:extLst>
              <a:ext uri="{FF2B5EF4-FFF2-40B4-BE49-F238E27FC236}">
                <a16:creationId xmlns:a16="http://schemas.microsoft.com/office/drawing/2014/main" id="{B8E50AC5-8D2A-6A5D-796D-B6863CA3B31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123180" y="89593"/>
            <a:ext cx="941000" cy="960203"/>
          </a:xfrm>
          <a:prstGeom prst="rect">
            <a:avLst/>
          </a:prstGeom>
        </p:spPr>
      </p:pic>
      <p:graphicFrame>
        <p:nvGraphicFramePr>
          <p:cNvPr id="20" name="Content Placeholder 19">
            <a:extLst>
              <a:ext uri="{FF2B5EF4-FFF2-40B4-BE49-F238E27FC236}">
                <a16:creationId xmlns:a16="http://schemas.microsoft.com/office/drawing/2014/main" id="{4F71F1FC-05F8-6BC7-1C72-12E5C2283487}"/>
              </a:ext>
            </a:extLst>
          </p:cNvPr>
          <p:cNvGraphicFramePr>
            <a:graphicFrameLocks noGrp="1"/>
          </p:cNvGraphicFramePr>
          <p:nvPr>
            <p:ph idx="1"/>
            <p:extLst>
              <p:ext uri="{D42A27DB-BD31-4B8C-83A1-F6EECF244321}">
                <p14:modId xmlns:p14="http://schemas.microsoft.com/office/powerpoint/2010/main" val="4096782105"/>
              </p:ext>
            </p:extLst>
          </p:nvPr>
        </p:nvGraphicFramePr>
        <p:xfrm>
          <a:off x="1802632" y="1450521"/>
          <a:ext cx="8915400" cy="3778250"/>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Tree>
    <p:extLst>
      <p:ext uri="{BB962C8B-B14F-4D97-AF65-F5344CB8AC3E}">
        <p14:creationId xmlns:p14="http://schemas.microsoft.com/office/powerpoint/2010/main" val="106251667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47515F-4A58-DFA9-F4DC-FA2F57C2B8AC}"/>
              </a:ext>
            </a:extLst>
          </p:cNvPr>
          <p:cNvSpPr>
            <a:spLocks noGrp="1"/>
          </p:cNvSpPr>
          <p:nvPr>
            <p:ph type="title"/>
          </p:nvPr>
        </p:nvSpPr>
        <p:spPr>
          <a:xfrm>
            <a:off x="1568147" y="129612"/>
            <a:ext cx="8911687" cy="1280890"/>
          </a:xfrm>
        </p:spPr>
        <p:txBody>
          <a:bodyPr/>
          <a:lstStyle/>
          <a:p>
            <a:r>
              <a:rPr lang="en-US" dirty="0"/>
              <a:t>Breadth-first Search (BFS) </a:t>
            </a:r>
          </a:p>
        </p:txBody>
      </p:sp>
      <p:sp>
        <p:nvSpPr>
          <p:cNvPr id="3" name="Content Placeholder 2">
            <a:extLst>
              <a:ext uri="{FF2B5EF4-FFF2-40B4-BE49-F238E27FC236}">
                <a16:creationId xmlns:a16="http://schemas.microsoft.com/office/drawing/2014/main" id="{CD8527A1-EA1C-ABF8-E388-1F26941C7D64}"/>
              </a:ext>
            </a:extLst>
          </p:cNvPr>
          <p:cNvSpPr>
            <a:spLocks noGrp="1"/>
          </p:cNvSpPr>
          <p:nvPr>
            <p:ph idx="1"/>
          </p:nvPr>
        </p:nvSpPr>
        <p:spPr>
          <a:xfrm>
            <a:off x="1170040" y="1579201"/>
            <a:ext cx="10334573" cy="4508742"/>
          </a:xfrm>
        </p:spPr>
        <p:txBody>
          <a:bodyPr>
            <a:normAutofit/>
          </a:bodyPr>
          <a:lstStyle/>
          <a:p>
            <a:pPr algn="just"/>
            <a:r>
              <a:rPr lang="en-US" sz="2400" dirty="0"/>
              <a:t>Breadth-first search is the </a:t>
            </a:r>
            <a:r>
              <a:rPr lang="en-US" sz="2400" b="1" dirty="0"/>
              <a:t>most common search strategy for traversing a tree or graph</a:t>
            </a:r>
            <a:r>
              <a:rPr lang="en-US" sz="2400" dirty="0"/>
              <a:t>. This </a:t>
            </a:r>
            <a:r>
              <a:rPr lang="en-US" sz="2400" b="1" dirty="0"/>
              <a:t>algorithm searches breadthwise </a:t>
            </a:r>
            <a:r>
              <a:rPr lang="en-US" sz="2400" dirty="0"/>
              <a:t>in a tree or graph, so it is called breadth-first search. </a:t>
            </a:r>
          </a:p>
          <a:p>
            <a:pPr algn="just"/>
            <a:r>
              <a:rPr lang="en-US" sz="2400" dirty="0"/>
              <a:t>BFS algorithm </a:t>
            </a:r>
            <a:r>
              <a:rPr lang="en-US" sz="2400" b="1" dirty="0"/>
              <a:t>starts searching from the root node </a:t>
            </a:r>
            <a:r>
              <a:rPr lang="en-US" sz="2400" dirty="0"/>
              <a:t>of the tree and </a:t>
            </a:r>
            <a:r>
              <a:rPr lang="en-US" sz="2400" b="1" dirty="0"/>
              <a:t>expands all successor node </a:t>
            </a:r>
            <a:r>
              <a:rPr lang="en-US" sz="2400" dirty="0"/>
              <a:t>at the current level before moving to nodes of next level. </a:t>
            </a:r>
          </a:p>
          <a:p>
            <a:pPr algn="just"/>
            <a:r>
              <a:rPr lang="en-US" sz="2400" dirty="0"/>
              <a:t>The breadth-first search algorithm is an example of a </a:t>
            </a:r>
            <a:r>
              <a:rPr lang="en-US" sz="2400" b="1" dirty="0"/>
              <a:t>general-graph search algorithm.</a:t>
            </a:r>
          </a:p>
          <a:p>
            <a:pPr algn="just"/>
            <a:r>
              <a:rPr lang="en-US" sz="2400" dirty="0"/>
              <a:t>Breadth-first search implemented using </a:t>
            </a:r>
            <a:r>
              <a:rPr lang="en-US" sz="2400" b="1" dirty="0"/>
              <a:t>FIFO queue data structure</a:t>
            </a:r>
            <a:r>
              <a:rPr lang="en-US" sz="2400" dirty="0"/>
              <a:t>.</a:t>
            </a:r>
          </a:p>
        </p:txBody>
      </p:sp>
      <p:pic>
        <p:nvPicPr>
          <p:cNvPr id="4" name="Picture 3">
            <a:extLst>
              <a:ext uri="{FF2B5EF4-FFF2-40B4-BE49-F238E27FC236}">
                <a16:creationId xmlns:a16="http://schemas.microsoft.com/office/drawing/2014/main" id="{0A5EF682-BBC6-BC89-A815-2405B3BFA89F}"/>
              </a:ext>
            </a:extLst>
          </p:cNvPr>
          <p:cNvPicPr>
            <a:picLocks noChangeAspect="1"/>
          </p:cNvPicPr>
          <p:nvPr/>
        </p:nvPicPr>
        <p:blipFill rotWithShape="1">
          <a:blip r:embed="rId2">
            <a:extLst>
              <a:ext uri="{28A0092B-C50C-407E-A947-70E740481C1C}">
                <a14:useLocalDpi xmlns:a14="http://schemas.microsoft.com/office/drawing/2010/main" val="0"/>
              </a:ext>
            </a:extLst>
          </a:blip>
          <a:srcRect l="7632" t="6513" r="14801" b="12673"/>
          <a:stretch/>
        </p:blipFill>
        <p:spPr>
          <a:xfrm>
            <a:off x="11003168" y="6329803"/>
            <a:ext cx="1002890" cy="342928"/>
          </a:xfrm>
          <a:prstGeom prst="rect">
            <a:avLst/>
          </a:prstGeom>
        </p:spPr>
      </p:pic>
      <p:sp>
        <p:nvSpPr>
          <p:cNvPr id="5" name="TextBox 4">
            <a:extLst>
              <a:ext uri="{FF2B5EF4-FFF2-40B4-BE49-F238E27FC236}">
                <a16:creationId xmlns:a16="http://schemas.microsoft.com/office/drawing/2014/main" id="{CED2CCDC-C02F-B3A1-A3C5-707DECA064F1}"/>
              </a:ext>
            </a:extLst>
          </p:cNvPr>
          <p:cNvSpPr txBox="1"/>
          <p:nvPr/>
        </p:nvSpPr>
        <p:spPr>
          <a:xfrm>
            <a:off x="-30367" y="770057"/>
            <a:ext cx="1741230" cy="369332"/>
          </a:xfrm>
          <a:prstGeom prst="rect">
            <a:avLst/>
          </a:prstGeom>
          <a:noFill/>
        </p:spPr>
        <p:txBody>
          <a:bodyPr wrap="square" rtlCol="0">
            <a:spAutoFit/>
          </a:bodyPr>
          <a:lstStyle/>
          <a:p>
            <a:r>
              <a:rPr lang="en-US" sz="1800" dirty="0">
                <a:solidFill>
                  <a:schemeClr val="bg1"/>
                </a:solidFill>
                <a:effectLst/>
                <a:latin typeface="Bookman Old Style" panose="02050604050505020204" pitchFamily="18" charset="0"/>
                <a:ea typeface="Calibri" panose="020F0502020204030204" pitchFamily="34" charset="0"/>
              </a:rPr>
              <a:t>22AM2305</a:t>
            </a:r>
            <a:endParaRPr lang="en-IN" dirty="0">
              <a:solidFill>
                <a:schemeClr val="bg1"/>
              </a:solidFill>
              <a:latin typeface="Bookman Old Style" panose="02050604050505020204" pitchFamily="18" charset="0"/>
            </a:endParaRPr>
          </a:p>
        </p:txBody>
      </p:sp>
      <p:pic>
        <p:nvPicPr>
          <p:cNvPr id="6" name="Picture 2" descr="logo">
            <a:extLst>
              <a:ext uri="{FF2B5EF4-FFF2-40B4-BE49-F238E27FC236}">
                <a16:creationId xmlns:a16="http://schemas.microsoft.com/office/drawing/2014/main" id="{747D0EEE-BA48-499F-B84C-D20F74CB5DB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52799" y="89593"/>
            <a:ext cx="1070381" cy="1049796"/>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a:extLst>
              <a:ext uri="{FF2B5EF4-FFF2-40B4-BE49-F238E27FC236}">
                <a16:creationId xmlns:a16="http://schemas.microsoft.com/office/drawing/2014/main" id="{B8E50AC5-8D2A-6A5D-796D-B6863CA3B31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123180" y="89593"/>
            <a:ext cx="941000" cy="960203"/>
          </a:xfrm>
          <a:prstGeom prst="rect">
            <a:avLst/>
          </a:prstGeom>
        </p:spPr>
      </p:pic>
    </p:spTree>
    <p:extLst>
      <p:ext uri="{BB962C8B-B14F-4D97-AF65-F5344CB8AC3E}">
        <p14:creationId xmlns:p14="http://schemas.microsoft.com/office/powerpoint/2010/main" val="172841733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47515F-4A58-DFA9-F4DC-FA2F57C2B8AC}"/>
              </a:ext>
            </a:extLst>
          </p:cNvPr>
          <p:cNvSpPr>
            <a:spLocks noGrp="1"/>
          </p:cNvSpPr>
          <p:nvPr>
            <p:ph type="title"/>
          </p:nvPr>
        </p:nvSpPr>
        <p:spPr>
          <a:xfrm>
            <a:off x="1568147" y="129612"/>
            <a:ext cx="8911687" cy="1280890"/>
          </a:xfrm>
        </p:spPr>
        <p:txBody>
          <a:bodyPr/>
          <a:lstStyle/>
          <a:p>
            <a:endParaRPr lang="en-US" dirty="0"/>
          </a:p>
        </p:txBody>
      </p:sp>
      <p:sp>
        <p:nvSpPr>
          <p:cNvPr id="3" name="Content Placeholder 2">
            <a:extLst>
              <a:ext uri="{FF2B5EF4-FFF2-40B4-BE49-F238E27FC236}">
                <a16:creationId xmlns:a16="http://schemas.microsoft.com/office/drawing/2014/main" id="{CD8527A1-EA1C-ABF8-E388-1F26941C7D64}"/>
              </a:ext>
            </a:extLst>
          </p:cNvPr>
          <p:cNvSpPr>
            <a:spLocks noGrp="1"/>
          </p:cNvSpPr>
          <p:nvPr>
            <p:ph idx="1"/>
          </p:nvPr>
        </p:nvSpPr>
        <p:spPr>
          <a:xfrm>
            <a:off x="1170040" y="1579201"/>
            <a:ext cx="10334573" cy="4508742"/>
          </a:xfrm>
        </p:spPr>
        <p:txBody>
          <a:bodyPr>
            <a:normAutofit/>
          </a:bodyPr>
          <a:lstStyle/>
          <a:p>
            <a:pPr marL="0" indent="0" algn="l">
              <a:buNone/>
            </a:pPr>
            <a:r>
              <a:rPr lang="en-US" sz="2400" b="1" i="0" dirty="0">
                <a:solidFill>
                  <a:srgbClr val="333333"/>
                </a:solidFill>
                <a:effectLst/>
                <a:latin typeface="Bookman Old Style" panose="02050604050505020204" pitchFamily="18" charset="0"/>
              </a:rPr>
              <a:t>Advantages: </a:t>
            </a:r>
          </a:p>
          <a:p>
            <a:pPr algn="l"/>
            <a:r>
              <a:rPr lang="en-US" sz="2400" b="0" i="0" dirty="0">
                <a:solidFill>
                  <a:srgbClr val="000000"/>
                </a:solidFill>
                <a:effectLst/>
                <a:latin typeface="Bookman Old Style" panose="02050604050505020204" pitchFamily="18" charset="0"/>
              </a:rPr>
              <a:t>BFS will provide a solution if any solution exists. </a:t>
            </a:r>
          </a:p>
          <a:p>
            <a:pPr algn="l"/>
            <a:r>
              <a:rPr lang="en-US" sz="2400" b="0" i="0" dirty="0">
                <a:solidFill>
                  <a:srgbClr val="000000"/>
                </a:solidFill>
                <a:effectLst/>
                <a:latin typeface="Bookman Old Style" panose="02050604050505020204" pitchFamily="18" charset="0"/>
              </a:rPr>
              <a:t>If there are more than one solution for a given problem, then BFS will provide the minimal solution which requires the least number of steps. </a:t>
            </a:r>
          </a:p>
          <a:p>
            <a:pPr marL="0" indent="0" algn="l">
              <a:buNone/>
            </a:pPr>
            <a:r>
              <a:rPr lang="en-US" sz="2400" b="1" i="0" dirty="0">
                <a:solidFill>
                  <a:srgbClr val="333333"/>
                </a:solidFill>
                <a:effectLst/>
                <a:latin typeface="Bookman Old Style" panose="02050604050505020204" pitchFamily="18" charset="0"/>
              </a:rPr>
              <a:t>Disadvantages: </a:t>
            </a:r>
          </a:p>
          <a:p>
            <a:pPr algn="l"/>
            <a:r>
              <a:rPr lang="en-US" sz="2400" b="0" i="0" dirty="0">
                <a:solidFill>
                  <a:srgbClr val="000000"/>
                </a:solidFill>
                <a:effectLst/>
                <a:latin typeface="Bookman Old Style" panose="02050604050505020204" pitchFamily="18" charset="0"/>
              </a:rPr>
              <a:t>It requires lots of memory since each level of the tree must be saved into memory to expand the next level. </a:t>
            </a:r>
          </a:p>
          <a:p>
            <a:pPr algn="l"/>
            <a:r>
              <a:rPr lang="en-US" sz="2400" b="0" i="0" dirty="0">
                <a:solidFill>
                  <a:srgbClr val="000000"/>
                </a:solidFill>
                <a:effectLst/>
                <a:latin typeface="Bookman Old Style" panose="02050604050505020204" pitchFamily="18" charset="0"/>
              </a:rPr>
              <a:t>BFS needs lots of time if the solution is far away from the root node.</a:t>
            </a:r>
          </a:p>
          <a:p>
            <a:endParaRPr lang="en-US" sz="2400" dirty="0">
              <a:latin typeface="Bookman Old Style" panose="02050604050505020204" pitchFamily="18" charset="0"/>
            </a:endParaRPr>
          </a:p>
        </p:txBody>
      </p:sp>
      <p:pic>
        <p:nvPicPr>
          <p:cNvPr id="4" name="Picture 3">
            <a:extLst>
              <a:ext uri="{FF2B5EF4-FFF2-40B4-BE49-F238E27FC236}">
                <a16:creationId xmlns:a16="http://schemas.microsoft.com/office/drawing/2014/main" id="{0A5EF682-BBC6-BC89-A815-2405B3BFA89F}"/>
              </a:ext>
            </a:extLst>
          </p:cNvPr>
          <p:cNvPicPr>
            <a:picLocks noChangeAspect="1"/>
          </p:cNvPicPr>
          <p:nvPr/>
        </p:nvPicPr>
        <p:blipFill rotWithShape="1">
          <a:blip r:embed="rId2">
            <a:extLst>
              <a:ext uri="{28A0092B-C50C-407E-A947-70E740481C1C}">
                <a14:useLocalDpi xmlns:a14="http://schemas.microsoft.com/office/drawing/2010/main" val="0"/>
              </a:ext>
            </a:extLst>
          </a:blip>
          <a:srcRect l="7632" t="6513" r="14801" b="12673"/>
          <a:stretch/>
        </p:blipFill>
        <p:spPr>
          <a:xfrm>
            <a:off x="11003168" y="6329803"/>
            <a:ext cx="1002890" cy="342928"/>
          </a:xfrm>
          <a:prstGeom prst="rect">
            <a:avLst/>
          </a:prstGeom>
        </p:spPr>
      </p:pic>
      <p:sp>
        <p:nvSpPr>
          <p:cNvPr id="5" name="TextBox 4">
            <a:extLst>
              <a:ext uri="{FF2B5EF4-FFF2-40B4-BE49-F238E27FC236}">
                <a16:creationId xmlns:a16="http://schemas.microsoft.com/office/drawing/2014/main" id="{CED2CCDC-C02F-B3A1-A3C5-707DECA064F1}"/>
              </a:ext>
            </a:extLst>
          </p:cNvPr>
          <p:cNvSpPr txBox="1"/>
          <p:nvPr/>
        </p:nvSpPr>
        <p:spPr>
          <a:xfrm>
            <a:off x="-30367" y="770057"/>
            <a:ext cx="1741230" cy="369332"/>
          </a:xfrm>
          <a:prstGeom prst="rect">
            <a:avLst/>
          </a:prstGeom>
          <a:noFill/>
        </p:spPr>
        <p:txBody>
          <a:bodyPr wrap="square" rtlCol="0">
            <a:spAutoFit/>
          </a:bodyPr>
          <a:lstStyle/>
          <a:p>
            <a:r>
              <a:rPr lang="en-US" sz="1800" dirty="0">
                <a:solidFill>
                  <a:schemeClr val="bg1"/>
                </a:solidFill>
                <a:effectLst/>
                <a:latin typeface="Bookman Old Style" panose="02050604050505020204" pitchFamily="18" charset="0"/>
                <a:ea typeface="Calibri" panose="020F0502020204030204" pitchFamily="34" charset="0"/>
              </a:rPr>
              <a:t>22AM2305</a:t>
            </a:r>
            <a:endParaRPr lang="en-IN" dirty="0">
              <a:solidFill>
                <a:schemeClr val="bg1"/>
              </a:solidFill>
              <a:latin typeface="Bookman Old Style" panose="02050604050505020204" pitchFamily="18" charset="0"/>
            </a:endParaRPr>
          </a:p>
        </p:txBody>
      </p:sp>
      <p:pic>
        <p:nvPicPr>
          <p:cNvPr id="6" name="Picture 2" descr="logo">
            <a:extLst>
              <a:ext uri="{FF2B5EF4-FFF2-40B4-BE49-F238E27FC236}">
                <a16:creationId xmlns:a16="http://schemas.microsoft.com/office/drawing/2014/main" id="{747D0EEE-BA48-499F-B84C-D20F74CB5DB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52799" y="89593"/>
            <a:ext cx="1070381" cy="1049796"/>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a:extLst>
              <a:ext uri="{FF2B5EF4-FFF2-40B4-BE49-F238E27FC236}">
                <a16:creationId xmlns:a16="http://schemas.microsoft.com/office/drawing/2014/main" id="{B8E50AC5-8D2A-6A5D-796D-B6863CA3B31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123180" y="89593"/>
            <a:ext cx="941000" cy="960203"/>
          </a:xfrm>
          <a:prstGeom prst="rect">
            <a:avLst/>
          </a:prstGeom>
        </p:spPr>
      </p:pic>
    </p:spTree>
    <p:extLst>
      <p:ext uri="{BB962C8B-B14F-4D97-AF65-F5344CB8AC3E}">
        <p14:creationId xmlns:p14="http://schemas.microsoft.com/office/powerpoint/2010/main" val="112989483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47515F-4A58-DFA9-F4DC-FA2F57C2B8AC}"/>
              </a:ext>
            </a:extLst>
          </p:cNvPr>
          <p:cNvSpPr>
            <a:spLocks noGrp="1"/>
          </p:cNvSpPr>
          <p:nvPr>
            <p:ph type="title"/>
          </p:nvPr>
        </p:nvSpPr>
        <p:spPr>
          <a:xfrm>
            <a:off x="1568147" y="129612"/>
            <a:ext cx="8911687" cy="1280890"/>
          </a:xfrm>
        </p:spPr>
        <p:txBody>
          <a:bodyPr/>
          <a:lstStyle/>
          <a:p>
            <a:endParaRPr lang="en-US" dirty="0"/>
          </a:p>
        </p:txBody>
      </p:sp>
      <p:sp>
        <p:nvSpPr>
          <p:cNvPr id="3" name="Content Placeholder 2">
            <a:extLst>
              <a:ext uri="{FF2B5EF4-FFF2-40B4-BE49-F238E27FC236}">
                <a16:creationId xmlns:a16="http://schemas.microsoft.com/office/drawing/2014/main" id="{CD8527A1-EA1C-ABF8-E388-1F26941C7D64}"/>
              </a:ext>
            </a:extLst>
          </p:cNvPr>
          <p:cNvSpPr>
            <a:spLocks noGrp="1"/>
          </p:cNvSpPr>
          <p:nvPr>
            <p:ph idx="1"/>
          </p:nvPr>
        </p:nvSpPr>
        <p:spPr>
          <a:xfrm>
            <a:off x="1170040" y="1731468"/>
            <a:ext cx="10334573" cy="4508742"/>
          </a:xfrm>
        </p:spPr>
        <p:txBody>
          <a:bodyPr>
            <a:normAutofit/>
          </a:bodyPr>
          <a:lstStyle/>
          <a:p>
            <a:r>
              <a:rPr lang="en-US" sz="2400" b="1" i="0" dirty="0">
                <a:solidFill>
                  <a:srgbClr val="273239"/>
                </a:solidFill>
                <a:effectLst/>
                <a:latin typeface="Nunito" pitchFamily="2" charset="0"/>
              </a:rPr>
              <a:t>Example: </a:t>
            </a:r>
            <a:br>
              <a:rPr lang="en-US" sz="2400" dirty="0"/>
            </a:br>
            <a:r>
              <a:rPr lang="en-US" sz="2400" b="1" i="0" dirty="0">
                <a:solidFill>
                  <a:srgbClr val="273239"/>
                </a:solidFill>
                <a:effectLst/>
                <a:latin typeface="Nunito" pitchFamily="2" charset="0"/>
              </a:rPr>
              <a:t>Question. </a:t>
            </a:r>
            <a:r>
              <a:rPr lang="en-US" sz="2400" b="0" i="0" dirty="0">
                <a:solidFill>
                  <a:srgbClr val="273239"/>
                </a:solidFill>
                <a:effectLst/>
                <a:latin typeface="Nunito" pitchFamily="2" charset="0"/>
              </a:rPr>
              <a:t>Which solution would BFS find to move from node S to node G if run on the graph below? </a:t>
            </a:r>
            <a:endParaRPr lang="en-US" sz="2400" dirty="0"/>
          </a:p>
        </p:txBody>
      </p:sp>
      <p:pic>
        <p:nvPicPr>
          <p:cNvPr id="4" name="Picture 3">
            <a:extLst>
              <a:ext uri="{FF2B5EF4-FFF2-40B4-BE49-F238E27FC236}">
                <a16:creationId xmlns:a16="http://schemas.microsoft.com/office/drawing/2014/main" id="{0A5EF682-BBC6-BC89-A815-2405B3BFA89F}"/>
              </a:ext>
            </a:extLst>
          </p:cNvPr>
          <p:cNvPicPr>
            <a:picLocks noChangeAspect="1"/>
          </p:cNvPicPr>
          <p:nvPr/>
        </p:nvPicPr>
        <p:blipFill rotWithShape="1">
          <a:blip r:embed="rId2">
            <a:extLst>
              <a:ext uri="{28A0092B-C50C-407E-A947-70E740481C1C}">
                <a14:useLocalDpi xmlns:a14="http://schemas.microsoft.com/office/drawing/2010/main" val="0"/>
              </a:ext>
            </a:extLst>
          </a:blip>
          <a:srcRect l="7632" t="6513" r="14801" b="12673"/>
          <a:stretch/>
        </p:blipFill>
        <p:spPr>
          <a:xfrm>
            <a:off x="11003168" y="6329803"/>
            <a:ext cx="1002890" cy="342928"/>
          </a:xfrm>
          <a:prstGeom prst="rect">
            <a:avLst/>
          </a:prstGeom>
        </p:spPr>
      </p:pic>
      <p:sp>
        <p:nvSpPr>
          <p:cNvPr id="5" name="TextBox 4">
            <a:extLst>
              <a:ext uri="{FF2B5EF4-FFF2-40B4-BE49-F238E27FC236}">
                <a16:creationId xmlns:a16="http://schemas.microsoft.com/office/drawing/2014/main" id="{CED2CCDC-C02F-B3A1-A3C5-707DECA064F1}"/>
              </a:ext>
            </a:extLst>
          </p:cNvPr>
          <p:cNvSpPr txBox="1"/>
          <p:nvPr/>
        </p:nvSpPr>
        <p:spPr>
          <a:xfrm>
            <a:off x="-30367" y="770057"/>
            <a:ext cx="1741230" cy="369332"/>
          </a:xfrm>
          <a:prstGeom prst="rect">
            <a:avLst/>
          </a:prstGeom>
          <a:noFill/>
        </p:spPr>
        <p:txBody>
          <a:bodyPr wrap="square" rtlCol="0">
            <a:spAutoFit/>
          </a:bodyPr>
          <a:lstStyle/>
          <a:p>
            <a:r>
              <a:rPr lang="en-US" sz="1800" dirty="0">
                <a:solidFill>
                  <a:schemeClr val="bg1"/>
                </a:solidFill>
                <a:effectLst/>
                <a:latin typeface="Bookman Old Style" panose="02050604050505020204" pitchFamily="18" charset="0"/>
                <a:ea typeface="Calibri" panose="020F0502020204030204" pitchFamily="34" charset="0"/>
              </a:rPr>
              <a:t>22AM2305</a:t>
            </a:r>
            <a:endParaRPr lang="en-IN" dirty="0">
              <a:solidFill>
                <a:schemeClr val="bg1"/>
              </a:solidFill>
              <a:latin typeface="Bookman Old Style" panose="02050604050505020204" pitchFamily="18" charset="0"/>
            </a:endParaRPr>
          </a:p>
        </p:txBody>
      </p:sp>
      <p:pic>
        <p:nvPicPr>
          <p:cNvPr id="6" name="Picture 2" descr="logo">
            <a:extLst>
              <a:ext uri="{FF2B5EF4-FFF2-40B4-BE49-F238E27FC236}">
                <a16:creationId xmlns:a16="http://schemas.microsoft.com/office/drawing/2014/main" id="{747D0EEE-BA48-499F-B84C-D20F74CB5DB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52799" y="89593"/>
            <a:ext cx="1070381" cy="1049796"/>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a:extLst>
              <a:ext uri="{FF2B5EF4-FFF2-40B4-BE49-F238E27FC236}">
                <a16:creationId xmlns:a16="http://schemas.microsoft.com/office/drawing/2014/main" id="{B8E50AC5-8D2A-6A5D-796D-B6863CA3B31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123180" y="89593"/>
            <a:ext cx="941000" cy="960203"/>
          </a:xfrm>
          <a:prstGeom prst="rect">
            <a:avLst/>
          </a:prstGeom>
        </p:spPr>
      </p:pic>
      <p:pic>
        <p:nvPicPr>
          <p:cNvPr id="1026" name="Picture 2" descr="BFS ques">
            <a:extLst>
              <a:ext uri="{FF2B5EF4-FFF2-40B4-BE49-F238E27FC236}">
                <a16:creationId xmlns:a16="http://schemas.microsoft.com/office/drawing/2014/main" id="{399A25F8-23BE-16E1-D5E2-B65C0FA4ACD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460535" y="2965158"/>
            <a:ext cx="7270929" cy="327505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0320800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47515F-4A58-DFA9-F4DC-FA2F57C2B8AC}"/>
              </a:ext>
            </a:extLst>
          </p:cNvPr>
          <p:cNvSpPr>
            <a:spLocks noGrp="1"/>
          </p:cNvSpPr>
          <p:nvPr>
            <p:ph type="title"/>
          </p:nvPr>
        </p:nvSpPr>
        <p:spPr>
          <a:xfrm>
            <a:off x="1568147" y="129612"/>
            <a:ext cx="8911687" cy="1280890"/>
          </a:xfrm>
        </p:spPr>
        <p:txBody>
          <a:bodyPr/>
          <a:lstStyle/>
          <a:p>
            <a:endParaRPr lang="en-US" dirty="0"/>
          </a:p>
        </p:txBody>
      </p:sp>
      <p:sp>
        <p:nvSpPr>
          <p:cNvPr id="3" name="Content Placeholder 2">
            <a:extLst>
              <a:ext uri="{FF2B5EF4-FFF2-40B4-BE49-F238E27FC236}">
                <a16:creationId xmlns:a16="http://schemas.microsoft.com/office/drawing/2014/main" id="{CD8527A1-EA1C-ABF8-E388-1F26941C7D64}"/>
              </a:ext>
            </a:extLst>
          </p:cNvPr>
          <p:cNvSpPr>
            <a:spLocks noGrp="1"/>
          </p:cNvSpPr>
          <p:nvPr>
            <p:ph idx="1"/>
          </p:nvPr>
        </p:nvSpPr>
        <p:spPr>
          <a:xfrm>
            <a:off x="5761703" y="1579201"/>
            <a:ext cx="5742910" cy="4508742"/>
          </a:xfrm>
        </p:spPr>
        <p:txBody>
          <a:bodyPr>
            <a:normAutofit/>
          </a:bodyPr>
          <a:lstStyle/>
          <a:p>
            <a:pPr algn="just"/>
            <a:r>
              <a:rPr lang="en-US" sz="2400" dirty="0"/>
              <a:t>Solution. The equivalent search tree for the above graph is as follows. As BFS traverses the tree </a:t>
            </a:r>
            <a:r>
              <a:rPr lang="en-US" sz="2400" b="1" dirty="0"/>
              <a:t>“shallowest node first”, </a:t>
            </a:r>
            <a:r>
              <a:rPr lang="en-US" sz="2400" dirty="0"/>
              <a:t>it would always pick the shallower branch until it reaches the solution (or it runs out of nodes, and goes to the next branch). </a:t>
            </a:r>
            <a:r>
              <a:rPr lang="en-US" sz="2400" b="1" dirty="0"/>
              <a:t>The traversal is shown in blue arrows. </a:t>
            </a:r>
          </a:p>
        </p:txBody>
      </p:sp>
      <p:pic>
        <p:nvPicPr>
          <p:cNvPr id="4" name="Picture 3">
            <a:extLst>
              <a:ext uri="{FF2B5EF4-FFF2-40B4-BE49-F238E27FC236}">
                <a16:creationId xmlns:a16="http://schemas.microsoft.com/office/drawing/2014/main" id="{0A5EF682-BBC6-BC89-A815-2405B3BFA89F}"/>
              </a:ext>
            </a:extLst>
          </p:cNvPr>
          <p:cNvPicPr>
            <a:picLocks noChangeAspect="1"/>
          </p:cNvPicPr>
          <p:nvPr/>
        </p:nvPicPr>
        <p:blipFill rotWithShape="1">
          <a:blip r:embed="rId2">
            <a:extLst>
              <a:ext uri="{28A0092B-C50C-407E-A947-70E740481C1C}">
                <a14:useLocalDpi xmlns:a14="http://schemas.microsoft.com/office/drawing/2010/main" val="0"/>
              </a:ext>
            </a:extLst>
          </a:blip>
          <a:srcRect l="7632" t="6513" r="14801" b="12673"/>
          <a:stretch/>
        </p:blipFill>
        <p:spPr>
          <a:xfrm>
            <a:off x="11003168" y="6329803"/>
            <a:ext cx="1002890" cy="342928"/>
          </a:xfrm>
          <a:prstGeom prst="rect">
            <a:avLst/>
          </a:prstGeom>
        </p:spPr>
      </p:pic>
      <p:sp>
        <p:nvSpPr>
          <p:cNvPr id="5" name="TextBox 4">
            <a:extLst>
              <a:ext uri="{FF2B5EF4-FFF2-40B4-BE49-F238E27FC236}">
                <a16:creationId xmlns:a16="http://schemas.microsoft.com/office/drawing/2014/main" id="{CED2CCDC-C02F-B3A1-A3C5-707DECA064F1}"/>
              </a:ext>
            </a:extLst>
          </p:cNvPr>
          <p:cNvSpPr txBox="1"/>
          <p:nvPr/>
        </p:nvSpPr>
        <p:spPr>
          <a:xfrm>
            <a:off x="-30367" y="770057"/>
            <a:ext cx="1741230" cy="369332"/>
          </a:xfrm>
          <a:prstGeom prst="rect">
            <a:avLst/>
          </a:prstGeom>
          <a:noFill/>
        </p:spPr>
        <p:txBody>
          <a:bodyPr wrap="square" rtlCol="0">
            <a:spAutoFit/>
          </a:bodyPr>
          <a:lstStyle/>
          <a:p>
            <a:r>
              <a:rPr lang="en-US" sz="1800" dirty="0">
                <a:solidFill>
                  <a:schemeClr val="bg1"/>
                </a:solidFill>
                <a:effectLst/>
                <a:latin typeface="Bookman Old Style" panose="02050604050505020204" pitchFamily="18" charset="0"/>
                <a:ea typeface="Calibri" panose="020F0502020204030204" pitchFamily="34" charset="0"/>
              </a:rPr>
              <a:t>22AM2305</a:t>
            </a:r>
            <a:endParaRPr lang="en-IN" dirty="0">
              <a:solidFill>
                <a:schemeClr val="bg1"/>
              </a:solidFill>
              <a:latin typeface="Bookman Old Style" panose="02050604050505020204" pitchFamily="18" charset="0"/>
            </a:endParaRPr>
          </a:p>
        </p:txBody>
      </p:sp>
      <p:pic>
        <p:nvPicPr>
          <p:cNvPr id="6" name="Picture 2" descr="logo">
            <a:extLst>
              <a:ext uri="{FF2B5EF4-FFF2-40B4-BE49-F238E27FC236}">
                <a16:creationId xmlns:a16="http://schemas.microsoft.com/office/drawing/2014/main" id="{747D0EEE-BA48-499F-B84C-D20F74CB5DB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52799" y="89593"/>
            <a:ext cx="1070381" cy="1049796"/>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a:extLst>
              <a:ext uri="{FF2B5EF4-FFF2-40B4-BE49-F238E27FC236}">
                <a16:creationId xmlns:a16="http://schemas.microsoft.com/office/drawing/2014/main" id="{B8E50AC5-8D2A-6A5D-796D-B6863CA3B31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123180" y="89593"/>
            <a:ext cx="941000" cy="960203"/>
          </a:xfrm>
          <a:prstGeom prst="rect">
            <a:avLst/>
          </a:prstGeom>
        </p:spPr>
      </p:pic>
      <p:pic>
        <p:nvPicPr>
          <p:cNvPr id="2050" name="Picture 2" descr="BFS solution">
            <a:extLst>
              <a:ext uri="{FF2B5EF4-FFF2-40B4-BE49-F238E27FC236}">
                <a16:creationId xmlns:a16="http://schemas.microsoft.com/office/drawing/2014/main" id="{20308CB1-9F56-E7D7-8CEA-E5696E223CB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96221" y="1579201"/>
            <a:ext cx="5162550" cy="4886325"/>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52F868A7-A9BB-1D9A-CF17-21039C4050A2}"/>
              </a:ext>
            </a:extLst>
          </p:cNvPr>
          <p:cNvSpPr txBox="1"/>
          <p:nvPr/>
        </p:nvSpPr>
        <p:spPr>
          <a:xfrm>
            <a:off x="1966452" y="3244334"/>
            <a:ext cx="2713703" cy="461665"/>
          </a:xfrm>
          <a:prstGeom prst="rect">
            <a:avLst/>
          </a:prstGeom>
          <a:noFill/>
        </p:spPr>
        <p:txBody>
          <a:bodyPr wrap="square">
            <a:spAutoFit/>
          </a:bodyPr>
          <a:lstStyle/>
          <a:p>
            <a:r>
              <a:rPr lang="en-US" sz="2400" b="1" i="0" dirty="0">
                <a:solidFill>
                  <a:srgbClr val="FF0000"/>
                </a:solidFill>
                <a:effectLst/>
                <a:latin typeface="Nunito" pitchFamily="2" charset="0"/>
              </a:rPr>
              <a:t>Path: </a:t>
            </a:r>
            <a:r>
              <a:rPr lang="en-US" sz="2400" b="0" i="0" dirty="0">
                <a:solidFill>
                  <a:srgbClr val="FF0000"/>
                </a:solidFill>
                <a:effectLst/>
                <a:latin typeface="Nunito" pitchFamily="2" charset="0"/>
              </a:rPr>
              <a:t>S -&gt; D -&gt; G </a:t>
            </a:r>
            <a:endParaRPr lang="en-US" sz="2400" dirty="0">
              <a:solidFill>
                <a:srgbClr val="FF0000"/>
              </a:solidFill>
            </a:endParaRPr>
          </a:p>
        </p:txBody>
      </p:sp>
    </p:spTree>
    <p:extLst>
      <p:ext uri="{BB962C8B-B14F-4D97-AF65-F5344CB8AC3E}">
        <p14:creationId xmlns:p14="http://schemas.microsoft.com/office/powerpoint/2010/main" val="24974768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A5EF682-BBC6-BC89-A815-2405B3BFA89F}"/>
              </a:ext>
            </a:extLst>
          </p:cNvPr>
          <p:cNvPicPr>
            <a:picLocks noChangeAspect="1"/>
          </p:cNvPicPr>
          <p:nvPr/>
        </p:nvPicPr>
        <p:blipFill rotWithShape="1">
          <a:blip r:embed="rId2">
            <a:extLst>
              <a:ext uri="{28A0092B-C50C-407E-A947-70E740481C1C}">
                <a14:useLocalDpi xmlns:a14="http://schemas.microsoft.com/office/drawing/2010/main" val="0"/>
              </a:ext>
            </a:extLst>
          </a:blip>
          <a:srcRect l="7632" t="6513" r="14801" b="12673"/>
          <a:stretch/>
        </p:blipFill>
        <p:spPr>
          <a:xfrm>
            <a:off x="11003168" y="6329803"/>
            <a:ext cx="1002890" cy="342928"/>
          </a:xfrm>
          <a:prstGeom prst="rect">
            <a:avLst/>
          </a:prstGeom>
        </p:spPr>
      </p:pic>
      <p:sp>
        <p:nvSpPr>
          <p:cNvPr id="5" name="TextBox 4">
            <a:extLst>
              <a:ext uri="{FF2B5EF4-FFF2-40B4-BE49-F238E27FC236}">
                <a16:creationId xmlns:a16="http://schemas.microsoft.com/office/drawing/2014/main" id="{CED2CCDC-C02F-B3A1-A3C5-707DECA064F1}"/>
              </a:ext>
            </a:extLst>
          </p:cNvPr>
          <p:cNvSpPr txBox="1"/>
          <p:nvPr/>
        </p:nvSpPr>
        <p:spPr>
          <a:xfrm>
            <a:off x="-30367" y="770057"/>
            <a:ext cx="1741230" cy="369332"/>
          </a:xfrm>
          <a:prstGeom prst="rect">
            <a:avLst/>
          </a:prstGeom>
          <a:noFill/>
        </p:spPr>
        <p:txBody>
          <a:bodyPr wrap="square" rtlCol="0">
            <a:spAutoFit/>
          </a:bodyPr>
          <a:lstStyle/>
          <a:p>
            <a:r>
              <a:rPr lang="en-US" sz="1800" dirty="0">
                <a:solidFill>
                  <a:schemeClr val="bg1"/>
                </a:solidFill>
                <a:effectLst/>
                <a:latin typeface="Bookman Old Style" panose="02050604050505020204" pitchFamily="18" charset="0"/>
                <a:ea typeface="Calibri" panose="020F0502020204030204" pitchFamily="34" charset="0"/>
              </a:rPr>
              <a:t>22AM2305</a:t>
            </a:r>
            <a:endParaRPr lang="en-IN" dirty="0">
              <a:solidFill>
                <a:schemeClr val="bg1"/>
              </a:solidFill>
              <a:latin typeface="Bookman Old Style" panose="02050604050505020204" pitchFamily="18" charset="0"/>
            </a:endParaRPr>
          </a:p>
        </p:txBody>
      </p:sp>
      <p:pic>
        <p:nvPicPr>
          <p:cNvPr id="6" name="Picture 2" descr="logo">
            <a:extLst>
              <a:ext uri="{FF2B5EF4-FFF2-40B4-BE49-F238E27FC236}">
                <a16:creationId xmlns:a16="http://schemas.microsoft.com/office/drawing/2014/main" id="{747D0EEE-BA48-499F-B84C-D20F74CB5DB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52799" y="89593"/>
            <a:ext cx="1070381" cy="1049796"/>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a:extLst>
              <a:ext uri="{FF2B5EF4-FFF2-40B4-BE49-F238E27FC236}">
                <a16:creationId xmlns:a16="http://schemas.microsoft.com/office/drawing/2014/main" id="{B8E50AC5-8D2A-6A5D-796D-B6863CA3B31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123180" y="89593"/>
            <a:ext cx="941000" cy="960203"/>
          </a:xfrm>
          <a:prstGeom prst="rect">
            <a:avLst/>
          </a:prstGeom>
        </p:spPr>
      </p:pic>
      <p:sp>
        <p:nvSpPr>
          <p:cNvPr id="8" name="Rectangle 1">
            <a:extLst>
              <a:ext uri="{FF2B5EF4-FFF2-40B4-BE49-F238E27FC236}">
                <a16:creationId xmlns:a16="http://schemas.microsoft.com/office/drawing/2014/main" id="{71698E86-CEDE-C2DC-DDD9-EB3D0A24B8A4}"/>
              </a:ext>
            </a:extLst>
          </p:cNvPr>
          <p:cNvSpPr>
            <a:spLocks noChangeArrowheads="1"/>
          </p:cNvSpPr>
          <p:nvPr/>
        </p:nvSpPr>
        <p:spPr bwMode="auto">
          <a:xfrm>
            <a:off x="639097" y="1336610"/>
            <a:ext cx="10913806" cy="33239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lvl="0" defTabSz="914400"/>
            <a:r>
              <a:rPr lang="en-US" altLang="en-US" b="1" i="1" dirty="0">
                <a:solidFill>
                  <a:srgbClr val="273239"/>
                </a:solidFill>
                <a:latin typeface="Bookman Old Style" panose="02050604050505020204" pitchFamily="18" charset="0"/>
              </a:rPr>
              <a:t>s</a:t>
            </a:r>
            <a:r>
              <a:rPr lang="en-US" altLang="en-US" i="1" dirty="0">
                <a:solidFill>
                  <a:srgbClr val="273239"/>
                </a:solidFill>
                <a:latin typeface="Bookman Old Style" panose="02050604050505020204" pitchFamily="18" charset="0"/>
              </a:rPr>
              <a:t> = </a:t>
            </a:r>
            <a:r>
              <a:rPr kumimoji="0" lang="en-US" altLang="en-US" b="0" i="1" u="none" strike="noStrike" cap="none" normalizeH="0" baseline="0" dirty="0">
                <a:ln>
                  <a:noFill/>
                </a:ln>
                <a:solidFill>
                  <a:srgbClr val="273239"/>
                </a:solidFill>
                <a:effectLst/>
                <a:latin typeface="Bookman Old Style" panose="02050604050505020204" pitchFamily="18" charset="0"/>
              </a:rPr>
              <a:t>the depth of the shallowest solution. </a:t>
            </a:r>
          </a:p>
          <a:p>
            <a:pPr lvl="0" defTabSz="914400"/>
            <a:br>
              <a:rPr kumimoji="0" lang="en-US" altLang="en-US" b="0" i="1" u="none" strike="noStrike" cap="none" normalizeH="0" baseline="0" dirty="0">
                <a:ln>
                  <a:noFill/>
                </a:ln>
                <a:solidFill>
                  <a:srgbClr val="273239"/>
                </a:solidFill>
                <a:effectLst/>
                <a:latin typeface="Bookman Old Style" panose="02050604050505020204" pitchFamily="18" charset="0"/>
              </a:rPr>
            </a:br>
            <a:r>
              <a:rPr kumimoji="0" lang="en-US" altLang="en-US" b="1" i="1" u="none" strike="noStrike" cap="none" normalizeH="0" baseline="0" dirty="0" err="1">
                <a:ln>
                  <a:noFill/>
                </a:ln>
                <a:solidFill>
                  <a:srgbClr val="273239"/>
                </a:solidFill>
                <a:effectLst/>
                <a:latin typeface="Bookman Old Style" panose="02050604050505020204" pitchFamily="18" charset="0"/>
              </a:rPr>
              <a:t>ni</a:t>
            </a:r>
            <a:r>
              <a:rPr kumimoji="0" lang="en-US" altLang="en-US" b="0" i="1" u="none" strike="noStrike" cap="none" normalizeH="0" baseline="0" dirty="0">
                <a:ln>
                  <a:noFill/>
                </a:ln>
                <a:solidFill>
                  <a:srgbClr val="273239"/>
                </a:solidFill>
                <a:effectLst/>
                <a:latin typeface="Bookman Old Style" panose="02050604050505020204" pitchFamily="18" charset="0"/>
              </a:rPr>
              <a:t>= number of nodes in level </a:t>
            </a:r>
            <a:r>
              <a:rPr kumimoji="0" lang="en-US" altLang="en-US" b="1" i="1" u="none" strike="noStrike" cap="none" normalizeH="0" baseline="0" dirty="0" err="1">
                <a:ln>
                  <a:noFill/>
                </a:ln>
                <a:solidFill>
                  <a:srgbClr val="273239"/>
                </a:solidFill>
                <a:effectLst/>
                <a:latin typeface="Bookman Old Style" panose="02050604050505020204" pitchFamily="18" charset="0"/>
              </a:rPr>
              <a:t>i</a:t>
            </a:r>
            <a:r>
              <a:rPr kumimoji="0" lang="en-US" altLang="en-US" b="1" i="1" u="none" strike="noStrike" cap="none" normalizeH="0" baseline="0" dirty="0">
                <a:ln>
                  <a:noFill/>
                </a:ln>
                <a:solidFill>
                  <a:srgbClr val="273239"/>
                </a:solidFill>
                <a:effectLst/>
                <a:latin typeface="Bookman Old Style" panose="02050604050505020204" pitchFamily="18" charset="0"/>
              </a:rPr>
              <a:t>. </a:t>
            </a:r>
          </a:p>
          <a:p>
            <a:pPr lvl="0" defTabSz="914400"/>
            <a:br>
              <a:rPr kumimoji="0" lang="en-US" altLang="en-US" b="0" i="1" u="none" strike="noStrike" cap="none" normalizeH="0" baseline="0" dirty="0">
                <a:ln>
                  <a:noFill/>
                </a:ln>
                <a:solidFill>
                  <a:srgbClr val="273239"/>
                </a:solidFill>
                <a:effectLst/>
                <a:latin typeface="Bookman Old Style" panose="02050604050505020204" pitchFamily="18" charset="0"/>
              </a:rPr>
            </a:br>
            <a:r>
              <a:rPr kumimoji="0" lang="en-US" altLang="en-US" b="1" i="1" u="none" strike="noStrike" cap="none" normalizeH="0" baseline="0" dirty="0">
                <a:ln>
                  <a:noFill/>
                </a:ln>
                <a:solidFill>
                  <a:srgbClr val="273239"/>
                </a:solidFill>
                <a:effectLst/>
                <a:latin typeface="Bookman Old Style" panose="02050604050505020204" pitchFamily="18" charset="0"/>
              </a:rPr>
              <a:t>Time complexity: </a:t>
            </a:r>
            <a:r>
              <a:rPr kumimoji="0" lang="en-US" altLang="en-US" b="0" i="1" u="none" strike="noStrike" cap="none" normalizeH="0" baseline="0" dirty="0">
                <a:ln>
                  <a:noFill/>
                </a:ln>
                <a:solidFill>
                  <a:srgbClr val="273239"/>
                </a:solidFill>
                <a:effectLst/>
                <a:latin typeface="Bookman Old Style" panose="02050604050505020204" pitchFamily="18" charset="0"/>
              </a:rPr>
              <a:t>Equivalent to the number of nodes traversed in BFS until the shallowest solution.                                                                          </a:t>
            </a:r>
          </a:p>
          <a:p>
            <a:pPr lvl="0" defTabSz="914400"/>
            <a:endParaRPr lang="en-US" altLang="en-US" i="1" dirty="0">
              <a:solidFill>
                <a:srgbClr val="273239"/>
              </a:solidFill>
              <a:latin typeface="Bookman Old Style" panose="02050604050505020204" pitchFamily="18" charset="0"/>
            </a:endParaRPr>
          </a:p>
          <a:p>
            <a:pPr lvl="0" defTabSz="914400"/>
            <a:br>
              <a:rPr kumimoji="0" lang="en-US" altLang="en-US" b="0" i="1" u="none" strike="noStrike" cap="none" normalizeH="0" baseline="0" dirty="0">
                <a:ln>
                  <a:noFill/>
                </a:ln>
                <a:solidFill>
                  <a:srgbClr val="273239"/>
                </a:solidFill>
                <a:effectLst/>
                <a:latin typeface="Bookman Old Style" panose="02050604050505020204" pitchFamily="18" charset="0"/>
              </a:rPr>
            </a:br>
            <a:r>
              <a:rPr kumimoji="0" lang="en-US" altLang="en-US" b="1" i="1" u="none" strike="noStrike" cap="none" normalizeH="0" baseline="0" dirty="0">
                <a:ln>
                  <a:noFill/>
                </a:ln>
                <a:solidFill>
                  <a:srgbClr val="273239"/>
                </a:solidFill>
                <a:effectLst/>
                <a:latin typeface="Bookman Old Style" panose="02050604050505020204" pitchFamily="18" charset="0"/>
              </a:rPr>
              <a:t>Space complexity: </a:t>
            </a:r>
            <a:r>
              <a:rPr kumimoji="0" lang="en-US" altLang="en-US" b="0" i="1" u="none" strike="noStrike" cap="none" normalizeH="0" baseline="0" dirty="0">
                <a:ln>
                  <a:noFill/>
                </a:ln>
                <a:solidFill>
                  <a:srgbClr val="273239"/>
                </a:solidFill>
                <a:effectLst/>
                <a:latin typeface="Bookman Old Style" panose="02050604050505020204" pitchFamily="18" charset="0"/>
              </a:rPr>
              <a:t>Equivalent to how large can the fringe get.                               </a:t>
            </a:r>
            <a:br>
              <a:rPr kumimoji="0" lang="en-US" altLang="en-US" b="0" i="1" u="none" strike="noStrike" cap="none" normalizeH="0" baseline="0" dirty="0">
                <a:ln>
                  <a:noFill/>
                </a:ln>
                <a:solidFill>
                  <a:srgbClr val="273239"/>
                </a:solidFill>
                <a:effectLst/>
                <a:latin typeface="Bookman Old Style" panose="02050604050505020204" pitchFamily="18" charset="0"/>
              </a:rPr>
            </a:br>
            <a:r>
              <a:rPr kumimoji="0" lang="en-US" altLang="en-US" b="1" i="1" u="none" strike="noStrike" cap="none" normalizeH="0" baseline="0" dirty="0">
                <a:ln>
                  <a:noFill/>
                </a:ln>
                <a:solidFill>
                  <a:srgbClr val="273239"/>
                </a:solidFill>
                <a:effectLst/>
                <a:latin typeface="Bookman Old Style" panose="02050604050505020204" pitchFamily="18" charset="0"/>
              </a:rPr>
              <a:t>Completeness: </a:t>
            </a:r>
            <a:r>
              <a:rPr kumimoji="0" lang="en-US" altLang="en-US" b="0" i="1" u="none" strike="noStrike" cap="none" normalizeH="0" baseline="0" dirty="0">
                <a:ln>
                  <a:noFill/>
                </a:ln>
                <a:solidFill>
                  <a:srgbClr val="273239"/>
                </a:solidFill>
                <a:effectLst/>
                <a:latin typeface="Bookman Old Style" panose="02050604050505020204" pitchFamily="18" charset="0"/>
              </a:rPr>
              <a:t>BFS is complete, meaning for a given search tree, BFS will come up with a solution if it exists. </a:t>
            </a:r>
            <a:endParaRPr kumimoji="0" lang="en-US" altLang="en-US" b="0" i="0" u="none" strike="noStrike" cap="none" normalizeH="0" baseline="0" dirty="0">
              <a:ln>
                <a:noFill/>
              </a:ln>
              <a:solidFill>
                <a:schemeClr val="tx1"/>
              </a:solidFill>
              <a:effectLst/>
              <a:latin typeface="Bookman Old Style" panose="020506040505050202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1" u="none" strike="noStrike" cap="none" normalizeH="0" baseline="0" dirty="0">
                <a:ln>
                  <a:noFill/>
                </a:ln>
                <a:solidFill>
                  <a:srgbClr val="273239"/>
                </a:solidFill>
                <a:effectLst/>
                <a:latin typeface="Bookman Old Style" panose="02050604050505020204" pitchFamily="18" charset="0"/>
              </a:rPr>
              <a:t>Optimality: </a:t>
            </a:r>
            <a:r>
              <a:rPr kumimoji="0" lang="en-US" altLang="en-US" b="0" i="1" u="none" strike="noStrike" cap="none" normalizeH="0" baseline="0" dirty="0">
                <a:ln>
                  <a:noFill/>
                </a:ln>
                <a:solidFill>
                  <a:srgbClr val="273239"/>
                </a:solidFill>
                <a:effectLst/>
                <a:latin typeface="Bookman Old Style" panose="02050604050505020204" pitchFamily="18" charset="0"/>
              </a:rPr>
              <a:t>BFS is optimal as long as the costs of all edges are equal. </a:t>
            </a:r>
            <a:endParaRPr kumimoji="0" lang="en-US" altLang="en-US" b="0" i="0" u="none" strike="noStrike" cap="none" normalizeH="0" baseline="0" dirty="0">
              <a:ln>
                <a:noFill/>
              </a:ln>
              <a:solidFill>
                <a:schemeClr val="tx1"/>
              </a:solidFill>
              <a:effectLst/>
              <a:latin typeface="Bookman Old Style" panose="02050604050505020204" pitchFamily="18" charset="0"/>
            </a:endParaRPr>
          </a:p>
        </p:txBody>
      </p:sp>
      <p:sp>
        <p:nvSpPr>
          <p:cNvPr id="9" name="AutoShape 2" descr="s        ">
            <a:extLst>
              <a:ext uri="{FF2B5EF4-FFF2-40B4-BE49-F238E27FC236}">
                <a16:creationId xmlns:a16="http://schemas.microsoft.com/office/drawing/2014/main" id="{C407D7AC-9731-79FE-F28A-C3F385AE2FB0}"/>
              </a:ext>
            </a:extLst>
          </p:cNvPr>
          <p:cNvSpPr>
            <a:spLocks noChangeAspect="1" noChangeArrowheads="1"/>
          </p:cNvSpPr>
          <p:nvPr/>
        </p:nvSpPr>
        <p:spPr bwMode="auto">
          <a:xfrm>
            <a:off x="119063" y="-631825"/>
            <a:ext cx="104775" cy="1143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0" name="AutoShape 3" descr="n^i        ">
            <a:extLst>
              <a:ext uri="{FF2B5EF4-FFF2-40B4-BE49-F238E27FC236}">
                <a16:creationId xmlns:a16="http://schemas.microsoft.com/office/drawing/2014/main" id="{63F39B3E-AD08-3DB0-53D8-5C42AEF5BA54}"/>
              </a:ext>
            </a:extLst>
          </p:cNvPr>
          <p:cNvSpPr>
            <a:spLocks noChangeAspect="1" noChangeArrowheads="1"/>
          </p:cNvSpPr>
          <p:nvPr/>
        </p:nvSpPr>
        <p:spPr bwMode="auto">
          <a:xfrm>
            <a:off x="79375" y="-449263"/>
            <a:ext cx="219075" cy="21907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1" name="AutoShape 4" descr="i        ">
            <a:extLst>
              <a:ext uri="{FF2B5EF4-FFF2-40B4-BE49-F238E27FC236}">
                <a16:creationId xmlns:a16="http://schemas.microsoft.com/office/drawing/2014/main" id="{197F2C8C-977C-B3ED-917F-933797FF6611}"/>
              </a:ext>
            </a:extLst>
          </p:cNvPr>
          <p:cNvSpPr>
            <a:spLocks noChangeAspect="1" noChangeArrowheads="1"/>
          </p:cNvSpPr>
          <p:nvPr/>
        </p:nvSpPr>
        <p:spPr bwMode="auto">
          <a:xfrm>
            <a:off x="2273300" y="-449263"/>
            <a:ext cx="76200" cy="17145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2" name="AutoShape 5" descr="T(n) = 1 + n^2 + n^3 + ... + n^s = O(n^s)        ">
            <a:extLst>
              <a:ext uri="{FF2B5EF4-FFF2-40B4-BE49-F238E27FC236}">
                <a16:creationId xmlns:a16="http://schemas.microsoft.com/office/drawing/2014/main" id="{DE10DCC0-956E-30AB-185D-3CCDF581EFCB}"/>
              </a:ext>
            </a:extLst>
          </p:cNvPr>
          <p:cNvSpPr>
            <a:spLocks noChangeAspect="1" noChangeArrowheads="1"/>
          </p:cNvSpPr>
          <p:nvPr/>
        </p:nvSpPr>
        <p:spPr bwMode="auto">
          <a:xfrm>
            <a:off x="6910388" y="-250825"/>
            <a:ext cx="4152900" cy="28575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3" name="AutoShape 6" descr="S(n) = O(n^s)        ">
            <a:extLst>
              <a:ext uri="{FF2B5EF4-FFF2-40B4-BE49-F238E27FC236}">
                <a16:creationId xmlns:a16="http://schemas.microsoft.com/office/drawing/2014/main" id="{472FC224-2AA8-B6CC-DD37-B697ABD04FA9}"/>
              </a:ext>
            </a:extLst>
          </p:cNvPr>
          <p:cNvSpPr>
            <a:spLocks noChangeAspect="1" noChangeArrowheads="1"/>
          </p:cNvSpPr>
          <p:nvPr/>
        </p:nvSpPr>
        <p:spPr bwMode="auto">
          <a:xfrm>
            <a:off x="4346575" y="22225"/>
            <a:ext cx="1466850" cy="25717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22" name="Picture 21">
            <a:extLst>
              <a:ext uri="{FF2B5EF4-FFF2-40B4-BE49-F238E27FC236}">
                <a16:creationId xmlns:a16="http://schemas.microsoft.com/office/drawing/2014/main" id="{6B888545-03E7-BF97-BE96-2BF89B30C120}"/>
              </a:ext>
            </a:extLst>
          </p:cNvPr>
          <p:cNvPicPr>
            <a:picLocks noChangeAspect="1"/>
          </p:cNvPicPr>
          <p:nvPr/>
        </p:nvPicPr>
        <p:blipFill>
          <a:blip r:embed="rId5"/>
          <a:stretch>
            <a:fillRect/>
          </a:stretch>
        </p:blipFill>
        <p:spPr>
          <a:xfrm>
            <a:off x="1795117" y="2814170"/>
            <a:ext cx="5579076" cy="368865"/>
          </a:xfrm>
          <a:prstGeom prst="rect">
            <a:avLst/>
          </a:prstGeom>
        </p:spPr>
      </p:pic>
    </p:spTree>
    <p:extLst>
      <p:ext uri="{BB962C8B-B14F-4D97-AF65-F5344CB8AC3E}">
        <p14:creationId xmlns:p14="http://schemas.microsoft.com/office/powerpoint/2010/main" val="52793751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47515F-4A58-DFA9-F4DC-FA2F57C2B8AC}"/>
              </a:ext>
            </a:extLst>
          </p:cNvPr>
          <p:cNvSpPr>
            <a:spLocks noGrp="1"/>
          </p:cNvSpPr>
          <p:nvPr>
            <p:ph type="title"/>
          </p:nvPr>
        </p:nvSpPr>
        <p:spPr>
          <a:xfrm>
            <a:off x="1568147" y="129612"/>
            <a:ext cx="8911687" cy="1280890"/>
          </a:xfrm>
        </p:spPr>
        <p:txBody>
          <a:bodyPr/>
          <a:lstStyle/>
          <a:p>
            <a:endParaRPr lang="en-US" dirty="0"/>
          </a:p>
        </p:txBody>
      </p:sp>
      <p:pic>
        <p:nvPicPr>
          <p:cNvPr id="4" name="Picture 3">
            <a:extLst>
              <a:ext uri="{FF2B5EF4-FFF2-40B4-BE49-F238E27FC236}">
                <a16:creationId xmlns:a16="http://schemas.microsoft.com/office/drawing/2014/main" id="{0A5EF682-BBC6-BC89-A815-2405B3BFA89F}"/>
              </a:ext>
            </a:extLst>
          </p:cNvPr>
          <p:cNvPicPr>
            <a:picLocks noChangeAspect="1"/>
          </p:cNvPicPr>
          <p:nvPr/>
        </p:nvPicPr>
        <p:blipFill rotWithShape="1">
          <a:blip r:embed="rId2">
            <a:extLst>
              <a:ext uri="{28A0092B-C50C-407E-A947-70E740481C1C}">
                <a14:useLocalDpi xmlns:a14="http://schemas.microsoft.com/office/drawing/2010/main" val="0"/>
              </a:ext>
            </a:extLst>
          </a:blip>
          <a:srcRect l="7632" t="6513" r="14801" b="12673"/>
          <a:stretch/>
        </p:blipFill>
        <p:spPr>
          <a:xfrm>
            <a:off x="11003168" y="6329803"/>
            <a:ext cx="1002890" cy="342928"/>
          </a:xfrm>
          <a:prstGeom prst="rect">
            <a:avLst/>
          </a:prstGeom>
        </p:spPr>
      </p:pic>
      <p:sp>
        <p:nvSpPr>
          <p:cNvPr id="5" name="TextBox 4">
            <a:extLst>
              <a:ext uri="{FF2B5EF4-FFF2-40B4-BE49-F238E27FC236}">
                <a16:creationId xmlns:a16="http://schemas.microsoft.com/office/drawing/2014/main" id="{CED2CCDC-C02F-B3A1-A3C5-707DECA064F1}"/>
              </a:ext>
            </a:extLst>
          </p:cNvPr>
          <p:cNvSpPr txBox="1"/>
          <p:nvPr/>
        </p:nvSpPr>
        <p:spPr>
          <a:xfrm>
            <a:off x="-30367" y="770057"/>
            <a:ext cx="1741230" cy="369332"/>
          </a:xfrm>
          <a:prstGeom prst="rect">
            <a:avLst/>
          </a:prstGeom>
          <a:noFill/>
        </p:spPr>
        <p:txBody>
          <a:bodyPr wrap="square" rtlCol="0">
            <a:spAutoFit/>
          </a:bodyPr>
          <a:lstStyle/>
          <a:p>
            <a:r>
              <a:rPr lang="en-US" sz="1800" dirty="0">
                <a:solidFill>
                  <a:schemeClr val="bg1"/>
                </a:solidFill>
                <a:effectLst/>
                <a:latin typeface="Bookman Old Style" panose="02050604050505020204" pitchFamily="18" charset="0"/>
                <a:ea typeface="Calibri" panose="020F0502020204030204" pitchFamily="34" charset="0"/>
              </a:rPr>
              <a:t>22AM2305</a:t>
            </a:r>
            <a:endParaRPr lang="en-IN" dirty="0">
              <a:solidFill>
                <a:schemeClr val="bg1"/>
              </a:solidFill>
              <a:latin typeface="Bookman Old Style" panose="02050604050505020204" pitchFamily="18" charset="0"/>
            </a:endParaRPr>
          </a:p>
        </p:txBody>
      </p:sp>
      <p:pic>
        <p:nvPicPr>
          <p:cNvPr id="6" name="Picture 2" descr="logo">
            <a:extLst>
              <a:ext uri="{FF2B5EF4-FFF2-40B4-BE49-F238E27FC236}">
                <a16:creationId xmlns:a16="http://schemas.microsoft.com/office/drawing/2014/main" id="{747D0EEE-BA48-499F-B84C-D20F74CB5DB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52799" y="89593"/>
            <a:ext cx="1070381" cy="1049796"/>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a:extLst>
              <a:ext uri="{FF2B5EF4-FFF2-40B4-BE49-F238E27FC236}">
                <a16:creationId xmlns:a16="http://schemas.microsoft.com/office/drawing/2014/main" id="{B8E50AC5-8D2A-6A5D-796D-B6863CA3B31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123180" y="89593"/>
            <a:ext cx="941000" cy="960203"/>
          </a:xfrm>
          <a:prstGeom prst="rect">
            <a:avLst/>
          </a:prstGeom>
        </p:spPr>
      </p:pic>
      <p:sp>
        <p:nvSpPr>
          <p:cNvPr id="8" name="TextBox 7">
            <a:extLst>
              <a:ext uri="{FF2B5EF4-FFF2-40B4-BE49-F238E27FC236}">
                <a16:creationId xmlns:a16="http://schemas.microsoft.com/office/drawing/2014/main" id="{7A1F6177-DA99-467A-13D9-91889C33D21A}"/>
              </a:ext>
            </a:extLst>
          </p:cNvPr>
          <p:cNvSpPr txBox="1"/>
          <p:nvPr/>
        </p:nvSpPr>
        <p:spPr>
          <a:xfrm>
            <a:off x="1641986" y="1779833"/>
            <a:ext cx="9625781" cy="2585323"/>
          </a:xfrm>
          <a:prstGeom prst="rect">
            <a:avLst/>
          </a:prstGeom>
          <a:noFill/>
        </p:spPr>
        <p:txBody>
          <a:bodyPr wrap="square">
            <a:spAutoFit/>
          </a:bodyPr>
          <a:lstStyle/>
          <a:p>
            <a:r>
              <a:rPr lang="en-US" dirty="0"/>
              <a:t>Uniform Cost Search: </a:t>
            </a:r>
          </a:p>
          <a:p>
            <a:r>
              <a:rPr lang="en-US" dirty="0"/>
              <a:t>UCS is different from BFS and DFS because here the costs come into play. In other words, traversing via different edges might not have the same cost. The goal is to find a path where the cumulative sum of costs is the least. </a:t>
            </a:r>
          </a:p>
          <a:p>
            <a:endParaRPr lang="en-US" dirty="0"/>
          </a:p>
          <a:p>
            <a:r>
              <a:rPr lang="en-US" dirty="0"/>
              <a:t>Cost of a node is defined as: </a:t>
            </a:r>
          </a:p>
          <a:p>
            <a:endParaRPr lang="en-US" dirty="0"/>
          </a:p>
          <a:p>
            <a:r>
              <a:rPr lang="en-US" dirty="0"/>
              <a:t>  cost(node) = cumulative cost of all nodes from root</a:t>
            </a:r>
          </a:p>
          <a:p>
            <a:r>
              <a:rPr lang="en-US" dirty="0"/>
              <a:t>  cost(root) = 0</a:t>
            </a:r>
          </a:p>
        </p:txBody>
      </p:sp>
    </p:spTree>
    <p:extLst>
      <p:ext uri="{BB962C8B-B14F-4D97-AF65-F5344CB8AC3E}">
        <p14:creationId xmlns:p14="http://schemas.microsoft.com/office/powerpoint/2010/main" val="125203338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47515F-4A58-DFA9-F4DC-FA2F57C2B8AC}"/>
              </a:ext>
            </a:extLst>
          </p:cNvPr>
          <p:cNvSpPr>
            <a:spLocks noGrp="1"/>
          </p:cNvSpPr>
          <p:nvPr>
            <p:ph type="title"/>
          </p:nvPr>
        </p:nvSpPr>
        <p:spPr>
          <a:xfrm>
            <a:off x="1568147" y="129612"/>
            <a:ext cx="8911687" cy="1280890"/>
          </a:xfrm>
        </p:spPr>
        <p:txBody>
          <a:bodyPr/>
          <a:lstStyle/>
          <a:p>
            <a:endParaRPr lang="en-US" dirty="0"/>
          </a:p>
        </p:txBody>
      </p:sp>
      <p:sp>
        <p:nvSpPr>
          <p:cNvPr id="3" name="Content Placeholder 2">
            <a:extLst>
              <a:ext uri="{FF2B5EF4-FFF2-40B4-BE49-F238E27FC236}">
                <a16:creationId xmlns:a16="http://schemas.microsoft.com/office/drawing/2014/main" id="{CD8527A1-EA1C-ABF8-E388-1F26941C7D64}"/>
              </a:ext>
            </a:extLst>
          </p:cNvPr>
          <p:cNvSpPr>
            <a:spLocks noGrp="1"/>
          </p:cNvSpPr>
          <p:nvPr>
            <p:ph idx="1"/>
          </p:nvPr>
        </p:nvSpPr>
        <p:spPr>
          <a:xfrm>
            <a:off x="1042219" y="1579201"/>
            <a:ext cx="10462394" cy="4508742"/>
          </a:xfrm>
        </p:spPr>
        <p:txBody>
          <a:bodyPr>
            <a:normAutofit/>
          </a:bodyPr>
          <a:lstStyle/>
          <a:p>
            <a:pPr algn="just"/>
            <a:r>
              <a:rPr lang="en-US" sz="2400" b="1" i="0" dirty="0">
                <a:solidFill>
                  <a:srgbClr val="273239"/>
                </a:solidFill>
                <a:effectLst/>
                <a:latin typeface="Nunito" pitchFamily="2" charset="0"/>
              </a:rPr>
              <a:t>Example: </a:t>
            </a:r>
          </a:p>
          <a:p>
            <a:pPr marL="0" indent="0" algn="just">
              <a:buNone/>
            </a:pPr>
            <a:r>
              <a:rPr lang="en-US" sz="2400" b="1" i="0" dirty="0">
                <a:solidFill>
                  <a:srgbClr val="273239"/>
                </a:solidFill>
                <a:effectLst/>
                <a:latin typeface="Nunito" pitchFamily="2" charset="0"/>
              </a:rPr>
              <a:t>Question. </a:t>
            </a:r>
            <a:r>
              <a:rPr lang="en-US" sz="2400" b="0" i="0" dirty="0">
                <a:solidFill>
                  <a:srgbClr val="273239"/>
                </a:solidFill>
                <a:effectLst/>
                <a:latin typeface="Nunito" pitchFamily="2" charset="0"/>
              </a:rPr>
              <a:t>Which solution would UCS find to move from node S to node G if run on the graph below? </a:t>
            </a:r>
            <a:endParaRPr lang="en-US" sz="2400" b="1" dirty="0"/>
          </a:p>
        </p:txBody>
      </p:sp>
      <p:pic>
        <p:nvPicPr>
          <p:cNvPr id="4" name="Picture 3">
            <a:extLst>
              <a:ext uri="{FF2B5EF4-FFF2-40B4-BE49-F238E27FC236}">
                <a16:creationId xmlns:a16="http://schemas.microsoft.com/office/drawing/2014/main" id="{0A5EF682-BBC6-BC89-A815-2405B3BFA89F}"/>
              </a:ext>
            </a:extLst>
          </p:cNvPr>
          <p:cNvPicPr>
            <a:picLocks noChangeAspect="1"/>
          </p:cNvPicPr>
          <p:nvPr/>
        </p:nvPicPr>
        <p:blipFill rotWithShape="1">
          <a:blip r:embed="rId2">
            <a:extLst>
              <a:ext uri="{28A0092B-C50C-407E-A947-70E740481C1C}">
                <a14:useLocalDpi xmlns:a14="http://schemas.microsoft.com/office/drawing/2010/main" val="0"/>
              </a:ext>
            </a:extLst>
          </a:blip>
          <a:srcRect l="7632" t="6513" r="14801" b="12673"/>
          <a:stretch/>
        </p:blipFill>
        <p:spPr>
          <a:xfrm>
            <a:off x="11003168" y="6329803"/>
            <a:ext cx="1002890" cy="342928"/>
          </a:xfrm>
          <a:prstGeom prst="rect">
            <a:avLst/>
          </a:prstGeom>
        </p:spPr>
      </p:pic>
      <p:sp>
        <p:nvSpPr>
          <p:cNvPr id="5" name="TextBox 4">
            <a:extLst>
              <a:ext uri="{FF2B5EF4-FFF2-40B4-BE49-F238E27FC236}">
                <a16:creationId xmlns:a16="http://schemas.microsoft.com/office/drawing/2014/main" id="{CED2CCDC-C02F-B3A1-A3C5-707DECA064F1}"/>
              </a:ext>
            </a:extLst>
          </p:cNvPr>
          <p:cNvSpPr txBox="1"/>
          <p:nvPr/>
        </p:nvSpPr>
        <p:spPr>
          <a:xfrm>
            <a:off x="-30367" y="770057"/>
            <a:ext cx="1741230" cy="369332"/>
          </a:xfrm>
          <a:prstGeom prst="rect">
            <a:avLst/>
          </a:prstGeom>
          <a:noFill/>
        </p:spPr>
        <p:txBody>
          <a:bodyPr wrap="square" rtlCol="0">
            <a:spAutoFit/>
          </a:bodyPr>
          <a:lstStyle/>
          <a:p>
            <a:r>
              <a:rPr lang="en-US" sz="1800" dirty="0">
                <a:solidFill>
                  <a:schemeClr val="bg1"/>
                </a:solidFill>
                <a:effectLst/>
                <a:latin typeface="Bookman Old Style" panose="02050604050505020204" pitchFamily="18" charset="0"/>
                <a:ea typeface="Calibri" panose="020F0502020204030204" pitchFamily="34" charset="0"/>
              </a:rPr>
              <a:t>22AM2305</a:t>
            </a:r>
            <a:endParaRPr lang="en-IN" dirty="0">
              <a:solidFill>
                <a:schemeClr val="bg1"/>
              </a:solidFill>
              <a:latin typeface="Bookman Old Style" panose="02050604050505020204" pitchFamily="18" charset="0"/>
            </a:endParaRPr>
          </a:p>
        </p:txBody>
      </p:sp>
      <p:pic>
        <p:nvPicPr>
          <p:cNvPr id="6" name="Picture 2" descr="logo">
            <a:extLst>
              <a:ext uri="{FF2B5EF4-FFF2-40B4-BE49-F238E27FC236}">
                <a16:creationId xmlns:a16="http://schemas.microsoft.com/office/drawing/2014/main" id="{747D0EEE-BA48-499F-B84C-D20F74CB5DB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52799" y="89593"/>
            <a:ext cx="1070381" cy="1049796"/>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a:extLst>
              <a:ext uri="{FF2B5EF4-FFF2-40B4-BE49-F238E27FC236}">
                <a16:creationId xmlns:a16="http://schemas.microsoft.com/office/drawing/2014/main" id="{B8E50AC5-8D2A-6A5D-796D-B6863CA3B31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123180" y="89593"/>
            <a:ext cx="941000" cy="960203"/>
          </a:xfrm>
          <a:prstGeom prst="rect">
            <a:avLst/>
          </a:prstGeom>
        </p:spPr>
      </p:pic>
      <p:pic>
        <p:nvPicPr>
          <p:cNvPr id="31746" name="Picture 2" descr="UCS problem">
            <a:extLst>
              <a:ext uri="{FF2B5EF4-FFF2-40B4-BE49-F238E27FC236}">
                <a16:creationId xmlns:a16="http://schemas.microsoft.com/office/drawing/2014/main" id="{5017E533-16FA-CD0A-C706-F667398FAF8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75726" y="2864191"/>
            <a:ext cx="6097690" cy="3068347"/>
          </a:xfrm>
          <a:prstGeom prst="rect">
            <a:avLst/>
          </a:prstGeom>
          <a:noFill/>
          <a:extLst>
            <a:ext uri="{909E8E84-426E-40DD-AFC4-6F175D3DCCD1}">
              <a14:hiddenFill xmlns:a14="http://schemas.microsoft.com/office/drawing/2010/main">
                <a:solidFill>
                  <a:srgbClr val="FFFFFF"/>
                </a:solidFill>
              </a14:hiddenFill>
            </a:ext>
          </a:extLst>
        </p:spPr>
      </p:pic>
      <p:pic>
        <p:nvPicPr>
          <p:cNvPr id="31748" name="Picture 4" descr="UCS solution">
            <a:extLst>
              <a:ext uri="{FF2B5EF4-FFF2-40B4-BE49-F238E27FC236}">
                <a16:creationId xmlns:a16="http://schemas.microsoft.com/office/drawing/2014/main" id="{6735CF9E-BF2C-E957-C75A-05F8958C6586}"/>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466713" y="2781339"/>
            <a:ext cx="3820719" cy="3475303"/>
          </a:xfrm>
          <a:prstGeom prst="rect">
            <a:avLst/>
          </a:prstGeom>
          <a:noFill/>
          <a:extLst>
            <a:ext uri="{909E8E84-426E-40DD-AFC4-6F175D3DCCD1}">
              <a14:hiddenFill xmlns:a14="http://schemas.microsoft.com/office/drawing/2010/main">
                <a:solidFill>
                  <a:srgbClr val="FFFFFF"/>
                </a:solidFill>
              </a14:hiddenFill>
            </a:ext>
          </a:extLst>
        </p:spPr>
      </p:pic>
      <p:sp>
        <p:nvSpPr>
          <p:cNvPr id="8" name="Equals 7">
            <a:extLst>
              <a:ext uri="{FF2B5EF4-FFF2-40B4-BE49-F238E27FC236}">
                <a16:creationId xmlns:a16="http://schemas.microsoft.com/office/drawing/2014/main" id="{F68B2B92-690A-83AD-B3EE-F8C0463E8933}"/>
              </a:ext>
            </a:extLst>
          </p:cNvPr>
          <p:cNvSpPr/>
          <p:nvPr/>
        </p:nvSpPr>
        <p:spPr>
          <a:xfrm>
            <a:off x="6469626" y="4038852"/>
            <a:ext cx="924232" cy="375832"/>
          </a:xfrm>
          <a:prstGeom prst="mathEqual">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0" name="TextBox 9">
            <a:extLst>
              <a:ext uri="{FF2B5EF4-FFF2-40B4-BE49-F238E27FC236}">
                <a16:creationId xmlns:a16="http://schemas.microsoft.com/office/drawing/2014/main" id="{DF255912-41F8-7339-0A62-E35D517278B4}"/>
              </a:ext>
            </a:extLst>
          </p:cNvPr>
          <p:cNvSpPr txBox="1"/>
          <p:nvPr/>
        </p:nvSpPr>
        <p:spPr>
          <a:xfrm>
            <a:off x="2340078" y="6123775"/>
            <a:ext cx="6135328" cy="646331"/>
          </a:xfrm>
          <a:prstGeom prst="rect">
            <a:avLst/>
          </a:prstGeom>
          <a:noFill/>
        </p:spPr>
        <p:txBody>
          <a:bodyPr wrap="square">
            <a:spAutoFit/>
          </a:bodyPr>
          <a:lstStyle/>
          <a:p>
            <a:r>
              <a:rPr lang="en-US" dirty="0"/>
              <a:t>https://www.hackerearth.com/practice/algorithms/graphs/breadth-first-search/tutorial/</a:t>
            </a:r>
          </a:p>
        </p:txBody>
      </p:sp>
    </p:spTree>
    <p:extLst>
      <p:ext uri="{BB962C8B-B14F-4D97-AF65-F5344CB8AC3E}">
        <p14:creationId xmlns:p14="http://schemas.microsoft.com/office/powerpoint/2010/main" val="154067643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47515F-4A58-DFA9-F4DC-FA2F57C2B8AC}"/>
              </a:ext>
            </a:extLst>
          </p:cNvPr>
          <p:cNvSpPr>
            <a:spLocks noGrp="1"/>
          </p:cNvSpPr>
          <p:nvPr>
            <p:ph type="title"/>
          </p:nvPr>
        </p:nvSpPr>
        <p:spPr>
          <a:xfrm>
            <a:off x="1568147" y="129612"/>
            <a:ext cx="8911687" cy="1280890"/>
          </a:xfrm>
        </p:spPr>
        <p:txBody>
          <a:bodyPr/>
          <a:lstStyle/>
          <a:p>
            <a:endParaRPr lang="en-US" dirty="0"/>
          </a:p>
        </p:txBody>
      </p:sp>
      <p:sp>
        <p:nvSpPr>
          <p:cNvPr id="3" name="Content Placeholder 2">
            <a:extLst>
              <a:ext uri="{FF2B5EF4-FFF2-40B4-BE49-F238E27FC236}">
                <a16:creationId xmlns:a16="http://schemas.microsoft.com/office/drawing/2014/main" id="{CD8527A1-EA1C-ABF8-E388-1F26941C7D64}"/>
              </a:ext>
            </a:extLst>
          </p:cNvPr>
          <p:cNvSpPr>
            <a:spLocks noGrp="1"/>
          </p:cNvSpPr>
          <p:nvPr>
            <p:ph idx="1"/>
          </p:nvPr>
        </p:nvSpPr>
        <p:spPr>
          <a:xfrm>
            <a:off x="1042219" y="1579201"/>
            <a:ext cx="10462394" cy="4508742"/>
          </a:xfrm>
        </p:spPr>
        <p:txBody>
          <a:bodyPr>
            <a:normAutofit/>
          </a:bodyPr>
          <a:lstStyle/>
          <a:p>
            <a:pPr algn="just"/>
            <a:r>
              <a:rPr lang="en-US" sz="2400" b="1" i="0" dirty="0">
                <a:solidFill>
                  <a:srgbClr val="273239"/>
                </a:solidFill>
                <a:effectLst/>
                <a:latin typeface="Nunito" pitchFamily="2" charset="0"/>
              </a:rPr>
              <a:t>Solution.</a:t>
            </a:r>
            <a:r>
              <a:rPr lang="en-US" sz="2400" b="0" i="0" dirty="0">
                <a:solidFill>
                  <a:srgbClr val="273239"/>
                </a:solidFill>
                <a:effectLst/>
                <a:latin typeface="Nunito" pitchFamily="2" charset="0"/>
              </a:rPr>
              <a:t> The equivalent search tree for the above graph is as follows. The cost of each node is the cumulative cost of reaching that node from the root. Based on the UCS strategy, the path with the least cumulative cost is chosen. Note that due to the many options in the fringe, the algorithm explores most of them so long as their cost is low, and discards them when a lower-cost path is found; these discarded traversals are not shown below. The actual traversal is shown in blue. </a:t>
            </a:r>
            <a:endParaRPr lang="en-US" sz="2400" b="1" dirty="0"/>
          </a:p>
        </p:txBody>
      </p:sp>
      <p:pic>
        <p:nvPicPr>
          <p:cNvPr id="4" name="Picture 3">
            <a:extLst>
              <a:ext uri="{FF2B5EF4-FFF2-40B4-BE49-F238E27FC236}">
                <a16:creationId xmlns:a16="http://schemas.microsoft.com/office/drawing/2014/main" id="{0A5EF682-BBC6-BC89-A815-2405B3BFA89F}"/>
              </a:ext>
            </a:extLst>
          </p:cNvPr>
          <p:cNvPicPr>
            <a:picLocks noChangeAspect="1"/>
          </p:cNvPicPr>
          <p:nvPr/>
        </p:nvPicPr>
        <p:blipFill rotWithShape="1">
          <a:blip r:embed="rId2">
            <a:extLst>
              <a:ext uri="{28A0092B-C50C-407E-A947-70E740481C1C}">
                <a14:useLocalDpi xmlns:a14="http://schemas.microsoft.com/office/drawing/2010/main" val="0"/>
              </a:ext>
            </a:extLst>
          </a:blip>
          <a:srcRect l="7632" t="6513" r="14801" b="12673"/>
          <a:stretch/>
        </p:blipFill>
        <p:spPr>
          <a:xfrm>
            <a:off x="11003168" y="6329803"/>
            <a:ext cx="1002890" cy="342928"/>
          </a:xfrm>
          <a:prstGeom prst="rect">
            <a:avLst/>
          </a:prstGeom>
        </p:spPr>
      </p:pic>
      <p:sp>
        <p:nvSpPr>
          <p:cNvPr id="5" name="TextBox 4">
            <a:extLst>
              <a:ext uri="{FF2B5EF4-FFF2-40B4-BE49-F238E27FC236}">
                <a16:creationId xmlns:a16="http://schemas.microsoft.com/office/drawing/2014/main" id="{CED2CCDC-C02F-B3A1-A3C5-707DECA064F1}"/>
              </a:ext>
            </a:extLst>
          </p:cNvPr>
          <p:cNvSpPr txBox="1"/>
          <p:nvPr/>
        </p:nvSpPr>
        <p:spPr>
          <a:xfrm>
            <a:off x="-30367" y="770057"/>
            <a:ext cx="1741230" cy="369332"/>
          </a:xfrm>
          <a:prstGeom prst="rect">
            <a:avLst/>
          </a:prstGeom>
          <a:noFill/>
        </p:spPr>
        <p:txBody>
          <a:bodyPr wrap="square" rtlCol="0">
            <a:spAutoFit/>
          </a:bodyPr>
          <a:lstStyle/>
          <a:p>
            <a:r>
              <a:rPr lang="en-US" sz="1800" dirty="0">
                <a:solidFill>
                  <a:schemeClr val="bg1"/>
                </a:solidFill>
                <a:effectLst/>
                <a:latin typeface="Bookman Old Style" panose="02050604050505020204" pitchFamily="18" charset="0"/>
                <a:ea typeface="Calibri" panose="020F0502020204030204" pitchFamily="34" charset="0"/>
              </a:rPr>
              <a:t>22AM2305</a:t>
            </a:r>
            <a:endParaRPr lang="en-IN" dirty="0">
              <a:solidFill>
                <a:schemeClr val="bg1"/>
              </a:solidFill>
              <a:latin typeface="Bookman Old Style" panose="02050604050505020204" pitchFamily="18" charset="0"/>
            </a:endParaRPr>
          </a:p>
        </p:txBody>
      </p:sp>
      <p:pic>
        <p:nvPicPr>
          <p:cNvPr id="6" name="Picture 2" descr="logo">
            <a:extLst>
              <a:ext uri="{FF2B5EF4-FFF2-40B4-BE49-F238E27FC236}">
                <a16:creationId xmlns:a16="http://schemas.microsoft.com/office/drawing/2014/main" id="{747D0EEE-BA48-499F-B84C-D20F74CB5DB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52799" y="89593"/>
            <a:ext cx="1070381" cy="1049796"/>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a:extLst>
              <a:ext uri="{FF2B5EF4-FFF2-40B4-BE49-F238E27FC236}">
                <a16:creationId xmlns:a16="http://schemas.microsoft.com/office/drawing/2014/main" id="{B8E50AC5-8D2A-6A5D-796D-B6863CA3B31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123180" y="89593"/>
            <a:ext cx="941000" cy="960203"/>
          </a:xfrm>
          <a:prstGeom prst="rect">
            <a:avLst/>
          </a:prstGeom>
        </p:spPr>
      </p:pic>
      <p:sp>
        <p:nvSpPr>
          <p:cNvPr id="8" name="Rectangle 1">
            <a:extLst>
              <a:ext uri="{FF2B5EF4-FFF2-40B4-BE49-F238E27FC236}">
                <a16:creationId xmlns:a16="http://schemas.microsoft.com/office/drawing/2014/main" id="{668920FB-F423-E1F6-E016-8D05E9D61D1C}"/>
              </a:ext>
            </a:extLst>
          </p:cNvPr>
          <p:cNvSpPr>
            <a:spLocks noChangeArrowheads="1"/>
          </p:cNvSpPr>
          <p:nvPr/>
        </p:nvSpPr>
        <p:spPr bwMode="auto">
          <a:xfrm>
            <a:off x="1710863" y="4497009"/>
            <a:ext cx="10019021" cy="20621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1" u="none" strike="noStrike" cap="none" normalizeH="0" baseline="0" dirty="0">
                <a:ln>
                  <a:noFill/>
                </a:ln>
                <a:solidFill>
                  <a:srgbClr val="273239"/>
                </a:solidFill>
                <a:effectLst/>
                <a:latin typeface="Nunito" pitchFamily="2" charset="0"/>
              </a:rPr>
              <a:t>Path:</a:t>
            </a:r>
            <a:r>
              <a:rPr kumimoji="0" lang="en-US" altLang="en-US" b="0" i="1" u="none" strike="noStrike" cap="none" normalizeH="0" baseline="0" dirty="0">
                <a:ln>
                  <a:noFill/>
                </a:ln>
                <a:solidFill>
                  <a:srgbClr val="273239"/>
                </a:solidFill>
                <a:effectLst/>
                <a:latin typeface="Nunito" pitchFamily="2" charset="0"/>
              </a:rPr>
              <a:t> S -&gt; A -&gt; B -&gt; G </a:t>
            </a:r>
            <a:br>
              <a:rPr kumimoji="0" lang="en-US" altLang="en-US" b="0" i="1" u="none" strike="noStrike" cap="none" normalizeH="0" baseline="0" dirty="0">
                <a:ln>
                  <a:noFill/>
                </a:ln>
                <a:solidFill>
                  <a:srgbClr val="273239"/>
                </a:solidFill>
                <a:effectLst/>
                <a:latin typeface="Nunito" pitchFamily="2" charset="0"/>
              </a:rPr>
            </a:br>
            <a:r>
              <a:rPr kumimoji="0" lang="en-US" altLang="en-US" b="1" i="1" u="none" strike="noStrike" cap="none" normalizeH="0" baseline="0" dirty="0">
                <a:ln>
                  <a:noFill/>
                </a:ln>
                <a:solidFill>
                  <a:srgbClr val="273239"/>
                </a:solidFill>
                <a:effectLst/>
                <a:latin typeface="Nunito" pitchFamily="2" charset="0"/>
              </a:rPr>
              <a:t>Cost:</a:t>
            </a:r>
            <a:r>
              <a:rPr kumimoji="0" lang="en-US" altLang="en-US" b="0" i="1" u="none" strike="noStrike" cap="none" normalizeH="0" baseline="0" dirty="0">
                <a:ln>
                  <a:noFill/>
                </a:ln>
                <a:solidFill>
                  <a:srgbClr val="273239"/>
                </a:solidFill>
                <a:effectLst/>
                <a:latin typeface="Nunito" pitchFamily="2" charset="0"/>
              </a:rPr>
              <a:t> 5 </a:t>
            </a:r>
            <a:endParaRPr kumimoji="0" lang="en-US" altLang="en-US" sz="105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1" u="none" strike="noStrike" cap="none" normalizeH="0" baseline="0" dirty="0">
                <a:ln>
                  <a:noFill/>
                </a:ln>
                <a:solidFill>
                  <a:srgbClr val="273239"/>
                </a:solidFill>
                <a:effectLst/>
                <a:latin typeface="Nunito" pitchFamily="2" charset="0"/>
              </a:rPr>
              <a:t>Let   C</a:t>
            </a:r>
            <a:r>
              <a:rPr kumimoji="0" lang="en-US" altLang="en-US" sz="1200" b="0" i="1" u="none" strike="noStrike" cap="none" normalizeH="0" baseline="0" dirty="0">
                <a:ln>
                  <a:noFill/>
                </a:ln>
                <a:solidFill>
                  <a:srgbClr val="273239"/>
                </a:solidFill>
                <a:effectLst/>
                <a:latin typeface="Nunito" pitchFamily="2" charset="0"/>
              </a:rPr>
              <a:t>      </a:t>
            </a:r>
            <a:r>
              <a:rPr kumimoji="0" lang="en-US" altLang="en-US" b="0" i="1" u="none" strike="noStrike" cap="none" normalizeH="0" baseline="0" dirty="0">
                <a:ln>
                  <a:noFill/>
                </a:ln>
                <a:solidFill>
                  <a:srgbClr val="273239"/>
                </a:solidFill>
                <a:effectLst/>
                <a:latin typeface="Nunito" pitchFamily="2" charset="0"/>
              </a:rPr>
              <a:t>= cost of solution. </a:t>
            </a:r>
            <a:br>
              <a:rPr kumimoji="0" lang="en-US" altLang="en-US" b="0" i="1" u="none" strike="noStrike" cap="none" normalizeH="0" baseline="0" dirty="0">
                <a:ln>
                  <a:noFill/>
                </a:ln>
                <a:solidFill>
                  <a:srgbClr val="273239"/>
                </a:solidFill>
                <a:effectLst/>
                <a:latin typeface="Nunito" pitchFamily="2" charset="0"/>
              </a:rPr>
            </a:br>
            <a:r>
              <a:rPr kumimoji="0" lang="en-US" altLang="en-US" b="0" i="1" u="none" strike="noStrike" cap="none" normalizeH="0" baseline="0" dirty="0">
                <a:ln>
                  <a:noFill/>
                </a:ln>
                <a:solidFill>
                  <a:srgbClr val="273239"/>
                </a:solidFill>
                <a:effectLst/>
                <a:latin typeface="Nunito" pitchFamily="2" charset="0"/>
              </a:rPr>
              <a:t>  </a:t>
            </a:r>
            <a:r>
              <a:rPr kumimoji="0" lang="en-US" altLang="en-US" sz="2800" b="0" i="1" u="none" strike="noStrike" cap="none" normalizeH="0" baseline="0" dirty="0">
                <a:ln>
                  <a:noFill/>
                </a:ln>
                <a:solidFill>
                  <a:srgbClr val="273239"/>
                </a:solidFill>
                <a:effectLst/>
                <a:latin typeface="Nunito" pitchFamily="2" charset="0"/>
              </a:rPr>
              <a:t> </a:t>
            </a:r>
            <a:r>
              <a:rPr kumimoji="0" lang="el-GR" altLang="en-US" sz="2800" b="0" i="1" u="none" strike="noStrike" cap="none" normalizeH="0" baseline="0" dirty="0">
                <a:ln>
                  <a:noFill/>
                </a:ln>
                <a:solidFill>
                  <a:srgbClr val="273239"/>
                </a:solidFill>
                <a:effectLst/>
                <a:latin typeface="Palatino Linotype" panose="02040502050505030304" pitchFamily="18" charset="0"/>
              </a:rPr>
              <a:t>ε</a:t>
            </a:r>
            <a:r>
              <a:rPr kumimoji="0" lang="en-US" altLang="en-US" sz="2800" b="0" i="1" u="none" strike="noStrike" cap="none" normalizeH="0" baseline="0" dirty="0">
                <a:ln>
                  <a:noFill/>
                </a:ln>
                <a:solidFill>
                  <a:srgbClr val="273239"/>
                </a:solidFill>
                <a:effectLst/>
                <a:latin typeface="Nunito" pitchFamily="2" charset="0"/>
              </a:rPr>
              <a:t>  </a:t>
            </a:r>
            <a:r>
              <a:rPr kumimoji="0" lang="en-US" altLang="en-US" sz="1000" b="0" i="1" u="none" strike="noStrike" cap="none" normalizeH="0" baseline="0" dirty="0">
                <a:ln>
                  <a:noFill/>
                </a:ln>
                <a:solidFill>
                  <a:srgbClr val="273239"/>
                </a:solidFill>
                <a:effectLst/>
                <a:latin typeface="Nunito" pitchFamily="2" charset="0"/>
              </a:rPr>
              <a:t>   </a:t>
            </a:r>
            <a:r>
              <a:rPr kumimoji="0" lang="en-US" altLang="en-US" b="0" i="1" u="none" strike="noStrike" cap="none" normalizeH="0" baseline="0" dirty="0">
                <a:ln>
                  <a:noFill/>
                </a:ln>
                <a:solidFill>
                  <a:srgbClr val="273239"/>
                </a:solidFill>
                <a:effectLst/>
                <a:latin typeface="Nunito" pitchFamily="2" charset="0"/>
              </a:rPr>
              <a:t>= arcs cost. </a:t>
            </a:r>
            <a:endParaRPr kumimoji="0" lang="en-US" altLang="en-US" sz="1050" b="0" i="0" u="none" strike="noStrike" cap="none" normalizeH="0" baseline="0" dirty="0">
              <a:ln>
                <a:noFill/>
              </a:ln>
              <a:solidFill>
                <a:schemeClr val="tx1"/>
              </a:solidFill>
              <a:effectLst/>
            </a:endParaRPr>
          </a:p>
          <a:p>
            <a:pPr lvl="0" defTabSz="914400"/>
            <a:r>
              <a:rPr kumimoji="0" lang="en-US" altLang="en-US" b="0" i="1" u="none" strike="noStrike" cap="none" normalizeH="0" baseline="0" dirty="0">
                <a:ln>
                  <a:noFill/>
                </a:ln>
                <a:solidFill>
                  <a:srgbClr val="273239"/>
                </a:solidFill>
                <a:effectLst/>
                <a:latin typeface="Nunito" pitchFamily="2" charset="0"/>
              </a:rPr>
              <a:t>Then   </a:t>
            </a:r>
            <a:r>
              <a:rPr kumimoji="0" lang="en-US" altLang="en-US" sz="2400" b="0" i="1" u="none" strike="noStrike" cap="none" normalizeH="0" baseline="0" dirty="0">
                <a:ln>
                  <a:noFill/>
                </a:ln>
                <a:solidFill>
                  <a:srgbClr val="273239"/>
                </a:solidFill>
                <a:effectLst/>
                <a:latin typeface="Nunito" pitchFamily="2" charset="0"/>
              </a:rPr>
              <a:t> c/</a:t>
            </a:r>
            <a:r>
              <a:rPr lang="el-GR" altLang="en-US" sz="2400" i="1" dirty="0">
                <a:solidFill>
                  <a:srgbClr val="273239"/>
                </a:solidFill>
                <a:latin typeface="Palatino Linotype" panose="02040502050505030304" pitchFamily="18" charset="0"/>
              </a:rPr>
              <a:t> ε </a:t>
            </a:r>
            <a:r>
              <a:rPr kumimoji="0" lang="en-US" altLang="en-US" sz="2400" b="0" i="1" u="none" strike="noStrike" cap="none" normalizeH="0" baseline="0" dirty="0">
                <a:ln>
                  <a:noFill/>
                </a:ln>
                <a:solidFill>
                  <a:srgbClr val="273239"/>
                </a:solidFill>
                <a:effectLst/>
                <a:latin typeface="Nunito" pitchFamily="2" charset="0"/>
              </a:rPr>
              <a:t>  </a:t>
            </a:r>
            <a:r>
              <a:rPr kumimoji="0" lang="en-US" altLang="en-US" b="0" i="1" u="none" strike="noStrike" cap="none" normalizeH="0" baseline="0" dirty="0">
                <a:ln>
                  <a:noFill/>
                </a:ln>
                <a:solidFill>
                  <a:srgbClr val="273239"/>
                </a:solidFill>
                <a:effectLst/>
                <a:latin typeface="Nunito" pitchFamily="2" charset="0"/>
              </a:rPr>
              <a:t>effective depth </a:t>
            </a:r>
            <a:endParaRPr kumimoji="0" lang="en-US" altLang="en-US" sz="105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1" u="none" strike="noStrike" cap="none" normalizeH="0" baseline="0" dirty="0">
                <a:ln>
                  <a:noFill/>
                </a:ln>
                <a:solidFill>
                  <a:srgbClr val="273239"/>
                </a:solidFill>
                <a:effectLst/>
                <a:latin typeface="Nunito" pitchFamily="2" charset="0"/>
              </a:rPr>
              <a:t>Time complexity: </a:t>
            </a:r>
            <a:r>
              <a:rPr kumimoji="0" lang="en-US" altLang="en-US" b="0" i="1" u="none" strike="noStrike" cap="none" normalizeH="0" baseline="0" dirty="0">
                <a:ln>
                  <a:noFill/>
                </a:ln>
                <a:solidFill>
                  <a:srgbClr val="273239"/>
                </a:solidFill>
                <a:effectLst/>
                <a:latin typeface="Nunito" pitchFamily="2" charset="0"/>
              </a:rPr>
              <a:t>    </a:t>
            </a:r>
            <a:r>
              <a:rPr kumimoji="0" lang="en-US" altLang="en-US" sz="2800" b="0" i="1" u="none" strike="noStrike" cap="none" normalizeH="0" baseline="0" dirty="0">
                <a:ln>
                  <a:noFill/>
                </a:ln>
                <a:solidFill>
                  <a:srgbClr val="273239"/>
                </a:solidFill>
                <a:effectLst/>
                <a:latin typeface="Nunito" pitchFamily="2" charset="0"/>
              </a:rPr>
              <a:t>                     </a:t>
            </a:r>
            <a:r>
              <a:rPr kumimoji="0" lang="en-US" altLang="en-US" b="1" i="1" u="none" strike="noStrike" cap="none" normalizeH="0" baseline="0" dirty="0">
                <a:ln>
                  <a:noFill/>
                </a:ln>
                <a:solidFill>
                  <a:srgbClr val="273239"/>
                </a:solidFill>
                <a:effectLst/>
                <a:latin typeface="Nunito" pitchFamily="2" charset="0"/>
              </a:rPr>
              <a:t>, Space Complexity  </a:t>
            </a:r>
            <a:r>
              <a:rPr kumimoji="0" lang="en-US" altLang="en-US" b="0" i="1" u="none" strike="noStrike" cap="none" normalizeH="0" baseline="0" dirty="0">
                <a:ln>
                  <a:noFill/>
                </a:ln>
                <a:solidFill>
                  <a:srgbClr val="273239"/>
                </a:solidFill>
                <a:effectLst/>
                <a:latin typeface="Nunito" pitchFamily="2" charset="0"/>
              </a:rPr>
              <a:t>    </a:t>
            </a:r>
            <a:r>
              <a:rPr kumimoji="0" lang="en-US" altLang="en-US" sz="2800" b="0" i="1" u="none" strike="noStrike" cap="none" normalizeH="0" baseline="0" dirty="0">
                <a:ln>
                  <a:noFill/>
                </a:ln>
                <a:solidFill>
                  <a:srgbClr val="273239"/>
                </a:solidFill>
                <a:effectLst/>
                <a:latin typeface="Nunito" pitchFamily="2" charset="0"/>
              </a:rPr>
              <a:t>                            </a:t>
            </a:r>
            <a:endParaRPr kumimoji="0" lang="en-US" altLang="en-US" sz="2800" b="0" i="0" u="none" strike="noStrike" cap="none" normalizeH="0" baseline="0" dirty="0">
              <a:ln>
                <a:noFill/>
              </a:ln>
              <a:solidFill>
                <a:schemeClr val="tx1"/>
              </a:solidFill>
              <a:effectLst/>
            </a:endParaRPr>
          </a:p>
        </p:txBody>
      </p:sp>
      <p:sp>
        <p:nvSpPr>
          <p:cNvPr id="9" name="AutoShape 2" descr="C        ">
            <a:extLst>
              <a:ext uri="{FF2B5EF4-FFF2-40B4-BE49-F238E27FC236}">
                <a16:creationId xmlns:a16="http://schemas.microsoft.com/office/drawing/2014/main" id="{540BB0E8-0796-853F-2A62-EAF7473E7596}"/>
              </a:ext>
            </a:extLst>
          </p:cNvPr>
          <p:cNvSpPr>
            <a:spLocks noChangeAspect="1" noChangeArrowheads="1"/>
          </p:cNvSpPr>
          <p:nvPr/>
        </p:nvSpPr>
        <p:spPr bwMode="auto">
          <a:xfrm>
            <a:off x="2303002" y="4837273"/>
            <a:ext cx="180975" cy="17145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0" name="AutoShape 3" descr="\varepsilon        ">
            <a:extLst>
              <a:ext uri="{FF2B5EF4-FFF2-40B4-BE49-F238E27FC236}">
                <a16:creationId xmlns:a16="http://schemas.microsoft.com/office/drawing/2014/main" id="{9184E9D1-0484-B3F6-21E8-7AAC8575A33F}"/>
              </a:ext>
            </a:extLst>
          </p:cNvPr>
          <p:cNvSpPr>
            <a:spLocks noChangeAspect="1" noChangeArrowheads="1"/>
          </p:cNvSpPr>
          <p:nvPr/>
        </p:nvSpPr>
        <p:spPr bwMode="auto">
          <a:xfrm>
            <a:off x="2045827" y="5019835"/>
            <a:ext cx="114300" cy="1143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1" name="AutoShape 4" descr="C / \varepsilon =        ">
            <a:extLst>
              <a:ext uri="{FF2B5EF4-FFF2-40B4-BE49-F238E27FC236}">
                <a16:creationId xmlns:a16="http://schemas.microsoft.com/office/drawing/2014/main" id="{6E8B9387-7620-2B63-242F-6BDEF473EC05}"/>
              </a:ext>
            </a:extLst>
          </p:cNvPr>
          <p:cNvSpPr>
            <a:spLocks noChangeAspect="1" noChangeArrowheads="1"/>
          </p:cNvSpPr>
          <p:nvPr/>
        </p:nvSpPr>
        <p:spPr bwMode="auto">
          <a:xfrm>
            <a:off x="2433177" y="5202398"/>
            <a:ext cx="676275" cy="25717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2" name="AutoShape 5" descr="T(n) = O(n^C ^/ ^\varepsilon)        ">
            <a:extLst>
              <a:ext uri="{FF2B5EF4-FFF2-40B4-BE49-F238E27FC236}">
                <a16:creationId xmlns:a16="http://schemas.microsoft.com/office/drawing/2014/main" id="{56F3E2F7-A419-CB2C-DF2F-A0D766C1E075}"/>
              </a:ext>
            </a:extLst>
          </p:cNvPr>
          <p:cNvSpPr>
            <a:spLocks noChangeAspect="1" noChangeArrowheads="1"/>
          </p:cNvSpPr>
          <p:nvPr/>
        </p:nvSpPr>
        <p:spPr bwMode="auto">
          <a:xfrm>
            <a:off x="3482515" y="5446873"/>
            <a:ext cx="1762125"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3" name="AutoShape 6" descr="S(n) = O(n^C ^/ ^\varepsilon)       ">
            <a:extLst>
              <a:ext uri="{FF2B5EF4-FFF2-40B4-BE49-F238E27FC236}">
                <a16:creationId xmlns:a16="http://schemas.microsoft.com/office/drawing/2014/main" id="{340A4BDB-58ED-6B68-BE42-B327638742C2}"/>
              </a:ext>
            </a:extLst>
          </p:cNvPr>
          <p:cNvSpPr>
            <a:spLocks noChangeAspect="1" noChangeArrowheads="1"/>
          </p:cNvSpPr>
          <p:nvPr/>
        </p:nvSpPr>
        <p:spPr bwMode="auto">
          <a:xfrm>
            <a:off x="6951202" y="5446873"/>
            <a:ext cx="173355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5" name="Picture 14">
            <a:extLst>
              <a:ext uri="{FF2B5EF4-FFF2-40B4-BE49-F238E27FC236}">
                <a16:creationId xmlns:a16="http://schemas.microsoft.com/office/drawing/2014/main" id="{385A9C22-50F4-6B57-8DBA-0CC1B1F7D6B5}"/>
              </a:ext>
            </a:extLst>
          </p:cNvPr>
          <p:cNvPicPr>
            <a:picLocks noChangeAspect="1"/>
          </p:cNvPicPr>
          <p:nvPr/>
        </p:nvPicPr>
        <p:blipFill>
          <a:blip r:embed="rId5"/>
          <a:stretch>
            <a:fillRect/>
          </a:stretch>
        </p:blipFill>
        <p:spPr>
          <a:xfrm>
            <a:off x="3835656" y="6222955"/>
            <a:ext cx="1846729" cy="304800"/>
          </a:xfrm>
          <a:prstGeom prst="rect">
            <a:avLst/>
          </a:prstGeom>
        </p:spPr>
      </p:pic>
      <p:pic>
        <p:nvPicPr>
          <p:cNvPr id="17" name="Picture 16">
            <a:extLst>
              <a:ext uri="{FF2B5EF4-FFF2-40B4-BE49-F238E27FC236}">
                <a16:creationId xmlns:a16="http://schemas.microsoft.com/office/drawing/2014/main" id="{B4DE0128-FB67-4B24-8E86-851FCC8D062E}"/>
              </a:ext>
            </a:extLst>
          </p:cNvPr>
          <p:cNvPicPr>
            <a:picLocks noChangeAspect="1"/>
          </p:cNvPicPr>
          <p:nvPr/>
        </p:nvPicPr>
        <p:blipFill>
          <a:blip r:embed="rId6"/>
          <a:stretch>
            <a:fillRect/>
          </a:stretch>
        </p:blipFill>
        <p:spPr>
          <a:xfrm>
            <a:off x="8224005" y="6196468"/>
            <a:ext cx="1828794" cy="304799"/>
          </a:xfrm>
          <a:prstGeom prst="rect">
            <a:avLst/>
          </a:prstGeom>
        </p:spPr>
      </p:pic>
    </p:spTree>
    <p:extLst>
      <p:ext uri="{BB962C8B-B14F-4D97-AF65-F5344CB8AC3E}">
        <p14:creationId xmlns:p14="http://schemas.microsoft.com/office/powerpoint/2010/main" val="376140976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47515F-4A58-DFA9-F4DC-FA2F57C2B8AC}"/>
              </a:ext>
            </a:extLst>
          </p:cNvPr>
          <p:cNvSpPr>
            <a:spLocks noGrp="1"/>
          </p:cNvSpPr>
          <p:nvPr>
            <p:ph type="title"/>
          </p:nvPr>
        </p:nvSpPr>
        <p:spPr>
          <a:xfrm>
            <a:off x="1568147" y="129612"/>
            <a:ext cx="8911687" cy="1280890"/>
          </a:xfrm>
        </p:spPr>
        <p:txBody>
          <a:bodyPr/>
          <a:lstStyle/>
          <a:p>
            <a:endParaRPr lang="en-US" dirty="0"/>
          </a:p>
        </p:txBody>
      </p:sp>
      <p:pic>
        <p:nvPicPr>
          <p:cNvPr id="19" name="Content Placeholder 18">
            <a:extLst>
              <a:ext uri="{FF2B5EF4-FFF2-40B4-BE49-F238E27FC236}">
                <a16:creationId xmlns:a16="http://schemas.microsoft.com/office/drawing/2014/main" id="{E05BC7E6-E65E-0B72-CDD5-AE3F428BB4CE}"/>
              </a:ext>
            </a:extLst>
          </p:cNvPr>
          <p:cNvPicPr>
            <a:picLocks noGrp="1" noChangeAspect="1"/>
          </p:cNvPicPr>
          <p:nvPr>
            <p:ph idx="1"/>
          </p:nvPr>
        </p:nvPicPr>
        <p:blipFill>
          <a:blip r:embed="rId2"/>
          <a:stretch>
            <a:fillRect/>
          </a:stretch>
        </p:blipFill>
        <p:spPr>
          <a:xfrm>
            <a:off x="5982408" y="2664542"/>
            <a:ext cx="6113989" cy="3439119"/>
          </a:xfrm>
        </p:spPr>
      </p:pic>
      <p:pic>
        <p:nvPicPr>
          <p:cNvPr id="4" name="Picture 3">
            <a:extLst>
              <a:ext uri="{FF2B5EF4-FFF2-40B4-BE49-F238E27FC236}">
                <a16:creationId xmlns:a16="http://schemas.microsoft.com/office/drawing/2014/main" id="{0A5EF682-BBC6-BC89-A815-2405B3BFA89F}"/>
              </a:ext>
            </a:extLst>
          </p:cNvPr>
          <p:cNvPicPr>
            <a:picLocks noChangeAspect="1"/>
          </p:cNvPicPr>
          <p:nvPr/>
        </p:nvPicPr>
        <p:blipFill rotWithShape="1">
          <a:blip r:embed="rId3">
            <a:extLst>
              <a:ext uri="{28A0092B-C50C-407E-A947-70E740481C1C}">
                <a14:useLocalDpi xmlns:a14="http://schemas.microsoft.com/office/drawing/2010/main" val="0"/>
              </a:ext>
            </a:extLst>
          </a:blip>
          <a:srcRect l="7632" t="6513" r="14801" b="12673"/>
          <a:stretch/>
        </p:blipFill>
        <p:spPr>
          <a:xfrm>
            <a:off x="11003168" y="6329803"/>
            <a:ext cx="1002890" cy="342928"/>
          </a:xfrm>
          <a:prstGeom prst="rect">
            <a:avLst/>
          </a:prstGeom>
        </p:spPr>
      </p:pic>
      <p:sp>
        <p:nvSpPr>
          <p:cNvPr id="5" name="TextBox 4">
            <a:extLst>
              <a:ext uri="{FF2B5EF4-FFF2-40B4-BE49-F238E27FC236}">
                <a16:creationId xmlns:a16="http://schemas.microsoft.com/office/drawing/2014/main" id="{CED2CCDC-C02F-B3A1-A3C5-707DECA064F1}"/>
              </a:ext>
            </a:extLst>
          </p:cNvPr>
          <p:cNvSpPr txBox="1"/>
          <p:nvPr/>
        </p:nvSpPr>
        <p:spPr>
          <a:xfrm>
            <a:off x="-30367" y="770057"/>
            <a:ext cx="1741230" cy="369332"/>
          </a:xfrm>
          <a:prstGeom prst="rect">
            <a:avLst/>
          </a:prstGeom>
          <a:noFill/>
        </p:spPr>
        <p:txBody>
          <a:bodyPr wrap="square" rtlCol="0">
            <a:spAutoFit/>
          </a:bodyPr>
          <a:lstStyle/>
          <a:p>
            <a:r>
              <a:rPr lang="en-US" sz="1800" dirty="0">
                <a:solidFill>
                  <a:schemeClr val="bg1"/>
                </a:solidFill>
                <a:effectLst/>
                <a:latin typeface="Bookman Old Style" panose="02050604050505020204" pitchFamily="18" charset="0"/>
                <a:ea typeface="Calibri" panose="020F0502020204030204" pitchFamily="34" charset="0"/>
              </a:rPr>
              <a:t>22AM2305</a:t>
            </a:r>
            <a:endParaRPr lang="en-IN" dirty="0">
              <a:solidFill>
                <a:schemeClr val="bg1"/>
              </a:solidFill>
              <a:latin typeface="Bookman Old Style" panose="02050604050505020204" pitchFamily="18" charset="0"/>
            </a:endParaRPr>
          </a:p>
        </p:txBody>
      </p:sp>
      <p:pic>
        <p:nvPicPr>
          <p:cNvPr id="6" name="Picture 2" descr="logo">
            <a:extLst>
              <a:ext uri="{FF2B5EF4-FFF2-40B4-BE49-F238E27FC236}">
                <a16:creationId xmlns:a16="http://schemas.microsoft.com/office/drawing/2014/main" id="{747D0EEE-BA48-499F-B84C-D20F74CB5DB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052799" y="89593"/>
            <a:ext cx="1070381" cy="1049796"/>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a:extLst>
              <a:ext uri="{FF2B5EF4-FFF2-40B4-BE49-F238E27FC236}">
                <a16:creationId xmlns:a16="http://schemas.microsoft.com/office/drawing/2014/main" id="{B8E50AC5-8D2A-6A5D-796D-B6863CA3B31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123180" y="89593"/>
            <a:ext cx="941000" cy="960203"/>
          </a:xfrm>
          <a:prstGeom prst="rect">
            <a:avLst/>
          </a:prstGeom>
        </p:spPr>
      </p:pic>
      <p:sp>
        <p:nvSpPr>
          <p:cNvPr id="9" name="AutoShape 2" descr="C        ">
            <a:extLst>
              <a:ext uri="{FF2B5EF4-FFF2-40B4-BE49-F238E27FC236}">
                <a16:creationId xmlns:a16="http://schemas.microsoft.com/office/drawing/2014/main" id="{540BB0E8-0796-853F-2A62-EAF7473E7596}"/>
              </a:ext>
            </a:extLst>
          </p:cNvPr>
          <p:cNvSpPr>
            <a:spLocks noChangeAspect="1" noChangeArrowheads="1"/>
          </p:cNvSpPr>
          <p:nvPr/>
        </p:nvSpPr>
        <p:spPr bwMode="auto">
          <a:xfrm>
            <a:off x="2303002" y="4837273"/>
            <a:ext cx="180975" cy="17145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0" name="AutoShape 3" descr="\varepsilon        ">
            <a:extLst>
              <a:ext uri="{FF2B5EF4-FFF2-40B4-BE49-F238E27FC236}">
                <a16:creationId xmlns:a16="http://schemas.microsoft.com/office/drawing/2014/main" id="{9184E9D1-0484-B3F6-21E8-7AAC8575A33F}"/>
              </a:ext>
            </a:extLst>
          </p:cNvPr>
          <p:cNvSpPr>
            <a:spLocks noChangeAspect="1" noChangeArrowheads="1"/>
          </p:cNvSpPr>
          <p:nvPr/>
        </p:nvSpPr>
        <p:spPr bwMode="auto">
          <a:xfrm>
            <a:off x="2045827" y="5019835"/>
            <a:ext cx="114300" cy="1143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1" name="AutoShape 4" descr="C / \varepsilon =        ">
            <a:extLst>
              <a:ext uri="{FF2B5EF4-FFF2-40B4-BE49-F238E27FC236}">
                <a16:creationId xmlns:a16="http://schemas.microsoft.com/office/drawing/2014/main" id="{6E8B9387-7620-2B63-242F-6BDEF473EC05}"/>
              </a:ext>
            </a:extLst>
          </p:cNvPr>
          <p:cNvSpPr>
            <a:spLocks noChangeAspect="1" noChangeArrowheads="1"/>
          </p:cNvSpPr>
          <p:nvPr/>
        </p:nvSpPr>
        <p:spPr bwMode="auto">
          <a:xfrm>
            <a:off x="2433177" y="5202398"/>
            <a:ext cx="676275" cy="25717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2" name="AutoShape 5" descr="T(n) = O(n^C ^/ ^\varepsilon)        ">
            <a:extLst>
              <a:ext uri="{FF2B5EF4-FFF2-40B4-BE49-F238E27FC236}">
                <a16:creationId xmlns:a16="http://schemas.microsoft.com/office/drawing/2014/main" id="{56F3E2F7-A419-CB2C-DF2F-A0D766C1E075}"/>
              </a:ext>
            </a:extLst>
          </p:cNvPr>
          <p:cNvSpPr>
            <a:spLocks noChangeAspect="1" noChangeArrowheads="1"/>
          </p:cNvSpPr>
          <p:nvPr/>
        </p:nvSpPr>
        <p:spPr bwMode="auto">
          <a:xfrm>
            <a:off x="3482515" y="5446873"/>
            <a:ext cx="1762125"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3" name="AutoShape 6" descr="S(n) = O(n^C ^/ ^\varepsilon)       ">
            <a:extLst>
              <a:ext uri="{FF2B5EF4-FFF2-40B4-BE49-F238E27FC236}">
                <a16:creationId xmlns:a16="http://schemas.microsoft.com/office/drawing/2014/main" id="{340A4BDB-58ED-6B68-BE42-B327638742C2}"/>
              </a:ext>
            </a:extLst>
          </p:cNvPr>
          <p:cNvSpPr>
            <a:spLocks noChangeAspect="1" noChangeArrowheads="1"/>
          </p:cNvSpPr>
          <p:nvPr/>
        </p:nvSpPr>
        <p:spPr bwMode="auto">
          <a:xfrm>
            <a:off x="6951202" y="5446873"/>
            <a:ext cx="173355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6" name="Picture 15">
            <a:extLst>
              <a:ext uri="{FF2B5EF4-FFF2-40B4-BE49-F238E27FC236}">
                <a16:creationId xmlns:a16="http://schemas.microsoft.com/office/drawing/2014/main" id="{ECA2B643-F718-37F0-B6F9-66782F9648F6}"/>
              </a:ext>
            </a:extLst>
          </p:cNvPr>
          <p:cNvPicPr>
            <a:picLocks noChangeAspect="1"/>
          </p:cNvPicPr>
          <p:nvPr/>
        </p:nvPicPr>
        <p:blipFill rotWithShape="1">
          <a:blip r:embed="rId6"/>
          <a:srcRect l="28059" t="6022" r="12861" b="7702"/>
          <a:stretch/>
        </p:blipFill>
        <p:spPr>
          <a:xfrm>
            <a:off x="111126" y="1225037"/>
            <a:ext cx="5719404" cy="4021484"/>
          </a:xfrm>
          <a:prstGeom prst="rect">
            <a:avLst/>
          </a:prstGeom>
        </p:spPr>
      </p:pic>
    </p:spTree>
    <p:extLst>
      <p:ext uri="{BB962C8B-B14F-4D97-AF65-F5344CB8AC3E}">
        <p14:creationId xmlns:p14="http://schemas.microsoft.com/office/powerpoint/2010/main" val="181066543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47515F-4A58-DFA9-F4DC-FA2F57C2B8AC}"/>
              </a:ext>
            </a:extLst>
          </p:cNvPr>
          <p:cNvSpPr>
            <a:spLocks noGrp="1"/>
          </p:cNvSpPr>
          <p:nvPr>
            <p:ph type="title"/>
          </p:nvPr>
        </p:nvSpPr>
        <p:spPr>
          <a:xfrm>
            <a:off x="1568147" y="129612"/>
            <a:ext cx="8911687" cy="1280890"/>
          </a:xfrm>
        </p:spPr>
        <p:txBody>
          <a:bodyPr/>
          <a:lstStyle/>
          <a:p>
            <a:endParaRPr lang="en-US" dirty="0"/>
          </a:p>
        </p:txBody>
      </p:sp>
      <p:pic>
        <p:nvPicPr>
          <p:cNvPr id="4" name="Picture 3">
            <a:extLst>
              <a:ext uri="{FF2B5EF4-FFF2-40B4-BE49-F238E27FC236}">
                <a16:creationId xmlns:a16="http://schemas.microsoft.com/office/drawing/2014/main" id="{0A5EF682-BBC6-BC89-A815-2405B3BFA89F}"/>
              </a:ext>
            </a:extLst>
          </p:cNvPr>
          <p:cNvPicPr>
            <a:picLocks noChangeAspect="1"/>
          </p:cNvPicPr>
          <p:nvPr/>
        </p:nvPicPr>
        <p:blipFill rotWithShape="1">
          <a:blip r:embed="rId2">
            <a:extLst>
              <a:ext uri="{28A0092B-C50C-407E-A947-70E740481C1C}">
                <a14:useLocalDpi xmlns:a14="http://schemas.microsoft.com/office/drawing/2010/main" val="0"/>
              </a:ext>
            </a:extLst>
          </a:blip>
          <a:srcRect l="7632" t="6513" r="14801" b="12673"/>
          <a:stretch/>
        </p:blipFill>
        <p:spPr>
          <a:xfrm>
            <a:off x="11003168" y="6329803"/>
            <a:ext cx="1002890" cy="342928"/>
          </a:xfrm>
          <a:prstGeom prst="rect">
            <a:avLst/>
          </a:prstGeom>
        </p:spPr>
      </p:pic>
      <p:sp>
        <p:nvSpPr>
          <p:cNvPr id="5" name="TextBox 4">
            <a:extLst>
              <a:ext uri="{FF2B5EF4-FFF2-40B4-BE49-F238E27FC236}">
                <a16:creationId xmlns:a16="http://schemas.microsoft.com/office/drawing/2014/main" id="{CED2CCDC-C02F-B3A1-A3C5-707DECA064F1}"/>
              </a:ext>
            </a:extLst>
          </p:cNvPr>
          <p:cNvSpPr txBox="1"/>
          <p:nvPr/>
        </p:nvSpPr>
        <p:spPr>
          <a:xfrm>
            <a:off x="-30367" y="770057"/>
            <a:ext cx="1741230" cy="369332"/>
          </a:xfrm>
          <a:prstGeom prst="rect">
            <a:avLst/>
          </a:prstGeom>
          <a:noFill/>
        </p:spPr>
        <p:txBody>
          <a:bodyPr wrap="square" rtlCol="0">
            <a:spAutoFit/>
          </a:bodyPr>
          <a:lstStyle/>
          <a:p>
            <a:r>
              <a:rPr lang="en-US" sz="1800" dirty="0">
                <a:solidFill>
                  <a:schemeClr val="bg1"/>
                </a:solidFill>
                <a:effectLst/>
                <a:latin typeface="Bookman Old Style" panose="02050604050505020204" pitchFamily="18" charset="0"/>
                <a:ea typeface="Calibri" panose="020F0502020204030204" pitchFamily="34" charset="0"/>
              </a:rPr>
              <a:t>22AM2305</a:t>
            </a:r>
            <a:endParaRPr lang="en-IN" dirty="0">
              <a:solidFill>
                <a:schemeClr val="bg1"/>
              </a:solidFill>
              <a:latin typeface="Bookman Old Style" panose="02050604050505020204" pitchFamily="18" charset="0"/>
            </a:endParaRPr>
          </a:p>
        </p:txBody>
      </p:sp>
      <p:pic>
        <p:nvPicPr>
          <p:cNvPr id="6" name="Picture 2" descr="logo">
            <a:extLst>
              <a:ext uri="{FF2B5EF4-FFF2-40B4-BE49-F238E27FC236}">
                <a16:creationId xmlns:a16="http://schemas.microsoft.com/office/drawing/2014/main" id="{747D0EEE-BA48-499F-B84C-D20F74CB5DB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52799" y="89593"/>
            <a:ext cx="1070381" cy="1049796"/>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a:extLst>
              <a:ext uri="{FF2B5EF4-FFF2-40B4-BE49-F238E27FC236}">
                <a16:creationId xmlns:a16="http://schemas.microsoft.com/office/drawing/2014/main" id="{B8E50AC5-8D2A-6A5D-796D-B6863CA3B31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123180" y="89593"/>
            <a:ext cx="941000" cy="960203"/>
          </a:xfrm>
          <a:prstGeom prst="rect">
            <a:avLst/>
          </a:prstGeom>
        </p:spPr>
      </p:pic>
      <p:sp>
        <p:nvSpPr>
          <p:cNvPr id="9" name="AutoShape 2" descr="C        ">
            <a:extLst>
              <a:ext uri="{FF2B5EF4-FFF2-40B4-BE49-F238E27FC236}">
                <a16:creationId xmlns:a16="http://schemas.microsoft.com/office/drawing/2014/main" id="{540BB0E8-0796-853F-2A62-EAF7473E7596}"/>
              </a:ext>
            </a:extLst>
          </p:cNvPr>
          <p:cNvSpPr>
            <a:spLocks noChangeAspect="1" noChangeArrowheads="1"/>
          </p:cNvSpPr>
          <p:nvPr/>
        </p:nvSpPr>
        <p:spPr bwMode="auto">
          <a:xfrm>
            <a:off x="2303002" y="4837273"/>
            <a:ext cx="180975" cy="17145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0" name="AutoShape 3" descr="\varepsilon        ">
            <a:extLst>
              <a:ext uri="{FF2B5EF4-FFF2-40B4-BE49-F238E27FC236}">
                <a16:creationId xmlns:a16="http://schemas.microsoft.com/office/drawing/2014/main" id="{9184E9D1-0484-B3F6-21E8-7AAC8575A33F}"/>
              </a:ext>
            </a:extLst>
          </p:cNvPr>
          <p:cNvSpPr>
            <a:spLocks noChangeAspect="1" noChangeArrowheads="1"/>
          </p:cNvSpPr>
          <p:nvPr/>
        </p:nvSpPr>
        <p:spPr bwMode="auto">
          <a:xfrm>
            <a:off x="2045827" y="5019835"/>
            <a:ext cx="114300" cy="1143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1" name="AutoShape 4" descr="C / \varepsilon =        ">
            <a:extLst>
              <a:ext uri="{FF2B5EF4-FFF2-40B4-BE49-F238E27FC236}">
                <a16:creationId xmlns:a16="http://schemas.microsoft.com/office/drawing/2014/main" id="{6E8B9387-7620-2B63-242F-6BDEF473EC05}"/>
              </a:ext>
            </a:extLst>
          </p:cNvPr>
          <p:cNvSpPr>
            <a:spLocks noChangeAspect="1" noChangeArrowheads="1"/>
          </p:cNvSpPr>
          <p:nvPr/>
        </p:nvSpPr>
        <p:spPr bwMode="auto">
          <a:xfrm>
            <a:off x="2433177" y="5202398"/>
            <a:ext cx="676275" cy="25717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2" name="AutoShape 5" descr="T(n) = O(n^C ^/ ^\varepsilon)        ">
            <a:extLst>
              <a:ext uri="{FF2B5EF4-FFF2-40B4-BE49-F238E27FC236}">
                <a16:creationId xmlns:a16="http://schemas.microsoft.com/office/drawing/2014/main" id="{56F3E2F7-A419-CB2C-DF2F-A0D766C1E075}"/>
              </a:ext>
            </a:extLst>
          </p:cNvPr>
          <p:cNvSpPr>
            <a:spLocks noChangeAspect="1" noChangeArrowheads="1"/>
          </p:cNvSpPr>
          <p:nvPr/>
        </p:nvSpPr>
        <p:spPr bwMode="auto">
          <a:xfrm>
            <a:off x="3482515" y="5446873"/>
            <a:ext cx="1762125"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3" name="AutoShape 6" descr="S(n) = O(n^C ^/ ^\varepsilon)       ">
            <a:extLst>
              <a:ext uri="{FF2B5EF4-FFF2-40B4-BE49-F238E27FC236}">
                <a16:creationId xmlns:a16="http://schemas.microsoft.com/office/drawing/2014/main" id="{340A4BDB-58ED-6B68-BE42-B327638742C2}"/>
              </a:ext>
            </a:extLst>
          </p:cNvPr>
          <p:cNvSpPr>
            <a:spLocks noChangeAspect="1" noChangeArrowheads="1"/>
          </p:cNvSpPr>
          <p:nvPr/>
        </p:nvSpPr>
        <p:spPr bwMode="auto">
          <a:xfrm>
            <a:off x="6951202" y="5446873"/>
            <a:ext cx="173355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21" name="Picture 20">
            <a:extLst>
              <a:ext uri="{FF2B5EF4-FFF2-40B4-BE49-F238E27FC236}">
                <a16:creationId xmlns:a16="http://schemas.microsoft.com/office/drawing/2014/main" id="{3C652C1F-D63A-9280-B2A8-19A29DCABD9E}"/>
              </a:ext>
            </a:extLst>
          </p:cNvPr>
          <p:cNvPicPr>
            <a:picLocks noChangeAspect="1"/>
          </p:cNvPicPr>
          <p:nvPr/>
        </p:nvPicPr>
        <p:blipFill rotWithShape="1">
          <a:blip r:embed="rId5"/>
          <a:srcRect l="11613" t="33776" r="11963" b="6479"/>
          <a:stretch/>
        </p:blipFill>
        <p:spPr>
          <a:xfrm>
            <a:off x="112201" y="1410502"/>
            <a:ext cx="5132439" cy="4341171"/>
          </a:xfrm>
          <a:prstGeom prst="rect">
            <a:avLst/>
          </a:prstGeom>
        </p:spPr>
      </p:pic>
      <p:sp>
        <p:nvSpPr>
          <p:cNvPr id="8" name="Content Placeholder 7">
            <a:extLst>
              <a:ext uri="{FF2B5EF4-FFF2-40B4-BE49-F238E27FC236}">
                <a16:creationId xmlns:a16="http://schemas.microsoft.com/office/drawing/2014/main" id="{5C54F791-62B6-98A8-9C5D-84632DA2191D}"/>
              </a:ext>
            </a:extLst>
          </p:cNvPr>
          <p:cNvSpPr>
            <a:spLocks noGrp="1"/>
          </p:cNvSpPr>
          <p:nvPr>
            <p:ph idx="1"/>
          </p:nvPr>
        </p:nvSpPr>
        <p:spPr/>
        <p:txBody>
          <a:bodyPr/>
          <a:lstStyle/>
          <a:p>
            <a:endParaRPr lang="en-US" dirty="0"/>
          </a:p>
        </p:txBody>
      </p:sp>
      <p:pic>
        <p:nvPicPr>
          <p:cNvPr id="15" name="Picture 14">
            <a:extLst>
              <a:ext uri="{FF2B5EF4-FFF2-40B4-BE49-F238E27FC236}">
                <a16:creationId xmlns:a16="http://schemas.microsoft.com/office/drawing/2014/main" id="{CCB42B5B-9753-2817-DA43-171B57353C47}"/>
              </a:ext>
            </a:extLst>
          </p:cNvPr>
          <p:cNvPicPr>
            <a:picLocks noChangeAspect="1"/>
          </p:cNvPicPr>
          <p:nvPr/>
        </p:nvPicPr>
        <p:blipFill rotWithShape="1">
          <a:blip r:embed="rId6"/>
          <a:srcRect l="12433" t="6147" r="12740" b="6540"/>
          <a:stretch/>
        </p:blipFill>
        <p:spPr>
          <a:xfrm>
            <a:off x="5739995" y="2404713"/>
            <a:ext cx="5853685" cy="3842167"/>
          </a:xfrm>
          <a:prstGeom prst="rect">
            <a:avLst/>
          </a:prstGeom>
        </p:spPr>
      </p:pic>
    </p:spTree>
    <p:extLst>
      <p:ext uri="{BB962C8B-B14F-4D97-AF65-F5344CB8AC3E}">
        <p14:creationId xmlns:p14="http://schemas.microsoft.com/office/powerpoint/2010/main" val="305875704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47515F-4A58-DFA9-F4DC-FA2F57C2B8AC}"/>
              </a:ext>
            </a:extLst>
          </p:cNvPr>
          <p:cNvSpPr>
            <a:spLocks noGrp="1"/>
          </p:cNvSpPr>
          <p:nvPr>
            <p:ph type="title"/>
          </p:nvPr>
        </p:nvSpPr>
        <p:spPr>
          <a:xfrm>
            <a:off x="1568147" y="129612"/>
            <a:ext cx="8911687" cy="1280890"/>
          </a:xfrm>
        </p:spPr>
        <p:txBody>
          <a:bodyPr/>
          <a:lstStyle/>
          <a:p>
            <a:endParaRPr lang="en-US" dirty="0"/>
          </a:p>
        </p:txBody>
      </p:sp>
      <p:pic>
        <p:nvPicPr>
          <p:cNvPr id="4" name="Picture 3">
            <a:extLst>
              <a:ext uri="{FF2B5EF4-FFF2-40B4-BE49-F238E27FC236}">
                <a16:creationId xmlns:a16="http://schemas.microsoft.com/office/drawing/2014/main" id="{0A5EF682-BBC6-BC89-A815-2405B3BFA89F}"/>
              </a:ext>
            </a:extLst>
          </p:cNvPr>
          <p:cNvPicPr>
            <a:picLocks noChangeAspect="1"/>
          </p:cNvPicPr>
          <p:nvPr/>
        </p:nvPicPr>
        <p:blipFill rotWithShape="1">
          <a:blip r:embed="rId2">
            <a:extLst>
              <a:ext uri="{28A0092B-C50C-407E-A947-70E740481C1C}">
                <a14:useLocalDpi xmlns:a14="http://schemas.microsoft.com/office/drawing/2010/main" val="0"/>
              </a:ext>
            </a:extLst>
          </a:blip>
          <a:srcRect l="7632" t="6513" r="14801" b="12673"/>
          <a:stretch/>
        </p:blipFill>
        <p:spPr>
          <a:xfrm>
            <a:off x="11003168" y="6329803"/>
            <a:ext cx="1002890" cy="342928"/>
          </a:xfrm>
          <a:prstGeom prst="rect">
            <a:avLst/>
          </a:prstGeom>
        </p:spPr>
      </p:pic>
      <p:sp>
        <p:nvSpPr>
          <p:cNvPr id="5" name="TextBox 4">
            <a:extLst>
              <a:ext uri="{FF2B5EF4-FFF2-40B4-BE49-F238E27FC236}">
                <a16:creationId xmlns:a16="http://schemas.microsoft.com/office/drawing/2014/main" id="{CED2CCDC-C02F-B3A1-A3C5-707DECA064F1}"/>
              </a:ext>
            </a:extLst>
          </p:cNvPr>
          <p:cNvSpPr txBox="1"/>
          <p:nvPr/>
        </p:nvSpPr>
        <p:spPr>
          <a:xfrm>
            <a:off x="-30367" y="770057"/>
            <a:ext cx="1741230" cy="369332"/>
          </a:xfrm>
          <a:prstGeom prst="rect">
            <a:avLst/>
          </a:prstGeom>
          <a:noFill/>
        </p:spPr>
        <p:txBody>
          <a:bodyPr wrap="square" rtlCol="0">
            <a:spAutoFit/>
          </a:bodyPr>
          <a:lstStyle/>
          <a:p>
            <a:r>
              <a:rPr lang="en-US" sz="1800" dirty="0">
                <a:solidFill>
                  <a:schemeClr val="bg1"/>
                </a:solidFill>
                <a:effectLst/>
                <a:latin typeface="Bookman Old Style" panose="02050604050505020204" pitchFamily="18" charset="0"/>
                <a:ea typeface="Calibri" panose="020F0502020204030204" pitchFamily="34" charset="0"/>
              </a:rPr>
              <a:t>22AM2305</a:t>
            </a:r>
            <a:endParaRPr lang="en-IN" dirty="0">
              <a:solidFill>
                <a:schemeClr val="bg1"/>
              </a:solidFill>
              <a:latin typeface="Bookman Old Style" panose="02050604050505020204" pitchFamily="18" charset="0"/>
            </a:endParaRPr>
          </a:p>
        </p:txBody>
      </p:sp>
      <p:pic>
        <p:nvPicPr>
          <p:cNvPr id="6" name="Picture 2" descr="logo">
            <a:extLst>
              <a:ext uri="{FF2B5EF4-FFF2-40B4-BE49-F238E27FC236}">
                <a16:creationId xmlns:a16="http://schemas.microsoft.com/office/drawing/2014/main" id="{747D0EEE-BA48-499F-B84C-D20F74CB5DB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52799" y="89593"/>
            <a:ext cx="1070381" cy="1049796"/>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a:extLst>
              <a:ext uri="{FF2B5EF4-FFF2-40B4-BE49-F238E27FC236}">
                <a16:creationId xmlns:a16="http://schemas.microsoft.com/office/drawing/2014/main" id="{B8E50AC5-8D2A-6A5D-796D-B6863CA3B31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123180" y="89593"/>
            <a:ext cx="941000" cy="960203"/>
          </a:xfrm>
          <a:prstGeom prst="rect">
            <a:avLst/>
          </a:prstGeom>
        </p:spPr>
      </p:pic>
      <p:sp>
        <p:nvSpPr>
          <p:cNvPr id="9" name="AutoShape 2" descr="C        ">
            <a:extLst>
              <a:ext uri="{FF2B5EF4-FFF2-40B4-BE49-F238E27FC236}">
                <a16:creationId xmlns:a16="http://schemas.microsoft.com/office/drawing/2014/main" id="{540BB0E8-0796-853F-2A62-EAF7473E7596}"/>
              </a:ext>
            </a:extLst>
          </p:cNvPr>
          <p:cNvSpPr>
            <a:spLocks noChangeAspect="1" noChangeArrowheads="1"/>
          </p:cNvSpPr>
          <p:nvPr/>
        </p:nvSpPr>
        <p:spPr bwMode="auto">
          <a:xfrm>
            <a:off x="2303002" y="4837273"/>
            <a:ext cx="180975" cy="17145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0" name="AutoShape 3" descr="\varepsilon        ">
            <a:extLst>
              <a:ext uri="{FF2B5EF4-FFF2-40B4-BE49-F238E27FC236}">
                <a16:creationId xmlns:a16="http://schemas.microsoft.com/office/drawing/2014/main" id="{9184E9D1-0484-B3F6-21E8-7AAC8575A33F}"/>
              </a:ext>
            </a:extLst>
          </p:cNvPr>
          <p:cNvSpPr>
            <a:spLocks noChangeAspect="1" noChangeArrowheads="1"/>
          </p:cNvSpPr>
          <p:nvPr/>
        </p:nvSpPr>
        <p:spPr bwMode="auto">
          <a:xfrm>
            <a:off x="2045827" y="5019835"/>
            <a:ext cx="114300" cy="1143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1" name="AutoShape 4" descr="C / \varepsilon =        ">
            <a:extLst>
              <a:ext uri="{FF2B5EF4-FFF2-40B4-BE49-F238E27FC236}">
                <a16:creationId xmlns:a16="http://schemas.microsoft.com/office/drawing/2014/main" id="{6E8B9387-7620-2B63-242F-6BDEF473EC05}"/>
              </a:ext>
            </a:extLst>
          </p:cNvPr>
          <p:cNvSpPr>
            <a:spLocks noChangeAspect="1" noChangeArrowheads="1"/>
          </p:cNvSpPr>
          <p:nvPr/>
        </p:nvSpPr>
        <p:spPr bwMode="auto">
          <a:xfrm>
            <a:off x="2433177" y="5202398"/>
            <a:ext cx="676275" cy="25717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2" name="AutoShape 5" descr="T(n) = O(n^C ^/ ^\varepsilon)        ">
            <a:extLst>
              <a:ext uri="{FF2B5EF4-FFF2-40B4-BE49-F238E27FC236}">
                <a16:creationId xmlns:a16="http://schemas.microsoft.com/office/drawing/2014/main" id="{56F3E2F7-A419-CB2C-DF2F-A0D766C1E075}"/>
              </a:ext>
            </a:extLst>
          </p:cNvPr>
          <p:cNvSpPr>
            <a:spLocks noChangeAspect="1" noChangeArrowheads="1"/>
          </p:cNvSpPr>
          <p:nvPr/>
        </p:nvSpPr>
        <p:spPr bwMode="auto">
          <a:xfrm>
            <a:off x="3482515" y="5446873"/>
            <a:ext cx="1762125"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3" name="AutoShape 6" descr="S(n) = O(n^C ^/ ^\varepsilon)       ">
            <a:extLst>
              <a:ext uri="{FF2B5EF4-FFF2-40B4-BE49-F238E27FC236}">
                <a16:creationId xmlns:a16="http://schemas.microsoft.com/office/drawing/2014/main" id="{340A4BDB-58ED-6B68-BE42-B327638742C2}"/>
              </a:ext>
            </a:extLst>
          </p:cNvPr>
          <p:cNvSpPr>
            <a:spLocks noChangeAspect="1" noChangeArrowheads="1"/>
          </p:cNvSpPr>
          <p:nvPr/>
        </p:nvSpPr>
        <p:spPr bwMode="auto">
          <a:xfrm>
            <a:off x="6951202" y="5446873"/>
            <a:ext cx="173355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 name="Content Placeholder 7">
            <a:extLst>
              <a:ext uri="{FF2B5EF4-FFF2-40B4-BE49-F238E27FC236}">
                <a16:creationId xmlns:a16="http://schemas.microsoft.com/office/drawing/2014/main" id="{5C54F791-62B6-98A8-9C5D-84632DA2191D}"/>
              </a:ext>
            </a:extLst>
          </p:cNvPr>
          <p:cNvSpPr>
            <a:spLocks noGrp="1"/>
          </p:cNvSpPr>
          <p:nvPr>
            <p:ph idx="1"/>
          </p:nvPr>
        </p:nvSpPr>
        <p:spPr/>
        <p:txBody>
          <a:bodyPr/>
          <a:lstStyle/>
          <a:p>
            <a:endParaRPr lang="en-US" dirty="0"/>
          </a:p>
        </p:txBody>
      </p:sp>
      <p:pic>
        <p:nvPicPr>
          <p:cNvPr id="18" name="Picture 17">
            <a:extLst>
              <a:ext uri="{FF2B5EF4-FFF2-40B4-BE49-F238E27FC236}">
                <a16:creationId xmlns:a16="http://schemas.microsoft.com/office/drawing/2014/main" id="{0FB8D765-3A9C-1CC9-5800-A5CAD346F117}"/>
              </a:ext>
            </a:extLst>
          </p:cNvPr>
          <p:cNvPicPr>
            <a:picLocks noChangeAspect="1"/>
          </p:cNvPicPr>
          <p:nvPr/>
        </p:nvPicPr>
        <p:blipFill rotWithShape="1">
          <a:blip r:embed="rId5"/>
          <a:srcRect l="13019" r="12189" b="3340"/>
          <a:stretch/>
        </p:blipFill>
        <p:spPr>
          <a:xfrm>
            <a:off x="1816098" y="129612"/>
            <a:ext cx="8100346" cy="5888616"/>
          </a:xfrm>
          <a:prstGeom prst="rect">
            <a:avLst/>
          </a:prstGeom>
        </p:spPr>
      </p:pic>
      <p:sp>
        <p:nvSpPr>
          <p:cNvPr id="14" name="TextBox 13">
            <a:extLst>
              <a:ext uri="{FF2B5EF4-FFF2-40B4-BE49-F238E27FC236}">
                <a16:creationId xmlns:a16="http://schemas.microsoft.com/office/drawing/2014/main" id="{BDABD084-BF2D-F3EC-E975-6118732FAECF}"/>
              </a:ext>
            </a:extLst>
          </p:cNvPr>
          <p:cNvSpPr txBox="1"/>
          <p:nvPr/>
        </p:nvSpPr>
        <p:spPr>
          <a:xfrm>
            <a:off x="1410427" y="6072567"/>
            <a:ext cx="8911687" cy="600164"/>
          </a:xfrm>
          <a:prstGeom prst="rect">
            <a:avLst/>
          </a:prstGeom>
          <a:noFill/>
        </p:spPr>
        <p:txBody>
          <a:bodyPr wrap="square">
            <a:spAutoFit/>
          </a:bodyPr>
          <a:lstStyle/>
          <a:p>
            <a:r>
              <a:rPr lang="en-US" sz="1100" dirty="0"/>
              <a:t>https://www.google.com/search?q=complete+information+on+breadth+first+search+(bfs)&amp;rlz=1C1UEAD_enIN1034IN1034&amp;oq=complete+information+on+breadth&amp;gs_lcrp=EgZjaHJvbWUqBwgCECEYoAEyBggAEEUYOTIHCAEQIRigATIHCAIQIRigATIHCAMQIRiPAjIHCAQQIRiPAtIBCTIzMjM4ajFqN6gCALACAA&amp;sourceid=chrome&amp;ie=UTF-8#fpstate=ive&amp;vld=cid:31d63990,vid:oDqjPvD54Ss,st:0 </a:t>
            </a:r>
          </a:p>
        </p:txBody>
      </p:sp>
    </p:spTree>
    <p:extLst>
      <p:ext uri="{BB962C8B-B14F-4D97-AF65-F5344CB8AC3E}">
        <p14:creationId xmlns:p14="http://schemas.microsoft.com/office/powerpoint/2010/main" val="154022854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47515F-4A58-DFA9-F4DC-FA2F57C2B8AC}"/>
              </a:ext>
            </a:extLst>
          </p:cNvPr>
          <p:cNvSpPr>
            <a:spLocks noGrp="1"/>
          </p:cNvSpPr>
          <p:nvPr>
            <p:ph type="title"/>
          </p:nvPr>
        </p:nvSpPr>
        <p:spPr>
          <a:xfrm>
            <a:off x="1568147" y="129612"/>
            <a:ext cx="8911687" cy="1280890"/>
          </a:xfrm>
        </p:spPr>
        <p:txBody>
          <a:bodyPr/>
          <a:lstStyle/>
          <a:p>
            <a:r>
              <a:rPr lang="en-US" b="1" i="0" dirty="0">
                <a:solidFill>
                  <a:srgbClr val="273239"/>
                </a:solidFill>
                <a:effectLst/>
                <a:latin typeface="Nunito" pitchFamily="2" charset="0"/>
              </a:rPr>
              <a:t>How does BFS work?</a:t>
            </a:r>
            <a:endParaRPr lang="en-US" dirty="0"/>
          </a:p>
        </p:txBody>
      </p:sp>
      <p:sp>
        <p:nvSpPr>
          <p:cNvPr id="3" name="Content Placeholder 2">
            <a:extLst>
              <a:ext uri="{FF2B5EF4-FFF2-40B4-BE49-F238E27FC236}">
                <a16:creationId xmlns:a16="http://schemas.microsoft.com/office/drawing/2014/main" id="{CD8527A1-EA1C-ABF8-E388-1F26941C7D64}"/>
              </a:ext>
            </a:extLst>
          </p:cNvPr>
          <p:cNvSpPr>
            <a:spLocks noGrp="1"/>
          </p:cNvSpPr>
          <p:nvPr>
            <p:ph idx="1"/>
          </p:nvPr>
        </p:nvSpPr>
        <p:spPr>
          <a:xfrm>
            <a:off x="1042218" y="1278194"/>
            <a:ext cx="11149781" cy="4809749"/>
          </a:xfrm>
        </p:spPr>
        <p:txBody>
          <a:bodyPr>
            <a:normAutofit/>
          </a:bodyPr>
          <a:lstStyle/>
          <a:p>
            <a:pPr algn="just"/>
            <a:endParaRPr lang="en-US" sz="2400" b="1" dirty="0"/>
          </a:p>
        </p:txBody>
      </p:sp>
      <p:pic>
        <p:nvPicPr>
          <p:cNvPr id="4" name="Picture 3">
            <a:extLst>
              <a:ext uri="{FF2B5EF4-FFF2-40B4-BE49-F238E27FC236}">
                <a16:creationId xmlns:a16="http://schemas.microsoft.com/office/drawing/2014/main" id="{0A5EF682-BBC6-BC89-A815-2405B3BFA89F}"/>
              </a:ext>
            </a:extLst>
          </p:cNvPr>
          <p:cNvPicPr>
            <a:picLocks noChangeAspect="1"/>
          </p:cNvPicPr>
          <p:nvPr/>
        </p:nvPicPr>
        <p:blipFill rotWithShape="1">
          <a:blip r:embed="rId2">
            <a:extLst>
              <a:ext uri="{28A0092B-C50C-407E-A947-70E740481C1C}">
                <a14:useLocalDpi xmlns:a14="http://schemas.microsoft.com/office/drawing/2010/main" val="0"/>
              </a:ext>
            </a:extLst>
          </a:blip>
          <a:srcRect l="7632" t="6513" r="14801" b="12673"/>
          <a:stretch/>
        </p:blipFill>
        <p:spPr>
          <a:xfrm>
            <a:off x="11003168" y="6329803"/>
            <a:ext cx="1002890" cy="342928"/>
          </a:xfrm>
          <a:prstGeom prst="rect">
            <a:avLst/>
          </a:prstGeom>
        </p:spPr>
      </p:pic>
      <p:sp>
        <p:nvSpPr>
          <p:cNvPr id="5" name="TextBox 4">
            <a:extLst>
              <a:ext uri="{FF2B5EF4-FFF2-40B4-BE49-F238E27FC236}">
                <a16:creationId xmlns:a16="http://schemas.microsoft.com/office/drawing/2014/main" id="{CED2CCDC-C02F-B3A1-A3C5-707DECA064F1}"/>
              </a:ext>
            </a:extLst>
          </p:cNvPr>
          <p:cNvSpPr txBox="1"/>
          <p:nvPr/>
        </p:nvSpPr>
        <p:spPr>
          <a:xfrm>
            <a:off x="-30367" y="770057"/>
            <a:ext cx="1741230" cy="369332"/>
          </a:xfrm>
          <a:prstGeom prst="rect">
            <a:avLst/>
          </a:prstGeom>
          <a:noFill/>
        </p:spPr>
        <p:txBody>
          <a:bodyPr wrap="square" rtlCol="0">
            <a:spAutoFit/>
          </a:bodyPr>
          <a:lstStyle/>
          <a:p>
            <a:r>
              <a:rPr lang="en-US" sz="1800" dirty="0">
                <a:solidFill>
                  <a:schemeClr val="bg1"/>
                </a:solidFill>
                <a:effectLst/>
                <a:latin typeface="Bookman Old Style" panose="02050604050505020204" pitchFamily="18" charset="0"/>
                <a:ea typeface="Calibri" panose="020F0502020204030204" pitchFamily="34" charset="0"/>
              </a:rPr>
              <a:t>22AM2305</a:t>
            </a:r>
            <a:endParaRPr lang="en-IN" dirty="0">
              <a:solidFill>
                <a:schemeClr val="bg1"/>
              </a:solidFill>
              <a:latin typeface="Bookman Old Style" panose="02050604050505020204" pitchFamily="18" charset="0"/>
            </a:endParaRPr>
          </a:p>
        </p:txBody>
      </p:sp>
      <p:pic>
        <p:nvPicPr>
          <p:cNvPr id="6" name="Picture 2" descr="logo">
            <a:extLst>
              <a:ext uri="{FF2B5EF4-FFF2-40B4-BE49-F238E27FC236}">
                <a16:creationId xmlns:a16="http://schemas.microsoft.com/office/drawing/2014/main" id="{747D0EEE-BA48-499F-B84C-D20F74CB5DB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52799" y="89593"/>
            <a:ext cx="1070381" cy="1049796"/>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a:extLst>
              <a:ext uri="{FF2B5EF4-FFF2-40B4-BE49-F238E27FC236}">
                <a16:creationId xmlns:a16="http://schemas.microsoft.com/office/drawing/2014/main" id="{B8E50AC5-8D2A-6A5D-796D-B6863CA3B31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123180" y="89593"/>
            <a:ext cx="941000" cy="960203"/>
          </a:xfrm>
          <a:prstGeom prst="rect">
            <a:avLst/>
          </a:prstGeom>
        </p:spPr>
      </p:pic>
      <p:pic>
        <p:nvPicPr>
          <p:cNvPr id="9" name="Picture 8">
            <a:extLst>
              <a:ext uri="{FF2B5EF4-FFF2-40B4-BE49-F238E27FC236}">
                <a16:creationId xmlns:a16="http://schemas.microsoft.com/office/drawing/2014/main" id="{8CBE1AD8-C6BE-D075-1B43-B678BC6A98E4}"/>
              </a:ext>
            </a:extLst>
          </p:cNvPr>
          <p:cNvPicPr>
            <a:picLocks noChangeAspect="1"/>
          </p:cNvPicPr>
          <p:nvPr/>
        </p:nvPicPr>
        <p:blipFill>
          <a:blip r:embed="rId5"/>
          <a:stretch>
            <a:fillRect/>
          </a:stretch>
        </p:blipFill>
        <p:spPr>
          <a:xfrm>
            <a:off x="1568147" y="770057"/>
            <a:ext cx="5083277" cy="1873135"/>
          </a:xfrm>
          <a:prstGeom prst="rect">
            <a:avLst/>
          </a:prstGeom>
        </p:spPr>
      </p:pic>
      <p:pic>
        <p:nvPicPr>
          <p:cNvPr id="11" name="Picture 10">
            <a:extLst>
              <a:ext uri="{FF2B5EF4-FFF2-40B4-BE49-F238E27FC236}">
                <a16:creationId xmlns:a16="http://schemas.microsoft.com/office/drawing/2014/main" id="{91EC6909-F713-DB49-29B8-F51B649FC215}"/>
              </a:ext>
            </a:extLst>
          </p:cNvPr>
          <p:cNvPicPr>
            <a:picLocks noChangeAspect="1"/>
          </p:cNvPicPr>
          <p:nvPr/>
        </p:nvPicPr>
        <p:blipFill>
          <a:blip r:embed="rId6"/>
          <a:stretch>
            <a:fillRect/>
          </a:stretch>
        </p:blipFill>
        <p:spPr>
          <a:xfrm>
            <a:off x="2289618" y="2633927"/>
            <a:ext cx="5536860" cy="2040275"/>
          </a:xfrm>
          <a:prstGeom prst="rect">
            <a:avLst/>
          </a:prstGeom>
        </p:spPr>
      </p:pic>
      <p:pic>
        <p:nvPicPr>
          <p:cNvPr id="13" name="Picture 12">
            <a:extLst>
              <a:ext uri="{FF2B5EF4-FFF2-40B4-BE49-F238E27FC236}">
                <a16:creationId xmlns:a16="http://schemas.microsoft.com/office/drawing/2014/main" id="{EFB7F589-0AAF-33E6-9356-D91C9E05AEAC}"/>
              </a:ext>
            </a:extLst>
          </p:cNvPr>
          <p:cNvPicPr>
            <a:picLocks noChangeAspect="1"/>
          </p:cNvPicPr>
          <p:nvPr/>
        </p:nvPicPr>
        <p:blipFill>
          <a:blip r:embed="rId7"/>
          <a:stretch>
            <a:fillRect/>
          </a:stretch>
        </p:blipFill>
        <p:spPr>
          <a:xfrm>
            <a:off x="5565929" y="4674202"/>
            <a:ext cx="5231749" cy="1927845"/>
          </a:xfrm>
          <a:prstGeom prst="rect">
            <a:avLst/>
          </a:prstGeom>
        </p:spPr>
      </p:pic>
    </p:spTree>
    <p:extLst>
      <p:ext uri="{BB962C8B-B14F-4D97-AF65-F5344CB8AC3E}">
        <p14:creationId xmlns:p14="http://schemas.microsoft.com/office/powerpoint/2010/main" val="76353500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47515F-4A58-DFA9-F4DC-FA2F57C2B8AC}"/>
              </a:ext>
            </a:extLst>
          </p:cNvPr>
          <p:cNvSpPr>
            <a:spLocks noGrp="1"/>
          </p:cNvSpPr>
          <p:nvPr>
            <p:ph type="title"/>
          </p:nvPr>
        </p:nvSpPr>
        <p:spPr>
          <a:xfrm>
            <a:off x="1568147" y="129612"/>
            <a:ext cx="8911687" cy="1280890"/>
          </a:xfrm>
        </p:spPr>
        <p:txBody>
          <a:bodyPr/>
          <a:lstStyle/>
          <a:p>
            <a:r>
              <a:rPr lang="en-US" b="1" i="0" dirty="0">
                <a:solidFill>
                  <a:srgbClr val="273239"/>
                </a:solidFill>
                <a:effectLst/>
                <a:latin typeface="Nunito" pitchFamily="2" charset="0"/>
              </a:rPr>
              <a:t>How does BFS work?</a:t>
            </a:r>
            <a:endParaRPr lang="en-US" dirty="0"/>
          </a:p>
        </p:txBody>
      </p:sp>
      <p:sp>
        <p:nvSpPr>
          <p:cNvPr id="3" name="Content Placeholder 2">
            <a:extLst>
              <a:ext uri="{FF2B5EF4-FFF2-40B4-BE49-F238E27FC236}">
                <a16:creationId xmlns:a16="http://schemas.microsoft.com/office/drawing/2014/main" id="{CD8527A1-EA1C-ABF8-E388-1F26941C7D64}"/>
              </a:ext>
            </a:extLst>
          </p:cNvPr>
          <p:cNvSpPr>
            <a:spLocks noGrp="1"/>
          </p:cNvSpPr>
          <p:nvPr>
            <p:ph idx="1"/>
          </p:nvPr>
        </p:nvSpPr>
        <p:spPr>
          <a:xfrm>
            <a:off x="1042218" y="1278194"/>
            <a:ext cx="11149781" cy="4809749"/>
          </a:xfrm>
        </p:spPr>
        <p:txBody>
          <a:bodyPr>
            <a:normAutofit/>
          </a:bodyPr>
          <a:lstStyle/>
          <a:p>
            <a:pPr algn="just"/>
            <a:endParaRPr lang="en-US" sz="2400" b="1" dirty="0"/>
          </a:p>
        </p:txBody>
      </p:sp>
      <p:pic>
        <p:nvPicPr>
          <p:cNvPr id="4" name="Picture 3">
            <a:extLst>
              <a:ext uri="{FF2B5EF4-FFF2-40B4-BE49-F238E27FC236}">
                <a16:creationId xmlns:a16="http://schemas.microsoft.com/office/drawing/2014/main" id="{0A5EF682-BBC6-BC89-A815-2405B3BFA89F}"/>
              </a:ext>
            </a:extLst>
          </p:cNvPr>
          <p:cNvPicPr>
            <a:picLocks noChangeAspect="1"/>
          </p:cNvPicPr>
          <p:nvPr/>
        </p:nvPicPr>
        <p:blipFill rotWithShape="1">
          <a:blip r:embed="rId2">
            <a:extLst>
              <a:ext uri="{28A0092B-C50C-407E-A947-70E740481C1C}">
                <a14:useLocalDpi xmlns:a14="http://schemas.microsoft.com/office/drawing/2010/main" val="0"/>
              </a:ext>
            </a:extLst>
          </a:blip>
          <a:srcRect l="7632" t="6513" r="14801" b="12673"/>
          <a:stretch/>
        </p:blipFill>
        <p:spPr>
          <a:xfrm>
            <a:off x="11003168" y="6329803"/>
            <a:ext cx="1002890" cy="342928"/>
          </a:xfrm>
          <a:prstGeom prst="rect">
            <a:avLst/>
          </a:prstGeom>
        </p:spPr>
      </p:pic>
      <p:sp>
        <p:nvSpPr>
          <p:cNvPr id="5" name="TextBox 4">
            <a:extLst>
              <a:ext uri="{FF2B5EF4-FFF2-40B4-BE49-F238E27FC236}">
                <a16:creationId xmlns:a16="http://schemas.microsoft.com/office/drawing/2014/main" id="{CED2CCDC-C02F-B3A1-A3C5-707DECA064F1}"/>
              </a:ext>
            </a:extLst>
          </p:cNvPr>
          <p:cNvSpPr txBox="1"/>
          <p:nvPr/>
        </p:nvSpPr>
        <p:spPr>
          <a:xfrm>
            <a:off x="-30367" y="770057"/>
            <a:ext cx="1741230" cy="369332"/>
          </a:xfrm>
          <a:prstGeom prst="rect">
            <a:avLst/>
          </a:prstGeom>
          <a:noFill/>
        </p:spPr>
        <p:txBody>
          <a:bodyPr wrap="square" rtlCol="0">
            <a:spAutoFit/>
          </a:bodyPr>
          <a:lstStyle/>
          <a:p>
            <a:r>
              <a:rPr lang="en-US" sz="1800" dirty="0">
                <a:solidFill>
                  <a:schemeClr val="bg1"/>
                </a:solidFill>
                <a:effectLst/>
                <a:latin typeface="Bookman Old Style" panose="02050604050505020204" pitchFamily="18" charset="0"/>
                <a:ea typeface="Calibri" panose="020F0502020204030204" pitchFamily="34" charset="0"/>
              </a:rPr>
              <a:t>22AM2305</a:t>
            </a:r>
            <a:endParaRPr lang="en-IN" dirty="0">
              <a:solidFill>
                <a:schemeClr val="bg1"/>
              </a:solidFill>
              <a:latin typeface="Bookman Old Style" panose="02050604050505020204" pitchFamily="18" charset="0"/>
            </a:endParaRPr>
          </a:p>
        </p:txBody>
      </p:sp>
      <p:pic>
        <p:nvPicPr>
          <p:cNvPr id="6" name="Picture 2" descr="logo">
            <a:extLst>
              <a:ext uri="{FF2B5EF4-FFF2-40B4-BE49-F238E27FC236}">
                <a16:creationId xmlns:a16="http://schemas.microsoft.com/office/drawing/2014/main" id="{747D0EEE-BA48-499F-B84C-D20F74CB5DB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52799" y="89593"/>
            <a:ext cx="1070381" cy="1049796"/>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a:extLst>
              <a:ext uri="{FF2B5EF4-FFF2-40B4-BE49-F238E27FC236}">
                <a16:creationId xmlns:a16="http://schemas.microsoft.com/office/drawing/2014/main" id="{B8E50AC5-8D2A-6A5D-796D-B6863CA3B31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123180" y="89593"/>
            <a:ext cx="941000" cy="960203"/>
          </a:xfrm>
          <a:prstGeom prst="rect">
            <a:avLst/>
          </a:prstGeom>
        </p:spPr>
      </p:pic>
      <p:pic>
        <p:nvPicPr>
          <p:cNvPr id="1032" name="Picture 8" descr="Remove node 1 from the front of queue and visited the unvisited neighbours and push">
            <a:extLst>
              <a:ext uri="{FF2B5EF4-FFF2-40B4-BE49-F238E27FC236}">
                <a16:creationId xmlns:a16="http://schemas.microsoft.com/office/drawing/2014/main" id="{D936CC2A-DFCF-A790-0E92-50AD561F013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58085" y="1278194"/>
            <a:ext cx="5096375" cy="1877961"/>
          </a:xfrm>
          <a:prstGeom prst="rect">
            <a:avLst/>
          </a:prstGeom>
          <a:noFill/>
          <a:extLst>
            <a:ext uri="{909E8E84-426E-40DD-AFC4-6F175D3DCCD1}">
              <a14:hiddenFill xmlns:a14="http://schemas.microsoft.com/office/drawing/2010/main">
                <a:solidFill>
                  <a:srgbClr val="FFFFFF"/>
                </a:solidFill>
              </a14:hiddenFill>
            </a:ext>
          </a:extLst>
        </p:spPr>
      </p:pic>
      <p:pic>
        <p:nvPicPr>
          <p:cNvPr id="2050" name="Picture 2" descr="Remove node 2 from the front of queue and visit the unvisited neighbours and push them into queue.">
            <a:extLst>
              <a:ext uri="{FF2B5EF4-FFF2-40B4-BE49-F238E27FC236}">
                <a16:creationId xmlns:a16="http://schemas.microsoft.com/office/drawing/2014/main" id="{442089E9-9D07-A488-62EC-DB9E7A53A50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42218" y="3080194"/>
            <a:ext cx="5096375" cy="1877961"/>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Remove node 3 from the front of queue and visit the unvisited neighbours and push them into queue. ">
            <a:extLst>
              <a:ext uri="{FF2B5EF4-FFF2-40B4-BE49-F238E27FC236}">
                <a16:creationId xmlns:a16="http://schemas.microsoft.com/office/drawing/2014/main" id="{D8121E5D-CD7B-04CB-86F8-3ACFE5B832E5}"/>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568147" y="4868575"/>
            <a:ext cx="5229129" cy="1926880"/>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descr="Remove node 4 from the front of queue and and visit the unvisited neighbours and push ithem into queue. ">
            <a:extLst>
              <a:ext uri="{FF2B5EF4-FFF2-40B4-BE49-F238E27FC236}">
                <a16:creationId xmlns:a16="http://schemas.microsoft.com/office/drawing/2014/main" id="{DA029803-8E47-230E-6F71-F845F6A012B7}"/>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522726" y="2876415"/>
            <a:ext cx="5096375" cy="187796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9547643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AD2D40-2B8E-2AAA-09F8-2E5857E4921B}"/>
              </a:ext>
            </a:extLst>
          </p:cNvPr>
          <p:cNvSpPr>
            <a:spLocks noGrp="1"/>
          </p:cNvSpPr>
          <p:nvPr>
            <p:ph type="title"/>
          </p:nvPr>
        </p:nvSpPr>
        <p:spPr/>
        <p:txBody>
          <a:bodyPr/>
          <a:lstStyle/>
          <a:p>
            <a:r>
              <a:rPr lang="en-US" dirty="0"/>
              <a:t>BFS implementation</a:t>
            </a:r>
          </a:p>
        </p:txBody>
      </p:sp>
      <p:sp>
        <p:nvSpPr>
          <p:cNvPr id="3" name="Content Placeholder 2">
            <a:extLst>
              <a:ext uri="{FF2B5EF4-FFF2-40B4-BE49-F238E27FC236}">
                <a16:creationId xmlns:a16="http://schemas.microsoft.com/office/drawing/2014/main" id="{5D83BF46-0E4E-B476-3E81-9EBEBB84F21F}"/>
              </a:ext>
            </a:extLst>
          </p:cNvPr>
          <p:cNvSpPr>
            <a:spLocks noGrp="1"/>
          </p:cNvSpPr>
          <p:nvPr>
            <p:ph idx="1"/>
          </p:nvPr>
        </p:nvSpPr>
        <p:spPr>
          <a:xfrm>
            <a:off x="5054165" y="1540189"/>
            <a:ext cx="6951893" cy="3777622"/>
          </a:xfrm>
        </p:spPr>
        <p:txBody>
          <a:bodyPr/>
          <a:lstStyle/>
          <a:p>
            <a:pPr algn="l"/>
            <a:r>
              <a:rPr lang="en-US" b="0" i="0" dirty="0">
                <a:solidFill>
                  <a:srgbClr val="004961"/>
                </a:solidFill>
                <a:effectLst/>
                <a:latin typeface="Poppins" panose="00000500000000000000" pitchFamily="2" charset="0"/>
              </a:rPr>
              <a:t>BFS pseudocode</a:t>
            </a:r>
          </a:p>
          <a:p>
            <a:pPr algn="l"/>
            <a:r>
              <a:rPr lang="en-US" b="0" i="0" dirty="0">
                <a:solidFill>
                  <a:srgbClr val="333333"/>
                </a:solidFill>
                <a:effectLst/>
                <a:latin typeface="Poppins" panose="00000500000000000000" pitchFamily="2" charset="0"/>
              </a:rPr>
              <a:t>The pseudocode for BFS in python goes as below:</a:t>
            </a:r>
          </a:p>
          <a:p>
            <a:pPr algn="l"/>
            <a:r>
              <a:rPr lang="en-US" b="0" i="0" dirty="0">
                <a:solidFill>
                  <a:srgbClr val="236FA1"/>
                </a:solidFill>
                <a:effectLst/>
                <a:latin typeface="Poppins" panose="00000500000000000000" pitchFamily="2" charset="0"/>
              </a:rPr>
              <a:t>create a queue Q </a:t>
            </a:r>
            <a:endParaRPr lang="en-US" b="0" i="0" dirty="0">
              <a:solidFill>
                <a:srgbClr val="333333"/>
              </a:solidFill>
              <a:effectLst/>
              <a:latin typeface="Poppins" panose="00000500000000000000" pitchFamily="2" charset="0"/>
            </a:endParaRPr>
          </a:p>
          <a:p>
            <a:pPr algn="l"/>
            <a:r>
              <a:rPr lang="en-US" b="0" i="0" dirty="0">
                <a:solidFill>
                  <a:srgbClr val="236FA1"/>
                </a:solidFill>
                <a:effectLst/>
                <a:latin typeface="Poppins" panose="00000500000000000000" pitchFamily="2" charset="0"/>
              </a:rPr>
              <a:t>mark v as visited and put v into Q </a:t>
            </a:r>
            <a:endParaRPr lang="en-US" b="0" i="0" dirty="0">
              <a:solidFill>
                <a:srgbClr val="333333"/>
              </a:solidFill>
              <a:effectLst/>
              <a:latin typeface="Poppins" panose="00000500000000000000" pitchFamily="2" charset="0"/>
            </a:endParaRPr>
          </a:p>
          <a:p>
            <a:pPr algn="l"/>
            <a:r>
              <a:rPr lang="en-US" b="0" i="0" dirty="0">
                <a:solidFill>
                  <a:srgbClr val="236FA1"/>
                </a:solidFill>
                <a:effectLst/>
                <a:latin typeface="Poppins" panose="00000500000000000000" pitchFamily="2" charset="0"/>
              </a:rPr>
              <a:t>while Q is non-empty </a:t>
            </a:r>
            <a:endParaRPr lang="en-US" b="0" i="0" dirty="0">
              <a:solidFill>
                <a:srgbClr val="333333"/>
              </a:solidFill>
              <a:effectLst/>
              <a:latin typeface="Poppins" panose="00000500000000000000" pitchFamily="2" charset="0"/>
            </a:endParaRPr>
          </a:p>
          <a:p>
            <a:pPr algn="l"/>
            <a:r>
              <a:rPr lang="en-US" b="0" i="0" dirty="0">
                <a:solidFill>
                  <a:srgbClr val="236FA1"/>
                </a:solidFill>
                <a:effectLst/>
                <a:latin typeface="Poppins" panose="00000500000000000000" pitchFamily="2" charset="0"/>
              </a:rPr>
              <a:t>    remove the head u of Q </a:t>
            </a:r>
            <a:endParaRPr lang="en-US" b="0" i="0" dirty="0">
              <a:solidFill>
                <a:srgbClr val="333333"/>
              </a:solidFill>
              <a:effectLst/>
              <a:latin typeface="Poppins" panose="00000500000000000000" pitchFamily="2" charset="0"/>
            </a:endParaRPr>
          </a:p>
          <a:p>
            <a:pPr algn="l"/>
            <a:r>
              <a:rPr lang="en-US" b="0" i="0" dirty="0">
                <a:solidFill>
                  <a:srgbClr val="236FA1"/>
                </a:solidFill>
                <a:effectLst/>
                <a:latin typeface="Poppins" panose="00000500000000000000" pitchFamily="2" charset="0"/>
              </a:rPr>
              <a:t>    mark and enqueue all (unvisited) neighbors of u</a:t>
            </a:r>
            <a:endParaRPr lang="en-US" b="0" i="0" dirty="0">
              <a:solidFill>
                <a:srgbClr val="333333"/>
              </a:solidFill>
              <a:effectLst/>
              <a:latin typeface="Poppins" panose="00000500000000000000" pitchFamily="2" charset="0"/>
            </a:endParaRPr>
          </a:p>
          <a:p>
            <a:endParaRPr lang="en-US" dirty="0"/>
          </a:p>
        </p:txBody>
      </p:sp>
      <p:sp>
        <p:nvSpPr>
          <p:cNvPr id="4" name="TextBox 3">
            <a:extLst>
              <a:ext uri="{FF2B5EF4-FFF2-40B4-BE49-F238E27FC236}">
                <a16:creationId xmlns:a16="http://schemas.microsoft.com/office/drawing/2014/main" id="{6AECCFE9-E18B-B708-F73B-D82ABB080C9A}"/>
              </a:ext>
            </a:extLst>
          </p:cNvPr>
          <p:cNvSpPr txBox="1"/>
          <p:nvPr/>
        </p:nvSpPr>
        <p:spPr>
          <a:xfrm>
            <a:off x="-30367" y="770057"/>
            <a:ext cx="1741230" cy="369332"/>
          </a:xfrm>
          <a:prstGeom prst="rect">
            <a:avLst/>
          </a:prstGeom>
          <a:noFill/>
        </p:spPr>
        <p:txBody>
          <a:bodyPr wrap="square" rtlCol="0">
            <a:spAutoFit/>
          </a:bodyPr>
          <a:lstStyle/>
          <a:p>
            <a:r>
              <a:rPr lang="en-US" sz="1800" dirty="0">
                <a:solidFill>
                  <a:schemeClr val="bg1"/>
                </a:solidFill>
                <a:effectLst/>
                <a:latin typeface="Bookman Old Style" panose="02050604050505020204" pitchFamily="18" charset="0"/>
                <a:ea typeface="Calibri" panose="020F0502020204030204" pitchFamily="34" charset="0"/>
              </a:rPr>
              <a:t>22AM2305</a:t>
            </a:r>
            <a:endParaRPr lang="en-IN" dirty="0">
              <a:solidFill>
                <a:schemeClr val="bg1"/>
              </a:solidFill>
              <a:latin typeface="Bookman Old Style" panose="02050604050505020204" pitchFamily="18" charset="0"/>
            </a:endParaRPr>
          </a:p>
        </p:txBody>
      </p:sp>
      <p:pic>
        <p:nvPicPr>
          <p:cNvPr id="5" name="Picture 4">
            <a:extLst>
              <a:ext uri="{FF2B5EF4-FFF2-40B4-BE49-F238E27FC236}">
                <a16:creationId xmlns:a16="http://schemas.microsoft.com/office/drawing/2014/main" id="{39AD9283-F9AE-1CC0-79D6-FB485E406B08}"/>
              </a:ext>
            </a:extLst>
          </p:cNvPr>
          <p:cNvPicPr>
            <a:picLocks noChangeAspect="1"/>
          </p:cNvPicPr>
          <p:nvPr/>
        </p:nvPicPr>
        <p:blipFill rotWithShape="1">
          <a:blip r:embed="rId2">
            <a:extLst>
              <a:ext uri="{28A0092B-C50C-407E-A947-70E740481C1C}">
                <a14:useLocalDpi xmlns:a14="http://schemas.microsoft.com/office/drawing/2010/main" val="0"/>
              </a:ext>
            </a:extLst>
          </a:blip>
          <a:srcRect l="7632" t="6513" r="14801" b="12673"/>
          <a:stretch/>
        </p:blipFill>
        <p:spPr>
          <a:xfrm>
            <a:off x="11003168" y="6329803"/>
            <a:ext cx="1002890" cy="342928"/>
          </a:xfrm>
          <a:prstGeom prst="rect">
            <a:avLst/>
          </a:prstGeom>
        </p:spPr>
      </p:pic>
      <p:pic>
        <p:nvPicPr>
          <p:cNvPr id="6" name="Picture 2" descr="logo">
            <a:extLst>
              <a:ext uri="{FF2B5EF4-FFF2-40B4-BE49-F238E27FC236}">
                <a16:creationId xmlns:a16="http://schemas.microsoft.com/office/drawing/2014/main" id="{1758B4BD-ECD5-0D79-050A-5EDCE0B9300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52799" y="89593"/>
            <a:ext cx="1070381" cy="1049796"/>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a:extLst>
              <a:ext uri="{FF2B5EF4-FFF2-40B4-BE49-F238E27FC236}">
                <a16:creationId xmlns:a16="http://schemas.microsoft.com/office/drawing/2014/main" id="{19D4B3F6-FF3D-8715-2E20-B1F01DC29F0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123180" y="89593"/>
            <a:ext cx="941000" cy="960203"/>
          </a:xfrm>
          <a:prstGeom prst="rect">
            <a:avLst/>
          </a:prstGeom>
        </p:spPr>
      </p:pic>
      <p:pic>
        <p:nvPicPr>
          <p:cNvPr id="3074" name="Picture 2" descr="example of bfs">
            <a:extLst>
              <a:ext uri="{FF2B5EF4-FFF2-40B4-BE49-F238E27FC236}">
                <a16:creationId xmlns:a16="http://schemas.microsoft.com/office/drawing/2014/main" id="{D76699E1-7C3C-478B-038B-B8A1031C408E}"/>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11976" t="12789" r="12723" b="24336"/>
          <a:stretch/>
        </p:blipFill>
        <p:spPr bwMode="auto">
          <a:xfrm>
            <a:off x="255152" y="1425677"/>
            <a:ext cx="4454014" cy="315615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038265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AD2D40-2B8E-2AAA-09F8-2E5857E4921B}"/>
              </a:ext>
            </a:extLst>
          </p:cNvPr>
          <p:cNvSpPr>
            <a:spLocks noGrp="1"/>
          </p:cNvSpPr>
          <p:nvPr>
            <p:ph type="title"/>
          </p:nvPr>
        </p:nvSpPr>
        <p:spPr/>
        <p:txBody>
          <a:bodyPr/>
          <a:lstStyle/>
          <a:p>
            <a:r>
              <a:rPr lang="en-US" dirty="0"/>
              <a:t>BFS implementation</a:t>
            </a:r>
          </a:p>
        </p:txBody>
      </p:sp>
      <p:sp>
        <p:nvSpPr>
          <p:cNvPr id="4" name="TextBox 3">
            <a:extLst>
              <a:ext uri="{FF2B5EF4-FFF2-40B4-BE49-F238E27FC236}">
                <a16:creationId xmlns:a16="http://schemas.microsoft.com/office/drawing/2014/main" id="{6AECCFE9-E18B-B708-F73B-D82ABB080C9A}"/>
              </a:ext>
            </a:extLst>
          </p:cNvPr>
          <p:cNvSpPr txBox="1"/>
          <p:nvPr/>
        </p:nvSpPr>
        <p:spPr>
          <a:xfrm>
            <a:off x="-30367" y="770057"/>
            <a:ext cx="1741230" cy="369332"/>
          </a:xfrm>
          <a:prstGeom prst="rect">
            <a:avLst/>
          </a:prstGeom>
          <a:noFill/>
        </p:spPr>
        <p:txBody>
          <a:bodyPr wrap="square" rtlCol="0">
            <a:spAutoFit/>
          </a:bodyPr>
          <a:lstStyle/>
          <a:p>
            <a:r>
              <a:rPr lang="en-US" sz="1800" dirty="0">
                <a:solidFill>
                  <a:schemeClr val="bg1"/>
                </a:solidFill>
                <a:effectLst/>
                <a:latin typeface="Bookman Old Style" panose="02050604050505020204" pitchFamily="18" charset="0"/>
                <a:ea typeface="Calibri" panose="020F0502020204030204" pitchFamily="34" charset="0"/>
              </a:rPr>
              <a:t>22AM2305</a:t>
            </a:r>
            <a:endParaRPr lang="en-IN" dirty="0">
              <a:solidFill>
                <a:schemeClr val="bg1"/>
              </a:solidFill>
              <a:latin typeface="Bookman Old Style" panose="02050604050505020204" pitchFamily="18" charset="0"/>
            </a:endParaRPr>
          </a:p>
        </p:txBody>
      </p:sp>
      <p:pic>
        <p:nvPicPr>
          <p:cNvPr id="5" name="Picture 4">
            <a:extLst>
              <a:ext uri="{FF2B5EF4-FFF2-40B4-BE49-F238E27FC236}">
                <a16:creationId xmlns:a16="http://schemas.microsoft.com/office/drawing/2014/main" id="{39AD9283-F9AE-1CC0-79D6-FB485E406B08}"/>
              </a:ext>
            </a:extLst>
          </p:cNvPr>
          <p:cNvPicPr>
            <a:picLocks noChangeAspect="1"/>
          </p:cNvPicPr>
          <p:nvPr/>
        </p:nvPicPr>
        <p:blipFill rotWithShape="1">
          <a:blip r:embed="rId2">
            <a:extLst>
              <a:ext uri="{28A0092B-C50C-407E-A947-70E740481C1C}">
                <a14:useLocalDpi xmlns:a14="http://schemas.microsoft.com/office/drawing/2010/main" val="0"/>
              </a:ext>
            </a:extLst>
          </a:blip>
          <a:srcRect l="7632" t="6513" r="14801" b="12673"/>
          <a:stretch/>
        </p:blipFill>
        <p:spPr>
          <a:xfrm>
            <a:off x="11003168" y="6329803"/>
            <a:ext cx="1002890" cy="342928"/>
          </a:xfrm>
          <a:prstGeom prst="rect">
            <a:avLst/>
          </a:prstGeom>
        </p:spPr>
      </p:pic>
      <p:pic>
        <p:nvPicPr>
          <p:cNvPr id="6" name="Picture 2" descr="logo">
            <a:extLst>
              <a:ext uri="{FF2B5EF4-FFF2-40B4-BE49-F238E27FC236}">
                <a16:creationId xmlns:a16="http://schemas.microsoft.com/office/drawing/2014/main" id="{1758B4BD-ECD5-0D79-050A-5EDCE0B9300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52799" y="89593"/>
            <a:ext cx="1070381" cy="1049796"/>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a:extLst>
              <a:ext uri="{FF2B5EF4-FFF2-40B4-BE49-F238E27FC236}">
                <a16:creationId xmlns:a16="http://schemas.microsoft.com/office/drawing/2014/main" id="{19D4B3F6-FF3D-8715-2E20-B1F01DC29F0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123180" y="89593"/>
            <a:ext cx="941000" cy="960203"/>
          </a:xfrm>
          <a:prstGeom prst="rect">
            <a:avLst/>
          </a:prstGeom>
        </p:spPr>
      </p:pic>
      <p:sp>
        <p:nvSpPr>
          <p:cNvPr id="9" name="TextBox 8">
            <a:extLst>
              <a:ext uri="{FF2B5EF4-FFF2-40B4-BE49-F238E27FC236}">
                <a16:creationId xmlns:a16="http://schemas.microsoft.com/office/drawing/2014/main" id="{1DDA38F4-172F-E6CB-001C-1785F2210F9B}"/>
              </a:ext>
            </a:extLst>
          </p:cNvPr>
          <p:cNvSpPr txBox="1"/>
          <p:nvPr/>
        </p:nvSpPr>
        <p:spPr>
          <a:xfrm>
            <a:off x="245807" y="1367989"/>
            <a:ext cx="6135328" cy="4247317"/>
          </a:xfrm>
          <a:prstGeom prst="rect">
            <a:avLst/>
          </a:prstGeom>
          <a:solidFill>
            <a:schemeClr val="accent1">
              <a:lumMod val="20000"/>
              <a:lumOff val="80000"/>
            </a:schemeClr>
          </a:solidFill>
        </p:spPr>
        <p:txBody>
          <a:bodyPr wrap="square">
            <a:spAutoFit/>
          </a:bodyPr>
          <a:lstStyle/>
          <a:p>
            <a:r>
              <a:rPr lang="en-US" dirty="0"/>
              <a:t>graph = {</a:t>
            </a:r>
          </a:p>
          <a:p>
            <a:r>
              <a:rPr lang="en-US" dirty="0"/>
              <a:t>  '5' : ['3','7'],</a:t>
            </a:r>
          </a:p>
          <a:p>
            <a:r>
              <a:rPr lang="en-US" dirty="0"/>
              <a:t>  '3' : ['2', '4'],</a:t>
            </a:r>
          </a:p>
          <a:p>
            <a:r>
              <a:rPr lang="en-US" dirty="0"/>
              <a:t>  '7' : ['8'],</a:t>
            </a:r>
          </a:p>
          <a:p>
            <a:r>
              <a:rPr lang="en-US" dirty="0"/>
              <a:t>  '2' : [],</a:t>
            </a:r>
          </a:p>
          <a:p>
            <a:r>
              <a:rPr lang="en-US" dirty="0"/>
              <a:t>  '4' : ['8'],</a:t>
            </a:r>
          </a:p>
          <a:p>
            <a:r>
              <a:rPr lang="en-US" dirty="0"/>
              <a:t>  '8' : []</a:t>
            </a:r>
          </a:p>
          <a:p>
            <a:r>
              <a:rPr lang="en-US" dirty="0"/>
              <a:t>}</a:t>
            </a:r>
          </a:p>
          <a:p>
            <a:endParaRPr lang="en-US" dirty="0"/>
          </a:p>
          <a:p>
            <a:r>
              <a:rPr lang="en-US" dirty="0"/>
              <a:t>visited = [] # List for visited nodes.</a:t>
            </a:r>
          </a:p>
          <a:p>
            <a:r>
              <a:rPr lang="en-US" dirty="0"/>
              <a:t>queue = []     #Initialize a queue</a:t>
            </a:r>
          </a:p>
          <a:p>
            <a:endParaRPr lang="en-US" dirty="0"/>
          </a:p>
          <a:p>
            <a:r>
              <a:rPr lang="en-US" dirty="0"/>
              <a:t>def </a:t>
            </a:r>
            <a:r>
              <a:rPr lang="en-US" dirty="0" err="1"/>
              <a:t>bfs</a:t>
            </a:r>
            <a:r>
              <a:rPr lang="en-US" dirty="0"/>
              <a:t>(visited, graph, node): #function for BFS</a:t>
            </a:r>
          </a:p>
          <a:p>
            <a:r>
              <a:rPr lang="en-US" dirty="0"/>
              <a:t>  </a:t>
            </a:r>
            <a:r>
              <a:rPr lang="en-US" dirty="0" err="1"/>
              <a:t>visited.append</a:t>
            </a:r>
            <a:r>
              <a:rPr lang="en-US" dirty="0"/>
              <a:t>(node)</a:t>
            </a:r>
          </a:p>
          <a:p>
            <a:r>
              <a:rPr lang="en-US" dirty="0"/>
              <a:t>  </a:t>
            </a:r>
            <a:r>
              <a:rPr lang="en-US" dirty="0" err="1"/>
              <a:t>queue.append</a:t>
            </a:r>
            <a:r>
              <a:rPr lang="en-US" dirty="0"/>
              <a:t>(node)</a:t>
            </a:r>
          </a:p>
        </p:txBody>
      </p:sp>
      <p:sp>
        <p:nvSpPr>
          <p:cNvPr id="11" name="Content Placeholder 10">
            <a:extLst>
              <a:ext uri="{FF2B5EF4-FFF2-40B4-BE49-F238E27FC236}">
                <a16:creationId xmlns:a16="http://schemas.microsoft.com/office/drawing/2014/main" id="{716B85F4-A248-F970-2976-5FEA3F6075FD}"/>
              </a:ext>
            </a:extLst>
          </p:cNvPr>
          <p:cNvSpPr>
            <a:spLocks noGrp="1"/>
          </p:cNvSpPr>
          <p:nvPr>
            <p:ph idx="1"/>
          </p:nvPr>
        </p:nvSpPr>
        <p:spPr/>
        <p:txBody>
          <a:bodyPr/>
          <a:lstStyle/>
          <a:p>
            <a:endParaRPr lang="en-US"/>
          </a:p>
        </p:txBody>
      </p:sp>
      <p:sp>
        <p:nvSpPr>
          <p:cNvPr id="13" name="TextBox 12">
            <a:extLst>
              <a:ext uri="{FF2B5EF4-FFF2-40B4-BE49-F238E27FC236}">
                <a16:creationId xmlns:a16="http://schemas.microsoft.com/office/drawing/2014/main" id="{FF2F15A7-F711-A27E-8134-FCE3D4C46E58}"/>
              </a:ext>
            </a:extLst>
          </p:cNvPr>
          <p:cNvSpPr txBox="1"/>
          <p:nvPr/>
        </p:nvSpPr>
        <p:spPr>
          <a:xfrm>
            <a:off x="6535124" y="2175751"/>
            <a:ext cx="5529056" cy="3693319"/>
          </a:xfrm>
          <a:prstGeom prst="rect">
            <a:avLst/>
          </a:prstGeom>
          <a:solidFill>
            <a:schemeClr val="accent1">
              <a:lumMod val="40000"/>
              <a:lumOff val="60000"/>
            </a:schemeClr>
          </a:solidFill>
        </p:spPr>
        <p:txBody>
          <a:bodyPr wrap="square">
            <a:spAutoFit/>
          </a:bodyPr>
          <a:lstStyle/>
          <a:p>
            <a:r>
              <a:rPr lang="en-US" dirty="0"/>
              <a:t> while queue:          # Creating loop to visit each node</a:t>
            </a:r>
          </a:p>
          <a:p>
            <a:r>
              <a:rPr lang="en-US" dirty="0"/>
              <a:t>    m = </a:t>
            </a:r>
            <a:r>
              <a:rPr lang="en-US" dirty="0" err="1"/>
              <a:t>queue.pop</a:t>
            </a:r>
            <a:r>
              <a:rPr lang="en-US" dirty="0"/>
              <a:t>(0) </a:t>
            </a:r>
          </a:p>
          <a:p>
            <a:r>
              <a:rPr lang="en-US" dirty="0"/>
              <a:t>    print (m, end = " ") </a:t>
            </a:r>
          </a:p>
          <a:p>
            <a:endParaRPr lang="en-US" dirty="0"/>
          </a:p>
          <a:p>
            <a:r>
              <a:rPr lang="en-US" dirty="0"/>
              <a:t>    for </a:t>
            </a:r>
            <a:r>
              <a:rPr lang="en-US" dirty="0" err="1"/>
              <a:t>neighbour</a:t>
            </a:r>
            <a:r>
              <a:rPr lang="en-US" dirty="0"/>
              <a:t> in graph[m]:</a:t>
            </a:r>
          </a:p>
          <a:p>
            <a:r>
              <a:rPr lang="en-US" dirty="0"/>
              <a:t>      if </a:t>
            </a:r>
            <a:r>
              <a:rPr lang="en-US" dirty="0" err="1"/>
              <a:t>neighbour</a:t>
            </a:r>
            <a:r>
              <a:rPr lang="en-US" dirty="0"/>
              <a:t> not in visited:</a:t>
            </a:r>
          </a:p>
          <a:p>
            <a:r>
              <a:rPr lang="en-US" dirty="0"/>
              <a:t>        </a:t>
            </a:r>
            <a:r>
              <a:rPr lang="en-US" dirty="0" err="1"/>
              <a:t>visited.append</a:t>
            </a:r>
            <a:r>
              <a:rPr lang="en-US" dirty="0"/>
              <a:t>(</a:t>
            </a:r>
            <a:r>
              <a:rPr lang="en-US" dirty="0" err="1"/>
              <a:t>neighbour</a:t>
            </a:r>
            <a:r>
              <a:rPr lang="en-US" dirty="0"/>
              <a:t>)</a:t>
            </a:r>
          </a:p>
          <a:p>
            <a:r>
              <a:rPr lang="en-US" dirty="0"/>
              <a:t>        </a:t>
            </a:r>
            <a:r>
              <a:rPr lang="en-US" dirty="0" err="1"/>
              <a:t>queue.append</a:t>
            </a:r>
            <a:r>
              <a:rPr lang="en-US" dirty="0"/>
              <a:t>(</a:t>
            </a:r>
            <a:r>
              <a:rPr lang="en-US" dirty="0" err="1"/>
              <a:t>neighbour</a:t>
            </a:r>
            <a:r>
              <a:rPr lang="en-US" dirty="0"/>
              <a:t>)</a:t>
            </a:r>
          </a:p>
          <a:p>
            <a:endParaRPr lang="en-US" dirty="0"/>
          </a:p>
          <a:p>
            <a:r>
              <a:rPr lang="en-US" dirty="0"/>
              <a:t># Driver Code</a:t>
            </a:r>
          </a:p>
          <a:p>
            <a:r>
              <a:rPr lang="en-US" dirty="0"/>
              <a:t>print("Following is the Breadth-First Search")</a:t>
            </a:r>
          </a:p>
          <a:p>
            <a:r>
              <a:rPr lang="en-US" dirty="0" err="1"/>
              <a:t>bfs</a:t>
            </a:r>
            <a:r>
              <a:rPr lang="en-US" dirty="0"/>
              <a:t>(visited, graph, '5')    # function calling</a:t>
            </a:r>
          </a:p>
        </p:txBody>
      </p:sp>
      <p:sp>
        <p:nvSpPr>
          <p:cNvPr id="15" name="TextBox 14">
            <a:extLst>
              <a:ext uri="{FF2B5EF4-FFF2-40B4-BE49-F238E27FC236}">
                <a16:creationId xmlns:a16="http://schemas.microsoft.com/office/drawing/2014/main" id="{329827D1-1678-2520-06D2-598D60E7E43E}"/>
              </a:ext>
            </a:extLst>
          </p:cNvPr>
          <p:cNvSpPr txBox="1"/>
          <p:nvPr/>
        </p:nvSpPr>
        <p:spPr>
          <a:xfrm>
            <a:off x="1585452" y="6006637"/>
            <a:ext cx="6376218" cy="646331"/>
          </a:xfrm>
          <a:prstGeom prst="rect">
            <a:avLst/>
          </a:prstGeom>
          <a:solidFill>
            <a:schemeClr val="accent2"/>
          </a:solidFill>
        </p:spPr>
        <p:txBody>
          <a:bodyPr wrap="square">
            <a:spAutoFit/>
          </a:bodyPr>
          <a:lstStyle/>
          <a:p>
            <a:r>
              <a:rPr lang="en-US" dirty="0"/>
              <a:t>Following is the Breadth-First Search</a:t>
            </a:r>
          </a:p>
          <a:p>
            <a:r>
              <a:rPr lang="en-US" dirty="0"/>
              <a:t>5 3 7 2 4 8 </a:t>
            </a:r>
          </a:p>
        </p:txBody>
      </p:sp>
    </p:spTree>
    <p:extLst>
      <p:ext uri="{BB962C8B-B14F-4D97-AF65-F5344CB8AC3E}">
        <p14:creationId xmlns:p14="http://schemas.microsoft.com/office/powerpoint/2010/main" val="109849738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47515F-4A58-DFA9-F4DC-FA2F57C2B8AC}"/>
              </a:ext>
            </a:extLst>
          </p:cNvPr>
          <p:cNvSpPr>
            <a:spLocks noGrp="1"/>
          </p:cNvSpPr>
          <p:nvPr>
            <p:ph type="title"/>
          </p:nvPr>
        </p:nvSpPr>
        <p:spPr>
          <a:xfrm>
            <a:off x="1568147" y="129612"/>
            <a:ext cx="8911687" cy="1280890"/>
          </a:xfrm>
        </p:spPr>
        <p:txBody>
          <a:bodyPr/>
          <a:lstStyle/>
          <a:p>
            <a:r>
              <a:rPr lang="en-IN" dirty="0"/>
              <a:t>Depth first search </a:t>
            </a:r>
            <a:endParaRPr lang="en-US" dirty="0"/>
          </a:p>
        </p:txBody>
      </p:sp>
      <p:sp>
        <p:nvSpPr>
          <p:cNvPr id="3" name="Content Placeholder 2">
            <a:extLst>
              <a:ext uri="{FF2B5EF4-FFF2-40B4-BE49-F238E27FC236}">
                <a16:creationId xmlns:a16="http://schemas.microsoft.com/office/drawing/2014/main" id="{CD8527A1-EA1C-ABF8-E388-1F26941C7D64}"/>
              </a:ext>
            </a:extLst>
          </p:cNvPr>
          <p:cNvSpPr>
            <a:spLocks noGrp="1"/>
          </p:cNvSpPr>
          <p:nvPr>
            <p:ph idx="1"/>
          </p:nvPr>
        </p:nvSpPr>
        <p:spPr>
          <a:xfrm>
            <a:off x="1042218" y="1278194"/>
            <a:ext cx="11149781" cy="4809749"/>
          </a:xfrm>
        </p:spPr>
        <p:txBody>
          <a:bodyPr>
            <a:normAutofit fontScale="77500" lnSpcReduction="20000"/>
          </a:bodyPr>
          <a:lstStyle/>
          <a:p>
            <a:pPr algn="just">
              <a:buFont typeface="Arial" panose="020B0604020202020204" pitchFamily="34" charset="0"/>
              <a:buChar char="•"/>
            </a:pPr>
            <a:r>
              <a:rPr lang="en-US" sz="2400" b="0" i="0" dirty="0">
                <a:solidFill>
                  <a:srgbClr val="000000"/>
                </a:solidFill>
                <a:effectLst/>
                <a:latin typeface="inter-regular"/>
              </a:rPr>
              <a:t>Depth-first search is a recursive algorithm for traversing a tree or graph data structure.</a:t>
            </a:r>
          </a:p>
          <a:p>
            <a:pPr algn="just">
              <a:buFont typeface="Arial" panose="020B0604020202020204" pitchFamily="34" charset="0"/>
              <a:buChar char="•"/>
            </a:pPr>
            <a:r>
              <a:rPr lang="en-US" sz="2400" b="0" i="0" dirty="0">
                <a:solidFill>
                  <a:srgbClr val="000000"/>
                </a:solidFill>
                <a:effectLst/>
                <a:latin typeface="inter-regular"/>
              </a:rPr>
              <a:t>It is called the depth-first search because </a:t>
            </a:r>
            <a:r>
              <a:rPr lang="en-US" sz="2400" b="0" i="0" dirty="0">
                <a:solidFill>
                  <a:srgbClr val="00B0F0"/>
                </a:solidFill>
                <a:effectLst/>
                <a:latin typeface="inter-regular"/>
              </a:rPr>
              <a:t>it starts from the root node and follows each path to its greatest depth node </a:t>
            </a:r>
            <a:r>
              <a:rPr lang="en-US" sz="2400" b="0" i="0" dirty="0">
                <a:solidFill>
                  <a:srgbClr val="000000"/>
                </a:solidFill>
                <a:effectLst/>
                <a:latin typeface="inter-regular"/>
              </a:rPr>
              <a:t>before </a:t>
            </a:r>
            <a:r>
              <a:rPr lang="en-US" sz="2400" b="0" i="0" dirty="0">
                <a:solidFill>
                  <a:srgbClr val="FFC000"/>
                </a:solidFill>
                <a:effectLst/>
                <a:latin typeface="inter-regular"/>
              </a:rPr>
              <a:t>moving to the next path.</a:t>
            </a:r>
          </a:p>
          <a:p>
            <a:pPr algn="just">
              <a:buFont typeface="Arial" panose="020B0604020202020204" pitchFamily="34" charset="0"/>
              <a:buChar char="•"/>
            </a:pPr>
            <a:r>
              <a:rPr lang="en-US" sz="2400" b="1" i="0" u="sng" dirty="0">
                <a:solidFill>
                  <a:schemeClr val="tx1"/>
                </a:solidFill>
                <a:effectLst/>
                <a:latin typeface="inter-regular"/>
              </a:rPr>
              <a:t>Depth = vertical before horizontal.</a:t>
            </a:r>
          </a:p>
          <a:p>
            <a:pPr algn="just">
              <a:buFont typeface="Arial" panose="020B0604020202020204" pitchFamily="34" charset="0"/>
              <a:buChar char="•"/>
            </a:pPr>
            <a:r>
              <a:rPr lang="en-US" sz="2400" b="0" i="0" dirty="0">
                <a:solidFill>
                  <a:srgbClr val="000000"/>
                </a:solidFill>
                <a:effectLst/>
                <a:latin typeface="inter-regular"/>
              </a:rPr>
              <a:t>DFS </a:t>
            </a:r>
            <a:r>
              <a:rPr lang="en-US" sz="2400" b="0" i="0" dirty="0">
                <a:solidFill>
                  <a:srgbClr val="C00000"/>
                </a:solidFill>
                <a:effectLst/>
                <a:latin typeface="inter-regular"/>
              </a:rPr>
              <a:t>uses a stack data structure </a:t>
            </a:r>
            <a:r>
              <a:rPr lang="en-US" sz="2400" b="0" i="0" dirty="0">
                <a:solidFill>
                  <a:srgbClr val="000000"/>
                </a:solidFill>
                <a:effectLst/>
                <a:latin typeface="inter-regular"/>
              </a:rPr>
              <a:t>for its implementation.</a:t>
            </a:r>
          </a:p>
          <a:p>
            <a:pPr algn="just">
              <a:buFont typeface="Arial" panose="020B0604020202020204" pitchFamily="34" charset="0"/>
              <a:buChar char="•"/>
            </a:pPr>
            <a:r>
              <a:rPr lang="en-US" sz="2400" b="0" i="0" dirty="0">
                <a:solidFill>
                  <a:srgbClr val="000000"/>
                </a:solidFill>
                <a:effectLst/>
                <a:latin typeface="inter-regular"/>
              </a:rPr>
              <a:t>The process of the DFS algorithm is similar to the BFS algorithm.</a:t>
            </a:r>
          </a:p>
          <a:p>
            <a:pPr algn="just">
              <a:buFont typeface="Arial" panose="020B0604020202020204" pitchFamily="34" charset="0"/>
              <a:buChar char="•"/>
            </a:pPr>
            <a:endParaRPr lang="en-US" sz="2400" dirty="0">
              <a:solidFill>
                <a:srgbClr val="000000"/>
              </a:solidFill>
              <a:latin typeface="inter-regular"/>
            </a:endParaRPr>
          </a:p>
          <a:p>
            <a:pPr algn="just"/>
            <a:r>
              <a:rPr lang="en-US" sz="2400" b="1" i="0" dirty="0">
                <a:solidFill>
                  <a:srgbClr val="333333"/>
                </a:solidFill>
                <a:effectLst/>
                <a:latin typeface="inter-bold"/>
              </a:rPr>
              <a:t>Advantage:</a:t>
            </a:r>
            <a:endParaRPr lang="en-US" sz="2400" b="0" i="0" dirty="0">
              <a:solidFill>
                <a:srgbClr val="333333"/>
              </a:solidFill>
              <a:effectLst/>
              <a:latin typeface="inter-regular"/>
            </a:endParaRPr>
          </a:p>
          <a:p>
            <a:pPr algn="just">
              <a:buFont typeface="Arial" panose="020B0604020202020204" pitchFamily="34" charset="0"/>
              <a:buChar char="•"/>
            </a:pPr>
            <a:r>
              <a:rPr lang="en-US" sz="2400" b="0" i="0" dirty="0">
                <a:solidFill>
                  <a:srgbClr val="000000"/>
                </a:solidFill>
                <a:effectLst/>
                <a:latin typeface="inter-regular"/>
              </a:rPr>
              <a:t>DFS requires </a:t>
            </a:r>
            <a:r>
              <a:rPr lang="en-US" sz="2400" b="0" i="0" dirty="0">
                <a:solidFill>
                  <a:srgbClr val="00B050"/>
                </a:solidFill>
                <a:effectLst/>
                <a:latin typeface="inter-regular"/>
              </a:rPr>
              <a:t>much less memory as it only needs to store a stack of the nodes on the path </a:t>
            </a:r>
            <a:r>
              <a:rPr lang="en-US" sz="2400" b="0" i="0" dirty="0">
                <a:solidFill>
                  <a:srgbClr val="00B0F0"/>
                </a:solidFill>
                <a:effectLst/>
                <a:latin typeface="inter-regular"/>
              </a:rPr>
              <a:t>from root node to the current node</a:t>
            </a:r>
            <a:r>
              <a:rPr lang="en-US" sz="2400" b="0" i="0" dirty="0">
                <a:solidFill>
                  <a:srgbClr val="000000"/>
                </a:solidFill>
                <a:effectLst/>
                <a:latin typeface="inter-regular"/>
              </a:rPr>
              <a:t>.</a:t>
            </a:r>
          </a:p>
          <a:p>
            <a:pPr algn="just">
              <a:buFont typeface="Arial" panose="020B0604020202020204" pitchFamily="34" charset="0"/>
              <a:buChar char="•"/>
            </a:pPr>
            <a:r>
              <a:rPr lang="en-US" sz="2400" b="0" i="0" dirty="0">
                <a:solidFill>
                  <a:srgbClr val="000000"/>
                </a:solidFill>
                <a:effectLst/>
                <a:latin typeface="inter-regular"/>
              </a:rPr>
              <a:t>It takes less time to reach the goal node than the BFS algorithm (if it traverses in the right path).</a:t>
            </a:r>
          </a:p>
          <a:p>
            <a:pPr algn="just"/>
            <a:r>
              <a:rPr lang="en-IN" sz="2400" b="1" i="0" dirty="0">
                <a:solidFill>
                  <a:srgbClr val="333333"/>
                </a:solidFill>
                <a:effectLst/>
                <a:latin typeface="inter-bold"/>
              </a:rPr>
              <a:t>Disadvantage:</a:t>
            </a:r>
            <a:endParaRPr lang="en-US" sz="2400" b="1" i="0" dirty="0">
              <a:solidFill>
                <a:srgbClr val="000000"/>
              </a:solidFill>
              <a:effectLst/>
              <a:latin typeface="inter-regular"/>
            </a:endParaRPr>
          </a:p>
          <a:p>
            <a:pPr algn="just">
              <a:buFont typeface="Arial" panose="020B0604020202020204" pitchFamily="34" charset="0"/>
              <a:buChar char="•"/>
            </a:pPr>
            <a:r>
              <a:rPr lang="en-US" sz="2400" b="0" i="0" dirty="0">
                <a:solidFill>
                  <a:srgbClr val="000000"/>
                </a:solidFill>
                <a:effectLst/>
                <a:latin typeface="inter-regular"/>
              </a:rPr>
              <a:t>There is the </a:t>
            </a:r>
            <a:r>
              <a:rPr lang="en-US" sz="2400" b="0" i="0" dirty="0">
                <a:solidFill>
                  <a:srgbClr val="C00000"/>
                </a:solidFill>
                <a:effectLst/>
                <a:latin typeface="inter-regular"/>
              </a:rPr>
              <a:t>possibility that many states keep re-occurring</a:t>
            </a:r>
            <a:r>
              <a:rPr lang="en-US" sz="2400" b="0" i="0" dirty="0">
                <a:solidFill>
                  <a:srgbClr val="000000"/>
                </a:solidFill>
                <a:effectLst/>
                <a:latin typeface="inter-regular"/>
              </a:rPr>
              <a:t>, and there is no guarantee of finding a solution.</a:t>
            </a:r>
          </a:p>
          <a:p>
            <a:pPr algn="just">
              <a:buFont typeface="Arial" panose="020B0604020202020204" pitchFamily="34" charset="0"/>
              <a:buChar char="•"/>
            </a:pPr>
            <a:r>
              <a:rPr lang="en-US" sz="2400" b="0" i="0" dirty="0">
                <a:solidFill>
                  <a:srgbClr val="000000"/>
                </a:solidFill>
                <a:effectLst/>
                <a:latin typeface="inter-regular"/>
              </a:rPr>
              <a:t>DFS </a:t>
            </a:r>
            <a:r>
              <a:rPr lang="en-US" sz="2400" b="0" i="0" dirty="0">
                <a:solidFill>
                  <a:srgbClr val="7030A0"/>
                </a:solidFill>
                <a:effectLst/>
                <a:latin typeface="inter-regular"/>
              </a:rPr>
              <a:t>algorithm goes for deep-down searching; sometimes it may go to the infinite loop</a:t>
            </a:r>
            <a:r>
              <a:rPr lang="en-US" sz="2400" b="0" i="0" dirty="0">
                <a:solidFill>
                  <a:srgbClr val="000000"/>
                </a:solidFill>
                <a:effectLst/>
                <a:latin typeface="inter-regular"/>
              </a:rPr>
              <a:t>.</a:t>
            </a:r>
          </a:p>
          <a:p>
            <a:pPr algn="just"/>
            <a:endParaRPr lang="en-US" sz="2400" b="0" i="0" dirty="0">
              <a:solidFill>
                <a:srgbClr val="000000"/>
              </a:solidFill>
              <a:effectLst/>
              <a:latin typeface="inter-regular"/>
            </a:endParaRPr>
          </a:p>
          <a:p>
            <a:pPr algn="just"/>
            <a:endParaRPr lang="en-US" sz="2400" b="1" dirty="0"/>
          </a:p>
        </p:txBody>
      </p:sp>
      <p:pic>
        <p:nvPicPr>
          <p:cNvPr id="4" name="Picture 3">
            <a:extLst>
              <a:ext uri="{FF2B5EF4-FFF2-40B4-BE49-F238E27FC236}">
                <a16:creationId xmlns:a16="http://schemas.microsoft.com/office/drawing/2014/main" id="{0A5EF682-BBC6-BC89-A815-2405B3BFA89F}"/>
              </a:ext>
            </a:extLst>
          </p:cNvPr>
          <p:cNvPicPr>
            <a:picLocks noChangeAspect="1"/>
          </p:cNvPicPr>
          <p:nvPr/>
        </p:nvPicPr>
        <p:blipFill rotWithShape="1">
          <a:blip r:embed="rId2">
            <a:extLst>
              <a:ext uri="{28A0092B-C50C-407E-A947-70E740481C1C}">
                <a14:useLocalDpi xmlns:a14="http://schemas.microsoft.com/office/drawing/2010/main" val="0"/>
              </a:ext>
            </a:extLst>
          </a:blip>
          <a:srcRect l="7632" t="6513" r="14801" b="12673"/>
          <a:stretch/>
        </p:blipFill>
        <p:spPr>
          <a:xfrm>
            <a:off x="11003168" y="6329803"/>
            <a:ext cx="1002890" cy="342928"/>
          </a:xfrm>
          <a:prstGeom prst="rect">
            <a:avLst/>
          </a:prstGeom>
        </p:spPr>
      </p:pic>
      <p:sp>
        <p:nvSpPr>
          <p:cNvPr id="5" name="TextBox 4">
            <a:extLst>
              <a:ext uri="{FF2B5EF4-FFF2-40B4-BE49-F238E27FC236}">
                <a16:creationId xmlns:a16="http://schemas.microsoft.com/office/drawing/2014/main" id="{CED2CCDC-C02F-B3A1-A3C5-707DECA064F1}"/>
              </a:ext>
            </a:extLst>
          </p:cNvPr>
          <p:cNvSpPr txBox="1"/>
          <p:nvPr/>
        </p:nvSpPr>
        <p:spPr>
          <a:xfrm>
            <a:off x="-30367" y="770057"/>
            <a:ext cx="1741230" cy="369332"/>
          </a:xfrm>
          <a:prstGeom prst="rect">
            <a:avLst/>
          </a:prstGeom>
          <a:noFill/>
        </p:spPr>
        <p:txBody>
          <a:bodyPr wrap="square" rtlCol="0">
            <a:spAutoFit/>
          </a:bodyPr>
          <a:lstStyle/>
          <a:p>
            <a:r>
              <a:rPr lang="en-US" sz="1800" dirty="0">
                <a:solidFill>
                  <a:schemeClr val="bg1"/>
                </a:solidFill>
                <a:effectLst/>
                <a:latin typeface="Bookman Old Style" panose="02050604050505020204" pitchFamily="18" charset="0"/>
                <a:ea typeface="Calibri" panose="020F0502020204030204" pitchFamily="34" charset="0"/>
              </a:rPr>
              <a:t>22AM2305</a:t>
            </a:r>
            <a:endParaRPr lang="en-IN" dirty="0">
              <a:solidFill>
                <a:schemeClr val="bg1"/>
              </a:solidFill>
              <a:latin typeface="Bookman Old Style" panose="02050604050505020204" pitchFamily="18" charset="0"/>
            </a:endParaRPr>
          </a:p>
        </p:txBody>
      </p:sp>
      <p:pic>
        <p:nvPicPr>
          <p:cNvPr id="6" name="Picture 2" descr="logo">
            <a:extLst>
              <a:ext uri="{FF2B5EF4-FFF2-40B4-BE49-F238E27FC236}">
                <a16:creationId xmlns:a16="http://schemas.microsoft.com/office/drawing/2014/main" id="{747D0EEE-BA48-499F-B84C-D20F74CB5DB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52799" y="89593"/>
            <a:ext cx="1070381" cy="1049796"/>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a:extLst>
              <a:ext uri="{FF2B5EF4-FFF2-40B4-BE49-F238E27FC236}">
                <a16:creationId xmlns:a16="http://schemas.microsoft.com/office/drawing/2014/main" id="{B8E50AC5-8D2A-6A5D-796D-B6863CA3B31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123180" y="89593"/>
            <a:ext cx="941000" cy="960203"/>
          </a:xfrm>
          <a:prstGeom prst="rect">
            <a:avLst/>
          </a:prstGeom>
        </p:spPr>
      </p:pic>
    </p:spTree>
    <p:extLst>
      <p:ext uri="{BB962C8B-B14F-4D97-AF65-F5344CB8AC3E}">
        <p14:creationId xmlns:p14="http://schemas.microsoft.com/office/powerpoint/2010/main" val="386507832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47515F-4A58-DFA9-F4DC-FA2F57C2B8AC}"/>
              </a:ext>
            </a:extLst>
          </p:cNvPr>
          <p:cNvSpPr>
            <a:spLocks noGrp="1"/>
          </p:cNvSpPr>
          <p:nvPr>
            <p:ph type="title"/>
          </p:nvPr>
        </p:nvSpPr>
        <p:spPr>
          <a:xfrm>
            <a:off x="1568147" y="129612"/>
            <a:ext cx="8911687" cy="1280890"/>
          </a:xfrm>
        </p:spPr>
        <p:txBody>
          <a:bodyPr/>
          <a:lstStyle/>
          <a:p>
            <a:endParaRPr lang="en-US" dirty="0"/>
          </a:p>
        </p:txBody>
      </p:sp>
      <p:sp>
        <p:nvSpPr>
          <p:cNvPr id="3" name="Content Placeholder 2">
            <a:extLst>
              <a:ext uri="{FF2B5EF4-FFF2-40B4-BE49-F238E27FC236}">
                <a16:creationId xmlns:a16="http://schemas.microsoft.com/office/drawing/2014/main" id="{CD8527A1-EA1C-ABF8-E388-1F26941C7D64}"/>
              </a:ext>
            </a:extLst>
          </p:cNvPr>
          <p:cNvSpPr>
            <a:spLocks noGrp="1"/>
          </p:cNvSpPr>
          <p:nvPr>
            <p:ph idx="1"/>
          </p:nvPr>
        </p:nvSpPr>
        <p:spPr>
          <a:xfrm>
            <a:off x="1042219" y="4306526"/>
            <a:ext cx="10462394" cy="2412374"/>
          </a:xfrm>
        </p:spPr>
        <p:txBody>
          <a:bodyPr>
            <a:normAutofit fontScale="92500" lnSpcReduction="20000"/>
          </a:bodyPr>
          <a:lstStyle/>
          <a:p>
            <a:r>
              <a:rPr lang="en-US" sz="2400" dirty="0">
                <a:solidFill>
                  <a:schemeClr val="tx1"/>
                </a:solidFill>
              </a:rPr>
              <a:t>In the below search tree, we have shown the flow of depth-first search, and it will follow the order as:</a:t>
            </a:r>
          </a:p>
          <a:p>
            <a:r>
              <a:rPr lang="en-US" sz="2400" dirty="0">
                <a:solidFill>
                  <a:schemeClr val="tx1"/>
                </a:solidFill>
              </a:rPr>
              <a:t>Root node---&gt;Left node ----&gt; right node.</a:t>
            </a:r>
          </a:p>
          <a:p>
            <a:r>
              <a:rPr lang="en-US" sz="2400" dirty="0">
                <a:solidFill>
                  <a:schemeClr val="tx1"/>
                </a:solidFill>
              </a:rPr>
              <a:t>It will start searching from root node S, and traverse A, then B, then D and E, after traversing E, it will </a:t>
            </a:r>
            <a:r>
              <a:rPr lang="en-US" sz="2400" dirty="0">
                <a:solidFill>
                  <a:srgbClr val="C00000"/>
                </a:solidFill>
              </a:rPr>
              <a:t>backtrack the tree as E has no other successor and still goal node is not found. </a:t>
            </a:r>
            <a:r>
              <a:rPr lang="en-US" sz="2400" dirty="0">
                <a:solidFill>
                  <a:schemeClr val="tx1"/>
                </a:solidFill>
              </a:rPr>
              <a:t>After backtracking it will traverse node C and then G, and here it will terminate as it found goal node.</a:t>
            </a:r>
            <a:endParaRPr lang="en-IN" sz="2400" dirty="0">
              <a:solidFill>
                <a:schemeClr val="tx1"/>
              </a:solidFill>
            </a:endParaRPr>
          </a:p>
          <a:p>
            <a:pPr algn="just"/>
            <a:endParaRPr lang="en-US" sz="2400" b="1" dirty="0"/>
          </a:p>
        </p:txBody>
      </p:sp>
      <p:pic>
        <p:nvPicPr>
          <p:cNvPr id="4" name="Picture 3">
            <a:extLst>
              <a:ext uri="{FF2B5EF4-FFF2-40B4-BE49-F238E27FC236}">
                <a16:creationId xmlns:a16="http://schemas.microsoft.com/office/drawing/2014/main" id="{0A5EF682-BBC6-BC89-A815-2405B3BFA89F}"/>
              </a:ext>
            </a:extLst>
          </p:cNvPr>
          <p:cNvPicPr>
            <a:picLocks noChangeAspect="1"/>
          </p:cNvPicPr>
          <p:nvPr/>
        </p:nvPicPr>
        <p:blipFill rotWithShape="1">
          <a:blip r:embed="rId2">
            <a:extLst>
              <a:ext uri="{28A0092B-C50C-407E-A947-70E740481C1C}">
                <a14:useLocalDpi xmlns:a14="http://schemas.microsoft.com/office/drawing/2010/main" val="0"/>
              </a:ext>
            </a:extLst>
          </a:blip>
          <a:srcRect l="7632" t="6513" r="14801" b="12673"/>
          <a:stretch/>
        </p:blipFill>
        <p:spPr>
          <a:xfrm>
            <a:off x="11003168" y="6329803"/>
            <a:ext cx="1002890" cy="342928"/>
          </a:xfrm>
          <a:prstGeom prst="rect">
            <a:avLst/>
          </a:prstGeom>
        </p:spPr>
      </p:pic>
      <p:sp>
        <p:nvSpPr>
          <p:cNvPr id="5" name="TextBox 4">
            <a:extLst>
              <a:ext uri="{FF2B5EF4-FFF2-40B4-BE49-F238E27FC236}">
                <a16:creationId xmlns:a16="http://schemas.microsoft.com/office/drawing/2014/main" id="{CED2CCDC-C02F-B3A1-A3C5-707DECA064F1}"/>
              </a:ext>
            </a:extLst>
          </p:cNvPr>
          <p:cNvSpPr txBox="1"/>
          <p:nvPr/>
        </p:nvSpPr>
        <p:spPr>
          <a:xfrm>
            <a:off x="-30367" y="770057"/>
            <a:ext cx="1741230" cy="369332"/>
          </a:xfrm>
          <a:prstGeom prst="rect">
            <a:avLst/>
          </a:prstGeom>
          <a:noFill/>
        </p:spPr>
        <p:txBody>
          <a:bodyPr wrap="square" rtlCol="0">
            <a:spAutoFit/>
          </a:bodyPr>
          <a:lstStyle/>
          <a:p>
            <a:r>
              <a:rPr lang="en-US" sz="1800" dirty="0">
                <a:solidFill>
                  <a:schemeClr val="bg1"/>
                </a:solidFill>
                <a:effectLst/>
                <a:latin typeface="Bookman Old Style" panose="02050604050505020204" pitchFamily="18" charset="0"/>
                <a:ea typeface="Calibri" panose="020F0502020204030204" pitchFamily="34" charset="0"/>
              </a:rPr>
              <a:t>22AM2305</a:t>
            </a:r>
            <a:endParaRPr lang="en-IN" dirty="0">
              <a:solidFill>
                <a:schemeClr val="bg1"/>
              </a:solidFill>
              <a:latin typeface="Bookman Old Style" panose="02050604050505020204" pitchFamily="18" charset="0"/>
            </a:endParaRPr>
          </a:p>
        </p:txBody>
      </p:sp>
      <p:pic>
        <p:nvPicPr>
          <p:cNvPr id="6" name="Picture 2" descr="logo">
            <a:extLst>
              <a:ext uri="{FF2B5EF4-FFF2-40B4-BE49-F238E27FC236}">
                <a16:creationId xmlns:a16="http://schemas.microsoft.com/office/drawing/2014/main" id="{747D0EEE-BA48-499F-B84C-D20F74CB5DB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52799" y="89593"/>
            <a:ext cx="1070381" cy="1049796"/>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a:extLst>
              <a:ext uri="{FF2B5EF4-FFF2-40B4-BE49-F238E27FC236}">
                <a16:creationId xmlns:a16="http://schemas.microsoft.com/office/drawing/2014/main" id="{B8E50AC5-8D2A-6A5D-796D-B6863CA3B31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123180" y="89593"/>
            <a:ext cx="941000" cy="960203"/>
          </a:xfrm>
          <a:prstGeom prst="rect">
            <a:avLst/>
          </a:prstGeom>
        </p:spPr>
      </p:pic>
      <p:pic>
        <p:nvPicPr>
          <p:cNvPr id="8" name="object 2">
            <a:extLst>
              <a:ext uri="{FF2B5EF4-FFF2-40B4-BE49-F238E27FC236}">
                <a16:creationId xmlns:a16="http://schemas.microsoft.com/office/drawing/2014/main" id="{4D2FA349-C28A-8004-B7E0-4276EB56712B}"/>
              </a:ext>
            </a:extLst>
          </p:cNvPr>
          <p:cNvPicPr/>
          <p:nvPr/>
        </p:nvPicPr>
        <p:blipFill>
          <a:blip r:embed="rId5" cstate="print"/>
          <a:stretch>
            <a:fillRect/>
          </a:stretch>
        </p:blipFill>
        <p:spPr>
          <a:xfrm>
            <a:off x="2983760" y="227339"/>
            <a:ext cx="6012758" cy="4128351"/>
          </a:xfrm>
          <a:prstGeom prst="rect">
            <a:avLst/>
          </a:prstGeom>
        </p:spPr>
      </p:pic>
    </p:spTree>
    <p:extLst>
      <p:ext uri="{BB962C8B-B14F-4D97-AF65-F5344CB8AC3E}">
        <p14:creationId xmlns:p14="http://schemas.microsoft.com/office/powerpoint/2010/main" val="273507041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47515F-4A58-DFA9-F4DC-FA2F57C2B8AC}"/>
              </a:ext>
            </a:extLst>
          </p:cNvPr>
          <p:cNvSpPr>
            <a:spLocks noGrp="1"/>
          </p:cNvSpPr>
          <p:nvPr>
            <p:ph type="title"/>
          </p:nvPr>
        </p:nvSpPr>
        <p:spPr>
          <a:xfrm>
            <a:off x="1568147" y="129612"/>
            <a:ext cx="8911687" cy="1280890"/>
          </a:xfrm>
        </p:spPr>
        <p:txBody>
          <a:bodyPr/>
          <a:lstStyle/>
          <a:p>
            <a:endParaRPr lang="en-US" dirty="0"/>
          </a:p>
        </p:txBody>
      </p:sp>
      <p:sp>
        <p:nvSpPr>
          <p:cNvPr id="3" name="Content Placeholder 2">
            <a:extLst>
              <a:ext uri="{FF2B5EF4-FFF2-40B4-BE49-F238E27FC236}">
                <a16:creationId xmlns:a16="http://schemas.microsoft.com/office/drawing/2014/main" id="{CD8527A1-EA1C-ABF8-E388-1F26941C7D64}"/>
              </a:ext>
            </a:extLst>
          </p:cNvPr>
          <p:cNvSpPr>
            <a:spLocks noGrp="1"/>
          </p:cNvSpPr>
          <p:nvPr>
            <p:ph idx="1"/>
          </p:nvPr>
        </p:nvSpPr>
        <p:spPr>
          <a:xfrm>
            <a:off x="1042219" y="1579201"/>
            <a:ext cx="10462394" cy="4508742"/>
          </a:xfrm>
        </p:spPr>
        <p:txBody>
          <a:bodyPr>
            <a:norm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a:ln>
                  <a:noFill/>
                </a:ln>
                <a:solidFill>
                  <a:srgbClr val="333333"/>
                </a:solidFill>
                <a:effectLst/>
                <a:latin typeface="inter-bold"/>
              </a:rPr>
              <a:t>T(n)= 1+ n</a:t>
            </a:r>
            <a:r>
              <a:rPr kumimoji="0" lang="en-US" altLang="en-US" sz="2400" b="1" i="0" u="none" strike="noStrike" cap="none" normalizeH="0" baseline="30000" dirty="0">
                <a:ln>
                  <a:noFill/>
                </a:ln>
                <a:solidFill>
                  <a:srgbClr val="333333"/>
                </a:solidFill>
                <a:effectLst/>
                <a:latin typeface="inter-bold"/>
              </a:rPr>
              <a:t>2</a:t>
            </a:r>
            <a:r>
              <a:rPr kumimoji="0" lang="en-US" altLang="en-US" sz="2400" b="1" i="0" u="none" strike="noStrike" cap="none" normalizeH="0" baseline="0" dirty="0">
                <a:ln>
                  <a:noFill/>
                </a:ln>
                <a:solidFill>
                  <a:srgbClr val="333333"/>
                </a:solidFill>
                <a:effectLst/>
                <a:latin typeface="inter-bold"/>
              </a:rPr>
              <a:t>+ n</a:t>
            </a:r>
            <a:r>
              <a:rPr kumimoji="0" lang="en-US" altLang="en-US" sz="2400" b="1" i="0" u="none" strike="noStrike" cap="none" normalizeH="0" baseline="30000" dirty="0">
                <a:ln>
                  <a:noFill/>
                </a:ln>
                <a:solidFill>
                  <a:srgbClr val="333333"/>
                </a:solidFill>
                <a:effectLst/>
                <a:latin typeface="inter-bold"/>
              </a:rPr>
              <a:t>3</a:t>
            </a:r>
            <a:r>
              <a:rPr kumimoji="0" lang="en-US" altLang="en-US" sz="2400" b="1" i="0" u="none" strike="noStrike" cap="none" normalizeH="0" baseline="0" dirty="0">
                <a:ln>
                  <a:noFill/>
                </a:ln>
                <a:solidFill>
                  <a:srgbClr val="333333"/>
                </a:solidFill>
                <a:effectLst/>
                <a:latin typeface="inter-bold"/>
              </a:rPr>
              <a:t> +.........+ n</a:t>
            </a:r>
            <a:r>
              <a:rPr kumimoji="0" lang="en-US" altLang="en-US" sz="2400" b="1" i="0" u="none" strike="noStrike" cap="none" normalizeH="0" baseline="30000" dirty="0">
                <a:ln>
                  <a:noFill/>
                </a:ln>
                <a:solidFill>
                  <a:srgbClr val="333333"/>
                </a:solidFill>
                <a:effectLst/>
                <a:latin typeface="inter-bold"/>
              </a:rPr>
              <a:t>m</a:t>
            </a:r>
            <a:r>
              <a:rPr kumimoji="0" lang="en-US" altLang="en-US" sz="2400" b="1" i="0" u="none" strike="noStrike" cap="none" normalizeH="0" baseline="0" dirty="0">
                <a:ln>
                  <a:noFill/>
                </a:ln>
                <a:solidFill>
                  <a:srgbClr val="333333"/>
                </a:solidFill>
                <a:effectLst/>
                <a:latin typeface="inter-bold"/>
              </a:rPr>
              <a:t>=O(n</a:t>
            </a:r>
            <a:r>
              <a:rPr kumimoji="0" lang="en-US" altLang="en-US" sz="2400" b="1" i="0" u="none" strike="noStrike" cap="none" normalizeH="0" baseline="30000" dirty="0">
                <a:ln>
                  <a:noFill/>
                </a:ln>
                <a:solidFill>
                  <a:srgbClr val="333333"/>
                </a:solidFill>
                <a:effectLst/>
                <a:latin typeface="inter-bold"/>
              </a:rPr>
              <a:t>m</a:t>
            </a:r>
            <a:r>
              <a:rPr kumimoji="0" lang="en-US" altLang="en-US" sz="2400" b="1" i="0" u="none" strike="noStrike" cap="none" normalizeH="0" baseline="0" dirty="0">
                <a:ln>
                  <a:noFill/>
                </a:ln>
                <a:solidFill>
                  <a:srgbClr val="333333"/>
                </a:solidFill>
                <a:effectLst/>
                <a:latin typeface="inter-bold"/>
              </a:rPr>
              <a:t>)</a:t>
            </a:r>
            <a:endParaRPr kumimoji="0" lang="en-US" altLang="en-US" sz="2400" b="0" i="0" u="none" strike="noStrike" cap="none" normalizeH="0" baseline="0" dirty="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a:ln>
                  <a:noFill/>
                </a:ln>
                <a:solidFill>
                  <a:srgbClr val="333333"/>
                </a:solidFill>
                <a:effectLst/>
                <a:latin typeface="inter-bold"/>
              </a:rPr>
              <a:t>Where, m= maximum depth of any node and this can be much larger than d (Shallowest solution depth)</a:t>
            </a:r>
            <a:endParaRPr kumimoji="0" lang="en-US" altLang="en-US" sz="2400" b="0" i="0" u="none" strike="noStrike" cap="none" normalizeH="0" baseline="0" dirty="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a:ln>
                  <a:noFill/>
                </a:ln>
                <a:solidFill>
                  <a:srgbClr val="333333"/>
                </a:solidFill>
                <a:effectLst/>
                <a:latin typeface="inter-bold"/>
              </a:rPr>
              <a:t>Space Complexity:</a:t>
            </a:r>
            <a:r>
              <a:rPr kumimoji="0" lang="en-US" altLang="en-US" sz="2400" b="0" i="0" u="none" strike="noStrike" cap="none" normalizeH="0" baseline="0" dirty="0">
                <a:ln>
                  <a:noFill/>
                </a:ln>
                <a:solidFill>
                  <a:srgbClr val="333333"/>
                </a:solidFill>
                <a:effectLst/>
                <a:latin typeface="inter-regular"/>
              </a:rPr>
              <a:t> DFS algorithm needs to store only </a:t>
            </a:r>
            <a:r>
              <a:rPr kumimoji="0" lang="en-US" altLang="en-US" sz="2400" b="0" i="0" u="none" strike="noStrike" cap="none" normalizeH="0" baseline="0" dirty="0">
                <a:ln>
                  <a:noFill/>
                </a:ln>
                <a:solidFill>
                  <a:srgbClr val="00B050"/>
                </a:solidFill>
                <a:effectLst/>
                <a:latin typeface="inter-regular"/>
              </a:rPr>
              <a:t>single path from the root node</a:t>
            </a:r>
            <a:r>
              <a:rPr kumimoji="0" lang="en-US" altLang="en-US" sz="2400" b="0" i="0" u="none" strike="noStrike" cap="none" normalizeH="0" baseline="0" dirty="0">
                <a:ln>
                  <a:noFill/>
                </a:ln>
                <a:solidFill>
                  <a:srgbClr val="333333"/>
                </a:solidFill>
                <a:effectLst/>
                <a:latin typeface="inter-regular"/>
              </a:rPr>
              <a:t>, hence space complexity of DFS is equivalent to the size of the fringe set, which is </a:t>
            </a:r>
            <a:r>
              <a:rPr kumimoji="0" lang="en-US" altLang="en-US" sz="2400" b="1" i="0" u="none" strike="noStrike" cap="none" normalizeH="0" baseline="0" dirty="0">
                <a:ln>
                  <a:noFill/>
                </a:ln>
                <a:solidFill>
                  <a:srgbClr val="333333"/>
                </a:solidFill>
                <a:effectLst/>
                <a:latin typeface="inter-bold"/>
              </a:rPr>
              <a:t>O(bm)</a:t>
            </a:r>
            <a:r>
              <a:rPr kumimoji="0" lang="en-US" altLang="en-US" sz="2400" b="0" i="0" u="none" strike="noStrike" cap="none" normalizeH="0" baseline="0" dirty="0">
                <a:ln>
                  <a:noFill/>
                </a:ln>
                <a:solidFill>
                  <a:srgbClr val="333333"/>
                </a:solidFill>
                <a:effectLst/>
                <a:latin typeface="inter-regular"/>
              </a:rPr>
              <a:t>.</a:t>
            </a:r>
            <a:endParaRPr kumimoji="0" lang="en-US" altLang="en-US" sz="2400" b="0" i="0" u="none" strike="noStrike" cap="none" normalizeH="0" baseline="0" dirty="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a:ln>
                  <a:noFill/>
                </a:ln>
                <a:solidFill>
                  <a:srgbClr val="333333"/>
                </a:solidFill>
                <a:effectLst/>
                <a:latin typeface="inter-bold"/>
              </a:rPr>
              <a:t>Optimal:</a:t>
            </a:r>
            <a:r>
              <a:rPr kumimoji="0" lang="en-US" altLang="en-US" sz="2400" b="0" i="0" u="none" strike="noStrike" cap="none" normalizeH="0" baseline="0" dirty="0">
                <a:ln>
                  <a:noFill/>
                </a:ln>
                <a:solidFill>
                  <a:srgbClr val="333333"/>
                </a:solidFill>
                <a:effectLst/>
                <a:latin typeface="inter-regular"/>
              </a:rPr>
              <a:t> DFS search algorithm is non-optimal, as it </a:t>
            </a:r>
            <a:r>
              <a:rPr kumimoji="0" lang="en-US" altLang="en-US" sz="2400" b="0" i="0" u="none" strike="noStrike" cap="none" normalizeH="0" baseline="0" dirty="0">
                <a:ln>
                  <a:noFill/>
                </a:ln>
                <a:solidFill>
                  <a:srgbClr val="FF0000"/>
                </a:solidFill>
                <a:effectLst/>
                <a:latin typeface="inter-regular"/>
              </a:rPr>
              <a:t>may generate a large number of steps or high cost to reach to the goal node.</a:t>
            </a:r>
            <a:endParaRPr kumimoji="0" lang="en-US" altLang="en-US" sz="2400" b="0" i="0" u="none" strike="noStrike" cap="none" normalizeH="0" baseline="0" dirty="0">
              <a:ln>
                <a:noFill/>
              </a:ln>
              <a:solidFill>
                <a:srgbClr val="FF0000"/>
              </a:solidFill>
              <a:effectLst/>
              <a:latin typeface="Arial" panose="020B0604020202020204" pitchFamily="34" charset="0"/>
            </a:endParaRPr>
          </a:p>
          <a:p>
            <a:pPr algn="just"/>
            <a:endParaRPr lang="en-US" sz="2400" b="1" dirty="0"/>
          </a:p>
        </p:txBody>
      </p:sp>
      <p:pic>
        <p:nvPicPr>
          <p:cNvPr id="4" name="Picture 3">
            <a:extLst>
              <a:ext uri="{FF2B5EF4-FFF2-40B4-BE49-F238E27FC236}">
                <a16:creationId xmlns:a16="http://schemas.microsoft.com/office/drawing/2014/main" id="{0A5EF682-BBC6-BC89-A815-2405B3BFA89F}"/>
              </a:ext>
            </a:extLst>
          </p:cNvPr>
          <p:cNvPicPr>
            <a:picLocks noChangeAspect="1"/>
          </p:cNvPicPr>
          <p:nvPr/>
        </p:nvPicPr>
        <p:blipFill rotWithShape="1">
          <a:blip r:embed="rId2">
            <a:extLst>
              <a:ext uri="{28A0092B-C50C-407E-A947-70E740481C1C}">
                <a14:useLocalDpi xmlns:a14="http://schemas.microsoft.com/office/drawing/2010/main" val="0"/>
              </a:ext>
            </a:extLst>
          </a:blip>
          <a:srcRect l="7632" t="6513" r="14801" b="12673"/>
          <a:stretch/>
        </p:blipFill>
        <p:spPr>
          <a:xfrm>
            <a:off x="11003168" y="6329803"/>
            <a:ext cx="1002890" cy="342928"/>
          </a:xfrm>
          <a:prstGeom prst="rect">
            <a:avLst/>
          </a:prstGeom>
        </p:spPr>
      </p:pic>
      <p:sp>
        <p:nvSpPr>
          <p:cNvPr id="5" name="TextBox 4">
            <a:extLst>
              <a:ext uri="{FF2B5EF4-FFF2-40B4-BE49-F238E27FC236}">
                <a16:creationId xmlns:a16="http://schemas.microsoft.com/office/drawing/2014/main" id="{CED2CCDC-C02F-B3A1-A3C5-707DECA064F1}"/>
              </a:ext>
            </a:extLst>
          </p:cNvPr>
          <p:cNvSpPr txBox="1"/>
          <p:nvPr/>
        </p:nvSpPr>
        <p:spPr>
          <a:xfrm>
            <a:off x="-30367" y="770057"/>
            <a:ext cx="1741230" cy="369332"/>
          </a:xfrm>
          <a:prstGeom prst="rect">
            <a:avLst/>
          </a:prstGeom>
          <a:noFill/>
        </p:spPr>
        <p:txBody>
          <a:bodyPr wrap="square" rtlCol="0">
            <a:spAutoFit/>
          </a:bodyPr>
          <a:lstStyle/>
          <a:p>
            <a:r>
              <a:rPr lang="en-US" sz="1800" dirty="0">
                <a:solidFill>
                  <a:schemeClr val="bg1"/>
                </a:solidFill>
                <a:effectLst/>
                <a:latin typeface="Bookman Old Style" panose="02050604050505020204" pitchFamily="18" charset="0"/>
                <a:ea typeface="Calibri" panose="020F0502020204030204" pitchFamily="34" charset="0"/>
              </a:rPr>
              <a:t>22AM2305</a:t>
            </a:r>
            <a:endParaRPr lang="en-IN" dirty="0">
              <a:solidFill>
                <a:schemeClr val="bg1"/>
              </a:solidFill>
              <a:latin typeface="Bookman Old Style" panose="02050604050505020204" pitchFamily="18" charset="0"/>
            </a:endParaRPr>
          </a:p>
        </p:txBody>
      </p:sp>
      <p:pic>
        <p:nvPicPr>
          <p:cNvPr id="6" name="Picture 2" descr="logo">
            <a:extLst>
              <a:ext uri="{FF2B5EF4-FFF2-40B4-BE49-F238E27FC236}">
                <a16:creationId xmlns:a16="http://schemas.microsoft.com/office/drawing/2014/main" id="{747D0EEE-BA48-499F-B84C-D20F74CB5DB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52799" y="89593"/>
            <a:ext cx="1070381" cy="1049796"/>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a:extLst>
              <a:ext uri="{FF2B5EF4-FFF2-40B4-BE49-F238E27FC236}">
                <a16:creationId xmlns:a16="http://schemas.microsoft.com/office/drawing/2014/main" id="{B8E50AC5-8D2A-6A5D-796D-B6863CA3B31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123180" y="89593"/>
            <a:ext cx="941000" cy="960203"/>
          </a:xfrm>
          <a:prstGeom prst="rect">
            <a:avLst/>
          </a:prstGeom>
        </p:spPr>
      </p:pic>
    </p:spTree>
    <p:extLst>
      <p:ext uri="{BB962C8B-B14F-4D97-AF65-F5344CB8AC3E}">
        <p14:creationId xmlns:p14="http://schemas.microsoft.com/office/powerpoint/2010/main" val="162478847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47515F-4A58-DFA9-F4DC-FA2F57C2B8AC}"/>
              </a:ext>
            </a:extLst>
          </p:cNvPr>
          <p:cNvSpPr>
            <a:spLocks noGrp="1"/>
          </p:cNvSpPr>
          <p:nvPr>
            <p:ph type="title"/>
          </p:nvPr>
        </p:nvSpPr>
        <p:spPr>
          <a:xfrm>
            <a:off x="1568147" y="129612"/>
            <a:ext cx="8911687" cy="1280890"/>
          </a:xfrm>
        </p:spPr>
        <p:txBody>
          <a:bodyPr/>
          <a:lstStyle/>
          <a:p>
            <a:endParaRPr lang="en-US" dirty="0"/>
          </a:p>
        </p:txBody>
      </p:sp>
      <p:sp>
        <p:nvSpPr>
          <p:cNvPr id="3" name="Content Placeholder 2">
            <a:extLst>
              <a:ext uri="{FF2B5EF4-FFF2-40B4-BE49-F238E27FC236}">
                <a16:creationId xmlns:a16="http://schemas.microsoft.com/office/drawing/2014/main" id="{CD8527A1-EA1C-ABF8-E388-1F26941C7D64}"/>
              </a:ext>
            </a:extLst>
          </p:cNvPr>
          <p:cNvSpPr>
            <a:spLocks noGrp="1"/>
          </p:cNvSpPr>
          <p:nvPr>
            <p:ph idx="1"/>
          </p:nvPr>
        </p:nvSpPr>
        <p:spPr>
          <a:xfrm>
            <a:off x="1042219" y="1579201"/>
            <a:ext cx="10462394" cy="4508742"/>
          </a:xfrm>
        </p:spPr>
        <p:txBody>
          <a:bodyPr>
            <a:normAutofit/>
          </a:bodyPr>
          <a:lstStyle/>
          <a:p>
            <a:pPr algn="just"/>
            <a:endParaRPr lang="en-US" sz="2400" b="1" dirty="0"/>
          </a:p>
        </p:txBody>
      </p:sp>
      <p:pic>
        <p:nvPicPr>
          <p:cNvPr id="4" name="Picture 3">
            <a:extLst>
              <a:ext uri="{FF2B5EF4-FFF2-40B4-BE49-F238E27FC236}">
                <a16:creationId xmlns:a16="http://schemas.microsoft.com/office/drawing/2014/main" id="{0A5EF682-BBC6-BC89-A815-2405B3BFA89F}"/>
              </a:ext>
            </a:extLst>
          </p:cNvPr>
          <p:cNvPicPr>
            <a:picLocks noChangeAspect="1"/>
          </p:cNvPicPr>
          <p:nvPr/>
        </p:nvPicPr>
        <p:blipFill rotWithShape="1">
          <a:blip r:embed="rId2">
            <a:extLst>
              <a:ext uri="{28A0092B-C50C-407E-A947-70E740481C1C}">
                <a14:useLocalDpi xmlns:a14="http://schemas.microsoft.com/office/drawing/2010/main" val="0"/>
              </a:ext>
            </a:extLst>
          </a:blip>
          <a:srcRect l="7632" t="6513" r="14801" b="12673"/>
          <a:stretch/>
        </p:blipFill>
        <p:spPr>
          <a:xfrm>
            <a:off x="11003168" y="6329803"/>
            <a:ext cx="1002890" cy="342928"/>
          </a:xfrm>
          <a:prstGeom prst="rect">
            <a:avLst/>
          </a:prstGeom>
        </p:spPr>
      </p:pic>
      <p:sp>
        <p:nvSpPr>
          <p:cNvPr id="5" name="TextBox 4">
            <a:extLst>
              <a:ext uri="{FF2B5EF4-FFF2-40B4-BE49-F238E27FC236}">
                <a16:creationId xmlns:a16="http://schemas.microsoft.com/office/drawing/2014/main" id="{CED2CCDC-C02F-B3A1-A3C5-707DECA064F1}"/>
              </a:ext>
            </a:extLst>
          </p:cNvPr>
          <p:cNvSpPr txBox="1"/>
          <p:nvPr/>
        </p:nvSpPr>
        <p:spPr>
          <a:xfrm>
            <a:off x="-30367" y="770057"/>
            <a:ext cx="1741230" cy="369332"/>
          </a:xfrm>
          <a:prstGeom prst="rect">
            <a:avLst/>
          </a:prstGeom>
          <a:noFill/>
        </p:spPr>
        <p:txBody>
          <a:bodyPr wrap="square" rtlCol="0">
            <a:spAutoFit/>
          </a:bodyPr>
          <a:lstStyle/>
          <a:p>
            <a:r>
              <a:rPr lang="en-US" sz="1800" dirty="0">
                <a:solidFill>
                  <a:schemeClr val="bg1"/>
                </a:solidFill>
                <a:effectLst/>
                <a:latin typeface="Bookman Old Style" panose="02050604050505020204" pitchFamily="18" charset="0"/>
                <a:ea typeface="Calibri" panose="020F0502020204030204" pitchFamily="34" charset="0"/>
              </a:rPr>
              <a:t>22AM2305</a:t>
            </a:r>
            <a:endParaRPr lang="en-IN" dirty="0">
              <a:solidFill>
                <a:schemeClr val="bg1"/>
              </a:solidFill>
              <a:latin typeface="Bookman Old Style" panose="02050604050505020204" pitchFamily="18" charset="0"/>
            </a:endParaRPr>
          </a:p>
        </p:txBody>
      </p:sp>
      <p:pic>
        <p:nvPicPr>
          <p:cNvPr id="6" name="Picture 2" descr="logo">
            <a:extLst>
              <a:ext uri="{FF2B5EF4-FFF2-40B4-BE49-F238E27FC236}">
                <a16:creationId xmlns:a16="http://schemas.microsoft.com/office/drawing/2014/main" id="{747D0EEE-BA48-499F-B84C-D20F74CB5DB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52799" y="89593"/>
            <a:ext cx="1070381" cy="1049796"/>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a:extLst>
              <a:ext uri="{FF2B5EF4-FFF2-40B4-BE49-F238E27FC236}">
                <a16:creationId xmlns:a16="http://schemas.microsoft.com/office/drawing/2014/main" id="{B8E50AC5-8D2A-6A5D-796D-B6863CA3B31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123180" y="89593"/>
            <a:ext cx="941000" cy="960203"/>
          </a:xfrm>
          <a:prstGeom prst="rect">
            <a:avLst/>
          </a:prstGeom>
        </p:spPr>
      </p:pic>
      <p:pic>
        <p:nvPicPr>
          <p:cNvPr id="10" name="Picture 9">
            <a:extLst>
              <a:ext uri="{FF2B5EF4-FFF2-40B4-BE49-F238E27FC236}">
                <a16:creationId xmlns:a16="http://schemas.microsoft.com/office/drawing/2014/main" id="{274524CD-0E87-FD1B-3C43-5B1BCB75D570}"/>
              </a:ext>
            </a:extLst>
          </p:cNvPr>
          <p:cNvPicPr>
            <a:picLocks noChangeAspect="1"/>
          </p:cNvPicPr>
          <p:nvPr/>
        </p:nvPicPr>
        <p:blipFill rotWithShape="1">
          <a:blip r:embed="rId5"/>
          <a:srcRect l="25714" t="6836" r="17996" b="9998"/>
          <a:stretch/>
        </p:blipFill>
        <p:spPr>
          <a:xfrm>
            <a:off x="2458074" y="680463"/>
            <a:ext cx="7275852" cy="6046752"/>
          </a:xfrm>
          <a:prstGeom prst="rect">
            <a:avLst/>
          </a:prstGeom>
        </p:spPr>
      </p:pic>
    </p:spTree>
    <p:extLst>
      <p:ext uri="{BB962C8B-B14F-4D97-AF65-F5344CB8AC3E}">
        <p14:creationId xmlns:p14="http://schemas.microsoft.com/office/powerpoint/2010/main" val="28655514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47515F-4A58-DFA9-F4DC-FA2F57C2B8AC}"/>
              </a:ext>
            </a:extLst>
          </p:cNvPr>
          <p:cNvSpPr>
            <a:spLocks noGrp="1"/>
          </p:cNvSpPr>
          <p:nvPr>
            <p:ph type="title"/>
          </p:nvPr>
        </p:nvSpPr>
        <p:spPr>
          <a:xfrm>
            <a:off x="1568147" y="129612"/>
            <a:ext cx="8911687" cy="1280890"/>
          </a:xfrm>
        </p:spPr>
        <p:txBody>
          <a:bodyPr/>
          <a:lstStyle/>
          <a:p>
            <a:endParaRPr lang="en-US" dirty="0"/>
          </a:p>
        </p:txBody>
      </p:sp>
      <p:sp>
        <p:nvSpPr>
          <p:cNvPr id="3" name="Content Placeholder 2">
            <a:extLst>
              <a:ext uri="{FF2B5EF4-FFF2-40B4-BE49-F238E27FC236}">
                <a16:creationId xmlns:a16="http://schemas.microsoft.com/office/drawing/2014/main" id="{CD8527A1-EA1C-ABF8-E388-1F26941C7D64}"/>
              </a:ext>
            </a:extLst>
          </p:cNvPr>
          <p:cNvSpPr>
            <a:spLocks noGrp="1"/>
          </p:cNvSpPr>
          <p:nvPr>
            <p:ph idx="1"/>
          </p:nvPr>
        </p:nvSpPr>
        <p:spPr>
          <a:xfrm>
            <a:off x="1042219" y="1579201"/>
            <a:ext cx="10462394" cy="4508742"/>
          </a:xfrm>
        </p:spPr>
        <p:txBody>
          <a:bodyPr>
            <a:normAutofit/>
          </a:bodyPr>
          <a:lstStyle/>
          <a:p>
            <a:pPr algn="just"/>
            <a:endParaRPr lang="en-US" sz="2400" b="1" dirty="0"/>
          </a:p>
        </p:txBody>
      </p:sp>
      <p:pic>
        <p:nvPicPr>
          <p:cNvPr id="4" name="Picture 3">
            <a:extLst>
              <a:ext uri="{FF2B5EF4-FFF2-40B4-BE49-F238E27FC236}">
                <a16:creationId xmlns:a16="http://schemas.microsoft.com/office/drawing/2014/main" id="{0A5EF682-BBC6-BC89-A815-2405B3BFA89F}"/>
              </a:ext>
            </a:extLst>
          </p:cNvPr>
          <p:cNvPicPr>
            <a:picLocks noChangeAspect="1"/>
          </p:cNvPicPr>
          <p:nvPr/>
        </p:nvPicPr>
        <p:blipFill rotWithShape="1">
          <a:blip r:embed="rId2">
            <a:extLst>
              <a:ext uri="{28A0092B-C50C-407E-A947-70E740481C1C}">
                <a14:useLocalDpi xmlns:a14="http://schemas.microsoft.com/office/drawing/2010/main" val="0"/>
              </a:ext>
            </a:extLst>
          </a:blip>
          <a:srcRect l="7632" t="6513" r="14801" b="12673"/>
          <a:stretch/>
        </p:blipFill>
        <p:spPr>
          <a:xfrm>
            <a:off x="11003168" y="6329803"/>
            <a:ext cx="1002890" cy="342928"/>
          </a:xfrm>
          <a:prstGeom prst="rect">
            <a:avLst/>
          </a:prstGeom>
        </p:spPr>
      </p:pic>
      <p:sp>
        <p:nvSpPr>
          <p:cNvPr id="5" name="TextBox 4">
            <a:extLst>
              <a:ext uri="{FF2B5EF4-FFF2-40B4-BE49-F238E27FC236}">
                <a16:creationId xmlns:a16="http://schemas.microsoft.com/office/drawing/2014/main" id="{CED2CCDC-C02F-B3A1-A3C5-707DECA064F1}"/>
              </a:ext>
            </a:extLst>
          </p:cNvPr>
          <p:cNvSpPr txBox="1"/>
          <p:nvPr/>
        </p:nvSpPr>
        <p:spPr>
          <a:xfrm>
            <a:off x="-30367" y="770057"/>
            <a:ext cx="1741230" cy="369332"/>
          </a:xfrm>
          <a:prstGeom prst="rect">
            <a:avLst/>
          </a:prstGeom>
          <a:noFill/>
        </p:spPr>
        <p:txBody>
          <a:bodyPr wrap="square" rtlCol="0">
            <a:spAutoFit/>
          </a:bodyPr>
          <a:lstStyle/>
          <a:p>
            <a:r>
              <a:rPr lang="en-US" sz="1800" dirty="0">
                <a:solidFill>
                  <a:schemeClr val="bg1"/>
                </a:solidFill>
                <a:effectLst/>
                <a:latin typeface="Bookman Old Style" panose="02050604050505020204" pitchFamily="18" charset="0"/>
                <a:ea typeface="Calibri" panose="020F0502020204030204" pitchFamily="34" charset="0"/>
              </a:rPr>
              <a:t>22AM2305</a:t>
            </a:r>
            <a:endParaRPr lang="en-IN" dirty="0">
              <a:solidFill>
                <a:schemeClr val="bg1"/>
              </a:solidFill>
              <a:latin typeface="Bookman Old Style" panose="02050604050505020204" pitchFamily="18" charset="0"/>
            </a:endParaRPr>
          </a:p>
        </p:txBody>
      </p:sp>
      <p:pic>
        <p:nvPicPr>
          <p:cNvPr id="6" name="Picture 2" descr="logo">
            <a:extLst>
              <a:ext uri="{FF2B5EF4-FFF2-40B4-BE49-F238E27FC236}">
                <a16:creationId xmlns:a16="http://schemas.microsoft.com/office/drawing/2014/main" id="{747D0EEE-BA48-499F-B84C-D20F74CB5DB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52799" y="89593"/>
            <a:ext cx="1070381" cy="1049796"/>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a:extLst>
              <a:ext uri="{FF2B5EF4-FFF2-40B4-BE49-F238E27FC236}">
                <a16:creationId xmlns:a16="http://schemas.microsoft.com/office/drawing/2014/main" id="{B8E50AC5-8D2A-6A5D-796D-B6863CA3B31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123180" y="89593"/>
            <a:ext cx="941000" cy="960203"/>
          </a:xfrm>
          <a:prstGeom prst="rect">
            <a:avLst/>
          </a:prstGeom>
        </p:spPr>
      </p:pic>
      <p:pic>
        <p:nvPicPr>
          <p:cNvPr id="9" name="Picture 8">
            <a:extLst>
              <a:ext uri="{FF2B5EF4-FFF2-40B4-BE49-F238E27FC236}">
                <a16:creationId xmlns:a16="http://schemas.microsoft.com/office/drawing/2014/main" id="{B9BEB96D-4B38-C2E8-BF79-64A821438332}"/>
              </a:ext>
            </a:extLst>
          </p:cNvPr>
          <p:cNvPicPr>
            <a:picLocks noChangeAspect="1"/>
          </p:cNvPicPr>
          <p:nvPr/>
        </p:nvPicPr>
        <p:blipFill rotWithShape="1">
          <a:blip r:embed="rId5"/>
          <a:srcRect t="7025" b="5233"/>
          <a:stretch/>
        </p:blipFill>
        <p:spPr>
          <a:xfrm>
            <a:off x="290189" y="1113580"/>
            <a:ext cx="10859592" cy="5359734"/>
          </a:xfrm>
          <a:prstGeom prst="rect">
            <a:avLst/>
          </a:prstGeom>
        </p:spPr>
      </p:pic>
    </p:spTree>
    <p:extLst>
      <p:ext uri="{BB962C8B-B14F-4D97-AF65-F5344CB8AC3E}">
        <p14:creationId xmlns:p14="http://schemas.microsoft.com/office/powerpoint/2010/main" val="410360031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47515F-4A58-DFA9-F4DC-FA2F57C2B8AC}"/>
              </a:ext>
            </a:extLst>
          </p:cNvPr>
          <p:cNvSpPr>
            <a:spLocks noGrp="1"/>
          </p:cNvSpPr>
          <p:nvPr>
            <p:ph type="title"/>
          </p:nvPr>
        </p:nvSpPr>
        <p:spPr>
          <a:xfrm>
            <a:off x="1568147" y="129612"/>
            <a:ext cx="8911687" cy="1280890"/>
          </a:xfrm>
        </p:spPr>
        <p:txBody>
          <a:bodyPr/>
          <a:lstStyle/>
          <a:p>
            <a:r>
              <a:rPr lang="en-US" dirty="0"/>
              <a:t>Example on DFS</a:t>
            </a:r>
          </a:p>
        </p:txBody>
      </p:sp>
      <p:sp>
        <p:nvSpPr>
          <p:cNvPr id="3" name="Content Placeholder 2">
            <a:extLst>
              <a:ext uri="{FF2B5EF4-FFF2-40B4-BE49-F238E27FC236}">
                <a16:creationId xmlns:a16="http://schemas.microsoft.com/office/drawing/2014/main" id="{CD8527A1-EA1C-ABF8-E388-1F26941C7D64}"/>
              </a:ext>
            </a:extLst>
          </p:cNvPr>
          <p:cNvSpPr>
            <a:spLocks noGrp="1"/>
          </p:cNvSpPr>
          <p:nvPr>
            <p:ph idx="1"/>
          </p:nvPr>
        </p:nvSpPr>
        <p:spPr>
          <a:xfrm>
            <a:off x="1042219" y="1579201"/>
            <a:ext cx="10462394" cy="4508742"/>
          </a:xfrm>
        </p:spPr>
        <p:txBody>
          <a:bodyPr>
            <a:normAutofit/>
          </a:bodyPr>
          <a:lstStyle/>
          <a:p>
            <a:pPr algn="just"/>
            <a:endParaRPr lang="en-US" sz="2400" b="1" dirty="0"/>
          </a:p>
        </p:txBody>
      </p:sp>
      <p:pic>
        <p:nvPicPr>
          <p:cNvPr id="4" name="Picture 3">
            <a:extLst>
              <a:ext uri="{FF2B5EF4-FFF2-40B4-BE49-F238E27FC236}">
                <a16:creationId xmlns:a16="http://schemas.microsoft.com/office/drawing/2014/main" id="{0A5EF682-BBC6-BC89-A815-2405B3BFA89F}"/>
              </a:ext>
            </a:extLst>
          </p:cNvPr>
          <p:cNvPicPr>
            <a:picLocks noChangeAspect="1"/>
          </p:cNvPicPr>
          <p:nvPr/>
        </p:nvPicPr>
        <p:blipFill rotWithShape="1">
          <a:blip r:embed="rId2">
            <a:extLst>
              <a:ext uri="{28A0092B-C50C-407E-A947-70E740481C1C}">
                <a14:useLocalDpi xmlns:a14="http://schemas.microsoft.com/office/drawing/2010/main" val="0"/>
              </a:ext>
            </a:extLst>
          </a:blip>
          <a:srcRect l="7632" t="6513" r="14801" b="12673"/>
          <a:stretch/>
        </p:blipFill>
        <p:spPr>
          <a:xfrm>
            <a:off x="11003168" y="6329803"/>
            <a:ext cx="1002890" cy="342928"/>
          </a:xfrm>
          <a:prstGeom prst="rect">
            <a:avLst/>
          </a:prstGeom>
        </p:spPr>
      </p:pic>
      <p:sp>
        <p:nvSpPr>
          <p:cNvPr id="5" name="TextBox 4">
            <a:extLst>
              <a:ext uri="{FF2B5EF4-FFF2-40B4-BE49-F238E27FC236}">
                <a16:creationId xmlns:a16="http://schemas.microsoft.com/office/drawing/2014/main" id="{CED2CCDC-C02F-B3A1-A3C5-707DECA064F1}"/>
              </a:ext>
            </a:extLst>
          </p:cNvPr>
          <p:cNvSpPr txBox="1"/>
          <p:nvPr/>
        </p:nvSpPr>
        <p:spPr>
          <a:xfrm>
            <a:off x="-30367" y="770057"/>
            <a:ext cx="1741230" cy="369332"/>
          </a:xfrm>
          <a:prstGeom prst="rect">
            <a:avLst/>
          </a:prstGeom>
          <a:noFill/>
        </p:spPr>
        <p:txBody>
          <a:bodyPr wrap="square" rtlCol="0">
            <a:spAutoFit/>
          </a:bodyPr>
          <a:lstStyle/>
          <a:p>
            <a:r>
              <a:rPr lang="en-US" sz="1800" dirty="0">
                <a:solidFill>
                  <a:schemeClr val="bg1"/>
                </a:solidFill>
                <a:effectLst/>
                <a:latin typeface="Bookman Old Style" panose="02050604050505020204" pitchFamily="18" charset="0"/>
                <a:ea typeface="Calibri" panose="020F0502020204030204" pitchFamily="34" charset="0"/>
              </a:rPr>
              <a:t>22AM2305</a:t>
            </a:r>
            <a:endParaRPr lang="en-IN" dirty="0">
              <a:solidFill>
                <a:schemeClr val="bg1"/>
              </a:solidFill>
              <a:latin typeface="Bookman Old Style" panose="02050604050505020204" pitchFamily="18" charset="0"/>
            </a:endParaRPr>
          </a:p>
        </p:txBody>
      </p:sp>
      <p:pic>
        <p:nvPicPr>
          <p:cNvPr id="6" name="Picture 2" descr="logo">
            <a:extLst>
              <a:ext uri="{FF2B5EF4-FFF2-40B4-BE49-F238E27FC236}">
                <a16:creationId xmlns:a16="http://schemas.microsoft.com/office/drawing/2014/main" id="{747D0EEE-BA48-499F-B84C-D20F74CB5DB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52799" y="89593"/>
            <a:ext cx="1070381" cy="1049796"/>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a:extLst>
              <a:ext uri="{FF2B5EF4-FFF2-40B4-BE49-F238E27FC236}">
                <a16:creationId xmlns:a16="http://schemas.microsoft.com/office/drawing/2014/main" id="{B8E50AC5-8D2A-6A5D-796D-B6863CA3B31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123180" y="89593"/>
            <a:ext cx="941000" cy="960203"/>
          </a:xfrm>
          <a:prstGeom prst="rect">
            <a:avLst/>
          </a:prstGeom>
        </p:spPr>
      </p:pic>
      <p:pic>
        <p:nvPicPr>
          <p:cNvPr id="1026" name="Picture 2" descr="Example 2">
            <a:extLst>
              <a:ext uri="{FF2B5EF4-FFF2-40B4-BE49-F238E27FC236}">
                <a16:creationId xmlns:a16="http://schemas.microsoft.com/office/drawing/2014/main" id="{9B148141-531B-23FD-D752-F86D4692D6F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81593" y="1058002"/>
            <a:ext cx="6930206" cy="544326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0497004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47515F-4A58-DFA9-F4DC-FA2F57C2B8AC}"/>
              </a:ext>
            </a:extLst>
          </p:cNvPr>
          <p:cNvSpPr>
            <a:spLocks noGrp="1"/>
          </p:cNvSpPr>
          <p:nvPr>
            <p:ph type="title"/>
          </p:nvPr>
        </p:nvSpPr>
        <p:spPr>
          <a:xfrm>
            <a:off x="1568147" y="129612"/>
            <a:ext cx="8911687" cy="1280890"/>
          </a:xfrm>
        </p:spPr>
        <p:txBody>
          <a:bodyPr/>
          <a:lstStyle/>
          <a:p>
            <a:endParaRPr lang="en-US" dirty="0"/>
          </a:p>
        </p:txBody>
      </p:sp>
      <p:sp>
        <p:nvSpPr>
          <p:cNvPr id="3" name="Content Placeholder 2">
            <a:extLst>
              <a:ext uri="{FF2B5EF4-FFF2-40B4-BE49-F238E27FC236}">
                <a16:creationId xmlns:a16="http://schemas.microsoft.com/office/drawing/2014/main" id="{CD8527A1-EA1C-ABF8-E388-1F26941C7D64}"/>
              </a:ext>
            </a:extLst>
          </p:cNvPr>
          <p:cNvSpPr>
            <a:spLocks noGrp="1"/>
          </p:cNvSpPr>
          <p:nvPr>
            <p:ph idx="1"/>
          </p:nvPr>
        </p:nvSpPr>
        <p:spPr>
          <a:xfrm>
            <a:off x="1042219" y="1579201"/>
            <a:ext cx="10462394" cy="4508742"/>
          </a:xfrm>
        </p:spPr>
        <p:txBody>
          <a:bodyPr>
            <a:normAutofit/>
          </a:bodyPr>
          <a:lstStyle/>
          <a:p>
            <a:pPr algn="just"/>
            <a:endParaRPr lang="en-US" sz="2400" b="1" dirty="0"/>
          </a:p>
        </p:txBody>
      </p:sp>
      <p:pic>
        <p:nvPicPr>
          <p:cNvPr id="4" name="Picture 3">
            <a:extLst>
              <a:ext uri="{FF2B5EF4-FFF2-40B4-BE49-F238E27FC236}">
                <a16:creationId xmlns:a16="http://schemas.microsoft.com/office/drawing/2014/main" id="{0A5EF682-BBC6-BC89-A815-2405B3BFA89F}"/>
              </a:ext>
            </a:extLst>
          </p:cNvPr>
          <p:cNvPicPr>
            <a:picLocks noChangeAspect="1"/>
          </p:cNvPicPr>
          <p:nvPr/>
        </p:nvPicPr>
        <p:blipFill rotWithShape="1">
          <a:blip r:embed="rId2">
            <a:extLst>
              <a:ext uri="{28A0092B-C50C-407E-A947-70E740481C1C}">
                <a14:useLocalDpi xmlns:a14="http://schemas.microsoft.com/office/drawing/2010/main" val="0"/>
              </a:ext>
            </a:extLst>
          </a:blip>
          <a:srcRect l="7632" t="6513" r="14801" b="12673"/>
          <a:stretch/>
        </p:blipFill>
        <p:spPr>
          <a:xfrm>
            <a:off x="11003168" y="6329803"/>
            <a:ext cx="1002890" cy="342928"/>
          </a:xfrm>
          <a:prstGeom prst="rect">
            <a:avLst/>
          </a:prstGeom>
        </p:spPr>
      </p:pic>
      <p:sp>
        <p:nvSpPr>
          <p:cNvPr id="5" name="TextBox 4">
            <a:extLst>
              <a:ext uri="{FF2B5EF4-FFF2-40B4-BE49-F238E27FC236}">
                <a16:creationId xmlns:a16="http://schemas.microsoft.com/office/drawing/2014/main" id="{CED2CCDC-C02F-B3A1-A3C5-707DECA064F1}"/>
              </a:ext>
            </a:extLst>
          </p:cNvPr>
          <p:cNvSpPr txBox="1"/>
          <p:nvPr/>
        </p:nvSpPr>
        <p:spPr>
          <a:xfrm>
            <a:off x="-30367" y="770057"/>
            <a:ext cx="1741230" cy="369332"/>
          </a:xfrm>
          <a:prstGeom prst="rect">
            <a:avLst/>
          </a:prstGeom>
          <a:noFill/>
        </p:spPr>
        <p:txBody>
          <a:bodyPr wrap="square" rtlCol="0">
            <a:spAutoFit/>
          </a:bodyPr>
          <a:lstStyle/>
          <a:p>
            <a:r>
              <a:rPr lang="en-US" sz="1800" dirty="0">
                <a:solidFill>
                  <a:schemeClr val="bg1"/>
                </a:solidFill>
                <a:effectLst/>
                <a:latin typeface="Bookman Old Style" panose="02050604050505020204" pitchFamily="18" charset="0"/>
                <a:ea typeface="Calibri" panose="020F0502020204030204" pitchFamily="34" charset="0"/>
              </a:rPr>
              <a:t>22AM2305</a:t>
            </a:r>
            <a:endParaRPr lang="en-IN" dirty="0">
              <a:solidFill>
                <a:schemeClr val="bg1"/>
              </a:solidFill>
              <a:latin typeface="Bookman Old Style" panose="02050604050505020204" pitchFamily="18" charset="0"/>
            </a:endParaRPr>
          </a:p>
        </p:txBody>
      </p:sp>
      <p:pic>
        <p:nvPicPr>
          <p:cNvPr id="6" name="Picture 2" descr="logo">
            <a:extLst>
              <a:ext uri="{FF2B5EF4-FFF2-40B4-BE49-F238E27FC236}">
                <a16:creationId xmlns:a16="http://schemas.microsoft.com/office/drawing/2014/main" id="{747D0EEE-BA48-499F-B84C-D20F74CB5DB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52799" y="89593"/>
            <a:ext cx="1070381" cy="1049796"/>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a:extLst>
              <a:ext uri="{FF2B5EF4-FFF2-40B4-BE49-F238E27FC236}">
                <a16:creationId xmlns:a16="http://schemas.microsoft.com/office/drawing/2014/main" id="{B8E50AC5-8D2A-6A5D-796D-B6863CA3B31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123180" y="89593"/>
            <a:ext cx="941000" cy="960203"/>
          </a:xfrm>
          <a:prstGeom prst="rect">
            <a:avLst/>
          </a:prstGeom>
        </p:spPr>
      </p:pic>
      <p:pic>
        <p:nvPicPr>
          <p:cNvPr id="9" name="Picture 8">
            <a:extLst>
              <a:ext uri="{FF2B5EF4-FFF2-40B4-BE49-F238E27FC236}">
                <a16:creationId xmlns:a16="http://schemas.microsoft.com/office/drawing/2014/main" id="{F25CA835-1628-44DB-9A9F-F6FDDAE8F46A}"/>
              </a:ext>
            </a:extLst>
          </p:cNvPr>
          <p:cNvPicPr>
            <a:picLocks noChangeAspect="1"/>
          </p:cNvPicPr>
          <p:nvPr/>
        </p:nvPicPr>
        <p:blipFill rotWithShape="1">
          <a:blip r:embed="rId5"/>
          <a:srcRect l="22904" t="23027" r="30403" b="29892"/>
          <a:stretch/>
        </p:blipFill>
        <p:spPr>
          <a:xfrm>
            <a:off x="188951" y="1139389"/>
            <a:ext cx="5692879" cy="3228774"/>
          </a:xfrm>
          <a:prstGeom prst="rect">
            <a:avLst/>
          </a:prstGeom>
        </p:spPr>
      </p:pic>
      <p:pic>
        <p:nvPicPr>
          <p:cNvPr id="11" name="Picture 10">
            <a:extLst>
              <a:ext uri="{FF2B5EF4-FFF2-40B4-BE49-F238E27FC236}">
                <a16:creationId xmlns:a16="http://schemas.microsoft.com/office/drawing/2014/main" id="{3B262C23-3AE8-32F4-118B-258064C8DE5B}"/>
              </a:ext>
            </a:extLst>
          </p:cNvPr>
          <p:cNvPicPr>
            <a:picLocks noChangeAspect="1"/>
          </p:cNvPicPr>
          <p:nvPr/>
        </p:nvPicPr>
        <p:blipFill rotWithShape="1">
          <a:blip r:embed="rId6"/>
          <a:srcRect l="23629" t="26980" r="32339" b="28586"/>
          <a:stretch/>
        </p:blipFill>
        <p:spPr>
          <a:xfrm>
            <a:off x="6457873" y="1179408"/>
            <a:ext cx="5368413" cy="3047255"/>
          </a:xfrm>
          <a:prstGeom prst="rect">
            <a:avLst/>
          </a:prstGeom>
        </p:spPr>
      </p:pic>
      <p:pic>
        <p:nvPicPr>
          <p:cNvPr id="13" name="Picture 12">
            <a:extLst>
              <a:ext uri="{FF2B5EF4-FFF2-40B4-BE49-F238E27FC236}">
                <a16:creationId xmlns:a16="http://schemas.microsoft.com/office/drawing/2014/main" id="{F308853B-E5AF-B61F-8A75-27FF6CBD9139}"/>
              </a:ext>
            </a:extLst>
          </p:cNvPr>
          <p:cNvPicPr>
            <a:picLocks noChangeAspect="1"/>
          </p:cNvPicPr>
          <p:nvPr/>
        </p:nvPicPr>
        <p:blipFill rotWithShape="1">
          <a:blip r:embed="rId7"/>
          <a:srcRect l="23952" t="16614" r="28590" b="36306"/>
          <a:stretch/>
        </p:blipFill>
        <p:spPr>
          <a:xfrm>
            <a:off x="3130906" y="4327784"/>
            <a:ext cx="5786167" cy="2530216"/>
          </a:xfrm>
          <a:prstGeom prst="rect">
            <a:avLst/>
          </a:prstGeom>
        </p:spPr>
      </p:pic>
    </p:spTree>
    <p:extLst>
      <p:ext uri="{BB962C8B-B14F-4D97-AF65-F5344CB8AC3E}">
        <p14:creationId xmlns:p14="http://schemas.microsoft.com/office/powerpoint/2010/main" val="252010701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47515F-4A58-DFA9-F4DC-FA2F57C2B8AC}"/>
              </a:ext>
            </a:extLst>
          </p:cNvPr>
          <p:cNvSpPr>
            <a:spLocks noGrp="1"/>
          </p:cNvSpPr>
          <p:nvPr>
            <p:ph type="title"/>
          </p:nvPr>
        </p:nvSpPr>
        <p:spPr>
          <a:xfrm>
            <a:off x="1568147" y="129612"/>
            <a:ext cx="8911687" cy="1280890"/>
          </a:xfrm>
        </p:spPr>
        <p:txBody>
          <a:bodyPr/>
          <a:lstStyle/>
          <a:p>
            <a:endParaRPr lang="en-US" dirty="0"/>
          </a:p>
        </p:txBody>
      </p:sp>
      <p:sp>
        <p:nvSpPr>
          <p:cNvPr id="3" name="Content Placeholder 2">
            <a:extLst>
              <a:ext uri="{FF2B5EF4-FFF2-40B4-BE49-F238E27FC236}">
                <a16:creationId xmlns:a16="http://schemas.microsoft.com/office/drawing/2014/main" id="{CD8527A1-EA1C-ABF8-E388-1F26941C7D64}"/>
              </a:ext>
            </a:extLst>
          </p:cNvPr>
          <p:cNvSpPr>
            <a:spLocks noGrp="1"/>
          </p:cNvSpPr>
          <p:nvPr>
            <p:ph idx="1"/>
          </p:nvPr>
        </p:nvSpPr>
        <p:spPr>
          <a:xfrm>
            <a:off x="1042219" y="1579201"/>
            <a:ext cx="10462394" cy="4508742"/>
          </a:xfrm>
        </p:spPr>
        <p:txBody>
          <a:bodyPr>
            <a:normAutofit/>
          </a:bodyPr>
          <a:lstStyle/>
          <a:p>
            <a:pPr algn="just"/>
            <a:endParaRPr lang="en-US" sz="2400" b="1" dirty="0"/>
          </a:p>
        </p:txBody>
      </p:sp>
      <p:pic>
        <p:nvPicPr>
          <p:cNvPr id="4" name="Picture 3">
            <a:extLst>
              <a:ext uri="{FF2B5EF4-FFF2-40B4-BE49-F238E27FC236}">
                <a16:creationId xmlns:a16="http://schemas.microsoft.com/office/drawing/2014/main" id="{0A5EF682-BBC6-BC89-A815-2405B3BFA89F}"/>
              </a:ext>
            </a:extLst>
          </p:cNvPr>
          <p:cNvPicPr>
            <a:picLocks noChangeAspect="1"/>
          </p:cNvPicPr>
          <p:nvPr/>
        </p:nvPicPr>
        <p:blipFill rotWithShape="1">
          <a:blip r:embed="rId2">
            <a:extLst>
              <a:ext uri="{28A0092B-C50C-407E-A947-70E740481C1C}">
                <a14:useLocalDpi xmlns:a14="http://schemas.microsoft.com/office/drawing/2010/main" val="0"/>
              </a:ext>
            </a:extLst>
          </a:blip>
          <a:srcRect l="7632" t="6513" r="14801" b="12673"/>
          <a:stretch/>
        </p:blipFill>
        <p:spPr>
          <a:xfrm>
            <a:off x="11003168" y="6329803"/>
            <a:ext cx="1002890" cy="342928"/>
          </a:xfrm>
          <a:prstGeom prst="rect">
            <a:avLst/>
          </a:prstGeom>
        </p:spPr>
      </p:pic>
      <p:sp>
        <p:nvSpPr>
          <p:cNvPr id="5" name="TextBox 4">
            <a:extLst>
              <a:ext uri="{FF2B5EF4-FFF2-40B4-BE49-F238E27FC236}">
                <a16:creationId xmlns:a16="http://schemas.microsoft.com/office/drawing/2014/main" id="{CED2CCDC-C02F-B3A1-A3C5-707DECA064F1}"/>
              </a:ext>
            </a:extLst>
          </p:cNvPr>
          <p:cNvSpPr txBox="1"/>
          <p:nvPr/>
        </p:nvSpPr>
        <p:spPr>
          <a:xfrm>
            <a:off x="-30367" y="770057"/>
            <a:ext cx="1741230" cy="369332"/>
          </a:xfrm>
          <a:prstGeom prst="rect">
            <a:avLst/>
          </a:prstGeom>
          <a:noFill/>
        </p:spPr>
        <p:txBody>
          <a:bodyPr wrap="square" rtlCol="0">
            <a:spAutoFit/>
          </a:bodyPr>
          <a:lstStyle/>
          <a:p>
            <a:r>
              <a:rPr lang="en-US" sz="1800" dirty="0">
                <a:solidFill>
                  <a:schemeClr val="bg1"/>
                </a:solidFill>
                <a:effectLst/>
                <a:latin typeface="Bookman Old Style" panose="02050604050505020204" pitchFamily="18" charset="0"/>
                <a:ea typeface="Calibri" panose="020F0502020204030204" pitchFamily="34" charset="0"/>
              </a:rPr>
              <a:t>22AM2305</a:t>
            </a:r>
            <a:endParaRPr lang="en-IN" dirty="0">
              <a:solidFill>
                <a:schemeClr val="bg1"/>
              </a:solidFill>
              <a:latin typeface="Bookman Old Style" panose="02050604050505020204" pitchFamily="18" charset="0"/>
            </a:endParaRPr>
          </a:p>
        </p:txBody>
      </p:sp>
      <p:pic>
        <p:nvPicPr>
          <p:cNvPr id="6" name="Picture 2" descr="logo">
            <a:extLst>
              <a:ext uri="{FF2B5EF4-FFF2-40B4-BE49-F238E27FC236}">
                <a16:creationId xmlns:a16="http://schemas.microsoft.com/office/drawing/2014/main" id="{747D0EEE-BA48-499F-B84C-D20F74CB5DB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52799" y="89593"/>
            <a:ext cx="1070381" cy="1049796"/>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a:extLst>
              <a:ext uri="{FF2B5EF4-FFF2-40B4-BE49-F238E27FC236}">
                <a16:creationId xmlns:a16="http://schemas.microsoft.com/office/drawing/2014/main" id="{B8E50AC5-8D2A-6A5D-796D-B6863CA3B31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123180" y="89593"/>
            <a:ext cx="941000" cy="960203"/>
          </a:xfrm>
          <a:prstGeom prst="rect">
            <a:avLst/>
          </a:prstGeom>
        </p:spPr>
      </p:pic>
      <p:pic>
        <p:nvPicPr>
          <p:cNvPr id="9" name="Picture 8">
            <a:extLst>
              <a:ext uri="{FF2B5EF4-FFF2-40B4-BE49-F238E27FC236}">
                <a16:creationId xmlns:a16="http://schemas.microsoft.com/office/drawing/2014/main" id="{BCF896F4-7B93-7C3E-E392-F691D139FEAA}"/>
              </a:ext>
            </a:extLst>
          </p:cNvPr>
          <p:cNvPicPr>
            <a:picLocks noChangeAspect="1"/>
          </p:cNvPicPr>
          <p:nvPr/>
        </p:nvPicPr>
        <p:blipFill rotWithShape="1">
          <a:blip r:embed="rId5"/>
          <a:srcRect l="23871" t="21151" r="29033" b="31613"/>
          <a:stretch/>
        </p:blipFill>
        <p:spPr>
          <a:xfrm>
            <a:off x="255639" y="1308088"/>
            <a:ext cx="4709652" cy="2657029"/>
          </a:xfrm>
          <a:prstGeom prst="rect">
            <a:avLst/>
          </a:prstGeom>
        </p:spPr>
      </p:pic>
      <p:pic>
        <p:nvPicPr>
          <p:cNvPr id="11" name="Picture 10">
            <a:extLst>
              <a:ext uri="{FF2B5EF4-FFF2-40B4-BE49-F238E27FC236}">
                <a16:creationId xmlns:a16="http://schemas.microsoft.com/office/drawing/2014/main" id="{5F74C4B0-6AA3-E218-C729-FD5EE11DF24C}"/>
              </a:ext>
            </a:extLst>
          </p:cNvPr>
          <p:cNvPicPr>
            <a:picLocks noChangeAspect="1"/>
          </p:cNvPicPr>
          <p:nvPr/>
        </p:nvPicPr>
        <p:blipFill rotWithShape="1">
          <a:blip r:embed="rId6"/>
          <a:srcRect l="22984" t="25953" r="29355" b="26882"/>
          <a:stretch/>
        </p:blipFill>
        <p:spPr>
          <a:xfrm>
            <a:off x="5455550" y="1218495"/>
            <a:ext cx="5810864" cy="3234618"/>
          </a:xfrm>
          <a:prstGeom prst="rect">
            <a:avLst/>
          </a:prstGeom>
        </p:spPr>
      </p:pic>
      <p:pic>
        <p:nvPicPr>
          <p:cNvPr id="13" name="Picture 12">
            <a:extLst>
              <a:ext uri="{FF2B5EF4-FFF2-40B4-BE49-F238E27FC236}">
                <a16:creationId xmlns:a16="http://schemas.microsoft.com/office/drawing/2014/main" id="{0CA01E88-2E8E-8DEA-0E51-944898A6FD11}"/>
              </a:ext>
            </a:extLst>
          </p:cNvPr>
          <p:cNvPicPr>
            <a:picLocks noChangeAspect="1"/>
          </p:cNvPicPr>
          <p:nvPr/>
        </p:nvPicPr>
        <p:blipFill rotWithShape="1">
          <a:blip r:embed="rId7"/>
          <a:srcRect l="22420" t="17767" r="29919" b="20430"/>
          <a:stretch/>
        </p:blipFill>
        <p:spPr>
          <a:xfrm>
            <a:off x="1568147" y="4133816"/>
            <a:ext cx="5810865" cy="2724184"/>
          </a:xfrm>
          <a:prstGeom prst="rect">
            <a:avLst/>
          </a:prstGeom>
        </p:spPr>
      </p:pic>
    </p:spTree>
    <p:extLst>
      <p:ext uri="{BB962C8B-B14F-4D97-AF65-F5344CB8AC3E}">
        <p14:creationId xmlns:p14="http://schemas.microsoft.com/office/powerpoint/2010/main" val="45516969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47515F-4A58-DFA9-F4DC-FA2F57C2B8AC}"/>
              </a:ext>
            </a:extLst>
          </p:cNvPr>
          <p:cNvSpPr>
            <a:spLocks noGrp="1"/>
          </p:cNvSpPr>
          <p:nvPr>
            <p:ph type="title"/>
          </p:nvPr>
        </p:nvSpPr>
        <p:spPr>
          <a:xfrm>
            <a:off x="1568147" y="129612"/>
            <a:ext cx="8911687" cy="1280890"/>
          </a:xfrm>
        </p:spPr>
        <p:txBody>
          <a:bodyPr/>
          <a:lstStyle/>
          <a:p>
            <a:endParaRPr lang="en-US" dirty="0"/>
          </a:p>
        </p:txBody>
      </p:sp>
      <p:pic>
        <p:nvPicPr>
          <p:cNvPr id="4" name="Picture 3">
            <a:extLst>
              <a:ext uri="{FF2B5EF4-FFF2-40B4-BE49-F238E27FC236}">
                <a16:creationId xmlns:a16="http://schemas.microsoft.com/office/drawing/2014/main" id="{0A5EF682-BBC6-BC89-A815-2405B3BFA89F}"/>
              </a:ext>
            </a:extLst>
          </p:cNvPr>
          <p:cNvPicPr>
            <a:picLocks noChangeAspect="1"/>
          </p:cNvPicPr>
          <p:nvPr/>
        </p:nvPicPr>
        <p:blipFill rotWithShape="1">
          <a:blip r:embed="rId2">
            <a:extLst>
              <a:ext uri="{28A0092B-C50C-407E-A947-70E740481C1C}">
                <a14:useLocalDpi xmlns:a14="http://schemas.microsoft.com/office/drawing/2010/main" val="0"/>
              </a:ext>
            </a:extLst>
          </a:blip>
          <a:srcRect l="7632" t="6513" r="14801" b="12673"/>
          <a:stretch/>
        </p:blipFill>
        <p:spPr>
          <a:xfrm>
            <a:off x="11003168" y="6329803"/>
            <a:ext cx="1002890" cy="342928"/>
          </a:xfrm>
          <a:prstGeom prst="rect">
            <a:avLst/>
          </a:prstGeom>
        </p:spPr>
      </p:pic>
      <p:sp>
        <p:nvSpPr>
          <p:cNvPr id="5" name="TextBox 4">
            <a:extLst>
              <a:ext uri="{FF2B5EF4-FFF2-40B4-BE49-F238E27FC236}">
                <a16:creationId xmlns:a16="http://schemas.microsoft.com/office/drawing/2014/main" id="{CED2CCDC-C02F-B3A1-A3C5-707DECA064F1}"/>
              </a:ext>
            </a:extLst>
          </p:cNvPr>
          <p:cNvSpPr txBox="1"/>
          <p:nvPr/>
        </p:nvSpPr>
        <p:spPr>
          <a:xfrm>
            <a:off x="-30367" y="770057"/>
            <a:ext cx="1741230" cy="369332"/>
          </a:xfrm>
          <a:prstGeom prst="rect">
            <a:avLst/>
          </a:prstGeom>
          <a:noFill/>
        </p:spPr>
        <p:txBody>
          <a:bodyPr wrap="square" rtlCol="0">
            <a:spAutoFit/>
          </a:bodyPr>
          <a:lstStyle/>
          <a:p>
            <a:r>
              <a:rPr lang="en-US" sz="1800" dirty="0">
                <a:solidFill>
                  <a:schemeClr val="bg1"/>
                </a:solidFill>
                <a:effectLst/>
                <a:latin typeface="Bookman Old Style" panose="02050604050505020204" pitchFamily="18" charset="0"/>
                <a:ea typeface="Calibri" panose="020F0502020204030204" pitchFamily="34" charset="0"/>
              </a:rPr>
              <a:t>22AM2305</a:t>
            </a:r>
            <a:endParaRPr lang="en-IN" dirty="0">
              <a:solidFill>
                <a:schemeClr val="bg1"/>
              </a:solidFill>
              <a:latin typeface="Bookman Old Style" panose="02050604050505020204" pitchFamily="18" charset="0"/>
            </a:endParaRPr>
          </a:p>
        </p:txBody>
      </p:sp>
      <p:pic>
        <p:nvPicPr>
          <p:cNvPr id="6" name="Picture 2" descr="logo">
            <a:extLst>
              <a:ext uri="{FF2B5EF4-FFF2-40B4-BE49-F238E27FC236}">
                <a16:creationId xmlns:a16="http://schemas.microsoft.com/office/drawing/2014/main" id="{747D0EEE-BA48-499F-B84C-D20F74CB5DB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52799" y="89593"/>
            <a:ext cx="1070381" cy="1049796"/>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a:extLst>
              <a:ext uri="{FF2B5EF4-FFF2-40B4-BE49-F238E27FC236}">
                <a16:creationId xmlns:a16="http://schemas.microsoft.com/office/drawing/2014/main" id="{B8E50AC5-8D2A-6A5D-796D-B6863CA3B31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123180" y="89593"/>
            <a:ext cx="941000" cy="960203"/>
          </a:xfrm>
          <a:prstGeom prst="rect">
            <a:avLst/>
          </a:prstGeom>
        </p:spPr>
      </p:pic>
      <p:pic>
        <p:nvPicPr>
          <p:cNvPr id="1026" name="Picture 2" descr="example of dfs">
            <a:extLst>
              <a:ext uri="{FF2B5EF4-FFF2-40B4-BE49-F238E27FC236}">
                <a16:creationId xmlns:a16="http://schemas.microsoft.com/office/drawing/2014/main" id="{EBF9E60F-2C96-89DE-CFA7-CCC6EDCC5649}"/>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12037" t="11595" r="10757" b="20989"/>
          <a:stretch/>
        </p:blipFill>
        <p:spPr bwMode="auto">
          <a:xfrm>
            <a:off x="4613409" y="129612"/>
            <a:ext cx="2517279" cy="2120912"/>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4E4A74B5-CD8E-1D11-01AC-48A095921D30}"/>
              </a:ext>
            </a:extLst>
          </p:cNvPr>
          <p:cNvSpPr txBox="1"/>
          <p:nvPr/>
        </p:nvSpPr>
        <p:spPr>
          <a:xfrm>
            <a:off x="255638" y="2250524"/>
            <a:ext cx="6135328" cy="4524315"/>
          </a:xfrm>
          <a:prstGeom prst="rect">
            <a:avLst/>
          </a:prstGeom>
          <a:solidFill>
            <a:schemeClr val="accent1">
              <a:lumMod val="40000"/>
              <a:lumOff val="60000"/>
            </a:schemeClr>
          </a:solidFill>
        </p:spPr>
        <p:txBody>
          <a:bodyPr wrap="square">
            <a:spAutoFit/>
          </a:bodyPr>
          <a:lstStyle/>
          <a:p>
            <a:r>
              <a:rPr lang="en-US" sz="2400" dirty="0"/>
              <a:t># Using a Python dictionary to act as an #adjacency list</a:t>
            </a:r>
          </a:p>
          <a:p>
            <a:r>
              <a:rPr lang="en-US" sz="2400" dirty="0"/>
              <a:t>graph = {</a:t>
            </a:r>
          </a:p>
          <a:p>
            <a:r>
              <a:rPr lang="en-US" sz="2400" dirty="0"/>
              <a:t>  '5' : ['3','7'],</a:t>
            </a:r>
          </a:p>
          <a:p>
            <a:r>
              <a:rPr lang="en-US" sz="2400" dirty="0"/>
              <a:t>  '3' : ['2', '4'],</a:t>
            </a:r>
          </a:p>
          <a:p>
            <a:r>
              <a:rPr lang="en-US" sz="2400" dirty="0"/>
              <a:t>  '7' : ['8'],</a:t>
            </a:r>
          </a:p>
          <a:p>
            <a:r>
              <a:rPr lang="en-US" sz="2400" dirty="0"/>
              <a:t>  '2' : [],</a:t>
            </a:r>
          </a:p>
          <a:p>
            <a:r>
              <a:rPr lang="en-US" sz="2400" dirty="0"/>
              <a:t>  '4' : ['8'],</a:t>
            </a:r>
          </a:p>
          <a:p>
            <a:r>
              <a:rPr lang="en-US" sz="2400" dirty="0"/>
              <a:t>  '8' : []</a:t>
            </a:r>
          </a:p>
          <a:p>
            <a:r>
              <a:rPr lang="en-US" sz="2400" dirty="0"/>
              <a:t>}</a:t>
            </a:r>
          </a:p>
          <a:p>
            <a:r>
              <a:rPr lang="en-US" sz="2400" dirty="0"/>
              <a:t>visited = set() # Set to keep track of #visited nodes of graph.</a:t>
            </a:r>
          </a:p>
        </p:txBody>
      </p:sp>
      <p:sp>
        <p:nvSpPr>
          <p:cNvPr id="11" name="TextBox 10">
            <a:extLst>
              <a:ext uri="{FF2B5EF4-FFF2-40B4-BE49-F238E27FC236}">
                <a16:creationId xmlns:a16="http://schemas.microsoft.com/office/drawing/2014/main" id="{5280A443-30C6-4F97-DDDC-1C4F93CBD977}"/>
              </a:ext>
            </a:extLst>
          </p:cNvPr>
          <p:cNvSpPr txBox="1"/>
          <p:nvPr/>
        </p:nvSpPr>
        <p:spPr>
          <a:xfrm>
            <a:off x="5928852" y="3090546"/>
            <a:ext cx="6135328" cy="3170099"/>
          </a:xfrm>
          <a:prstGeom prst="rect">
            <a:avLst/>
          </a:prstGeom>
          <a:solidFill>
            <a:schemeClr val="accent2">
              <a:lumMod val="40000"/>
              <a:lumOff val="60000"/>
            </a:schemeClr>
          </a:solidFill>
        </p:spPr>
        <p:txBody>
          <a:bodyPr wrap="square">
            <a:spAutoFit/>
          </a:bodyPr>
          <a:lstStyle/>
          <a:p>
            <a:r>
              <a:rPr lang="en-US" sz="2000" dirty="0"/>
              <a:t>def </a:t>
            </a:r>
            <a:r>
              <a:rPr lang="en-US" sz="2000" dirty="0" err="1"/>
              <a:t>dfs</a:t>
            </a:r>
            <a:r>
              <a:rPr lang="en-US" sz="2000" dirty="0"/>
              <a:t>(visited, graph, node):  #function for </a:t>
            </a:r>
            <a:r>
              <a:rPr lang="en-US" sz="2000" dirty="0" err="1"/>
              <a:t>dfs</a:t>
            </a:r>
            <a:r>
              <a:rPr lang="en-US" sz="2000" dirty="0"/>
              <a:t> </a:t>
            </a:r>
          </a:p>
          <a:p>
            <a:r>
              <a:rPr lang="en-US" sz="2000" dirty="0"/>
              <a:t>    if node not in visited:</a:t>
            </a:r>
          </a:p>
          <a:p>
            <a:r>
              <a:rPr lang="en-US" sz="2000" dirty="0"/>
              <a:t>        print (node)</a:t>
            </a:r>
          </a:p>
          <a:p>
            <a:r>
              <a:rPr lang="en-US" sz="2000" dirty="0"/>
              <a:t>        </a:t>
            </a:r>
            <a:r>
              <a:rPr lang="en-US" sz="2000" dirty="0" err="1"/>
              <a:t>visited.add</a:t>
            </a:r>
            <a:r>
              <a:rPr lang="en-US" sz="2000" dirty="0"/>
              <a:t>(node)</a:t>
            </a:r>
          </a:p>
          <a:p>
            <a:r>
              <a:rPr lang="en-US" sz="2000" dirty="0"/>
              <a:t>        for </a:t>
            </a:r>
            <a:r>
              <a:rPr lang="en-US" sz="2000" dirty="0" err="1"/>
              <a:t>neighbour</a:t>
            </a:r>
            <a:r>
              <a:rPr lang="en-US" sz="2000" dirty="0"/>
              <a:t> in graph[node]:</a:t>
            </a:r>
          </a:p>
          <a:p>
            <a:r>
              <a:rPr lang="en-US" sz="2000" dirty="0"/>
              <a:t>            </a:t>
            </a:r>
            <a:r>
              <a:rPr lang="en-US" sz="2000" dirty="0" err="1"/>
              <a:t>dfs</a:t>
            </a:r>
            <a:r>
              <a:rPr lang="en-US" sz="2000" dirty="0"/>
              <a:t>(visited, graph, </a:t>
            </a:r>
            <a:r>
              <a:rPr lang="en-US" sz="2000" dirty="0" err="1"/>
              <a:t>neighbour</a:t>
            </a:r>
            <a:r>
              <a:rPr lang="en-US" sz="2000" dirty="0"/>
              <a:t>)</a:t>
            </a:r>
          </a:p>
          <a:p>
            <a:endParaRPr lang="en-US" sz="2000" dirty="0"/>
          </a:p>
          <a:p>
            <a:r>
              <a:rPr lang="en-US" sz="2000" dirty="0"/>
              <a:t># Driver Code</a:t>
            </a:r>
          </a:p>
          <a:p>
            <a:r>
              <a:rPr lang="en-US" sz="2000" dirty="0"/>
              <a:t>print("Following is the Depth-First Search")</a:t>
            </a:r>
          </a:p>
          <a:p>
            <a:r>
              <a:rPr lang="en-US" sz="2000" dirty="0" err="1"/>
              <a:t>dfs</a:t>
            </a:r>
            <a:r>
              <a:rPr lang="en-US" sz="2000" dirty="0"/>
              <a:t>(visited, graph, '5')</a:t>
            </a:r>
          </a:p>
        </p:txBody>
      </p:sp>
      <p:sp>
        <p:nvSpPr>
          <p:cNvPr id="15" name="TextBox 14">
            <a:extLst>
              <a:ext uri="{FF2B5EF4-FFF2-40B4-BE49-F238E27FC236}">
                <a16:creationId xmlns:a16="http://schemas.microsoft.com/office/drawing/2014/main" id="{E1BFE2B2-F58C-CE76-DC43-AF51F50F7ABA}"/>
              </a:ext>
            </a:extLst>
          </p:cNvPr>
          <p:cNvSpPr txBox="1"/>
          <p:nvPr/>
        </p:nvSpPr>
        <p:spPr>
          <a:xfrm>
            <a:off x="7412170" y="1007128"/>
            <a:ext cx="4524192" cy="2031325"/>
          </a:xfrm>
          <a:prstGeom prst="rect">
            <a:avLst/>
          </a:prstGeom>
          <a:solidFill>
            <a:schemeClr val="accent1">
              <a:lumMod val="40000"/>
              <a:lumOff val="60000"/>
            </a:schemeClr>
          </a:solidFill>
        </p:spPr>
        <p:txBody>
          <a:bodyPr wrap="square">
            <a:spAutoFit/>
          </a:bodyPr>
          <a:lstStyle/>
          <a:p>
            <a:r>
              <a:rPr lang="en-US" dirty="0"/>
              <a:t>Following is the Depth-First Search</a:t>
            </a:r>
          </a:p>
          <a:p>
            <a:r>
              <a:rPr lang="en-US" dirty="0"/>
              <a:t>5</a:t>
            </a:r>
          </a:p>
          <a:p>
            <a:r>
              <a:rPr lang="en-US" dirty="0"/>
              <a:t>3</a:t>
            </a:r>
          </a:p>
          <a:p>
            <a:r>
              <a:rPr lang="en-US" dirty="0"/>
              <a:t>2</a:t>
            </a:r>
          </a:p>
          <a:p>
            <a:r>
              <a:rPr lang="en-US" dirty="0"/>
              <a:t>4</a:t>
            </a:r>
          </a:p>
          <a:p>
            <a:r>
              <a:rPr lang="en-US" dirty="0"/>
              <a:t>8</a:t>
            </a:r>
          </a:p>
          <a:p>
            <a:r>
              <a:rPr lang="en-US" dirty="0"/>
              <a:t>7</a:t>
            </a:r>
          </a:p>
        </p:txBody>
      </p:sp>
    </p:spTree>
    <p:extLst>
      <p:ext uri="{BB962C8B-B14F-4D97-AF65-F5344CB8AC3E}">
        <p14:creationId xmlns:p14="http://schemas.microsoft.com/office/powerpoint/2010/main" val="260775363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47515F-4A58-DFA9-F4DC-FA2F57C2B8AC}"/>
              </a:ext>
            </a:extLst>
          </p:cNvPr>
          <p:cNvSpPr>
            <a:spLocks noGrp="1"/>
          </p:cNvSpPr>
          <p:nvPr>
            <p:ph type="title"/>
          </p:nvPr>
        </p:nvSpPr>
        <p:spPr>
          <a:xfrm>
            <a:off x="1568147" y="129612"/>
            <a:ext cx="8911687" cy="1280890"/>
          </a:xfrm>
        </p:spPr>
        <p:txBody>
          <a:bodyPr/>
          <a:lstStyle/>
          <a:p>
            <a:endParaRPr lang="en-US" dirty="0"/>
          </a:p>
        </p:txBody>
      </p:sp>
      <p:sp>
        <p:nvSpPr>
          <p:cNvPr id="3" name="Content Placeholder 2">
            <a:extLst>
              <a:ext uri="{FF2B5EF4-FFF2-40B4-BE49-F238E27FC236}">
                <a16:creationId xmlns:a16="http://schemas.microsoft.com/office/drawing/2014/main" id="{CD8527A1-EA1C-ABF8-E388-1F26941C7D64}"/>
              </a:ext>
            </a:extLst>
          </p:cNvPr>
          <p:cNvSpPr>
            <a:spLocks noGrp="1"/>
          </p:cNvSpPr>
          <p:nvPr>
            <p:ph idx="1"/>
          </p:nvPr>
        </p:nvSpPr>
        <p:spPr>
          <a:xfrm>
            <a:off x="1042219" y="1579201"/>
            <a:ext cx="10462394" cy="4508742"/>
          </a:xfrm>
        </p:spPr>
        <p:txBody>
          <a:bodyPr>
            <a:normAutofit/>
          </a:bodyPr>
          <a:lstStyle/>
          <a:p>
            <a:pPr algn="l"/>
            <a:r>
              <a:rPr lang="en-US" sz="2400" b="0" i="0" dirty="0">
                <a:solidFill>
                  <a:srgbClr val="004961"/>
                </a:solidFill>
                <a:effectLst/>
                <a:latin typeface="Poppins" panose="00000500000000000000" pitchFamily="2" charset="0"/>
              </a:rPr>
              <a:t>Example</a:t>
            </a:r>
          </a:p>
          <a:p>
            <a:pPr algn="l"/>
            <a:r>
              <a:rPr lang="en-US" sz="2400" b="0" i="0" dirty="0">
                <a:solidFill>
                  <a:srgbClr val="333333"/>
                </a:solidFill>
                <a:effectLst/>
                <a:latin typeface="Poppins" panose="00000500000000000000" pitchFamily="2" charset="0"/>
              </a:rPr>
              <a:t>Let us see how the DFS algorithm works with an example. Here, we will use an undirected graph with 5 vertices.</a:t>
            </a:r>
          </a:p>
          <a:p>
            <a:pPr algn="just"/>
            <a:endParaRPr lang="en-US" sz="2400" b="1" dirty="0"/>
          </a:p>
        </p:txBody>
      </p:sp>
      <p:pic>
        <p:nvPicPr>
          <p:cNvPr id="4" name="Picture 3">
            <a:extLst>
              <a:ext uri="{FF2B5EF4-FFF2-40B4-BE49-F238E27FC236}">
                <a16:creationId xmlns:a16="http://schemas.microsoft.com/office/drawing/2014/main" id="{0A5EF682-BBC6-BC89-A815-2405B3BFA89F}"/>
              </a:ext>
            </a:extLst>
          </p:cNvPr>
          <p:cNvPicPr>
            <a:picLocks noChangeAspect="1"/>
          </p:cNvPicPr>
          <p:nvPr/>
        </p:nvPicPr>
        <p:blipFill rotWithShape="1">
          <a:blip r:embed="rId2">
            <a:extLst>
              <a:ext uri="{28A0092B-C50C-407E-A947-70E740481C1C}">
                <a14:useLocalDpi xmlns:a14="http://schemas.microsoft.com/office/drawing/2010/main" val="0"/>
              </a:ext>
            </a:extLst>
          </a:blip>
          <a:srcRect l="7632" t="6513" r="14801" b="12673"/>
          <a:stretch/>
        </p:blipFill>
        <p:spPr>
          <a:xfrm>
            <a:off x="11003168" y="6329803"/>
            <a:ext cx="1002890" cy="342928"/>
          </a:xfrm>
          <a:prstGeom prst="rect">
            <a:avLst/>
          </a:prstGeom>
        </p:spPr>
      </p:pic>
      <p:sp>
        <p:nvSpPr>
          <p:cNvPr id="5" name="TextBox 4">
            <a:extLst>
              <a:ext uri="{FF2B5EF4-FFF2-40B4-BE49-F238E27FC236}">
                <a16:creationId xmlns:a16="http://schemas.microsoft.com/office/drawing/2014/main" id="{CED2CCDC-C02F-B3A1-A3C5-707DECA064F1}"/>
              </a:ext>
            </a:extLst>
          </p:cNvPr>
          <p:cNvSpPr txBox="1"/>
          <p:nvPr/>
        </p:nvSpPr>
        <p:spPr>
          <a:xfrm>
            <a:off x="-30367" y="770057"/>
            <a:ext cx="1741230" cy="369332"/>
          </a:xfrm>
          <a:prstGeom prst="rect">
            <a:avLst/>
          </a:prstGeom>
          <a:noFill/>
        </p:spPr>
        <p:txBody>
          <a:bodyPr wrap="square" rtlCol="0">
            <a:spAutoFit/>
          </a:bodyPr>
          <a:lstStyle/>
          <a:p>
            <a:r>
              <a:rPr lang="en-US" sz="1800" dirty="0">
                <a:solidFill>
                  <a:schemeClr val="bg1"/>
                </a:solidFill>
                <a:effectLst/>
                <a:latin typeface="Bookman Old Style" panose="02050604050505020204" pitchFamily="18" charset="0"/>
                <a:ea typeface="Calibri" panose="020F0502020204030204" pitchFamily="34" charset="0"/>
              </a:rPr>
              <a:t>22AM2305</a:t>
            </a:r>
            <a:endParaRPr lang="en-IN" dirty="0">
              <a:solidFill>
                <a:schemeClr val="bg1"/>
              </a:solidFill>
              <a:latin typeface="Bookman Old Style" panose="02050604050505020204" pitchFamily="18" charset="0"/>
            </a:endParaRPr>
          </a:p>
        </p:txBody>
      </p:sp>
      <p:pic>
        <p:nvPicPr>
          <p:cNvPr id="6" name="Picture 2" descr="logo">
            <a:extLst>
              <a:ext uri="{FF2B5EF4-FFF2-40B4-BE49-F238E27FC236}">
                <a16:creationId xmlns:a16="http://schemas.microsoft.com/office/drawing/2014/main" id="{747D0EEE-BA48-499F-B84C-D20F74CB5DB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52799" y="89593"/>
            <a:ext cx="1070381" cy="1049796"/>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a:extLst>
              <a:ext uri="{FF2B5EF4-FFF2-40B4-BE49-F238E27FC236}">
                <a16:creationId xmlns:a16="http://schemas.microsoft.com/office/drawing/2014/main" id="{B8E50AC5-8D2A-6A5D-796D-B6863CA3B31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123180" y="89593"/>
            <a:ext cx="941000" cy="960203"/>
          </a:xfrm>
          <a:prstGeom prst="rect">
            <a:avLst/>
          </a:prstGeom>
        </p:spPr>
      </p:pic>
      <p:pic>
        <p:nvPicPr>
          <p:cNvPr id="2050" name="Picture 2">
            <a:extLst>
              <a:ext uri="{FF2B5EF4-FFF2-40B4-BE49-F238E27FC236}">
                <a16:creationId xmlns:a16="http://schemas.microsoft.com/office/drawing/2014/main" id="{4D517E16-5473-4B95-C668-53E9F133649B}"/>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t="11228" b="46237"/>
          <a:stretch/>
        </p:blipFill>
        <p:spPr bwMode="auto">
          <a:xfrm>
            <a:off x="1223390" y="3291832"/>
            <a:ext cx="9601200" cy="291704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0946974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47515F-4A58-DFA9-F4DC-FA2F57C2B8AC}"/>
              </a:ext>
            </a:extLst>
          </p:cNvPr>
          <p:cNvSpPr>
            <a:spLocks noGrp="1"/>
          </p:cNvSpPr>
          <p:nvPr>
            <p:ph type="title"/>
          </p:nvPr>
        </p:nvSpPr>
        <p:spPr>
          <a:xfrm>
            <a:off x="1568147" y="129612"/>
            <a:ext cx="8911687" cy="1280890"/>
          </a:xfrm>
        </p:spPr>
        <p:txBody>
          <a:bodyPr/>
          <a:lstStyle/>
          <a:p>
            <a:endParaRPr lang="en-US" dirty="0"/>
          </a:p>
        </p:txBody>
      </p:sp>
      <p:sp>
        <p:nvSpPr>
          <p:cNvPr id="3" name="Content Placeholder 2">
            <a:extLst>
              <a:ext uri="{FF2B5EF4-FFF2-40B4-BE49-F238E27FC236}">
                <a16:creationId xmlns:a16="http://schemas.microsoft.com/office/drawing/2014/main" id="{CD8527A1-EA1C-ABF8-E388-1F26941C7D64}"/>
              </a:ext>
            </a:extLst>
          </p:cNvPr>
          <p:cNvSpPr>
            <a:spLocks noGrp="1"/>
          </p:cNvSpPr>
          <p:nvPr>
            <p:ph idx="1"/>
          </p:nvPr>
        </p:nvSpPr>
        <p:spPr>
          <a:xfrm>
            <a:off x="1042219" y="1579201"/>
            <a:ext cx="10462394" cy="4508742"/>
          </a:xfrm>
        </p:spPr>
        <p:txBody>
          <a:bodyPr>
            <a:normAutofit/>
          </a:bodyPr>
          <a:lstStyle/>
          <a:p>
            <a:pPr algn="just"/>
            <a:r>
              <a:rPr lang="en-US" sz="2400" b="1" dirty="0"/>
              <a:t>Solution </a:t>
            </a:r>
          </a:p>
        </p:txBody>
      </p:sp>
      <p:pic>
        <p:nvPicPr>
          <p:cNvPr id="4" name="Picture 3">
            <a:extLst>
              <a:ext uri="{FF2B5EF4-FFF2-40B4-BE49-F238E27FC236}">
                <a16:creationId xmlns:a16="http://schemas.microsoft.com/office/drawing/2014/main" id="{0A5EF682-BBC6-BC89-A815-2405B3BFA89F}"/>
              </a:ext>
            </a:extLst>
          </p:cNvPr>
          <p:cNvPicPr>
            <a:picLocks noChangeAspect="1"/>
          </p:cNvPicPr>
          <p:nvPr/>
        </p:nvPicPr>
        <p:blipFill rotWithShape="1">
          <a:blip r:embed="rId2">
            <a:extLst>
              <a:ext uri="{28A0092B-C50C-407E-A947-70E740481C1C}">
                <a14:useLocalDpi xmlns:a14="http://schemas.microsoft.com/office/drawing/2010/main" val="0"/>
              </a:ext>
            </a:extLst>
          </a:blip>
          <a:srcRect l="7632" t="6513" r="14801" b="12673"/>
          <a:stretch/>
        </p:blipFill>
        <p:spPr>
          <a:xfrm>
            <a:off x="11003168" y="6329803"/>
            <a:ext cx="1002890" cy="342928"/>
          </a:xfrm>
          <a:prstGeom prst="rect">
            <a:avLst/>
          </a:prstGeom>
        </p:spPr>
      </p:pic>
      <p:sp>
        <p:nvSpPr>
          <p:cNvPr id="5" name="TextBox 4">
            <a:extLst>
              <a:ext uri="{FF2B5EF4-FFF2-40B4-BE49-F238E27FC236}">
                <a16:creationId xmlns:a16="http://schemas.microsoft.com/office/drawing/2014/main" id="{CED2CCDC-C02F-B3A1-A3C5-707DECA064F1}"/>
              </a:ext>
            </a:extLst>
          </p:cNvPr>
          <p:cNvSpPr txBox="1"/>
          <p:nvPr/>
        </p:nvSpPr>
        <p:spPr>
          <a:xfrm>
            <a:off x="-30367" y="770057"/>
            <a:ext cx="1741230" cy="369332"/>
          </a:xfrm>
          <a:prstGeom prst="rect">
            <a:avLst/>
          </a:prstGeom>
          <a:noFill/>
        </p:spPr>
        <p:txBody>
          <a:bodyPr wrap="square" rtlCol="0">
            <a:spAutoFit/>
          </a:bodyPr>
          <a:lstStyle/>
          <a:p>
            <a:r>
              <a:rPr lang="en-US" sz="1800" dirty="0">
                <a:solidFill>
                  <a:schemeClr val="bg1"/>
                </a:solidFill>
                <a:effectLst/>
                <a:latin typeface="Bookman Old Style" panose="02050604050505020204" pitchFamily="18" charset="0"/>
                <a:ea typeface="Calibri" panose="020F0502020204030204" pitchFamily="34" charset="0"/>
              </a:rPr>
              <a:t>22AM2305</a:t>
            </a:r>
            <a:endParaRPr lang="en-IN" dirty="0">
              <a:solidFill>
                <a:schemeClr val="bg1"/>
              </a:solidFill>
              <a:latin typeface="Bookman Old Style" panose="02050604050505020204" pitchFamily="18" charset="0"/>
            </a:endParaRPr>
          </a:p>
        </p:txBody>
      </p:sp>
      <p:pic>
        <p:nvPicPr>
          <p:cNvPr id="6" name="Picture 2" descr="logo">
            <a:extLst>
              <a:ext uri="{FF2B5EF4-FFF2-40B4-BE49-F238E27FC236}">
                <a16:creationId xmlns:a16="http://schemas.microsoft.com/office/drawing/2014/main" id="{747D0EEE-BA48-499F-B84C-D20F74CB5DB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52799" y="89593"/>
            <a:ext cx="1070381" cy="1049796"/>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a:extLst>
              <a:ext uri="{FF2B5EF4-FFF2-40B4-BE49-F238E27FC236}">
                <a16:creationId xmlns:a16="http://schemas.microsoft.com/office/drawing/2014/main" id="{B8E50AC5-8D2A-6A5D-796D-B6863CA3B31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123180" y="89593"/>
            <a:ext cx="941000" cy="960203"/>
          </a:xfrm>
          <a:prstGeom prst="rect">
            <a:avLst/>
          </a:prstGeom>
        </p:spPr>
      </p:pic>
      <p:pic>
        <p:nvPicPr>
          <p:cNvPr id="3074" name="Picture 2">
            <a:extLst>
              <a:ext uri="{FF2B5EF4-FFF2-40B4-BE49-F238E27FC236}">
                <a16:creationId xmlns:a16="http://schemas.microsoft.com/office/drawing/2014/main" id="{6ACD6985-5C7E-CB1E-3E63-6F9316F9A060}"/>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t="11228"/>
          <a:stretch/>
        </p:blipFill>
        <p:spPr bwMode="auto">
          <a:xfrm>
            <a:off x="1295400" y="2112144"/>
            <a:ext cx="9601200" cy="461624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5722831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47515F-4A58-DFA9-F4DC-FA2F57C2B8AC}"/>
              </a:ext>
            </a:extLst>
          </p:cNvPr>
          <p:cNvSpPr>
            <a:spLocks noGrp="1"/>
          </p:cNvSpPr>
          <p:nvPr>
            <p:ph type="title"/>
          </p:nvPr>
        </p:nvSpPr>
        <p:spPr>
          <a:xfrm>
            <a:off x="1568147" y="129612"/>
            <a:ext cx="8911687" cy="1280890"/>
          </a:xfrm>
        </p:spPr>
        <p:txBody>
          <a:bodyPr/>
          <a:lstStyle/>
          <a:p>
            <a:r>
              <a:rPr lang="en-US" b="1" dirty="0"/>
              <a:t>Applications</a:t>
            </a:r>
            <a:br>
              <a:rPr lang="en-US" b="1" dirty="0"/>
            </a:br>
            <a:endParaRPr lang="en-US" dirty="0"/>
          </a:p>
        </p:txBody>
      </p:sp>
      <p:sp>
        <p:nvSpPr>
          <p:cNvPr id="3" name="Content Placeholder 2">
            <a:extLst>
              <a:ext uri="{FF2B5EF4-FFF2-40B4-BE49-F238E27FC236}">
                <a16:creationId xmlns:a16="http://schemas.microsoft.com/office/drawing/2014/main" id="{CD8527A1-EA1C-ABF8-E388-1F26941C7D64}"/>
              </a:ext>
            </a:extLst>
          </p:cNvPr>
          <p:cNvSpPr>
            <a:spLocks noGrp="1"/>
          </p:cNvSpPr>
          <p:nvPr>
            <p:ph idx="1"/>
          </p:nvPr>
        </p:nvSpPr>
        <p:spPr>
          <a:xfrm>
            <a:off x="1042219" y="1579201"/>
            <a:ext cx="10462394" cy="4919922"/>
          </a:xfrm>
        </p:spPr>
        <p:txBody>
          <a:bodyPr>
            <a:normAutofit fontScale="92500" lnSpcReduction="10000"/>
          </a:bodyPr>
          <a:lstStyle/>
          <a:p>
            <a:pPr marL="0" indent="0" algn="just">
              <a:buNone/>
            </a:pPr>
            <a:r>
              <a:rPr lang="en-US" sz="2400" dirty="0">
                <a:latin typeface="Bookman Old Style" panose="02050604050505020204" pitchFamily="18" charset="0"/>
              </a:rPr>
              <a:t>Depth-First Search Algorithm has a wide range of applications for practical purposes. Some of them are discussed below:</a:t>
            </a:r>
          </a:p>
          <a:p>
            <a:pPr algn="just"/>
            <a:r>
              <a:rPr lang="en-US" sz="2400" dirty="0">
                <a:latin typeface="Bookman Old Style" panose="02050604050505020204" pitchFamily="18" charset="0"/>
              </a:rPr>
              <a:t>For finding the strongly connected components of the graph</a:t>
            </a:r>
          </a:p>
          <a:p>
            <a:pPr algn="just"/>
            <a:r>
              <a:rPr lang="en-US" sz="2400" dirty="0">
                <a:latin typeface="Bookman Old Style" panose="02050604050505020204" pitchFamily="18" charset="0"/>
              </a:rPr>
              <a:t> To find the path</a:t>
            </a:r>
          </a:p>
          <a:p>
            <a:pPr algn="just"/>
            <a:r>
              <a:rPr lang="en-US" sz="2400" dirty="0">
                <a:latin typeface="Bookman Old Style" panose="02050604050505020204" pitchFamily="18" charset="0"/>
              </a:rPr>
              <a:t>To test if the graph is bipartite</a:t>
            </a:r>
          </a:p>
          <a:p>
            <a:pPr algn="just"/>
            <a:r>
              <a:rPr lang="en-US" sz="2400" dirty="0">
                <a:latin typeface="Bookman Old Style" panose="02050604050505020204" pitchFamily="18" charset="0"/>
              </a:rPr>
              <a:t>For detecting cycles in a graph</a:t>
            </a:r>
          </a:p>
          <a:p>
            <a:pPr algn="just"/>
            <a:r>
              <a:rPr lang="en-US" sz="2400" dirty="0">
                <a:latin typeface="Bookman Old Style" panose="02050604050505020204" pitchFamily="18" charset="0"/>
              </a:rPr>
              <a:t>Topological Sorting</a:t>
            </a:r>
          </a:p>
          <a:p>
            <a:pPr algn="just"/>
            <a:r>
              <a:rPr lang="en-US" sz="2400" dirty="0">
                <a:latin typeface="Bookman Old Style" panose="02050604050505020204" pitchFamily="18" charset="0"/>
              </a:rPr>
              <a:t>Solving the puzzle with only one solution.</a:t>
            </a:r>
          </a:p>
          <a:p>
            <a:pPr algn="just"/>
            <a:r>
              <a:rPr lang="en-US" sz="2400" dirty="0">
                <a:latin typeface="Bookman Old Style" panose="02050604050505020204" pitchFamily="18" charset="0"/>
              </a:rPr>
              <a:t>Network Analysis</a:t>
            </a:r>
          </a:p>
          <a:p>
            <a:pPr algn="just"/>
            <a:r>
              <a:rPr lang="en-US" sz="2400" dirty="0">
                <a:latin typeface="Bookman Old Style" panose="02050604050505020204" pitchFamily="18" charset="0"/>
              </a:rPr>
              <a:t>Mapping Routes</a:t>
            </a:r>
          </a:p>
          <a:p>
            <a:pPr algn="just"/>
            <a:r>
              <a:rPr lang="en-US" sz="2400" dirty="0">
                <a:latin typeface="Bookman Old Style" panose="02050604050505020204" pitchFamily="18" charset="0"/>
              </a:rPr>
              <a:t>Scheduling a problem</a:t>
            </a:r>
          </a:p>
        </p:txBody>
      </p:sp>
      <p:pic>
        <p:nvPicPr>
          <p:cNvPr id="4" name="Picture 3">
            <a:extLst>
              <a:ext uri="{FF2B5EF4-FFF2-40B4-BE49-F238E27FC236}">
                <a16:creationId xmlns:a16="http://schemas.microsoft.com/office/drawing/2014/main" id="{0A5EF682-BBC6-BC89-A815-2405B3BFA89F}"/>
              </a:ext>
            </a:extLst>
          </p:cNvPr>
          <p:cNvPicPr>
            <a:picLocks noChangeAspect="1"/>
          </p:cNvPicPr>
          <p:nvPr/>
        </p:nvPicPr>
        <p:blipFill rotWithShape="1">
          <a:blip r:embed="rId2">
            <a:extLst>
              <a:ext uri="{28A0092B-C50C-407E-A947-70E740481C1C}">
                <a14:useLocalDpi xmlns:a14="http://schemas.microsoft.com/office/drawing/2010/main" val="0"/>
              </a:ext>
            </a:extLst>
          </a:blip>
          <a:srcRect l="7632" t="6513" r="14801" b="12673"/>
          <a:stretch/>
        </p:blipFill>
        <p:spPr>
          <a:xfrm>
            <a:off x="11003168" y="6329803"/>
            <a:ext cx="1002890" cy="342928"/>
          </a:xfrm>
          <a:prstGeom prst="rect">
            <a:avLst/>
          </a:prstGeom>
        </p:spPr>
      </p:pic>
      <p:sp>
        <p:nvSpPr>
          <p:cNvPr id="5" name="TextBox 4">
            <a:extLst>
              <a:ext uri="{FF2B5EF4-FFF2-40B4-BE49-F238E27FC236}">
                <a16:creationId xmlns:a16="http://schemas.microsoft.com/office/drawing/2014/main" id="{CED2CCDC-C02F-B3A1-A3C5-707DECA064F1}"/>
              </a:ext>
            </a:extLst>
          </p:cNvPr>
          <p:cNvSpPr txBox="1"/>
          <p:nvPr/>
        </p:nvSpPr>
        <p:spPr>
          <a:xfrm>
            <a:off x="-30367" y="770057"/>
            <a:ext cx="1741230" cy="369332"/>
          </a:xfrm>
          <a:prstGeom prst="rect">
            <a:avLst/>
          </a:prstGeom>
          <a:noFill/>
        </p:spPr>
        <p:txBody>
          <a:bodyPr wrap="square" rtlCol="0">
            <a:spAutoFit/>
          </a:bodyPr>
          <a:lstStyle/>
          <a:p>
            <a:r>
              <a:rPr lang="en-US" sz="1800" dirty="0">
                <a:solidFill>
                  <a:schemeClr val="bg1"/>
                </a:solidFill>
                <a:effectLst/>
                <a:latin typeface="Bookman Old Style" panose="02050604050505020204" pitchFamily="18" charset="0"/>
                <a:ea typeface="Calibri" panose="020F0502020204030204" pitchFamily="34" charset="0"/>
              </a:rPr>
              <a:t>22AM2305</a:t>
            </a:r>
            <a:endParaRPr lang="en-IN" dirty="0">
              <a:solidFill>
                <a:schemeClr val="bg1"/>
              </a:solidFill>
              <a:latin typeface="Bookman Old Style" panose="02050604050505020204" pitchFamily="18" charset="0"/>
            </a:endParaRPr>
          </a:p>
        </p:txBody>
      </p:sp>
      <p:pic>
        <p:nvPicPr>
          <p:cNvPr id="6" name="Picture 2" descr="logo">
            <a:extLst>
              <a:ext uri="{FF2B5EF4-FFF2-40B4-BE49-F238E27FC236}">
                <a16:creationId xmlns:a16="http://schemas.microsoft.com/office/drawing/2014/main" id="{747D0EEE-BA48-499F-B84C-D20F74CB5DB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52799" y="89593"/>
            <a:ext cx="1070381" cy="1049796"/>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a:extLst>
              <a:ext uri="{FF2B5EF4-FFF2-40B4-BE49-F238E27FC236}">
                <a16:creationId xmlns:a16="http://schemas.microsoft.com/office/drawing/2014/main" id="{B8E50AC5-8D2A-6A5D-796D-B6863CA3B31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123180" y="89593"/>
            <a:ext cx="941000" cy="960203"/>
          </a:xfrm>
          <a:prstGeom prst="rect">
            <a:avLst/>
          </a:prstGeom>
        </p:spPr>
      </p:pic>
    </p:spTree>
    <p:extLst>
      <p:ext uri="{BB962C8B-B14F-4D97-AF65-F5344CB8AC3E}">
        <p14:creationId xmlns:p14="http://schemas.microsoft.com/office/powerpoint/2010/main" val="123411064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47515F-4A58-DFA9-F4DC-FA2F57C2B8AC}"/>
              </a:ext>
            </a:extLst>
          </p:cNvPr>
          <p:cNvSpPr>
            <a:spLocks noGrp="1"/>
          </p:cNvSpPr>
          <p:nvPr>
            <p:ph type="title"/>
          </p:nvPr>
        </p:nvSpPr>
        <p:spPr>
          <a:xfrm>
            <a:off x="1568147" y="129612"/>
            <a:ext cx="8911687" cy="1280890"/>
          </a:xfrm>
        </p:spPr>
        <p:txBody>
          <a:bodyPr/>
          <a:lstStyle/>
          <a:p>
            <a:r>
              <a:rPr lang="en-IN" dirty="0"/>
              <a:t>Depth limited search </a:t>
            </a:r>
            <a:endParaRPr lang="en-US" dirty="0"/>
          </a:p>
        </p:txBody>
      </p:sp>
      <p:sp>
        <p:nvSpPr>
          <p:cNvPr id="3" name="Content Placeholder 2">
            <a:extLst>
              <a:ext uri="{FF2B5EF4-FFF2-40B4-BE49-F238E27FC236}">
                <a16:creationId xmlns:a16="http://schemas.microsoft.com/office/drawing/2014/main" id="{CD8527A1-EA1C-ABF8-E388-1F26941C7D64}"/>
              </a:ext>
            </a:extLst>
          </p:cNvPr>
          <p:cNvSpPr>
            <a:spLocks noGrp="1"/>
          </p:cNvSpPr>
          <p:nvPr>
            <p:ph idx="1"/>
          </p:nvPr>
        </p:nvSpPr>
        <p:spPr>
          <a:xfrm>
            <a:off x="1042219" y="1579201"/>
            <a:ext cx="10462394" cy="4508742"/>
          </a:xfrm>
        </p:spPr>
        <p:txBody>
          <a:bodyPr>
            <a:normAutofit fontScale="77500" lnSpcReduction="20000"/>
          </a:bodyPr>
          <a:lstStyle/>
          <a:p>
            <a:pPr algn="just"/>
            <a:r>
              <a:rPr lang="en-US" sz="2400" b="0" i="0" dirty="0">
                <a:solidFill>
                  <a:srgbClr val="333333"/>
                </a:solidFill>
                <a:effectLst/>
                <a:latin typeface="inter-regular"/>
              </a:rPr>
              <a:t>A depth-limited search algorithm is similar to depth-first search </a:t>
            </a:r>
            <a:r>
              <a:rPr lang="en-US" sz="2400" b="0" i="0" dirty="0">
                <a:solidFill>
                  <a:srgbClr val="7030A0"/>
                </a:solidFill>
                <a:effectLst/>
                <a:latin typeface="inter-regular"/>
              </a:rPr>
              <a:t>with a predetermined limit</a:t>
            </a:r>
            <a:r>
              <a:rPr lang="en-US" sz="2400" b="0" i="0" dirty="0">
                <a:solidFill>
                  <a:srgbClr val="333333"/>
                </a:solidFill>
                <a:effectLst/>
                <a:latin typeface="inter-regular"/>
              </a:rPr>
              <a:t>. Depth-limited search can solve the drawback of the </a:t>
            </a:r>
            <a:r>
              <a:rPr lang="en-US" sz="2400" b="0" i="0" dirty="0">
                <a:solidFill>
                  <a:srgbClr val="FF0000"/>
                </a:solidFill>
                <a:effectLst/>
                <a:latin typeface="inter-regular"/>
              </a:rPr>
              <a:t>infinite path in the Depth-first search</a:t>
            </a:r>
            <a:r>
              <a:rPr lang="en-US" sz="2400" b="0" i="0" dirty="0">
                <a:solidFill>
                  <a:srgbClr val="333333"/>
                </a:solidFill>
                <a:effectLst/>
                <a:latin typeface="inter-regular"/>
              </a:rPr>
              <a:t>. In this algorithm, the node </a:t>
            </a:r>
            <a:r>
              <a:rPr lang="en-US" sz="2400" b="0" i="0" dirty="0">
                <a:solidFill>
                  <a:srgbClr val="00B050"/>
                </a:solidFill>
                <a:effectLst/>
                <a:latin typeface="inter-regular"/>
              </a:rPr>
              <a:t>at the depth limit will treat as it has no successor nodes further.</a:t>
            </a:r>
          </a:p>
          <a:p>
            <a:pPr algn="just"/>
            <a:r>
              <a:rPr lang="en-US" sz="2400" b="0" i="0" dirty="0">
                <a:solidFill>
                  <a:srgbClr val="333333"/>
                </a:solidFill>
                <a:effectLst/>
                <a:latin typeface="inter-regular"/>
              </a:rPr>
              <a:t>Depth-limited search can be terminated with two Conditions of failure:</a:t>
            </a:r>
          </a:p>
          <a:p>
            <a:pPr algn="just">
              <a:buFont typeface="Arial" panose="020B0604020202020204" pitchFamily="34" charset="0"/>
              <a:buChar char="•"/>
            </a:pPr>
            <a:r>
              <a:rPr lang="en-US" sz="2400" b="1" i="0" dirty="0">
                <a:solidFill>
                  <a:srgbClr val="000000"/>
                </a:solidFill>
                <a:effectLst/>
                <a:latin typeface="inter-regular"/>
              </a:rPr>
              <a:t>Standard failure value</a:t>
            </a:r>
            <a:r>
              <a:rPr lang="en-US" sz="2400" b="0" i="0" dirty="0">
                <a:solidFill>
                  <a:srgbClr val="000000"/>
                </a:solidFill>
                <a:effectLst/>
                <a:latin typeface="inter-regular"/>
              </a:rPr>
              <a:t>: It indicates that </a:t>
            </a:r>
            <a:r>
              <a:rPr lang="en-US" sz="2400" b="0" i="0" dirty="0">
                <a:solidFill>
                  <a:srgbClr val="00B0F0"/>
                </a:solidFill>
                <a:effectLst/>
                <a:latin typeface="inter-regular"/>
              </a:rPr>
              <a:t>problem does not have any solution</a:t>
            </a:r>
            <a:r>
              <a:rPr lang="en-US" sz="2400" b="0" i="0" dirty="0">
                <a:solidFill>
                  <a:srgbClr val="000000"/>
                </a:solidFill>
                <a:effectLst/>
                <a:latin typeface="inter-regular"/>
              </a:rPr>
              <a:t>.</a:t>
            </a:r>
          </a:p>
          <a:p>
            <a:pPr algn="just">
              <a:buFont typeface="Arial" panose="020B0604020202020204" pitchFamily="34" charset="0"/>
              <a:buChar char="•"/>
            </a:pPr>
            <a:r>
              <a:rPr lang="en-US" sz="2400" b="1" i="0" dirty="0">
                <a:solidFill>
                  <a:srgbClr val="000000"/>
                </a:solidFill>
                <a:effectLst/>
                <a:latin typeface="inter-regular"/>
              </a:rPr>
              <a:t>Cutoff failure value</a:t>
            </a:r>
            <a:r>
              <a:rPr lang="en-US" sz="2400" b="0" i="0" dirty="0">
                <a:solidFill>
                  <a:srgbClr val="000000"/>
                </a:solidFill>
                <a:effectLst/>
                <a:latin typeface="inter-regular"/>
              </a:rPr>
              <a:t>: It defines </a:t>
            </a:r>
            <a:r>
              <a:rPr lang="en-US" sz="2400" b="0" i="0" dirty="0">
                <a:solidFill>
                  <a:srgbClr val="7030A0"/>
                </a:solidFill>
                <a:effectLst/>
                <a:latin typeface="inter-regular"/>
              </a:rPr>
              <a:t>no solution for the problem within a given depth limit</a:t>
            </a:r>
            <a:r>
              <a:rPr lang="en-US" sz="2400" b="0" i="0" dirty="0">
                <a:solidFill>
                  <a:srgbClr val="000000"/>
                </a:solidFill>
                <a:effectLst/>
                <a:latin typeface="inter-regular"/>
              </a:rPr>
              <a:t>.</a:t>
            </a:r>
          </a:p>
          <a:p>
            <a:pPr algn="just"/>
            <a:endParaRPr lang="en-US" sz="2400" b="0" i="0" dirty="0">
              <a:solidFill>
                <a:srgbClr val="000000"/>
              </a:solidFill>
              <a:effectLst/>
              <a:latin typeface="inter-regular"/>
            </a:endParaRPr>
          </a:p>
          <a:p>
            <a:pPr algn="just"/>
            <a:r>
              <a:rPr lang="en-US" sz="2400" b="1" i="0" dirty="0">
                <a:solidFill>
                  <a:srgbClr val="333333"/>
                </a:solidFill>
                <a:effectLst/>
                <a:latin typeface="inter-bold"/>
              </a:rPr>
              <a:t>Advantages:</a:t>
            </a:r>
            <a:endParaRPr lang="en-US" sz="2400" b="0" i="0" dirty="0">
              <a:solidFill>
                <a:srgbClr val="333333"/>
              </a:solidFill>
              <a:effectLst/>
              <a:latin typeface="inter-regular"/>
            </a:endParaRPr>
          </a:p>
          <a:p>
            <a:pPr algn="just"/>
            <a:r>
              <a:rPr lang="en-US" sz="2400" b="0" i="0" dirty="0">
                <a:solidFill>
                  <a:srgbClr val="333333"/>
                </a:solidFill>
                <a:effectLst/>
                <a:latin typeface="inter-regular"/>
              </a:rPr>
              <a:t>Depth-limited search is </a:t>
            </a:r>
            <a:r>
              <a:rPr lang="en-US" sz="2400" b="0" i="0" dirty="0">
                <a:solidFill>
                  <a:srgbClr val="7030A0"/>
                </a:solidFill>
                <a:effectLst/>
                <a:latin typeface="inter-regular"/>
              </a:rPr>
              <a:t>Memory efficient.</a:t>
            </a:r>
          </a:p>
          <a:p>
            <a:pPr algn="just"/>
            <a:endParaRPr lang="en-US" sz="2400" b="0" i="0" dirty="0">
              <a:solidFill>
                <a:srgbClr val="333333"/>
              </a:solidFill>
              <a:effectLst/>
              <a:latin typeface="inter-regular"/>
            </a:endParaRPr>
          </a:p>
          <a:p>
            <a:pPr algn="just"/>
            <a:r>
              <a:rPr lang="en-US" sz="2400" b="1" i="0" dirty="0">
                <a:solidFill>
                  <a:srgbClr val="333333"/>
                </a:solidFill>
                <a:effectLst/>
                <a:latin typeface="inter-bold"/>
              </a:rPr>
              <a:t>Disadvantages:</a:t>
            </a:r>
            <a:endParaRPr lang="en-US" sz="2400" b="0" i="0" dirty="0">
              <a:solidFill>
                <a:srgbClr val="333333"/>
              </a:solidFill>
              <a:effectLst/>
              <a:latin typeface="inter-regular"/>
            </a:endParaRPr>
          </a:p>
          <a:p>
            <a:pPr algn="just">
              <a:buFont typeface="Arial" panose="020B0604020202020204" pitchFamily="34" charset="0"/>
              <a:buChar char="•"/>
            </a:pPr>
            <a:r>
              <a:rPr lang="en-US" sz="2400" b="0" i="0" dirty="0">
                <a:solidFill>
                  <a:srgbClr val="000000"/>
                </a:solidFill>
                <a:effectLst/>
                <a:latin typeface="inter-regular"/>
              </a:rPr>
              <a:t>Depth-limited search also has a </a:t>
            </a:r>
            <a:r>
              <a:rPr lang="en-US" sz="2400" b="0" i="0" dirty="0">
                <a:solidFill>
                  <a:srgbClr val="FF0000"/>
                </a:solidFill>
                <a:effectLst/>
                <a:latin typeface="inter-regular"/>
              </a:rPr>
              <a:t>disadvantage of incompleteness</a:t>
            </a:r>
            <a:r>
              <a:rPr lang="en-US" sz="2400" b="0" i="0" dirty="0">
                <a:solidFill>
                  <a:srgbClr val="000000"/>
                </a:solidFill>
                <a:effectLst/>
                <a:latin typeface="inter-regular"/>
              </a:rPr>
              <a:t>.</a:t>
            </a:r>
          </a:p>
          <a:p>
            <a:pPr algn="just">
              <a:buFont typeface="Arial" panose="020B0604020202020204" pitchFamily="34" charset="0"/>
              <a:buChar char="•"/>
            </a:pPr>
            <a:r>
              <a:rPr lang="en-US" sz="2400" b="0" i="0" dirty="0">
                <a:solidFill>
                  <a:srgbClr val="000000"/>
                </a:solidFill>
                <a:effectLst/>
                <a:latin typeface="inter-regular"/>
              </a:rPr>
              <a:t>It may not be optimal if the problem has more than one solution.</a:t>
            </a:r>
          </a:p>
          <a:p>
            <a:pPr algn="just"/>
            <a:endParaRPr lang="en-US" sz="2400" b="1" dirty="0"/>
          </a:p>
        </p:txBody>
      </p:sp>
      <p:pic>
        <p:nvPicPr>
          <p:cNvPr id="4" name="Picture 3">
            <a:extLst>
              <a:ext uri="{FF2B5EF4-FFF2-40B4-BE49-F238E27FC236}">
                <a16:creationId xmlns:a16="http://schemas.microsoft.com/office/drawing/2014/main" id="{0A5EF682-BBC6-BC89-A815-2405B3BFA89F}"/>
              </a:ext>
            </a:extLst>
          </p:cNvPr>
          <p:cNvPicPr>
            <a:picLocks noChangeAspect="1"/>
          </p:cNvPicPr>
          <p:nvPr/>
        </p:nvPicPr>
        <p:blipFill rotWithShape="1">
          <a:blip r:embed="rId2">
            <a:extLst>
              <a:ext uri="{28A0092B-C50C-407E-A947-70E740481C1C}">
                <a14:useLocalDpi xmlns:a14="http://schemas.microsoft.com/office/drawing/2010/main" val="0"/>
              </a:ext>
            </a:extLst>
          </a:blip>
          <a:srcRect l="7632" t="6513" r="14801" b="12673"/>
          <a:stretch/>
        </p:blipFill>
        <p:spPr>
          <a:xfrm>
            <a:off x="11003168" y="6329803"/>
            <a:ext cx="1002890" cy="342928"/>
          </a:xfrm>
          <a:prstGeom prst="rect">
            <a:avLst/>
          </a:prstGeom>
        </p:spPr>
      </p:pic>
      <p:sp>
        <p:nvSpPr>
          <p:cNvPr id="5" name="TextBox 4">
            <a:extLst>
              <a:ext uri="{FF2B5EF4-FFF2-40B4-BE49-F238E27FC236}">
                <a16:creationId xmlns:a16="http://schemas.microsoft.com/office/drawing/2014/main" id="{CED2CCDC-C02F-B3A1-A3C5-707DECA064F1}"/>
              </a:ext>
            </a:extLst>
          </p:cNvPr>
          <p:cNvSpPr txBox="1"/>
          <p:nvPr/>
        </p:nvSpPr>
        <p:spPr>
          <a:xfrm>
            <a:off x="-30367" y="770057"/>
            <a:ext cx="1741230" cy="369332"/>
          </a:xfrm>
          <a:prstGeom prst="rect">
            <a:avLst/>
          </a:prstGeom>
          <a:noFill/>
        </p:spPr>
        <p:txBody>
          <a:bodyPr wrap="square" rtlCol="0">
            <a:spAutoFit/>
          </a:bodyPr>
          <a:lstStyle/>
          <a:p>
            <a:r>
              <a:rPr lang="en-US" sz="1800" dirty="0">
                <a:solidFill>
                  <a:schemeClr val="bg1"/>
                </a:solidFill>
                <a:effectLst/>
                <a:latin typeface="Bookman Old Style" panose="02050604050505020204" pitchFamily="18" charset="0"/>
                <a:ea typeface="Calibri" panose="020F0502020204030204" pitchFamily="34" charset="0"/>
              </a:rPr>
              <a:t>22AM2305</a:t>
            </a:r>
            <a:endParaRPr lang="en-IN" dirty="0">
              <a:solidFill>
                <a:schemeClr val="bg1"/>
              </a:solidFill>
              <a:latin typeface="Bookman Old Style" panose="02050604050505020204" pitchFamily="18" charset="0"/>
            </a:endParaRPr>
          </a:p>
        </p:txBody>
      </p:sp>
      <p:pic>
        <p:nvPicPr>
          <p:cNvPr id="6" name="Picture 2" descr="logo">
            <a:extLst>
              <a:ext uri="{FF2B5EF4-FFF2-40B4-BE49-F238E27FC236}">
                <a16:creationId xmlns:a16="http://schemas.microsoft.com/office/drawing/2014/main" id="{747D0EEE-BA48-499F-B84C-D20F74CB5DB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52799" y="89593"/>
            <a:ext cx="1070381" cy="1049796"/>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a:extLst>
              <a:ext uri="{FF2B5EF4-FFF2-40B4-BE49-F238E27FC236}">
                <a16:creationId xmlns:a16="http://schemas.microsoft.com/office/drawing/2014/main" id="{B8E50AC5-8D2A-6A5D-796D-B6863CA3B31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123180" y="89593"/>
            <a:ext cx="941000" cy="960203"/>
          </a:xfrm>
          <a:prstGeom prst="rect">
            <a:avLst/>
          </a:prstGeom>
        </p:spPr>
      </p:pic>
    </p:spTree>
    <p:extLst>
      <p:ext uri="{BB962C8B-B14F-4D97-AF65-F5344CB8AC3E}">
        <p14:creationId xmlns:p14="http://schemas.microsoft.com/office/powerpoint/2010/main" val="428209442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47515F-4A58-DFA9-F4DC-FA2F57C2B8AC}"/>
              </a:ext>
            </a:extLst>
          </p:cNvPr>
          <p:cNvSpPr>
            <a:spLocks noGrp="1"/>
          </p:cNvSpPr>
          <p:nvPr>
            <p:ph type="title"/>
          </p:nvPr>
        </p:nvSpPr>
        <p:spPr>
          <a:xfrm>
            <a:off x="1568147" y="129612"/>
            <a:ext cx="8911687" cy="1280890"/>
          </a:xfrm>
        </p:spPr>
        <p:txBody>
          <a:bodyPr/>
          <a:lstStyle/>
          <a:p>
            <a:endParaRPr lang="en-US" dirty="0"/>
          </a:p>
        </p:txBody>
      </p:sp>
      <p:sp>
        <p:nvSpPr>
          <p:cNvPr id="3" name="Content Placeholder 2">
            <a:extLst>
              <a:ext uri="{FF2B5EF4-FFF2-40B4-BE49-F238E27FC236}">
                <a16:creationId xmlns:a16="http://schemas.microsoft.com/office/drawing/2014/main" id="{CD8527A1-EA1C-ABF8-E388-1F26941C7D64}"/>
              </a:ext>
            </a:extLst>
          </p:cNvPr>
          <p:cNvSpPr>
            <a:spLocks noGrp="1"/>
          </p:cNvSpPr>
          <p:nvPr>
            <p:ph idx="1"/>
          </p:nvPr>
        </p:nvSpPr>
        <p:spPr>
          <a:xfrm>
            <a:off x="5358581" y="1579201"/>
            <a:ext cx="6146032" cy="4508742"/>
          </a:xfrm>
        </p:spPr>
        <p:txBody>
          <a:bodyPr>
            <a:normAutofit/>
          </a:bodyPr>
          <a:lstStyle/>
          <a:p>
            <a:pPr algn="just"/>
            <a:r>
              <a:rPr lang="en-US" sz="2400" b="1" i="0" dirty="0">
                <a:solidFill>
                  <a:srgbClr val="333333"/>
                </a:solidFill>
                <a:effectLst/>
                <a:latin typeface="inter-bold"/>
              </a:rPr>
              <a:t>Completeness:</a:t>
            </a:r>
            <a:r>
              <a:rPr lang="en-US" sz="2400" b="0" i="0" dirty="0">
                <a:solidFill>
                  <a:srgbClr val="333333"/>
                </a:solidFill>
                <a:effectLst/>
                <a:latin typeface="inter-regular"/>
              </a:rPr>
              <a:t> DLS search algorithm is complete if the solution is above the depth-limit.</a:t>
            </a:r>
          </a:p>
          <a:p>
            <a:pPr algn="just"/>
            <a:r>
              <a:rPr lang="en-US" sz="2400" b="1" i="0" dirty="0">
                <a:solidFill>
                  <a:srgbClr val="333333"/>
                </a:solidFill>
                <a:effectLst/>
                <a:latin typeface="inter-bold"/>
              </a:rPr>
              <a:t>Time Complexity:</a:t>
            </a:r>
            <a:r>
              <a:rPr lang="en-US" sz="2400" b="0" i="0" dirty="0">
                <a:solidFill>
                  <a:srgbClr val="333333"/>
                </a:solidFill>
                <a:effectLst/>
                <a:latin typeface="inter-regular"/>
              </a:rPr>
              <a:t> Time complexity of DLS algorithm is </a:t>
            </a:r>
            <a:r>
              <a:rPr lang="en-US" sz="2400" b="1" i="0" dirty="0">
                <a:solidFill>
                  <a:srgbClr val="333333"/>
                </a:solidFill>
                <a:effectLst/>
                <a:latin typeface="inter-bold"/>
              </a:rPr>
              <a:t>O(b</a:t>
            </a:r>
            <a:r>
              <a:rPr lang="en-US" sz="2400" b="1" i="0" baseline="30000" dirty="0">
                <a:solidFill>
                  <a:srgbClr val="333333"/>
                </a:solidFill>
                <a:effectLst/>
                <a:latin typeface="inter-bold"/>
              </a:rPr>
              <a:t>ℓ</a:t>
            </a:r>
            <a:r>
              <a:rPr lang="en-US" sz="2400" b="1" i="0" dirty="0">
                <a:solidFill>
                  <a:srgbClr val="333333"/>
                </a:solidFill>
                <a:effectLst/>
                <a:latin typeface="inter-bold"/>
              </a:rPr>
              <a:t>)</a:t>
            </a:r>
            <a:r>
              <a:rPr lang="en-US" sz="2400" b="0" i="0" dirty="0">
                <a:solidFill>
                  <a:srgbClr val="333333"/>
                </a:solidFill>
                <a:effectLst/>
                <a:latin typeface="inter-regular"/>
              </a:rPr>
              <a:t>.</a:t>
            </a:r>
          </a:p>
          <a:p>
            <a:pPr algn="just"/>
            <a:r>
              <a:rPr lang="en-US" sz="2400" b="1" i="0" dirty="0">
                <a:solidFill>
                  <a:srgbClr val="333333"/>
                </a:solidFill>
                <a:effectLst/>
                <a:latin typeface="inter-bold"/>
              </a:rPr>
              <a:t>Space Complexity:</a:t>
            </a:r>
            <a:r>
              <a:rPr lang="en-US" sz="2400" b="0" i="0" dirty="0">
                <a:solidFill>
                  <a:srgbClr val="333333"/>
                </a:solidFill>
                <a:effectLst/>
                <a:latin typeface="inter-regular"/>
              </a:rPr>
              <a:t> Space complexity of DLS algorithm is O</a:t>
            </a:r>
            <a:r>
              <a:rPr lang="en-US" sz="2400" b="1" i="0" dirty="0">
                <a:solidFill>
                  <a:srgbClr val="333333"/>
                </a:solidFill>
                <a:effectLst/>
                <a:latin typeface="inter-bold"/>
              </a:rPr>
              <a:t>(b×ℓ)</a:t>
            </a:r>
            <a:r>
              <a:rPr lang="en-US" sz="2400" b="0" i="0" dirty="0">
                <a:solidFill>
                  <a:srgbClr val="333333"/>
                </a:solidFill>
                <a:effectLst/>
                <a:latin typeface="inter-regular"/>
              </a:rPr>
              <a:t>.</a:t>
            </a:r>
          </a:p>
          <a:p>
            <a:pPr algn="just"/>
            <a:endParaRPr lang="en-US" sz="2400" b="1" dirty="0"/>
          </a:p>
        </p:txBody>
      </p:sp>
      <p:pic>
        <p:nvPicPr>
          <p:cNvPr id="4" name="Picture 3">
            <a:extLst>
              <a:ext uri="{FF2B5EF4-FFF2-40B4-BE49-F238E27FC236}">
                <a16:creationId xmlns:a16="http://schemas.microsoft.com/office/drawing/2014/main" id="{0A5EF682-BBC6-BC89-A815-2405B3BFA89F}"/>
              </a:ext>
            </a:extLst>
          </p:cNvPr>
          <p:cNvPicPr>
            <a:picLocks noChangeAspect="1"/>
          </p:cNvPicPr>
          <p:nvPr/>
        </p:nvPicPr>
        <p:blipFill rotWithShape="1">
          <a:blip r:embed="rId2">
            <a:extLst>
              <a:ext uri="{28A0092B-C50C-407E-A947-70E740481C1C}">
                <a14:useLocalDpi xmlns:a14="http://schemas.microsoft.com/office/drawing/2010/main" val="0"/>
              </a:ext>
            </a:extLst>
          </a:blip>
          <a:srcRect l="7632" t="6513" r="14801" b="12673"/>
          <a:stretch/>
        </p:blipFill>
        <p:spPr>
          <a:xfrm>
            <a:off x="11003168" y="6329803"/>
            <a:ext cx="1002890" cy="342928"/>
          </a:xfrm>
          <a:prstGeom prst="rect">
            <a:avLst/>
          </a:prstGeom>
        </p:spPr>
      </p:pic>
      <p:sp>
        <p:nvSpPr>
          <p:cNvPr id="5" name="TextBox 4">
            <a:extLst>
              <a:ext uri="{FF2B5EF4-FFF2-40B4-BE49-F238E27FC236}">
                <a16:creationId xmlns:a16="http://schemas.microsoft.com/office/drawing/2014/main" id="{CED2CCDC-C02F-B3A1-A3C5-707DECA064F1}"/>
              </a:ext>
            </a:extLst>
          </p:cNvPr>
          <p:cNvSpPr txBox="1"/>
          <p:nvPr/>
        </p:nvSpPr>
        <p:spPr>
          <a:xfrm>
            <a:off x="-30367" y="770057"/>
            <a:ext cx="1741230" cy="369332"/>
          </a:xfrm>
          <a:prstGeom prst="rect">
            <a:avLst/>
          </a:prstGeom>
          <a:noFill/>
        </p:spPr>
        <p:txBody>
          <a:bodyPr wrap="square" rtlCol="0">
            <a:spAutoFit/>
          </a:bodyPr>
          <a:lstStyle/>
          <a:p>
            <a:r>
              <a:rPr lang="en-US" sz="1800" dirty="0">
                <a:solidFill>
                  <a:schemeClr val="bg1"/>
                </a:solidFill>
                <a:effectLst/>
                <a:latin typeface="Bookman Old Style" panose="02050604050505020204" pitchFamily="18" charset="0"/>
                <a:ea typeface="Calibri" panose="020F0502020204030204" pitchFamily="34" charset="0"/>
              </a:rPr>
              <a:t>22AM2305</a:t>
            </a:r>
            <a:endParaRPr lang="en-IN" dirty="0">
              <a:solidFill>
                <a:schemeClr val="bg1"/>
              </a:solidFill>
              <a:latin typeface="Bookman Old Style" panose="02050604050505020204" pitchFamily="18" charset="0"/>
            </a:endParaRPr>
          </a:p>
        </p:txBody>
      </p:sp>
      <p:pic>
        <p:nvPicPr>
          <p:cNvPr id="6" name="Picture 2" descr="logo">
            <a:extLst>
              <a:ext uri="{FF2B5EF4-FFF2-40B4-BE49-F238E27FC236}">
                <a16:creationId xmlns:a16="http://schemas.microsoft.com/office/drawing/2014/main" id="{747D0EEE-BA48-499F-B84C-D20F74CB5DB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52799" y="89593"/>
            <a:ext cx="1070381" cy="1049796"/>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a:extLst>
              <a:ext uri="{FF2B5EF4-FFF2-40B4-BE49-F238E27FC236}">
                <a16:creationId xmlns:a16="http://schemas.microsoft.com/office/drawing/2014/main" id="{B8E50AC5-8D2A-6A5D-796D-B6863CA3B31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123180" y="89593"/>
            <a:ext cx="941000" cy="960203"/>
          </a:xfrm>
          <a:prstGeom prst="rect">
            <a:avLst/>
          </a:prstGeom>
        </p:spPr>
      </p:pic>
      <p:pic>
        <p:nvPicPr>
          <p:cNvPr id="8" name="Picture 2" descr="Uninformed Search Algorithms">
            <a:extLst>
              <a:ext uri="{FF2B5EF4-FFF2-40B4-BE49-F238E27FC236}">
                <a16:creationId xmlns:a16="http://schemas.microsoft.com/office/drawing/2014/main" id="{1F2089CD-F8F5-6FE7-7D77-92D96C481DA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02231" y="1308088"/>
            <a:ext cx="4762500" cy="3810000"/>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1CA8EABE-AAED-03E7-3B00-6295AA27B0B3}"/>
              </a:ext>
            </a:extLst>
          </p:cNvPr>
          <p:cNvSpPr txBox="1"/>
          <p:nvPr/>
        </p:nvSpPr>
        <p:spPr>
          <a:xfrm>
            <a:off x="3696930" y="5718611"/>
            <a:ext cx="6135328" cy="369332"/>
          </a:xfrm>
          <a:prstGeom prst="rect">
            <a:avLst/>
          </a:prstGeom>
          <a:noFill/>
        </p:spPr>
        <p:txBody>
          <a:bodyPr wrap="square">
            <a:spAutoFit/>
          </a:bodyPr>
          <a:lstStyle/>
          <a:p>
            <a:r>
              <a:rPr lang="en-US" dirty="0">
                <a:hlinkClick r:id="rId6"/>
              </a:rPr>
              <a:t>https://www.youtube.com/watch?v=SoJxjJmA9rs</a:t>
            </a:r>
            <a:r>
              <a:rPr lang="en-US" dirty="0"/>
              <a:t> </a:t>
            </a:r>
          </a:p>
        </p:txBody>
      </p:sp>
    </p:spTree>
    <p:extLst>
      <p:ext uri="{BB962C8B-B14F-4D97-AF65-F5344CB8AC3E}">
        <p14:creationId xmlns:p14="http://schemas.microsoft.com/office/powerpoint/2010/main" val="9116158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47515F-4A58-DFA9-F4DC-FA2F57C2B8AC}"/>
              </a:ext>
            </a:extLst>
          </p:cNvPr>
          <p:cNvSpPr>
            <a:spLocks noGrp="1"/>
          </p:cNvSpPr>
          <p:nvPr>
            <p:ph type="title"/>
          </p:nvPr>
        </p:nvSpPr>
        <p:spPr>
          <a:xfrm>
            <a:off x="1568147" y="129612"/>
            <a:ext cx="8911687" cy="1280890"/>
          </a:xfrm>
        </p:spPr>
        <p:txBody>
          <a:bodyPr/>
          <a:lstStyle/>
          <a:p>
            <a:r>
              <a:rPr lang="en-IN" dirty="0"/>
              <a:t>Bidirectional search</a:t>
            </a:r>
            <a:endParaRPr lang="en-US" dirty="0"/>
          </a:p>
        </p:txBody>
      </p:sp>
      <p:sp>
        <p:nvSpPr>
          <p:cNvPr id="3" name="Content Placeholder 2">
            <a:extLst>
              <a:ext uri="{FF2B5EF4-FFF2-40B4-BE49-F238E27FC236}">
                <a16:creationId xmlns:a16="http://schemas.microsoft.com/office/drawing/2014/main" id="{CD8527A1-EA1C-ABF8-E388-1F26941C7D64}"/>
              </a:ext>
            </a:extLst>
          </p:cNvPr>
          <p:cNvSpPr>
            <a:spLocks noGrp="1"/>
          </p:cNvSpPr>
          <p:nvPr>
            <p:ph idx="1"/>
          </p:nvPr>
        </p:nvSpPr>
        <p:spPr>
          <a:xfrm>
            <a:off x="1042219" y="1579201"/>
            <a:ext cx="10462394" cy="4508742"/>
          </a:xfrm>
        </p:spPr>
        <p:txBody>
          <a:bodyPr>
            <a:normAutofit fontScale="92500" lnSpcReduction="20000"/>
          </a:bodyPr>
          <a:lstStyle/>
          <a:p>
            <a:pPr algn="just"/>
            <a:r>
              <a:rPr lang="en-US" sz="2400" b="1" i="0" dirty="0">
                <a:solidFill>
                  <a:srgbClr val="333333"/>
                </a:solidFill>
                <a:effectLst/>
                <a:latin typeface="inter-bold"/>
              </a:rPr>
              <a:t>Bidirectional search algorithm </a:t>
            </a:r>
            <a:r>
              <a:rPr lang="en-US" sz="2400" b="1" i="0" dirty="0">
                <a:solidFill>
                  <a:srgbClr val="7030A0"/>
                </a:solidFill>
                <a:effectLst/>
                <a:latin typeface="inter-bold"/>
              </a:rPr>
              <a:t>runs two simultaneous searches</a:t>
            </a:r>
            <a:r>
              <a:rPr lang="en-US" sz="2400" b="1" i="0" dirty="0">
                <a:solidFill>
                  <a:srgbClr val="333333"/>
                </a:solidFill>
                <a:effectLst/>
                <a:latin typeface="inter-bold"/>
              </a:rPr>
              <a:t>, </a:t>
            </a:r>
            <a:r>
              <a:rPr lang="en-US" sz="2400" b="1" i="0" dirty="0">
                <a:solidFill>
                  <a:srgbClr val="FF0000"/>
                </a:solidFill>
                <a:effectLst/>
                <a:latin typeface="inter-bold"/>
              </a:rPr>
              <a:t>one from initial state called as forward-search</a:t>
            </a:r>
            <a:r>
              <a:rPr lang="en-US" sz="2400" b="1" i="0" dirty="0">
                <a:solidFill>
                  <a:srgbClr val="333333"/>
                </a:solidFill>
                <a:effectLst/>
                <a:latin typeface="inter-bold"/>
              </a:rPr>
              <a:t> and </a:t>
            </a:r>
            <a:r>
              <a:rPr lang="en-US" sz="2400" b="1" i="0" dirty="0">
                <a:solidFill>
                  <a:srgbClr val="FFC000"/>
                </a:solidFill>
                <a:effectLst/>
                <a:latin typeface="inter-bold"/>
              </a:rPr>
              <a:t>other from goal node called as backward-search</a:t>
            </a:r>
            <a:r>
              <a:rPr lang="en-US" sz="2400" b="1" i="0" dirty="0">
                <a:solidFill>
                  <a:srgbClr val="333333"/>
                </a:solidFill>
                <a:effectLst/>
                <a:latin typeface="inter-bold"/>
              </a:rPr>
              <a:t>, to find the goal node. Bidirectional search </a:t>
            </a:r>
            <a:r>
              <a:rPr lang="en-US" sz="2400" b="1" i="0" dirty="0">
                <a:solidFill>
                  <a:srgbClr val="7030A0"/>
                </a:solidFill>
                <a:effectLst/>
                <a:latin typeface="inter-bold"/>
              </a:rPr>
              <a:t>replaces one single search graph with two small subgraphs</a:t>
            </a:r>
            <a:r>
              <a:rPr lang="en-US" sz="2400" b="1" i="0" dirty="0">
                <a:solidFill>
                  <a:srgbClr val="333333"/>
                </a:solidFill>
                <a:effectLst/>
                <a:latin typeface="inter-bold"/>
              </a:rPr>
              <a:t> in which one starts the search from an initial vertex and other starts from goal vertex. </a:t>
            </a:r>
            <a:r>
              <a:rPr lang="en-US" sz="2400" b="1" i="0" dirty="0">
                <a:solidFill>
                  <a:srgbClr val="00B0F0"/>
                </a:solidFill>
                <a:effectLst/>
                <a:latin typeface="inter-bold"/>
              </a:rPr>
              <a:t>The search stops when these two graphs intersect each other.</a:t>
            </a:r>
            <a:endParaRPr lang="en-US" sz="2400" b="0" i="0" dirty="0">
              <a:solidFill>
                <a:srgbClr val="00B0F0"/>
              </a:solidFill>
              <a:effectLst/>
              <a:latin typeface="inter-regular"/>
            </a:endParaRPr>
          </a:p>
          <a:p>
            <a:pPr algn="just"/>
            <a:r>
              <a:rPr lang="en-US" sz="2400" b="1" i="0" dirty="0">
                <a:solidFill>
                  <a:srgbClr val="333333"/>
                </a:solidFill>
                <a:effectLst/>
                <a:latin typeface="inter-bold"/>
              </a:rPr>
              <a:t>Bidirectional search can use search techniques such as BFS, DFS, DLS, etc.</a:t>
            </a:r>
            <a:endParaRPr lang="en-US" sz="2400" b="0" i="0" dirty="0">
              <a:solidFill>
                <a:srgbClr val="333333"/>
              </a:solidFill>
              <a:effectLst/>
              <a:latin typeface="inter-regular"/>
            </a:endParaRPr>
          </a:p>
          <a:p>
            <a:pPr algn="just"/>
            <a:r>
              <a:rPr lang="en-US" sz="2400" b="1" i="0" dirty="0">
                <a:solidFill>
                  <a:srgbClr val="333333"/>
                </a:solidFill>
                <a:effectLst/>
                <a:latin typeface="inter-bold"/>
              </a:rPr>
              <a:t>Advantages:</a:t>
            </a:r>
            <a:endParaRPr lang="en-US" sz="2400" b="0" i="0" dirty="0">
              <a:solidFill>
                <a:srgbClr val="333333"/>
              </a:solidFill>
              <a:effectLst/>
              <a:latin typeface="inter-regular"/>
            </a:endParaRPr>
          </a:p>
          <a:p>
            <a:pPr algn="just">
              <a:buFont typeface="Arial" panose="020B0604020202020204" pitchFamily="34" charset="0"/>
              <a:buChar char="•"/>
            </a:pPr>
            <a:r>
              <a:rPr lang="en-US" sz="2400" b="0" i="0" dirty="0">
                <a:solidFill>
                  <a:srgbClr val="000000"/>
                </a:solidFill>
                <a:effectLst/>
                <a:latin typeface="inter-regular"/>
              </a:rPr>
              <a:t>Bidirectional search is </a:t>
            </a:r>
            <a:r>
              <a:rPr lang="en-US" sz="2400" b="0" i="0" dirty="0">
                <a:solidFill>
                  <a:srgbClr val="00B0F0"/>
                </a:solidFill>
                <a:effectLst/>
                <a:latin typeface="inter-regular"/>
              </a:rPr>
              <a:t>fast</a:t>
            </a:r>
            <a:r>
              <a:rPr lang="en-US" sz="2400" b="0" i="0" dirty="0">
                <a:solidFill>
                  <a:srgbClr val="000000"/>
                </a:solidFill>
                <a:effectLst/>
                <a:latin typeface="inter-regular"/>
              </a:rPr>
              <a:t>.</a:t>
            </a:r>
          </a:p>
          <a:p>
            <a:pPr algn="just">
              <a:buFont typeface="Arial" panose="020B0604020202020204" pitchFamily="34" charset="0"/>
              <a:buChar char="•"/>
            </a:pPr>
            <a:r>
              <a:rPr lang="en-US" sz="2400" b="0" i="0" dirty="0">
                <a:solidFill>
                  <a:srgbClr val="000000"/>
                </a:solidFill>
                <a:effectLst/>
                <a:latin typeface="inter-regular"/>
              </a:rPr>
              <a:t>Bidirectional search </a:t>
            </a:r>
            <a:r>
              <a:rPr lang="en-US" sz="2400" b="0" i="0" dirty="0">
                <a:solidFill>
                  <a:srgbClr val="FFC000"/>
                </a:solidFill>
                <a:effectLst/>
                <a:latin typeface="inter-regular"/>
              </a:rPr>
              <a:t>requires less memory.</a:t>
            </a:r>
          </a:p>
          <a:p>
            <a:pPr algn="just"/>
            <a:r>
              <a:rPr lang="en-US" sz="2400" b="1" i="0" dirty="0">
                <a:solidFill>
                  <a:srgbClr val="333333"/>
                </a:solidFill>
                <a:effectLst/>
                <a:latin typeface="inter-bold"/>
              </a:rPr>
              <a:t>Disadvantages:</a:t>
            </a:r>
            <a:endParaRPr lang="en-US" sz="2400" b="0" i="0" dirty="0">
              <a:solidFill>
                <a:srgbClr val="333333"/>
              </a:solidFill>
              <a:effectLst/>
              <a:latin typeface="inter-regular"/>
            </a:endParaRPr>
          </a:p>
          <a:p>
            <a:pPr algn="just">
              <a:buFont typeface="Arial" panose="020B0604020202020204" pitchFamily="34" charset="0"/>
              <a:buChar char="•"/>
            </a:pPr>
            <a:r>
              <a:rPr lang="en-US" sz="2400" b="0" i="0" dirty="0">
                <a:solidFill>
                  <a:srgbClr val="000000"/>
                </a:solidFill>
                <a:effectLst/>
                <a:latin typeface="inter-regular"/>
              </a:rPr>
              <a:t>Implementation of the </a:t>
            </a:r>
            <a:r>
              <a:rPr lang="en-US" sz="2400" b="0" i="0" dirty="0">
                <a:solidFill>
                  <a:srgbClr val="00B050"/>
                </a:solidFill>
                <a:effectLst/>
                <a:latin typeface="inter-regular"/>
              </a:rPr>
              <a:t>bidirectional search tree is difficult.</a:t>
            </a:r>
          </a:p>
          <a:p>
            <a:pPr algn="just">
              <a:buFont typeface="Arial" panose="020B0604020202020204" pitchFamily="34" charset="0"/>
              <a:buChar char="•"/>
            </a:pPr>
            <a:r>
              <a:rPr lang="en-US" sz="2400" b="1" i="0" dirty="0">
                <a:solidFill>
                  <a:srgbClr val="000000"/>
                </a:solidFill>
                <a:effectLst/>
                <a:latin typeface="inter-bold"/>
              </a:rPr>
              <a:t>In bidirectional search, </a:t>
            </a:r>
            <a:r>
              <a:rPr lang="en-US" sz="2400" b="1" i="0" dirty="0">
                <a:solidFill>
                  <a:srgbClr val="FFC000"/>
                </a:solidFill>
                <a:effectLst/>
                <a:latin typeface="inter-bold"/>
              </a:rPr>
              <a:t>one should know the goal state in advance.</a:t>
            </a:r>
            <a:endParaRPr lang="en-US" sz="2400" b="0" i="0" dirty="0">
              <a:solidFill>
                <a:srgbClr val="FFC000"/>
              </a:solidFill>
              <a:effectLst/>
              <a:latin typeface="inter-regular"/>
            </a:endParaRPr>
          </a:p>
          <a:p>
            <a:pPr algn="just"/>
            <a:endParaRPr lang="en-US" sz="2400" b="1" dirty="0"/>
          </a:p>
        </p:txBody>
      </p:sp>
      <p:pic>
        <p:nvPicPr>
          <p:cNvPr id="4" name="Picture 3">
            <a:extLst>
              <a:ext uri="{FF2B5EF4-FFF2-40B4-BE49-F238E27FC236}">
                <a16:creationId xmlns:a16="http://schemas.microsoft.com/office/drawing/2014/main" id="{0A5EF682-BBC6-BC89-A815-2405B3BFA89F}"/>
              </a:ext>
            </a:extLst>
          </p:cNvPr>
          <p:cNvPicPr>
            <a:picLocks noChangeAspect="1"/>
          </p:cNvPicPr>
          <p:nvPr/>
        </p:nvPicPr>
        <p:blipFill rotWithShape="1">
          <a:blip r:embed="rId2">
            <a:extLst>
              <a:ext uri="{28A0092B-C50C-407E-A947-70E740481C1C}">
                <a14:useLocalDpi xmlns:a14="http://schemas.microsoft.com/office/drawing/2010/main" val="0"/>
              </a:ext>
            </a:extLst>
          </a:blip>
          <a:srcRect l="7632" t="6513" r="14801" b="12673"/>
          <a:stretch/>
        </p:blipFill>
        <p:spPr>
          <a:xfrm>
            <a:off x="11003168" y="6329803"/>
            <a:ext cx="1002890" cy="342928"/>
          </a:xfrm>
          <a:prstGeom prst="rect">
            <a:avLst/>
          </a:prstGeom>
        </p:spPr>
      </p:pic>
      <p:sp>
        <p:nvSpPr>
          <p:cNvPr id="5" name="TextBox 4">
            <a:extLst>
              <a:ext uri="{FF2B5EF4-FFF2-40B4-BE49-F238E27FC236}">
                <a16:creationId xmlns:a16="http://schemas.microsoft.com/office/drawing/2014/main" id="{CED2CCDC-C02F-B3A1-A3C5-707DECA064F1}"/>
              </a:ext>
            </a:extLst>
          </p:cNvPr>
          <p:cNvSpPr txBox="1"/>
          <p:nvPr/>
        </p:nvSpPr>
        <p:spPr>
          <a:xfrm>
            <a:off x="-30367" y="770057"/>
            <a:ext cx="1741230" cy="369332"/>
          </a:xfrm>
          <a:prstGeom prst="rect">
            <a:avLst/>
          </a:prstGeom>
          <a:noFill/>
        </p:spPr>
        <p:txBody>
          <a:bodyPr wrap="square" rtlCol="0">
            <a:spAutoFit/>
          </a:bodyPr>
          <a:lstStyle/>
          <a:p>
            <a:r>
              <a:rPr lang="en-US" sz="1800" dirty="0">
                <a:solidFill>
                  <a:schemeClr val="bg1"/>
                </a:solidFill>
                <a:effectLst/>
                <a:latin typeface="Bookman Old Style" panose="02050604050505020204" pitchFamily="18" charset="0"/>
                <a:ea typeface="Calibri" panose="020F0502020204030204" pitchFamily="34" charset="0"/>
              </a:rPr>
              <a:t>22AM2305</a:t>
            </a:r>
            <a:endParaRPr lang="en-IN" dirty="0">
              <a:solidFill>
                <a:schemeClr val="bg1"/>
              </a:solidFill>
              <a:latin typeface="Bookman Old Style" panose="02050604050505020204" pitchFamily="18" charset="0"/>
            </a:endParaRPr>
          </a:p>
        </p:txBody>
      </p:sp>
      <p:pic>
        <p:nvPicPr>
          <p:cNvPr id="6" name="Picture 2" descr="logo">
            <a:extLst>
              <a:ext uri="{FF2B5EF4-FFF2-40B4-BE49-F238E27FC236}">
                <a16:creationId xmlns:a16="http://schemas.microsoft.com/office/drawing/2014/main" id="{747D0EEE-BA48-499F-B84C-D20F74CB5DB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52799" y="89593"/>
            <a:ext cx="1070381" cy="1049796"/>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a:extLst>
              <a:ext uri="{FF2B5EF4-FFF2-40B4-BE49-F238E27FC236}">
                <a16:creationId xmlns:a16="http://schemas.microsoft.com/office/drawing/2014/main" id="{B8E50AC5-8D2A-6A5D-796D-B6863CA3B31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123180" y="89593"/>
            <a:ext cx="941000" cy="960203"/>
          </a:xfrm>
          <a:prstGeom prst="rect">
            <a:avLst/>
          </a:prstGeom>
        </p:spPr>
      </p:pic>
    </p:spTree>
    <p:extLst>
      <p:ext uri="{BB962C8B-B14F-4D97-AF65-F5344CB8AC3E}">
        <p14:creationId xmlns:p14="http://schemas.microsoft.com/office/powerpoint/2010/main" val="41770368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47515F-4A58-DFA9-F4DC-FA2F57C2B8AC}"/>
              </a:ext>
            </a:extLst>
          </p:cNvPr>
          <p:cNvSpPr>
            <a:spLocks noGrp="1"/>
          </p:cNvSpPr>
          <p:nvPr>
            <p:ph type="title"/>
          </p:nvPr>
        </p:nvSpPr>
        <p:spPr>
          <a:xfrm>
            <a:off x="1568147" y="129612"/>
            <a:ext cx="8911687" cy="1280890"/>
          </a:xfrm>
        </p:spPr>
        <p:txBody>
          <a:bodyPr/>
          <a:lstStyle/>
          <a:p>
            <a:endParaRPr lang="en-US" dirty="0"/>
          </a:p>
        </p:txBody>
      </p:sp>
      <p:sp>
        <p:nvSpPr>
          <p:cNvPr id="3" name="Content Placeholder 2">
            <a:extLst>
              <a:ext uri="{FF2B5EF4-FFF2-40B4-BE49-F238E27FC236}">
                <a16:creationId xmlns:a16="http://schemas.microsoft.com/office/drawing/2014/main" id="{CD8527A1-EA1C-ABF8-E388-1F26941C7D64}"/>
              </a:ext>
            </a:extLst>
          </p:cNvPr>
          <p:cNvSpPr>
            <a:spLocks noGrp="1"/>
          </p:cNvSpPr>
          <p:nvPr>
            <p:ph idx="1"/>
          </p:nvPr>
        </p:nvSpPr>
        <p:spPr>
          <a:xfrm>
            <a:off x="6592851" y="1579201"/>
            <a:ext cx="4911761" cy="4508742"/>
          </a:xfrm>
        </p:spPr>
        <p:txBody>
          <a:bodyPr>
            <a:normAutofit fontScale="85000" lnSpcReduction="20000"/>
          </a:bodyPr>
          <a:lstStyle/>
          <a:p>
            <a:pPr algn="just"/>
            <a:r>
              <a:rPr lang="en-US" sz="2400" b="0" i="0" dirty="0">
                <a:solidFill>
                  <a:srgbClr val="333333"/>
                </a:solidFill>
                <a:effectLst/>
                <a:latin typeface="inter-regular"/>
              </a:rPr>
              <a:t>In the below search tree, bidirectional search algorithm is applied. This algorithm </a:t>
            </a:r>
            <a:r>
              <a:rPr lang="en-US" sz="2400" b="0" i="0" dirty="0">
                <a:solidFill>
                  <a:srgbClr val="00B050"/>
                </a:solidFill>
                <a:effectLst/>
                <a:latin typeface="inter-regular"/>
              </a:rPr>
              <a:t>divides one graph/tree into two sub-graphs.</a:t>
            </a:r>
            <a:r>
              <a:rPr lang="en-US" sz="2400" b="0" i="0" dirty="0">
                <a:solidFill>
                  <a:srgbClr val="333333"/>
                </a:solidFill>
                <a:effectLst/>
                <a:latin typeface="inter-regular"/>
              </a:rPr>
              <a:t> It starts traversing from </a:t>
            </a:r>
            <a:r>
              <a:rPr lang="en-US" sz="2400" b="0" i="0" dirty="0">
                <a:solidFill>
                  <a:srgbClr val="7030A0"/>
                </a:solidFill>
                <a:effectLst/>
                <a:latin typeface="inter-regular"/>
              </a:rPr>
              <a:t>node 1 in the forward direction</a:t>
            </a:r>
            <a:r>
              <a:rPr lang="en-US" sz="2400" b="0" i="0" dirty="0">
                <a:solidFill>
                  <a:srgbClr val="333333"/>
                </a:solidFill>
                <a:effectLst/>
                <a:latin typeface="inter-regular"/>
              </a:rPr>
              <a:t> and starts from </a:t>
            </a:r>
            <a:r>
              <a:rPr lang="en-US" sz="2400" b="0" i="0" dirty="0">
                <a:solidFill>
                  <a:srgbClr val="FF0000"/>
                </a:solidFill>
                <a:effectLst/>
                <a:latin typeface="inter-regular"/>
              </a:rPr>
              <a:t>goal node 16 in the backward direction</a:t>
            </a:r>
            <a:r>
              <a:rPr lang="en-US" sz="2400" b="0" i="0" dirty="0">
                <a:solidFill>
                  <a:srgbClr val="333333"/>
                </a:solidFill>
                <a:effectLst/>
                <a:latin typeface="inter-regular"/>
              </a:rPr>
              <a:t>.</a:t>
            </a:r>
          </a:p>
          <a:p>
            <a:pPr algn="just"/>
            <a:r>
              <a:rPr lang="en-US" sz="2400" b="0" i="0" dirty="0">
                <a:solidFill>
                  <a:srgbClr val="333333"/>
                </a:solidFill>
                <a:effectLst/>
                <a:latin typeface="inter-regular"/>
              </a:rPr>
              <a:t>The algorithm </a:t>
            </a:r>
            <a:r>
              <a:rPr lang="en-US" sz="2400" b="0" i="0" dirty="0">
                <a:solidFill>
                  <a:srgbClr val="FFC000"/>
                </a:solidFill>
                <a:effectLst/>
                <a:latin typeface="inter-regular"/>
              </a:rPr>
              <a:t>terminates at node 9 where two searches meet</a:t>
            </a:r>
            <a:r>
              <a:rPr lang="en-US" sz="2400" b="0" i="0" dirty="0">
                <a:solidFill>
                  <a:srgbClr val="333333"/>
                </a:solidFill>
                <a:effectLst/>
                <a:latin typeface="inter-regular"/>
              </a:rPr>
              <a:t>.</a:t>
            </a:r>
          </a:p>
          <a:p>
            <a:pPr algn="just"/>
            <a:r>
              <a:rPr lang="en-US" sz="2400" b="1" i="0" dirty="0">
                <a:solidFill>
                  <a:srgbClr val="333333"/>
                </a:solidFill>
                <a:effectLst/>
                <a:latin typeface="inter-bold"/>
              </a:rPr>
              <a:t>Completeness:</a:t>
            </a:r>
            <a:r>
              <a:rPr lang="en-US" sz="2400" b="0" i="0" dirty="0">
                <a:solidFill>
                  <a:srgbClr val="333333"/>
                </a:solidFill>
                <a:effectLst/>
                <a:latin typeface="inter-regular"/>
              </a:rPr>
              <a:t> Bidirectional Search is complete if we use BFS in both searches.</a:t>
            </a:r>
          </a:p>
          <a:p>
            <a:pPr algn="just"/>
            <a:r>
              <a:rPr lang="en-US" sz="2400" b="1" i="0" dirty="0">
                <a:solidFill>
                  <a:srgbClr val="333333"/>
                </a:solidFill>
                <a:effectLst/>
                <a:latin typeface="inter-bold"/>
              </a:rPr>
              <a:t>Time Complexity:</a:t>
            </a:r>
            <a:r>
              <a:rPr lang="en-US" sz="2400" b="0" i="0" dirty="0">
                <a:solidFill>
                  <a:srgbClr val="333333"/>
                </a:solidFill>
                <a:effectLst/>
                <a:latin typeface="inter-regular"/>
              </a:rPr>
              <a:t> Time complexity of bidirectional search using BFS is </a:t>
            </a:r>
            <a:r>
              <a:rPr lang="en-US" sz="2400" b="1" i="0" dirty="0">
                <a:solidFill>
                  <a:srgbClr val="333333"/>
                </a:solidFill>
                <a:effectLst/>
                <a:latin typeface="inter-bold"/>
              </a:rPr>
              <a:t>O(b</a:t>
            </a:r>
            <a:r>
              <a:rPr lang="en-US" sz="2400" b="1" i="0" baseline="30000" dirty="0">
                <a:solidFill>
                  <a:srgbClr val="333333"/>
                </a:solidFill>
                <a:effectLst/>
                <a:latin typeface="inter-bold"/>
              </a:rPr>
              <a:t>d</a:t>
            </a:r>
            <a:r>
              <a:rPr lang="en-US" sz="2400" b="1" i="0" dirty="0">
                <a:solidFill>
                  <a:srgbClr val="333333"/>
                </a:solidFill>
                <a:effectLst/>
                <a:latin typeface="inter-bold"/>
              </a:rPr>
              <a:t>)</a:t>
            </a:r>
            <a:r>
              <a:rPr lang="en-US" sz="2400" b="0" i="0" dirty="0">
                <a:solidFill>
                  <a:srgbClr val="333333"/>
                </a:solidFill>
                <a:effectLst/>
                <a:latin typeface="inter-regular"/>
              </a:rPr>
              <a:t>.</a:t>
            </a:r>
          </a:p>
          <a:p>
            <a:pPr algn="just"/>
            <a:r>
              <a:rPr lang="en-US" sz="2400" b="1" i="0" dirty="0">
                <a:solidFill>
                  <a:srgbClr val="333333"/>
                </a:solidFill>
                <a:effectLst/>
                <a:latin typeface="inter-bold"/>
              </a:rPr>
              <a:t>Space Complexity:</a:t>
            </a:r>
            <a:r>
              <a:rPr lang="en-US" sz="2400" b="0" i="0" dirty="0">
                <a:solidFill>
                  <a:srgbClr val="333333"/>
                </a:solidFill>
                <a:effectLst/>
                <a:latin typeface="inter-regular"/>
              </a:rPr>
              <a:t> Space complexity of bidirectional search is </a:t>
            </a:r>
            <a:r>
              <a:rPr lang="en-US" sz="2400" b="1" i="0" dirty="0">
                <a:solidFill>
                  <a:srgbClr val="333333"/>
                </a:solidFill>
                <a:effectLst/>
                <a:latin typeface="inter-bold"/>
              </a:rPr>
              <a:t>O(b</a:t>
            </a:r>
            <a:r>
              <a:rPr lang="en-US" sz="2400" b="1" i="0" baseline="30000" dirty="0">
                <a:solidFill>
                  <a:srgbClr val="333333"/>
                </a:solidFill>
                <a:effectLst/>
                <a:latin typeface="inter-bold"/>
              </a:rPr>
              <a:t>d</a:t>
            </a:r>
            <a:r>
              <a:rPr lang="en-US" sz="2400" b="1" i="0" dirty="0">
                <a:solidFill>
                  <a:srgbClr val="333333"/>
                </a:solidFill>
                <a:effectLst/>
                <a:latin typeface="inter-bold"/>
              </a:rPr>
              <a:t>)</a:t>
            </a:r>
            <a:r>
              <a:rPr lang="en-US" sz="2400" b="0" i="0" dirty="0">
                <a:solidFill>
                  <a:srgbClr val="333333"/>
                </a:solidFill>
                <a:effectLst/>
                <a:latin typeface="inter-regular"/>
              </a:rPr>
              <a:t>.</a:t>
            </a:r>
          </a:p>
          <a:p>
            <a:pPr algn="just"/>
            <a:r>
              <a:rPr lang="en-US" sz="2400" b="1" i="0" dirty="0">
                <a:solidFill>
                  <a:srgbClr val="333333"/>
                </a:solidFill>
                <a:effectLst/>
                <a:latin typeface="inter-bold"/>
              </a:rPr>
              <a:t>Optimal:</a:t>
            </a:r>
            <a:r>
              <a:rPr lang="en-US" sz="2400" b="0" i="0" dirty="0">
                <a:solidFill>
                  <a:srgbClr val="333333"/>
                </a:solidFill>
                <a:effectLst/>
                <a:latin typeface="inter-regular"/>
              </a:rPr>
              <a:t> Bidirectional search is Optimal.</a:t>
            </a:r>
          </a:p>
          <a:p>
            <a:pPr algn="just"/>
            <a:endParaRPr lang="en-US" sz="2400" b="0" i="0" dirty="0">
              <a:solidFill>
                <a:srgbClr val="333333"/>
              </a:solidFill>
              <a:effectLst/>
              <a:latin typeface="inter-regular"/>
            </a:endParaRPr>
          </a:p>
          <a:p>
            <a:pPr algn="just"/>
            <a:endParaRPr lang="en-US" sz="2400" b="1" dirty="0"/>
          </a:p>
        </p:txBody>
      </p:sp>
      <p:pic>
        <p:nvPicPr>
          <p:cNvPr id="4" name="Picture 3">
            <a:extLst>
              <a:ext uri="{FF2B5EF4-FFF2-40B4-BE49-F238E27FC236}">
                <a16:creationId xmlns:a16="http://schemas.microsoft.com/office/drawing/2014/main" id="{0A5EF682-BBC6-BC89-A815-2405B3BFA89F}"/>
              </a:ext>
            </a:extLst>
          </p:cNvPr>
          <p:cNvPicPr>
            <a:picLocks noChangeAspect="1"/>
          </p:cNvPicPr>
          <p:nvPr/>
        </p:nvPicPr>
        <p:blipFill rotWithShape="1">
          <a:blip r:embed="rId2">
            <a:extLst>
              <a:ext uri="{28A0092B-C50C-407E-A947-70E740481C1C}">
                <a14:useLocalDpi xmlns:a14="http://schemas.microsoft.com/office/drawing/2010/main" val="0"/>
              </a:ext>
            </a:extLst>
          </a:blip>
          <a:srcRect l="7632" t="6513" r="14801" b="12673"/>
          <a:stretch/>
        </p:blipFill>
        <p:spPr>
          <a:xfrm>
            <a:off x="11003168" y="6329803"/>
            <a:ext cx="1002890" cy="342928"/>
          </a:xfrm>
          <a:prstGeom prst="rect">
            <a:avLst/>
          </a:prstGeom>
        </p:spPr>
      </p:pic>
      <p:sp>
        <p:nvSpPr>
          <p:cNvPr id="5" name="TextBox 4">
            <a:extLst>
              <a:ext uri="{FF2B5EF4-FFF2-40B4-BE49-F238E27FC236}">
                <a16:creationId xmlns:a16="http://schemas.microsoft.com/office/drawing/2014/main" id="{CED2CCDC-C02F-B3A1-A3C5-707DECA064F1}"/>
              </a:ext>
            </a:extLst>
          </p:cNvPr>
          <p:cNvSpPr txBox="1"/>
          <p:nvPr/>
        </p:nvSpPr>
        <p:spPr>
          <a:xfrm>
            <a:off x="-30367" y="770057"/>
            <a:ext cx="1741230" cy="369332"/>
          </a:xfrm>
          <a:prstGeom prst="rect">
            <a:avLst/>
          </a:prstGeom>
          <a:noFill/>
        </p:spPr>
        <p:txBody>
          <a:bodyPr wrap="square" rtlCol="0">
            <a:spAutoFit/>
          </a:bodyPr>
          <a:lstStyle/>
          <a:p>
            <a:r>
              <a:rPr lang="en-US" sz="1800" dirty="0">
                <a:solidFill>
                  <a:schemeClr val="bg1"/>
                </a:solidFill>
                <a:effectLst/>
                <a:latin typeface="Bookman Old Style" panose="02050604050505020204" pitchFamily="18" charset="0"/>
                <a:ea typeface="Calibri" panose="020F0502020204030204" pitchFamily="34" charset="0"/>
              </a:rPr>
              <a:t>22AM2305</a:t>
            </a:r>
            <a:endParaRPr lang="en-IN" dirty="0">
              <a:solidFill>
                <a:schemeClr val="bg1"/>
              </a:solidFill>
              <a:latin typeface="Bookman Old Style" panose="02050604050505020204" pitchFamily="18" charset="0"/>
            </a:endParaRPr>
          </a:p>
        </p:txBody>
      </p:sp>
      <p:pic>
        <p:nvPicPr>
          <p:cNvPr id="6" name="Picture 2" descr="logo">
            <a:extLst>
              <a:ext uri="{FF2B5EF4-FFF2-40B4-BE49-F238E27FC236}">
                <a16:creationId xmlns:a16="http://schemas.microsoft.com/office/drawing/2014/main" id="{747D0EEE-BA48-499F-B84C-D20F74CB5DB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52799" y="89593"/>
            <a:ext cx="1070381" cy="1049796"/>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a:extLst>
              <a:ext uri="{FF2B5EF4-FFF2-40B4-BE49-F238E27FC236}">
                <a16:creationId xmlns:a16="http://schemas.microsoft.com/office/drawing/2014/main" id="{B8E50AC5-8D2A-6A5D-796D-B6863CA3B31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123180" y="89593"/>
            <a:ext cx="941000" cy="960203"/>
          </a:xfrm>
          <a:prstGeom prst="rect">
            <a:avLst/>
          </a:prstGeom>
        </p:spPr>
      </p:pic>
      <p:pic>
        <p:nvPicPr>
          <p:cNvPr id="8" name="object 2">
            <a:extLst>
              <a:ext uri="{FF2B5EF4-FFF2-40B4-BE49-F238E27FC236}">
                <a16:creationId xmlns:a16="http://schemas.microsoft.com/office/drawing/2014/main" id="{FBDF7C3D-5C2A-7340-B38E-4E13DD65CB0F}"/>
              </a:ext>
            </a:extLst>
          </p:cNvPr>
          <p:cNvPicPr/>
          <p:nvPr/>
        </p:nvPicPr>
        <p:blipFill>
          <a:blip r:embed="rId5" cstate="print"/>
          <a:stretch>
            <a:fillRect/>
          </a:stretch>
        </p:blipFill>
        <p:spPr>
          <a:xfrm>
            <a:off x="232951" y="1450521"/>
            <a:ext cx="6359901" cy="4397533"/>
          </a:xfrm>
          <a:prstGeom prst="rect">
            <a:avLst/>
          </a:prstGeom>
        </p:spPr>
      </p:pic>
    </p:spTree>
    <p:extLst>
      <p:ext uri="{BB962C8B-B14F-4D97-AF65-F5344CB8AC3E}">
        <p14:creationId xmlns:p14="http://schemas.microsoft.com/office/powerpoint/2010/main" val="1012519569"/>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47515F-4A58-DFA9-F4DC-FA2F57C2B8AC}"/>
              </a:ext>
            </a:extLst>
          </p:cNvPr>
          <p:cNvSpPr>
            <a:spLocks noGrp="1"/>
          </p:cNvSpPr>
          <p:nvPr>
            <p:ph type="title"/>
          </p:nvPr>
        </p:nvSpPr>
        <p:spPr>
          <a:xfrm>
            <a:off x="1568147" y="129612"/>
            <a:ext cx="8911687" cy="1280890"/>
          </a:xfrm>
        </p:spPr>
        <p:txBody>
          <a:bodyPr/>
          <a:lstStyle/>
          <a:p>
            <a:r>
              <a:rPr lang="en-IN" dirty="0"/>
              <a:t>Best First search</a:t>
            </a:r>
            <a:br>
              <a:rPr lang="en-US" dirty="0"/>
            </a:br>
            <a:endParaRPr lang="en-US" dirty="0"/>
          </a:p>
        </p:txBody>
      </p:sp>
      <p:sp>
        <p:nvSpPr>
          <p:cNvPr id="3" name="Content Placeholder 2">
            <a:extLst>
              <a:ext uri="{FF2B5EF4-FFF2-40B4-BE49-F238E27FC236}">
                <a16:creationId xmlns:a16="http://schemas.microsoft.com/office/drawing/2014/main" id="{CD8527A1-EA1C-ABF8-E388-1F26941C7D64}"/>
              </a:ext>
            </a:extLst>
          </p:cNvPr>
          <p:cNvSpPr>
            <a:spLocks noGrp="1"/>
          </p:cNvSpPr>
          <p:nvPr>
            <p:ph idx="1"/>
          </p:nvPr>
        </p:nvSpPr>
        <p:spPr>
          <a:xfrm>
            <a:off x="1042219" y="1579201"/>
            <a:ext cx="10462394" cy="4508742"/>
          </a:xfrm>
        </p:spPr>
        <p:txBody>
          <a:bodyPr>
            <a:normAutofit/>
          </a:bodyPr>
          <a:lstStyle/>
          <a:p>
            <a:pPr algn="just"/>
            <a:r>
              <a:rPr lang="en-US" sz="2400" b="0" i="0" dirty="0">
                <a:solidFill>
                  <a:srgbClr val="333333"/>
                </a:solidFill>
                <a:effectLst/>
                <a:latin typeface="inter-regular"/>
              </a:rPr>
              <a:t>Greedy best-first search algorithm </a:t>
            </a:r>
            <a:r>
              <a:rPr lang="en-US" sz="2400" b="0" i="0" dirty="0">
                <a:solidFill>
                  <a:srgbClr val="FFC000"/>
                </a:solidFill>
                <a:effectLst/>
                <a:latin typeface="inter-regular"/>
              </a:rPr>
              <a:t>always selects the path which appears </a:t>
            </a:r>
            <a:r>
              <a:rPr lang="en-US" sz="2400" b="1" i="0" dirty="0">
                <a:solidFill>
                  <a:srgbClr val="FFC000"/>
                </a:solidFill>
                <a:effectLst/>
                <a:latin typeface="inter-regular"/>
              </a:rPr>
              <a:t>best at that moment</a:t>
            </a:r>
            <a:r>
              <a:rPr lang="en-US" sz="2400" b="0" i="0" dirty="0">
                <a:solidFill>
                  <a:srgbClr val="333333"/>
                </a:solidFill>
                <a:effectLst/>
                <a:latin typeface="inter-regular"/>
              </a:rPr>
              <a:t>. It is the combination of depth-first search and breadth-first search algorithms. </a:t>
            </a:r>
            <a:r>
              <a:rPr lang="en-US" sz="2400" b="0" i="0" dirty="0">
                <a:solidFill>
                  <a:schemeClr val="accent2"/>
                </a:solidFill>
                <a:effectLst/>
                <a:latin typeface="inter-regular"/>
              </a:rPr>
              <a:t>It uses the heuristic function and search</a:t>
            </a:r>
            <a:r>
              <a:rPr lang="en-US" sz="2400" b="0" i="0" dirty="0">
                <a:solidFill>
                  <a:srgbClr val="333333"/>
                </a:solidFill>
                <a:effectLst/>
                <a:latin typeface="inter-regular"/>
              </a:rPr>
              <a:t>. Best-first search allows us to take the advantages of both algorithms. With the help of best-first search, at each step, we can choose the most promising node. </a:t>
            </a:r>
            <a:r>
              <a:rPr lang="en-US" sz="2400" b="0" i="0" dirty="0">
                <a:solidFill>
                  <a:srgbClr val="00B0F0"/>
                </a:solidFill>
                <a:effectLst/>
                <a:latin typeface="inter-regular"/>
              </a:rPr>
              <a:t>In the best first search algorithm, we expand the node which is closest to the goal node and the closest cost is estimated by heuristic function, i.e.</a:t>
            </a:r>
          </a:p>
          <a:p>
            <a:pPr algn="just"/>
            <a:r>
              <a:rPr lang="en-IN" sz="2400" b="1" i="0" dirty="0">
                <a:solidFill>
                  <a:srgbClr val="000000"/>
                </a:solidFill>
                <a:effectLst/>
                <a:latin typeface="inter-regular"/>
              </a:rPr>
              <a:t>f(n)= g(n).</a:t>
            </a:r>
            <a:endParaRPr lang="en-IN" sz="2400" b="1" dirty="0"/>
          </a:p>
          <a:p>
            <a:pPr algn="just"/>
            <a:endParaRPr lang="en-US" sz="2400" b="1" dirty="0"/>
          </a:p>
        </p:txBody>
      </p:sp>
      <p:pic>
        <p:nvPicPr>
          <p:cNvPr id="4" name="Picture 3">
            <a:extLst>
              <a:ext uri="{FF2B5EF4-FFF2-40B4-BE49-F238E27FC236}">
                <a16:creationId xmlns:a16="http://schemas.microsoft.com/office/drawing/2014/main" id="{0A5EF682-BBC6-BC89-A815-2405B3BFA89F}"/>
              </a:ext>
            </a:extLst>
          </p:cNvPr>
          <p:cNvPicPr>
            <a:picLocks noChangeAspect="1"/>
          </p:cNvPicPr>
          <p:nvPr/>
        </p:nvPicPr>
        <p:blipFill rotWithShape="1">
          <a:blip r:embed="rId2">
            <a:extLst>
              <a:ext uri="{28A0092B-C50C-407E-A947-70E740481C1C}">
                <a14:useLocalDpi xmlns:a14="http://schemas.microsoft.com/office/drawing/2010/main" val="0"/>
              </a:ext>
            </a:extLst>
          </a:blip>
          <a:srcRect l="7632" t="6513" r="14801" b="12673"/>
          <a:stretch/>
        </p:blipFill>
        <p:spPr>
          <a:xfrm>
            <a:off x="11003168" y="6329803"/>
            <a:ext cx="1002890" cy="342928"/>
          </a:xfrm>
          <a:prstGeom prst="rect">
            <a:avLst/>
          </a:prstGeom>
        </p:spPr>
      </p:pic>
      <p:sp>
        <p:nvSpPr>
          <p:cNvPr id="5" name="TextBox 4">
            <a:extLst>
              <a:ext uri="{FF2B5EF4-FFF2-40B4-BE49-F238E27FC236}">
                <a16:creationId xmlns:a16="http://schemas.microsoft.com/office/drawing/2014/main" id="{CED2CCDC-C02F-B3A1-A3C5-707DECA064F1}"/>
              </a:ext>
            </a:extLst>
          </p:cNvPr>
          <p:cNvSpPr txBox="1"/>
          <p:nvPr/>
        </p:nvSpPr>
        <p:spPr>
          <a:xfrm>
            <a:off x="-30367" y="770057"/>
            <a:ext cx="1741230" cy="369332"/>
          </a:xfrm>
          <a:prstGeom prst="rect">
            <a:avLst/>
          </a:prstGeom>
          <a:noFill/>
        </p:spPr>
        <p:txBody>
          <a:bodyPr wrap="square" rtlCol="0">
            <a:spAutoFit/>
          </a:bodyPr>
          <a:lstStyle/>
          <a:p>
            <a:r>
              <a:rPr lang="en-US" sz="1800" dirty="0">
                <a:solidFill>
                  <a:schemeClr val="bg1"/>
                </a:solidFill>
                <a:effectLst/>
                <a:latin typeface="Bookman Old Style" panose="02050604050505020204" pitchFamily="18" charset="0"/>
                <a:ea typeface="Calibri" panose="020F0502020204030204" pitchFamily="34" charset="0"/>
              </a:rPr>
              <a:t>22AM2305</a:t>
            </a:r>
            <a:endParaRPr lang="en-IN" dirty="0">
              <a:solidFill>
                <a:schemeClr val="bg1"/>
              </a:solidFill>
              <a:latin typeface="Bookman Old Style" panose="02050604050505020204" pitchFamily="18" charset="0"/>
            </a:endParaRPr>
          </a:p>
        </p:txBody>
      </p:sp>
      <p:pic>
        <p:nvPicPr>
          <p:cNvPr id="6" name="Picture 2" descr="logo">
            <a:extLst>
              <a:ext uri="{FF2B5EF4-FFF2-40B4-BE49-F238E27FC236}">
                <a16:creationId xmlns:a16="http://schemas.microsoft.com/office/drawing/2014/main" id="{747D0EEE-BA48-499F-B84C-D20F74CB5DB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52799" y="89593"/>
            <a:ext cx="1070381" cy="1049796"/>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a:extLst>
              <a:ext uri="{FF2B5EF4-FFF2-40B4-BE49-F238E27FC236}">
                <a16:creationId xmlns:a16="http://schemas.microsoft.com/office/drawing/2014/main" id="{B8E50AC5-8D2A-6A5D-796D-B6863CA3B31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123180" y="89593"/>
            <a:ext cx="941000" cy="960203"/>
          </a:xfrm>
          <a:prstGeom prst="rect">
            <a:avLst/>
          </a:prstGeom>
        </p:spPr>
      </p:pic>
    </p:spTree>
    <p:extLst>
      <p:ext uri="{BB962C8B-B14F-4D97-AF65-F5344CB8AC3E}">
        <p14:creationId xmlns:p14="http://schemas.microsoft.com/office/powerpoint/2010/main" val="329402162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47515F-4A58-DFA9-F4DC-FA2F57C2B8AC}"/>
              </a:ext>
            </a:extLst>
          </p:cNvPr>
          <p:cNvSpPr>
            <a:spLocks noGrp="1"/>
          </p:cNvSpPr>
          <p:nvPr>
            <p:ph type="title"/>
          </p:nvPr>
        </p:nvSpPr>
        <p:spPr>
          <a:xfrm>
            <a:off x="1568147" y="129612"/>
            <a:ext cx="8911687" cy="1280890"/>
          </a:xfrm>
        </p:spPr>
        <p:txBody>
          <a:bodyPr/>
          <a:lstStyle/>
          <a:p>
            <a:endParaRPr lang="en-US" dirty="0"/>
          </a:p>
        </p:txBody>
      </p:sp>
      <p:sp>
        <p:nvSpPr>
          <p:cNvPr id="3" name="Content Placeholder 2">
            <a:extLst>
              <a:ext uri="{FF2B5EF4-FFF2-40B4-BE49-F238E27FC236}">
                <a16:creationId xmlns:a16="http://schemas.microsoft.com/office/drawing/2014/main" id="{CD8527A1-EA1C-ABF8-E388-1F26941C7D64}"/>
              </a:ext>
            </a:extLst>
          </p:cNvPr>
          <p:cNvSpPr>
            <a:spLocks noGrp="1"/>
          </p:cNvSpPr>
          <p:nvPr>
            <p:ph idx="1"/>
          </p:nvPr>
        </p:nvSpPr>
        <p:spPr>
          <a:xfrm>
            <a:off x="1042219" y="1579201"/>
            <a:ext cx="10462394" cy="4508742"/>
          </a:xfrm>
        </p:spPr>
        <p:txBody>
          <a:bodyPr>
            <a:normAutofit fontScale="85000" lnSpcReduction="20000"/>
          </a:bodyPr>
          <a:lstStyle/>
          <a:p>
            <a:r>
              <a:rPr lang="en-US" sz="2400" dirty="0"/>
              <a:t>Best first search algorithm:</a:t>
            </a:r>
          </a:p>
          <a:p>
            <a:r>
              <a:rPr lang="en-US" sz="2400" dirty="0"/>
              <a:t>Step 1: Place the starting node into the OPEN list.</a:t>
            </a:r>
          </a:p>
          <a:p>
            <a:r>
              <a:rPr lang="en-US" sz="2400" dirty="0"/>
              <a:t>Step 2: If the OPEN list is empty, Stop and return failure.</a:t>
            </a:r>
          </a:p>
          <a:p>
            <a:r>
              <a:rPr lang="en-US" sz="2400" dirty="0"/>
              <a:t>Step 3: </a:t>
            </a:r>
            <a:r>
              <a:rPr lang="en-US" sz="2400" dirty="0">
                <a:solidFill>
                  <a:srgbClr val="00B050"/>
                </a:solidFill>
              </a:rPr>
              <a:t>Remove the node n, from the OPEN list which has the lowest value of h(n), </a:t>
            </a:r>
            <a:r>
              <a:rPr lang="en-US" sz="2400" dirty="0"/>
              <a:t>and </a:t>
            </a:r>
            <a:r>
              <a:rPr lang="en-US" sz="2400" dirty="0">
                <a:solidFill>
                  <a:srgbClr val="FF0000"/>
                </a:solidFill>
              </a:rPr>
              <a:t>places it in the CLOSED list.</a:t>
            </a:r>
          </a:p>
          <a:p>
            <a:r>
              <a:rPr lang="en-US" sz="2400" dirty="0"/>
              <a:t>Step 4: Expand the node n, and generate the successors of node n.</a:t>
            </a:r>
          </a:p>
          <a:p>
            <a:r>
              <a:rPr lang="en-US" sz="2400" dirty="0"/>
              <a:t>Step 5: Check each successor of node n, and find whether any node is a goal node or not. </a:t>
            </a:r>
            <a:r>
              <a:rPr lang="en-US" sz="2400" dirty="0">
                <a:solidFill>
                  <a:srgbClr val="00B050"/>
                </a:solidFill>
              </a:rPr>
              <a:t>If any successor node is goal node, then return success</a:t>
            </a:r>
            <a:r>
              <a:rPr lang="en-US" sz="2400" dirty="0"/>
              <a:t> and terminate the search, </a:t>
            </a:r>
            <a:r>
              <a:rPr lang="en-US" sz="2400" dirty="0">
                <a:solidFill>
                  <a:srgbClr val="00B0F0"/>
                </a:solidFill>
              </a:rPr>
              <a:t>else proceed to Step 6.</a:t>
            </a:r>
          </a:p>
          <a:p>
            <a:r>
              <a:rPr lang="en-US" sz="2400" dirty="0"/>
              <a:t>Step 6: For each successor node, </a:t>
            </a:r>
            <a:r>
              <a:rPr lang="en-US" sz="2400" dirty="0">
                <a:solidFill>
                  <a:srgbClr val="FFC000"/>
                </a:solidFill>
              </a:rPr>
              <a:t>algorithm checks for evaluation function f(n), </a:t>
            </a:r>
            <a:r>
              <a:rPr lang="en-US" sz="2400" dirty="0"/>
              <a:t>and then check if the node has been in either OPEN or CLOSED list. If the node has not been in both list, then add it to the OPEN list.</a:t>
            </a:r>
          </a:p>
          <a:p>
            <a:r>
              <a:rPr lang="en-US" sz="2400" dirty="0"/>
              <a:t>Step 7: Return to Step 2.</a:t>
            </a:r>
            <a:endParaRPr lang="en-IN" sz="2400" dirty="0"/>
          </a:p>
          <a:p>
            <a:pPr algn="just"/>
            <a:endParaRPr lang="en-US" sz="2400" b="1" dirty="0"/>
          </a:p>
        </p:txBody>
      </p:sp>
      <p:pic>
        <p:nvPicPr>
          <p:cNvPr id="4" name="Picture 3">
            <a:extLst>
              <a:ext uri="{FF2B5EF4-FFF2-40B4-BE49-F238E27FC236}">
                <a16:creationId xmlns:a16="http://schemas.microsoft.com/office/drawing/2014/main" id="{0A5EF682-BBC6-BC89-A815-2405B3BFA89F}"/>
              </a:ext>
            </a:extLst>
          </p:cNvPr>
          <p:cNvPicPr>
            <a:picLocks noChangeAspect="1"/>
          </p:cNvPicPr>
          <p:nvPr/>
        </p:nvPicPr>
        <p:blipFill rotWithShape="1">
          <a:blip r:embed="rId2">
            <a:extLst>
              <a:ext uri="{28A0092B-C50C-407E-A947-70E740481C1C}">
                <a14:useLocalDpi xmlns:a14="http://schemas.microsoft.com/office/drawing/2010/main" val="0"/>
              </a:ext>
            </a:extLst>
          </a:blip>
          <a:srcRect l="7632" t="6513" r="14801" b="12673"/>
          <a:stretch/>
        </p:blipFill>
        <p:spPr>
          <a:xfrm>
            <a:off x="11003168" y="6329803"/>
            <a:ext cx="1002890" cy="342928"/>
          </a:xfrm>
          <a:prstGeom prst="rect">
            <a:avLst/>
          </a:prstGeom>
        </p:spPr>
      </p:pic>
      <p:sp>
        <p:nvSpPr>
          <p:cNvPr id="5" name="TextBox 4">
            <a:extLst>
              <a:ext uri="{FF2B5EF4-FFF2-40B4-BE49-F238E27FC236}">
                <a16:creationId xmlns:a16="http://schemas.microsoft.com/office/drawing/2014/main" id="{CED2CCDC-C02F-B3A1-A3C5-707DECA064F1}"/>
              </a:ext>
            </a:extLst>
          </p:cNvPr>
          <p:cNvSpPr txBox="1"/>
          <p:nvPr/>
        </p:nvSpPr>
        <p:spPr>
          <a:xfrm>
            <a:off x="-30367" y="770057"/>
            <a:ext cx="1741230" cy="369332"/>
          </a:xfrm>
          <a:prstGeom prst="rect">
            <a:avLst/>
          </a:prstGeom>
          <a:noFill/>
        </p:spPr>
        <p:txBody>
          <a:bodyPr wrap="square" rtlCol="0">
            <a:spAutoFit/>
          </a:bodyPr>
          <a:lstStyle/>
          <a:p>
            <a:r>
              <a:rPr lang="en-US" sz="1800" dirty="0">
                <a:solidFill>
                  <a:schemeClr val="bg1"/>
                </a:solidFill>
                <a:effectLst/>
                <a:latin typeface="Bookman Old Style" panose="02050604050505020204" pitchFamily="18" charset="0"/>
                <a:ea typeface="Calibri" panose="020F0502020204030204" pitchFamily="34" charset="0"/>
              </a:rPr>
              <a:t>22AM2305</a:t>
            </a:r>
            <a:endParaRPr lang="en-IN" dirty="0">
              <a:solidFill>
                <a:schemeClr val="bg1"/>
              </a:solidFill>
              <a:latin typeface="Bookman Old Style" panose="02050604050505020204" pitchFamily="18" charset="0"/>
            </a:endParaRPr>
          </a:p>
        </p:txBody>
      </p:sp>
      <p:pic>
        <p:nvPicPr>
          <p:cNvPr id="6" name="Picture 2" descr="logo">
            <a:extLst>
              <a:ext uri="{FF2B5EF4-FFF2-40B4-BE49-F238E27FC236}">
                <a16:creationId xmlns:a16="http://schemas.microsoft.com/office/drawing/2014/main" id="{747D0EEE-BA48-499F-B84C-D20F74CB5DB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52799" y="89593"/>
            <a:ext cx="1070381" cy="1049796"/>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a:extLst>
              <a:ext uri="{FF2B5EF4-FFF2-40B4-BE49-F238E27FC236}">
                <a16:creationId xmlns:a16="http://schemas.microsoft.com/office/drawing/2014/main" id="{B8E50AC5-8D2A-6A5D-796D-B6863CA3B31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123180" y="89593"/>
            <a:ext cx="941000" cy="960203"/>
          </a:xfrm>
          <a:prstGeom prst="rect">
            <a:avLst/>
          </a:prstGeom>
        </p:spPr>
      </p:pic>
    </p:spTree>
    <p:extLst>
      <p:ext uri="{BB962C8B-B14F-4D97-AF65-F5344CB8AC3E}">
        <p14:creationId xmlns:p14="http://schemas.microsoft.com/office/powerpoint/2010/main" val="1792269547"/>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47515F-4A58-DFA9-F4DC-FA2F57C2B8AC}"/>
              </a:ext>
            </a:extLst>
          </p:cNvPr>
          <p:cNvSpPr>
            <a:spLocks noGrp="1"/>
          </p:cNvSpPr>
          <p:nvPr>
            <p:ph type="title"/>
          </p:nvPr>
        </p:nvSpPr>
        <p:spPr>
          <a:xfrm>
            <a:off x="1568147" y="129612"/>
            <a:ext cx="8911687" cy="1280890"/>
          </a:xfrm>
        </p:spPr>
        <p:txBody>
          <a:bodyPr/>
          <a:lstStyle/>
          <a:p>
            <a:endParaRPr lang="en-US" dirty="0"/>
          </a:p>
        </p:txBody>
      </p:sp>
      <p:sp>
        <p:nvSpPr>
          <p:cNvPr id="3" name="Content Placeholder 2">
            <a:extLst>
              <a:ext uri="{FF2B5EF4-FFF2-40B4-BE49-F238E27FC236}">
                <a16:creationId xmlns:a16="http://schemas.microsoft.com/office/drawing/2014/main" id="{CD8527A1-EA1C-ABF8-E388-1F26941C7D64}"/>
              </a:ext>
            </a:extLst>
          </p:cNvPr>
          <p:cNvSpPr>
            <a:spLocks noGrp="1"/>
          </p:cNvSpPr>
          <p:nvPr>
            <p:ph idx="1"/>
          </p:nvPr>
        </p:nvSpPr>
        <p:spPr>
          <a:xfrm>
            <a:off x="1042219" y="1579201"/>
            <a:ext cx="10462394" cy="4508742"/>
          </a:xfrm>
        </p:spPr>
        <p:txBody>
          <a:bodyPr>
            <a:normAutofit/>
          </a:bodyPr>
          <a:lstStyle/>
          <a:p>
            <a:pPr algn="just"/>
            <a:endParaRPr lang="en-US" sz="2400" b="1" dirty="0"/>
          </a:p>
        </p:txBody>
      </p:sp>
      <p:pic>
        <p:nvPicPr>
          <p:cNvPr id="4" name="Picture 3">
            <a:extLst>
              <a:ext uri="{FF2B5EF4-FFF2-40B4-BE49-F238E27FC236}">
                <a16:creationId xmlns:a16="http://schemas.microsoft.com/office/drawing/2014/main" id="{0A5EF682-BBC6-BC89-A815-2405B3BFA89F}"/>
              </a:ext>
            </a:extLst>
          </p:cNvPr>
          <p:cNvPicPr>
            <a:picLocks noChangeAspect="1"/>
          </p:cNvPicPr>
          <p:nvPr/>
        </p:nvPicPr>
        <p:blipFill rotWithShape="1">
          <a:blip r:embed="rId2">
            <a:extLst>
              <a:ext uri="{28A0092B-C50C-407E-A947-70E740481C1C}">
                <a14:useLocalDpi xmlns:a14="http://schemas.microsoft.com/office/drawing/2010/main" val="0"/>
              </a:ext>
            </a:extLst>
          </a:blip>
          <a:srcRect l="7632" t="6513" r="14801" b="12673"/>
          <a:stretch/>
        </p:blipFill>
        <p:spPr>
          <a:xfrm>
            <a:off x="11003168" y="6329803"/>
            <a:ext cx="1002890" cy="342928"/>
          </a:xfrm>
          <a:prstGeom prst="rect">
            <a:avLst/>
          </a:prstGeom>
        </p:spPr>
      </p:pic>
      <p:sp>
        <p:nvSpPr>
          <p:cNvPr id="5" name="TextBox 4">
            <a:extLst>
              <a:ext uri="{FF2B5EF4-FFF2-40B4-BE49-F238E27FC236}">
                <a16:creationId xmlns:a16="http://schemas.microsoft.com/office/drawing/2014/main" id="{CED2CCDC-C02F-B3A1-A3C5-707DECA064F1}"/>
              </a:ext>
            </a:extLst>
          </p:cNvPr>
          <p:cNvSpPr txBox="1"/>
          <p:nvPr/>
        </p:nvSpPr>
        <p:spPr>
          <a:xfrm>
            <a:off x="-30367" y="770057"/>
            <a:ext cx="1741230" cy="369332"/>
          </a:xfrm>
          <a:prstGeom prst="rect">
            <a:avLst/>
          </a:prstGeom>
          <a:noFill/>
        </p:spPr>
        <p:txBody>
          <a:bodyPr wrap="square" rtlCol="0">
            <a:spAutoFit/>
          </a:bodyPr>
          <a:lstStyle/>
          <a:p>
            <a:r>
              <a:rPr lang="en-US" sz="1800" dirty="0">
                <a:solidFill>
                  <a:schemeClr val="bg1"/>
                </a:solidFill>
                <a:effectLst/>
                <a:latin typeface="Bookman Old Style" panose="02050604050505020204" pitchFamily="18" charset="0"/>
                <a:ea typeface="Calibri" panose="020F0502020204030204" pitchFamily="34" charset="0"/>
              </a:rPr>
              <a:t>22AM2305</a:t>
            </a:r>
            <a:endParaRPr lang="en-IN" dirty="0">
              <a:solidFill>
                <a:schemeClr val="bg1"/>
              </a:solidFill>
              <a:latin typeface="Bookman Old Style" panose="02050604050505020204" pitchFamily="18" charset="0"/>
            </a:endParaRPr>
          </a:p>
        </p:txBody>
      </p:sp>
      <p:pic>
        <p:nvPicPr>
          <p:cNvPr id="6" name="Picture 2" descr="logo">
            <a:extLst>
              <a:ext uri="{FF2B5EF4-FFF2-40B4-BE49-F238E27FC236}">
                <a16:creationId xmlns:a16="http://schemas.microsoft.com/office/drawing/2014/main" id="{747D0EEE-BA48-499F-B84C-D20F74CB5DB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52799" y="89593"/>
            <a:ext cx="1070381" cy="1049796"/>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a:extLst>
              <a:ext uri="{FF2B5EF4-FFF2-40B4-BE49-F238E27FC236}">
                <a16:creationId xmlns:a16="http://schemas.microsoft.com/office/drawing/2014/main" id="{B8E50AC5-8D2A-6A5D-796D-B6863CA3B31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123180" y="89593"/>
            <a:ext cx="941000" cy="960203"/>
          </a:xfrm>
          <a:prstGeom prst="rect">
            <a:avLst/>
          </a:prstGeom>
        </p:spPr>
      </p:pic>
      <p:pic>
        <p:nvPicPr>
          <p:cNvPr id="8" name="object 2">
            <a:extLst>
              <a:ext uri="{FF2B5EF4-FFF2-40B4-BE49-F238E27FC236}">
                <a16:creationId xmlns:a16="http://schemas.microsoft.com/office/drawing/2014/main" id="{34F36F40-B3D5-61DC-1F95-18FC49F06FF5}"/>
              </a:ext>
            </a:extLst>
          </p:cNvPr>
          <p:cNvPicPr/>
          <p:nvPr/>
        </p:nvPicPr>
        <p:blipFill>
          <a:blip r:embed="rId5" cstate="print"/>
          <a:stretch>
            <a:fillRect/>
          </a:stretch>
        </p:blipFill>
        <p:spPr>
          <a:xfrm>
            <a:off x="1664579" y="453892"/>
            <a:ext cx="8291788" cy="6218839"/>
          </a:xfrm>
          <a:prstGeom prst="rect">
            <a:avLst/>
          </a:prstGeom>
        </p:spPr>
      </p:pic>
    </p:spTree>
    <p:extLst>
      <p:ext uri="{BB962C8B-B14F-4D97-AF65-F5344CB8AC3E}">
        <p14:creationId xmlns:p14="http://schemas.microsoft.com/office/powerpoint/2010/main" val="1188204347"/>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47515F-4A58-DFA9-F4DC-FA2F57C2B8AC}"/>
              </a:ext>
            </a:extLst>
          </p:cNvPr>
          <p:cNvSpPr>
            <a:spLocks noGrp="1"/>
          </p:cNvSpPr>
          <p:nvPr>
            <p:ph type="title"/>
          </p:nvPr>
        </p:nvSpPr>
        <p:spPr>
          <a:xfrm>
            <a:off x="1568147" y="129612"/>
            <a:ext cx="8911687" cy="1280890"/>
          </a:xfrm>
        </p:spPr>
        <p:txBody>
          <a:bodyPr/>
          <a:lstStyle/>
          <a:p>
            <a:r>
              <a:rPr lang="en-US" sz="3600" b="0" i="0" dirty="0">
                <a:solidFill>
                  <a:srgbClr val="610B38"/>
                </a:solidFill>
                <a:effectLst/>
                <a:latin typeface="erdana"/>
              </a:rPr>
              <a:t>Best-first Search Algorithm (Greedy Search):</a:t>
            </a:r>
            <a:endParaRPr lang="en-US" dirty="0"/>
          </a:p>
        </p:txBody>
      </p:sp>
      <p:pic>
        <p:nvPicPr>
          <p:cNvPr id="4" name="Picture 3">
            <a:extLst>
              <a:ext uri="{FF2B5EF4-FFF2-40B4-BE49-F238E27FC236}">
                <a16:creationId xmlns:a16="http://schemas.microsoft.com/office/drawing/2014/main" id="{0A5EF682-BBC6-BC89-A815-2405B3BFA89F}"/>
              </a:ext>
            </a:extLst>
          </p:cNvPr>
          <p:cNvPicPr>
            <a:picLocks noChangeAspect="1"/>
          </p:cNvPicPr>
          <p:nvPr/>
        </p:nvPicPr>
        <p:blipFill rotWithShape="1">
          <a:blip r:embed="rId2">
            <a:extLst>
              <a:ext uri="{28A0092B-C50C-407E-A947-70E740481C1C}">
                <a14:useLocalDpi xmlns:a14="http://schemas.microsoft.com/office/drawing/2010/main" val="0"/>
              </a:ext>
            </a:extLst>
          </a:blip>
          <a:srcRect l="7632" t="6513" r="14801" b="12673"/>
          <a:stretch/>
        </p:blipFill>
        <p:spPr>
          <a:xfrm>
            <a:off x="11003168" y="6329803"/>
            <a:ext cx="1002890" cy="342928"/>
          </a:xfrm>
          <a:prstGeom prst="rect">
            <a:avLst/>
          </a:prstGeom>
        </p:spPr>
      </p:pic>
      <p:sp>
        <p:nvSpPr>
          <p:cNvPr id="5" name="TextBox 4">
            <a:extLst>
              <a:ext uri="{FF2B5EF4-FFF2-40B4-BE49-F238E27FC236}">
                <a16:creationId xmlns:a16="http://schemas.microsoft.com/office/drawing/2014/main" id="{CED2CCDC-C02F-B3A1-A3C5-707DECA064F1}"/>
              </a:ext>
            </a:extLst>
          </p:cNvPr>
          <p:cNvSpPr txBox="1"/>
          <p:nvPr/>
        </p:nvSpPr>
        <p:spPr>
          <a:xfrm>
            <a:off x="-30367" y="770057"/>
            <a:ext cx="1741230" cy="369332"/>
          </a:xfrm>
          <a:prstGeom prst="rect">
            <a:avLst/>
          </a:prstGeom>
          <a:noFill/>
        </p:spPr>
        <p:txBody>
          <a:bodyPr wrap="square" rtlCol="0">
            <a:spAutoFit/>
          </a:bodyPr>
          <a:lstStyle/>
          <a:p>
            <a:r>
              <a:rPr lang="en-US" sz="1800" dirty="0">
                <a:solidFill>
                  <a:schemeClr val="bg1"/>
                </a:solidFill>
                <a:effectLst/>
                <a:latin typeface="Bookman Old Style" panose="02050604050505020204" pitchFamily="18" charset="0"/>
                <a:ea typeface="Calibri" panose="020F0502020204030204" pitchFamily="34" charset="0"/>
              </a:rPr>
              <a:t>22AM2305</a:t>
            </a:r>
            <a:endParaRPr lang="en-IN" dirty="0">
              <a:solidFill>
                <a:schemeClr val="bg1"/>
              </a:solidFill>
              <a:latin typeface="Bookman Old Style" panose="02050604050505020204" pitchFamily="18" charset="0"/>
            </a:endParaRPr>
          </a:p>
        </p:txBody>
      </p:sp>
      <p:pic>
        <p:nvPicPr>
          <p:cNvPr id="6" name="Picture 2" descr="logo">
            <a:extLst>
              <a:ext uri="{FF2B5EF4-FFF2-40B4-BE49-F238E27FC236}">
                <a16:creationId xmlns:a16="http://schemas.microsoft.com/office/drawing/2014/main" id="{747D0EEE-BA48-499F-B84C-D20F74CB5DB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52799" y="89593"/>
            <a:ext cx="1070381" cy="1049796"/>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a:extLst>
              <a:ext uri="{FF2B5EF4-FFF2-40B4-BE49-F238E27FC236}">
                <a16:creationId xmlns:a16="http://schemas.microsoft.com/office/drawing/2014/main" id="{B8E50AC5-8D2A-6A5D-796D-B6863CA3B31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123180" y="89593"/>
            <a:ext cx="941000" cy="960203"/>
          </a:xfrm>
          <a:prstGeom prst="rect">
            <a:avLst/>
          </a:prstGeom>
        </p:spPr>
      </p:pic>
      <p:sp>
        <p:nvSpPr>
          <p:cNvPr id="9" name="TextBox 8">
            <a:extLst>
              <a:ext uri="{FF2B5EF4-FFF2-40B4-BE49-F238E27FC236}">
                <a16:creationId xmlns:a16="http://schemas.microsoft.com/office/drawing/2014/main" id="{F9C8C097-86FC-B1BB-3826-1971BEB95B6A}"/>
              </a:ext>
            </a:extLst>
          </p:cNvPr>
          <p:cNvSpPr txBox="1"/>
          <p:nvPr/>
        </p:nvSpPr>
        <p:spPr>
          <a:xfrm>
            <a:off x="1568147" y="1128013"/>
            <a:ext cx="8701548" cy="5286062"/>
          </a:xfrm>
          <a:prstGeom prst="rect">
            <a:avLst/>
          </a:prstGeom>
          <a:noFill/>
        </p:spPr>
        <p:txBody>
          <a:bodyPr wrap="square">
            <a:spAutoFit/>
          </a:bodyPr>
          <a:lstStyle/>
          <a:p>
            <a:pPr marL="138196">
              <a:spcBef>
                <a:spcPts val="988"/>
              </a:spcBef>
              <a:tabLst>
                <a:tab pos="448562" algn="l"/>
              </a:tabLst>
            </a:pPr>
            <a:r>
              <a:rPr lang="en-US" sz="1400" spc="-136" dirty="0">
                <a:latin typeface="Lucida Sans Unicode"/>
                <a:cs typeface="Lucida Sans Unicode"/>
              </a:rPr>
              <a:t>▶	</a:t>
            </a:r>
            <a:r>
              <a:rPr lang="en-US" sz="1800" b="1" dirty="0">
                <a:latin typeface="Trebuchet MS"/>
                <a:cs typeface="Trebuchet MS"/>
              </a:rPr>
              <a:t>Expand</a:t>
            </a:r>
            <a:r>
              <a:rPr lang="en-US" sz="1800" b="1" spc="5" dirty="0">
                <a:latin typeface="Trebuchet MS"/>
                <a:cs typeface="Trebuchet MS"/>
              </a:rPr>
              <a:t> </a:t>
            </a:r>
            <a:r>
              <a:rPr lang="en-US" sz="1800" b="1" spc="-5" dirty="0">
                <a:latin typeface="Trebuchet MS"/>
                <a:cs typeface="Trebuchet MS"/>
              </a:rPr>
              <a:t>the</a:t>
            </a:r>
            <a:r>
              <a:rPr lang="en-US" sz="1800" b="1" spc="-9" dirty="0">
                <a:latin typeface="Trebuchet MS"/>
                <a:cs typeface="Trebuchet MS"/>
              </a:rPr>
              <a:t> </a:t>
            </a:r>
            <a:r>
              <a:rPr lang="en-US" sz="1800" b="1" dirty="0">
                <a:latin typeface="Trebuchet MS"/>
                <a:cs typeface="Trebuchet MS"/>
              </a:rPr>
              <a:t>nodes of</a:t>
            </a:r>
            <a:r>
              <a:rPr lang="en-US" sz="1800" b="1" spc="-18" dirty="0">
                <a:latin typeface="Trebuchet MS"/>
                <a:cs typeface="Trebuchet MS"/>
              </a:rPr>
              <a:t> </a:t>
            </a:r>
            <a:r>
              <a:rPr lang="en-US" sz="1800" b="1" dirty="0">
                <a:latin typeface="Trebuchet MS"/>
                <a:cs typeface="Trebuchet MS"/>
              </a:rPr>
              <a:t>S and</a:t>
            </a:r>
            <a:r>
              <a:rPr lang="en-US" sz="1800" b="1" spc="-5" dirty="0">
                <a:latin typeface="Trebuchet MS"/>
                <a:cs typeface="Trebuchet MS"/>
              </a:rPr>
              <a:t> </a:t>
            </a:r>
            <a:r>
              <a:rPr lang="en-US" sz="1800" b="1" dirty="0">
                <a:latin typeface="Trebuchet MS"/>
                <a:cs typeface="Trebuchet MS"/>
              </a:rPr>
              <a:t>put</a:t>
            </a:r>
            <a:r>
              <a:rPr lang="en-US" sz="1800" b="1" spc="-5" dirty="0">
                <a:latin typeface="Trebuchet MS"/>
                <a:cs typeface="Trebuchet MS"/>
              </a:rPr>
              <a:t> </a:t>
            </a:r>
            <a:r>
              <a:rPr lang="en-US" sz="1800" b="1" dirty="0">
                <a:latin typeface="Trebuchet MS"/>
                <a:cs typeface="Trebuchet MS"/>
              </a:rPr>
              <a:t>in</a:t>
            </a:r>
            <a:r>
              <a:rPr lang="en-US" sz="1800" b="1" spc="-9" dirty="0">
                <a:latin typeface="Trebuchet MS"/>
                <a:cs typeface="Trebuchet MS"/>
              </a:rPr>
              <a:t> </a:t>
            </a:r>
            <a:r>
              <a:rPr lang="en-US" sz="1800" b="1" spc="-5" dirty="0">
                <a:latin typeface="Trebuchet MS"/>
                <a:cs typeface="Trebuchet MS"/>
              </a:rPr>
              <a:t>the</a:t>
            </a:r>
            <a:r>
              <a:rPr lang="en-US" sz="1800" b="1" dirty="0">
                <a:latin typeface="Trebuchet MS"/>
                <a:cs typeface="Trebuchet MS"/>
              </a:rPr>
              <a:t> </a:t>
            </a:r>
            <a:r>
              <a:rPr lang="en-US" sz="1800" b="1" spc="-5" dirty="0">
                <a:latin typeface="Trebuchet MS"/>
                <a:cs typeface="Trebuchet MS"/>
              </a:rPr>
              <a:t>CLOSED</a:t>
            </a:r>
            <a:r>
              <a:rPr lang="en-US" sz="1800" b="1" spc="5" dirty="0">
                <a:latin typeface="Trebuchet MS"/>
                <a:cs typeface="Trebuchet MS"/>
              </a:rPr>
              <a:t> </a:t>
            </a:r>
            <a:r>
              <a:rPr lang="en-US" sz="1800" b="1" dirty="0">
                <a:latin typeface="Trebuchet MS"/>
                <a:cs typeface="Trebuchet MS"/>
              </a:rPr>
              <a:t>list</a:t>
            </a:r>
            <a:endParaRPr lang="en-US" sz="1800" dirty="0">
              <a:latin typeface="Trebuchet MS"/>
              <a:cs typeface="Trebuchet MS"/>
            </a:endParaRPr>
          </a:p>
          <a:p>
            <a:pPr marL="138196">
              <a:spcBef>
                <a:spcPts val="901"/>
              </a:spcBef>
              <a:tabLst>
                <a:tab pos="448562" algn="l"/>
              </a:tabLst>
            </a:pPr>
            <a:r>
              <a:rPr lang="en-US" sz="1400" spc="-131" dirty="0">
                <a:latin typeface="Lucida Sans Unicode"/>
                <a:cs typeface="Lucida Sans Unicode"/>
              </a:rPr>
              <a:t>▶	</a:t>
            </a:r>
            <a:r>
              <a:rPr lang="en-US" sz="1800" b="1" spc="-5" dirty="0">
                <a:latin typeface="Trebuchet MS"/>
                <a:cs typeface="Trebuchet MS"/>
              </a:rPr>
              <a:t>Initialization:</a:t>
            </a:r>
            <a:r>
              <a:rPr lang="en-US" sz="1800" b="1" spc="-54" dirty="0">
                <a:latin typeface="Trebuchet MS"/>
                <a:cs typeface="Trebuchet MS"/>
              </a:rPr>
              <a:t> </a:t>
            </a:r>
            <a:r>
              <a:rPr lang="en-US" sz="1800" dirty="0">
                <a:latin typeface="Trebuchet MS"/>
                <a:cs typeface="Trebuchet MS"/>
              </a:rPr>
              <a:t>Open </a:t>
            </a:r>
            <a:r>
              <a:rPr lang="en-US" sz="1800" spc="-5" dirty="0">
                <a:latin typeface="Trebuchet MS"/>
                <a:cs typeface="Trebuchet MS"/>
              </a:rPr>
              <a:t>[A,</a:t>
            </a:r>
            <a:r>
              <a:rPr lang="en-US" sz="1800" spc="5" dirty="0">
                <a:latin typeface="Trebuchet MS"/>
                <a:cs typeface="Trebuchet MS"/>
              </a:rPr>
              <a:t> </a:t>
            </a:r>
            <a:r>
              <a:rPr lang="en-US" sz="1800" dirty="0">
                <a:latin typeface="Trebuchet MS"/>
                <a:cs typeface="Trebuchet MS"/>
              </a:rPr>
              <a:t>B],</a:t>
            </a:r>
            <a:r>
              <a:rPr lang="en-US" sz="1800" spc="-23" dirty="0">
                <a:latin typeface="Trebuchet MS"/>
                <a:cs typeface="Trebuchet MS"/>
              </a:rPr>
              <a:t> </a:t>
            </a:r>
            <a:r>
              <a:rPr lang="en-US" sz="1800" spc="-5" dirty="0">
                <a:latin typeface="Trebuchet MS"/>
                <a:cs typeface="Trebuchet MS"/>
              </a:rPr>
              <a:t>Closed</a:t>
            </a:r>
            <a:r>
              <a:rPr lang="en-US" sz="1800" spc="-9" dirty="0">
                <a:latin typeface="Trebuchet MS"/>
                <a:cs typeface="Trebuchet MS"/>
              </a:rPr>
              <a:t> </a:t>
            </a:r>
            <a:r>
              <a:rPr lang="en-US" sz="1800" spc="-5" dirty="0">
                <a:latin typeface="Trebuchet MS"/>
                <a:cs typeface="Trebuchet MS"/>
              </a:rPr>
              <a:t>[S]</a:t>
            </a:r>
            <a:endParaRPr lang="en-US" sz="1800" dirty="0">
              <a:latin typeface="Trebuchet MS"/>
              <a:cs typeface="Trebuchet MS"/>
            </a:endParaRPr>
          </a:p>
          <a:p>
            <a:pPr marL="138196">
              <a:spcBef>
                <a:spcPts val="907"/>
              </a:spcBef>
              <a:tabLst>
                <a:tab pos="448562" algn="l"/>
              </a:tabLst>
            </a:pPr>
            <a:r>
              <a:rPr lang="en-US" sz="1400" spc="-136" dirty="0">
                <a:latin typeface="Lucida Sans Unicode"/>
                <a:cs typeface="Lucida Sans Unicode"/>
              </a:rPr>
              <a:t>▶	</a:t>
            </a:r>
            <a:r>
              <a:rPr lang="en-US" sz="1800" b="1" spc="-9" dirty="0">
                <a:latin typeface="Trebuchet MS"/>
                <a:cs typeface="Trebuchet MS"/>
              </a:rPr>
              <a:t>Iteration</a:t>
            </a:r>
            <a:r>
              <a:rPr lang="en-US" sz="1800" b="1" dirty="0">
                <a:latin typeface="Trebuchet MS"/>
                <a:cs typeface="Trebuchet MS"/>
              </a:rPr>
              <a:t> 1:</a:t>
            </a:r>
            <a:r>
              <a:rPr lang="en-US" sz="1800" b="1" spc="-32" dirty="0">
                <a:latin typeface="Trebuchet MS"/>
                <a:cs typeface="Trebuchet MS"/>
              </a:rPr>
              <a:t> </a:t>
            </a:r>
            <a:r>
              <a:rPr lang="en-US" sz="1800" dirty="0">
                <a:latin typeface="Trebuchet MS"/>
                <a:cs typeface="Trebuchet MS"/>
              </a:rPr>
              <a:t>Open</a:t>
            </a:r>
            <a:r>
              <a:rPr lang="en-US" sz="1800" spc="-14" dirty="0">
                <a:latin typeface="Trebuchet MS"/>
                <a:cs typeface="Trebuchet MS"/>
              </a:rPr>
              <a:t> </a:t>
            </a:r>
            <a:r>
              <a:rPr lang="en-US" sz="1800" spc="-5" dirty="0">
                <a:latin typeface="Trebuchet MS"/>
                <a:cs typeface="Trebuchet MS"/>
              </a:rPr>
              <a:t>[A],</a:t>
            </a:r>
            <a:r>
              <a:rPr lang="en-US" sz="1800" dirty="0">
                <a:latin typeface="Trebuchet MS"/>
                <a:cs typeface="Trebuchet MS"/>
              </a:rPr>
              <a:t> </a:t>
            </a:r>
            <a:r>
              <a:rPr lang="en-US" sz="1800" spc="-5" dirty="0">
                <a:latin typeface="Trebuchet MS"/>
                <a:cs typeface="Trebuchet MS"/>
              </a:rPr>
              <a:t>Closed</a:t>
            </a:r>
            <a:r>
              <a:rPr lang="en-US" sz="1800" spc="-32" dirty="0">
                <a:latin typeface="Trebuchet MS"/>
                <a:cs typeface="Trebuchet MS"/>
              </a:rPr>
              <a:t> </a:t>
            </a:r>
            <a:r>
              <a:rPr lang="en-US" sz="1800" spc="-5" dirty="0">
                <a:latin typeface="Trebuchet MS"/>
                <a:cs typeface="Trebuchet MS"/>
              </a:rPr>
              <a:t>[S,</a:t>
            </a:r>
            <a:r>
              <a:rPr lang="en-US" sz="1800" spc="-14" dirty="0">
                <a:latin typeface="Trebuchet MS"/>
                <a:cs typeface="Trebuchet MS"/>
              </a:rPr>
              <a:t> </a:t>
            </a:r>
            <a:r>
              <a:rPr lang="en-US" sz="1800" dirty="0">
                <a:latin typeface="Trebuchet MS"/>
                <a:cs typeface="Trebuchet MS"/>
              </a:rPr>
              <a:t>B]</a:t>
            </a:r>
          </a:p>
          <a:p>
            <a:pPr marL="138196">
              <a:spcBef>
                <a:spcPts val="916"/>
              </a:spcBef>
              <a:tabLst>
                <a:tab pos="448562" algn="l"/>
              </a:tabLst>
            </a:pPr>
            <a:r>
              <a:rPr lang="en-US" sz="1400" spc="-136" dirty="0">
                <a:latin typeface="Lucida Sans Unicode"/>
                <a:cs typeface="Lucida Sans Unicode"/>
              </a:rPr>
              <a:t>▶	</a:t>
            </a:r>
            <a:r>
              <a:rPr lang="en-US" sz="1800" b="1" spc="-5" dirty="0">
                <a:latin typeface="Trebuchet MS"/>
                <a:cs typeface="Trebuchet MS"/>
              </a:rPr>
              <a:t>Ite</a:t>
            </a:r>
            <a:r>
              <a:rPr lang="en-US" sz="1800" b="1" spc="-54" dirty="0">
                <a:latin typeface="Trebuchet MS"/>
                <a:cs typeface="Trebuchet MS"/>
              </a:rPr>
              <a:t>r</a:t>
            </a:r>
            <a:r>
              <a:rPr lang="en-US" sz="1800" b="1" dirty="0">
                <a:latin typeface="Trebuchet MS"/>
                <a:cs typeface="Trebuchet MS"/>
              </a:rPr>
              <a:t>at</a:t>
            </a:r>
            <a:r>
              <a:rPr lang="en-US" sz="1800" b="1" spc="5" dirty="0">
                <a:latin typeface="Trebuchet MS"/>
                <a:cs typeface="Trebuchet MS"/>
              </a:rPr>
              <a:t>i</a:t>
            </a:r>
            <a:r>
              <a:rPr lang="en-US" sz="1800" b="1" dirty="0">
                <a:latin typeface="Trebuchet MS"/>
                <a:cs typeface="Trebuchet MS"/>
              </a:rPr>
              <a:t>on</a:t>
            </a:r>
            <a:r>
              <a:rPr lang="en-US" sz="1800" b="1" spc="9" dirty="0">
                <a:latin typeface="Trebuchet MS"/>
                <a:cs typeface="Trebuchet MS"/>
              </a:rPr>
              <a:t> </a:t>
            </a:r>
            <a:r>
              <a:rPr lang="en-US" sz="1800" b="1" dirty="0">
                <a:latin typeface="Trebuchet MS"/>
                <a:cs typeface="Trebuchet MS"/>
              </a:rPr>
              <a:t>2:</a:t>
            </a:r>
            <a:r>
              <a:rPr lang="en-US" sz="1800" b="1" spc="-23" dirty="0">
                <a:latin typeface="Trebuchet MS"/>
                <a:cs typeface="Trebuchet MS"/>
              </a:rPr>
              <a:t> </a:t>
            </a:r>
            <a:r>
              <a:rPr lang="en-US" sz="1800" dirty="0">
                <a:latin typeface="Trebuchet MS"/>
                <a:cs typeface="Trebuchet MS"/>
              </a:rPr>
              <a:t>Op</a:t>
            </a:r>
            <a:r>
              <a:rPr lang="en-US" sz="1800" spc="5" dirty="0">
                <a:latin typeface="Trebuchet MS"/>
                <a:cs typeface="Trebuchet MS"/>
              </a:rPr>
              <a:t>e</a:t>
            </a:r>
            <a:r>
              <a:rPr lang="en-US" sz="1800" dirty="0">
                <a:latin typeface="Trebuchet MS"/>
                <a:cs typeface="Trebuchet MS"/>
              </a:rPr>
              <a:t>n</a:t>
            </a:r>
            <a:r>
              <a:rPr lang="en-US" sz="1800" spc="-5" dirty="0">
                <a:latin typeface="Trebuchet MS"/>
                <a:cs typeface="Trebuchet MS"/>
              </a:rPr>
              <a:t> [</a:t>
            </a:r>
            <a:r>
              <a:rPr lang="en-US" sz="1800" spc="-9" dirty="0">
                <a:latin typeface="Trebuchet MS"/>
                <a:cs typeface="Trebuchet MS"/>
              </a:rPr>
              <a:t>E</a:t>
            </a:r>
            <a:r>
              <a:rPr lang="en-US" sz="1800" dirty="0">
                <a:latin typeface="Trebuchet MS"/>
                <a:cs typeface="Trebuchet MS"/>
              </a:rPr>
              <a:t>,</a:t>
            </a:r>
            <a:r>
              <a:rPr lang="en-US" sz="1800" spc="-5" dirty="0">
                <a:latin typeface="Trebuchet MS"/>
                <a:cs typeface="Trebuchet MS"/>
              </a:rPr>
              <a:t> </a:t>
            </a:r>
            <a:r>
              <a:rPr lang="en-US" sz="1800" spc="-295" dirty="0">
                <a:latin typeface="Trebuchet MS"/>
                <a:cs typeface="Trebuchet MS"/>
              </a:rPr>
              <a:t>F</a:t>
            </a:r>
            <a:r>
              <a:rPr lang="en-US" sz="1800" dirty="0">
                <a:latin typeface="Trebuchet MS"/>
                <a:cs typeface="Trebuchet MS"/>
              </a:rPr>
              <a:t>,</a:t>
            </a:r>
            <a:r>
              <a:rPr lang="en-US" sz="1800" spc="-95" dirty="0">
                <a:latin typeface="Trebuchet MS"/>
                <a:cs typeface="Trebuchet MS"/>
              </a:rPr>
              <a:t> </a:t>
            </a:r>
            <a:r>
              <a:rPr lang="en-US" sz="1800" spc="-9" dirty="0">
                <a:latin typeface="Trebuchet MS"/>
                <a:cs typeface="Trebuchet MS"/>
              </a:rPr>
              <a:t>A</a:t>
            </a:r>
            <a:r>
              <a:rPr lang="en-US" sz="1800" spc="-5" dirty="0">
                <a:latin typeface="Trebuchet MS"/>
                <a:cs typeface="Trebuchet MS"/>
              </a:rPr>
              <a:t>]</a:t>
            </a:r>
            <a:r>
              <a:rPr lang="en-US" sz="1800" dirty="0">
                <a:latin typeface="Trebuchet MS"/>
                <a:cs typeface="Trebuchet MS"/>
              </a:rPr>
              <a:t>,</a:t>
            </a:r>
            <a:r>
              <a:rPr lang="en-US" sz="1800" spc="5" dirty="0">
                <a:latin typeface="Trebuchet MS"/>
                <a:cs typeface="Trebuchet MS"/>
              </a:rPr>
              <a:t> </a:t>
            </a:r>
            <a:r>
              <a:rPr lang="en-US" sz="1800" spc="-5" dirty="0">
                <a:latin typeface="Trebuchet MS"/>
                <a:cs typeface="Trebuchet MS"/>
              </a:rPr>
              <a:t>Cl</a:t>
            </a:r>
            <a:r>
              <a:rPr lang="en-US" sz="1800" spc="-9" dirty="0">
                <a:latin typeface="Trebuchet MS"/>
                <a:cs typeface="Trebuchet MS"/>
              </a:rPr>
              <a:t>o</a:t>
            </a:r>
            <a:r>
              <a:rPr lang="en-US" sz="1800" dirty="0">
                <a:latin typeface="Trebuchet MS"/>
                <a:cs typeface="Trebuchet MS"/>
              </a:rPr>
              <a:t>sed</a:t>
            </a:r>
            <a:r>
              <a:rPr lang="en-US" sz="1800" spc="-23" dirty="0">
                <a:latin typeface="Trebuchet MS"/>
                <a:cs typeface="Trebuchet MS"/>
              </a:rPr>
              <a:t> </a:t>
            </a:r>
            <a:r>
              <a:rPr lang="en-US" sz="1800" spc="-5" dirty="0">
                <a:latin typeface="Trebuchet MS"/>
                <a:cs typeface="Trebuchet MS"/>
              </a:rPr>
              <a:t>[S</a:t>
            </a:r>
            <a:r>
              <a:rPr lang="en-US" sz="1800" dirty="0">
                <a:latin typeface="Trebuchet MS"/>
                <a:cs typeface="Trebuchet MS"/>
              </a:rPr>
              <a:t>,</a:t>
            </a:r>
            <a:r>
              <a:rPr lang="en-US" sz="1800" spc="-5" dirty="0">
                <a:latin typeface="Trebuchet MS"/>
                <a:cs typeface="Trebuchet MS"/>
              </a:rPr>
              <a:t> </a:t>
            </a:r>
            <a:r>
              <a:rPr lang="en-US" sz="1800" dirty="0">
                <a:latin typeface="Trebuchet MS"/>
                <a:cs typeface="Trebuchet MS"/>
              </a:rPr>
              <a:t>B]</a:t>
            </a:r>
          </a:p>
          <a:p>
            <a:pPr marL="1562769"/>
            <a:r>
              <a:rPr lang="en-US" sz="1800" dirty="0">
                <a:latin typeface="Trebuchet MS"/>
                <a:cs typeface="Trebuchet MS"/>
              </a:rPr>
              <a:t>:</a:t>
            </a:r>
            <a:r>
              <a:rPr lang="en-US" sz="1800" spc="-18" dirty="0">
                <a:latin typeface="Trebuchet MS"/>
                <a:cs typeface="Trebuchet MS"/>
              </a:rPr>
              <a:t> </a:t>
            </a:r>
            <a:r>
              <a:rPr lang="en-US" sz="1800" dirty="0">
                <a:latin typeface="Trebuchet MS"/>
                <a:cs typeface="Trebuchet MS"/>
              </a:rPr>
              <a:t>Open</a:t>
            </a:r>
            <a:r>
              <a:rPr lang="en-US" sz="1800" spc="-9" dirty="0">
                <a:latin typeface="Trebuchet MS"/>
                <a:cs typeface="Trebuchet MS"/>
              </a:rPr>
              <a:t> </a:t>
            </a:r>
            <a:r>
              <a:rPr lang="en-US" sz="1800" spc="-5" dirty="0">
                <a:latin typeface="Trebuchet MS"/>
                <a:cs typeface="Trebuchet MS"/>
              </a:rPr>
              <a:t>[E,</a:t>
            </a:r>
            <a:r>
              <a:rPr lang="en-US" sz="1800" spc="-103" dirty="0">
                <a:latin typeface="Trebuchet MS"/>
                <a:cs typeface="Trebuchet MS"/>
              </a:rPr>
              <a:t> </a:t>
            </a:r>
            <a:r>
              <a:rPr lang="en-US" sz="1800" spc="-5" dirty="0">
                <a:latin typeface="Trebuchet MS"/>
                <a:cs typeface="Trebuchet MS"/>
              </a:rPr>
              <a:t>A], Closed</a:t>
            </a:r>
            <a:r>
              <a:rPr lang="en-US" sz="1800" spc="-32" dirty="0">
                <a:latin typeface="Trebuchet MS"/>
                <a:cs typeface="Trebuchet MS"/>
              </a:rPr>
              <a:t> </a:t>
            </a:r>
            <a:r>
              <a:rPr lang="en-US" sz="1800" spc="-5" dirty="0">
                <a:latin typeface="Trebuchet MS"/>
                <a:cs typeface="Trebuchet MS"/>
              </a:rPr>
              <a:t>[S,</a:t>
            </a:r>
            <a:r>
              <a:rPr lang="en-US" sz="1800" spc="-14" dirty="0">
                <a:latin typeface="Trebuchet MS"/>
                <a:cs typeface="Trebuchet MS"/>
              </a:rPr>
              <a:t> </a:t>
            </a:r>
            <a:r>
              <a:rPr lang="en-US" sz="1800" dirty="0">
                <a:latin typeface="Trebuchet MS"/>
                <a:cs typeface="Trebuchet MS"/>
              </a:rPr>
              <a:t>B,</a:t>
            </a:r>
            <a:r>
              <a:rPr lang="en-US" sz="1800" spc="-18" dirty="0">
                <a:latin typeface="Trebuchet MS"/>
                <a:cs typeface="Trebuchet MS"/>
              </a:rPr>
              <a:t> </a:t>
            </a:r>
            <a:r>
              <a:rPr lang="en-US" sz="1800" dirty="0">
                <a:latin typeface="Trebuchet MS"/>
                <a:cs typeface="Trebuchet MS"/>
              </a:rPr>
              <a:t>F]</a:t>
            </a:r>
          </a:p>
          <a:p>
            <a:pPr marL="138196">
              <a:spcBef>
                <a:spcPts val="901"/>
              </a:spcBef>
              <a:tabLst>
                <a:tab pos="448562" algn="l"/>
              </a:tabLst>
            </a:pPr>
            <a:r>
              <a:rPr lang="en-US" sz="1400" spc="-131" dirty="0">
                <a:latin typeface="Lucida Sans Unicode"/>
                <a:cs typeface="Lucida Sans Unicode"/>
              </a:rPr>
              <a:t>▶	</a:t>
            </a:r>
            <a:r>
              <a:rPr lang="en-US" sz="1800" b="1" spc="-9" dirty="0">
                <a:latin typeface="Trebuchet MS"/>
                <a:cs typeface="Trebuchet MS"/>
              </a:rPr>
              <a:t>Iteration</a:t>
            </a:r>
            <a:r>
              <a:rPr lang="en-US" sz="1800" b="1" dirty="0">
                <a:latin typeface="Trebuchet MS"/>
                <a:cs typeface="Trebuchet MS"/>
              </a:rPr>
              <a:t> 3:</a:t>
            </a:r>
            <a:r>
              <a:rPr lang="en-US" sz="1800" b="1" spc="-23" dirty="0">
                <a:latin typeface="Trebuchet MS"/>
                <a:cs typeface="Trebuchet MS"/>
              </a:rPr>
              <a:t> </a:t>
            </a:r>
            <a:r>
              <a:rPr lang="en-US" sz="1800" dirty="0">
                <a:latin typeface="Trebuchet MS"/>
                <a:cs typeface="Trebuchet MS"/>
              </a:rPr>
              <a:t>Open</a:t>
            </a:r>
            <a:r>
              <a:rPr lang="en-US" sz="1800" spc="-5" dirty="0">
                <a:latin typeface="Trebuchet MS"/>
                <a:cs typeface="Trebuchet MS"/>
              </a:rPr>
              <a:t> [I, G,</a:t>
            </a:r>
            <a:r>
              <a:rPr lang="en-US" sz="1800" spc="-9" dirty="0">
                <a:latin typeface="Trebuchet MS"/>
                <a:cs typeface="Trebuchet MS"/>
              </a:rPr>
              <a:t> E,</a:t>
            </a:r>
            <a:r>
              <a:rPr lang="en-US" sz="1800" spc="-91" dirty="0">
                <a:latin typeface="Trebuchet MS"/>
                <a:cs typeface="Trebuchet MS"/>
              </a:rPr>
              <a:t> </a:t>
            </a:r>
            <a:r>
              <a:rPr lang="en-US" sz="1800" spc="-5" dirty="0">
                <a:latin typeface="Trebuchet MS"/>
                <a:cs typeface="Trebuchet MS"/>
              </a:rPr>
              <a:t>A],</a:t>
            </a:r>
            <a:r>
              <a:rPr lang="en-US" sz="1800" spc="-9" dirty="0">
                <a:latin typeface="Trebuchet MS"/>
                <a:cs typeface="Trebuchet MS"/>
              </a:rPr>
              <a:t> </a:t>
            </a:r>
            <a:r>
              <a:rPr lang="en-US" sz="1800" spc="-5" dirty="0">
                <a:latin typeface="Trebuchet MS"/>
                <a:cs typeface="Trebuchet MS"/>
              </a:rPr>
              <a:t>Closed</a:t>
            </a:r>
            <a:r>
              <a:rPr lang="en-US" sz="1800" spc="-14" dirty="0">
                <a:latin typeface="Trebuchet MS"/>
                <a:cs typeface="Trebuchet MS"/>
              </a:rPr>
              <a:t> </a:t>
            </a:r>
            <a:r>
              <a:rPr lang="en-US" sz="1800" spc="-5" dirty="0">
                <a:latin typeface="Trebuchet MS"/>
                <a:cs typeface="Trebuchet MS"/>
              </a:rPr>
              <a:t>[S,</a:t>
            </a:r>
            <a:r>
              <a:rPr lang="en-US" sz="1800" spc="-9" dirty="0">
                <a:latin typeface="Trebuchet MS"/>
                <a:cs typeface="Trebuchet MS"/>
              </a:rPr>
              <a:t> </a:t>
            </a:r>
            <a:r>
              <a:rPr lang="en-US" sz="1800" dirty="0">
                <a:latin typeface="Trebuchet MS"/>
                <a:cs typeface="Trebuchet MS"/>
              </a:rPr>
              <a:t>B,</a:t>
            </a:r>
            <a:r>
              <a:rPr lang="en-US" sz="1800" spc="-23" dirty="0">
                <a:latin typeface="Trebuchet MS"/>
                <a:cs typeface="Trebuchet MS"/>
              </a:rPr>
              <a:t> </a:t>
            </a:r>
            <a:r>
              <a:rPr lang="en-US" sz="1800" dirty="0">
                <a:latin typeface="Trebuchet MS"/>
                <a:cs typeface="Trebuchet MS"/>
              </a:rPr>
              <a:t>F]</a:t>
            </a:r>
          </a:p>
          <a:p>
            <a:pPr marL="1562769"/>
            <a:r>
              <a:rPr lang="en-US" sz="1800" dirty="0">
                <a:latin typeface="Trebuchet MS"/>
                <a:cs typeface="Trebuchet MS"/>
              </a:rPr>
              <a:t>:</a:t>
            </a:r>
            <a:r>
              <a:rPr lang="en-US" sz="1800" spc="-5" dirty="0">
                <a:latin typeface="Trebuchet MS"/>
                <a:cs typeface="Trebuchet MS"/>
              </a:rPr>
              <a:t> </a:t>
            </a:r>
            <a:r>
              <a:rPr lang="en-US" sz="1800" dirty="0">
                <a:latin typeface="Trebuchet MS"/>
                <a:cs typeface="Trebuchet MS"/>
              </a:rPr>
              <a:t>Open </a:t>
            </a:r>
            <a:r>
              <a:rPr lang="en-US" sz="1800" spc="-5" dirty="0">
                <a:latin typeface="Trebuchet MS"/>
                <a:cs typeface="Trebuchet MS"/>
              </a:rPr>
              <a:t>[I</a:t>
            </a:r>
            <a:r>
              <a:rPr lang="en-US" sz="1800" dirty="0">
                <a:latin typeface="Trebuchet MS"/>
                <a:cs typeface="Trebuchet MS"/>
              </a:rPr>
              <a:t>,</a:t>
            </a:r>
            <a:r>
              <a:rPr lang="en-US" sz="1800" spc="-5" dirty="0">
                <a:latin typeface="Trebuchet MS"/>
                <a:cs typeface="Trebuchet MS"/>
              </a:rPr>
              <a:t> E</a:t>
            </a:r>
            <a:r>
              <a:rPr lang="en-US" sz="1800" dirty="0">
                <a:latin typeface="Trebuchet MS"/>
                <a:cs typeface="Trebuchet MS"/>
              </a:rPr>
              <a:t>,</a:t>
            </a:r>
            <a:r>
              <a:rPr lang="en-US" sz="1800" spc="-95" dirty="0">
                <a:latin typeface="Trebuchet MS"/>
                <a:cs typeface="Trebuchet MS"/>
              </a:rPr>
              <a:t> </a:t>
            </a:r>
            <a:r>
              <a:rPr lang="en-US" sz="1800" spc="-9" dirty="0">
                <a:latin typeface="Trebuchet MS"/>
                <a:cs typeface="Trebuchet MS"/>
              </a:rPr>
              <a:t>A</a:t>
            </a:r>
            <a:r>
              <a:rPr lang="en-US" sz="1800" spc="-5" dirty="0">
                <a:latin typeface="Trebuchet MS"/>
                <a:cs typeface="Trebuchet MS"/>
              </a:rPr>
              <a:t>]</a:t>
            </a:r>
            <a:r>
              <a:rPr lang="en-US" sz="1800" dirty="0">
                <a:latin typeface="Trebuchet MS"/>
                <a:cs typeface="Trebuchet MS"/>
              </a:rPr>
              <a:t>,</a:t>
            </a:r>
            <a:r>
              <a:rPr lang="en-US" sz="1800" spc="5" dirty="0">
                <a:latin typeface="Trebuchet MS"/>
                <a:cs typeface="Trebuchet MS"/>
              </a:rPr>
              <a:t> </a:t>
            </a:r>
            <a:r>
              <a:rPr lang="en-US" sz="1800" spc="-5" dirty="0">
                <a:latin typeface="Trebuchet MS"/>
                <a:cs typeface="Trebuchet MS"/>
              </a:rPr>
              <a:t>Cl</a:t>
            </a:r>
            <a:r>
              <a:rPr lang="en-US" sz="1800" spc="-9" dirty="0">
                <a:latin typeface="Trebuchet MS"/>
                <a:cs typeface="Trebuchet MS"/>
              </a:rPr>
              <a:t>o</a:t>
            </a:r>
            <a:r>
              <a:rPr lang="en-US" sz="1800" dirty="0">
                <a:latin typeface="Trebuchet MS"/>
                <a:cs typeface="Trebuchet MS"/>
              </a:rPr>
              <a:t>sed</a:t>
            </a:r>
            <a:r>
              <a:rPr lang="en-US" sz="1800" spc="-23" dirty="0">
                <a:latin typeface="Trebuchet MS"/>
                <a:cs typeface="Trebuchet MS"/>
              </a:rPr>
              <a:t> </a:t>
            </a:r>
            <a:r>
              <a:rPr lang="en-US" sz="1800" spc="-5" dirty="0">
                <a:latin typeface="Trebuchet MS"/>
                <a:cs typeface="Trebuchet MS"/>
              </a:rPr>
              <a:t>[S</a:t>
            </a:r>
            <a:r>
              <a:rPr lang="en-US" sz="1800" dirty="0">
                <a:latin typeface="Trebuchet MS"/>
                <a:cs typeface="Trebuchet MS"/>
              </a:rPr>
              <a:t>,</a:t>
            </a:r>
            <a:r>
              <a:rPr lang="en-US" sz="1800" spc="-5" dirty="0">
                <a:latin typeface="Trebuchet MS"/>
                <a:cs typeface="Trebuchet MS"/>
              </a:rPr>
              <a:t> </a:t>
            </a:r>
            <a:r>
              <a:rPr lang="en-US" sz="1800" dirty="0">
                <a:latin typeface="Trebuchet MS"/>
                <a:cs typeface="Trebuchet MS"/>
              </a:rPr>
              <a:t>B,</a:t>
            </a:r>
            <a:r>
              <a:rPr lang="en-US" sz="1800" spc="-18" dirty="0">
                <a:latin typeface="Trebuchet MS"/>
                <a:cs typeface="Trebuchet MS"/>
              </a:rPr>
              <a:t> </a:t>
            </a:r>
            <a:r>
              <a:rPr lang="en-US" sz="1800" spc="-295" dirty="0">
                <a:latin typeface="Trebuchet MS"/>
                <a:cs typeface="Trebuchet MS"/>
              </a:rPr>
              <a:t>F</a:t>
            </a:r>
            <a:r>
              <a:rPr lang="en-US" sz="1800" dirty="0">
                <a:latin typeface="Trebuchet MS"/>
                <a:cs typeface="Trebuchet MS"/>
              </a:rPr>
              <a:t>,</a:t>
            </a:r>
            <a:r>
              <a:rPr lang="en-US" sz="1800" spc="5" dirty="0">
                <a:latin typeface="Trebuchet MS"/>
                <a:cs typeface="Trebuchet MS"/>
              </a:rPr>
              <a:t> </a:t>
            </a:r>
            <a:r>
              <a:rPr lang="en-US" sz="1800" spc="-5" dirty="0">
                <a:latin typeface="Trebuchet MS"/>
                <a:cs typeface="Trebuchet MS"/>
              </a:rPr>
              <a:t>G]</a:t>
            </a:r>
            <a:endParaRPr lang="en-US" sz="1800" dirty="0">
              <a:latin typeface="Trebuchet MS"/>
              <a:cs typeface="Trebuchet MS"/>
            </a:endParaRPr>
          </a:p>
          <a:p>
            <a:pPr marL="138196">
              <a:spcBef>
                <a:spcPts val="907"/>
              </a:spcBef>
              <a:tabLst>
                <a:tab pos="448562" algn="l"/>
              </a:tabLst>
            </a:pPr>
            <a:r>
              <a:rPr lang="en-US" sz="1400" spc="-136" dirty="0">
                <a:latin typeface="Lucida Sans Unicode"/>
                <a:cs typeface="Lucida Sans Unicode"/>
              </a:rPr>
              <a:t>▶	</a:t>
            </a:r>
            <a:r>
              <a:rPr lang="en-US" sz="1800" spc="-5" dirty="0">
                <a:latin typeface="Trebuchet MS"/>
                <a:cs typeface="Trebuchet MS"/>
              </a:rPr>
              <a:t>Hence</a:t>
            </a:r>
            <a:r>
              <a:rPr lang="en-US" sz="1800" spc="9" dirty="0">
                <a:latin typeface="Trebuchet MS"/>
                <a:cs typeface="Trebuchet MS"/>
              </a:rPr>
              <a:t> </a:t>
            </a:r>
            <a:r>
              <a:rPr lang="en-US" sz="1800" spc="-5" dirty="0">
                <a:latin typeface="Trebuchet MS"/>
                <a:cs typeface="Trebuchet MS"/>
              </a:rPr>
              <a:t>the </a:t>
            </a:r>
            <a:r>
              <a:rPr lang="en-US" sz="1800" dirty="0">
                <a:latin typeface="Trebuchet MS"/>
                <a:cs typeface="Trebuchet MS"/>
              </a:rPr>
              <a:t>final</a:t>
            </a:r>
            <a:r>
              <a:rPr lang="en-US" sz="1800" spc="-9" dirty="0">
                <a:latin typeface="Trebuchet MS"/>
                <a:cs typeface="Trebuchet MS"/>
              </a:rPr>
              <a:t> </a:t>
            </a:r>
            <a:r>
              <a:rPr lang="en-US" sz="1800" dirty="0">
                <a:latin typeface="Trebuchet MS"/>
                <a:cs typeface="Trebuchet MS"/>
              </a:rPr>
              <a:t>solution path</a:t>
            </a:r>
            <a:r>
              <a:rPr lang="en-US" sz="1800" spc="-9" dirty="0">
                <a:latin typeface="Trebuchet MS"/>
                <a:cs typeface="Trebuchet MS"/>
              </a:rPr>
              <a:t> </a:t>
            </a:r>
            <a:r>
              <a:rPr lang="en-US" sz="1800" spc="-5" dirty="0">
                <a:latin typeface="Trebuchet MS"/>
                <a:cs typeface="Trebuchet MS"/>
              </a:rPr>
              <a:t>will</a:t>
            </a:r>
            <a:r>
              <a:rPr lang="en-US" sz="1800" spc="-14" dirty="0">
                <a:latin typeface="Trebuchet MS"/>
                <a:cs typeface="Trebuchet MS"/>
              </a:rPr>
              <a:t> </a:t>
            </a:r>
            <a:r>
              <a:rPr lang="en-US" sz="1800" dirty="0">
                <a:latin typeface="Trebuchet MS"/>
                <a:cs typeface="Trebuchet MS"/>
              </a:rPr>
              <a:t>be:</a:t>
            </a:r>
            <a:r>
              <a:rPr lang="en-US" sz="1800" spc="-77" dirty="0">
                <a:latin typeface="Trebuchet MS"/>
                <a:cs typeface="Trebuchet MS"/>
              </a:rPr>
              <a:t> </a:t>
            </a:r>
            <a:r>
              <a:rPr lang="en-US" sz="1800" b="1" spc="-5" dirty="0">
                <a:latin typeface="Trebuchet MS"/>
                <a:cs typeface="Trebuchet MS"/>
              </a:rPr>
              <a:t>S----&gt;</a:t>
            </a:r>
            <a:r>
              <a:rPr lang="en-US" sz="1800" b="1" dirty="0">
                <a:latin typeface="Trebuchet MS"/>
                <a:cs typeface="Trebuchet MS"/>
              </a:rPr>
              <a:t> </a:t>
            </a:r>
            <a:r>
              <a:rPr lang="en-US" sz="1800" b="1" spc="-5" dirty="0">
                <a:latin typeface="Trebuchet MS"/>
                <a:cs typeface="Trebuchet MS"/>
              </a:rPr>
              <a:t>B-----&gt;F----&gt;</a:t>
            </a:r>
            <a:r>
              <a:rPr lang="en-US" sz="1800" b="1" spc="-9" dirty="0">
                <a:latin typeface="Trebuchet MS"/>
                <a:cs typeface="Trebuchet MS"/>
              </a:rPr>
              <a:t> </a:t>
            </a:r>
            <a:r>
              <a:rPr lang="en-US" sz="1800" b="1" dirty="0">
                <a:latin typeface="Trebuchet MS"/>
                <a:cs typeface="Trebuchet MS"/>
              </a:rPr>
              <a:t>G</a:t>
            </a:r>
            <a:endParaRPr lang="en-US" sz="1800" dirty="0">
              <a:latin typeface="Trebuchet MS"/>
              <a:cs typeface="Trebuchet MS"/>
            </a:endParaRPr>
          </a:p>
          <a:p>
            <a:pPr marL="449138" marR="336854" indent="-310942">
              <a:spcBef>
                <a:spcPts val="911"/>
              </a:spcBef>
              <a:tabLst>
                <a:tab pos="448562" algn="l"/>
              </a:tabLst>
            </a:pPr>
            <a:r>
              <a:rPr lang="en-US" sz="1400" spc="-136" dirty="0">
                <a:latin typeface="Lucida Sans Unicode"/>
                <a:cs typeface="Lucida Sans Unicode"/>
              </a:rPr>
              <a:t>▶	</a:t>
            </a:r>
            <a:r>
              <a:rPr lang="en-US" sz="1800" b="1" spc="-18" dirty="0">
                <a:latin typeface="Trebuchet MS"/>
                <a:cs typeface="Trebuchet MS"/>
              </a:rPr>
              <a:t>Time </a:t>
            </a:r>
            <a:r>
              <a:rPr lang="en-US" sz="1800" b="1" dirty="0">
                <a:latin typeface="Trebuchet MS"/>
                <a:cs typeface="Trebuchet MS"/>
              </a:rPr>
              <a:t>Complexity: </a:t>
            </a:r>
            <a:r>
              <a:rPr lang="en-US" sz="1800" dirty="0">
                <a:latin typeface="Trebuchet MS"/>
                <a:cs typeface="Trebuchet MS"/>
              </a:rPr>
              <a:t>The </a:t>
            </a:r>
            <a:r>
              <a:rPr lang="en-US" sz="1800" spc="-5" dirty="0">
                <a:latin typeface="Trebuchet MS"/>
                <a:cs typeface="Trebuchet MS"/>
              </a:rPr>
              <a:t>worst case time complexity </a:t>
            </a:r>
            <a:r>
              <a:rPr lang="en-US" sz="1800" spc="-9" dirty="0">
                <a:latin typeface="Trebuchet MS"/>
                <a:cs typeface="Trebuchet MS"/>
              </a:rPr>
              <a:t>of </a:t>
            </a:r>
            <a:r>
              <a:rPr lang="en-US" sz="1800" spc="-5" dirty="0">
                <a:latin typeface="Trebuchet MS"/>
                <a:cs typeface="Trebuchet MS"/>
              </a:rPr>
              <a:t>Greedy </a:t>
            </a:r>
            <a:r>
              <a:rPr lang="en-US" sz="1800" dirty="0">
                <a:latin typeface="Trebuchet MS"/>
                <a:cs typeface="Trebuchet MS"/>
              </a:rPr>
              <a:t>best </a:t>
            </a:r>
            <a:r>
              <a:rPr lang="en-US" sz="1800" spc="-5" dirty="0">
                <a:latin typeface="Trebuchet MS"/>
                <a:cs typeface="Trebuchet MS"/>
              </a:rPr>
              <a:t>first </a:t>
            </a:r>
            <a:r>
              <a:rPr lang="en-US" sz="1800" spc="-481" dirty="0">
                <a:latin typeface="Trebuchet MS"/>
                <a:cs typeface="Trebuchet MS"/>
              </a:rPr>
              <a:t> </a:t>
            </a:r>
            <a:r>
              <a:rPr lang="en-US" sz="1800" dirty="0">
                <a:latin typeface="Trebuchet MS"/>
                <a:cs typeface="Trebuchet MS"/>
              </a:rPr>
              <a:t>search</a:t>
            </a:r>
            <a:r>
              <a:rPr lang="en-US" sz="1800" spc="-5" dirty="0">
                <a:latin typeface="Trebuchet MS"/>
                <a:cs typeface="Trebuchet MS"/>
              </a:rPr>
              <a:t> </a:t>
            </a:r>
            <a:r>
              <a:rPr lang="en-US" sz="1800" dirty="0">
                <a:latin typeface="Trebuchet MS"/>
                <a:cs typeface="Trebuchet MS"/>
              </a:rPr>
              <a:t>is</a:t>
            </a:r>
            <a:r>
              <a:rPr lang="en-US" sz="1800" spc="-9" dirty="0">
                <a:latin typeface="Trebuchet MS"/>
                <a:cs typeface="Trebuchet MS"/>
              </a:rPr>
              <a:t> O(b</a:t>
            </a:r>
            <a:r>
              <a:rPr lang="en-US" sz="1800" spc="-14" baseline="25462" dirty="0">
                <a:latin typeface="Trebuchet MS"/>
                <a:cs typeface="Trebuchet MS"/>
              </a:rPr>
              <a:t>m</a:t>
            </a:r>
            <a:r>
              <a:rPr lang="en-US" sz="1800" spc="-9" dirty="0">
                <a:latin typeface="Trebuchet MS"/>
                <a:cs typeface="Trebuchet MS"/>
              </a:rPr>
              <a:t>).</a:t>
            </a:r>
            <a:endParaRPr lang="en-US" sz="1800" dirty="0">
              <a:latin typeface="Trebuchet MS"/>
              <a:cs typeface="Trebuchet MS"/>
            </a:endParaRPr>
          </a:p>
          <a:p>
            <a:pPr marL="449138" marR="142803" indent="-310942">
              <a:spcBef>
                <a:spcPts val="907"/>
              </a:spcBef>
              <a:tabLst>
                <a:tab pos="448562" algn="l"/>
              </a:tabLst>
            </a:pPr>
            <a:r>
              <a:rPr lang="en-US" sz="1400" spc="-136" dirty="0">
                <a:latin typeface="Lucida Sans Unicode"/>
                <a:cs typeface="Lucida Sans Unicode"/>
              </a:rPr>
              <a:t>▶	</a:t>
            </a:r>
            <a:r>
              <a:rPr lang="en-US" sz="1800" b="1" dirty="0">
                <a:latin typeface="Trebuchet MS"/>
                <a:cs typeface="Trebuchet MS"/>
              </a:rPr>
              <a:t>Space </a:t>
            </a:r>
            <a:r>
              <a:rPr lang="en-US" sz="1800" b="1" spc="-5" dirty="0">
                <a:latin typeface="Trebuchet MS"/>
                <a:cs typeface="Trebuchet MS"/>
              </a:rPr>
              <a:t>Complexity: </a:t>
            </a:r>
            <a:r>
              <a:rPr lang="en-US" sz="1800" dirty="0">
                <a:latin typeface="Trebuchet MS"/>
                <a:cs typeface="Trebuchet MS"/>
              </a:rPr>
              <a:t>The worst case space </a:t>
            </a:r>
            <a:r>
              <a:rPr lang="en-US" sz="1800" spc="-5" dirty="0">
                <a:latin typeface="Trebuchet MS"/>
                <a:cs typeface="Trebuchet MS"/>
              </a:rPr>
              <a:t>complexity </a:t>
            </a:r>
            <a:r>
              <a:rPr lang="en-US" sz="1800" dirty="0">
                <a:latin typeface="Trebuchet MS"/>
                <a:cs typeface="Trebuchet MS"/>
              </a:rPr>
              <a:t>of </a:t>
            </a:r>
            <a:r>
              <a:rPr lang="en-US" sz="1800" spc="-5" dirty="0">
                <a:latin typeface="Trebuchet MS"/>
                <a:cs typeface="Trebuchet MS"/>
              </a:rPr>
              <a:t>Greedy </a:t>
            </a:r>
            <a:r>
              <a:rPr lang="en-US" sz="1800" dirty="0">
                <a:latin typeface="Trebuchet MS"/>
                <a:cs typeface="Trebuchet MS"/>
              </a:rPr>
              <a:t>best first </a:t>
            </a:r>
            <a:r>
              <a:rPr lang="en-US" sz="1800" spc="-481" dirty="0">
                <a:latin typeface="Trebuchet MS"/>
                <a:cs typeface="Trebuchet MS"/>
              </a:rPr>
              <a:t> </a:t>
            </a:r>
            <a:r>
              <a:rPr lang="en-US" sz="1800" dirty="0">
                <a:latin typeface="Trebuchet MS"/>
                <a:cs typeface="Trebuchet MS"/>
              </a:rPr>
              <a:t>search is</a:t>
            </a:r>
            <a:r>
              <a:rPr lang="en-US" sz="1800" spc="-9" dirty="0">
                <a:latin typeface="Trebuchet MS"/>
                <a:cs typeface="Trebuchet MS"/>
              </a:rPr>
              <a:t> </a:t>
            </a:r>
            <a:r>
              <a:rPr lang="en-US" sz="1800" spc="-5" dirty="0">
                <a:latin typeface="Trebuchet MS"/>
                <a:cs typeface="Trebuchet MS"/>
              </a:rPr>
              <a:t>O(b</a:t>
            </a:r>
            <a:r>
              <a:rPr lang="en-US" sz="1800" spc="-6" baseline="25462" dirty="0">
                <a:latin typeface="Trebuchet MS"/>
                <a:cs typeface="Trebuchet MS"/>
              </a:rPr>
              <a:t>m</a:t>
            </a:r>
            <a:r>
              <a:rPr lang="en-US" sz="1800" spc="-5" dirty="0">
                <a:latin typeface="Trebuchet MS"/>
                <a:cs typeface="Trebuchet MS"/>
              </a:rPr>
              <a:t>). Where,</a:t>
            </a:r>
            <a:r>
              <a:rPr lang="en-US" sz="1800" spc="18" dirty="0">
                <a:latin typeface="Trebuchet MS"/>
                <a:cs typeface="Trebuchet MS"/>
              </a:rPr>
              <a:t> </a:t>
            </a:r>
            <a:r>
              <a:rPr lang="en-US" sz="1800" dirty="0">
                <a:latin typeface="Trebuchet MS"/>
                <a:cs typeface="Trebuchet MS"/>
              </a:rPr>
              <a:t>m</a:t>
            </a:r>
            <a:r>
              <a:rPr lang="en-US" sz="1800" spc="-14" dirty="0">
                <a:latin typeface="Trebuchet MS"/>
                <a:cs typeface="Trebuchet MS"/>
              </a:rPr>
              <a:t> </a:t>
            </a:r>
            <a:r>
              <a:rPr lang="en-US" sz="1800" spc="-5" dirty="0">
                <a:latin typeface="Trebuchet MS"/>
                <a:cs typeface="Trebuchet MS"/>
              </a:rPr>
              <a:t>is</a:t>
            </a:r>
            <a:r>
              <a:rPr lang="en-US" sz="1800" spc="-14" dirty="0">
                <a:latin typeface="Trebuchet MS"/>
                <a:cs typeface="Trebuchet MS"/>
              </a:rPr>
              <a:t> </a:t>
            </a:r>
            <a:r>
              <a:rPr lang="en-US" sz="1800" spc="-5" dirty="0">
                <a:latin typeface="Trebuchet MS"/>
                <a:cs typeface="Trebuchet MS"/>
              </a:rPr>
              <a:t>the</a:t>
            </a:r>
            <a:r>
              <a:rPr lang="en-US" sz="1800" spc="5" dirty="0">
                <a:latin typeface="Trebuchet MS"/>
                <a:cs typeface="Trebuchet MS"/>
              </a:rPr>
              <a:t> </a:t>
            </a:r>
            <a:r>
              <a:rPr lang="en-US" sz="1800" spc="-5" dirty="0">
                <a:latin typeface="Trebuchet MS"/>
                <a:cs typeface="Trebuchet MS"/>
              </a:rPr>
              <a:t>maximum</a:t>
            </a:r>
            <a:r>
              <a:rPr lang="en-US" sz="1800" dirty="0">
                <a:latin typeface="Trebuchet MS"/>
                <a:cs typeface="Trebuchet MS"/>
              </a:rPr>
              <a:t> </a:t>
            </a:r>
            <a:r>
              <a:rPr lang="en-US" sz="1800" spc="-5" dirty="0">
                <a:latin typeface="Trebuchet MS"/>
                <a:cs typeface="Trebuchet MS"/>
              </a:rPr>
              <a:t>depth</a:t>
            </a:r>
            <a:r>
              <a:rPr lang="en-US" sz="1800" spc="-18" dirty="0">
                <a:latin typeface="Trebuchet MS"/>
                <a:cs typeface="Trebuchet MS"/>
              </a:rPr>
              <a:t> </a:t>
            </a:r>
            <a:r>
              <a:rPr lang="en-US" sz="1800" spc="-5" dirty="0">
                <a:latin typeface="Trebuchet MS"/>
                <a:cs typeface="Trebuchet MS"/>
              </a:rPr>
              <a:t>of</a:t>
            </a:r>
            <a:r>
              <a:rPr lang="en-US" sz="1800" dirty="0">
                <a:latin typeface="Trebuchet MS"/>
                <a:cs typeface="Trebuchet MS"/>
              </a:rPr>
              <a:t> </a:t>
            </a:r>
            <a:r>
              <a:rPr lang="en-US" sz="1800" spc="-5" dirty="0">
                <a:latin typeface="Trebuchet MS"/>
                <a:cs typeface="Trebuchet MS"/>
              </a:rPr>
              <a:t>the search</a:t>
            </a:r>
            <a:r>
              <a:rPr lang="en-US" sz="1800" spc="5" dirty="0">
                <a:latin typeface="Trebuchet MS"/>
                <a:cs typeface="Trebuchet MS"/>
              </a:rPr>
              <a:t> </a:t>
            </a:r>
            <a:r>
              <a:rPr lang="en-US" sz="1800" spc="-5" dirty="0">
                <a:latin typeface="Trebuchet MS"/>
                <a:cs typeface="Trebuchet MS"/>
              </a:rPr>
              <a:t>space.</a:t>
            </a:r>
            <a:endParaRPr lang="en-US" sz="1800" dirty="0">
              <a:latin typeface="Trebuchet MS"/>
              <a:cs typeface="Trebuchet MS"/>
            </a:endParaRPr>
          </a:p>
          <a:p>
            <a:pPr marL="449138" marR="203840" indent="-310942">
              <a:spcBef>
                <a:spcPts val="901"/>
              </a:spcBef>
              <a:tabLst>
                <a:tab pos="448562" algn="l"/>
              </a:tabLst>
            </a:pPr>
            <a:r>
              <a:rPr lang="en-US" sz="1400" spc="-136" dirty="0">
                <a:latin typeface="Lucida Sans Unicode"/>
                <a:cs typeface="Lucida Sans Unicode"/>
              </a:rPr>
              <a:t>▶	</a:t>
            </a:r>
            <a:r>
              <a:rPr lang="en-US" sz="1800" b="1" spc="-5" dirty="0">
                <a:latin typeface="Trebuchet MS"/>
                <a:cs typeface="Trebuchet MS"/>
              </a:rPr>
              <a:t>Complete:</a:t>
            </a:r>
            <a:r>
              <a:rPr lang="en-US" sz="1800" b="1" spc="-9" dirty="0">
                <a:latin typeface="Trebuchet MS"/>
                <a:cs typeface="Trebuchet MS"/>
              </a:rPr>
              <a:t> </a:t>
            </a:r>
            <a:r>
              <a:rPr lang="en-US" sz="1800" spc="-5" dirty="0">
                <a:latin typeface="Trebuchet MS"/>
                <a:cs typeface="Trebuchet MS"/>
              </a:rPr>
              <a:t>Greedy best-first</a:t>
            </a:r>
            <a:r>
              <a:rPr lang="en-US" sz="1800" spc="-14" dirty="0">
                <a:latin typeface="Trebuchet MS"/>
                <a:cs typeface="Trebuchet MS"/>
              </a:rPr>
              <a:t> </a:t>
            </a:r>
            <a:r>
              <a:rPr lang="en-US" sz="1800" spc="-5" dirty="0">
                <a:latin typeface="Trebuchet MS"/>
                <a:cs typeface="Trebuchet MS"/>
              </a:rPr>
              <a:t>search</a:t>
            </a:r>
            <a:r>
              <a:rPr lang="en-US" sz="1800" dirty="0">
                <a:latin typeface="Trebuchet MS"/>
                <a:cs typeface="Trebuchet MS"/>
              </a:rPr>
              <a:t> </a:t>
            </a:r>
            <a:r>
              <a:rPr lang="en-US" sz="1800" spc="-5" dirty="0">
                <a:latin typeface="Trebuchet MS"/>
                <a:cs typeface="Trebuchet MS"/>
              </a:rPr>
              <a:t>is</a:t>
            </a:r>
            <a:r>
              <a:rPr lang="en-US" sz="1800" spc="-18" dirty="0">
                <a:latin typeface="Trebuchet MS"/>
                <a:cs typeface="Trebuchet MS"/>
              </a:rPr>
              <a:t> </a:t>
            </a:r>
            <a:r>
              <a:rPr lang="en-US" sz="1800" spc="-5" dirty="0">
                <a:latin typeface="Trebuchet MS"/>
                <a:cs typeface="Trebuchet MS"/>
              </a:rPr>
              <a:t>also incomplete,</a:t>
            </a:r>
            <a:r>
              <a:rPr lang="en-US" sz="1800" dirty="0">
                <a:latin typeface="Trebuchet MS"/>
                <a:cs typeface="Trebuchet MS"/>
              </a:rPr>
              <a:t> </a:t>
            </a:r>
            <a:r>
              <a:rPr lang="en-US" sz="1800" spc="-5" dirty="0">
                <a:latin typeface="Trebuchet MS"/>
                <a:cs typeface="Trebuchet MS"/>
              </a:rPr>
              <a:t>even</a:t>
            </a:r>
            <a:r>
              <a:rPr lang="en-US" sz="1800" spc="18" dirty="0">
                <a:latin typeface="Trebuchet MS"/>
                <a:cs typeface="Trebuchet MS"/>
              </a:rPr>
              <a:t> </a:t>
            </a:r>
            <a:r>
              <a:rPr lang="en-US" sz="1800" spc="-5" dirty="0">
                <a:latin typeface="Trebuchet MS"/>
                <a:cs typeface="Trebuchet MS"/>
              </a:rPr>
              <a:t>if</a:t>
            </a:r>
            <a:r>
              <a:rPr lang="en-US" sz="1800" spc="-14" dirty="0">
                <a:latin typeface="Trebuchet MS"/>
                <a:cs typeface="Trebuchet MS"/>
              </a:rPr>
              <a:t> </a:t>
            </a:r>
            <a:r>
              <a:rPr lang="en-US" sz="1800" spc="-5" dirty="0">
                <a:latin typeface="Trebuchet MS"/>
                <a:cs typeface="Trebuchet MS"/>
              </a:rPr>
              <a:t>the</a:t>
            </a:r>
            <a:r>
              <a:rPr lang="en-US" sz="1800" spc="5" dirty="0">
                <a:latin typeface="Trebuchet MS"/>
                <a:cs typeface="Trebuchet MS"/>
              </a:rPr>
              <a:t> </a:t>
            </a:r>
            <a:r>
              <a:rPr lang="en-US" sz="1800" spc="-5" dirty="0">
                <a:latin typeface="Trebuchet MS"/>
                <a:cs typeface="Trebuchet MS"/>
              </a:rPr>
              <a:t>given </a:t>
            </a:r>
            <a:r>
              <a:rPr lang="en-US" sz="1800" spc="-476" dirty="0">
                <a:latin typeface="Trebuchet MS"/>
                <a:cs typeface="Trebuchet MS"/>
              </a:rPr>
              <a:t> </a:t>
            </a:r>
            <a:r>
              <a:rPr lang="en-US" sz="1800" dirty="0">
                <a:latin typeface="Trebuchet MS"/>
                <a:cs typeface="Trebuchet MS"/>
              </a:rPr>
              <a:t>state</a:t>
            </a:r>
            <a:r>
              <a:rPr lang="en-US" sz="1800" spc="-9" dirty="0">
                <a:latin typeface="Trebuchet MS"/>
                <a:cs typeface="Trebuchet MS"/>
              </a:rPr>
              <a:t> </a:t>
            </a:r>
            <a:r>
              <a:rPr lang="en-US" sz="1800" dirty="0">
                <a:latin typeface="Trebuchet MS"/>
                <a:cs typeface="Trebuchet MS"/>
              </a:rPr>
              <a:t>space</a:t>
            </a:r>
            <a:r>
              <a:rPr lang="en-US" sz="1800" spc="-9" dirty="0">
                <a:latin typeface="Trebuchet MS"/>
                <a:cs typeface="Trebuchet MS"/>
              </a:rPr>
              <a:t> </a:t>
            </a:r>
            <a:r>
              <a:rPr lang="en-US" sz="1800" spc="-5" dirty="0">
                <a:latin typeface="Trebuchet MS"/>
                <a:cs typeface="Trebuchet MS"/>
              </a:rPr>
              <a:t>is finite.</a:t>
            </a:r>
            <a:endParaRPr lang="en-US" sz="1800" dirty="0">
              <a:latin typeface="Trebuchet MS"/>
              <a:cs typeface="Trebuchet MS"/>
            </a:endParaRPr>
          </a:p>
          <a:p>
            <a:pPr marL="138196">
              <a:spcBef>
                <a:spcPts val="916"/>
              </a:spcBef>
              <a:tabLst>
                <a:tab pos="448562" algn="l"/>
              </a:tabLst>
            </a:pPr>
            <a:r>
              <a:rPr lang="en-US" sz="1400" spc="-131" dirty="0">
                <a:latin typeface="Lucida Sans Unicode"/>
                <a:cs typeface="Lucida Sans Unicode"/>
              </a:rPr>
              <a:t>▶	</a:t>
            </a:r>
            <a:r>
              <a:rPr lang="en-US" sz="1800" b="1" spc="-5" dirty="0">
                <a:latin typeface="Trebuchet MS"/>
                <a:cs typeface="Trebuchet MS"/>
              </a:rPr>
              <a:t>Optimal: </a:t>
            </a:r>
            <a:r>
              <a:rPr lang="en-US" sz="1800" spc="-5" dirty="0">
                <a:latin typeface="Trebuchet MS"/>
                <a:cs typeface="Trebuchet MS"/>
              </a:rPr>
              <a:t>Greedy</a:t>
            </a:r>
            <a:r>
              <a:rPr lang="en-US" sz="1800" spc="5" dirty="0">
                <a:latin typeface="Trebuchet MS"/>
                <a:cs typeface="Trebuchet MS"/>
              </a:rPr>
              <a:t> </a:t>
            </a:r>
            <a:r>
              <a:rPr lang="en-US" sz="1800" spc="-5" dirty="0">
                <a:latin typeface="Trebuchet MS"/>
                <a:cs typeface="Trebuchet MS"/>
              </a:rPr>
              <a:t>best</a:t>
            </a:r>
            <a:r>
              <a:rPr lang="en-US" sz="1800" spc="-18" dirty="0">
                <a:latin typeface="Trebuchet MS"/>
                <a:cs typeface="Trebuchet MS"/>
              </a:rPr>
              <a:t> </a:t>
            </a:r>
            <a:r>
              <a:rPr lang="en-US" sz="1800" spc="-5" dirty="0">
                <a:latin typeface="Trebuchet MS"/>
                <a:cs typeface="Trebuchet MS"/>
              </a:rPr>
              <a:t>first search</a:t>
            </a:r>
            <a:r>
              <a:rPr lang="en-US" sz="1800" dirty="0">
                <a:latin typeface="Trebuchet MS"/>
                <a:cs typeface="Trebuchet MS"/>
              </a:rPr>
              <a:t> </a:t>
            </a:r>
            <a:r>
              <a:rPr lang="en-US" sz="1800" spc="-5" dirty="0">
                <a:latin typeface="Trebuchet MS"/>
                <a:cs typeface="Trebuchet MS"/>
              </a:rPr>
              <a:t>algorithm</a:t>
            </a:r>
            <a:r>
              <a:rPr lang="en-US" sz="1800" spc="9" dirty="0">
                <a:latin typeface="Trebuchet MS"/>
                <a:cs typeface="Trebuchet MS"/>
              </a:rPr>
              <a:t> </a:t>
            </a:r>
            <a:r>
              <a:rPr lang="en-US" sz="1800" spc="-5" dirty="0">
                <a:latin typeface="Trebuchet MS"/>
                <a:cs typeface="Trebuchet MS"/>
              </a:rPr>
              <a:t>is</a:t>
            </a:r>
            <a:r>
              <a:rPr lang="en-US" sz="1800" spc="-9" dirty="0">
                <a:latin typeface="Trebuchet MS"/>
                <a:cs typeface="Trebuchet MS"/>
              </a:rPr>
              <a:t> </a:t>
            </a:r>
            <a:r>
              <a:rPr lang="en-US" sz="1800" spc="-5" dirty="0">
                <a:latin typeface="Trebuchet MS"/>
                <a:cs typeface="Trebuchet MS"/>
              </a:rPr>
              <a:t>not</a:t>
            </a:r>
            <a:r>
              <a:rPr lang="en-US" sz="1800" spc="5" dirty="0">
                <a:latin typeface="Trebuchet MS"/>
                <a:cs typeface="Trebuchet MS"/>
              </a:rPr>
              <a:t> </a:t>
            </a:r>
            <a:r>
              <a:rPr lang="en-US" sz="1800" spc="-5" dirty="0">
                <a:latin typeface="Trebuchet MS"/>
                <a:cs typeface="Trebuchet MS"/>
              </a:rPr>
              <a:t>optimal.</a:t>
            </a:r>
            <a:endParaRPr lang="en-US" sz="1800" dirty="0">
              <a:latin typeface="Trebuchet MS"/>
              <a:cs typeface="Trebuchet MS"/>
            </a:endParaRPr>
          </a:p>
        </p:txBody>
      </p:sp>
    </p:spTree>
    <p:extLst>
      <p:ext uri="{BB962C8B-B14F-4D97-AF65-F5344CB8AC3E}">
        <p14:creationId xmlns:p14="http://schemas.microsoft.com/office/powerpoint/2010/main" val="521091954"/>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47515F-4A58-DFA9-F4DC-FA2F57C2B8AC}"/>
              </a:ext>
            </a:extLst>
          </p:cNvPr>
          <p:cNvSpPr>
            <a:spLocks noGrp="1"/>
          </p:cNvSpPr>
          <p:nvPr>
            <p:ph type="title"/>
          </p:nvPr>
        </p:nvSpPr>
        <p:spPr>
          <a:xfrm>
            <a:off x="1568147" y="129612"/>
            <a:ext cx="8911687" cy="1280890"/>
          </a:xfrm>
        </p:spPr>
        <p:txBody>
          <a:bodyPr>
            <a:normAutofit fontScale="90000"/>
          </a:bodyPr>
          <a:lstStyle/>
          <a:p>
            <a:r>
              <a:rPr lang="en-US" b="1" i="0" dirty="0">
                <a:solidFill>
                  <a:srgbClr val="10162F"/>
                </a:solidFill>
                <a:effectLst/>
                <a:latin typeface="Apercu"/>
              </a:rPr>
              <a:t>Example</a:t>
            </a:r>
            <a:br>
              <a:rPr lang="en-US" b="1" i="0" dirty="0">
                <a:solidFill>
                  <a:srgbClr val="10162F"/>
                </a:solidFill>
                <a:effectLst/>
                <a:latin typeface="Apercu"/>
              </a:rPr>
            </a:br>
            <a:r>
              <a:rPr lang="en-US" b="0" i="0" dirty="0">
                <a:solidFill>
                  <a:srgbClr val="10162F"/>
                </a:solidFill>
                <a:effectLst/>
                <a:latin typeface="Apercu"/>
              </a:rPr>
              <a:t>Consider finding the path from </a:t>
            </a:r>
            <a:r>
              <a:rPr lang="en-US" b="1" i="0" dirty="0">
                <a:solidFill>
                  <a:srgbClr val="10162F"/>
                </a:solidFill>
                <a:effectLst/>
                <a:latin typeface="Apercu"/>
              </a:rPr>
              <a:t>P</a:t>
            </a:r>
            <a:r>
              <a:rPr lang="en-US" b="0" i="0" dirty="0">
                <a:solidFill>
                  <a:srgbClr val="10162F"/>
                </a:solidFill>
                <a:effectLst/>
                <a:latin typeface="Apercu"/>
              </a:rPr>
              <a:t> to </a:t>
            </a:r>
            <a:r>
              <a:rPr lang="en-US" b="1" i="0" dirty="0">
                <a:solidFill>
                  <a:srgbClr val="10162F"/>
                </a:solidFill>
                <a:effectLst/>
                <a:latin typeface="Apercu"/>
              </a:rPr>
              <a:t>S</a:t>
            </a:r>
            <a:r>
              <a:rPr lang="en-US" b="0" i="0" dirty="0">
                <a:solidFill>
                  <a:srgbClr val="10162F"/>
                </a:solidFill>
                <a:effectLst/>
                <a:latin typeface="Apercu"/>
              </a:rPr>
              <a:t> in the following graph:</a:t>
            </a:r>
            <a:br>
              <a:rPr lang="en-US" b="0" i="0" dirty="0">
                <a:solidFill>
                  <a:srgbClr val="10162F"/>
                </a:solidFill>
                <a:effectLst/>
                <a:latin typeface="Apercu"/>
              </a:rPr>
            </a:br>
            <a:endParaRPr lang="en-US" dirty="0"/>
          </a:p>
        </p:txBody>
      </p:sp>
      <p:sp>
        <p:nvSpPr>
          <p:cNvPr id="3" name="Content Placeholder 2">
            <a:extLst>
              <a:ext uri="{FF2B5EF4-FFF2-40B4-BE49-F238E27FC236}">
                <a16:creationId xmlns:a16="http://schemas.microsoft.com/office/drawing/2014/main" id="{CD8527A1-EA1C-ABF8-E388-1F26941C7D64}"/>
              </a:ext>
            </a:extLst>
          </p:cNvPr>
          <p:cNvSpPr>
            <a:spLocks noGrp="1"/>
          </p:cNvSpPr>
          <p:nvPr>
            <p:ph idx="1"/>
          </p:nvPr>
        </p:nvSpPr>
        <p:spPr>
          <a:xfrm>
            <a:off x="1042219" y="1579201"/>
            <a:ext cx="10462394" cy="4508742"/>
          </a:xfrm>
        </p:spPr>
        <p:txBody>
          <a:bodyPr>
            <a:normAutofit/>
          </a:bodyPr>
          <a:lstStyle/>
          <a:p>
            <a:pPr algn="just"/>
            <a:endParaRPr lang="en-US" sz="2400" b="1" dirty="0"/>
          </a:p>
        </p:txBody>
      </p:sp>
      <p:pic>
        <p:nvPicPr>
          <p:cNvPr id="4" name="Picture 3">
            <a:extLst>
              <a:ext uri="{FF2B5EF4-FFF2-40B4-BE49-F238E27FC236}">
                <a16:creationId xmlns:a16="http://schemas.microsoft.com/office/drawing/2014/main" id="{0A5EF682-BBC6-BC89-A815-2405B3BFA89F}"/>
              </a:ext>
            </a:extLst>
          </p:cNvPr>
          <p:cNvPicPr>
            <a:picLocks noChangeAspect="1"/>
          </p:cNvPicPr>
          <p:nvPr/>
        </p:nvPicPr>
        <p:blipFill rotWithShape="1">
          <a:blip r:embed="rId2">
            <a:extLst>
              <a:ext uri="{28A0092B-C50C-407E-A947-70E740481C1C}">
                <a14:useLocalDpi xmlns:a14="http://schemas.microsoft.com/office/drawing/2010/main" val="0"/>
              </a:ext>
            </a:extLst>
          </a:blip>
          <a:srcRect l="7632" t="6513" r="14801" b="12673"/>
          <a:stretch/>
        </p:blipFill>
        <p:spPr>
          <a:xfrm>
            <a:off x="11003168" y="6329803"/>
            <a:ext cx="1002890" cy="342928"/>
          </a:xfrm>
          <a:prstGeom prst="rect">
            <a:avLst/>
          </a:prstGeom>
        </p:spPr>
      </p:pic>
      <p:sp>
        <p:nvSpPr>
          <p:cNvPr id="5" name="TextBox 4">
            <a:extLst>
              <a:ext uri="{FF2B5EF4-FFF2-40B4-BE49-F238E27FC236}">
                <a16:creationId xmlns:a16="http://schemas.microsoft.com/office/drawing/2014/main" id="{CED2CCDC-C02F-B3A1-A3C5-707DECA064F1}"/>
              </a:ext>
            </a:extLst>
          </p:cNvPr>
          <p:cNvSpPr txBox="1"/>
          <p:nvPr/>
        </p:nvSpPr>
        <p:spPr>
          <a:xfrm>
            <a:off x="-30367" y="770057"/>
            <a:ext cx="1741230" cy="369332"/>
          </a:xfrm>
          <a:prstGeom prst="rect">
            <a:avLst/>
          </a:prstGeom>
          <a:noFill/>
        </p:spPr>
        <p:txBody>
          <a:bodyPr wrap="square" rtlCol="0">
            <a:spAutoFit/>
          </a:bodyPr>
          <a:lstStyle/>
          <a:p>
            <a:r>
              <a:rPr lang="en-US" sz="1800" dirty="0">
                <a:solidFill>
                  <a:schemeClr val="bg1"/>
                </a:solidFill>
                <a:effectLst/>
                <a:latin typeface="Bookman Old Style" panose="02050604050505020204" pitchFamily="18" charset="0"/>
                <a:ea typeface="Calibri" panose="020F0502020204030204" pitchFamily="34" charset="0"/>
              </a:rPr>
              <a:t>22AM2305</a:t>
            </a:r>
            <a:endParaRPr lang="en-IN" dirty="0">
              <a:solidFill>
                <a:schemeClr val="bg1"/>
              </a:solidFill>
              <a:latin typeface="Bookman Old Style" panose="02050604050505020204" pitchFamily="18" charset="0"/>
            </a:endParaRPr>
          </a:p>
        </p:txBody>
      </p:sp>
      <p:pic>
        <p:nvPicPr>
          <p:cNvPr id="6" name="Picture 2" descr="logo">
            <a:extLst>
              <a:ext uri="{FF2B5EF4-FFF2-40B4-BE49-F238E27FC236}">
                <a16:creationId xmlns:a16="http://schemas.microsoft.com/office/drawing/2014/main" id="{747D0EEE-BA48-499F-B84C-D20F74CB5DB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52799" y="89593"/>
            <a:ext cx="1070381" cy="1049796"/>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a:extLst>
              <a:ext uri="{FF2B5EF4-FFF2-40B4-BE49-F238E27FC236}">
                <a16:creationId xmlns:a16="http://schemas.microsoft.com/office/drawing/2014/main" id="{B8E50AC5-8D2A-6A5D-796D-B6863CA3B31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123180" y="89593"/>
            <a:ext cx="941000" cy="960203"/>
          </a:xfrm>
          <a:prstGeom prst="rect">
            <a:avLst/>
          </a:prstGeom>
        </p:spPr>
      </p:pic>
      <p:pic>
        <p:nvPicPr>
          <p:cNvPr id="1026" name="Picture 2" descr="Greedy Best-first Search Example Graph">
            <a:extLst>
              <a:ext uri="{FF2B5EF4-FFF2-40B4-BE49-F238E27FC236}">
                <a16:creationId xmlns:a16="http://schemas.microsoft.com/office/drawing/2014/main" id="{EBD986EB-F347-545F-A4BB-6F81F071CAC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895801" y="1322117"/>
            <a:ext cx="4939294" cy="500768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27001515"/>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47515F-4A58-DFA9-F4DC-FA2F57C2B8AC}"/>
              </a:ext>
            </a:extLst>
          </p:cNvPr>
          <p:cNvSpPr>
            <a:spLocks noGrp="1"/>
          </p:cNvSpPr>
          <p:nvPr>
            <p:ph type="title"/>
          </p:nvPr>
        </p:nvSpPr>
        <p:spPr>
          <a:xfrm>
            <a:off x="1568147" y="129612"/>
            <a:ext cx="8911687" cy="1280890"/>
          </a:xfrm>
        </p:spPr>
        <p:txBody>
          <a:bodyPr/>
          <a:lstStyle/>
          <a:p>
            <a:endParaRPr lang="en-US" dirty="0"/>
          </a:p>
        </p:txBody>
      </p:sp>
      <p:sp>
        <p:nvSpPr>
          <p:cNvPr id="3" name="Content Placeholder 2">
            <a:extLst>
              <a:ext uri="{FF2B5EF4-FFF2-40B4-BE49-F238E27FC236}">
                <a16:creationId xmlns:a16="http://schemas.microsoft.com/office/drawing/2014/main" id="{CD8527A1-EA1C-ABF8-E388-1F26941C7D64}"/>
              </a:ext>
            </a:extLst>
          </p:cNvPr>
          <p:cNvSpPr>
            <a:spLocks noGrp="1"/>
          </p:cNvSpPr>
          <p:nvPr>
            <p:ph idx="1"/>
          </p:nvPr>
        </p:nvSpPr>
        <p:spPr>
          <a:xfrm>
            <a:off x="1042219" y="1579201"/>
            <a:ext cx="10462394" cy="4508742"/>
          </a:xfrm>
        </p:spPr>
        <p:txBody>
          <a:bodyPr>
            <a:normAutofit/>
          </a:bodyPr>
          <a:lstStyle/>
          <a:p>
            <a:pPr algn="just"/>
            <a:endParaRPr lang="en-US" sz="2400" b="1" dirty="0"/>
          </a:p>
        </p:txBody>
      </p:sp>
      <p:pic>
        <p:nvPicPr>
          <p:cNvPr id="4" name="Picture 3">
            <a:extLst>
              <a:ext uri="{FF2B5EF4-FFF2-40B4-BE49-F238E27FC236}">
                <a16:creationId xmlns:a16="http://schemas.microsoft.com/office/drawing/2014/main" id="{0A5EF682-BBC6-BC89-A815-2405B3BFA89F}"/>
              </a:ext>
            </a:extLst>
          </p:cNvPr>
          <p:cNvPicPr>
            <a:picLocks noChangeAspect="1"/>
          </p:cNvPicPr>
          <p:nvPr/>
        </p:nvPicPr>
        <p:blipFill rotWithShape="1">
          <a:blip r:embed="rId2">
            <a:extLst>
              <a:ext uri="{28A0092B-C50C-407E-A947-70E740481C1C}">
                <a14:useLocalDpi xmlns:a14="http://schemas.microsoft.com/office/drawing/2010/main" val="0"/>
              </a:ext>
            </a:extLst>
          </a:blip>
          <a:srcRect l="7632" t="6513" r="14801" b="12673"/>
          <a:stretch/>
        </p:blipFill>
        <p:spPr>
          <a:xfrm>
            <a:off x="11003168" y="6329803"/>
            <a:ext cx="1002890" cy="342928"/>
          </a:xfrm>
          <a:prstGeom prst="rect">
            <a:avLst/>
          </a:prstGeom>
        </p:spPr>
      </p:pic>
      <p:sp>
        <p:nvSpPr>
          <p:cNvPr id="5" name="TextBox 4">
            <a:extLst>
              <a:ext uri="{FF2B5EF4-FFF2-40B4-BE49-F238E27FC236}">
                <a16:creationId xmlns:a16="http://schemas.microsoft.com/office/drawing/2014/main" id="{CED2CCDC-C02F-B3A1-A3C5-707DECA064F1}"/>
              </a:ext>
            </a:extLst>
          </p:cNvPr>
          <p:cNvSpPr txBox="1"/>
          <p:nvPr/>
        </p:nvSpPr>
        <p:spPr>
          <a:xfrm>
            <a:off x="-30367" y="770057"/>
            <a:ext cx="1741230" cy="369332"/>
          </a:xfrm>
          <a:prstGeom prst="rect">
            <a:avLst/>
          </a:prstGeom>
          <a:noFill/>
        </p:spPr>
        <p:txBody>
          <a:bodyPr wrap="square" rtlCol="0">
            <a:spAutoFit/>
          </a:bodyPr>
          <a:lstStyle/>
          <a:p>
            <a:r>
              <a:rPr lang="en-US" sz="1800" dirty="0">
                <a:solidFill>
                  <a:schemeClr val="bg1"/>
                </a:solidFill>
                <a:effectLst/>
                <a:latin typeface="Bookman Old Style" panose="02050604050505020204" pitchFamily="18" charset="0"/>
                <a:ea typeface="Calibri" panose="020F0502020204030204" pitchFamily="34" charset="0"/>
              </a:rPr>
              <a:t>22AM2305</a:t>
            </a:r>
            <a:endParaRPr lang="en-IN" dirty="0">
              <a:solidFill>
                <a:schemeClr val="bg1"/>
              </a:solidFill>
              <a:latin typeface="Bookman Old Style" panose="02050604050505020204" pitchFamily="18" charset="0"/>
            </a:endParaRPr>
          </a:p>
        </p:txBody>
      </p:sp>
      <p:pic>
        <p:nvPicPr>
          <p:cNvPr id="6" name="Picture 2" descr="logo">
            <a:extLst>
              <a:ext uri="{FF2B5EF4-FFF2-40B4-BE49-F238E27FC236}">
                <a16:creationId xmlns:a16="http://schemas.microsoft.com/office/drawing/2014/main" id="{747D0EEE-BA48-499F-B84C-D20F74CB5DB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52799" y="89593"/>
            <a:ext cx="1070381" cy="1049796"/>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a:extLst>
              <a:ext uri="{FF2B5EF4-FFF2-40B4-BE49-F238E27FC236}">
                <a16:creationId xmlns:a16="http://schemas.microsoft.com/office/drawing/2014/main" id="{B8E50AC5-8D2A-6A5D-796D-B6863CA3B31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123180" y="89593"/>
            <a:ext cx="941000" cy="960203"/>
          </a:xfrm>
          <a:prstGeom prst="rect">
            <a:avLst/>
          </a:prstGeom>
        </p:spPr>
      </p:pic>
      <p:sp>
        <p:nvSpPr>
          <p:cNvPr id="8" name="Rectangle 1">
            <a:extLst>
              <a:ext uri="{FF2B5EF4-FFF2-40B4-BE49-F238E27FC236}">
                <a16:creationId xmlns:a16="http://schemas.microsoft.com/office/drawing/2014/main" id="{6FE322D6-9ED6-CEAE-800C-2808166EB090}"/>
              </a:ext>
            </a:extLst>
          </p:cNvPr>
          <p:cNvSpPr>
            <a:spLocks noChangeArrowheads="1"/>
          </p:cNvSpPr>
          <p:nvPr/>
        </p:nvSpPr>
        <p:spPr bwMode="auto">
          <a:xfrm>
            <a:off x="731723" y="2898689"/>
            <a:ext cx="10859576" cy="646331"/>
          </a:xfrm>
          <a:prstGeom prst="rect">
            <a:avLst/>
          </a:prstGeom>
          <a:solidFill>
            <a:srgbClr val="F5F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defTabSz="914400"/>
            <a:r>
              <a:rPr kumimoji="0" lang="en-US" altLang="en-US" sz="1800" b="0" i="0" u="none" strike="noStrike" cap="none" normalizeH="0" baseline="0" dirty="0">
                <a:ln>
                  <a:noFill/>
                </a:ln>
                <a:solidFill>
                  <a:srgbClr val="10162F"/>
                </a:solidFill>
                <a:effectLst/>
                <a:latin typeface="Apercu"/>
              </a:rPr>
              <a:t>In this example, the cost is measured strictly using the heuristic value. In other words, how close it is to the target.</a:t>
            </a:r>
            <a:endParaRPr kumimoji="0" lang="en-US" altLang="en-US" sz="1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rgbClr val="10162F"/>
                </a:solidFill>
                <a:effectLst/>
                <a:latin typeface="Apercu"/>
              </a:rPr>
              <a:t>C</a:t>
            </a:r>
            <a:r>
              <a:rPr kumimoji="0" lang="en-US" altLang="en-US" sz="1800" b="0" i="0" u="none" strike="noStrike" cap="none" normalizeH="0" baseline="0" dirty="0">
                <a:ln>
                  <a:noFill/>
                </a:ln>
                <a:solidFill>
                  <a:srgbClr val="10162F"/>
                </a:solidFill>
                <a:effectLst/>
                <a:latin typeface="Apercu"/>
              </a:rPr>
              <a:t> has the lowest cost of 6. Therefore, the search will continue like so:</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2050" name="Picture 2" descr="Greedy Best-first Search 1">
            <a:extLst>
              <a:ext uri="{FF2B5EF4-FFF2-40B4-BE49-F238E27FC236}">
                <a16:creationId xmlns:a16="http://schemas.microsoft.com/office/drawing/2014/main" id="{829815D3-20BF-2F46-F761-BD480EC82076}"/>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6287" t="22131" r="5713" b="12477"/>
          <a:stretch/>
        </p:blipFill>
        <p:spPr bwMode="auto">
          <a:xfrm>
            <a:off x="1710863" y="305533"/>
            <a:ext cx="7727183" cy="2451798"/>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Greedy Best-first Search 2">
            <a:extLst>
              <a:ext uri="{FF2B5EF4-FFF2-40B4-BE49-F238E27FC236}">
                <a16:creationId xmlns:a16="http://schemas.microsoft.com/office/drawing/2014/main" id="{FFA380ED-51BB-BFBB-B1DA-2338E14A12DD}"/>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5303" t="14619" r="5303" b="11784"/>
          <a:stretch/>
        </p:blipFill>
        <p:spPr bwMode="auto">
          <a:xfrm>
            <a:off x="4436608" y="3686378"/>
            <a:ext cx="5834802" cy="26915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10634790"/>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A5EF682-BBC6-BC89-A815-2405B3BFA89F}"/>
              </a:ext>
            </a:extLst>
          </p:cNvPr>
          <p:cNvPicPr>
            <a:picLocks noChangeAspect="1"/>
          </p:cNvPicPr>
          <p:nvPr/>
        </p:nvPicPr>
        <p:blipFill rotWithShape="1">
          <a:blip r:embed="rId2">
            <a:extLst>
              <a:ext uri="{28A0092B-C50C-407E-A947-70E740481C1C}">
                <a14:useLocalDpi xmlns:a14="http://schemas.microsoft.com/office/drawing/2010/main" val="0"/>
              </a:ext>
            </a:extLst>
          </a:blip>
          <a:srcRect l="7632" t="6513" r="14801" b="12673"/>
          <a:stretch/>
        </p:blipFill>
        <p:spPr>
          <a:xfrm>
            <a:off x="11003168" y="6329803"/>
            <a:ext cx="1002890" cy="342928"/>
          </a:xfrm>
          <a:prstGeom prst="rect">
            <a:avLst/>
          </a:prstGeom>
        </p:spPr>
      </p:pic>
      <p:sp>
        <p:nvSpPr>
          <p:cNvPr id="5" name="TextBox 4">
            <a:extLst>
              <a:ext uri="{FF2B5EF4-FFF2-40B4-BE49-F238E27FC236}">
                <a16:creationId xmlns:a16="http://schemas.microsoft.com/office/drawing/2014/main" id="{CED2CCDC-C02F-B3A1-A3C5-707DECA064F1}"/>
              </a:ext>
            </a:extLst>
          </p:cNvPr>
          <p:cNvSpPr txBox="1"/>
          <p:nvPr/>
        </p:nvSpPr>
        <p:spPr>
          <a:xfrm>
            <a:off x="-30367" y="770057"/>
            <a:ext cx="1741230" cy="369332"/>
          </a:xfrm>
          <a:prstGeom prst="rect">
            <a:avLst/>
          </a:prstGeom>
          <a:noFill/>
        </p:spPr>
        <p:txBody>
          <a:bodyPr wrap="square" rtlCol="0">
            <a:spAutoFit/>
          </a:bodyPr>
          <a:lstStyle/>
          <a:p>
            <a:r>
              <a:rPr lang="en-US" sz="1800" dirty="0">
                <a:solidFill>
                  <a:schemeClr val="bg1"/>
                </a:solidFill>
                <a:effectLst/>
                <a:latin typeface="Bookman Old Style" panose="02050604050505020204" pitchFamily="18" charset="0"/>
                <a:ea typeface="Calibri" panose="020F0502020204030204" pitchFamily="34" charset="0"/>
              </a:rPr>
              <a:t>22AM2305</a:t>
            </a:r>
            <a:endParaRPr lang="en-IN" dirty="0">
              <a:solidFill>
                <a:schemeClr val="bg1"/>
              </a:solidFill>
              <a:latin typeface="Bookman Old Style" panose="02050604050505020204" pitchFamily="18" charset="0"/>
            </a:endParaRPr>
          </a:p>
        </p:txBody>
      </p:sp>
      <p:pic>
        <p:nvPicPr>
          <p:cNvPr id="6" name="Picture 2" descr="logo">
            <a:extLst>
              <a:ext uri="{FF2B5EF4-FFF2-40B4-BE49-F238E27FC236}">
                <a16:creationId xmlns:a16="http://schemas.microsoft.com/office/drawing/2014/main" id="{747D0EEE-BA48-499F-B84C-D20F74CB5DB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52799" y="89593"/>
            <a:ext cx="1070381" cy="1049796"/>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a:extLst>
              <a:ext uri="{FF2B5EF4-FFF2-40B4-BE49-F238E27FC236}">
                <a16:creationId xmlns:a16="http://schemas.microsoft.com/office/drawing/2014/main" id="{B8E50AC5-8D2A-6A5D-796D-B6863CA3B31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123180" y="89593"/>
            <a:ext cx="941000" cy="960203"/>
          </a:xfrm>
          <a:prstGeom prst="rect">
            <a:avLst/>
          </a:prstGeom>
        </p:spPr>
      </p:pic>
      <p:sp>
        <p:nvSpPr>
          <p:cNvPr id="9" name="TextBox 8">
            <a:extLst>
              <a:ext uri="{FF2B5EF4-FFF2-40B4-BE49-F238E27FC236}">
                <a16:creationId xmlns:a16="http://schemas.microsoft.com/office/drawing/2014/main" id="{57563C35-E8FD-808D-ADF3-D193E7B892A8}"/>
              </a:ext>
            </a:extLst>
          </p:cNvPr>
          <p:cNvSpPr txBox="1"/>
          <p:nvPr/>
        </p:nvSpPr>
        <p:spPr>
          <a:xfrm>
            <a:off x="1794841" y="493058"/>
            <a:ext cx="7316957" cy="646331"/>
          </a:xfrm>
          <a:prstGeom prst="rect">
            <a:avLst/>
          </a:prstGeom>
          <a:noFill/>
        </p:spPr>
        <p:txBody>
          <a:bodyPr wrap="square">
            <a:spAutoFit/>
          </a:bodyPr>
          <a:lstStyle/>
          <a:p>
            <a:r>
              <a:rPr lang="en-US" b="1" i="0" dirty="0">
                <a:solidFill>
                  <a:srgbClr val="10162F"/>
                </a:solidFill>
                <a:effectLst/>
                <a:latin typeface="Apercu"/>
              </a:rPr>
              <a:t>U</a:t>
            </a:r>
            <a:r>
              <a:rPr lang="en-US" b="0" i="0" dirty="0">
                <a:solidFill>
                  <a:srgbClr val="10162F"/>
                </a:solidFill>
                <a:effectLst/>
                <a:latin typeface="Apercu"/>
              </a:rPr>
              <a:t> has the lowest cost compared to </a:t>
            </a:r>
            <a:r>
              <a:rPr lang="en-US" b="1" i="0" dirty="0">
                <a:solidFill>
                  <a:srgbClr val="10162F"/>
                </a:solidFill>
                <a:effectLst/>
                <a:latin typeface="Apercu"/>
              </a:rPr>
              <a:t>M</a:t>
            </a:r>
            <a:r>
              <a:rPr lang="en-US" b="0" i="0" dirty="0">
                <a:solidFill>
                  <a:srgbClr val="10162F"/>
                </a:solidFill>
                <a:effectLst/>
                <a:latin typeface="Apercu"/>
              </a:rPr>
              <a:t> and </a:t>
            </a:r>
            <a:r>
              <a:rPr lang="en-US" b="1" i="0" dirty="0">
                <a:solidFill>
                  <a:srgbClr val="10162F"/>
                </a:solidFill>
                <a:effectLst/>
                <a:latin typeface="Apercu"/>
              </a:rPr>
              <a:t>R</a:t>
            </a:r>
            <a:r>
              <a:rPr lang="en-US" b="0" i="0" dirty="0">
                <a:solidFill>
                  <a:srgbClr val="10162F"/>
                </a:solidFill>
                <a:effectLst/>
                <a:latin typeface="Apercu"/>
              </a:rPr>
              <a:t>, so the search will continue by exploring </a:t>
            </a:r>
            <a:r>
              <a:rPr lang="en-US" b="1" i="0" dirty="0">
                <a:solidFill>
                  <a:srgbClr val="10162F"/>
                </a:solidFill>
                <a:effectLst/>
                <a:latin typeface="Apercu"/>
              </a:rPr>
              <a:t>U</a:t>
            </a:r>
            <a:r>
              <a:rPr lang="en-US" b="0" i="0" dirty="0">
                <a:solidFill>
                  <a:srgbClr val="10162F"/>
                </a:solidFill>
                <a:effectLst/>
                <a:latin typeface="Apercu"/>
              </a:rPr>
              <a:t>. Finally, </a:t>
            </a:r>
            <a:r>
              <a:rPr lang="en-US" b="1" i="0" dirty="0">
                <a:solidFill>
                  <a:srgbClr val="10162F"/>
                </a:solidFill>
                <a:effectLst/>
                <a:latin typeface="Apercu"/>
              </a:rPr>
              <a:t>S</a:t>
            </a:r>
            <a:r>
              <a:rPr lang="en-US" b="0" i="0" dirty="0">
                <a:solidFill>
                  <a:srgbClr val="10162F"/>
                </a:solidFill>
                <a:effectLst/>
                <a:latin typeface="Apercu"/>
              </a:rPr>
              <a:t> has a heuristic value of 0 since that is the target node:</a:t>
            </a:r>
            <a:endParaRPr lang="en-US" dirty="0"/>
          </a:p>
        </p:txBody>
      </p:sp>
      <p:pic>
        <p:nvPicPr>
          <p:cNvPr id="3074" name="Picture 2" descr="Greedy Best-first Search 3">
            <a:extLst>
              <a:ext uri="{FF2B5EF4-FFF2-40B4-BE49-F238E27FC236}">
                <a16:creationId xmlns:a16="http://schemas.microsoft.com/office/drawing/2014/main" id="{58A2C447-83F9-F6B2-3350-0D74739269F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60554" y="1291839"/>
            <a:ext cx="7703892" cy="538089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27122642"/>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A5EF682-BBC6-BC89-A815-2405B3BFA89F}"/>
              </a:ext>
            </a:extLst>
          </p:cNvPr>
          <p:cNvPicPr>
            <a:picLocks noChangeAspect="1"/>
          </p:cNvPicPr>
          <p:nvPr/>
        </p:nvPicPr>
        <p:blipFill rotWithShape="1">
          <a:blip r:embed="rId2">
            <a:extLst>
              <a:ext uri="{28A0092B-C50C-407E-A947-70E740481C1C}">
                <a14:useLocalDpi xmlns:a14="http://schemas.microsoft.com/office/drawing/2010/main" val="0"/>
              </a:ext>
            </a:extLst>
          </a:blip>
          <a:srcRect l="7632" t="6513" r="14801" b="12673"/>
          <a:stretch/>
        </p:blipFill>
        <p:spPr>
          <a:xfrm>
            <a:off x="11003168" y="6329803"/>
            <a:ext cx="1002890" cy="342928"/>
          </a:xfrm>
          <a:prstGeom prst="rect">
            <a:avLst/>
          </a:prstGeom>
        </p:spPr>
      </p:pic>
      <p:sp>
        <p:nvSpPr>
          <p:cNvPr id="5" name="TextBox 4">
            <a:extLst>
              <a:ext uri="{FF2B5EF4-FFF2-40B4-BE49-F238E27FC236}">
                <a16:creationId xmlns:a16="http://schemas.microsoft.com/office/drawing/2014/main" id="{CED2CCDC-C02F-B3A1-A3C5-707DECA064F1}"/>
              </a:ext>
            </a:extLst>
          </p:cNvPr>
          <p:cNvSpPr txBox="1"/>
          <p:nvPr/>
        </p:nvSpPr>
        <p:spPr>
          <a:xfrm>
            <a:off x="-30367" y="770057"/>
            <a:ext cx="1741230" cy="369332"/>
          </a:xfrm>
          <a:prstGeom prst="rect">
            <a:avLst/>
          </a:prstGeom>
          <a:noFill/>
        </p:spPr>
        <p:txBody>
          <a:bodyPr wrap="square" rtlCol="0">
            <a:spAutoFit/>
          </a:bodyPr>
          <a:lstStyle/>
          <a:p>
            <a:r>
              <a:rPr lang="en-US" sz="1800" dirty="0">
                <a:solidFill>
                  <a:schemeClr val="bg1"/>
                </a:solidFill>
                <a:effectLst/>
                <a:latin typeface="Bookman Old Style" panose="02050604050505020204" pitchFamily="18" charset="0"/>
                <a:ea typeface="Calibri" panose="020F0502020204030204" pitchFamily="34" charset="0"/>
              </a:rPr>
              <a:t>22AM2305</a:t>
            </a:r>
            <a:endParaRPr lang="en-IN" dirty="0">
              <a:solidFill>
                <a:schemeClr val="bg1"/>
              </a:solidFill>
              <a:latin typeface="Bookman Old Style" panose="02050604050505020204" pitchFamily="18" charset="0"/>
            </a:endParaRPr>
          </a:p>
        </p:txBody>
      </p:sp>
      <p:pic>
        <p:nvPicPr>
          <p:cNvPr id="6" name="Picture 2" descr="logo">
            <a:extLst>
              <a:ext uri="{FF2B5EF4-FFF2-40B4-BE49-F238E27FC236}">
                <a16:creationId xmlns:a16="http://schemas.microsoft.com/office/drawing/2014/main" id="{747D0EEE-BA48-499F-B84C-D20F74CB5DB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52799" y="89593"/>
            <a:ext cx="1070381" cy="1049796"/>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a:extLst>
              <a:ext uri="{FF2B5EF4-FFF2-40B4-BE49-F238E27FC236}">
                <a16:creationId xmlns:a16="http://schemas.microsoft.com/office/drawing/2014/main" id="{B8E50AC5-8D2A-6A5D-796D-B6863CA3B31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123180" y="89593"/>
            <a:ext cx="941000" cy="960203"/>
          </a:xfrm>
          <a:prstGeom prst="rect">
            <a:avLst/>
          </a:prstGeom>
        </p:spPr>
      </p:pic>
      <p:sp>
        <p:nvSpPr>
          <p:cNvPr id="9" name="TextBox 8">
            <a:extLst>
              <a:ext uri="{FF2B5EF4-FFF2-40B4-BE49-F238E27FC236}">
                <a16:creationId xmlns:a16="http://schemas.microsoft.com/office/drawing/2014/main" id="{9A0C852A-AFFA-0235-5198-03C719E4F872}"/>
              </a:ext>
            </a:extLst>
          </p:cNvPr>
          <p:cNvSpPr txBox="1"/>
          <p:nvPr/>
        </p:nvSpPr>
        <p:spPr>
          <a:xfrm>
            <a:off x="1507030" y="251098"/>
            <a:ext cx="8749602" cy="1200329"/>
          </a:xfrm>
          <a:prstGeom prst="rect">
            <a:avLst/>
          </a:prstGeom>
          <a:noFill/>
        </p:spPr>
        <p:txBody>
          <a:bodyPr wrap="square">
            <a:spAutoFit/>
          </a:bodyPr>
          <a:lstStyle/>
          <a:p>
            <a:r>
              <a:rPr lang="en-US" b="0" i="0" dirty="0">
                <a:solidFill>
                  <a:srgbClr val="10162F"/>
                </a:solidFill>
                <a:effectLst/>
                <a:latin typeface="Apercu"/>
              </a:rPr>
              <a:t>The total cost for the path (</a:t>
            </a:r>
            <a:r>
              <a:rPr lang="en-US" b="1" i="0" dirty="0">
                <a:solidFill>
                  <a:srgbClr val="10162F"/>
                </a:solidFill>
                <a:effectLst/>
                <a:latin typeface="Apercu"/>
              </a:rPr>
              <a:t>P</a:t>
            </a:r>
            <a:r>
              <a:rPr lang="en-US" b="0" i="0" dirty="0">
                <a:solidFill>
                  <a:srgbClr val="10162F"/>
                </a:solidFill>
                <a:effectLst/>
                <a:latin typeface="Apercu"/>
              </a:rPr>
              <a:t> -&gt; </a:t>
            </a:r>
            <a:r>
              <a:rPr lang="en-US" b="1" i="0" dirty="0">
                <a:solidFill>
                  <a:srgbClr val="10162F"/>
                </a:solidFill>
                <a:effectLst/>
                <a:latin typeface="Apercu"/>
              </a:rPr>
              <a:t>C</a:t>
            </a:r>
            <a:r>
              <a:rPr lang="en-US" b="0" i="0" dirty="0">
                <a:solidFill>
                  <a:srgbClr val="10162F"/>
                </a:solidFill>
                <a:effectLst/>
                <a:latin typeface="Apercu"/>
              </a:rPr>
              <a:t> -&gt; </a:t>
            </a:r>
            <a:r>
              <a:rPr lang="en-US" b="1" i="0" dirty="0">
                <a:solidFill>
                  <a:srgbClr val="10162F"/>
                </a:solidFill>
                <a:effectLst/>
                <a:latin typeface="Apercu"/>
              </a:rPr>
              <a:t>U</a:t>
            </a:r>
            <a:r>
              <a:rPr lang="en-US" b="0" i="0" dirty="0">
                <a:solidFill>
                  <a:srgbClr val="10162F"/>
                </a:solidFill>
                <a:effectLst/>
                <a:latin typeface="Apercu"/>
              </a:rPr>
              <a:t> -&gt; </a:t>
            </a:r>
            <a:r>
              <a:rPr lang="en-US" b="1" i="0" dirty="0">
                <a:solidFill>
                  <a:srgbClr val="10162F"/>
                </a:solidFill>
                <a:effectLst/>
                <a:latin typeface="Apercu"/>
              </a:rPr>
              <a:t>S</a:t>
            </a:r>
            <a:r>
              <a:rPr lang="en-US" b="0" i="0" dirty="0">
                <a:solidFill>
                  <a:srgbClr val="10162F"/>
                </a:solidFill>
                <a:effectLst/>
                <a:latin typeface="Apercu"/>
              </a:rPr>
              <a:t>) evaluates to 10. The potential problem with a greedy best-first search is revealed by the path (</a:t>
            </a:r>
            <a:r>
              <a:rPr lang="en-US" b="1" i="0" dirty="0">
                <a:solidFill>
                  <a:srgbClr val="10162F"/>
                </a:solidFill>
                <a:effectLst/>
                <a:latin typeface="Apercu"/>
              </a:rPr>
              <a:t>P</a:t>
            </a:r>
            <a:r>
              <a:rPr lang="en-US" b="0" i="0" dirty="0">
                <a:solidFill>
                  <a:srgbClr val="10162F"/>
                </a:solidFill>
                <a:effectLst/>
                <a:latin typeface="Apercu"/>
              </a:rPr>
              <a:t> -&gt; </a:t>
            </a:r>
            <a:r>
              <a:rPr lang="en-US" b="1" i="0" dirty="0">
                <a:solidFill>
                  <a:srgbClr val="10162F"/>
                </a:solidFill>
                <a:effectLst/>
                <a:latin typeface="Apercu"/>
              </a:rPr>
              <a:t>R</a:t>
            </a:r>
            <a:r>
              <a:rPr lang="en-US" b="0" i="0" dirty="0">
                <a:solidFill>
                  <a:srgbClr val="10162F"/>
                </a:solidFill>
                <a:effectLst/>
                <a:latin typeface="Apercu"/>
              </a:rPr>
              <a:t> -&gt; </a:t>
            </a:r>
            <a:r>
              <a:rPr lang="en-US" b="1" i="0" dirty="0">
                <a:solidFill>
                  <a:srgbClr val="10162F"/>
                </a:solidFill>
                <a:effectLst/>
                <a:latin typeface="Apercu"/>
              </a:rPr>
              <a:t>E</a:t>
            </a:r>
            <a:r>
              <a:rPr lang="en-US" b="0" i="0" dirty="0">
                <a:solidFill>
                  <a:srgbClr val="10162F"/>
                </a:solidFill>
                <a:effectLst/>
                <a:latin typeface="Apercu"/>
              </a:rPr>
              <a:t> -&gt; </a:t>
            </a:r>
            <a:r>
              <a:rPr lang="en-US" b="1" i="0" dirty="0">
                <a:solidFill>
                  <a:srgbClr val="10162F"/>
                </a:solidFill>
                <a:effectLst/>
                <a:latin typeface="Apercu"/>
              </a:rPr>
              <a:t>S</a:t>
            </a:r>
            <a:r>
              <a:rPr lang="en-US" b="0" i="0" dirty="0">
                <a:solidFill>
                  <a:srgbClr val="10162F"/>
                </a:solidFill>
                <a:effectLst/>
                <a:latin typeface="Apercu"/>
              </a:rPr>
              <a:t>) having a cost of </a:t>
            </a:r>
            <a:r>
              <a:rPr lang="en-US" dirty="0">
                <a:solidFill>
                  <a:srgbClr val="10162F"/>
                </a:solidFill>
                <a:latin typeface="Apercu"/>
              </a:rPr>
              <a:t>9</a:t>
            </a:r>
            <a:r>
              <a:rPr lang="en-US" b="0" i="0" dirty="0">
                <a:solidFill>
                  <a:srgbClr val="10162F"/>
                </a:solidFill>
                <a:effectLst/>
                <a:latin typeface="Apercu"/>
              </a:rPr>
              <a:t>, which is lower than (</a:t>
            </a:r>
            <a:r>
              <a:rPr lang="en-US" b="1" i="0" dirty="0">
                <a:solidFill>
                  <a:srgbClr val="10162F"/>
                </a:solidFill>
                <a:effectLst/>
                <a:latin typeface="Apercu"/>
              </a:rPr>
              <a:t>P</a:t>
            </a:r>
            <a:r>
              <a:rPr lang="en-US" b="0" i="0" dirty="0">
                <a:solidFill>
                  <a:srgbClr val="10162F"/>
                </a:solidFill>
                <a:effectLst/>
                <a:latin typeface="Apercu"/>
              </a:rPr>
              <a:t> -&gt; </a:t>
            </a:r>
            <a:r>
              <a:rPr lang="en-US" b="1" i="0" dirty="0">
                <a:solidFill>
                  <a:srgbClr val="10162F"/>
                </a:solidFill>
                <a:effectLst/>
                <a:latin typeface="Apercu"/>
              </a:rPr>
              <a:t>C</a:t>
            </a:r>
            <a:r>
              <a:rPr lang="en-US" b="0" i="0" dirty="0">
                <a:solidFill>
                  <a:srgbClr val="10162F"/>
                </a:solidFill>
                <a:effectLst/>
                <a:latin typeface="Apercu"/>
              </a:rPr>
              <a:t> -&gt; </a:t>
            </a:r>
            <a:r>
              <a:rPr lang="en-US" b="1" i="0" dirty="0">
                <a:solidFill>
                  <a:srgbClr val="10162F"/>
                </a:solidFill>
                <a:effectLst/>
                <a:latin typeface="Apercu"/>
              </a:rPr>
              <a:t>U</a:t>
            </a:r>
            <a:r>
              <a:rPr lang="en-US" b="0" i="0" dirty="0">
                <a:solidFill>
                  <a:srgbClr val="10162F"/>
                </a:solidFill>
                <a:effectLst/>
                <a:latin typeface="Apercu"/>
              </a:rPr>
              <a:t> -&gt; </a:t>
            </a:r>
            <a:r>
              <a:rPr lang="en-US" b="1" i="0" dirty="0">
                <a:solidFill>
                  <a:srgbClr val="10162F"/>
                </a:solidFill>
                <a:effectLst/>
                <a:latin typeface="Apercu"/>
              </a:rPr>
              <a:t>S</a:t>
            </a:r>
            <a:r>
              <a:rPr lang="en-US" b="0" i="0" dirty="0">
                <a:solidFill>
                  <a:srgbClr val="10162F"/>
                </a:solidFill>
                <a:effectLst/>
                <a:latin typeface="Apercu"/>
              </a:rPr>
              <a:t>). Greedy best-first search ignored this path because it does not consider the edge weights.</a:t>
            </a:r>
            <a:endParaRPr lang="en-US" dirty="0"/>
          </a:p>
        </p:txBody>
      </p:sp>
      <p:pic>
        <p:nvPicPr>
          <p:cNvPr id="4098" name="Picture 2" descr="Greedy Best-first Search Final Example Graph">
            <a:extLst>
              <a:ext uri="{FF2B5EF4-FFF2-40B4-BE49-F238E27FC236}">
                <a16:creationId xmlns:a16="http://schemas.microsoft.com/office/drawing/2014/main" id="{6C6C849F-AB7A-9D48-2464-5776A18B0FC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918842" y="1464424"/>
            <a:ext cx="4833274" cy="490019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52832132"/>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47515F-4A58-DFA9-F4DC-FA2F57C2B8AC}"/>
              </a:ext>
            </a:extLst>
          </p:cNvPr>
          <p:cNvSpPr>
            <a:spLocks noGrp="1"/>
          </p:cNvSpPr>
          <p:nvPr>
            <p:ph type="title"/>
          </p:nvPr>
        </p:nvSpPr>
        <p:spPr>
          <a:xfrm>
            <a:off x="1568147" y="129612"/>
            <a:ext cx="8911687" cy="1280890"/>
          </a:xfrm>
        </p:spPr>
        <p:txBody>
          <a:bodyPr>
            <a:normAutofit fontScale="90000"/>
          </a:bodyPr>
          <a:lstStyle/>
          <a:p>
            <a:r>
              <a:rPr lang="en-US" b="1" dirty="0">
                <a:solidFill>
                  <a:srgbClr val="273239"/>
                </a:solidFill>
                <a:latin typeface="Bookman Old Style" panose="02050604050505020204" pitchFamily="18" charset="0"/>
              </a:rPr>
              <a:t>Advantages of Greedy Best-First Search:</a:t>
            </a:r>
            <a:br>
              <a:rPr lang="en-US" b="1" dirty="0">
                <a:solidFill>
                  <a:srgbClr val="273239"/>
                </a:solidFill>
                <a:latin typeface="Bookman Old Style" panose="02050604050505020204" pitchFamily="18" charset="0"/>
              </a:rPr>
            </a:br>
            <a:endParaRPr lang="en-US" dirty="0">
              <a:latin typeface="Bookman Old Style" panose="02050604050505020204" pitchFamily="18" charset="0"/>
            </a:endParaRPr>
          </a:p>
        </p:txBody>
      </p:sp>
      <p:sp>
        <p:nvSpPr>
          <p:cNvPr id="3" name="Content Placeholder 2">
            <a:extLst>
              <a:ext uri="{FF2B5EF4-FFF2-40B4-BE49-F238E27FC236}">
                <a16:creationId xmlns:a16="http://schemas.microsoft.com/office/drawing/2014/main" id="{CD8527A1-EA1C-ABF8-E388-1F26941C7D64}"/>
              </a:ext>
            </a:extLst>
          </p:cNvPr>
          <p:cNvSpPr>
            <a:spLocks noGrp="1"/>
          </p:cNvSpPr>
          <p:nvPr>
            <p:ph idx="1"/>
          </p:nvPr>
        </p:nvSpPr>
        <p:spPr>
          <a:xfrm>
            <a:off x="1042219" y="1579201"/>
            <a:ext cx="10462394" cy="4508742"/>
          </a:xfrm>
        </p:spPr>
        <p:txBody>
          <a:bodyPr>
            <a:normAutofit fontScale="92500" lnSpcReduction="20000"/>
          </a:bodyPr>
          <a:lstStyle/>
          <a:p>
            <a:pPr algn="just" fontAlgn="base">
              <a:buFont typeface="Arial" panose="020B0604020202020204" pitchFamily="34" charset="0"/>
              <a:buChar char="•"/>
            </a:pPr>
            <a:r>
              <a:rPr lang="en-US" sz="2400" b="1" i="0" dirty="0">
                <a:solidFill>
                  <a:srgbClr val="273239"/>
                </a:solidFill>
                <a:effectLst/>
                <a:latin typeface="Bookman Old Style" panose="02050604050505020204" pitchFamily="18" charset="0"/>
              </a:rPr>
              <a:t>Simple and Easy to Implement: </a:t>
            </a:r>
            <a:r>
              <a:rPr lang="en-US" sz="2400" b="0" i="0" dirty="0">
                <a:solidFill>
                  <a:srgbClr val="273239"/>
                </a:solidFill>
                <a:effectLst/>
                <a:latin typeface="Bookman Old Style" panose="02050604050505020204" pitchFamily="18" charset="0"/>
              </a:rPr>
              <a:t>Greedy Best-First Search is a relatively straightforward algorithm, making it easy to implement.</a:t>
            </a:r>
          </a:p>
          <a:p>
            <a:pPr algn="just" fontAlgn="base">
              <a:buFont typeface="Arial" panose="020B0604020202020204" pitchFamily="34" charset="0"/>
              <a:buChar char="•"/>
            </a:pPr>
            <a:r>
              <a:rPr lang="en-US" sz="2400" b="1" i="0" dirty="0">
                <a:solidFill>
                  <a:srgbClr val="273239"/>
                </a:solidFill>
                <a:effectLst/>
                <a:latin typeface="Bookman Old Style" panose="02050604050505020204" pitchFamily="18" charset="0"/>
              </a:rPr>
              <a:t>Fast and Efficient: </a:t>
            </a:r>
            <a:r>
              <a:rPr lang="en-US" sz="2400" b="0" i="0" dirty="0">
                <a:solidFill>
                  <a:srgbClr val="273239"/>
                </a:solidFill>
                <a:effectLst/>
                <a:latin typeface="Bookman Old Style" panose="02050604050505020204" pitchFamily="18" charset="0"/>
              </a:rPr>
              <a:t>Greedy Best-First Search is a very fast algorithm, making it ideal for applications where speed is essential.</a:t>
            </a:r>
          </a:p>
          <a:p>
            <a:pPr algn="just" fontAlgn="base">
              <a:buFont typeface="Arial" panose="020B0604020202020204" pitchFamily="34" charset="0"/>
              <a:buChar char="•"/>
            </a:pPr>
            <a:r>
              <a:rPr lang="en-US" sz="2400" b="1" i="0" dirty="0">
                <a:solidFill>
                  <a:srgbClr val="273239"/>
                </a:solidFill>
                <a:effectLst/>
                <a:latin typeface="Bookman Old Style" panose="02050604050505020204" pitchFamily="18" charset="0"/>
              </a:rPr>
              <a:t>Low Memory Requirements:</a:t>
            </a:r>
            <a:r>
              <a:rPr lang="en-US" sz="2400" b="0" i="0" dirty="0">
                <a:solidFill>
                  <a:srgbClr val="273239"/>
                </a:solidFill>
                <a:effectLst/>
                <a:latin typeface="Bookman Old Style" panose="02050604050505020204" pitchFamily="18" charset="0"/>
              </a:rPr>
              <a:t> Greedy Best-First Search requires only a small amount of memory, making it suitable for applications with limited memory.</a:t>
            </a:r>
          </a:p>
          <a:p>
            <a:pPr algn="just" fontAlgn="base">
              <a:buFont typeface="Arial" panose="020B0604020202020204" pitchFamily="34" charset="0"/>
              <a:buChar char="•"/>
            </a:pPr>
            <a:r>
              <a:rPr lang="en-US" sz="2400" b="1" i="0" dirty="0">
                <a:solidFill>
                  <a:srgbClr val="273239"/>
                </a:solidFill>
                <a:effectLst/>
                <a:latin typeface="Bookman Old Style" panose="02050604050505020204" pitchFamily="18" charset="0"/>
              </a:rPr>
              <a:t>Flexible: </a:t>
            </a:r>
            <a:r>
              <a:rPr lang="en-US" sz="2400" b="0" i="0" dirty="0">
                <a:solidFill>
                  <a:srgbClr val="273239"/>
                </a:solidFill>
                <a:effectLst/>
                <a:latin typeface="Bookman Old Style" panose="02050604050505020204" pitchFamily="18" charset="0"/>
              </a:rPr>
              <a:t>Greedy Best-First Search can be adapted to different types of problems and can be easily extended to more complex problems.</a:t>
            </a:r>
          </a:p>
          <a:p>
            <a:pPr algn="just" fontAlgn="base">
              <a:buFont typeface="Arial" panose="020B0604020202020204" pitchFamily="34" charset="0"/>
              <a:buChar char="•"/>
            </a:pPr>
            <a:r>
              <a:rPr lang="en-US" sz="2400" b="1" i="0" dirty="0">
                <a:solidFill>
                  <a:srgbClr val="273239"/>
                </a:solidFill>
                <a:effectLst/>
                <a:latin typeface="Bookman Old Style" panose="02050604050505020204" pitchFamily="18" charset="0"/>
              </a:rPr>
              <a:t>Efficiency: </a:t>
            </a:r>
            <a:r>
              <a:rPr lang="en-US" sz="2400" b="0" i="0" dirty="0">
                <a:solidFill>
                  <a:srgbClr val="273239"/>
                </a:solidFill>
                <a:effectLst/>
                <a:latin typeface="Bookman Old Style" panose="02050604050505020204" pitchFamily="18" charset="0"/>
              </a:rPr>
              <a:t>If the heuristic function used in Greedy Best-First Search is good to estimate, how close a node is to the solution, this algorithm can be a very efficient and find a solution quickly, even in large search spaces.</a:t>
            </a:r>
          </a:p>
          <a:p>
            <a:pPr algn="just"/>
            <a:endParaRPr lang="en-US" sz="2400" b="1" dirty="0">
              <a:latin typeface="Bookman Old Style" panose="02050604050505020204" pitchFamily="18" charset="0"/>
            </a:endParaRPr>
          </a:p>
        </p:txBody>
      </p:sp>
      <p:pic>
        <p:nvPicPr>
          <p:cNvPr id="4" name="Picture 3">
            <a:extLst>
              <a:ext uri="{FF2B5EF4-FFF2-40B4-BE49-F238E27FC236}">
                <a16:creationId xmlns:a16="http://schemas.microsoft.com/office/drawing/2014/main" id="{0A5EF682-BBC6-BC89-A815-2405B3BFA89F}"/>
              </a:ext>
            </a:extLst>
          </p:cNvPr>
          <p:cNvPicPr>
            <a:picLocks noChangeAspect="1"/>
          </p:cNvPicPr>
          <p:nvPr/>
        </p:nvPicPr>
        <p:blipFill rotWithShape="1">
          <a:blip r:embed="rId2">
            <a:extLst>
              <a:ext uri="{28A0092B-C50C-407E-A947-70E740481C1C}">
                <a14:useLocalDpi xmlns:a14="http://schemas.microsoft.com/office/drawing/2010/main" val="0"/>
              </a:ext>
            </a:extLst>
          </a:blip>
          <a:srcRect l="7632" t="6513" r="14801" b="12673"/>
          <a:stretch/>
        </p:blipFill>
        <p:spPr>
          <a:xfrm>
            <a:off x="11003168" y="6329803"/>
            <a:ext cx="1002890" cy="342928"/>
          </a:xfrm>
          <a:prstGeom prst="rect">
            <a:avLst/>
          </a:prstGeom>
        </p:spPr>
      </p:pic>
      <p:sp>
        <p:nvSpPr>
          <p:cNvPr id="5" name="TextBox 4">
            <a:extLst>
              <a:ext uri="{FF2B5EF4-FFF2-40B4-BE49-F238E27FC236}">
                <a16:creationId xmlns:a16="http://schemas.microsoft.com/office/drawing/2014/main" id="{CED2CCDC-C02F-B3A1-A3C5-707DECA064F1}"/>
              </a:ext>
            </a:extLst>
          </p:cNvPr>
          <p:cNvSpPr txBox="1"/>
          <p:nvPr/>
        </p:nvSpPr>
        <p:spPr>
          <a:xfrm>
            <a:off x="-30367" y="770057"/>
            <a:ext cx="1741230" cy="369332"/>
          </a:xfrm>
          <a:prstGeom prst="rect">
            <a:avLst/>
          </a:prstGeom>
          <a:noFill/>
        </p:spPr>
        <p:txBody>
          <a:bodyPr wrap="square" rtlCol="0">
            <a:spAutoFit/>
          </a:bodyPr>
          <a:lstStyle/>
          <a:p>
            <a:r>
              <a:rPr lang="en-US" sz="1800" dirty="0">
                <a:solidFill>
                  <a:schemeClr val="bg1"/>
                </a:solidFill>
                <a:effectLst/>
                <a:latin typeface="Bookman Old Style" panose="02050604050505020204" pitchFamily="18" charset="0"/>
                <a:ea typeface="Calibri" panose="020F0502020204030204" pitchFamily="34" charset="0"/>
              </a:rPr>
              <a:t>22AM2305</a:t>
            </a:r>
            <a:endParaRPr lang="en-IN" dirty="0">
              <a:solidFill>
                <a:schemeClr val="bg1"/>
              </a:solidFill>
              <a:latin typeface="Bookman Old Style" panose="02050604050505020204" pitchFamily="18" charset="0"/>
            </a:endParaRPr>
          </a:p>
        </p:txBody>
      </p:sp>
      <p:pic>
        <p:nvPicPr>
          <p:cNvPr id="6" name="Picture 2" descr="logo">
            <a:extLst>
              <a:ext uri="{FF2B5EF4-FFF2-40B4-BE49-F238E27FC236}">
                <a16:creationId xmlns:a16="http://schemas.microsoft.com/office/drawing/2014/main" id="{747D0EEE-BA48-499F-B84C-D20F74CB5DB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52799" y="89593"/>
            <a:ext cx="1070381" cy="1049796"/>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a:extLst>
              <a:ext uri="{FF2B5EF4-FFF2-40B4-BE49-F238E27FC236}">
                <a16:creationId xmlns:a16="http://schemas.microsoft.com/office/drawing/2014/main" id="{B8E50AC5-8D2A-6A5D-796D-B6863CA3B31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123180" y="89593"/>
            <a:ext cx="941000" cy="960203"/>
          </a:xfrm>
          <a:prstGeom prst="rect">
            <a:avLst/>
          </a:prstGeom>
        </p:spPr>
      </p:pic>
    </p:spTree>
    <p:extLst>
      <p:ext uri="{BB962C8B-B14F-4D97-AF65-F5344CB8AC3E}">
        <p14:creationId xmlns:p14="http://schemas.microsoft.com/office/powerpoint/2010/main" val="2615081703"/>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47515F-4A58-DFA9-F4DC-FA2F57C2B8AC}"/>
              </a:ext>
            </a:extLst>
          </p:cNvPr>
          <p:cNvSpPr>
            <a:spLocks noGrp="1"/>
          </p:cNvSpPr>
          <p:nvPr>
            <p:ph type="title"/>
          </p:nvPr>
        </p:nvSpPr>
        <p:spPr>
          <a:xfrm>
            <a:off x="1568147" y="129612"/>
            <a:ext cx="8911687" cy="1280890"/>
          </a:xfrm>
        </p:spPr>
        <p:txBody>
          <a:bodyPr>
            <a:normAutofit fontScale="90000"/>
          </a:bodyPr>
          <a:lstStyle/>
          <a:p>
            <a:r>
              <a:rPr lang="en-US" b="1" dirty="0">
                <a:solidFill>
                  <a:srgbClr val="273239"/>
                </a:solidFill>
                <a:latin typeface="Bookman Old Style" panose="02050604050505020204" pitchFamily="18" charset="0"/>
              </a:rPr>
              <a:t>Disadvantages of Greedy Best-First Search:</a:t>
            </a:r>
            <a:br>
              <a:rPr lang="en-US" b="1" dirty="0">
                <a:solidFill>
                  <a:srgbClr val="273239"/>
                </a:solidFill>
                <a:latin typeface="Bookman Old Style" panose="02050604050505020204" pitchFamily="18" charset="0"/>
              </a:rPr>
            </a:br>
            <a:endParaRPr lang="en-US" dirty="0">
              <a:latin typeface="Bookman Old Style" panose="02050604050505020204" pitchFamily="18" charset="0"/>
            </a:endParaRPr>
          </a:p>
        </p:txBody>
      </p:sp>
      <p:sp>
        <p:nvSpPr>
          <p:cNvPr id="3" name="Content Placeholder 2">
            <a:extLst>
              <a:ext uri="{FF2B5EF4-FFF2-40B4-BE49-F238E27FC236}">
                <a16:creationId xmlns:a16="http://schemas.microsoft.com/office/drawing/2014/main" id="{CD8527A1-EA1C-ABF8-E388-1F26941C7D64}"/>
              </a:ext>
            </a:extLst>
          </p:cNvPr>
          <p:cNvSpPr>
            <a:spLocks noGrp="1"/>
          </p:cNvSpPr>
          <p:nvPr>
            <p:ph idx="1"/>
          </p:nvPr>
        </p:nvSpPr>
        <p:spPr>
          <a:xfrm>
            <a:off x="1042219" y="1579201"/>
            <a:ext cx="10462394" cy="4508742"/>
          </a:xfrm>
        </p:spPr>
        <p:txBody>
          <a:bodyPr>
            <a:normAutofit fontScale="92500"/>
          </a:bodyPr>
          <a:lstStyle/>
          <a:p>
            <a:pPr algn="just" fontAlgn="base">
              <a:buFont typeface="Arial" panose="020B0604020202020204" pitchFamily="34" charset="0"/>
              <a:buChar char="•"/>
            </a:pPr>
            <a:r>
              <a:rPr lang="en-US" sz="2400" b="1" i="0" dirty="0">
                <a:solidFill>
                  <a:srgbClr val="273239"/>
                </a:solidFill>
                <a:effectLst/>
                <a:latin typeface="Bookman Old Style" panose="02050604050505020204" pitchFamily="18" charset="0"/>
              </a:rPr>
              <a:t>Inaccurate Results: </a:t>
            </a:r>
            <a:r>
              <a:rPr lang="en-US" sz="2400" b="0" i="0" dirty="0">
                <a:solidFill>
                  <a:srgbClr val="273239"/>
                </a:solidFill>
                <a:effectLst/>
                <a:latin typeface="Bookman Old Style" panose="02050604050505020204" pitchFamily="18" charset="0"/>
              </a:rPr>
              <a:t>Greedy Best-First Search is not always guaranteed to find the optimal solution, as it is only concerned with finding the most promising path.</a:t>
            </a:r>
          </a:p>
          <a:p>
            <a:pPr algn="just" fontAlgn="base">
              <a:buFont typeface="Arial" panose="020B0604020202020204" pitchFamily="34" charset="0"/>
              <a:buChar char="•"/>
            </a:pPr>
            <a:r>
              <a:rPr lang="en-US" sz="2400" b="1" i="0" dirty="0">
                <a:solidFill>
                  <a:srgbClr val="273239"/>
                </a:solidFill>
                <a:effectLst/>
                <a:latin typeface="Bookman Old Style" panose="02050604050505020204" pitchFamily="18" charset="0"/>
              </a:rPr>
              <a:t>Local Optima:</a:t>
            </a:r>
            <a:r>
              <a:rPr lang="en-US" sz="2400" b="0" i="0" dirty="0">
                <a:solidFill>
                  <a:srgbClr val="273239"/>
                </a:solidFill>
                <a:effectLst/>
                <a:latin typeface="Bookman Old Style" panose="02050604050505020204" pitchFamily="18" charset="0"/>
              </a:rPr>
              <a:t> Greedy Best-First Search can get stuck in local optima, meaning that the path chosen may not be the best possible path.</a:t>
            </a:r>
          </a:p>
          <a:p>
            <a:pPr algn="just" fontAlgn="base">
              <a:buFont typeface="Arial" panose="020B0604020202020204" pitchFamily="34" charset="0"/>
              <a:buChar char="•"/>
            </a:pPr>
            <a:r>
              <a:rPr lang="en-US" sz="2400" b="1" i="0" dirty="0">
                <a:solidFill>
                  <a:srgbClr val="273239"/>
                </a:solidFill>
                <a:effectLst/>
                <a:latin typeface="Bookman Old Style" panose="02050604050505020204" pitchFamily="18" charset="0"/>
              </a:rPr>
              <a:t>Heuristic Function: </a:t>
            </a:r>
            <a:r>
              <a:rPr lang="en-US" sz="2400" b="0" i="0" dirty="0">
                <a:solidFill>
                  <a:srgbClr val="273239"/>
                </a:solidFill>
                <a:effectLst/>
                <a:latin typeface="Bookman Old Style" panose="02050604050505020204" pitchFamily="18" charset="0"/>
              </a:rPr>
              <a:t>Greedy Best-First Search requires a heuristic function in order to work, which adds complexity to the algorithm</a:t>
            </a:r>
            <a:r>
              <a:rPr lang="en-US" sz="2400" b="1" i="0" dirty="0">
                <a:solidFill>
                  <a:srgbClr val="273239"/>
                </a:solidFill>
                <a:effectLst/>
                <a:latin typeface="Bookman Old Style" panose="02050604050505020204" pitchFamily="18" charset="0"/>
              </a:rPr>
              <a:t>.</a:t>
            </a:r>
            <a:endParaRPr lang="en-US" sz="2400" b="0" i="0" dirty="0">
              <a:solidFill>
                <a:srgbClr val="273239"/>
              </a:solidFill>
              <a:effectLst/>
              <a:latin typeface="Bookman Old Style" panose="02050604050505020204" pitchFamily="18" charset="0"/>
            </a:endParaRPr>
          </a:p>
          <a:p>
            <a:pPr algn="just" fontAlgn="base">
              <a:buFont typeface="Arial" panose="020B0604020202020204" pitchFamily="34" charset="0"/>
              <a:buChar char="•"/>
            </a:pPr>
            <a:r>
              <a:rPr lang="en-US" sz="2400" b="1" i="0" dirty="0">
                <a:solidFill>
                  <a:srgbClr val="273239"/>
                </a:solidFill>
                <a:effectLst/>
                <a:latin typeface="Bookman Old Style" panose="02050604050505020204" pitchFamily="18" charset="0"/>
              </a:rPr>
              <a:t>Lack of Completeness: </a:t>
            </a:r>
            <a:r>
              <a:rPr lang="en-US" sz="2400" b="0" i="0" dirty="0">
                <a:solidFill>
                  <a:srgbClr val="273239"/>
                </a:solidFill>
                <a:effectLst/>
                <a:latin typeface="Bookman Old Style" panose="02050604050505020204" pitchFamily="18" charset="0"/>
              </a:rPr>
              <a:t>Greedy Best-First Search is not a complete algorithm, meaning it may not always find a solution if one is exists. This can happen if the algorithm gets stuck in a cycle or if the search space is a too much complex.</a:t>
            </a:r>
          </a:p>
          <a:p>
            <a:pPr algn="just"/>
            <a:endParaRPr lang="en-US" sz="2400" b="1" dirty="0">
              <a:latin typeface="Bookman Old Style" panose="02050604050505020204" pitchFamily="18" charset="0"/>
            </a:endParaRPr>
          </a:p>
        </p:txBody>
      </p:sp>
      <p:pic>
        <p:nvPicPr>
          <p:cNvPr id="4" name="Picture 3">
            <a:extLst>
              <a:ext uri="{FF2B5EF4-FFF2-40B4-BE49-F238E27FC236}">
                <a16:creationId xmlns:a16="http://schemas.microsoft.com/office/drawing/2014/main" id="{0A5EF682-BBC6-BC89-A815-2405B3BFA89F}"/>
              </a:ext>
            </a:extLst>
          </p:cNvPr>
          <p:cNvPicPr>
            <a:picLocks noChangeAspect="1"/>
          </p:cNvPicPr>
          <p:nvPr/>
        </p:nvPicPr>
        <p:blipFill rotWithShape="1">
          <a:blip r:embed="rId2">
            <a:extLst>
              <a:ext uri="{28A0092B-C50C-407E-A947-70E740481C1C}">
                <a14:useLocalDpi xmlns:a14="http://schemas.microsoft.com/office/drawing/2010/main" val="0"/>
              </a:ext>
            </a:extLst>
          </a:blip>
          <a:srcRect l="7632" t="6513" r="14801" b="12673"/>
          <a:stretch/>
        </p:blipFill>
        <p:spPr>
          <a:xfrm>
            <a:off x="11003168" y="6329803"/>
            <a:ext cx="1002890" cy="342928"/>
          </a:xfrm>
          <a:prstGeom prst="rect">
            <a:avLst/>
          </a:prstGeom>
        </p:spPr>
      </p:pic>
      <p:sp>
        <p:nvSpPr>
          <p:cNvPr id="5" name="TextBox 4">
            <a:extLst>
              <a:ext uri="{FF2B5EF4-FFF2-40B4-BE49-F238E27FC236}">
                <a16:creationId xmlns:a16="http://schemas.microsoft.com/office/drawing/2014/main" id="{CED2CCDC-C02F-B3A1-A3C5-707DECA064F1}"/>
              </a:ext>
            </a:extLst>
          </p:cNvPr>
          <p:cNvSpPr txBox="1"/>
          <p:nvPr/>
        </p:nvSpPr>
        <p:spPr>
          <a:xfrm>
            <a:off x="-30367" y="770057"/>
            <a:ext cx="1741230" cy="369332"/>
          </a:xfrm>
          <a:prstGeom prst="rect">
            <a:avLst/>
          </a:prstGeom>
          <a:noFill/>
        </p:spPr>
        <p:txBody>
          <a:bodyPr wrap="square" rtlCol="0">
            <a:spAutoFit/>
          </a:bodyPr>
          <a:lstStyle/>
          <a:p>
            <a:r>
              <a:rPr lang="en-US" sz="1800" dirty="0">
                <a:solidFill>
                  <a:schemeClr val="bg1"/>
                </a:solidFill>
                <a:effectLst/>
                <a:latin typeface="Bookman Old Style" panose="02050604050505020204" pitchFamily="18" charset="0"/>
                <a:ea typeface="Calibri" panose="020F0502020204030204" pitchFamily="34" charset="0"/>
              </a:rPr>
              <a:t>22AM2305</a:t>
            </a:r>
            <a:endParaRPr lang="en-IN" dirty="0">
              <a:solidFill>
                <a:schemeClr val="bg1"/>
              </a:solidFill>
              <a:latin typeface="Bookman Old Style" panose="02050604050505020204" pitchFamily="18" charset="0"/>
            </a:endParaRPr>
          </a:p>
        </p:txBody>
      </p:sp>
      <p:pic>
        <p:nvPicPr>
          <p:cNvPr id="6" name="Picture 2" descr="logo">
            <a:extLst>
              <a:ext uri="{FF2B5EF4-FFF2-40B4-BE49-F238E27FC236}">
                <a16:creationId xmlns:a16="http://schemas.microsoft.com/office/drawing/2014/main" id="{747D0EEE-BA48-499F-B84C-D20F74CB5DB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52799" y="89593"/>
            <a:ext cx="1070381" cy="1049796"/>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a:extLst>
              <a:ext uri="{FF2B5EF4-FFF2-40B4-BE49-F238E27FC236}">
                <a16:creationId xmlns:a16="http://schemas.microsoft.com/office/drawing/2014/main" id="{B8E50AC5-8D2A-6A5D-796D-B6863CA3B31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123180" y="89593"/>
            <a:ext cx="941000" cy="960203"/>
          </a:xfrm>
          <a:prstGeom prst="rect">
            <a:avLst/>
          </a:prstGeom>
        </p:spPr>
      </p:pic>
    </p:spTree>
    <p:extLst>
      <p:ext uri="{BB962C8B-B14F-4D97-AF65-F5344CB8AC3E}">
        <p14:creationId xmlns:p14="http://schemas.microsoft.com/office/powerpoint/2010/main" val="659079661"/>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47515F-4A58-DFA9-F4DC-FA2F57C2B8AC}"/>
              </a:ext>
            </a:extLst>
          </p:cNvPr>
          <p:cNvSpPr>
            <a:spLocks noGrp="1"/>
          </p:cNvSpPr>
          <p:nvPr>
            <p:ph type="title"/>
          </p:nvPr>
        </p:nvSpPr>
        <p:spPr>
          <a:xfrm>
            <a:off x="1568147" y="129612"/>
            <a:ext cx="8911687" cy="1280890"/>
          </a:xfrm>
        </p:spPr>
        <p:txBody>
          <a:bodyPr>
            <a:normAutofit fontScale="90000"/>
          </a:bodyPr>
          <a:lstStyle/>
          <a:p>
            <a:r>
              <a:rPr lang="en-US" b="1" dirty="0">
                <a:solidFill>
                  <a:srgbClr val="273239"/>
                </a:solidFill>
                <a:latin typeface="Bookman Old Style" panose="02050604050505020204" pitchFamily="18" charset="0"/>
              </a:rPr>
              <a:t>Applications of Greedy Best-First Search:</a:t>
            </a:r>
            <a:br>
              <a:rPr lang="en-US" b="1" dirty="0">
                <a:solidFill>
                  <a:srgbClr val="273239"/>
                </a:solidFill>
                <a:latin typeface="Bookman Old Style" panose="02050604050505020204" pitchFamily="18" charset="0"/>
              </a:rPr>
            </a:br>
            <a:endParaRPr lang="en-US" dirty="0">
              <a:latin typeface="Bookman Old Style" panose="02050604050505020204" pitchFamily="18" charset="0"/>
            </a:endParaRPr>
          </a:p>
        </p:txBody>
      </p:sp>
      <p:sp>
        <p:nvSpPr>
          <p:cNvPr id="3" name="Content Placeholder 2">
            <a:extLst>
              <a:ext uri="{FF2B5EF4-FFF2-40B4-BE49-F238E27FC236}">
                <a16:creationId xmlns:a16="http://schemas.microsoft.com/office/drawing/2014/main" id="{CD8527A1-EA1C-ABF8-E388-1F26941C7D64}"/>
              </a:ext>
            </a:extLst>
          </p:cNvPr>
          <p:cNvSpPr>
            <a:spLocks noGrp="1"/>
          </p:cNvSpPr>
          <p:nvPr>
            <p:ph idx="1"/>
          </p:nvPr>
        </p:nvSpPr>
        <p:spPr>
          <a:xfrm>
            <a:off x="1042219" y="1579201"/>
            <a:ext cx="10462394" cy="4508742"/>
          </a:xfrm>
        </p:spPr>
        <p:txBody>
          <a:bodyPr>
            <a:normAutofit fontScale="70000" lnSpcReduction="20000"/>
          </a:bodyPr>
          <a:lstStyle/>
          <a:p>
            <a:pPr algn="just" fontAlgn="base">
              <a:buFont typeface="Arial" panose="020B0604020202020204" pitchFamily="34" charset="0"/>
              <a:buChar char="•"/>
            </a:pPr>
            <a:r>
              <a:rPr lang="en-US" sz="2400" b="1" i="0" dirty="0">
                <a:solidFill>
                  <a:srgbClr val="273239"/>
                </a:solidFill>
                <a:effectLst/>
                <a:latin typeface="Bookman Old Style" panose="02050604050505020204" pitchFamily="18" charset="0"/>
              </a:rPr>
              <a:t>Pathfinding: </a:t>
            </a:r>
            <a:r>
              <a:rPr lang="en-US" sz="2400" b="0" i="0" dirty="0">
                <a:solidFill>
                  <a:srgbClr val="273239"/>
                </a:solidFill>
                <a:effectLst/>
                <a:latin typeface="Bookman Old Style" panose="02050604050505020204" pitchFamily="18" charset="0"/>
              </a:rPr>
              <a:t>Greedy Best-First Search is used to find the shortest path between two points in a graph. It is used in many applications such as video games, robotics, and navigation systems.</a:t>
            </a:r>
          </a:p>
          <a:p>
            <a:pPr algn="just" fontAlgn="base">
              <a:buFont typeface="Arial" panose="020B0604020202020204" pitchFamily="34" charset="0"/>
              <a:buChar char="•"/>
            </a:pPr>
            <a:r>
              <a:rPr lang="en-US" sz="2400" b="1" i="0" dirty="0">
                <a:solidFill>
                  <a:srgbClr val="273239"/>
                </a:solidFill>
                <a:effectLst/>
                <a:latin typeface="Bookman Old Style" panose="02050604050505020204" pitchFamily="18" charset="0"/>
              </a:rPr>
              <a:t>Machine Learning: </a:t>
            </a:r>
            <a:r>
              <a:rPr lang="en-US" sz="2400" b="0" i="0" dirty="0">
                <a:solidFill>
                  <a:srgbClr val="273239"/>
                </a:solidFill>
                <a:effectLst/>
                <a:latin typeface="Bookman Old Style" panose="02050604050505020204" pitchFamily="18" charset="0"/>
              </a:rPr>
              <a:t>Greedy Best-First Search can be used in machine learning algorithms to find the most promising path through a search space.</a:t>
            </a:r>
          </a:p>
          <a:p>
            <a:pPr algn="just" fontAlgn="base">
              <a:buFont typeface="Arial" panose="020B0604020202020204" pitchFamily="34" charset="0"/>
              <a:buChar char="•"/>
            </a:pPr>
            <a:r>
              <a:rPr lang="en-US" sz="2400" b="1" i="0" dirty="0">
                <a:solidFill>
                  <a:srgbClr val="273239"/>
                </a:solidFill>
                <a:effectLst/>
                <a:latin typeface="Bookman Old Style" panose="02050604050505020204" pitchFamily="18" charset="0"/>
              </a:rPr>
              <a:t>Optimization: </a:t>
            </a:r>
            <a:r>
              <a:rPr lang="en-US" sz="2400" b="0" i="0" dirty="0">
                <a:solidFill>
                  <a:srgbClr val="273239"/>
                </a:solidFill>
                <a:effectLst/>
                <a:latin typeface="Bookman Old Style" panose="02050604050505020204" pitchFamily="18" charset="0"/>
              </a:rPr>
              <a:t>Greedy Best-First Search can be used to optimize the parameters of a system in order to achieve the desired result.</a:t>
            </a:r>
          </a:p>
          <a:p>
            <a:pPr algn="just" fontAlgn="base">
              <a:buFont typeface="Arial" panose="020B0604020202020204" pitchFamily="34" charset="0"/>
              <a:buChar char="•"/>
            </a:pPr>
            <a:r>
              <a:rPr lang="en-US" sz="2400" b="1" i="0" dirty="0">
                <a:solidFill>
                  <a:srgbClr val="273239"/>
                </a:solidFill>
                <a:effectLst/>
                <a:latin typeface="Bookman Old Style" panose="02050604050505020204" pitchFamily="18" charset="0"/>
              </a:rPr>
              <a:t>Game AI:</a:t>
            </a:r>
            <a:r>
              <a:rPr lang="en-US" sz="2400" b="0" i="0" dirty="0">
                <a:solidFill>
                  <a:srgbClr val="273239"/>
                </a:solidFill>
                <a:effectLst/>
                <a:latin typeface="Bookman Old Style" panose="02050604050505020204" pitchFamily="18" charset="0"/>
              </a:rPr>
              <a:t> Greedy Best-First Search can be used in game AI to evaluate potential moves and chose the best one.</a:t>
            </a:r>
          </a:p>
          <a:p>
            <a:pPr algn="just" fontAlgn="base">
              <a:buFont typeface="Arial" panose="020B0604020202020204" pitchFamily="34" charset="0"/>
              <a:buChar char="•"/>
            </a:pPr>
            <a:r>
              <a:rPr lang="en-US" sz="2400" b="1" i="0" dirty="0">
                <a:solidFill>
                  <a:srgbClr val="273239"/>
                </a:solidFill>
                <a:effectLst/>
                <a:latin typeface="Bookman Old Style" panose="02050604050505020204" pitchFamily="18" charset="0"/>
              </a:rPr>
              <a:t>Navigation:</a:t>
            </a:r>
            <a:r>
              <a:rPr lang="en-US" sz="2400" b="0" i="0" dirty="0">
                <a:solidFill>
                  <a:srgbClr val="273239"/>
                </a:solidFill>
                <a:effectLst/>
                <a:latin typeface="Bookman Old Style" panose="02050604050505020204" pitchFamily="18" charset="0"/>
              </a:rPr>
              <a:t> Greedy Best-First Search can be use to navigate to find the shortest path between two locations.</a:t>
            </a:r>
          </a:p>
          <a:p>
            <a:pPr algn="just" fontAlgn="base">
              <a:buFont typeface="Arial" panose="020B0604020202020204" pitchFamily="34" charset="0"/>
              <a:buChar char="•"/>
            </a:pPr>
            <a:r>
              <a:rPr lang="en-US" sz="2400" b="1" i="0" dirty="0">
                <a:solidFill>
                  <a:srgbClr val="273239"/>
                </a:solidFill>
                <a:effectLst/>
                <a:latin typeface="Bookman Old Style" panose="02050604050505020204" pitchFamily="18" charset="0"/>
              </a:rPr>
              <a:t>Natural Language Processing: </a:t>
            </a:r>
            <a:r>
              <a:rPr lang="en-US" sz="2400" b="0" i="0" dirty="0">
                <a:solidFill>
                  <a:srgbClr val="273239"/>
                </a:solidFill>
                <a:effectLst/>
                <a:latin typeface="Bookman Old Style" panose="02050604050505020204" pitchFamily="18" charset="0"/>
              </a:rPr>
              <a:t>Greedy Best-First Search can be use in natural language processing tasks such as language translation or speech </a:t>
            </a:r>
            <a:r>
              <a:rPr lang="en-US" sz="2400" b="0" i="0" dirty="0" err="1">
                <a:solidFill>
                  <a:srgbClr val="273239"/>
                </a:solidFill>
                <a:effectLst/>
                <a:latin typeface="Bookman Old Style" panose="02050604050505020204" pitchFamily="18" charset="0"/>
              </a:rPr>
              <a:t>recognisation</a:t>
            </a:r>
            <a:r>
              <a:rPr lang="en-US" sz="2400" b="0" i="0" dirty="0">
                <a:solidFill>
                  <a:srgbClr val="273239"/>
                </a:solidFill>
                <a:effectLst/>
                <a:latin typeface="Bookman Old Style" panose="02050604050505020204" pitchFamily="18" charset="0"/>
              </a:rPr>
              <a:t> to generate the most likely sequence of words.</a:t>
            </a:r>
          </a:p>
          <a:p>
            <a:pPr algn="just" fontAlgn="base">
              <a:buFont typeface="Arial" panose="020B0604020202020204" pitchFamily="34" charset="0"/>
              <a:buChar char="•"/>
            </a:pPr>
            <a:r>
              <a:rPr lang="en-US" sz="2400" b="1" i="0" dirty="0">
                <a:solidFill>
                  <a:srgbClr val="273239"/>
                </a:solidFill>
                <a:effectLst/>
                <a:latin typeface="Bookman Old Style" panose="02050604050505020204" pitchFamily="18" charset="0"/>
              </a:rPr>
              <a:t>Image Processing: </a:t>
            </a:r>
            <a:r>
              <a:rPr lang="en-US" sz="2400" b="0" i="0" dirty="0">
                <a:solidFill>
                  <a:srgbClr val="273239"/>
                </a:solidFill>
                <a:effectLst/>
                <a:latin typeface="Bookman Old Style" panose="02050604050505020204" pitchFamily="18" charset="0"/>
              </a:rPr>
              <a:t>Greedy Best-First Search can be use in image processing to segment image into regions of </a:t>
            </a:r>
            <a:r>
              <a:rPr lang="en-US" sz="2400" b="0" i="0" dirty="0" err="1">
                <a:solidFill>
                  <a:srgbClr val="273239"/>
                </a:solidFill>
                <a:effectLst/>
                <a:latin typeface="Bookman Old Style" panose="02050604050505020204" pitchFamily="18" charset="0"/>
              </a:rPr>
              <a:t>intrest</a:t>
            </a:r>
            <a:r>
              <a:rPr lang="en-US" sz="2400" b="0" i="0" dirty="0">
                <a:solidFill>
                  <a:srgbClr val="273239"/>
                </a:solidFill>
                <a:effectLst/>
                <a:latin typeface="Bookman Old Style" panose="02050604050505020204" pitchFamily="18" charset="0"/>
              </a:rPr>
              <a:t>.</a:t>
            </a:r>
          </a:p>
          <a:p>
            <a:pPr algn="just"/>
            <a:endParaRPr lang="en-US" sz="2400" b="1" dirty="0">
              <a:latin typeface="Bookman Old Style" panose="02050604050505020204" pitchFamily="18" charset="0"/>
            </a:endParaRPr>
          </a:p>
        </p:txBody>
      </p:sp>
      <p:pic>
        <p:nvPicPr>
          <p:cNvPr id="4" name="Picture 3">
            <a:extLst>
              <a:ext uri="{FF2B5EF4-FFF2-40B4-BE49-F238E27FC236}">
                <a16:creationId xmlns:a16="http://schemas.microsoft.com/office/drawing/2014/main" id="{0A5EF682-BBC6-BC89-A815-2405B3BFA89F}"/>
              </a:ext>
            </a:extLst>
          </p:cNvPr>
          <p:cNvPicPr>
            <a:picLocks noChangeAspect="1"/>
          </p:cNvPicPr>
          <p:nvPr/>
        </p:nvPicPr>
        <p:blipFill rotWithShape="1">
          <a:blip r:embed="rId2">
            <a:extLst>
              <a:ext uri="{28A0092B-C50C-407E-A947-70E740481C1C}">
                <a14:useLocalDpi xmlns:a14="http://schemas.microsoft.com/office/drawing/2010/main" val="0"/>
              </a:ext>
            </a:extLst>
          </a:blip>
          <a:srcRect l="7632" t="6513" r="14801" b="12673"/>
          <a:stretch/>
        </p:blipFill>
        <p:spPr>
          <a:xfrm>
            <a:off x="11003168" y="6329803"/>
            <a:ext cx="1002890" cy="342928"/>
          </a:xfrm>
          <a:prstGeom prst="rect">
            <a:avLst/>
          </a:prstGeom>
        </p:spPr>
      </p:pic>
      <p:sp>
        <p:nvSpPr>
          <p:cNvPr id="5" name="TextBox 4">
            <a:extLst>
              <a:ext uri="{FF2B5EF4-FFF2-40B4-BE49-F238E27FC236}">
                <a16:creationId xmlns:a16="http://schemas.microsoft.com/office/drawing/2014/main" id="{CED2CCDC-C02F-B3A1-A3C5-707DECA064F1}"/>
              </a:ext>
            </a:extLst>
          </p:cNvPr>
          <p:cNvSpPr txBox="1"/>
          <p:nvPr/>
        </p:nvSpPr>
        <p:spPr>
          <a:xfrm>
            <a:off x="-30367" y="770057"/>
            <a:ext cx="1741230" cy="369332"/>
          </a:xfrm>
          <a:prstGeom prst="rect">
            <a:avLst/>
          </a:prstGeom>
          <a:noFill/>
        </p:spPr>
        <p:txBody>
          <a:bodyPr wrap="square" rtlCol="0">
            <a:spAutoFit/>
          </a:bodyPr>
          <a:lstStyle/>
          <a:p>
            <a:r>
              <a:rPr lang="en-US" sz="1800" dirty="0">
                <a:solidFill>
                  <a:schemeClr val="bg1"/>
                </a:solidFill>
                <a:effectLst/>
                <a:latin typeface="Bookman Old Style" panose="02050604050505020204" pitchFamily="18" charset="0"/>
                <a:ea typeface="Calibri" panose="020F0502020204030204" pitchFamily="34" charset="0"/>
              </a:rPr>
              <a:t>22AM2305</a:t>
            </a:r>
            <a:endParaRPr lang="en-IN" dirty="0">
              <a:solidFill>
                <a:schemeClr val="bg1"/>
              </a:solidFill>
              <a:latin typeface="Bookman Old Style" panose="02050604050505020204" pitchFamily="18" charset="0"/>
            </a:endParaRPr>
          </a:p>
        </p:txBody>
      </p:sp>
      <p:pic>
        <p:nvPicPr>
          <p:cNvPr id="6" name="Picture 2" descr="logo">
            <a:extLst>
              <a:ext uri="{FF2B5EF4-FFF2-40B4-BE49-F238E27FC236}">
                <a16:creationId xmlns:a16="http://schemas.microsoft.com/office/drawing/2014/main" id="{747D0EEE-BA48-499F-B84C-D20F74CB5DB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52799" y="89593"/>
            <a:ext cx="1070381" cy="1049796"/>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a:extLst>
              <a:ext uri="{FF2B5EF4-FFF2-40B4-BE49-F238E27FC236}">
                <a16:creationId xmlns:a16="http://schemas.microsoft.com/office/drawing/2014/main" id="{B8E50AC5-8D2A-6A5D-796D-B6863CA3B31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123180" y="89593"/>
            <a:ext cx="941000" cy="960203"/>
          </a:xfrm>
          <a:prstGeom prst="rect">
            <a:avLst/>
          </a:prstGeom>
        </p:spPr>
      </p:pic>
    </p:spTree>
    <p:extLst>
      <p:ext uri="{BB962C8B-B14F-4D97-AF65-F5344CB8AC3E}">
        <p14:creationId xmlns:p14="http://schemas.microsoft.com/office/powerpoint/2010/main" val="200439608"/>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47515F-4A58-DFA9-F4DC-FA2F57C2B8AC}"/>
              </a:ext>
            </a:extLst>
          </p:cNvPr>
          <p:cNvSpPr>
            <a:spLocks noGrp="1"/>
          </p:cNvSpPr>
          <p:nvPr>
            <p:ph type="title"/>
          </p:nvPr>
        </p:nvSpPr>
        <p:spPr>
          <a:xfrm>
            <a:off x="1568147" y="129612"/>
            <a:ext cx="8911687" cy="1280890"/>
          </a:xfrm>
        </p:spPr>
        <p:txBody>
          <a:bodyPr/>
          <a:lstStyle/>
          <a:p>
            <a:r>
              <a:rPr lang="en-US" dirty="0"/>
              <a:t>Assignment</a:t>
            </a:r>
          </a:p>
        </p:txBody>
      </p:sp>
      <p:sp>
        <p:nvSpPr>
          <p:cNvPr id="3" name="Content Placeholder 2">
            <a:extLst>
              <a:ext uri="{FF2B5EF4-FFF2-40B4-BE49-F238E27FC236}">
                <a16:creationId xmlns:a16="http://schemas.microsoft.com/office/drawing/2014/main" id="{CD8527A1-EA1C-ABF8-E388-1F26941C7D64}"/>
              </a:ext>
            </a:extLst>
          </p:cNvPr>
          <p:cNvSpPr>
            <a:spLocks noGrp="1"/>
          </p:cNvSpPr>
          <p:nvPr>
            <p:ph idx="1"/>
          </p:nvPr>
        </p:nvSpPr>
        <p:spPr>
          <a:xfrm>
            <a:off x="1042219" y="1579201"/>
            <a:ext cx="10462394" cy="4508742"/>
          </a:xfrm>
        </p:spPr>
        <p:txBody>
          <a:bodyPr>
            <a:normAutofit/>
          </a:bodyPr>
          <a:lstStyle/>
          <a:p>
            <a:pPr algn="just"/>
            <a:r>
              <a:rPr lang="en-US" sz="2400" b="1" dirty="0"/>
              <a:t>Implement code for Depth-Limited Search and Greedy Search.</a:t>
            </a:r>
          </a:p>
          <a:p>
            <a:pPr algn="just"/>
            <a:r>
              <a:rPr lang="en-US" sz="2400" b="1" dirty="0"/>
              <a:t>List the applications, advantages, and disadvantages of all the uninformed &amp; and informed search techniques.</a:t>
            </a:r>
          </a:p>
          <a:p>
            <a:pPr algn="just"/>
            <a:endParaRPr lang="en-US" sz="2400" b="1" dirty="0"/>
          </a:p>
        </p:txBody>
      </p:sp>
      <p:pic>
        <p:nvPicPr>
          <p:cNvPr id="4" name="Picture 3">
            <a:extLst>
              <a:ext uri="{FF2B5EF4-FFF2-40B4-BE49-F238E27FC236}">
                <a16:creationId xmlns:a16="http://schemas.microsoft.com/office/drawing/2014/main" id="{0A5EF682-BBC6-BC89-A815-2405B3BFA89F}"/>
              </a:ext>
            </a:extLst>
          </p:cNvPr>
          <p:cNvPicPr>
            <a:picLocks noChangeAspect="1"/>
          </p:cNvPicPr>
          <p:nvPr/>
        </p:nvPicPr>
        <p:blipFill rotWithShape="1">
          <a:blip r:embed="rId2">
            <a:extLst>
              <a:ext uri="{28A0092B-C50C-407E-A947-70E740481C1C}">
                <a14:useLocalDpi xmlns:a14="http://schemas.microsoft.com/office/drawing/2010/main" val="0"/>
              </a:ext>
            </a:extLst>
          </a:blip>
          <a:srcRect l="7632" t="6513" r="14801" b="12673"/>
          <a:stretch/>
        </p:blipFill>
        <p:spPr>
          <a:xfrm>
            <a:off x="11003168" y="6329803"/>
            <a:ext cx="1002890" cy="342928"/>
          </a:xfrm>
          <a:prstGeom prst="rect">
            <a:avLst/>
          </a:prstGeom>
        </p:spPr>
      </p:pic>
      <p:sp>
        <p:nvSpPr>
          <p:cNvPr id="5" name="TextBox 4">
            <a:extLst>
              <a:ext uri="{FF2B5EF4-FFF2-40B4-BE49-F238E27FC236}">
                <a16:creationId xmlns:a16="http://schemas.microsoft.com/office/drawing/2014/main" id="{CED2CCDC-C02F-B3A1-A3C5-707DECA064F1}"/>
              </a:ext>
            </a:extLst>
          </p:cNvPr>
          <p:cNvSpPr txBox="1"/>
          <p:nvPr/>
        </p:nvSpPr>
        <p:spPr>
          <a:xfrm>
            <a:off x="-30367" y="770057"/>
            <a:ext cx="1741230" cy="369332"/>
          </a:xfrm>
          <a:prstGeom prst="rect">
            <a:avLst/>
          </a:prstGeom>
          <a:noFill/>
        </p:spPr>
        <p:txBody>
          <a:bodyPr wrap="square" rtlCol="0">
            <a:spAutoFit/>
          </a:bodyPr>
          <a:lstStyle/>
          <a:p>
            <a:r>
              <a:rPr lang="en-US" sz="1800" dirty="0">
                <a:solidFill>
                  <a:schemeClr val="bg1"/>
                </a:solidFill>
                <a:effectLst/>
                <a:latin typeface="Bookman Old Style" panose="02050604050505020204" pitchFamily="18" charset="0"/>
                <a:ea typeface="Calibri" panose="020F0502020204030204" pitchFamily="34" charset="0"/>
              </a:rPr>
              <a:t>22AM2305</a:t>
            </a:r>
            <a:endParaRPr lang="en-IN" dirty="0">
              <a:solidFill>
                <a:schemeClr val="bg1"/>
              </a:solidFill>
              <a:latin typeface="Bookman Old Style" panose="02050604050505020204" pitchFamily="18" charset="0"/>
            </a:endParaRPr>
          </a:p>
        </p:txBody>
      </p:sp>
      <p:pic>
        <p:nvPicPr>
          <p:cNvPr id="6" name="Picture 2" descr="logo">
            <a:extLst>
              <a:ext uri="{FF2B5EF4-FFF2-40B4-BE49-F238E27FC236}">
                <a16:creationId xmlns:a16="http://schemas.microsoft.com/office/drawing/2014/main" id="{747D0EEE-BA48-499F-B84C-D20F74CB5DB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52799" y="89593"/>
            <a:ext cx="1070381" cy="1049796"/>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a:extLst>
              <a:ext uri="{FF2B5EF4-FFF2-40B4-BE49-F238E27FC236}">
                <a16:creationId xmlns:a16="http://schemas.microsoft.com/office/drawing/2014/main" id="{B8E50AC5-8D2A-6A5D-796D-B6863CA3B31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123180" y="89593"/>
            <a:ext cx="941000" cy="960203"/>
          </a:xfrm>
          <a:prstGeom prst="rect">
            <a:avLst/>
          </a:prstGeom>
        </p:spPr>
      </p:pic>
    </p:spTree>
    <p:extLst>
      <p:ext uri="{BB962C8B-B14F-4D97-AF65-F5344CB8AC3E}">
        <p14:creationId xmlns:p14="http://schemas.microsoft.com/office/powerpoint/2010/main" val="1638094382"/>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47515F-4A58-DFA9-F4DC-FA2F57C2B8AC}"/>
              </a:ext>
            </a:extLst>
          </p:cNvPr>
          <p:cNvSpPr>
            <a:spLocks noGrp="1"/>
          </p:cNvSpPr>
          <p:nvPr>
            <p:ph type="title"/>
          </p:nvPr>
        </p:nvSpPr>
        <p:spPr>
          <a:xfrm>
            <a:off x="1568147" y="129612"/>
            <a:ext cx="8911687" cy="1280890"/>
          </a:xfrm>
        </p:spPr>
        <p:txBody>
          <a:bodyPr/>
          <a:lstStyle/>
          <a:p>
            <a:r>
              <a:rPr lang="en-US" dirty="0"/>
              <a:t>References</a:t>
            </a:r>
          </a:p>
        </p:txBody>
      </p:sp>
      <p:sp>
        <p:nvSpPr>
          <p:cNvPr id="3" name="Content Placeholder 2">
            <a:extLst>
              <a:ext uri="{FF2B5EF4-FFF2-40B4-BE49-F238E27FC236}">
                <a16:creationId xmlns:a16="http://schemas.microsoft.com/office/drawing/2014/main" id="{CD8527A1-EA1C-ABF8-E388-1F26941C7D64}"/>
              </a:ext>
            </a:extLst>
          </p:cNvPr>
          <p:cNvSpPr>
            <a:spLocks noGrp="1"/>
          </p:cNvSpPr>
          <p:nvPr>
            <p:ph idx="1"/>
          </p:nvPr>
        </p:nvSpPr>
        <p:spPr>
          <a:xfrm>
            <a:off x="1170040" y="1579201"/>
            <a:ext cx="10334573" cy="4508742"/>
          </a:xfrm>
        </p:spPr>
        <p:txBody>
          <a:bodyPr>
            <a:normAutofit fontScale="92500"/>
          </a:bodyPr>
          <a:lstStyle/>
          <a:p>
            <a:pPr marL="0" lvl="0" indent="0">
              <a:lnSpc>
                <a:spcPct val="107000"/>
              </a:lnSpc>
              <a:buNone/>
            </a:pPr>
            <a:r>
              <a:rPr lang="en-US" sz="2400" dirty="0">
                <a:latin typeface="Bookman Old Style" panose="02050604050505020204" pitchFamily="18" charset="0"/>
              </a:rPr>
              <a:t>Text Book:</a:t>
            </a:r>
          </a:p>
          <a:p>
            <a:pPr marL="342900" lvl="0" indent="-342900">
              <a:lnSpc>
                <a:spcPct val="107000"/>
              </a:lnSpc>
              <a:buFont typeface="+mj-lt"/>
              <a:buAutoNum type="arabicPeriod"/>
            </a:pPr>
            <a:r>
              <a:rPr lang="en-US" sz="2400" dirty="0">
                <a:latin typeface="Bookman Old Style" panose="02050604050505020204" pitchFamily="18" charset="0"/>
              </a:rPr>
              <a:t>1. </a:t>
            </a:r>
            <a:r>
              <a:rPr lang="en-IN" sz="2400" dirty="0">
                <a:solidFill>
                  <a:srgbClr val="000000"/>
                </a:solidFill>
                <a:effectLst/>
                <a:latin typeface="Cambria" panose="02040503050406030204" pitchFamily="18" charset="0"/>
                <a:ea typeface="Cambria" panose="02040503050406030204" pitchFamily="18" charset="0"/>
                <a:cs typeface="Cambria" panose="02040503050406030204" pitchFamily="18" charset="0"/>
              </a:rPr>
              <a:t>Artificial Intelligence, George F Luger, Sixth Edition, Pearson Education Publications, 2014. </a:t>
            </a:r>
            <a:endParaRPr lang="en-US" sz="2400" dirty="0">
              <a:effectLst/>
              <a:latin typeface="Calibri" panose="020F0502020204030204" pitchFamily="34" charset="0"/>
              <a:ea typeface="Calibri" panose="020F0502020204030204" pitchFamily="34" charset="0"/>
            </a:endParaRPr>
          </a:p>
          <a:p>
            <a:pPr marL="342900" lvl="0" indent="-342900">
              <a:lnSpc>
                <a:spcPct val="107000"/>
              </a:lnSpc>
              <a:spcAft>
                <a:spcPts val="800"/>
              </a:spcAft>
              <a:buFont typeface="+mj-lt"/>
              <a:buAutoNum type="arabicPeriod"/>
            </a:pPr>
            <a:r>
              <a:rPr lang="en-IN" sz="2400" dirty="0">
                <a:solidFill>
                  <a:srgbClr val="000000"/>
                </a:solidFill>
                <a:effectLst/>
                <a:latin typeface="Cambria" panose="02040503050406030204" pitchFamily="18" charset="0"/>
                <a:ea typeface="Cambria" panose="02040503050406030204" pitchFamily="18" charset="0"/>
                <a:cs typeface="Cambria" panose="02040503050406030204" pitchFamily="18" charset="0"/>
              </a:rPr>
              <a:t>Artificial Intelligence, Elaine Rich and Knight, McGraw-Hill Publications, 2010.</a:t>
            </a:r>
          </a:p>
          <a:p>
            <a:pPr marL="0" indent="0">
              <a:buNone/>
            </a:pPr>
            <a:endParaRPr lang="en-US" sz="2400" dirty="0">
              <a:hlinkClick r:id="rId2"/>
            </a:endParaRPr>
          </a:p>
          <a:p>
            <a:r>
              <a:rPr lang="en-US" sz="2400" dirty="0">
                <a:hlinkClick r:id="rId2"/>
              </a:rPr>
              <a:t>https://www.studocu.com/in/document/visvesvaraya-technological-university/artificial-intelligence/ai-unit-2-searching-techniques/39775680</a:t>
            </a:r>
            <a:r>
              <a:rPr lang="en-US" sz="2400" dirty="0"/>
              <a:t> </a:t>
            </a:r>
          </a:p>
          <a:p>
            <a:r>
              <a:rPr lang="en-US" sz="2400" dirty="0"/>
              <a:t>https://iq.opengenus.org/depth-limited-search/#:~:text=Depth%20Limited%20Search%20is%20carried,goal%20node%20has%20been%20reached.</a:t>
            </a:r>
          </a:p>
        </p:txBody>
      </p:sp>
      <p:pic>
        <p:nvPicPr>
          <p:cNvPr id="4" name="Picture 3">
            <a:extLst>
              <a:ext uri="{FF2B5EF4-FFF2-40B4-BE49-F238E27FC236}">
                <a16:creationId xmlns:a16="http://schemas.microsoft.com/office/drawing/2014/main" id="{0A5EF682-BBC6-BC89-A815-2405B3BFA89F}"/>
              </a:ext>
            </a:extLst>
          </p:cNvPr>
          <p:cNvPicPr>
            <a:picLocks noChangeAspect="1"/>
          </p:cNvPicPr>
          <p:nvPr/>
        </p:nvPicPr>
        <p:blipFill rotWithShape="1">
          <a:blip r:embed="rId3">
            <a:extLst>
              <a:ext uri="{28A0092B-C50C-407E-A947-70E740481C1C}">
                <a14:useLocalDpi xmlns:a14="http://schemas.microsoft.com/office/drawing/2010/main" val="0"/>
              </a:ext>
            </a:extLst>
          </a:blip>
          <a:srcRect l="7632" t="6513" r="14801" b="12673"/>
          <a:stretch/>
        </p:blipFill>
        <p:spPr>
          <a:xfrm>
            <a:off x="11003168" y="6329803"/>
            <a:ext cx="1002890" cy="342928"/>
          </a:xfrm>
          <a:prstGeom prst="rect">
            <a:avLst/>
          </a:prstGeom>
        </p:spPr>
      </p:pic>
      <p:sp>
        <p:nvSpPr>
          <p:cNvPr id="5" name="TextBox 4">
            <a:extLst>
              <a:ext uri="{FF2B5EF4-FFF2-40B4-BE49-F238E27FC236}">
                <a16:creationId xmlns:a16="http://schemas.microsoft.com/office/drawing/2014/main" id="{CED2CCDC-C02F-B3A1-A3C5-707DECA064F1}"/>
              </a:ext>
            </a:extLst>
          </p:cNvPr>
          <p:cNvSpPr txBox="1"/>
          <p:nvPr/>
        </p:nvSpPr>
        <p:spPr>
          <a:xfrm>
            <a:off x="-30367" y="770057"/>
            <a:ext cx="1741230" cy="369332"/>
          </a:xfrm>
          <a:prstGeom prst="rect">
            <a:avLst/>
          </a:prstGeom>
          <a:noFill/>
        </p:spPr>
        <p:txBody>
          <a:bodyPr wrap="square" rtlCol="0">
            <a:spAutoFit/>
          </a:bodyPr>
          <a:lstStyle/>
          <a:p>
            <a:r>
              <a:rPr lang="en-US" sz="1800" dirty="0">
                <a:solidFill>
                  <a:schemeClr val="bg1"/>
                </a:solidFill>
                <a:effectLst/>
                <a:latin typeface="Bookman Old Style" panose="02050604050505020204" pitchFamily="18" charset="0"/>
                <a:ea typeface="Calibri" panose="020F0502020204030204" pitchFamily="34" charset="0"/>
              </a:rPr>
              <a:t>22AM2305</a:t>
            </a:r>
            <a:endParaRPr lang="en-IN" dirty="0">
              <a:solidFill>
                <a:schemeClr val="bg1"/>
              </a:solidFill>
              <a:latin typeface="Bookman Old Style" panose="02050604050505020204" pitchFamily="18" charset="0"/>
            </a:endParaRPr>
          </a:p>
        </p:txBody>
      </p:sp>
      <p:pic>
        <p:nvPicPr>
          <p:cNvPr id="6" name="Picture 2" descr="logo">
            <a:extLst>
              <a:ext uri="{FF2B5EF4-FFF2-40B4-BE49-F238E27FC236}">
                <a16:creationId xmlns:a16="http://schemas.microsoft.com/office/drawing/2014/main" id="{747D0EEE-BA48-499F-B84C-D20F74CB5DB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052799" y="89593"/>
            <a:ext cx="1070381" cy="1049796"/>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a:extLst>
              <a:ext uri="{FF2B5EF4-FFF2-40B4-BE49-F238E27FC236}">
                <a16:creationId xmlns:a16="http://schemas.microsoft.com/office/drawing/2014/main" id="{B8E50AC5-8D2A-6A5D-796D-B6863CA3B31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123180" y="89593"/>
            <a:ext cx="941000" cy="960203"/>
          </a:xfrm>
          <a:prstGeom prst="rect">
            <a:avLst/>
          </a:prstGeom>
        </p:spPr>
      </p:pic>
    </p:spTree>
    <p:extLst>
      <p:ext uri="{BB962C8B-B14F-4D97-AF65-F5344CB8AC3E}">
        <p14:creationId xmlns:p14="http://schemas.microsoft.com/office/powerpoint/2010/main" val="3678039492"/>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9511E96-7328-4CC5-9DB0-6C782798ECDE}"/>
              </a:ext>
            </a:extLst>
          </p:cNvPr>
          <p:cNvPicPr>
            <a:picLocks noChangeAspect="1"/>
          </p:cNvPicPr>
          <p:nvPr/>
        </p:nvPicPr>
        <p:blipFill rotWithShape="1">
          <a:blip r:embed="rId2">
            <a:extLst>
              <a:ext uri="{28A0092B-C50C-407E-A947-70E740481C1C}">
                <a14:useLocalDpi xmlns:a14="http://schemas.microsoft.com/office/drawing/2010/main" val="0"/>
              </a:ext>
            </a:extLst>
          </a:blip>
          <a:srcRect l="7632" t="6513" r="14801" b="12673"/>
          <a:stretch/>
        </p:blipFill>
        <p:spPr>
          <a:xfrm>
            <a:off x="10934342" y="177582"/>
            <a:ext cx="1002890" cy="342928"/>
          </a:xfrm>
          <a:prstGeom prst="rect">
            <a:avLst/>
          </a:prstGeom>
        </p:spPr>
      </p:pic>
      <p:sp>
        <p:nvSpPr>
          <p:cNvPr id="5" name="TextBox 4">
            <a:extLst>
              <a:ext uri="{FF2B5EF4-FFF2-40B4-BE49-F238E27FC236}">
                <a16:creationId xmlns:a16="http://schemas.microsoft.com/office/drawing/2014/main" id="{51016EA1-9D6F-4820-934C-89E8CFCBC761}"/>
              </a:ext>
            </a:extLst>
          </p:cNvPr>
          <p:cNvSpPr txBox="1"/>
          <p:nvPr/>
        </p:nvSpPr>
        <p:spPr>
          <a:xfrm>
            <a:off x="137652" y="796413"/>
            <a:ext cx="1091381" cy="383459"/>
          </a:xfrm>
          <a:prstGeom prst="rect">
            <a:avLst/>
          </a:prstGeom>
          <a:noFill/>
        </p:spPr>
        <p:txBody>
          <a:bodyPr wrap="square" rtlCol="0">
            <a:spAutoFit/>
          </a:bodyPr>
          <a:lstStyle/>
          <a:p>
            <a:r>
              <a:rPr lang="en-US" dirty="0">
                <a:latin typeface="Bookman Old Style" panose="02050604050505020204" pitchFamily="18" charset="0"/>
              </a:rPr>
              <a:t>ME-1</a:t>
            </a:r>
            <a:endParaRPr lang="en-IN" dirty="0">
              <a:latin typeface="Bookman Old Style" panose="02050604050505020204" pitchFamily="18" charset="0"/>
            </a:endParaRPr>
          </a:p>
        </p:txBody>
      </p:sp>
      <p:pic>
        <p:nvPicPr>
          <p:cNvPr id="5122" name="Picture 2" descr="Thank You CAC Champagne Text Title Free Stock Photo - Public Domain Pictures">
            <a:extLst>
              <a:ext uri="{FF2B5EF4-FFF2-40B4-BE49-F238E27FC236}">
                <a16:creationId xmlns:a16="http://schemas.microsoft.com/office/drawing/2014/main" id="{FCC31321-EE2C-4E9C-8AD3-22EB8552B1D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90101" y="1921208"/>
            <a:ext cx="5347635" cy="301558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95193551"/>
      </p:ext>
    </p:extLst>
  </p:cSld>
  <p:clrMapOvr>
    <a:masterClrMapping/>
  </p:clrMapOvr>
</p:sld>
</file>

<file path=ppt/theme/theme1.xml><?xml version="1.0" encoding="utf-8"?>
<a:theme xmlns:a="http://schemas.openxmlformats.org/drawingml/2006/main" name="Wisp">
  <a:themeElements>
    <a:clrScheme name="Red Orange">
      <a:dk1>
        <a:sysClr val="windowText" lastClr="000000"/>
      </a:dk1>
      <a:lt1>
        <a:sysClr val="window" lastClr="FFFFFF"/>
      </a:lt1>
      <a:dk2>
        <a:srgbClr val="505046"/>
      </a:dk2>
      <a:lt2>
        <a:srgbClr val="EEECE1"/>
      </a:lt2>
      <a:accent1>
        <a:srgbClr val="E84C22"/>
      </a:accent1>
      <a:accent2>
        <a:srgbClr val="FFBD47"/>
      </a:accent2>
      <a:accent3>
        <a:srgbClr val="B64926"/>
      </a:accent3>
      <a:accent4>
        <a:srgbClr val="FF8427"/>
      </a:accent4>
      <a:accent5>
        <a:srgbClr val="CC9900"/>
      </a:accent5>
      <a:accent6>
        <a:srgbClr val="B22600"/>
      </a:accent6>
      <a:hlink>
        <a:srgbClr val="CC9900"/>
      </a:hlink>
      <a:folHlink>
        <a:srgbClr val="666699"/>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Wisp</Template>
  <TotalTime>8719</TotalTime>
  <Words>6140</Words>
  <Application>Microsoft Office PowerPoint</Application>
  <PresentationFormat>Widescreen</PresentationFormat>
  <Paragraphs>755</Paragraphs>
  <Slides>74</Slides>
  <Notes>0</Notes>
  <HiddenSlides>0</HiddenSlides>
  <MMClips>0</MMClips>
  <ScaleCrop>false</ScaleCrop>
  <HeadingPairs>
    <vt:vector size="6" baseType="variant">
      <vt:variant>
        <vt:lpstr>Fonts Used</vt:lpstr>
      </vt:variant>
      <vt:variant>
        <vt:i4>19</vt:i4>
      </vt:variant>
      <vt:variant>
        <vt:lpstr>Theme</vt:lpstr>
      </vt:variant>
      <vt:variant>
        <vt:i4>1</vt:i4>
      </vt:variant>
      <vt:variant>
        <vt:lpstr>Slide Titles</vt:lpstr>
      </vt:variant>
      <vt:variant>
        <vt:i4>74</vt:i4>
      </vt:variant>
    </vt:vector>
  </HeadingPairs>
  <TitlesOfParts>
    <vt:vector size="94" baseType="lpstr">
      <vt:lpstr>Apercu</vt:lpstr>
      <vt:lpstr>erdana</vt:lpstr>
      <vt:lpstr>ff1</vt:lpstr>
      <vt:lpstr>inter-bold</vt:lpstr>
      <vt:lpstr>inter-regular</vt:lpstr>
      <vt:lpstr>Arial</vt:lpstr>
      <vt:lpstr>Bookman Old Style</vt:lpstr>
      <vt:lpstr>Calibri</vt:lpstr>
      <vt:lpstr>Cambria</vt:lpstr>
      <vt:lpstr>Century Gothic</vt:lpstr>
      <vt:lpstr>Lucida Sans Unicode</vt:lpstr>
      <vt:lpstr>Nunito</vt:lpstr>
      <vt:lpstr>Palatino Linotype</vt:lpstr>
      <vt:lpstr>Poppins</vt:lpstr>
      <vt:lpstr>Rockwell</vt:lpstr>
      <vt:lpstr>Source Sans Pro</vt:lpstr>
      <vt:lpstr>Times New Roman</vt:lpstr>
      <vt:lpstr>Trebuchet MS</vt:lpstr>
      <vt:lpstr>Wingdings 3</vt:lpstr>
      <vt:lpstr>Wisp</vt:lpstr>
      <vt:lpstr>ARTIFICIAL INTELLIGENCE </vt:lpstr>
      <vt:lpstr>Course Learning Objectives </vt:lpstr>
      <vt:lpstr>Course Outcome</vt:lpstr>
      <vt:lpstr>PowerPoint Presentation</vt:lpstr>
      <vt:lpstr>Teaching-Learning Process (General Instructions) </vt:lpstr>
      <vt:lpstr>PowerPoint Presentation</vt:lpstr>
      <vt:lpstr>PowerPoint Presentation</vt:lpstr>
      <vt:lpstr>PowerPoint Presentation</vt:lpstr>
      <vt:lpstr>PEO'S </vt:lpstr>
      <vt:lpstr>PO'S</vt:lpstr>
      <vt:lpstr>PSO'S</vt:lpstr>
      <vt:lpstr>PowerPoint Presentation</vt:lpstr>
      <vt:lpstr>PowerPoint Presentation</vt:lpstr>
      <vt:lpstr>PowerPoint Presentation</vt:lpstr>
      <vt:lpstr>Unit 2: Basic Search Techniques</vt:lpstr>
      <vt:lpstr>Basic Search Techniques</vt:lpstr>
      <vt:lpstr>What is a search algorithm?</vt:lpstr>
      <vt:lpstr>Importance of search algorithms </vt:lpstr>
      <vt:lpstr>Properties of search algorithms</vt:lpstr>
      <vt:lpstr>How search algorithms work</vt:lpstr>
      <vt:lpstr>Defining the problem</vt:lpstr>
      <vt:lpstr>Types of search algorithms: </vt:lpstr>
      <vt:lpstr>Informed Search</vt:lpstr>
      <vt:lpstr>Uninformed Search</vt:lpstr>
      <vt:lpstr>PowerPoint Presentation</vt:lpstr>
      <vt:lpstr>PowerPoint Presentation</vt:lpstr>
      <vt:lpstr>PowerPoint Presentation</vt:lpstr>
      <vt:lpstr>Uniformed/Blind Search</vt:lpstr>
      <vt:lpstr>Uniformed/Blind Search Divided into five main types</vt:lpstr>
      <vt:lpstr>Breadth-first Search (BFS)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How does BFS work?</vt:lpstr>
      <vt:lpstr>How does BFS work?</vt:lpstr>
      <vt:lpstr>BFS implementation</vt:lpstr>
      <vt:lpstr>BFS implementation</vt:lpstr>
      <vt:lpstr>Depth first search </vt:lpstr>
      <vt:lpstr>PowerPoint Presentation</vt:lpstr>
      <vt:lpstr>PowerPoint Presentation</vt:lpstr>
      <vt:lpstr>PowerPoint Presentation</vt:lpstr>
      <vt:lpstr>PowerPoint Presentation</vt:lpstr>
      <vt:lpstr>Example on DFS</vt:lpstr>
      <vt:lpstr>PowerPoint Presentation</vt:lpstr>
      <vt:lpstr>PowerPoint Presentation</vt:lpstr>
      <vt:lpstr>PowerPoint Presentation</vt:lpstr>
      <vt:lpstr>PowerPoint Presentation</vt:lpstr>
      <vt:lpstr>PowerPoint Presentation</vt:lpstr>
      <vt:lpstr>Applications </vt:lpstr>
      <vt:lpstr>Depth limited search </vt:lpstr>
      <vt:lpstr>PowerPoint Presentation</vt:lpstr>
      <vt:lpstr>Bidirectional search</vt:lpstr>
      <vt:lpstr>PowerPoint Presentation</vt:lpstr>
      <vt:lpstr>Best First search </vt:lpstr>
      <vt:lpstr>PowerPoint Presentation</vt:lpstr>
      <vt:lpstr>PowerPoint Presentation</vt:lpstr>
      <vt:lpstr>Best-first Search Algorithm (Greedy Search):</vt:lpstr>
      <vt:lpstr>Example Consider finding the path from P to S in the following graph: </vt:lpstr>
      <vt:lpstr>PowerPoint Presentation</vt:lpstr>
      <vt:lpstr>PowerPoint Presentation</vt:lpstr>
      <vt:lpstr>PowerPoint Presentation</vt:lpstr>
      <vt:lpstr>Advantages of Greedy Best-First Search: </vt:lpstr>
      <vt:lpstr>Disadvantages of Greedy Best-First Search: </vt:lpstr>
      <vt:lpstr>Applications of Greedy Best-First Search: </vt:lpstr>
      <vt:lpstr>Assignment</vt:lpstr>
      <vt:lpstr>References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MANAGEMENT AND ENTREPRENEURSHIP FOR IT INDUSTRY</dc:title>
  <dc:creator>PRADEEP KUMAR K</dc:creator>
  <cp:lastModifiedBy>Nagarjuna Naik</cp:lastModifiedBy>
  <cp:revision>437</cp:revision>
  <dcterms:created xsi:type="dcterms:W3CDTF">2021-09-30T03:11:36Z</dcterms:created>
  <dcterms:modified xsi:type="dcterms:W3CDTF">2025-03-03T09:11:57Z</dcterms:modified>
</cp:coreProperties>
</file>