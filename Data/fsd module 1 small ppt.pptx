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3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15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255" autoAdjust="0"/>
  </p:normalViewPr>
  <p:slideViewPr>
    <p:cSldViewPr>
      <p:cViewPr varScale="1">
        <p:scale>
          <a:sx n="63" d="100"/>
          <a:sy n="63" d="100"/>
        </p:scale>
        <p:origin x="1426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7242F-9461-4971-AD95-6EDCC688E21C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D0EB1-8723-49F5-B324-D2AFFADF5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302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opening </a:t>
            </a:r>
            <a:r>
              <a:rPr lang="en-US" b="1" dirty="0"/>
              <a:t>HTML</a:t>
            </a:r>
            <a:r>
              <a:rPr lang="en-US" dirty="0"/>
              <a:t> tag that defines the start of an HTML document.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lang="</a:t>
            </a:r>
            <a:r>
              <a:rPr lang="en-US" b="1" dirty="0" err="1"/>
              <a:t>en</a:t>
            </a:r>
            <a:r>
              <a:rPr lang="en-US" b="1" dirty="0"/>
              <a:t>"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</a:t>
            </a:r>
            <a:r>
              <a:rPr lang="en-US" b="1" dirty="0"/>
              <a:t>attribute</a:t>
            </a:r>
            <a:r>
              <a:rPr lang="en-US" dirty="0"/>
              <a:t> specifies the </a:t>
            </a:r>
            <a:r>
              <a:rPr lang="en-US" b="1" dirty="0"/>
              <a:t>language</a:t>
            </a:r>
            <a:r>
              <a:rPr lang="en-US" dirty="0"/>
              <a:t> of the webpage content.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"</a:t>
            </a:r>
            <a:r>
              <a:rPr lang="en-US" dirty="0" err="1"/>
              <a:t>en</a:t>
            </a:r>
            <a:r>
              <a:rPr lang="en-US" dirty="0"/>
              <a:t>" stands for </a:t>
            </a:r>
            <a:r>
              <a:rPr lang="en-US" b="1" dirty="0"/>
              <a:t>English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D0EB1-8723-49F5-B324-D2AFFADF5FA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72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14191" y="262508"/>
            <a:ext cx="625348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29-11-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pPr marL="115570">
                <a:lnSpc>
                  <a:spcPts val="124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29-11-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pPr marL="115570">
                <a:lnSpc>
                  <a:spcPts val="124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0936" y="1460119"/>
            <a:ext cx="4557395" cy="4678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29-11-</a:t>
            </a:r>
            <a:r>
              <a:rPr spc="-20" dirty="0"/>
              <a:t>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pPr marL="115570">
                <a:lnSpc>
                  <a:spcPts val="124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29-11-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pPr marL="115570">
                <a:lnSpc>
                  <a:spcPts val="124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0367" y="133578"/>
            <a:ext cx="1460500" cy="46789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29-11-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pPr marL="115570">
                <a:lnSpc>
                  <a:spcPts val="124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67888" y="103758"/>
            <a:ext cx="654430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1652" y="1221613"/>
            <a:ext cx="11085830" cy="4345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6939" y="6464909"/>
            <a:ext cx="74231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29-11-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811" y="6464909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pPr marL="115570">
                <a:lnSpc>
                  <a:spcPts val="1240"/>
                </a:lnSpc>
              </a:pPr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0221" y="342391"/>
            <a:ext cx="59836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77135" algn="l"/>
                <a:tab pos="3779520" algn="l"/>
              </a:tabLst>
            </a:pPr>
            <a:r>
              <a:rPr spc="170" dirty="0">
                <a:solidFill>
                  <a:srgbClr val="4471C4"/>
                </a:solidFill>
              </a:rPr>
              <a:t>Dayananda</a:t>
            </a:r>
            <a:r>
              <a:rPr dirty="0">
                <a:solidFill>
                  <a:srgbClr val="4471C4"/>
                </a:solidFill>
              </a:rPr>
              <a:t>	</a:t>
            </a:r>
            <a:r>
              <a:rPr spc="170" dirty="0">
                <a:solidFill>
                  <a:srgbClr val="4471C4"/>
                </a:solidFill>
              </a:rPr>
              <a:t>Sagar</a:t>
            </a:r>
            <a:r>
              <a:rPr dirty="0">
                <a:solidFill>
                  <a:srgbClr val="4471C4"/>
                </a:solidFill>
              </a:rPr>
              <a:t>	</a:t>
            </a:r>
            <a:r>
              <a:rPr spc="160" dirty="0">
                <a:solidFill>
                  <a:srgbClr val="4471C4"/>
                </a:solidFill>
              </a:rPr>
              <a:t>University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0274" y="833119"/>
            <a:ext cx="10124440" cy="41620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800" b="1" spc="195" dirty="0">
                <a:solidFill>
                  <a:srgbClr val="006FC0"/>
                </a:solidFill>
                <a:latin typeface="Cambria"/>
                <a:cs typeface="Cambria"/>
              </a:rPr>
              <a:t>School</a:t>
            </a:r>
            <a:r>
              <a:rPr sz="2800" b="1" spc="34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800" b="1" spc="135" dirty="0">
                <a:solidFill>
                  <a:srgbClr val="006FC0"/>
                </a:solidFill>
                <a:latin typeface="Cambria"/>
                <a:cs typeface="Cambria"/>
              </a:rPr>
              <a:t>of</a:t>
            </a:r>
            <a:r>
              <a:rPr sz="2800" b="1" spc="34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800" b="1" spc="145" dirty="0">
                <a:solidFill>
                  <a:srgbClr val="006FC0"/>
                </a:solidFill>
                <a:latin typeface="Cambria"/>
                <a:cs typeface="Cambria"/>
              </a:rPr>
              <a:t>Engineering</a:t>
            </a:r>
            <a:endParaRPr sz="28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800" b="1" spc="85" dirty="0">
                <a:latin typeface="Cambria"/>
                <a:cs typeface="Cambria"/>
              </a:rPr>
              <a:t>Devarakaggalahalli,</a:t>
            </a:r>
            <a:r>
              <a:rPr sz="1800" b="1" spc="275" dirty="0">
                <a:latin typeface="Cambria"/>
                <a:cs typeface="Cambria"/>
              </a:rPr>
              <a:t> </a:t>
            </a:r>
            <a:r>
              <a:rPr sz="1800" b="1" spc="80" dirty="0">
                <a:latin typeface="Cambria"/>
                <a:cs typeface="Cambria"/>
              </a:rPr>
              <a:t>Harohalli</a:t>
            </a:r>
            <a:r>
              <a:rPr sz="1800" b="1" spc="250" dirty="0">
                <a:latin typeface="Cambria"/>
                <a:cs typeface="Cambria"/>
              </a:rPr>
              <a:t> </a:t>
            </a:r>
            <a:r>
              <a:rPr sz="1800" b="1" spc="85" dirty="0">
                <a:latin typeface="Cambria"/>
                <a:cs typeface="Cambria"/>
              </a:rPr>
              <a:t>Kanakapura</a:t>
            </a:r>
            <a:r>
              <a:rPr sz="1800" b="1" spc="260" dirty="0">
                <a:latin typeface="Cambria"/>
                <a:cs typeface="Cambria"/>
              </a:rPr>
              <a:t> </a:t>
            </a:r>
            <a:r>
              <a:rPr sz="1800" b="1" spc="125" dirty="0">
                <a:latin typeface="Cambria"/>
                <a:cs typeface="Cambria"/>
              </a:rPr>
              <a:t>Road,</a:t>
            </a:r>
            <a:r>
              <a:rPr sz="1800" b="1" spc="245" dirty="0">
                <a:latin typeface="Cambria"/>
                <a:cs typeface="Cambria"/>
              </a:rPr>
              <a:t> </a:t>
            </a:r>
            <a:r>
              <a:rPr sz="1800" b="1" spc="160" dirty="0">
                <a:latin typeface="Cambria"/>
                <a:cs typeface="Cambria"/>
              </a:rPr>
              <a:t>Dt,</a:t>
            </a:r>
            <a:r>
              <a:rPr sz="1800" b="1" spc="220" dirty="0">
                <a:latin typeface="Cambria"/>
                <a:cs typeface="Cambria"/>
              </a:rPr>
              <a:t> </a:t>
            </a:r>
            <a:r>
              <a:rPr sz="1800" b="1" spc="105" dirty="0">
                <a:latin typeface="Cambria"/>
                <a:cs typeface="Cambria"/>
              </a:rPr>
              <a:t>Ramanagara,</a:t>
            </a:r>
            <a:r>
              <a:rPr sz="1800" b="1" spc="280" dirty="0">
                <a:latin typeface="Cambria"/>
                <a:cs typeface="Cambria"/>
              </a:rPr>
              <a:t> </a:t>
            </a:r>
            <a:r>
              <a:rPr sz="1800" b="1" spc="95" dirty="0">
                <a:latin typeface="Cambria"/>
                <a:cs typeface="Cambria"/>
              </a:rPr>
              <a:t>Karnataka</a:t>
            </a:r>
            <a:r>
              <a:rPr sz="1800" b="1" spc="250" dirty="0">
                <a:latin typeface="Cambria"/>
                <a:cs typeface="Cambria"/>
              </a:rPr>
              <a:t> </a:t>
            </a:r>
            <a:r>
              <a:rPr sz="1800" b="1" spc="100" dirty="0">
                <a:latin typeface="Cambria"/>
                <a:cs typeface="Cambria"/>
              </a:rPr>
              <a:t>562112</a:t>
            </a:r>
            <a:endParaRPr sz="1800" dirty="0">
              <a:latin typeface="Cambria"/>
              <a:cs typeface="Cambria"/>
            </a:endParaRPr>
          </a:p>
          <a:p>
            <a:pPr marR="190500" algn="ctr">
              <a:lnSpc>
                <a:spcPct val="100000"/>
              </a:lnSpc>
              <a:spcBef>
                <a:spcPts val="1885"/>
              </a:spcBef>
            </a:pPr>
            <a:r>
              <a:rPr sz="2000" b="1" spc="120" dirty="0">
                <a:latin typeface="Cambria"/>
                <a:cs typeface="Cambria"/>
              </a:rPr>
              <a:t>Department</a:t>
            </a:r>
            <a:r>
              <a:rPr sz="2000" b="1" spc="220" dirty="0">
                <a:latin typeface="Cambria"/>
                <a:cs typeface="Cambria"/>
              </a:rPr>
              <a:t> </a:t>
            </a:r>
            <a:r>
              <a:rPr sz="2000" b="1" spc="105" dirty="0">
                <a:latin typeface="Cambria"/>
                <a:cs typeface="Cambria"/>
              </a:rPr>
              <a:t>of</a:t>
            </a:r>
            <a:r>
              <a:rPr sz="2000" b="1" spc="240" dirty="0">
                <a:latin typeface="Cambria"/>
                <a:cs typeface="Cambria"/>
              </a:rPr>
              <a:t> </a:t>
            </a:r>
            <a:r>
              <a:rPr sz="2000" b="1" spc="135" dirty="0">
                <a:latin typeface="Cambria"/>
                <a:cs typeface="Cambria"/>
              </a:rPr>
              <a:t>Computer</a:t>
            </a:r>
            <a:r>
              <a:rPr sz="2000" b="1" spc="210" dirty="0">
                <a:latin typeface="Cambria"/>
                <a:cs typeface="Cambria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Science</a:t>
            </a:r>
            <a:r>
              <a:rPr sz="2000" b="1" spc="260" dirty="0">
                <a:latin typeface="Cambria"/>
                <a:cs typeface="Cambria"/>
              </a:rPr>
              <a:t> </a:t>
            </a:r>
            <a:r>
              <a:rPr sz="2000" b="1" spc="114" dirty="0">
                <a:latin typeface="Cambria"/>
                <a:cs typeface="Cambria"/>
              </a:rPr>
              <a:t>&amp;</a:t>
            </a:r>
            <a:r>
              <a:rPr sz="2000" b="1" spc="235" dirty="0">
                <a:latin typeface="Cambria"/>
                <a:cs typeface="Cambria"/>
              </a:rPr>
              <a:t> </a:t>
            </a:r>
            <a:r>
              <a:rPr sz="2000" b="1" spc="105" dirty="0">
                <a:latin typeface="Cambria"/>
                <a:cs typeface="Cambria"/>
              </a:rPr>
              <a:t>Engineering</a:t>
            </a:r>
            <a:endParaRPr sz="2000" dirty="0">
              <a:latin typeface="Cambria"/>
              <a:cs typeface="Cambria"/>
            </a:endParaRPr>
          </a:p>
          <a:p>
            <a:pPr marR="191135" algn="ctr">
              <a:lnSpc>
                <a:spcPct val="100000"/>
              </a:lnSpc>
            </a:pPr>
            <a:r>
              <a:rPr sz="2000" b="1" spc="80" dirty="0">
                <a:latin typeface="Cambria"/>
                <a:cs typeface="Cambria"/>
              </a:rPr>
              <a:t>(Artificial</a:t>
            </a:r>
            <a:r>
              <a:rPr sz="2000" b="1" spc="240" dirty="0">
                <a:latin typeface="Cambria"/>
                <a:cs typeface="Cambria"/>
              </a:rPr>
              <a:t> </a:t>
            </a:r>
            <a:r>
              <a:rPr sz="2000" b="1" spc="114" dirty="0">
                <a:latin typeface="Cambria"/>
                <a:cs typeface="Cambria"/>
              </a:rPr>
              <a:t>Intelligence</a:t>
            </a:r>
            <a:r>
              <a:rPr sz="2000" b="1" spc="229" dirty="0">
                <a:latin typeface="Cambria"/>
                <a:cs typeface="Cambria"/>
              </a:rPr>
              <a:t> </a:t>
            </a:r>
            <a:r>
              <a:rPr sz="2000" b="1" spc="114" dirty="0">
                <a:latin typeface="Cambria"/>
                <a:cs typeface="Cambria"/>
              </a:rPr>
              <a:t>&amp;</a:t>
            </a:r>
            <a:r>
              <a:rPr sz="2000" b="1" spc="229" dirty="0">
                <a:latin typeface="Cambria"/>
                <a:cs typeface="Cambria"/>
              </a:rPr>
              <a:t> </a:t>
            </a:r>
            <a:r>
              <a:rPr sz="2000" b="1" spc="130" dirty="0">
                <a:latin typeface="Cambria"/>
                <a:cs typeface="Cambria"/>
              </a:rPr>
              <a:t>Machine</a:t>
            </a:r>
            <a:r>
              <a:rPr sz="2000" b="1" spc="235" dirty="0">
                <a:latin typeface="Cambria"/>
                <a:cs typeface="Cambria"/>
              </a:rPr>
              <a:t> </a:t>
            </a:r>
            <a:r>
              <a:rPr sz="2000" b="1" spc="60" dirty="0">
                <a:latin typeface="Cambria"/>
                <a:cs typeface="Cambria"/>
              </a:rPr>
              <a:t>Learning)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85"/>
              </a:spcBef>
            </a:pPr>
            <a:endParaRPr sz="2000" dirty="0">
              <a:latin typeface="Cambria"/>
              <a:cs typeface="Cambria"/>
            </a:endParaRPr>
          </a:p>
          <a:p>
            <a:pPr marL="148590" algn="ctr">
              <a:lnSpc>
                <a:spcPct val="100000"/>
              </a:lnSpc>
              <a:spcBef>
                <a:spcPts val="5"/>
              </a:spcBef>
              <a:tabLst>
                <a:tab pos="2138680" algn="l"/>
                <a:tab pos="3382645" algn="l"/>
              </a:tabLst>
            </a:pPr>
            <a:r>
              <a:rPr lang="en-IN" sz="3600" b="1" dirty="0"/>
              <a:t>FULL STACK DEVELOPMENT</a:t>
            </a:r>
          </a:p>
          <a:p>
            <a:pPr marL="148590" algn="ctr">
              <a:lnSpc>
                <a:spcPct val="100000"/>
              </a:lnSpc>
              <a:spcBef>
                <a:spcPts val="5"/>
              </a:spcBef>
              <a:tabLst>
                <a:tab pos="2138680" algn="l"/>
                <a:tab pos="3382645" algn="l"/>
              </a:tabLst>
            </a:pPr>
            <a:r>
              <a:rPr lang="en-IN" sz="3600" b="1" dirty="0"/>
              <a:t>Module-1</a:t>
            </a:r>
          </a:p>
          <a:p>
            <a:pPr marL="148590" algn="ctr">
              <a:lnSpc>
                <a:spcPct val="100000"/>
              </a:lnSpc>
              <a:spcBef>
                <a:spcPts val="5"/>
              </a:spcBef>
              <a:tabLst>
                <a:tab pos="2138680" algn="l"/>
                <a:tab pos="3382645" algn="l"/>
              </a:tabLst>
            </a:pPr>
            <a:endParaRPr lang="en-IN" sz="3600" b="1" dirty="0"/>
          </a:p>
          <a:p>
            <a:pPr marL="148590" algn="ctr">
              <a:lnSpc>
                <a:spcPct val="100000"/>
              </a:lnSpc>
              <a:spcBef>
                <a:spcPts val="5"/>
              </a:spcBef>
              <a:tabLst>
                <a:tab pos="2138680" algn="l"/>
                <a:tab pos="3382645" algn="l"/>
              </a:tabLst>
            </a:pPr>
            <a:r>
              <a:rPr sz="2400" b="1" spc="290" dirty="0">
                <a:latin typeface="Cambria"/>
                <a:cs typeface="Cambria"/>
              </a:rPr>
              <a:t>SEMESTER</a:t>
            </a:r>
            <a:r>
              <a:rPr sz="2400" b="1" spc="254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–</a:t>
            </a:r>
            <a:r>
              <a:rPr sz="2400" b="1" spc="280" dirty="0">
                <a:latin typeface="Cambria"/>
                <a:cs typeface="Cambria"/>
              </a:rPr>
              <a:t> </a:t>
            </a:r>
            <a:r>
              <a:rPr lang="en-IN" sz="2400" b="1" spc="280" dirty="0">
                <a:latin typeface="Cambria"/>
                <a:cs typeface="Cambria"/>
              </a:rPr>
              <a:t>I</a:t>
            </a:r>
            <a:r>
              <a:rPr sz="2400" b="1" spc="145" dirty="0">
                <a:latin typeface="Cambria"/>
                <a:cs typeface="Cambria"/>
              </a:rPr>
              <a:t>V</a:t>
            </a:r>
            <a:endParaRPr sz="24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51793" y="412889"/>
            <a:ext cx="733744" cy="7517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5125" y="443255"/>
            <a:ext cx="2226183" cy="7132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07000" y="-33400"/>
            <a:ext cx="23749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400" spc="335" dirty="0">
                <a:latin typeface="Cambria"/>
                <a:cs typeface="Cambria"/>
              </a:rPr>
              <a:t>Topics</a:t>
            </a:r>
            <a:endParaRPr sz="44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0367" y="133578"/>
            <a:ext cx="1460500" cy="467893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59752" y="1066800"/>
          <a:ext cx="10996930" cy="55550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96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61">
                <a:tc>
                  <a:txBody>
                    <a:bodyPr/>
                    <a:lstStyle/>
                    <a:p>
                      <a:pPr algn="ctr">
                        <a:lnSpc>
                          <a:spcPts val="3265"/>
                        </a:lnSpc>
                      </a:pPr>
                      <a:endParaRPr sz="28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4618">
                <a:tc>
                  <a:txBody>
                    <a:bodyPr/>
                    <a:lstStyle/>
                    <a:p>
                      <a:pPr marL="29845">
                        <a:lnSpc>
                          <a:spcPts val="3265"/>
                        </a:lnSpc>
                      </a:pPr>
                      <a:r>
                        <a:rPr lang="en-IN" sz="2800" b="1" u="sng" spc="240" dirty="0">
                          <a:uFill>
                            <a:solidFill>
                              <a:srgbClr val="000000"/>
                            </a:solidFill>
                          </a:uFill>
                          <a:latin typeface="Cambria"/>
                          <a:cs typeface="Cambria"/>
                        </a:rPr>
                        <a:t>Introduction to HTML</a:t>
                      </a:r>
                      <a:r>
                        <a:rPr sz="2800" b="1" u="sng" spc="229">
                          <a:uFill>
                            <a:solidFill>
                              <a:srgbClr val="000000"/>
                            </a:solidFill>
                          </a:uFill>
                          <a:latin typeface="Cambria"/>
                          <a:cs typeface="Cambria"/>
                        </a:rPr>
                        <a:t>:</a:t>
                      </a:r>
                      <a:endParaRPr sz="2800">
                        <a:latin typeface="Cambria"/>
                        <a:cs typeface="Cambria"/>
                      </a:endParaRPr>
                    </a:p>
                    <a:p>
                      <a:pPr marL="803275" indent="-354013">
                        <a:lnSpc>
                          <a:spcPct val="100000"/>
                        </a:lnSpc>
                        <a:spcBef>
                          <a:spcPts val="1060"/>
                        </a:spcBef>
                        <a:buFont typeface="Wingdings"/>
                        <a:buChar char=""/>
                        <a:tabLst>
                          <a:tab pos="809625" algn="l"/>
                        </a:tabLst>
                      </a:pPr>
                      <a:r>
                        <a:rPr lang="en-IN" sz="2000" spc="160" dirty="0">
                          <a:latin typeface="Cambria"/>
                          <a:cs typeface="Cambria"/>
                        </a:rPr>
                        <a:t>Simple HTML Document</a:t>
                      </a:r>
                    </a:p>
                    <a:p>
                      <a:pPr marL="803275" indent="-354013">
                        <a:lnSpc>
                          <a:spcPct val="100000"/>
                        </a:lnSpc>
                        <a:spcBef>
                          <a:spcPts val="1060"/>
                        </a:spcBef>
                        <a:buFont typeface="Wingdings"/>
                        <a:buChar char=""/>
                        <a:tabLst>
                          <a:tab pos="809625" algn="l"/>
                        </a:tabLst>
                      </a:pPr>
                      <a:r>
                        <a:rPr lang="en-IN" sz="2000" spc="160" dirty="0">
                          <a:latin typeface="Cambria"/>
                          <a:cs typeface="Cambria"/>
                        </a:rPr>
                        <a:t>Hyperlink</a:t>
                      </a:r>
                    </a:p>
                    <a:p>
                      <a:pPr marL="803275" indent="-354013">
                        <a:lnSpc>
                          <a:spcPct val="100000"/>
                        </a:lnSpc>
                        <a:spcBef>
                          <a:spcPts val="1060"/>
                        </a:spcBef>
                        <a:buFont typeface="Wingdings"/>
                        <a:buChar char=""/>
                        <a:tabLst>
                          <a:tab pos="809625" algn="l"/>
                        </a:tabLst>
                      </a:pPr>
                      <a:r>
                        <a:rPr lang="en-IN" sz="2000" spc="160" dirty="0">
                          <a:latin typeface="Cambria"/>
                          <a:cs typeface="Cambria"/>
                        </a:rPr>
                        <a:t>Adding Image</a:t>
                      </a:r>
                    </a:p>
                    <a:p>
                      <a:pPr marL="803275" indent="-354013">
                        <a:lnSpc>
                          <a:spcPct val="100000"/>
                        </a:lnSpc>
                        <a:spcBef>
                          <a:spcPts val="1060"/>
                        </a:spcBef>
                        <a:buFont typeface="Wingdings"/>
                        <a:buChar char=""/>
                        <a:tabLst>
                          <a:tab pos="809625" algn="l"/>
                        </a:tabLst>
                      </a:pPr>
                      <a:r>
                        <a:rPr lang="en-IN" sz="2000" spc="160" dirty="0">
                          <a:latin typeface="Cambria"/>
                          <a:cs typeface="Cambria"/>
                        </a:rPr>
                        <a:t>Style Attribute</a:t>
                      </a:r>
                    </a:p>
                    <a:p>
                      <a:pPr marL="803275" indent="-354013">
                        <a:lnSpc>
                          <a:spcPct val="100000"/>
                        </a:lnSpc>
                        <a:spcBef>
                          <a:spcPts val="1060"/>
                        </a:spcBef>
                        <a:buFont typeface="Wingdings"/>
                        <a:buChar char=""/>
                        <a:tabLst>
                          <a:tab pos="809625" algn="l"/>
                        </a:tabLst>
                      </a:pPr>
                      <a:r>
                        <a:rPr lang="en-IN" sz="2000" spc="160" dirty="0">
                          <a:latin typeface="Cambria"/>
                          <a:cs typeface="Cambria"/>
                        </a:rPr>
                        <a:t>Paragraph Tag</a:t>
                      </a:r>
                    </a:p>
                    <a:p>
                      <a:pPr marL="803275" indent="-354013">
                        <a:lnSpc>
                          <a:spcPct val="100000"/>
                        </a:lnSpc>
                        <a:spcBef>
                          <a:spcPts val="1060"/>
                        </a:spcBef>
                        <a:buFont typeface="Wingdings"/>
                        <a:buChar char=""/>
                        <a:tabLst>
                          <a:tab pos="809625" algn="l"/>
                        </a:tabLst>
                      </a:pPr>
                      <a:r>
                        <a:rPr lang="en-IN" sz="2000" spc="160" dirty="0">
                          <a:latin typeface="Cambria"/>
                          <a:cs typeface="Cambria"/>
                        </a:rPr>
                        <a:t>HTML Formatting Elements</a:t>
                      </a:r>
                    </a:p>
                    <a:p>
                      <a:pPr marL="803275" indent="-354013">
                        <a:lnSpc>
                          <a:spcPct val="100000"/>
                        </a:lnSpc>
                        <a:spcBef>
                          <a:spcPts val="1060"/>
                        </a:spcBef>
                        <a:buFont typeface="Wingdings"/>
                        <a:buChar char=""/>
                        <a:tabLst>
                          <a:tab pos="809625" algn="l"/>
                        </a:tabLst>
                      </a:pPr>
                      <a:r>
                        <a:rPr lang="en-IN" sz="2000" spc="160" dirty="0">
                          <a:latin typeface="Cambria"/>
                          <a:cs typeface="Cambria"/>
                        </a:rPr>
                        <a:t>Comment Line</a:t>
                      </a:r>
                    </a:p>
                    <a:p>
                      <a:pPr marL="803275" indent="-354013">
                        <a:lnSpc>
                          <a:spcPct val="100000"/>
                        </a:lnSpc>
                        <a:spcBef>
                          <a:spcPts val="1060"/>
                        </a:spcBef>
                        <a:buFont typeface="Wingdings"/>
                        <a:buChar char=""/>
                        <a:tabLst>
                          <a:tab pos="809625" algn="l"/>
                        </a:tabLst>
                      </a:pPr>
                      <a:r>
                        <a:rPr lang="en-IN" sz="2000" spc="160" dirty="0">
                          <a:latin typeface="Cambria"/>
                          <a:cs typeface="Cambria"/>
                        </a:rPr>
                        <a:t>CSS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0808">
                <a:tc>
                  <a:txBody>
                    <a:bodyPr/>
                    <a:lstStyle/>
                    <a:p>
                      <a:pPr marL="384810" indent="-354965">
                        <a:lnSpc>
                          <a:spcPct val="100000"/>
                        </a:lnSpc>
                        <a:spcBef>
                          <a:spcPts val="1060"/>
                        </a:spcBef>
                        <a:buFont typeface="Wingdings"/>
                        <a:buNone/>
                        <a:tabLst>
                          <a:tab pos="384810" algn="l"/>
                        </a:tabLst>
                      </a:pP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140578" y="6453936"/>
            <a:ext cx="20605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Prepared</a:t>
            </a:r>
            <a:r>
              <a:rPr sz="12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by</a:t>
            </a:r>
            <a:r>
              <a:rPr sz="1200" spc="-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:</a:t>
            </a:r>
            <a:r>
              <a:rPr sz="1200" spc="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Dr.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 M.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Lakshmanan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29-11-</a:t>
            </a:r>
            <a:r>
              <a:rPr spc="-20" dirty="0"/>
              <a:t>2024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pPr marL="115570">
                <a:lnSpc>
                  <a:spcPts val="1240"/>
                </a:lnSpc>
              </a:pPr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18756" y="985647"/>
          <a:ext cx="11268444" cy="49504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8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9584">
                <a:tc>
                  <a:txBody>
                    <a:bodyPr/>
                    <a:lstStyle/>
                    <a:p>
                      <a:pPr marL="1270" algn="ctr">
                        <a:lnSpc>
                          <a:spcPts val="3260"/>
                        </a:lnSpc>
                      </a:pPr>
                      <a:r>
                        <a:rPr lang="en-IN" sz="2800" b="1" u="sng" spc="240" dirty="0">
                          <a:uFill>
                            <a:solidFill>
                              <a:srgbClr val="000000"/>
                            </a:solidFill>
                          </a:uFill>
                          <a:latin typeface="Cambria"/>
                          <a:cs typeface="Cambria"/>
                        </a:rPr>
                        <a:t>HTML</a:t>
                      </a:r>
                      <a:endParaRPr sz="28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875">
                <a:tc>
                  <a:txBody>
                    <a:bodyPr/>
                    <a:lstStyle/>
                    <a:p>
                      <a:pPr marL="29845" algn="just">
                        <a:lnSpc>
                          <a:spcPts val="2195"/>
                        </a:lnSpc>
                      </a:pPr>
                      <a:endParaRPr lang="en-IN" sz="2800" b="1" dirty="0">
                        <a:solidFill>
                          <a:srgbClr val="C00000"/>
                        </a:solidFill>
                        <a:latin typeface="Cambria"/>
                        <a:cs typeface="Cambria"/>
                      </a:endParaRPr>
                    </a:p>
                    <a:p>
                      <a:pPr marL="29845" algn="just">
                        <a:lnSpc>
                          <a:spcPts val="2195"/>
                        </a:lnSpc>
                      </a:pPr>
                      <a:r>
                        <a:rPr lang="en-IN" sz="28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What is HTML?</a:t>
                      </a:r>
                    </a:p>
                    <a:p>
                      <a:pPr marL="360363" indent="-331788" algn="just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IN" sz="1900" dirty="0">
                          <a:latin typeface="Cambria"/>
                          <a:cs typeface="Cambria"/>
                        </a:rPr>
                        <a:t>HTML stands for Hyper Text </a:t>
                      </a:r>
                      <a:r>
                        <a:rPr lang="en-IN" sz="1900" dirty="0" err="1">
                          <a:latin typeface="Cambria"/>
                          <a:cs typeface="Cambria"/>
                        </a:rPr>
                        <a:t>Markup</a:t>
                      </a:r>
                      <a:r>
                        <a:rPr lang="en-IN" sz="1900" dirty="0">
                          <a:latin typeface="Cambria"/>
                          <a:cs typeface="Cambria"/>
                        </a:rPr>
                        <a:t> Language</a:t>
                      </a:r>
                    </a:p>
                    <a:p>
                      <a:pPr marL="360363" indent="-331788" algn="just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IN" sz="1900" dirty="0">
                          <a:latin typeface="Cambria"/>
                          <a:cs typeface="Cambria"/>
                        </a:rPr>
                        <a:t>HTML is the standard </a:t>
                      </a:r>
                      <a:r>
                        <a:rPr lang="en-IN" sz="1900" dirty="0" err="1">
                          <a:latin typeface="Cambria"/>
                          <a:cs typeface="Cambria"/>
                        </a:rPr>
                        <a:t>markup</a:t>
                      </a:r>
                      <a:r>
                        <a:rPr lang="en-IN" sz="1900" dirty="0">
                          <a:latin typeface="Cambria"/>
                          <a:cs typeface="Cambria"/>
                        </a:rPr>
                        <a:t> language for creating Web pages</a:t>
                      </a:r>
                    </a:p>
                    <a:p>
                      <a:pPr marL="360363" indent="-331788" algn="just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IN" sz="1900" dirty="0">
                          <a:latin typeface="Cambria"/>
                          <a:cs typeface="Cambria"/>
                        </a:rPr>
                        <a:t>HTML describes the structure of a Web page</a:t>
                      </a:r>
                    </a:p>
                    <a:p>
                      <a:pPr marL="360363" indent="-331788" algn="just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IN" sz="1900" dirty="0">
                          <a:latin typeface="Cambria"/>
                          <a:cs typeface="Cambria"/>
                        </a:rPr>
                        <a:t>HTML consists of a series of elements</a:t>
                      </a:r>
                    </a:p>
                    <a:p>
                      <a:pPr marL="360363" indent="-331788" algn="just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IN" sz="1900" dirty="0">
                          <a:latin typeface="Cambria"/>
                          <a:cs typeface="Cambria"/>
                        </a:rPr>
                        <a:t>HTML elements tell the browser how to display the content</a:t>
                      </a:r>
                    </a:p>
                    <a:p>
                      <a:pPr marL="360363" indent="-331788" algn="just">
                        <a:lnSpc>
                          <a:spcPct val="150000"/>
                        </a:lnSpc>
                        <a:buFont typeface="Wingdings" pitchFamily="2" charset="2"/>
                        <a:buChar char="§"/>
                      </a:pPr>
                      <a:r>
                        <a:rPr lang="en-IN" sz="1900" dirty="0">
                          <a:latin typeface="Cambria"/>
                          <a:cs typeface="Cambria"/>
                        </a:rPr>
                        <a:t>HTML elements label pieces of content such as "this is a heading", "this is a paragraph", "this is a link", etc.</a:t>
                      </a:r>
                    </a:p>
                    <a:p>
                      <a:pPr marL="29845" algn="just">
                        <a:lnSpc>
                          <a:spcPts val="2195"/>
                        </a:lnSpc>
                      </a:pP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5140578" y="6453936"/>
            <a:ext cx="20605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Prepared</a:t>
            </a:r>
            <a:r>
              <a:rPr sz="12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by</a:t>
            </a:r>
            <a:r>
              <a:rPr sz="1200" spc="-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:</a:t>
            </a:r>
            <a:r>
              <a:rPr sz="1200" spc="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Dr.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 M.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Lakshmanan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29-11-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pPr marL="115570">
                <a:lnSpc>
                  <a:spcPts val="1240"/>
                </a:lnSpc>
              </a:pPr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HTML Page Structure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4</a:t>
            </a:fld>
            <a:endParaRPr spc="-25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47800" y="1066800"/>
            <a:ext cx="9604670" cy="5286376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A Simple HTML Document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5</a:t>
            </a:fld>
            <a:endParaRPr spc="-25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43000" y="766549"/>
            <a:ext cx="3200400" cy="32766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28700" y="4038600"/>
            <a:ext cx="10172700" cy="274893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343400" y="1143000"/>
            <a:ext cx="5981700" cy="250971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Hyperlink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6</a:t>
            </a:fld>
            <a:endParaRPr spc="-25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1" y="1335076"/>
            <a:ext cx="8153400" cy="5141924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324850" y="1676400"/>
            <a:ext cx="3867150" cy="19907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Adding Image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7</a:t>
            </a:fld>
            <a:endParaRPr spc="-25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9200" y="914400"/>
            <a:ext cx="9601200" cy="29592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28800" y="4038600"/>
            <a:ext cx="8382000" cy="229178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>
                <a:lumMod val="75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Style Attribute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8</a:t>
            </a:fld>
            <a:endParaRPr spc="-25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90800" y="1066800"/>
            <a:ext cx="7172325" cy="22288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905000" y="3429000"/>
            <a:ext cx="8356600" cy="27432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Paragraph Tag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9</a:t>
            </a:fld>
            <a:endParaRPr spc="-25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38600" y="838200"/>
            <a:ext cx="4419600" cy="36576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00200" y="4572000"/>
            <a:ext cx="9810750" cy="222885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Style Attribute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10</a:t>
            </a:fld>
            <a:endParaRPr spc="-25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04925" y="1709738"/>
            <a:ext cx="9582150" cy="34385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Style Attribute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11</a:t>
            </a:fld>
            <a:endParaRPr spc="-25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2887" y="1824039"/>
            <a:ext cx="11568113" cy="297819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Style Attribute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12</a:t>
            </a:fld>
            <a:endParaRPr spc="-25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2200275"/>
            <a:ext cx="11201400" cy="21827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Style Attribute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13</a:t>
            </a:fld>
            <a:endParaRPr spc="-25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2214563"/>
            <a:ext cx="11887200" cy="24288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Formatting Elements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14</a:t>
            </a:fld>
            <a:endParaRPr spc="-25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05025" y="1033463"/>
            <a:ext cx="8561156" cy="5138737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Formatting Elements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15</a:t>
            </a:fld>
            <a:endParaRPr spc="-25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1223333"/>
            <a:ext cx="11415100" cy="472026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Comment 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16</a:t>
            </a:fld>
            <a:endParaRPr spc="-25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1372" y="1295400"/>
            <a:ext cx="11179628" cy="4191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1ED8A-31AE-C8A3-CB7F-8AEE0EE9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888" y="103758"/>
            <a:ext cx="6544309" cy="492443"/>
          </a:xfrm>
        </p:spPr>
        <p:txBody>
          <a:bodyPr/>
          <a:lstStyle/>
          <a:p>
            <a:pPr algn="ctr"/>
            <a:r>
              <a:rPr lang="en-IN" dirty="0"/>
              <a:t>Task -2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EB6E6-DAFA-D32C-CA1B-FF46E669C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7127" y="788708"/>
            <a:ext cx="11085830" cy="6032421"/>
          </a:xfrm>
        </p:spPr>
        <p:txBody>
          <a:bodyPr/>
          <a:lstStyle/>
          <a:p>
            <a:r>
              <a:rPr lang="en-US" sz="1400" dirty="0"/>
              <a:t>&lt;!DOCTYPE html&gt;</a:t>
            </a:r>
          </a:p>
          <a:p>
            <a:r>
              <a:rPr lang="en-US" sz="1400" dirty="0"/>
              <a:t>&lt;html lang="</a:t>
            </a:r>
            <a:r>
              <a:rPr lang="en-US" sz="1400" dirty="0" err="1"/>
              <a:t>en</a:t>
            </a:r>
            <a:r>
              <a:rPr lang="en-US" sz="1400" dirty="0"/>
              <a:t>"&gt;</a:t>
            </a:r>
          </a:p>
          <a:p>
            <a:r>
              <a:rPr lang="en-US" sz="1400" dirty="0"/>
              <a:t>&lt;head&gt;</a:t>
            </a:r>
          </a:p>
          <a:p>
            <a:r>
              <a:rPr lang="en-US" sz="1400" dirty="0"/>
              <a:t>    &lt;meta charset="UTF-8"&gt;</a:t>
            </a:r>
          </a:p>
          <a:p>
            <a:r>
              <a:rPr lang="en-US" sz="1400" dirty="0"/>
              <a:t>    &lt;title&gt;Student Task - Styling with HTML&lt;/title&gt;</a:t>
            </a:r>
          </a:p>
          <a:p>
            <a:r>
              <a:rPr lang="en-US" sz="1400" dirty="0"/>
              <a:t>&lt;/head&gt;</a:t>
            </a:r>
          </a:p>
          <a:p>
            <a:r>
              <a:rPr lang="en-US" sz="1400" dirty="0"/>
              <a:t>&lt;body&gt;</a:t>
            </a:r>
          </a:p>
          <a:p>
            <a:endParaRPr lang="en-US" sz="1400" dirty="0"/>
          </a:p>
          <a:p>
            <a:r>
              <a:rPr lang="en-US" sz="1400" dirty="0"/>
              <a:t>    &lt;!-- Task 1: Change the text color to blue --&gt;</a:t>
            </a:r>
          </a:p>
          <a:p>
            <a:r>
              <a:rPr lang="en-US" sz="1400" dirty="0"/>
              <a:t>    &lt;p style="color: red;"&gt;This  is AIML dept&lt;/p&gt;</a:t>
            </a:r>
          </a:p>
          <a:p>
            <a:endParaRPr lang="en-US" sz="1400" dirty="0"/>
          </a:p>
          <a:p>
            <a:r>
              <a:rPr lang="en-US" sz="1400" dirty="0"/>
              <a:t>    &lt;!-- Task 2: Increase the font size to 24px --&gt;</a:t>
            </a:r>
          </a:p>
          <a:p>
            <a:r>
              <a:rPr lang="en-US" sz="1400" dirty="0"/>
              <a:t>    &lt;p style="font-size: 16px;"&gt;USN: ABCDEFGHI&lt;/p&gt;</a:t>
            </a:r>
          </a:p>
          <a:p>
            <a:endParaRPr lang="en-US" sz="1400" dirty="0"/>
          </a:p>
          <a:p>
            <a:r>
              <a:rPr lang="en-US" sz="1400" dirty="0"/>
              <a:t>    &lt;!-- Task 3: Add a yellow background to this paragraph --&gt;</a:t>
            </a:r>
          </a:p>
          <a:p>
            <a:r>
              <a:rPr lang="en-US" sz="1400" dirty="0"/>
              <a:t>    &lt;p style="background-color: yellow"&gt;Describe yourself&lt;/p&gt;</a:t>
            </a:r>
          </a:p>
          <a:p>
            <a:endParaRPr lang="en-US" sz="1400" dirty="0"/>
          </a:p>
          <a:p>
            <a:r>
              <a:rPr lang="en-US" sz="1400" dirty="0"/>
              <a:t>    &lt;!-- Task 4: Center align the text inside this paragraph --&gt;</a:t>
            </a:r>
          </a:p>
          <a:p>
            <a:r>
              <a:rPr lang="en-US" sz="1400" dirty="0"/>
              <a:t>    &lt;p style="text-align: left;"&gt;Full Stack Development&lt;/p&gt;</a:t>
            </a:r>
          </a:p>
          <a:p>
            <a:endParaRPr lang="en-US" sz="1400" dirty="0"/>
          </a:p>
          <a:p>
            <a:r>
              <a:rPr lang="en-US" sz="1400" dirty="0"/>
              <a:t>    &lt;!-- Task 5: Use multiple styles (color: green, font-size: 22px, background-color: </a:t>
            </a:r>
            <a:r>
              <a:rPr lang="en-US" sz="1400" dirty="0" err="1"/>
              <a:t>lightgray</a:t>
            </a:r>
            <a:r>
              <a:rPr lang="en-US" sz="1400" dirty="0"/>
              <a:t>, text-align: center) --&gt;</a:t>
            </a:r>
          </a:p>
          <a:p>
            <a:r>
              <a:rPr lang="en-US" sz="1400" dirty="0"/>
              <a:t>    &lt;p style="color: black; font-size: 18px; background-color: white; text-align: left;"&gt;</a:t>
            </a:r>
          </a:p>
          <a:p>
            <a:r>
              <a:rPr lang="en-US" sz="1400" dirty="0"/>
              <a:t>Playing, cricket&lt;/p&gt;</a:t>
            </a:r>
          </a:p>
          <a:p>
            <a:endParaRPr lang="en-US" sz="1400" dirty="0"/>
          </a:p>
          <a:p>
            <a:r>
              <a:rPr lang="en-US" sz="1400" dirty="0"/>
              <a:t>&lt;/body&gt;</a:t>
            </a:r>
          </a:p>
          <a:p>
            <a:r>
              <a:rPr lang="en-US" sz="1400" dirty="0"/>
              <a:t>&lt;/html&gt;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992646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Task-01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18</a:t>
            </a:fld>
            <a:endParaRPr spc="-25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838200"/>
            <a:ext cx="11277600" cy="55399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u="sng" dirty="0">
                <a:solidFill>
                  <a:srgbClr val="7030A0"/>
                </a:solidFill>
              </a:rPr>
              <a:t>Design a Personal Webpage for a Hobbyist</a:t>
            </a:r>
          </a:p>
          <a:p>
            <a:pPr algn="just"/>
            <a:r>
              <a:rPr lang="en-IN" dirty="0"/>
              <a:t>You are tasked with designing a simple personal webpage for a hobbyist who loves photography. The webpage should include the following elements:</a:t>
            </a:r>
          </a:p>
          <a:p>
            <a:pPr marL="538163" lvl="1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en-IN" b="1" dirty="0"/>
              <a:t>A title for the page</a:t>
            </a:r>
            <a:r>
              <a:rPr lang="en-IN" dirty="0"/>
              <a:t> that introduces the hobbyist’s passion.</a:t>
            </a:r>
          </a:p>
          <a:p>
            <a:pPr marL="538163" lvl="1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en-IN" b="1" dirty="0"/>
              <a:t>A hyperlink</a:t>
            </a:r>
            <a:r>
              <a:rPr lang="en-IN" dirty="0"/>
              <a:t> that directs users to a photography blog they follow.</a:t>
            </a:r>
          </a:p>
          <a:p>
            <a:pPr marL="538163" lvl="1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en-IN" b="1" dirty="0"/>
              <a:t>An image</a:t>
            </a:r>
            <a:r>
              <a:rPr lang="en-IN" dirty="0"/>
              <a:t> of a camera, as the hobbyist enjoys photography.</a:t>
            </a:r>
          </a:p>
          <a:p>
            <a:pPr marL="538163" lvl="1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en-IN" b="1" dirty="0"/>
              <a:t>A styled paragraph</a:t>
            </a:r>
            <a:r>
              <a:rPr lang="en-IN" dirty="0"/>
              <a:t> that includes a brief introduction to the hobbyist’s interests.</a:t>
            </a:r>
          </a:p>
          <a:p>
            <a:pPr marL="538163" lvl="1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en-IN" b="1" dirty="0"/>
              <a:t>A few HTML formatting elements</a:t>
            </a:r>
            <a:r>
              <a:rPr lang="en-IN" dirty="0"/>
              <a:t> to emphasize certain words and make the webpage visually engaging.</a:t>
            </a:r>
          </a:p>
          <a:p>
            <a:pPr marL="538163" lvl="1" indent="-342900" algn="just">
              <a:lnSpc>
                <a:spcPct val="150000"/>
              </a:lnSpc>
              <a:buFont typeface="+mj-lt"/>
              <a:buAutoNum type="alphaLcParenR"/>
            </a:pPr>
            <a:r>
              <a:rPr lang="en-IN" dirty="0"/>
              <a:t>A </a:t>
            </a:r>
            <a:r>
              <a:rPr lang="en-IN" b="1" dirty="0"/>
              <a:t>comment line</a:t>
            </a:r>
            <a:r>
              <a:rPr lang="en-IN" dirty="0"/>
              <a:t> to indicate a section where the user can add their </a:t>
            </a:r>
            <a:r>
              <a:rPr lang="en-IN" dirty="0" err="1"/>
              <a:t>favorite</a:t>
            </a:r>
            <a:r>
              <a:rPr lang="en-IN" dirty="0"/>
              <a:t> photography quotes later.</a:t>
            </a:r>
          </a:p>
          <a:p>
            <a:pPr algn="just">
              <a:lnSpc>
                <a:spcPct val="150000"/>
              </a:lnSpc>
            </a:pPr>
            <a:r>
              <a:rPr lang="en-IN" b="1" u="sng" dirty="0">
                <a:solidFill>
                  <a:srgbClr val="7030A0"/>
                </a:solidFill>
              </a:rPr>
              <a:t>Requirements:</a:t>
            </a:r>
          </a:p>
          <a:p>
            <a:pPr marL="538163" lvl="1" indent="-342900" algn="just">
              <a:buFont typeface="+mj-lt"/>
              <a:buAutoNum type="alphaLcParenR"/>
            </a:pPr>
            <a:r>
              <a:rPr lang="en-IN" dirty="0"/>
              <a:t>Use the &lt;style&gt; attribute to style the page background </a:t>
            </a:r>
            <a:r>
              <a:rPr lang="en-IN" dirty="0" err="1"/>
              <a:t>color</a:t>
            </a:r>
            <a:r>
              <a:rPr lang="en-IN" dirty="0"/>
              <a:t> and text </a:t>
            </a:r>
            <a:r>
              <a:rPr lang="en-IN" dirty="0" err="1"/>
              <a:t>color</a:t>
            </a:r>
            <a:r>
              <a:rPr lang="en-IN" dirty="0"/>
              <a:t>.</a:t>
            </a:r>
          </a:p>
          <a:p>
            <a:pPr marL="538163" lvl="1" indent="-342900" algn="just">
              <a:buFont typeface="+mj-lt"/>
              <a:buAutoNum type="alphaLcParenR"/>
            </a:pPr>
            <a:r>
              <a:rPr lang="en-IN" dirty="0"/>
              <a:t>Use the &lt;p&gt; tag to write a short paragraph about the hobbyist’s interests.</a:t>
            </a:r>
          </a:p>
          <a:p>
            <a:pPr marL="538163" lvl="1" indent="-342900" algn="just">
              <a:buFont typeface="+mj-lt"/>
              <a:buAutoNum type="alphaLcParenR"/>
            </a:pPr>
            <a:r>
              <a:rPr lang="en-IN" dirty="0"/>
              <a:t>Use &lt;strong&gt;, &lt;</a:t>
            </a:r>
            <a:r>
              <a:rPr lang="en-IN" dirty="0" err="1"/>
              <a:t>em</a:t>
            </a:r>
            <a:r>
              <a:rPr lang="en-IN" dirty="0"/>
              <a:t>&gt;, and &lt;u&gt; to emphasize certain parts of the text.</a:t>
            </a:r>
          </a:p>
          <a:p>
            <a:pPr marL="538163" lvl="1" indent="-342900">
              <a:buFont typeface="+mj-lt"/>
              <a:buAutoNum type="alphaLcParenR"/>
            </a:pPr>
            <a:r>
              <a:rPr lang="en-IN" dirty="0"/>
              <a:t>The page should be simple and easy to read.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CSS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19</a:t>
            </a:fld>
            <a:endParaRPr spc="-25" dirty="0"/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" y="1266825"/>
            <a:ext cx="11291887" cy="404618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CSS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20</a:t>
            </a:fld>
            <a:endParaRPr spc="-25" dirty="0"/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66799" y="1524000"/>
            <a:ext cx="10265229" cy="35052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Internal  CSS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21</a:t>
            </a:fld>
            <a:endParaRPr spc="-25" dirty="0"/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9701" y="1143000"/>
            <a:ext cx="10812699" cy="49053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Internal CSS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22</a:t>
            </a:fld>
            <a:endParaRPr spc="-25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5093" y="1295400"/>
            <a:ext cx="11442107" cy="459581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z="2800" spc="260" dirty="0"/>
              <a:t>Internal CSS: Margin, Border, Padding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23</a:t>
            </a:fld>
            <a:endParaRPr spc="-25" dirty="0"/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2675" y="1328156"/>
            <a:ext cx="11492125" cy="408204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External CSS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24</a:t>
            </a:fld>
            <a:endParaRPr spc="-25" dirty="0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2751" y="1447800"/>
            <a:ext cx="5078849" cy="35814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34000" y="1447800"/>
            <a:ext cx="6743700" cy="36290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Task-02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25</a:t>
            </a:fld>
            <a:endParaRPr spc="-25" dirty="0"/>
          </a:p>
        </p:txBody>
      </p:sp>
      <p:sp>
        <p:nvSpPr>
          <p:cNvPr id="9" name="Rectangle 8"/>
          <p:cNvSpPr/>
          <p:nvPr/>
        </p:nvSpPr>
        <p:spPr>
          <a:xfrm>
            <a:off x="533400" y="990600"/>
            <a:ext cx="11277600" cy="5431512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You have been assigned to design a simple webpage for a local bakery called "Sweet Treats." The webpage should include the following: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A title header displaying the bakery name "Sweet Treats" at the top of the page.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A short introduction about the bakery with a paragraph describing the specialties.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A list of three popular bakery items with prices.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An image of the bakery or its products (you can use a placeholder image).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A footer with the text "Visit Us Today!" and the bakery's location.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The webpage should be designed using basic HTML tags like headings, paragraphs, lists, images, and a footer. Apply simple CSS for styling the page to make it visually appealing.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Requirements</a:t>
            </a: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:</a:t>
            </a:r>
          </a:p>
          <a:p>
            <a:pPr marL="360363" indent="-360363" algn="just">
              <a:buFont typeface="Wingdings" pitchFamily="2" charset="2"/>
              <a:buChar char="§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The page should have a clean layout with a pleasant background </a:t>
            </a:r>
            <a:r>
              <a:rPr lang="en-IN" dirty="0" err="1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color</a:t>
            </a: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.</a:t>
            </a:r>
          </a:p>
          <a:p>
            <a:pPr marL="360363" indent="-360363" algn="just">
              <a:buFont typeface="Wingdings" pitchFamily="2" charset="2"/>
              <a:buChar char="§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The title should be large and </a:t>
            </a:r>
            <a:r>
              <a:rPr lang="en-IN" dirty="0" err="1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centered</a:t>
            </a: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.</a:t>
            </a:r>
          </a:p>
          <a:p>
            <a:pPr marL="360363" indent="-360363" algn="just">
              <a:buFont typeface="Wingdings" pitchFamily="2" charset="2"/>
              <a:buChar char="§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The introduction text should be smaller and aligned to the left.</a:t>
            </a:r>
          </a:p>
          <a:p>
            <a:pPr marL="360363" indent="-360363" algn="just">
              <a:buFont typeface="Wingdings" pitchFamily="2" charset="2"/>
              <a:buChar char="§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The list of bakery items should have a neat design with item names and prices.</a:t>
            </a:r>
          </a:p>
          <a:p>
            <a:pPr marL="360363" indent="-360363" algn="just">
              <a:buFont typeface="Wingdings" pitchFamily="2" charset="2"/>
              <a:buChar char="§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The footer text should be </a:t>
            </a:r>
            <a:r>
              <a:rPr lang="en-IN" dirty="0" err="1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centered</a:t>
            </a: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at the bottom of the page.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4879" y="188721"/>
            <a:ext cx="59080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2784475" algn="l"/>
              </a:tabLst>
            </a:pPr>
            <a:r>
              <a:rPr lang="en-IN" spc="260" dirty="0"/>
              <a:t>Task-02 Sample Output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23" y="295757"/>
            <a:ext cx="1460500" cy="4678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26</a:t>
            </a:fld>
            <a:endParaRPr spc="-25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33488" y="838200"/>
            <a:ext cx="9586912" cy="57150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7360" y="89535"/>
            <a:ext cx="666851" cy="66801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0367" y="133578"/>
            <a:ext cx="1460500" cy="46789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548125" y="2363723"/>
            <a:ext cx="7305040" cy="2071370"/>
            <a:chOff x="2548125" y="2363723"/>
            <a:chExt cx="7305040" cy="207137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8125" y="2363723"/>
              <a:ext cx="7304536" cy="20711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60827" y="2376042"/>
              <a:ext cx="7220584" cy="1988185"/>
            </a:xfrm>
            <a:custGeom>
              <a:avLst/>
              <a:gdLst/>
              <a:ahLst/>
              <a:cxnLst/>
              <a:rect l="l" t="t" r="r" b="b"/>
              <a:pathLst>
                <a:path w="7220584" h="1988185">
                  <a:moveTo>
                    <a:pt x="6226429" y="0"/>
                  </a:moveTo>
                  <a:lnTo>
                    <a:pt x="994029" y="0"/>
                  </a:lnTo>
                  <a:lnTo>
                    <a:pt x="945864" y="1146"/>
                  </a:lnTo>
                  <a:lnTo>
                    <a:pt x="898292" y="4550"/>
                  </a:lnTo>
                  <a:lnTo>
                    <a:pt x="851363" y="10159"/>
                  </a:lnTo>
                  <a:lnTo>
                    <a:pt x="805131" y="17922"/>
                  </a:lnTo>
                  <a:lnTo>
                    <a:pt x="759646" y="27787"/>
                  </a:lnTo>
                  <a:lnTo>
                    <a:pt x="714962" y="39701"/>
                  </a:lnTo>
                  <a:lnTo>
                    <a:pt x="671130" y="53612"/>
                  </a:lnTo>
                  <a:lnTo>
                    <a:pt x="628202" y="69469"/>
                  </a:lnTo>
                  <a:lnTo>
                    <a:pt x="586230" y="87219"/>
                  </a:lnTo>
                  <a:lnTo>
                    <a:pt x="545267" y="106810"/>
                  </a:lnTo>
                  <a:lnTo>
                    <a:pt x="505364" y="128191"/>
                  </a:lnTo>
                  <a:lnTo>
                    <a:pt x="466574" y="151308"/>
                  </a:lnTo>
                  <a:lnTo>
                    <a:pt x="428948" y="176111"/>
                  </a:lnTo>
                  <a:lnTo>
                    <a:pt x="392539" y="202547"/>
                  </a:lnTo>
                  <a:lnTo>
                    <a:pt x="357398" y="230563"/>
                  </a:lnTo>
                  <a:lnTo>
                    <a:pt x="323578" y="260109"/>
                  </a:lnTo>
                  <a:lnTo>
                    <a:pt x="291131" y="291131"/>
                  </a:lnTo>
                  <a:lnTo>
                    <a:pt x="260109" y="323578"/>
                  </a:lnTo>
                  <a:lnTo>
                    <a:pt x="230563" y="357398"/>
                  </a:lnTo>
                  <a:lnTo>
                    <a:pt x="202547" y="392539"/>
                  </a:lnTo>
                  <a:lnTo>
                    <a:pt x="176111" y="428948"/>
                  </a:lnTo>
                  <a:lnTo>
                    <a:pt x="151308" y="466574"/>
                  </a:lnTo>
                  <a:lnTo>
                    <a:pt x="128191" y="505364"/>
                  </a:lnTo>
                  <a:lnTo>
                    <a:pt x="106810" y="545267"/>
                  </a:lnTo>
                  <a:lnTo>
                    <a:pt x="87219" y="586230"/>
                  </a:lnTo>
                  <a:lnTo>
                    <a:pt x="69469" y="628202"/>
                  </a:lnTo>
                  <a:lnTo>
                    <a:pt x="53612" y="671130"/>
                  </a:lnTo>
                  <a:lnTo>
                    <a:pt x="39701" y="714962"/>
                  </a:lnTo>
                  <a:lnTo>
                    <a:pt x="27787" y="759646"/>
                  </a:lnTo>
                  <a:lnTo>
                    <a:pt x="17922" y="805131"/>
                  </a:lnTo>
                  <a:lnTo>
                    <a:pt x="10159" y="851363"/>
                  </a:lnTo>
                  <a:lnTo>
                    <a:pt x="4550" y="898292"/>
                  </a:lnTo>
                  <a:lnTo>
                    <a:pt x="1146" y="945864"/>
                  </a:lnTo>
                  <a:lnTo>
                    <a:pt x="0" y="994029"/>
                  </a:lnTo>
                  <a:lnTo>
                    <a:pt x="1146" y="1042193"/>
                  </a:lnTo>
                  <a:lnTo>
                    <a:pt x="4550" y="1089767"/>
                  </a:lnTo>
                  <a:lnTo>
                    <a:pt x="10159" y="1136697"/>
                  </a:lnTo>
                  <a:lnTo>
                    <a:pt x="17922" y="1182931"/>
                  </a:lnTo>
                  <a:lnTo>
                    <a:pt x="27787" y="1228418"/>
                  </a:lnTo>
                  <a:lnTo>
                    <a:pt x="39701" y="1273106"/>
                  </a:lnTo>
                  <a:lnTo>
                    <a:pt x="53612" y="1316941"/>
                  </a:lnTo>
                  <a:lnTo>
                    <a:pt x="69469" y="1359873"/>
                  </a:lnTo>
                  <a:lnTo>
                    <a:pt x="87219" y="1401849"/>
                  </a:lnTo>
                  <a:lnTo>
                    <a:pt x="106810" y="1442816"/>
                  </a:lnTo>
                  <a:lnTo>
                    <a:pt x="128191" y="1482724"/>
                  </a:lnTo>
                  <a:lnTo>
                    <a:pt x="151308" y="1521519"/>
                  </a:lnTo>
                  <a:lnTo>
                    <a:pt x="176111" y="1559150"/>
                  </a:lnTo>
                  <a:lnTo>
                    <a:pt x="202547" y="1595565"/>
                  </a:lnTo>
                  <a:lnTo>
                    <a:pt x="230563" y="1630711"/>
                  </a:lnTo>
                  <a:lnTo>
                    <a:pt x="260109" y="1664537"/>
                  </a:lnTo>
                  <a:lnTo>
                    <a:pt x="291131" y="1696989"/>
                  </a:lnTo>
                  <a:lnTo>
                    <a:pt x="323578" y="1728017"/>
                  </a:lnTo>
                  <a:lnTo>
                    <a:pt x="357398" y="1757568"/>
                  </a:lnTo>
                  <a:lnTo>
                    <a:pt x="392539" y="1785591"/>
                  </a:lnTo>
                  <a:lnTo>
                    <a:pt x="428948" y="1812032"/>
                  </a:lnTo>
                  <a:lnTo>
                    <a:pt x="466574" y="1836839"/>
                  </a:lnTo>
                  <a:lnTo>
                    <a:pt x="505364" y="1859962"/>
                  </a:lnTo>
                  <a:lnTo>
                    <a:pt x="545267" y="1881347"/>
                  </a:lnTo>
                  <a:lnTo>
                    <a:pt x="586230" y="1900943"/>
                  </a:lnTo>
                  <a:lnTo>
                    <a:pt x="628202" y="1918697"/>
                  </a:lnTo>
                  <a:lnTo>
                    <a:pt x="671130" y="1934558"/>
                  </a:lnTo>
                  <a:lnTo>
                    <a:pt x="714962" y="1948473"/>
                  </a:lnTo>
                  <a:lnTo>
                    <a:pt x="759646" y="1960390"/>
                  </a:lnTo>
                  <a:lnTo>
                    <a:pt x="805131" y="1970257"/>
                  </a:lnTo>
                  <a:lnTo>
                    <a:pt x="851363" y="1978022"/>
                  </a:lnTo>
                  <a:lnTo>
                    <a:pt x="898292" y="1983633"/>
                  </a:lnTo>
                  <a:lnTo>
                    <a:pt x="945864" y="1987038"/>
                  </a:lnTo>
                  <a:lnTo>
                    <a:pt x="994029" y="1988185"/>
                  </a:lnTo>
                  <a:lnTo>
                    <a:pt x="6226429" y="1988185"/>
                  </a:lnTo>
                  <a:lnTo>
                    <a:pt x="6274593" y="1987038"/>
                  </a:lnTo>
                  <a:lnTo>
                    <a:pt x="6322165" y="1983633"/>
                  </a:lnTo>
                  <a:lnTo>
                    <a:pt x="6369094" y="1978022"/>
                  </a:lnTo>
                  <a:lnTo>
                    <a:pt x="6415326" y="1970257"/>
                  </a:lnTo>
                  <a:lnTo>
                    <a:pt x="6460811" y="1960390"/>
                  </a:lnTo>
                  <a:lnTo>
                    <a:pt x="6505495" y="1948473"/>
                  </a:lnTo>
                  <a:lnTo>
                    <a:pt x="6549327" y="1934558"/>
                  </a:lnTo>
                  <a:lnTo>
                    <a:pt x="6592255" y="1918697"/>
                  </a:lnTo>
                  <a:lnTo>
                    <a:pt x="6634227" y="1900943"/>
                  </a:lnTo>
                  <a:lnTo>
                    <a:pt x="6675190" y="1881347"/>
                  </a:lnTo>
                  <a:lnTo>
                    <a:pt x="6715093" y="1859962"/>
                  </a:lnTo>
                  <a:lnTo>
                    <a:pt x="6753883" y="1836839"/>
                  </a:lnTo>
                  <a:lnTo>
                    <a:pt x="6791509" y="1812032"/>
                  </a:lnTo>
                  <a:lnTo>
                    <a:pt x="6827918" y="1785591"/>
                  </a:lnTo>
                  <a:lnTo>
                    <a:pt x="6863059" y="1757568"/>
                  </a:lnTo>
                  <a:lnTo>
                    <a:pt x="6896879" y="1728017"/>
                  </a:lnTo>
                  <a:lnTo>
                    <a:pt x="6929326" y="1696989"/>
                  </a:lnTo>
                  <a:lnTo>
                    <a:pt x="6960348" y="1664537"/>
                  </a:lnTo>
                  <a:lnTo>
                    <a:pt x="6989894" y="1630711"/>
                  </a:lnTo>
                  <a:lnTo>
                    <a:pt x="7017910" y="1595565"/>
                  </a:lnTo>
                  <a:lnTo>
                    <a:pt x="7044346" y="1559150"/>
                  </a:lnTo>
                  <a:lnTo>
                    <a:pt x="7069149" y="1521519"/>
                  </a:lnTo>
                  <a:lnTo>
                    <a:pt x="7092266" y="1482724"/>
                  </a:lnTo>
                  <a:lnTo>
                    <a:pt x="7113647" y="1442816"/>
                  </a:lnTo>
                  <a:lnTo>
                    <a:pt x="7133238" y="1401849"/>
                  </a:lnTo>
                  <a:lnTo>
                    <a:pt x="7150988" y="1359873"/>
                  </a:lnTo>
                  <a:lnTo>
                    <a:pt x="7166845" y="1316941"/>
                  </a:lnTo>
                  <a:lnTo>
                    <a:pt x="7180756" y="1273106"/>
                  </a:lnTo>
                  <a:lnTo>
                    <a:pt x="7192670" y="1228418"/>
                  </a:lnTo>
                  <a:lnTo>
                    <a:pt x="7202535" y="1182931"/>
                  </a:lnTo>
                  <a:lnTo>
                    <a:pt x="7210298" y="1136697"/>
                  </a:lnTo>
                  <a:lnTo>
                    <a:pt x="7215907" y="1089767"/>
                  </a:lnTo>
                  <a:lnTo>
                    <a:pt x="7219311" y="1042193"/>
                  </a:lnTo>
                  <a:lnTo>
                    <a:pt x="7220458" y="994029"/>
                  </a:lnTo>
                  <a:lnTo>
                    <a:pt x="7219311" y="945864"/>
                  </a:lnTo>
                  <a:lnTo>
                    <a:pt x="7215907" y="898292"/>
                  </a:lnTo>
                  <a:lnTo>
                    <a:pt x="7210298" y="851363"/>
                  </a:lnTo>
                  <a:lnTo>
                    <a:pt x="7202535" y="805131"/>
                  </a:lnTo>
                  <a:lnTo>
                    <a:pt x="7192670" y="759646"/>
                  </a:lnTo>
                  <a:lnTo>
                    <a:pt x="7180756" y="714962"/>
                  </a:lnTo>
                  <a:lnTo>
                    <a:pt x="7166845" y="671130"/>
                  </a:lnTo>
                  <a:lnTo>
                    <a:pt x="7150988" y="628202"/>
                  </a:lnTo>
                  <a:lnTo>
                    <a:pt x="7133238" y="586230"/>
                  </a:lnTo>
                  <a:lnTo>
                    <a:pt x="7113647" y="545267"/>
                  </a:lnTo>
                  <a:lnTo>
                    <a:pt x="7092266" y="505364"/>
                  </a:lnTo>
                  <a:lnTo>
                    <a:pt x="7069149" y="466574"/>
                  </a:lnTo>
                  <a:lnTo>
                    <a:pt x="7044346" y="428948"/>
                  </a:lnTo>
                  <a:lnTo>
                    <a:pt x="7017910" y="392539"/>
                  </a:lnTo>
                  <a:lnTo>
                    <a:pt x="6989894" y="357398"/>
                  </a:lnTo>
                  <a:lnTo>
                    <a:pt x="6960348" y="323578"/>
                  </a:lnTo>
                  <a:lnTo>
                    <a:pt x="6929326" y="291131"/>
                  </a:lnTo>
                  <a:lnTo>
                    <a:pt x="6896879" y="260109"/>
                  </a:lnTo>
                  <a:lnTo>
                    <a:pt x="6863059" y="230563"/>
                  </a:lnTo>
                  <a:lnTo>
                    <a:pt x="6827918" y="202547"/>
                  </a:lnTo>
                  <a:lnTo>
                    <a:pt x="6791509" y="176111"/>
                  </a:lnTo>
                  <a:lnTo>
                    <a:pt x="6753883" y="151308"/>
                  </a:lnTo>
                  <a:lnTo>
                    <a:pt x="6715093" y="128191"/>
                  </a:lnTo>
                  <a:lnTo>
                    <a:pt x="6675190" y="106810"/>
                  </a:lnTo>
                  <a:lnTo>
                    <a:pt x="6634227" y="87219"/>
                  </a:lnTo>
                  <a:lnTo>
                    <a:pt x="6592255" y="69469"/>
                  </a:lnTo>
                  <a:lnTo>
                    <a:pt x="6549327" y="53612"/>
                  </a:lnTo>
                  <a:lnTo>
                    <a:pt x="6505495" y="39701"/>
                  </a:lnTo>
                  <a:lnTo>
                    <a:pt x="6460811" y="27787"/>
                  </a:lnTo>
                  <a:lnTo>
                    <a:pt x="6415326" y="17922"/>
                  </a:lnTo>
                  <a:lnTo>
                    <a:pt x="6369094" y="10159"/>
                  </a:lnTo>
                  <a:lnTo>
                    <a:pt x="6322165" y="4550"/>
                  </a:lnTo>
                  <a:lnTo>
                    <a:pt x="6274593" y="1146"/>
                  </a:lnTo>
                  <a:lnTo>
                    <a:pt x="6226429" y="0"/>
                  </a:lnTo>
                  <a:close/>
                </a:path>
              </a:pathLst>
            </a:custGeom>
            <a:solidFill>
              <a:srgbClr val="1F70B5">
                <a:alpha val="8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40126" y="2364181"/>
            <a:ext cx="636079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b="0" dirty="0">
                <a:solidFill>
                  <a:srgbClr val="FFDA00"/>
                </a:solidFill>
                <a:latin typeface="Segoe UI Black"/>
                <a:cs typeface="Segoe UI Black"/>
              </a:rPr>
              <a:t>T</a:t>
            </a:r>
            <a:r>
              <a:rPr sz="9600" b="0" dirty="0">
                <a:solidFill>
                  <a:srgbClr val="FFFFFF"/>
                </a:solidFill>
                <a:latin typeface="Segoe UI Black"/>
                <a:cs typeface="Segoe UI Black"/>
              </a:rPr>
              <a:t>hank</a:t>
            </a:r>
            <a:r>
              <a:rPr sz="9600" b="0" spc="-250" dirty="0">
                <a:solidFill>
                  <a:srgbClr val="FFFFFF"/>
                </a:solidFill>
                <a:latin typeface="Segoe UI Black"/>
                <a:cs typeface="Segoe UI Black"/>
              </a:rPr>
              <a:t> </a:t>
            </a:r>
            <a:r>
              <a:rPr sz="9600" b="0" spc="-25" dirty="0">
                <a:solidFill>
                  <a:srgbClr val="FFDA00"/>
                </a:solidFill>
                <a:latin typeface="Segoe UI Black"/>
                <a:cs typeface="Segoe UI Black"/>
              </a:rPr>
              <a:t>Y</a:t>
            </a:r>
            <a:r>
              <a:rPr sz="9600" b="0" spc="-25" dirty="0">
                <a:solidFill>
                  <a:srgbClr val="FFFFFF"/>
                </a:solidFill>
                <a:latin typeface="Segoe UI Black"/>
                <a:cs typeface="Segoe UI Black"/>
              </a:rPr>
              <a:t>ou</a:t>
            </a:r>
            <a:endParaRPr sz="9600">
              <a:latin typeface="Segoe UI Black"/>
              <a:cs typeface="Segoe UI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676265" y="3832504"/>
            <a:ext cx="989965" cy="69215"/>
            <a:chOff x="5676265" y="3832504"/>
            <a:chExt cx="989965" cy="69215"/>
          </a:xfrm>
        </p:grpSpPr>
        <p:sp>
          <p:nvSpPr>
            <p:cNvPr id="9" name="object 9"/>
            <p:cNvSpPr/>
            <p:nvPr/>
          </p:nvSpPr>
          <p:spPr>
            <a:xfrm>
              <a:off x="5676265" y="3866896"/>
              <a:ext cx="989965" cy="0"/>
            </a:xfrm>
            <a:custGeom>
              <a:avLst/>
              <a:gdLst/>
              <a:ahLst/>
              <a:cxnLst/>
              <a:rect l="l" t="t" r="r" b="b"/>
              <a:pathLst>
                <a:path w="989965">
                  <a:moveTo>
                    <a:pt x="0" y="0"/>
                  </a:moveTo>
                  <a:lnTo>
                    <a:pt x="269113" y="0"/>
                  </a:lnTo>
                </a:path>
                <a:path w="989965">
                  <a:moveTo>
                    <a:pt x="720521" y="0"/>
                  </a:moveTo>
                  <a:lnTo>
                    <a:pt x="989584" y="0"/>
                  </a:lnTo>
                </a:path>
              </a:pathLst>
            </a:custGeom>
            <a:ln w="12700">
              <a:solidFill>
                <a:srgbClr val="F1D3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45378" y="3832504"/>
              <a:ext cx="451484" cy="69215"/>
            </a:xfrm>
            <a:custGeom>
              <a:avLst/>
              <a:gdLst/>
              <a:ahLst/>
              <a:cxnLst/>
              <a:rect l="l" t="t" r="r" b="b"/>
              <a:pathLst>
                <a:path w="451485" h="69214">
                  <a:moveTo>
                    <a:pt x="451408" y="0"/>
                  </a:moveTo>
                  <a:lnTo>
                    <a:pt x="0" y="0"/>
                  </a:lnTo>
                  <a:lnTo>
                    <a:pt x="0" y="68808"/>
                  </a:lnTo>
                  <a:lnTo>
                    <a:pt x="451408" y="68808"/>
                  </a:lnTo>
                  <a:lnTo>
                    <a:pt x="451408" y="0"/>
                  </a:lnTo>
                  <a:close/>
                </a:path>
              </a:pathLst>
            </a:custGeom>
            <a:solidFill>
              <a:srgbClr val="FFD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29-11-</a:t>
            </a:r>
            <a:r>
              <a:rPr spc="-20" dirty="0"/>
              <a:t>2024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27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640</TotalTime>
  <Words>852</Words>
  <Application>Microsoft Office PowerPoint</Application>
  <PresentationFormat>Widescreen</PresentationFormat>
  <Paragraphs>140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Aptos</vt:lpstr>
      <vt:lpstr>Arial</vt:lpstr>
      <vt:lpstr>Calibri</vt:lpstr>
      <vt:lpstr>Cambria</vt:lpstr>
      <vt:lpstr>Courier New</vt:lpstr>
      <vt:lpstr>Segoe UI Black</vt:lpstr>
      <vt:lpstr>Times New Roman</vt:lpstr>
      <vt:lpstr>Wingdings</vt:lpstr>
      <vt:lpstr>Office Theme</vt:lpstr>
      <vt:lpstr>Dayananda Sagar University</vt:lpstr>
      <vt:lpstr>Topics</vt:lpstr>
      <vt:lpstr>PowerPoint Presentation</vt:lpstr>
      <vt:lpstr>HTML Page Structure</vt:lpstr>
      <vt:lpstr>A Simple HTML Document</vt:lpstr>
      <vt:lpstr>Hyperlink</vt:lpstr>
      <vt:lpstr>Adding Image</vt:lpstr>
      <vt:lpstr>Style Attribute</vt:lpstr>
      <vt:lpstr>Paragraph Tag</vt:lpstr>
      <vt:lpstr>Style Attribute</vt:lpstr>
      <vt:lpstr>Style Attribute</vt:lpstr>
      <vt:lpstr>Style Attribute</vt:lpstr>
      <vt:lpstr>Style Attribute</vt:lpstr>
      <vt:lpstr>Formatting Elements</vt:lpstr>
      <vt:lpstr>Formatting Elements</vt:lpstr>
      <vt:lpstr>Comment Line</vt:lpstr>
      <vt:lpstr>Task -2</vt:lpstr>
      <vt:lpstr>Task-01</vt:lpstr>
      <vt:lpstr>CSS</vt:lpstr>
      <vt:lpstr>CSS</vt:lpstr>
      <vt:lpstr>Internal  CSS</vt:lpstr>
      <vt:lpstr>Internal CSS</vt:lpstr>
      <vt:lpstr>Internal CSS: Margin, Border, Padding</vt:lpstr>
      <vt:lpstr>External CSS</vt:lpstr>
      <vt:lpstr>Task-02</vt:lpstr>
      <vt:lpstr>Task-02 Sample Output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MANAGEMENT AND ENTREPRENEURSHIP FOR IT INDUSTRY</dc:title>
  <dc:creator>PRADEEP KUMAR K</dc:creator>
  <cp:lastModifiedBy>Sugandha Saxena</cp:lastModifiedBy>
  <cp:revision>5</cp:revision>
  <dcterms:created xsi:type="dcterms:W3CDTF">2025-01-21T13:51:18Z</dcterms:created>
  <dcterms:modified xsi:type="dcterms:W3CDTF">2025-02-13T05:18:34Z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2024-11-29T00:00:00Z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2025-01-21T00:00:00Z</vt:filetime>
  </property>
  <property fmtid="{D5CDD505-2E9C-101B-9397-08002B2CF9AE}" pid="5" name="Producer">
    <vt:lpwstr>Microsoft® Office PowerPoint® 2007</vt:lpwstr>
  </property>
</Properties>
</file>