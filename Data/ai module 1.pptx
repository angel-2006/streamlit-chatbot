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3"/>
  </p:notesMasterIdLst>
  <p:sldIdLst>
    <p:sldId id="256" r:id="rId2"/>
    <p:sldId id="423" r:id="rId3"/>
    <p:sldId id="424" r:id="rId4"/>
    <p:sldId id="409" r:id="rId5"/>
    <p:sldId id="410" r:id="rId6"/>
    <p:sldId id="411" r:id="rId7"/>
    <p:sldId id="413" r:id="rId8"/>
    <p:sldId id="412" r:id="rId9"/>
    <p:sldId id="414" r:id="rId10"/>
    <p:sldId id="415" r:id="rId11"/>
    <p:sldId id="417" r:id="rId12"/>
    <p:sldId id="418" r:id="rId13"/>
    <p:sldId id="419" r:id="rId14"/>
    <p:sldId id="416" r:id="rId15"/>
    <p:sldId id="485" r:id="rId16"/>
    <p:sldId id="420" r:id="rId17"/>
    <p:sldId id="421" r:id="rId18"/>
    <p:sldId id="422" r:id="rId19"/>
    <p:sldId id="425" r:id="rId20"/>
    <p:sldId id="426" r:id="rId21"/>
    <p:sldId id="427" r:id="rId22"/>
    <p:sldId id="428" r:id="rId23"/>
    <p:sldId id="429" r:id="rId24"/>
    <p:sldId id="430" r:id="rId25"/>
    <p:sldId id="431" r:id="rId26"/>
    <p:sldId id="432" r:id="rId27"/>
    <p:sldId id="433" r:id="rId28"/>
    <p:sldId id="434" r:id="rId29"/>
    <p:sldId id="435" r:id="rId30"/>
    <p:sldId id="436" r:id="rId31"/>
    <p:sldId id="437" r:id="rId32"/>
    <p:sldId id="438" r:id="rId33"/>
    <p:sldId id="439" r:id="rId34"/>
    <p:sldId id="440" r:id="rId35"/>
    <p:sldId id="441" r:id="rId36"/>
    <p:sldId id="442" r:id="rId37"/>
    <p:sldId id="468" r:id="rId38"/>
    <p:sldId id="504" r:id="rId39"/>
    <p:sldId id="505" r:id="rId40"/>
    <p:sldId id="506" r:id="rId41"/>
    <p:sldId id="507" r:id="rId42"/>
    <p:sldId id="508" r:id="rId43"/>
    <p:sldId id="509" r:id="rId44"/>
    <p:sldId id="510" r:id="rId45"/>
    <p:sldId id="511" r:id="rId46"/>
    <p:sldId id="512" r:id="rId47"/>
    <p:sldId id="513" r:id="rId48"/>
    <p:sldId id="514" r:id="rId49"/>
    <p:sldId id="515" r:id="rId50"/>
    <p:sldId id="516" r:id="rId51"/>
    <p:sldId id="517" r:id="rId52"/>
    <p:sldId id="518" r:id="rId53"/>
    <p:sldId id="519" r:id="rId54"/>
    <p:sldId id="520" r:id="rId55"/>
    <p:sldId id="521" r:id="rId56"/>
    <p:sldId id="523" r:id="rId57"/>
    <p:sldId id="524" r:id="rId58"/>
    <p:sldId id="525" r:id="rId59"/>
    <p:sldId id="526" r:id="rId60"/>
    <p:sldId id="443" r:id="rId61"/>
    <p:sldId id="444" r:id="rId62"/>
    <p:sldId id="445" r:id="rId63"/>
    <p:sldId id="446" r:id="rId64"/>
    <p:sldId id="447" r:id="rId65"/>
    <p:sldId id="448" r:id="rId66"/>
    <p:sldId id="449" r:id="rId67"/>
    <p:sldId id="450" r:id="rId68"/>
    <p:sldId id="451" r:id="rId69"/>
    <p:sldId id="452" r:id="rId70"/>
    <p:sldId id="453" r:id="rId71"/>
    <p:sldId id="454" r:id="rId72"/>
    <p:sldId id="455" r:id="rId73"/>
    <p:sldId id="456" r:id="rId74"/>
    <p:sldId id="457" r:id="rId75"/>
    <p:sldId id="458" r:id="rId76"/>
    <p:sldId id="459" r:id="rId77"/>
    <p:sldId id="460" r:id="rId78"/>
    <p:sldId id="461" r:id="rId79"/>
    <p:sldId id="469" r:id="rId80"/>
    <p:sldId id="462" r:id="rId81"/>
    <p:sldId id="463" r:id="rId82"/>
    <p:sldId id="464" r:id="rId83"/>
    <p:sldId id="465" r:id="rId84"/>
    <p:sldId id="466" r:id="rId85"/>
    <p:sldId id="467" r:id="rId86"/>
    <p:sldId id="470" r:id="rId87"/>
    <p:sldId id="471" r:id="rId88"/>
    <p:sldId id="472" r:id="rId89"/>
    <p:sldId id="473" r:id="rId90"/>
    <p:sldId id="474" r:id="rId91"/>
    <p:sldId id="475" r:id="rId92"/>
    <p:sldId id="285" r:id="rId93"/>
    <p:sldId id="528" r:id="rId94"/>
    <p:sldId id="529" r:id="rId95"/>
    <p:sldId id="530" r:id="rId96"/>
    <p:sldId id="531" r:id="rId97"/>
    <p:sldId id="532" r:id="rId98"/>
    <p:sldId id="533" r:id="rId99"/>
    <p:sldId id="534" r:id="rId100"/>
    <p:sldId id="535" r:id="rId101"/>
    <p:sldId id="536" r:id="rId102"/>
    <p:sldId id="390" r:id="rId103"/>
    <p:sldId id="537" r:id="rId104"/>
    <p:sldId id="476" r:id="rId105"/>
    <p:sldId id="477" r:id="rId106"/>
    <p:sldId id="478" r:id="rId107"/>
    <p:sldId id="479" r:id="rId108"/>
    <p:sldId id="480" r:id="rId109"/>
    <p:sldId id="481" r:id="rId110"/>
    <p:sldId id="482" r:id="rId111"/>
    <p:sldId id="483" r:id="rId112"/>
    <p:sldId id="484" r:id="rId113"/>
    <p:sldId id="486" r:id="rId114"/>
    <p:sldId id="487" r:id="rId115"/>
    <p:sldId id="488" r:id="rId116"/>
    <p:sldId id="489" r:id="rId117"/>
    <p:sldId id="490" r:id="rId118"/>
    <p:sldId id="491" r:id="rId119"/>
    <p:sldId id="492" r:id="rId120"/>
    <p:sldId id="493" r:id="rId121"/>
    <p:sldId id="494" r:id="rId122"/>
    <p:sldId id="501" r:id="rId123"/>
    <p:sldId id="495" r:id="rId124"/>
    <p:sldId id="496" r:id="rId125"/>
    <p:sldId id="497" r:id="rId126"/>
    <p:sldId id="498" r:id="rId127"/>
    <p:sldId id="499" r:id="rId128"/>
    <p:sldId id="500" r:id="rId129"/>
    <p:sldId id="502" r:id="rId130"/>
    <p:sldId id="503" r:id="rId131"/>
    <p:sldId id="329" r:id="rId1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520" autoAdjust="0"/>
    <p:restoredTop sz="94660"/>
  </p:normalViewPr>
  <p:slideViewPr>
    <p:cSldViewPr snapToGrid="0">
      <p:cViewPr varScale="1">
        <p:scale>
          <a:sx n="62" d="100"/>
          <a:sy n="62" d="100"/>
        </p:scale>
        <p:origin x="9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13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FBA6E5-51BA-41AD-8258-D553B93BC108}"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40441172-BF89-4993-9F56-3B2728FBA393}">
      <dgm:prSet phldrT="[Text]" custT="1"/>
      <dgm:spPr/>
      <dgm:t>
        <a:bodyPr/>
        <a:lstStyle/>
        <a:p>
          <a:r>
            <a:rPr lang="en-US" sz="4400" dirty="0">
              <a:latin typeface="Bookman Old Style" panose="02050604050505020204" pitchFamily="18" charset="0"/>
            </a:rPr>
            <a:t>100 Marks</a:t>
          </a:r>
        </a:p>
      </dgm:t>
    </dgm:pt>
    <dgm:pt modelId="{07AA31CE-7FAD-435F-AA7C-AAFB34B5A9C2}" type="parTrans" cxnId="{9BCFEA78-A6F2-4D3A-B04B-BF8F66007F99}">
      <dgm:prSet/>
      <dgm:spPr/>
      <dgm:t>
        <a:bodyPr/>
        <a:lstStyle/>
        <a:p>
          <a:endParaRPr lang="en-US">
            <a:latin typeface="Bookman Old Style" panose="02050604050505020204" pitchFamily="18" charset="0"/>
          </a:endParaRPr>
        </a:p>
      </dgm:t>
    </dgm:pt>
    <dgm:pt modelId="{B58AA5A8-4B45-4614-9099-FAE3ABDD5790}" type="sibTrans" cxnId="{9BCFEA78-A6F2-4D3A-B04B-BF8F66007F99}">
      <dgm:prSet/>
      <dgm:spPr/>
      <dgm:t>
        <a:bodyPr/>
        <a:lstStyle/>
        <a:p>
          <a:endParaRPr lang="en-US">
            <a:latin typeface="Bookman Old Style" panose="02050604050505020204" pitchFamily="18" charset="0"/>
          </a:endParaRPr>
        </a:p>
      </dgm:t>
    </dgm:pt>
    <dgm:pt modelId="{0DB5E534-0955-4881-85A6-F134AC671F3A}">
      <dgm:prSet phldrT="[Text]"/>
      <dgm:spPr/>
      <dgm:t>
        <a:bodyPr/>
        <a:lstStyle/>
        <a:p>
          <a:r>
            <a:rPr lang="en-US" dirty="0">
              <a:latin typeface="Bookman Old Style" panose="02050604050505020204" pitchFamily="18" charset="0"/>
            </a:rPr>
            <a:t>60 (CIA)</a:t>
          </a:r>
        </a:p>
      </dgm:t>
    </dgm:pt>
    <dgm:pt modelId="{31B5D034-8F27-4B00-93DD-5C6D76BE81BE}" type="parTrans" cxnId="{1EEF7C9D-249D-4D3D-BF1A-1958D2D4FC77}">
      <dgm:prSet/>
      <dgm:spPr/>
      <dgm:t>
        <a:bodyPr/>
        <a:lstStyle/>
        <a:p>
          <a:endParaRPr lang="en-US">
            <a:latin typeface="Bookman Old Style" panose="02050604050505020204" pitchFamily="18" charset="0"/>
          </a:endParaRPr>
        </a:p>
      </dgm:t>
    </dgm:pt>
    <dgm:pt modelId="{5217ED02-2B1E-4C50-BBB0-7AE62E5A6F07}" type="sibTrans" cxnId="{1EEF7C9D-249D-4D3D-BF1A-1958D2D4FC77}">
      <dgm:prSet/>
      <dgm:spPr/>
      <dgm:t>
        <a:bodyPr/>
        <a:lstStyle/>
        <a:p>
          <a:endParaRPr lang="en-US">
            <a:latin typeface="Bookman Old Style" panose="02050604050505020204" pitchFamily="18" charset="0"/>
          </a:endParaRPr>
        </a:p>
      </dgm:t>
    </dgm:pt>
    <dgm:pt modelId="{CEEB3ADB-BDCD-4936-9189-CA69D79E7DDF}">
      <dgm:prSet phldrT="[Text]"/>
      <dgm:spPr/>
      <dgm:t>
        <a:bodyPr/>
        <a:lstStyle/>
        <a:p>
          <a:r>
            <a:rPr lang="en-US" dirty="0">
              <a:latin typeface="Bookman Old Style" panose="02050604050505020204" pitchFamily="18" charset="0"/>
            </a:rPr>
            <a:t>40 (SEE)</a:t>
          </a:r>
        </a:p>
      </dgm:t>
    </dgm:pt>
    <dgm:pt modelId="{402930E2-F749-4AF7-A859-22CEF5AC2044}" type="parTrans" cxnId="{BC491CF0-1A8A-405F-A390-6FE363EFF97A}">
      <dgm:prSet/>
      <dgm:spPr/>
      <dgm:t>
        <a:bodyPr/>
        <a:lstStyle/>
        <a:p>
          <a:endParaRPr lang="en-US">
            <a:latin typeface="Bookman Old Style" panose="02050604050505020204" pitchFamily="18" charset="0"/>
          </a:endParaRPr>
        </a:p>
      </dgm:t>
    </dgm:pt>
    <dgm:pt modelId="{BDE2FF6F-33C2-44B1-8798-923ACFD30AEB}" type="sibTrans" cxnId="{BC491CF0-1A8A-405F-A390-6FE363EFF97A}">
      <dgm:prSet/>
      <dgm:spPr/>
      <dgm:t>
        <a:bodyPr/>
        <a:lstStyle/>
        <a:p>
          <a:endParaRPr lang="en-US">
            <a:latin typeface="Bookman Old Style" panose="02050604050505020204" pitchFamily="18" charset="0"/>
          </a:endParaRPr>
        </a:p>
      </dgm:t>
    </dgm:pt>
    <dgm:pt modelId="{2B495F0A-F411-4144-BE3D-451C8CEAE354}" type="pres">
      <dgm:prSet presAssocID="{78FBA6E5-51BA-41AD-8258-D553B93BC108}" presName="vert0" presStyleCnt="0">
        <dgm:presLayoutVars>
          <dgm:dir/>
          <dgm:animOne val="branch"/>
          <dgm:animLvl val="lvl"/>
        </dgm:presLayoutVars>
      </dgm:prSet>
      <dgm:spPr/>
    </dgm:pt>
    <dgm:pt modelId="{F4322040-8957-486E-A1D2-55D929265846}" type="pres">
      <dgm:prSet presAssocID="{40441172-BF89-4993-9F56-3B2728FBA393}" presName="thickLine" presStyleLbl="alignNode1" presStyleIdx="0" presStyleCnt="1"/>
      <dgm:spPr/>
    </dgm:pt>
    <dgm:pt modelId="{67E9F69E-D22B-4273-9A0B-2D0E21F5E42A}" type="pres">
      <dgm:prSet presAssocID="{40441172-BF89-4993-9F56-3B2728FBA393}" presName="horz1" presStyleCnt="0"/>
      <dgm:spPr/>
    </dgm:pt>
    <dgm:pt modelId="{DE706BA4-A042-4151-8F41-8185A7DBA6E3}" type="pres">
      <dgm:prSet presAssocID="{40441172-BF89-4993-9F56-3B2728FBA393}" presName="tx1" presStyleLbl="revTx" presStyleIdx="0" presStyleCnt="3" custScaleX="132326"/>
      <dgm:spPr/>
    </dgm:pt>
    <dgm:pt modelId="{E6E28C40-4375-4EE9-9550-9C9F98E14FBE}" type="pres">
      <dgm:prSet presAssocID="{40441172-BF89-4993-9F56-3B2728FBA393}" presName="vert1" presStyleCnt="0"/>
      <dgm:spPr/>
    </dgm:pt>
    <dgm:pt modelId="{DB254EF8-33A6-45E0-B69A-4DEBE126B6C9}" type="pres">
      <dgm:prSet presAssocID="{0DB5E534-0955-4881-85A6-F134AC671F3A}" presName="vertSpace2a" presStyleCnt="0"/>
      <dgm:spPr/>
    </dgm:pt>
    <dgm:pt modelId="{A47989E5-B535-494F-A353-F513537E3D35}" type="pres">
      <dgm:prSet presAssocID="{0DB5E534-0955-4881-85A6-F134AC671F3A}" presName="horz2" presStyleCnt="0"/>
      <dgm:spPr/>
    </dgm:pt>
    <dgm:pt modelId="{10609224-5F0D-4A40-8C91-7BA9810C625F}" type="pres">
      <dgm:prSet presAssocID="{0DB5E534-0955-4881-85A6-F134AC671F3A}" presName="horzSpace2" presStyleCnt="0"/>
      <dgm:spPr/>
    </dgm:pt>
    <dgm:pt modelId="{A1A5C03D-3859-4E04-9E27-13DA002C75E4}" type="pres">
      <dgm:prSet presAssocID="{0DB5E534-0955-4881-85A6-F134AC671F3A}" presName="tx2" presStyleLbl="revTx" presStyleIdx="1" presStyleCnt="3"/>
      <dgm:spPr/>
    </dgm:pt>
    <dgm:pt modelId="{F281A2AA-D168-4857-BF06-F8A1C00FB6A7}" type="pres">
      <dgm:prSet presAssocID="{0DB5E534-0955-4881-85A6-F134AC671F3A}" presName="vert2" presStyleCnt="0"/>
      <dgm:spPr/>
    </dgm:pt>
    <dgm:pt modelId="{7937FD42-8A5D-406B-84CA-3D12E2FF2C78}" type="pres">
      <dgm:prSet presAssocID="{0DB5E534-0955-4881-85A6-F134AC671F3A}" presName="thinLine2b" presStyleLbl="callout" presStyleIdx="0" presStyleCnt="2"/>
      <dgm:spPr/>
    </dgm:pt>
    <dgm:pt modelId="{63FD2903-1B59-4E45-944C-AB03A828E8A0}" type="pres">
      <dgm:prSet presAssocID="{0DB5E534-0955-4881-85A6-F134AC671F3A}" presName="vertSpace2b" presStyleCnt="0"/>
      <dgm:spPr/>
    </dgm:pt>
    <dgm:pt modelId="{5E62B02B-7733-4536-A23F-B82FDBB5FC10}" type="pres">
      <dgm:prSet presAssocID="{CEEB3ADB-BDCD-4936-9189-CA69D79E7DDF}" presName="horz2" presStyleCnt="0"/>
      <dgm:spPr/>
    </dgm:pt>
    <dgm:pt modelId="{23D03E27-98F5-48C1-966A-AACBBB1482A7}" type="pres">
      <dgm:prSet presAssocID="{CEEB3ADB-BDCD-4936-9189-CA69D79E7DDF}" presName="horzSpace2" presStyleCnt="0"/>
      <dgm:spPr/>
    </dgm:pt>
    <dgm:pt modelId="{BD748FAA-BA3C-447C-BBFE-7ECF6CE2B6BC}" type="pres">
      <dgm:prSet presAssocID="{CEEB3ADB-BDCD-4936-9189-CA69D79E7DDF}" presName="tx2" presStyleLbl="revTx" presStyleIdx="2" presStyleCnt="3"/>
      <dgm:spPr/>
    </dgm:pt>
    <dgm:pt modelId="{B3D79B28-8188-4E5E-8305-4207C68D6849}" type="pres">
      <dgm:prSet presAssocID="{CEEB3ADB-BDCD-4936-9189-CA69D79E7DDF}" presName="vert2" presStyleCnt="0"/>
      <dgm:spPr/>
    </dgm:pt>
    <dgm:pt modelId="{90DB979C-8DD4-4668-AD4D-1D0730ADB81D}" type="pres">
      <dgm:prSet presAssocID="{CEEB3ADB-BDCD-4936-9189-CA69D79E7DDF}" presName="thinLine2b" presStyleLbl="callout" presStyleIdx="1" presStyleCnt="2"/>
      <dgm:spPr/>
    </dgm:pt>
    <dgm:pt modelId="{508F6CA3-80FD-4C98-BF91-028741BAF717}" type="pres">
      <dgm:prSet presAssocID="{CEEB3ADB-BDCD-4936-9189-CA69D79E7DDF}" presName="vertSpace2b" presStyleCnt="0"/>
      <dgm:spPr/>
    </dgm:pt>
  </dgm:ptLst>
  <dgm:cxnLst>
    <dgm:cxn modelId="{545F0B10-B731-42A6-B2DF-51EC333150AB}" type="presOf" srcId="{78FBA6E5-51BA-41AD-8258-D553B93BC108}" destId="{2B495F0A-F411-4144-BE3D-451C8CEAE354}" srcOrd="0" destOrd="0" presId="urn:microsoft.com/office/officeart/2008/layout/LinedList"/>
    <dgm:cxn modelId="{2D4CC33D-83A3-49F1-A821-4D2A375D33A0}" type="presOf" srcId="{CEEB3ADB-BDCD-4936-9189-CA69D79E7DDF}" destId="{BD748FAA-BA3C-447C-BBFE-7ECF6CE2B6BC}" srcOrd="0" destOrd="0" presId="urn:microsoft.com/office/officeart/2008/layout/LinedList"/>
    <dgm:cxn modelId="{9BCFEA78-A6F2-4D3A-B04B-BF8F66007F99}" srcId="{78FBA6E5-51BA-41AD-8258-D553B93BC108}" destId="{40441172-BF89-4993-9F56-3B2728FBA393}" srcOrd="0" destOrd="0" parTransId="{07AA31CE-7FAD-435F-AA7C-AAFB34B5A9C2}" sibTransId="{B58AA5A8-4B45-4614-9099-FAE3ABDD5790}"/>
    <dgm:cxn modelId="{967AC982-9FE2-42F0-9B68-9FA4ABF06D13}" type="presOf" srcId="{40441172-BF89-4993-9F56-3B2728FBA393}" destId="{DE706BA4-A042-4151-8F41-8185A7DBA6E3}" srcOrd="0" destOrd="0" presId="urn:microsoft.com/office/officeart/2008/layout/LinedList"/>
    <dgm:cxn modelId="{1EEF7C9D-249D-4D3D-BF1A-1958D2D4FC77}" srcId="{40441172-BF89-4993-9F56-3B2728FBA393}" destId="{0DB5E534-0955-4881-85A6-F134AC671F3A}" srcOrd="0" destOrd="0" parTransId="{31B5D034-8F27-4B00-93DD-5C6D76BE81BE}" sibTransId="{5217ED02-2B1E-4C50-BBB0-7AE62E5A6F07}"/>
    <dgm:cxn modelId="{932964A7-7C84-47B2-A522-AFBBAB4B2A86}" type="presOf" srcId="{0DB5E534-0955-4881-85A6-F134AC671F3A}" destId="{A1A5C03D-3859-4E04-9E27-13DA002C75E4}" srcOrd="0" destOrd="0" presId="urn:microsoft.com/office/officeart/2008/layout/LinedList"/>
    <dgm:cxn modelId="{BC491CF0-1A8A-405F-A390-6FE363EFF97A}" srcId="{40441172-BF89-4993-9F56-3B2728FBA393}" destId="{CEEB3ADB-BDCD-4936-9189-CA69D79E7DDF}" srcOrd="1" destOrd="0" parTransId="{402930E2-F749-4AF7-A859-22CEF5AC2044}" sibTransId="{BDE2FF6F-33C2-44B1-8798-923ACFD30AEB}"/>
    <dgm:cxn modelId="{91E4E049-9E8B-4F9D-9A6D-DFC4D3EECDE8}" type="presParOf" srcId="{2B495F0A-F411-4144-BE3D-451C8CEAE354}" destId="{F4322040-8957-486E-A1D2-55D929265846}" srcOrd="0" destOrd="0" presId="urn:microsoft.com/office/officeart/2008/layout/LinedList"/>
    <dgm:cxn modelId="{37ABED90-960D-4614-B56F-FC3A42388CC0}" type="presParOf" srcId="{2B495F0A-F411-4144-BE3D-451C8CEAE354}" destId="{67E9F69E-D22B-4273-9A0B-2D0E21F5E42A}" srcOrd="1" destOrd="0" presId="urn:microsoft.com/office/officeart/2008/layout/LinedList"/>
    <dgm:cxn modelId="{04AF814A-1CC0-49A8-950B-64DAFD8507BE}" type="presParOf" srcId="{67E9F69E-D22B-4273-9A0B-2D0E21F5E42A}" destId="{DE706BA4-A042-4151-8F41-8185A7DBA6E3}" srcOrd="0" destOrd="0" presId="urn:microsoft.com/office/officeart/2008/layout/LinedList"/>
    <dgm:cxn modelId="{32DA443F-A784-4EF9-BADF-AE8B8D3877F1}" type="presParOf" srcId="{67E9F69E-D22B-4273-9A0B-2D0E21F5E42A}" destId="{E6E28C40-4375-4EE9-9550-9C9F98E14FBE}" srcOrd="1" destOrd="0" presId="urn:microsoft.com/office/officeart/2008/layout/LinedList"/>
    <dgm:cxn modelId="{6BE1EFAE-D8D5-4550-A700-D90F27E0C506}" type="presParOf" srcId="{E6E28C40-4375-4EE9-9550-9C9F98E14FBE}" destId="{DB254EF8-33A6-45E0-B69A-4DEBE126B6C9}" srcOrd="0" destOrd="0" presId="urn:microsoft.com/office/officeart/2008/layout/LinedList"/>
    <dgm:cxn modelId="{60B65E54-E79F-4191-8BEF-DC517D9F70CB}" type="presParOf" srcId="{E6E28C40-4375-4EE9-9550-9C9F98E14FBE}" destId="{A47989E5-B535-494F-A353-F513537E3D35}" srcOrd="1" destOrd="0" presId="urn:microsoft.com/office/officeart/2008/layout/LinedList"/>
    <dgm:cxn modelId="{637CBDDC-F866-47C2-9DAD-BE53BEBF8F8D}" type="presParOf" srcId="{A47989E5-B535-494F-A353-F513537E3D35}" destId="{10609224-5F0D-4A40-8C91-7BA9810C625F}" srcOrd="0" destOrd="0" presId="urn:microsoft.com/office/officeart/2008/layout/LinedList"/>
    <dgm:cxn modelId="{BB531548-1D3B-4D6A-A612-E43F5A38A696}" type="presParOf" srcId="{A47989E5-B535-494F-A353-F513537E3D35}" destId="{A1A5C03D-3859-4E04-9E27-13DA002C75E4}" srcOrd="1" destOrd="0" presId="urn:microsoft.com/office/officeart/2008/layout/LinedList"/>
    <dgm:cxn modelId="{17CE4CD2-6B19-4320-8ECA-6610EEA3E22D}" type="presParOf" srcId="{A47989E5-B535-494F-A353-F513537E3D35}" destId="{F281A2AA-D168-4857-BF06-F8A1C00FB6A7}" srcOrd="2" destOrd="0" presId="urn:microsoft.com/office/officeart/2008/layout/LinedList"/>
    <dgm:cxn modelId="{881A72CD-8523-43F7-B04F-870185D770F9}" type="presParOf" srcId="{E6E28C40-4375-4EE9-9550-9C9F98E14FBE}" destId="{7937FD42-8A5D-406B-84CA-3D12E2FF2C78}" srcOrd="2" destOrd="0" presId="urn:microsoft.com/office/officeart/2008/layout/LinedList"/>
    <dgm:cxn modelId="{4D82BCE9-284C-468E-9B48-A185741A64E8}" type="presParOf" srcId="{E6E28C40-4375-4EE9-9550-9C9F98E14FBE}" destId="{63FD2903-1B59-4E45-944C-AB03A828E8A0}" srcOrd="3" destOrd="0" presId="urn:microsoft.com/office/officeart/2008/layout/LinedList"/>
    <dgm:cxn modelId="{B7F8D276-F2FA-4A6D-B2DF-221BAA24160B}" type="presParOf" srcId="{E6E28C40-4375-4EE9-9550-9C9F98E14FBE}" destId="{5E62B02B-7733-4536-A23F-B82FDBB5FC10}" srcOrd="4" destOrd="0" presId="urn:microsoft.com/office/officeart/2008/layout/LinedList"/>
    <dgm:cxn modelId="{56FD3CE7-E83B-4C10-BEDB-07CDCE794B5F}" type="presParOf" srcId="{5E62B02B-7733-4536-A23F-B82FDBB5FC10}" destId="{23D03E27-98F5-48C1-966A-AACBBB1482A7}" srcOrd="0" destOrd="0" presId="urn:microsoft.com/office/officeart/2008/layout/LinedList"/>
    <dgm:cxn modelId="{041D1587-AD7A-4DF0-8D75-7DCAB6863BA1}" type="presParOf" srcId="{5E62B02B-7733-4536-A23F-B82FDBB5FC10}" destId="{BD748FAA-BA3C-447C-BBFE-7ECF6CE2B6BC}" srcOrd="1" destOrd="0" presId="urn:microsoft.com/office/officeart/2008/layout/LinedList"/>
    <dgm:cxn modelId="{113CA918-2580-4227-BE77-F370E999C154}" type="presParOf" srcId="{5E62B02B-7733-4536-A23F-B82FDBB5FC10}" destId="{B3D79B28-8188-4E5E-8305-4207C68D6849}" srcOrd="2" destOrd="0" presId="urn:microsoft.com/office/officeart/2008/layout/LinedList"/>
    <dgm:cxn modelId="{C2C6B9DA-39E3-42D8-969F-EE8B1EC33166}" type="presParOf" srcId="{E6E28C40-4375-4EE9-9550-9C9F98E14FBE}" destId="{90DB979C-8DD4-4668-AD4D-1D0730ADB81D}" srcOrd="5" destOrd="0" presId="urn:microsoft.com/office/officeart/2008/layout/LinedList"/>
    <dgm:cxn modelId="{B2796035-5AAB-4597-A054-F7F1E589E2D6}" type="presParOf" srcId="{E6E28C40-4375-4EE9-9550-9C9F98E14FBE}" destId="{508F6CA3-80FD-4C98-BF91-028741BAF717}" srcOrd="6"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E890C3C-FCA9-4776-A997-422648B47365}" type="doc">
      <dgm:prSet loTypeId="urn:microsoft.com/office/officeart/2005/8/layout/process4" loCatId="list" qsTypeId="urn:microsoft.com/office/officeart/2005/8/quickstyle/simple1" qsCatId="simple" csTypeId="urn:microsoft.com/office/officeart/2005/8/colors/accent1_2" csCatId="accent1" phldr="1"/>
      <dgm:spPr/>
      <dgm:t>
        <a:bodyPr/>
        <a:lstStyle/>
        <a:p>
          <a:endParaRPr lang="en-US"/>
        </a:p>
      </dgm:t>
    </dgm:pt>
    <dgm:pt modelId="{964FA2D2-B2F7-47A8-B5AD-0EBEEFD79D56}">
      <dgm:prSet phldrT="[Text]"/>
      <dgm:spPr/>
      <dgm:t>
        <a:bodyPr/>
        <a:lstStyle/>
        <a:p>
          <a:r>
            <a:rPr lang="en-US" dirty="0"/>
            <a:t>Types of Supervised Learning</a:t>
          </a:r>
        </a:p>
      </dgm:t>
    </dgm:pt>
    <dgm:pt modelId="{D3D4DE0C-DCA2-40B1-8C30-15F092749FF6}" type="parTrans" cxnId="{A761A920-2417-4F1A-8A43-EAB7393307F8}">
      <dgm:prSet/>
      <dgm:spPr/>
      <dgm:t>
        <a:bodyPr/>
        <a:lstStyle/>
        <a:p>
          <a:endParaRPr lang="en-US"/>
        </a:p>
      </dgm:t>
    </dgm:pt>
    <dgm:pt modelId="{729C5090-A248-4FC9-B17B-E01183626784}" type="sibTrans" cxnId="{A761A920-2417-4F1A-8A43-EAB7393307F8}">
      <dgm:prSet/>
      <dgm:spPr/>
      <dgm:t>
        <a:bodyPr/>
        <a:lstStyle/>
        <a:p>
          <a:endParaRPr lang="en-US"/>
        </a:p>
      </dgm:t>
    </dgm:pt>
    <dgm:pt modelId="{602D7BD6-91CB-412B-AE41-74F1FFD101EC}">
      <dgm:prSet phldrT="[Text]"/>
      <dgm:spPr/>
      <dgm:t>
        <a:bodyPr/>
        <a:lstStyle/>
        <a:p>
          <a:pPr>
            <a:buFont typeface="Arial" panose="020B0604020202020204" pitchFamily="34" charset="0"/>
            <a:buChar char="•"/>
          </a:pPr>
          <a:r>
            <a:rPr lang="en-US" b="0" i="0" dirty="0">
              <a:solidFill>
                <a:srgbClr val="273239"/>
              </a:solidFill>
              <a:effectLst/>
              <a:latin typeface="Nunito" pitchFamily="2" charset="0"/>
            </a:rPr>
            <a:t>Regression</a:t>
          </a:r>
          <a:endParaRPr lang="en-US" dirty="0"/>
        </a:p>
      </dgm:t>
    </dgm:pt>
    <dgm:pt modelId="{3D7E39DE-A55C-400F-8B42-41B31CB1999F}" type="parTrans" cxnId="{8DFD168C-2BD3-44BE-9B8D-C71993952D10}">
      <dgm:prSet/>
      <dgm:spPr/>
      <dgm:t>
        <a:bodyPr/>
        <a:lstStyle/>
        <a:p>
          <a:endParaRPr lang="en-US"/>
        </a:p>
      </dgm:t>
    </dgm:pt>
    <dgm:pt modelId="{E553E02E-ACA0-454B-94C8-FE52C74C91A6}" type="sibTrans" cxnId="{8DFD168C-2BD3-44BE-9B8D-C71993952D10}">
      <dgm:prSet/>
      <dgm:spPr/>
      <dgm:t>
        <a:bodyPr/>
        <a:lstStyle/>
        <a:p>
          <a:endParaRPr lang="en-US"/>
        </a:p>
      </dgm:t>
    </dgm:pt>
    <dgm:pt modelId="{330F45C5-B52C-4948-B409-8520E93932D7}">
      <dgm:prSet phldrT="[Text]"/>
      <dgm:spPr/>
      <dgm:t>
        <a:bodyPr/>
        <a:lstStyle/>
        <a:p>
          <a:pPr>
            <a:buFont typeface="Arial" panose="020B0604020202020204" pitchFamily="34" charset="0"/>
            <a:buChar char="•"/>
          </a:pPr>
          <a:r>
            <a:rPr lang="en-US" b="0" i="0" dirty="0">
              <a:solidFill>
                <a:srgbClr val="273239"/>
              </a:solidFill>
              <a:effectLst/>
              <a:latin typeface="Nunito" pitchFamily="2" charset="0"/>
            </a:rPr>
            <a:t>Logistic Regression</a:t>
          </a:r>
          <a:endParaRPr lang="en-US" dirty="0"/>
        </a:p>
      </dgm:t>
    </dgm:pt>
    <dgm:pt modelId="{64F32AA5-DACF-4B92-8DCE-4477E1A027FF}" type="parTrans" cxnId="{A72E6F02-F65A-4C66-8B62-166F282C5D2D}">
      <dgm:prSet/>
      <dgm:spPr/>
      <dgm:t>
        <a:bodyPr/>
        <a:lstStyle/>
        <a:p>
          <a:endParaRPr lang="en-US"/>
        </a:p>
      </dgm:t>
    </dgm:pt>
    <dgm:pt modelId="{75AB36D6-B58D-4B8D-9D87-38F5DA1B7151}" type="sibTrans" cxnId="{A72E6F02-F65A-4C66-8B62-166F282C5D2D}">
      <dgm:prSet/>
      <dgm:spPr/>
      <dgm:t>
        <a:bodyPr/>
        <a:lstStyle/>
        <a:p>
          <a:endParaRPr lang="en-US"/>
        </a:p>
      </dgm:t>
    </dgm:pt>
    <dgm:pt modelId="{25B91999-832D-475A-8EA4-109F1F23EAF7}">
      <dgm:prSet phldrT="[Text]"/>
      <dgm:spPr/>
      <dgm:t>
        <a:bodyPr/>
        <a:lstStyle/>
        <a:p>
          <a:pPr>
            <a:buFont typeface="Arial" panose="020B0604020202020204" pitchFamily="34" charset="0"/>
            <a:buChar char="•"/>
          </a:pPr>
          <a:r>
            <a:rPr lang="en-US" b="0" i="0" dirty="0">
              <a:solidFill>
                <a:srgbClr val="273239"/>
              </a:solidFill>
              <a:effectLst/>
              <a:latin typeface="Nunito" pitchFamily="2" charset="0"/>
            </a:rPr>
            <a:t>Classification</a:t>
          </a:r>
          <a:endParaRPr lang="en-US" dirty="0"/>
        </a:p>
      </dgm:t>
    </dgm:pt>
    <dgm:pt modelId="{64520046-DAAB-46BF-B5D1-A6999D57E6B7}" type="parTrans" cxnId="{248BA5CE-3F11-43BD-9C1A-180EA9EB5331}">
      <dgm:prSet/>
      <dgm:spPr/>
      <dgm:t>
        <a:bodyPr/>
        <a:lstStyle/>
        <a:p>
          <a:endParaRPr lang="en-US"/>
        </a:p>
      </dgm:t>
    </dgm:pt>
    <dgm:pt modelId="{7D9A5B34-AED6-47F8-91AB-456D45199DC6}" type="sibTrans" cxnId="{248BA5CE-3F11-43BD-9C1A-180EA9EB5331}">
      <dgm:prSet/>
      <dgm:spPr/>
      <dgm:t>
        <a:bodyPr/>
        <a:lstStyle/>
        <a:p>
          <a:endParaRPr lang="en-US"/>
        </a:p>
      </dgm:t>
    </dgm:pt>
    <dgm:pt modelId="{0619B333-01E1-4820-B6E9-2939BD9EE177}">
      <dgm:prSet phldrT="[Text]"/>
      <dgm:spPr/>
      <dgm:t>
        <a:bodyPr/>
        <a:lstStyle/>
        <a:p>
          <a:pPr>
            <a:buFont typeface="Arial" panose="020B0604020202020204" pitchFamily="34" charset="0"/>
            <a:buChar char="•"/>
          </a:pPr>
          <a:r>
            <a:rPr lang="en-US" b="0" i="0" dirty="0">
              <a:solidFill>
                <a:srgbClr val="273239"/>
              </a:solidFill>
              <a:effectLst/>
              <a:latin typeface="Nunito" pitchFamily="2" charset="0"/>
            </a:rPr>
            <a:t>Naive Bayes Classifiers</a:t>
          </a:r>
          <a:endParaRPr lang="en-US" dirty="0"/>
        </a:p>
      </dgm:t>
    </dgm:pt>
    <dgm:pt modelId="{84971F1A-A363-4B18-8D6E-DAFDDFD5AB74}" type="parTrans" cxnId="{78CBC7D7-83B0-433E-98AB-FB079B9EE4A2}">
      <dgm:prSet/>
      <dgm:spPr/>
      <dgm:t>
        <a:bodyPr/>
        <a:lstStyle/>
        <a:p>
          <a:endParaRPr lang="en-US"/>
        </a:p>
      </dgm:t>
    </dgm:pt>
    <dgm:pt modelId="{F0FBA342-74CF-4BB3-9DD8-AEBCB580E07F}" type="sibTrans" cxnId="{78CBC7D7-83B0-433E-98AB-FB079B9EE4A2}">
      <dgm:prSet/>
      <dgm:spPr/>
      <dgm:t>
        <a:bodyPr/>
        <a:lstStyle/>
        <a:p>
          <a:endParaRPr lang="en-US"/>
        </a:p>
      </dgm:t>
    </dgm:pt>
    <dgm:pt modelId="{3D40FA6C-FA47-465C-989C-DC203EC9E02D}">
      <dgm:prSet phldrT="[Text]"/>
      <dgm:spPr/>
      <dgm:t>
        <a:bodyPr/>
        <a:lstStyle/>
        <a:p>
          <a:r>
            <a:rPr lang="en-US" dirty="0"/>
            <a:t> </a:t>
          </a:r>
        </a:p>
      </dgm:t>
    </dgm:pt>
    <dgm:pt modelId="{3AB3A8DF-AFA3-4A32-9F2F-B23683B1BBF6}" type="parTrans" cxnId="{160BAA96-376B-48DB-8C28-5C2C7E1E4E49}">
      <dgm:prSet/>
      <dgm:spPr/>
      <dgm:t>
        <a:bodyPr/>
        <a:lstStyle/>
        <a:p>
          <a:endParaRPr lang="en-US"/>
        </a:p>
      </dgm:t>
    </dgm:pt>
    <dgm:pt modelId="{C6B116F8-500C-496C-8C20-2B504DB773B0}" type="sibTrans" cxnId="{160BAA96-376B-48DB-8C28-5C2C7E1E4E49}">
      <dgm:prSet/>
      <dgm:spPr/>
      <dgm:t>
        <a:bodyPr/>
        <a:lstStyle/>
        <a:p>
          <a:endParaRPr lang="en-US"/>
        </a:p>
      </dgm:t>
    </dgm:pt>
    <dgm:pt modelId="{C5DF0E41-A1D2-4397-87CD-5AEA2137075A}">
      <dgm:prSet phldrT="[Text]"/>
      <dgm:spPr/>
      <dgm:t>
        <a:bodyPr/>
        <a:lstStyle/>
        <a:p>
          <a:pPr>
            <a:buFont typeface="Arial" panose="020B0604020202020204" pitchFamily="34" charset="0"/>
            <a:buChar char="•"/>
          </a:pPr>
          <a:r>
            <a:rPr lang="en-US" b="0" i="0" dirty="0">
              <a:solidFill>
                <a:srgbClr val="273239"/>
              </a:solidFill>
              <a:effectLst/>
              <a:latin typeface="Nunito" pitchFamily="2" charset="0"/>
            </a:rPr>
            <a:t>K-NN (k nearest neighbors)</a:t>
          </a:r>
          <a:endParaRPr lang="en-US" dirty="0"/>
        </a:p>
      </dgm:t>
    </dgm:pt>
    <dgm:pt modelId="{ECD9A280-2F41-4F1A-9151-10CFACEFAECC}" type="parTrans" cxnId="{7AFC8D78-4554-4B7E-9874-12FA8DF6691C}">
      <dgm:prSet/>
      <dgm:spPr/>
      <dgm:t>
        <a:bodyPr/>
        <a:lstStyle/>
        <a:p>
          <a:endParaRPr lang="en-US"/>
        </a:p>
      </dgm:t>
    </dgm:pt>
    <dgm:pt modelId="{6C3E26C4-3503-4C9A-B0E7-ECAC9CB65E8C}" type="sibTrans" cxnId="{7AFC8D78-4554-4B7E-9874-12FA8DF6691C}">
      <dgm:prSet/>
      <dgm:spPr/>
      <dgm:t>
        <a:bodyPr/>
        <a:lstStyle/>
        <a:p>
          <a:endParaRPr lang="en-US"/>
        </a:p>
      </dgm:t>
    </dgm:pt>
    <dgm:pt modelId="{1D52B111-F234-4B0C-9387-1E332FF4BB6A}">
      <dgm:prSet phldrT="[Text]"/>
      <dgm:spPr/>
      <dgm:t>
        <a:bodyPr/>
        <a:lstStyle/>
        <a:p>
          <a:pPr>
            <a:buFont typeface="Arial" panose="020B0604020202020204" pitchFamily="34" charset="0"/>
            <a:buChar char="•"/>
          </a:pPr>
          <a:r>
            <a:rPr lang="en-US" b="0" i="0" dirty="0">
              <a:solidFill>
                <a:srgbClr val="273239"/>
              </a:solidFill>
              <a:effectLst/>
              <a:latin typeface="Nunito" pitchFamily="2" charset="0"/>
            </a:rPr>
            <a:t>Decision Trees</a:t>
          </a:r>
          <a:endParaRPr lang="en-US" dirty="0"/>
        </a:p>
      </dgm:t>
    </dgm:pt>
    <dgm:pt modelId="{CC0B54A3-6E34-44CD-B8C0-1DDFC2ACAF53}" type="parTrans" cxnId="{426F90DA-ECAF-4A5A-BC09-A4EB0B5F577C}">
      <dgm:prSet/>
      <dgm:spPr/>
      <dgm:t>
        <a:bodyPr/>
        <a:lstStyle/>
        <a:p>
          <a:endParaRPr lang="en-US"/>
        </a:p>
      </dgm:t>
    </dgm:pt>
    <dgm:pt modelId="{66B10821-8BF1-46F3-9544-FF15575233E2}" type="sibTrans" cxnId="{426F90DA-ECAF-4A5A-BC09-A4EB0B5F577C}">
      <dgm:prSet/>
      <dgm:spPr/>
      <dgm:t>
        <a:bodyPr/>
        <a:lstStyle/>
        <a:p>
          <a:endParaRPr lang="en-US"/>
        </a:p>
      </dgm:t>
    </dgm:pt>
    <dgm:pt modelId="{75F3670A-1016-4920-B945-4F2B8CF14818}">
      <dgm:prSet phldrT="[Text]"/>
      <dgm:spPr/>
      <dgm:t>
        <a:bodyPr/>
        <a:lstStyle/>
        <a:p>
          <a:r>
            <a:rPr lang="en-US" dirty="0"/>
            <a:t> </a:t>
          </a:r>
        </a:p>
      </dgm:t>
    </dgm:pt>
    <dgm:pt modelId="{C366F51A-97C3-4973-92EF-6C7994EAA79C}" type="sibTrans" cxnId="{10D9F7C7-751C-47F5-9197-A66078B3EAF9}">
      <dgm:prSet/>
      <dgm:spPr/>
      <dgm:t>
        <a:bodyPr/>
        <a:lstStyle/>
        <a:p>
          <a:endParaRPr lang="en-US"/>
        </a:p>
      </dgm:t>
    </dgm:pt>
    <dgm:pt modelId="{91440EC9-E6A5-4640-84F2-7A2733EB3264}" type="parTrans" cxnId="{10D9F7C7-751C-47F5-9197-A66078B3EAF9}">
      <dgm:prSet/>
      <dgm:spPr/>
      <dgm:t>
        <a:bodyPr/>
        <a:lstStyle/>
        <a:p>
          <a:endParaRPr lang="en-US"/>
        </a:p>
      </dgm:t>
    </dgm:pt>
    <dgm:pt modelId="{8DEC2916-F347-468A-A0DE-BBFFEF5FF190}" type="pres">
      <dgm:prSet presAssocID="{6E890C3C-FCA9-4776-A997-422648B47365}" presName="Name0" presStyleCnt="0">
        <dgm:presLayoutVars>
          <dgm:dir/>
          <dgm:animLvl val="lvl"/>
          <dgm:resizeHandles val="exact"/>
        </dgm:presLayoutVars>
      </dgm:prSet>
      <dgm:spPr/>
    </dgm:pt>
    <dgm:pt modelId="{6E1AA155-03EC-4755-814D-FC80BB93BF4D}" type="pres">
      <dgm:prSet presAssocID="{3D40FA6C-FA47-465C-989C-DC203EC9E02D}" presName="boxAndChildren" presStyleCnt="0"/>
      <dgm:spPr/>
    </dgm:pt>
    <dgm:pt modelId="{8360C2AE-F1EE-4730-BE87-469940CC39D1}" type="pres">
      <dgm:prSet presAssocID="{3D40FA6C-FA47-465C-989C-DC203EC9E02D}" presName="parentTextBox" presStyleLbl="node1" presStyleIdx="0" presStyleCnt="3"/>
      <dgm:spPr/>
    </dgm:pt>
    <dgm:pt modelId="{749E1A51-A092-4292-B52B-0118F73C5CA8}" type="pres">
      <dgm:prSet presAssocID="{3D40FA6C-FA47-465C-989C-DC203EC9E02D}" presName="entireBox" presStyleLbl="node1" presStyleIdx="0" presStyleCnt="3"/>
      <dgm:spPr/>
    </dgm:pt>
    <dgm:pt modelId="{E8D93508-26FC-4739-A6DE-0146744947E8}" type="pres">
      <dgm:prSet presAssocID="{3D40FA6C-FA47-465C-989C-DC203EC9E02D}" presName="descendantBox" presStyleCnt="0"/>
      <dgm:spPr/>
    </dgm:pt>
    <dgm:pt modelId="{DFBA85D0-3F45-487E-A7B3-65F40C06BB68}" type="pres">
      <dgm:prSet presAssocID="{C5DF0E41-A1D2-4397-87CD-5AEA2137075A}" presName="childTextBox" presStyleLbl="fgAccFollowNode1" presStyleIdx="0" presStyleCnt="6">
        <dgm:presLayoutVars>
          <dgm:bulletEnabled val="1"/>
        </dgm:presLayoutVars>
      </dgm:prSet>
      <dgm:spPr/>
    </dgm:pt>
    <dgm:pt modelId="{05DB7427-3347-4E9E-913A-C187BA752B96}" type="pres">
      <dgm:prSet presAssocID="{1D52B111-F234-4B0C-9387-1E332FF4BB6A}" presName="childTextBox" presStyleLbl="fgAccFollowNode1" presStyleIdx="1" presStyleCnt="6">
        <dgm:presLayoutVars>
          <dgm:bulletEnabled val="1"/>
        </dgm:presLayoutVars>
      </dgm:prSet>
      <dgm:spPr/>
    </dgm:pt>
    <dgm:pt modelId="{DF60F4CE-37EC-478A-8303-57BACE57EE55}" type="pres">
      <dgm:prSet presAssocID="{C366F51A-97C3-4973-92EF-6C7994EAA79C}" presName="sp" presStyleCnt="0"/>
      <dgm:spPr/>
    </dgm:pt>
    <dgm:pt modelId="{04FA154A-ACF5-4082-8F39-65BCFB9D5A79}" type="pres">
      <dgm:prSet presAssocID="{75F3670A-1016-4920-B945-4F2B8CF14818}" presName="arrowAndChildren" presStyleCnt="0"/>
      <dgm:spPr/>
    </dgm:pt>
    <dgm:pt modelId="{933B1A9F-0016-47EF-80BE-FB66C4ACC805}" type="pres">
      <dgm:prSet presAssocID="{75F3670A-1016-4920-B945-4F2B8CF14818}" presName="parentTextArrow" presStyleLbl="node1" presStyleIdx="0" presStyleCnt="3"/>
      <dgm:spPr/>
    </dgm:pt>
    <dgm:pt modelId="{4F16A3E6-7DC5-4C88-84EC-8E723F2AEC17}" type="pres">
      <dgm:prSet presAssocID="{75F3670A-1016-4920-B945-4F2B8CF14818}" presName="arrow" presStyleLbl="node1" presStyleIdx="1" presStyleCnt="3"/>
      <dgm:spPr/>
    </dgm:pt>
    <dgm:pt modelId="{53F3F58A-A580-4E83-BD80-A9A6D74F21B3}" type="pres">
      <dgm:prSet presAssocID="{75F3670A-1016-4920-B945-4F2B8CF14818}" presName="descendantArrow" presStyleCnt="0"/>
      <dgm:spPr/>
    </dgm:pt>
    <dgm:pt modelId="{40F95E6C-D0A4-46B1-9F4B-E57DE0FDB260}" type="pres">
      <dgm:prSet presAssocID="{25B91999-832D-475A-8EA4-109F1F23EAF7}" presName="childTextArrow" presStyleLbl="fgAccFollowNode1" presStyleIdx="2" presStyleCnt="6">
        <dgm:presLayoutVars>
          <dgm:bulletEnabled val="1"/>
        </dgm:presLayoutVars>
      </dgm:prSet>
      <dgm:spPr/>
    </dgm:pt>
    <dgm:pt modelId="{FABB23E6-5FA6-48D4-8132-33D6E4FF7475}" type="pres">
      <dgm:prSet presAssocID="{0619B333-01E1-4820-B6E9-2939BD9EE177}" presName="childTextArrow" presStyleLbl="fgAccFollowNode1" presStyleIdx="3" presStyleCnt="6">
        <dgm:presLayoutVars>
          <dgm:bulletEnabled val="1"/>
        </dgm:presLayoutVars>
      </dgm:prSet>
      <dgm:spPr/>
    </dgm:pt>
    <dgm:pt modelId="{397F753C-DDB1-437E-B925-F8C7335457B8}" type="pres">
      <dgm:prSet presAssocID="{729C5090-A248-4FC9-B17B-E01183626784}" presName="sp" presStyleCnt="0"/>
      <dgm:spPr/>
    </dgm:pt>
    <dgm:pt modelId="{E5E76273-5911-4336-ADE6-F90D807382AB}" type="pres">
      <dgm:prSet presAssocID="{964FA2D2-B2F7-47A8-B5AD-0EBEEFD79D56}" presName="arrowAndChildren" presStyleCnt="0"/>
      <dgm:spPr/>
    </dgm:pt>
    <dgm:pt modelId="{0F80D512-511B-43ED-A097-755F11263D61}" type="pres">
      <dgm:prSet presAssocID="{964FA2D2-B2F7-47A8-B5AD-0EBEEFD79D56}" presName="parentTextArrow" presStyleLbl="node1" presStyleIdx="1" presStyleCnt="3"/>
      <dgm:spPr/>
    </dgm:pt>
    <dgm:pt modelId="{21FC5683-706F-4BCE-8559-A1D76FD1FB0A}" type="pres">
      <dgm:prSet presAssocID="{964FA2D2-B2F7-47A8-B5AD-0EBEEFD79D56}" presName="arrow" presStyleLbl="node1" presStyleIdx="2" presStyleCnt="3"/>
      <dgm:spPr/>
    </dgm:pt>
    <dgm:pt modelId="{8B7343EA-77EB-46FE-A422-9B72008CA5B3}" type="pres">
      <dgm:prSet presAssocID="{964FA2D2-B2F7-47A8-B5AD-0EBEEFD79D56}" presName="descendantArrow" presStyleCnt="0"/>
      <dgm:spPr/>
    </dgm:pt>
    <dgm:pt modelId="{541D0298-FBB8-484F-BDDD-3840D6BD9D9A}" type="pres">
      <dgm:prSet presAssocID="{602D7BD6-91CB-412B-AE41-74F1FFD101EC}" presName="childTextArrow" presStyleLbl="fgAccFollowNode1" presStyleIdx="4" presStyleCnt="6">
        <dgm:presLayoutVars>
          <dgm:bulletEnabled val="1"/>
        </dgm:presLayoutVars>
      </dgm:prSet>
      <dgm:spPr/>
    </dgm:pt>
    <dgm:pt modelId="{91DA3B4E-C834-44D5-A71E-B687E8B99483}" type="pres">
      <dgm:prSet presAssocID="{330F45C5-B52C-4948-B409-8520E93932D7}" presName="childTextArrow" presStyleLbl="fgAccFollowNode1" presStyleIdx="5" presStyleCnt="6">
        <dgm:presLayoutVars>
          <dgm:bulletEnabled val="1"/>
        </dgm:presLayoutVars>
      </dgm:prSet>
      <dgm:spPr/>
    </dgm:pt>
  </dgm:ptLst>
  <dgm:cxnLst>
    <dgm:cxn modelId="{A72E6F02-F65A-4C66-8B62-166F282C5D2D}" srcId="{964FA2D2-B2F7-47A8-B5AD-0EBEEFD79D56}" destId="{330F45C5-B52C-4948-B409-8520E93932D7}" srcOrd="1" destOrd="0" parTransId="{64F32AA5-DACF-4B92-8DCE-4477E1A027FF}" sibTransId="{75AB36D6-B58D-4B8D-9D87-38F5DA1B7151}"/>
    <dgm:cxn modelId="{CA3AE003-3EC5-4757-9AE2-931993A3B493}" type="presOf" srcId="{75F3670A-1016-4920-B945-4F2B8CF14818}" destId="{4F16A3E6-7DC5-4C88-84EC-8E723F2AEC17}" srcOrd="1" destOrd="0" presId="urn:microsoft.com/office/officeart/2005/8/layout/process4"/>
    <dgm:cxn modelId="{7C0CEA04-C3B1-404E-8A60-C929F69EEBF7}" type="presOf" srcId="{25B91999-832D-475A-8EA4-109F1F23EAF7}" destId="{40F95E6C-D0A4-46B1-9F4B-E57DE0FDB260}" srcOrd="0" destOrd="0" presId="urn:microsoft.com/office/officeart/2005/8/layout/process4"/>
    <dgm:cxn modelId="{741DED09-5975-4929-B034-4464694EBABE}" type="presOf" srcId="{3D40FA6C-FA47-465C-989C-DC203EC9E02D}" destId="{749E1A51-A092-4292-B52B-0118F73C5CA8}" srcOrd="1" destOrd="0" presId="urn:microsoft.com/office/officeart/2005/8/layout/process4"/>
    <dgm:cxn modelId="{A761A920-2417-4F1A-8A43-EAB7393307F8}" srcId="{6E890C3C-FCA9-4776-A997-422648B47365}" destId="{964FA2D2-B2F7-47A8-B5AD-0EBEEFD79D56}" srcOrd="0" destOrd="0" parTransId="{D3D4DE0C-DCA2-40B1-8C30-15F092749FF6}" sibTransId="{729C5090-A248-4FC9-B17B-E01183626784}"/>
    <dgm:cxn modelId="{1D495E21-23B1-4DD2-A374-0841CF235E42}" type="presOf" srcId="{964FA2D2-B2F7-47A8-B5AD-0EBEEFD79D56}" destId="{0F80D512-511B-43ED-A097-755F11263D61}" srcOrd="0" destOrd="0" presId="urn:microsoft.com/office/officeart/2005/8/layout/process4"/>
    <dgm:cxn modelId="{2F304A2F-F14B-4EFB-999C-1E2A88BC16C0}" type="presOf" srcId="{964FA2D2-B2F7-47A8-B5AD-0EBEEFD79D56}" destId="{21FC5683-706F-4BCE-8559-A1D76FD1FB0A}" srcOrd="1" destOrd="0" presId="urn:microsoft.com/office/officeart/2005/8/layout/process4"/>
    <dgm:cxn modelId="{940D3238-5D58-4432-AE40-6970B04C2536}" type="presOf" srcId="{75F3670A-1016-4920-B945-4F2B8CF14818}" destId="{933B1A9F-0016-47EF-80BE-FB66C4ACC805}" srcOrd="0" destOrd="0" presId="urn:microsoft.com/office/officeart/2005/8/layout/process4"/>
    <dgm:cxn modelId="{2B7F1363-C696-443B-B577-5C7CE98B6F13}" type="presOf" srcId="{1D52B111-F234-4B0C-9387-1E332FF4BB6A}" destId="{05DB7427-3347-4E9E-913A-C187BA752B96}" srcOrd="0" destOrd="0" presId="urn:microsoft.com/office/officeart/2005/8/layout/process4"/>
    <dgm:cxn modelId="{C2A19C44-44A5-4301-9F4B-4C76823284B3}" type="presOf" srcId="{330F45C5-B52C-4948-B409-8520E93932D7}" destId="{91DA3B4E-C834-44D5-A71E-B687E8B99483}" srcOrd="0" destOrd="0" presId="urn:microsoft.com/office/officeart/2005/8/layout/process4"/>
    <dgm:cxn modelId="{8D5A0C67-7AA3-4182-A919-5347562EEBEB}" type="presOf" srcId="{6E890C3C-FCA9-4776-A997-422648B47365}" destId="{8DEC2916-F347-468A-A0DE-BBFFEF5FF190}" srcOrd="0" destOrd="0" presId="urn:microsoft.com/office/officeart/2005/8/layout/process4"/>
    <dgm:cxn modelId="{52DACB73-FB57-48D6-9258-34078F19D149}" type="presOf" srcId="{C5DF0E41-A1D2-4397-87CD-5AEA2137075A}" destId="{DFBA85D0-3F45-487E-A7B3-65F40C06BB68}" srcOrd="0" destOrd="0" presId="urn:microsoft.com/office/officeart/2005/8/layout/process4"/>
    <dgm:cxn modelId="{7AFC8D78-4554-4B7E-9874-12FA8DF6691C}" srcId="{3D40FA6C-FA47-465C-989C-DC203EC9E02D}" destId="{C5DF0E41-A1D2-4397-87CD-5AEA2137075A}" srcOrd="0" destOrd="0" parTransId="{ECD9A280-2F41-4F1A-9151-10CFACEFAECC}" sibTransId="{6C3E26C4-3503-4C9A-B0E7-ECAC9CB65E8C}"/>
    <dgm:cxn modelId="{D5BE2583-27EA-4A25-B338-651671F62F0A}" type="presOf" srcId="{0619B333-01E1-4820-B6E9-2939BD9EE177}" destId="{FABB23E6-5FA6-48D4-8132-33D6E4FF7475}" srcOrd="0" destOrd="0" presId="urn:microsoft.com/office/officeart/2005/8/layout/process4"/>
    <dgm:cxn modelId="{8DFD168C-2BD3-44BE-9B8D-C71993952D10}" srcId="{964FA2D2-B2F7-47A8-B5AD-0EBEEFD79D56}" destId="{602D7BD6-91CB-412B-AE41-74F1FFD101EC}" srcOrd="0" destOrd="0" parTransId="{3D7E39DE-A55C-400F-8B42-41B31CB1999F}" sibTransId="{E553E02E-ACA0-454B-94C8-FE52C74C91A6}"/>
    <dgm:cxn modelId="{160BAA96-376B-48DB-8C28-5C2C7E1E4E49}" srcId="{6E890C3C-FCA9-4776-A997-422648B47365}" destId="{3D40FA6C-FA47-465C-989C-DC203EC9E02D}" srcOrd="2" destOrd="0" parTransId="{3AB3A8DF-AFA3-4A32-9F2F-B23683B1BBF6}" sibTransId="{C6B116F8-500C-496C-8C20-2B504DB773B0}"/>
    <dgm:cxn modelId="{DFC327AA-014B-44D5-96AD-DC35632A9D8D}" type="presOf" srcId="{3D40FA6C-FA47-465C-989C-DC203EC9E02D}" destId="{8360C2AE-F1EE-4730-BE87-469940CC39D1}" srcOrd="0" destOrd="0" presId="urn:microsoft.com/office/officeart/2005/8/layout/process4"/>
    <dgm:cxn modelId="{10D9F7C7-751C-47F5-9197-A66078B3EAF9}" srcId="{6E890C3C-FCA9-4776-A997-422648B47365}" destId="{75F3670A-1016-4920-B945-4F2B8CF14818}" srcOrd="1" destOrd="0" parTransId="{91440EC9-E6A5-4640-84F2-7A2733EB3264}" sibTransId="{C366F51A-97C3-4973-92EF-6C7994EAA79C}"/>
    <dgm:cxn modelId="{248BA5CE-3F11-43BD-9C1A-180EA9EB5331}" srcId="{75F3670A-1016-4920-B945-4F2B8CF14818}" destId="{25B91999-832D-475A-8EA4-109F1F23EAF7}" srcOrd="0" destOrd="0" parTransId="{64520046-DAAB-46BF-B5D1-A6999D57E6B7}" sibTransId="{7D9A5B34-AED6-47F8-91AB-456D45199DC6}"/>
    <dgm:cxn modelId="{78CBC7D7-83B0-433E-98AB-FB079B9EE4A2}" srcId="{75F3670A-1016-4920-B945-4F2B8CF14818}" destId="{0619B333-01E1-4820-B6E9-2939BD9EE177}" srcOrd="1" destOrd="0" parTransId="{84971F1A-A363-4B18-8D6E-DAFDDFD5AB74}" sibTransId="{F0FBA342-74CF-4BB3-9DD8-AEBCB580E07F}"/>
    <dgm:cxn modelId="{426F90DA-ECAF-4A5A-BC09-A4EB0B5F577C}" srcId="{3D40FA6C-FA47-465C-989C-DC203EC9E02D}" destId="{1D52B111-F234-4B0C-9387-1E332FF4BB6A}" srcOrd="1" destOrd="0" parTransId="{CC0B54A3-6E34-44CD-B8C0-1DDFC2ACAF53}" sibTransId="{66B10821-8BF1-46F3-9544-FF15575233E2}"/>
    <dgm:cxn modelId="{EE4EBBE9-AED6-4B44-B666-856031B55FFD}" type="presOf" srcId="{602D7BD6-91CB-412B-AE41-74F1FFD101EC}" destId="{541D0298-FBB8-484F-BDDD-3840D6BD9D9A}" srcOrd="0" destOrd="0" presId="urn:microsoft.com/office/officeart/2005/8/layout/process4"/>
    <dgm:cxn modelId="{3AA0B2F8-2748-4D4A-9635-7827173641F4}" type="presParOf" srcId="{8DEC2916-F347-468A-A0DE-BBFFEF5FF190}" destId="{6E1AA155-03EC-4755-814D-FC80BB93BF4D}" srcOrd="0" destOrd="0" presId="urn:microsoft.com/office/officeart/2005/8/layout/process4"/>
    <dgm:cxn modelId="{BB91579A-267B-4AE6-AC78-BC1D9098108F}" type="presParOf" srcId="{6E1AA155-03EC-4755-814D-FC80BB93BF4D}" destId="{8360C2AE-F1EE-4730-BE87-469940CC39D1}" srcOrd="0" destOrd="0" presId="urn:microsoft.com/office/officeart/2005/8/layout/process4"/>
    <dgm:cxn modelId="{5E079DF4-302F-4789-8329-5A2705B18AFD}" type="presParOf" srcId="{6E1AA155-03EC-4755-814D-FC80BB93BF4D}" destId="{749E1A51-A092-4292-B52B-0118F73C5CA8}" srcOrd="1" destOrd="0" presId="urn:microsoft.com/office/officeart/2005/8/layout/process4"/>
    <dgm:cxn modelId="{8A464F0E-70F3-44C8-9C8A-D5F0D79BA6DC}" type="presParOf" srcId="{6E1AA155-03EC-4755-814D-FC80BB93BF4D}" destId="{E8D93508-26FC-4739-A6DE-0146744947E8}" srcOrd="2" destOrd="0" presId="urn:microsoft.com/office/officeart/2005/8/layout/process4"/>
    <dgm:cxn modelId="{55C56BA1-1CB9-4762-9F9E-1344843ACCAF}" type="presParOf" srcId="{E8D93508-26FC-4739-A6DE-0146744947E8}" destId="{DFBA85D0-3F45-487E-A7B3-65F40C06BB68}" srcOrd="0" destOrd="0" presId="urn:microsoft.com/office/officeart/2005/8/layout/process4"/>
    <dgm:cxn modelId="{DB3584B6-E902-4CBE-B4EA-285EEA4270F6}" type="presParOf" srcId="{E8D93508-26FC-4739-A6DE-0146744947E8}" destId="{05DB7427-3347-4E9E-913A-C187BA752B96}" srcOrd="1" destOrd="0" presId="urn:microsoft.com/office/officeart/2005/8/layout/process4"/>
    <dgm:cxn modelId="{9DDD0C0B-C52D-4774-84CA-BD1AD37285DA}" type="presParOf" srcId="{8DEC2916-F347-468A-A0DE-BBFFEF5FF190}" destId="{DF60F4CE-37EC-478A-8303-57BACE57EE55}" srcOrd="1" destOrd="0" presId="urn:microsoft.com/office/officeart/2005/8/layout/process4"/>
    <dgm:cxn modelId="{D18354F4-6782-472C-8169-94B9EC6A3E51}" type="presParOf" srcId="{8DEC2916-F347-468A-A0DE-BBFFEF5FF190}" destId="{04FA154A-ACF5-4082-8F39-65BCFB9D5A79}" srcOrd="2" destOrd="0" presId="urn:microsoft.com/office/officeart/2005/8/layout/process4"/>
    <dgm:cxn modelId="{F7476266-D3C3-458D-974E-31A858EFDAC0}" type="presParOf" srcId="{04FA154A-ACF5-4082-8F39-65BCFB9D5A79}" destId="{933B1A9F-0016-47EF-80BE-FB66C4ACC805}" srcOrd="0" destOrd="0" presId="urn:microsoft.com/office/officeart/2005/8/layout/process4"/>
    <dgm:cxn modelId="{44924839-1C34-42A0-9956-5B582ABF5795}" type="presParOf" srcId="{04FA154A-ACF5-4082-8F39-65BCFB9D5A79}" destId="{4F16A3E6-7DC5-4C88-84EC-8E723F2AEC17}" srcOrd="1" destOrd="0" presId="urn:microsoft.com/office/officeart/2005/8/layout/process4"/>
    <dgm:cxn modelId="{19561CF7-2794-46DE-B97F-FD104D61C8D3}" type="presParOf" srcId="{04FA154A-ACF5-4082-8F39-65BCFB9D5A79}" destId="{53F3F58A-A580-4E83-BD80-A9A6D74F21B3}" srcOrd="2" destOrd="0" presId="urn:microsoft.com/office/officeart/2005/8/layout/process4"/>
    <dgm:cxn modelId="{70489927-7471-44F5-9E30-F92EBC792228}" type="presParOf" srcId="{53F3F58A-A580-4E83-BD80-A9A6D74F21B3}" destId="{40F95E6C-D0A4-46B1-9F4B-E57DE0FDB260}" srcOrd="0" destOrd="0" presId="urn:microsoft.com/office/officeart/2005/8/layout/process4"/>
    <dgm:cxn modelId="{D3B6CCB8-C9E8-4DD8-9945-6ABDB04844DD}" type="presParOf" srcId="{53F3F58A-A580-4E83-BD80-A9A6D74F21B3}" destId="{FABB23E6-5FA6-48D4-8132-33D6E4FF7475}" srcOrd="1" destOrd="0" presId="urn:microsoft.com/office/officeart/2005/8/layout/process4"/>
    <dgm:cxn modelId="{64C2B490-FD0A-4FCE-BD90-046820D181BC}" type="presParOf" srcId="{8DEC2916-F347-468A-A0DE-BBFFEF5FF190}" destId="{397F753C-DDB1-437E-B925-F8C7335457B8}" srcOrd="3" destOrd="0" presId="urn:microsoft.com/office/officeart/2005/8/layout/process4"/>
    <dgm:cxn modelId="{A71AAC82-1139-48AD-A37F-335F14313A05}" type="presParOf" srcId="{8DEC2916-F347-468A-A0DE-BBFFEF5FF190}" destId="{E5E76273-5911-4336-ADE6-F90D807382AB}" srcOrd="4" destOrd="0" presId="urn:microsoft.com/office/officeart/2005/8/layout/process4"/>
    <dgm:cxn modelId="{8650BAC0-2B5A-4AC6-B743-705D7534B942}" type="presParOf" srcId="{E5E76273-5911-4336-ADE6-F90D807382AB}" destId="{0F80D512-511B-43ED-A097-755F11263D61}" srcOrd="0" destOrd="0" presId="urn:microsoft.com/office/officeart/2005/8/layout/process4"/>
    <dgm:cxn modelId="{08CDAC8A-2988-46B9-AD91-2B8F9E5F405D}" type="presParOf" srcId="{E5E76273-5911-4336-ADE6-F90D807382AB}" destId="{21FC5683-706F-4BCE-8559-A1D76FD1FB0A}" srcOrd="1" destOrd="0" presId="urn:microsoft.com/office/officeart/2005/8/layout/process4"/>
    <dgm:cxn modelId="{F59BADA6-C9D9-4115-B552-9C75288A9B83}" type="presParOf" srcId="{E5E76273-5911-4336-ADE6-F90D807382AB}" destId="{8B7343EA-77EB-46FE-A422-9B72008CA5B3}" srcOrd="2" destOrd="0" presId="urn:microsoft.com/office/officeart/2005/8/layout/process4"/>
    <dgm:cxn modelId="{F88C461C-2203-4F24-9928-08230AAE299D}" type="presParOf" srcId="{8B7343EA-77EB-46FE-A422-9B72008CA5B3}" destId="{541D0298-FBB8-484F-BDDD-3840D6BD9D9A}" srcOrd="0" destOrd="0" presId="urn:microsoft.com/office/officeart/2005/8/layout/process4"/>
    <dgm:cxn modelId="{7084E2A8-3CE1-441F-AB06-5E20B4879AB9}" type="presParOf" srcId="{8B7343EA-77EB-46FE-A422-9B72008CA5B3}" destId="{91DA3B4E-C834-44D5-A71E-B687E8B99483}" srcOrd="1"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3C63C52-DF84-4D7B-ABF9-734C882F120C}" type="doc">
      <dgm:prSet loTypeId="urn:microsoft.com/office/officeart/2005/8/layout/equation1" loCatId="process" qsTypeId="urn:microsoft.com/office/officeart/2005/8/quickstyle/3d3" qsCatId="3D" csTypeId="urn:microsoft.com/office/officeart/2005/8/colors/accent1_2" csCatId="accent1" phldr="1"/>
      <dgm:spPr/>
    </dgm:pt>
    <dgm:pt modelId="{2880707F-FD77-44F3-AEEA-142D0E467CA4}">
      <dgm:prSet phldrT="[Text]"/>
      <dgm:spPr/>
      <dgm:t>
        <a:bodyPr/>
        <a:lstStyle/>
        <a:p>
          <a:r>
            <a:rPr lang="en-US" b="0" i="1" dirty="0">
              <a:effectLst/>
              <a:latin typeface="Nunito" pitchFamily="2" charset="0"/>
            </a:rPr>
            <a:t>Architecture</a:t>
          </a:r>
          <a:endParaRPr lang="en-US" dirty="0"/>
        </a:p>
      </dgm:t>
    </dgm:pt>
    <dgm:pt modelId="{38AB00F1-2AC3-44CE-8F46-F1F34BA89E15}" type="parTrans" cxnId="{D6FA5156-51CF-4459-A0FA-A8E0EFA964FE}">
      <dgm:prSet/>
      <dgm:spPr/>
      <dgm:t>
        <a:bodyPr/>
        <a:lstStyle/>
        <a:p>
          <a:endParaRPr lang="en-US"/>
        </a:p>
      </dgm:t>
    </dgm:pt>
    <dgm:pt modelId="{5063DB67-CD36-4BAA-AD2D-FA0DC76A3F54}" type="sibTrans" cxnId="{D6FA5156-51CF-4459-A0FA-A8E0EFA964FE}">
      <dgm:prSet/>
      <dgm:spPr/>
      <dgm:t>
        <a:bodyPr/>
        <a:lstStyle/>
        <a:p>
          <a:endParaRPr lang="en-US"/>
        </a:p>
      </dgm:t>
    </dgm:pt>
    <dgm:pt modelId="{F464D845-8C68-4518-AC41-C040CFED472F}">
      <dgm:prSet phldrT="[Text]"/>
      <dgm:spPr/>
      <dgm:t>
        <a:bodyPr/>
        <a:lstStyle/>
        <a:p>
          <a:r>
            <a:rPr lang="en-US" b="0" i="1">
              <a:effectLst/>
              <a:latin typeface="Nunito" pitchFamily="2" charset="0"/>
            </a:rPr>
            <a:t>Agent Program</a:t>
          </a:r>
          <a:endParaRPr lang="en-US" dirty="0"/>
        </a:p>
      </dgm:t>
    </dgm:pt>
    <dgm:pt modelId="{ED2016E7-09D9-4D04-9BED-0AF441BE4D98}" type="parTrans" cxnId="{898BC531-BB14-4AB8-8F5B-A9BAD9CC1CDD}">
      <dgm:prSet/>
      <dgm:spPr/>
      <dgm:t>
        <a:bodyPr/>
        <a:lstStyle/>
        <a:p>
          <a:endParaRPr lang="en-US"/>
        </a:p>
      </dgm:t>
    </dgm:pt>
    <dgm:pt modelId="{4E69BC89-5D60-470A-9863-5408542F4F37}" type="sibTrans" cxnId="{898BC531-BB14-4AB8-8F5B-A9BAD9CC1CDD}">
      <dgm:prSet/>
      <dgm:spPr/>
      <dgm:t>
        <a:bodyPr/>
        <a:lstStyle/>
        <a:p>
          <a:endParaRPr lang="en-US"/>
        </a:p>
      </dgm:t>
    </dgm:pt>
    <dgm:pt modelId="{F5560C2A-F077-4747-8C50-89FC05911F49}">
      <dgm:prSet phldrT="[Text]"/>
      <dgm:spPr/>
      <dgm:t>
        <a:bodyPr/>
        <a:lstStyle/>
        <a:p>
          <a:r>
            <a:rPr lang="en-US" b="0" i="1">
              <a:effectLst/>
              <a:latin typeface="Nunito" pitchFamily="2" charset="0"/>
            </a:rPr>
            <a:t>Agent</a:t>
          </a:r>
          <a:endParaRPr lang="en-US" dirty="0"/>
        </a:p>
      </dgm:t>
    </dgm:pt>
    <dgm:pt modelId="{A891FC7A-0A11-40E5-AC18-EE3460C7FCBA}" type="parTrans" cxnId="{BAC8B129-F28F-4B23-8E23-E432376E6B5F}">
      <dgm:prSet/>
      <dgm:spPr/>
      <dgm:t>
        <a:bodyPr/>
        <a:lstStyle/>
        <a:p>
          <a:endParaRPr lang="en-US"/>
        </a:p>
      </dgm:t>
    </dgm:pt>
    <dgm:pt modelId="{E2887B78-76FC-4C4F-986E-4580DEEE083F}" type="sibTrans" cxnId="{BAC8B129-F28F-4B23-8E23-E432376E6B5F}">
      <dgm:prSet/>
      <dgm:spPr/>
      <dgm:t>
        <a:bodyPr/>
        <a:lstStyle/>
        <a:p>
          <a:endParaRPr lang="en-US"/>
        </a:p>
      </dgm:t>
    </dgm:pt>
    <dgm:pt modelId="{788576E0-5911-41A2-B240-8F749D9851A4}" type="pres">
      <dgm:prSet presAssocID="{A3C63C52-DF84-4D7B-ABF9-734C882F120C}" presName="linearFlow" presStyleCnt="0">
        <dgm:presLayoutVars>
          <dgm:dir/>
          <dgm:resizeHandles val="exact"/>
        </dgm:presLayoutVars>
      </dgm:prSet>
      <dgm:spPr/>
    </dgm:pt>
    <dgm:pt modelId="{AA61C38C-934C-4A8E-A7A9-CE48758B40B4}" type="pres">
      <dgm:prSet presAssocID="{2880707F-FD77-44F3-AEEA-142D0E467CA4}" presName="node" presStyleLbl="node1" presStyleIdx="0" presStyleCnt="3">
        <dgm:presLayoutVars>
          <dgm:bulletEnabled val="1"/>
        </dgm:presLayoutVars>
      </dgm:prSet>
      <dgm:spPr/>
    </dgm:pt>
    <dgm:pt modelId="{09859274-385B-4833-A092-1FD7D27CF71C}" type="pres">
      <dgm:prSet presAssocID="{5063DB67-CD36-4BAA-AD2D-FA0DC76A3F54}" presName="spacerL" presStyleCnt="0"/>
      <dgm:spPr/>
    </dgm:pt>
    <dgm:pt modelId="{83007C53-916C-476C-9366-3E71632869F5}" type="pres">
      <dgm:prSet presAssocID="{5063DB67-CD36-4BAA-AD2D-FA0DC76A3F54}" presName="sibTrans" presStyleLbl="sibTrans2D1" presStyleIdx="0" presStyleCnt="2"/>
      <dgm:spPr/>
    </dgm:pt>
    <dgm:pt modelId="{27C7AF08-6CDF-499D-B978-CE862ADA9DD9}" type="pres">
      <dgm:prSet presAssocID="{5063DB67-CD36-4BAA-AD2D-FA0DC76A3F54}" presName="spacerR" presStyleCnt="0"/>
      <dgm:spPr/>
    </dgm:pt>
    <dgm:pt modelId="{0D12457D-AB53-453A-8306-437012896F00}" type="pres">
      <dgm:prSet presAssocID="{F464D845-8C68-4518-AC41-C040CFED472F}" presName="node" presStyleLbl="node1" presStyleIdx="1" presStyleCnt="3">
        <dgm:presLayoutVars>
          <dgm:bulletEnabled val="1"/>
        </dgm:presLayoutVars>
      </dgm:prSet>
      <dgm:spPr/>
    </dgm:pt>
    <dgm:pt modelId="{B6750C5B-0C75-4BE9-BD11-0CD6DEC4FA0D}" type="pres">
      <dgm:prSet presAssocID="{4E69BC89-5D60-470A-9863-5408542F4F37}" presName="spacerL" presStyleCnt="0"/>
      <dgm:spPr/>
    </dgm:pt>
    <dgm:pt modelId="{715F86B9-3ED3-463B-B470-A3DA01DC3960}" type="pres">
      <dgm:prSet presAssocID="{4E69BC89-5D60-470A-9863-5408542F4F37}" presName="sibTrans" presStyleLbl="sibTrans2D1" presStyleIdx="1" presStyleCnt="2"/>
      <dgm:spPr/>
    </dgm:pt>
    <dgm:pt modelId="{6A121D09-7408-41BA-A2AB-E192ECA26950}" type="pres">
      <dgm:prSet presAssocID="{4E69BC89-5D60-470A-9863-5408542F4F37}" presName="spacerR" presStyleCnt="0"/>
      <dgm:spPr/>
    </dgm:pt>
    <dgm:pt modelId="{3B45CA4A-7927-49CA-AA9B-AB584CC3D66E}" type="pres">
      <dgm:prSet presAssocID="{F5560C2A-F077-4747-8C50-89FC05911F49}" presName="node" presStyleLbl="node1" presStyleIdx="2" presStyleCnt="3">
        <dgm:presLayoutVars>
          <dgm:bulletEnabled val="1"/>
        </dgm:presLayoutVars>
      </dgm:prSet>
      <dgm:spPr/>
    </dgm:pt>
  </dgm:ptLst>
  <dgm:cxnLst>
    <dgm:cxn modelId="{13E94F0F-17DC-4525-82B7-4E6FAD6FBB7E}" type="presOf" srcId="{F5560C2A-F077-4747-8C50-89FC05911F49}" destId="{3B45CA4A-7927-49CA-AA9B-AB584CC3D66E}" srcOrd="0" destOrd="0" presId="urn:microsoft.com/office/officeart/2005/8/layout/equation1"/>
    <dgm:cxn modelId="{4E348E1D-B0AC-4ED9-B9B0-612D395C3029}" type="presOf" srcId="{5063DB67-CD36-4BAA-AD2D-FA0DC76A3F54}" destId="{83007C53-916C-476C-9366-3E71632869F5}" srcOrd="0" destOrd="0" presId="urn:microsoft.com/office/officeart/2005/8/layout/equation1"/>
    <dgm:cxn modelId="{BAC8B129-F28F-4B23-8E23-E432376E6B5F}" srcId="{A3C63C52-DF84-4D7B-ABF9-734C882F120C}" destId="{F5560C2A-F077-4747-8C50-89FC05911F49}" srcOrd="2" destOrd="0" parTransId="{A891FC7A-0A11-40E5-AC18-EE3460C7FCBA}" sibTransId="{E2887B78-76FC-4C4F-986E-4580DEEE083F}"/>
    <dgm:cxn modelId="{898BC531-BB14-4AB8-8F5B-A9BAD9CC1CDD}" srcId="{A3C63C52-DF84-4D7B-ABF9-734C882F120C}" destId="{F464D845-8C68-4518-AC41-C040CFED472F}" srcOrd="1" destOrd="0" parTransId="{ED2016E7-09D9-4D04-9BED-0AF441BE4D98}" sibTransId="{4E69BC89-5D60-470A-9863-5408542F4F37}"/>
    <dgm:cxn modelId="{FA65AE5B-04FE-4D4C-8A51-F0C0C208CC5C}" type="presOf" srcId="{2880707F-FD77-44F3-AEEA-142D0E467CA4}" destId="{AA61C38C-934C-4A8E-A7A9-CE48758B40B4}" srcOrd="0" destOrd="0" presId="urn:microsoft.com/office/officeart/2005/8/layout/equation1"/>
    <dgm:cxn modelId="{D6FA5156-51CF-4459-A0FA-A8E0EFA964FE}" srcId="{A3C63C52-DF84-4D7B-ABF9-734C882F120C}" destId="{2880707F-FD77-44F3-AEEA-142D0E467CA4}" srcOrd="0" destOrd="0" parTransId="{38AB00F1-2AC3-44CE-8F46-F1F34BA89E15}" sibTransId="{5063DB67-CD36-4BAA-AD2D-FA0DC76A3F54}"/>
    <dgm:cxn modelId="{99408EA7-F603-47B4-8AF0-139F8D1160F0}" type="presOf" srcId="{A3C63C52-DF84-4D7B-ABF9-734C882F120C}" destId="{788576E0-5911-41A2-B240-8F749D9851A4}" srcOrd="0" destOrd="0" presId="urn:microsoft.com/office/officeart/2005/8/layout/equation1"/>
    <dgm:cxn modelId="{951B8EB4-83C2-4AF9-AAB8-F6A0B625D034}" type="presOf" srcId="{4E69BC89-5D60-470A-9863-5408542F4F37}" destId="{715F86B9-3ED3-463B-B470-A3DA01DC3960}" srcOrd="0" destOrd="0" presId="urn:microsoft.com/office/officeart/2005/8/layout/equation1"/>
    <dgm:cxn modelId="{8CDCBAF3-F6AD-41A3-BB36-288F7C94CB40}" type="presOf" srcId="{F464D845-8C68-4518-AC41-C040CFED472F}" destId="{0D12457D-AB53-453A-8306-437012896F00}" srcOrd="0" destOrd="0" presId="urn:microsoft.com/office/officeart/2005/8/layout/equation1"/>
    <dgm:cxn modelId="{573A5C63-D4ED-4E5F-BC3E-B931E6197C6F}" type="presParOf" srcId="{788576E0-5911-41A2-B240-8F749D9851A4}" destId="{AA61C38C-934C-4A8E-A7A9-CE48758B40B4}" srcOrd="0" destOrd="0" presId="urn:microsoft.com/office/officeart/2005/8/layout/equation1"/>
    <dgm:cxn modelId="{F6213D40-14A4-4E41-B42B-610A3BB2FA43}" type="presParOf" srcId="{788576E0-5911-41A2-B240-8F749D9851A4}" destId="{09859274-385B-4833-A092-1FD7D27CF71C}" srcOrd="1" destOrd="0" presId="urn:microsoft.com/office/officeart/2005/8/layout/equation1"/>
    <dgm:cxn modelId="{BACE8C9A-2456-4351-A5C8-0ADCF8A799FB}" type="presParOf" srcId="{788576E0-5911-41A2-B240-8F749D9851A4}" destId="{83007C53-916C-476C-9366-3E71632869F5}" srcOrd="2" destOrd="0" presId="urn:microsoft.com/office/officeart/2005/8/layout/equation1"/>
    <dgm:cxn modelId="{A2A54CC3-A5C0-4956-A234-701B50921633}" type="presParOf" srcId="{788576E0-5911-41A2-B240-8F749D9851A4}" destId="{27C7AF08-6CDF-499D-B978-CE862ADA9DD9}" srcOrd="3" destOrd="0" presId="urn:microsoft.com/office/officeart/2005/8/layout/equation1"/>
    <dgm:cxn modelId="{EDDC0ABA-047C-4414-91B5-EED71441E6C5}" type="presParOf" srcId="{788576E0-5911-41A2-B240-8F749D9851A4}" destId="{0D12457D-AB53-453A-8306-437012896F00}" srcOrd="4" destOrd="0" presId="urn:microsoft.com/office/officeart/2005/8/layout/equation1"/>
    <dgm:cxn modelId="{16EA9DDE-DB2D-48D5-8BF4-06685991B154}" type="presParOf" srcId="{788576E0-5911-41A2-B240-8F749D9851A4}" destId="{B6750C5B-0C75-4BE9-BD11-0CD6DEC4FA0D}" srcOrd="5" destOrd="0" presId="urn:microsoft.com/office/officeart/2005/8/layout/equation1"/>
    <dgm:cxn modelId="{7572C9FC-C021-436C-8629-701C967E6D31}" type="presParOf" srcId="{788576E0-5911-41A2-B240-8F749D9851A4}" destId="{715F86B9-3ED3-463B-B470-A3DA01DC3960}" srcOrd="6" destOrd="0" presId="urn:microsoft.com/office/officeart/2005/8/layout/equation1"/>
    <dgm:cxn modelId="{376FB94F-D1AF-4B86-BF9F-F32C734460D3}" type="presParOf" srcId="{788576E0-5911-41A2-B240-8F749D9851A4}" destId="{6A121D09-7408-41BA-A2AB-E192ECA26950}" srcOrd="7" destOrd="0" presId="urn:microsoft.com/office/officeart/2005/8/layout/equation1"/>
    <dgm:cxn modelId="{49630DBE-2350-427E-A545-FD041AA59ECA}" type="presParOf" srcId="{788576E0-5911-41A2-B240-8F749D9851A4}" destId="{3B45CA4A-7927-49CA-AA9B-AB584CC3D66E}" srcOrd="8" destOrd="0" presId="urn:microsoft.com/office/officeart/2005/8/layout/equati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0263B7E-636F-4191-B427-ED52FB5DA16D}" type="doc">
      <dgm:prSet loTypeId="urn:microsoft.com/office/officeart/2005/8/layout/chevron2" loCatId="list" qsTypeId="urn:microsoft.com/office/officeart/2005/8/quickstyle/simple5" qsCatId="simple" csTypeId="urn:microsoft.com/office/officeart/2005/8/colors/accent1_2" csCatId="accent1" phldr="1"/>
      <dgm:spPr/>
      <dgm:t>
        <a:bodyPr/>
        <a:lstStyle/>
        <a:p>
          <a:endParaRPr lang="en-US"/>
        </a:p>
      </dgm:t>
    </dgm:pt>
    <dgm:pt modelId="{FCE5AED2-5E78-477F-BACF-0D81FFFFC7FC}">
      <dgm:prSet phldrT="[Text]"/>
      <dgm:spPr/>
      <dgm:t>
        <a:bodyPr/>
        <a:lstStyle/>
        <a:p>
          <a:r>
            <a:rPr lang="en-US" dirty="0"/>
            <a:t>1</a:t>
          </a:r>
        </a:p>
      </dgm:t>
    </dgm:pt>
    <dgm:pt modelId="{D0EC81CB-9632-4A64-8D2D-0FB5D79C2CBE}" type="parTrans" cxnId="{65F6D663-32B2-4D56-9A8A-D38BCC1F4CB9}">
      <dgm:prSet/>
      <dgm:spPr/>
      <dgm:t>
        <a:bodyPr/>
        <a:lstStyle/>
        <a:p>
          <a:endParaRPr lang="en-US"/>
        </a:p>
      </dgm:t>
    </dgm:pt>
    <dgm:pt modelId="{A345C4D4-7699-4B7C-9B1E-9C19FE859E97}" type="sibTrans" cxnId="{65F6D663-32B2-4D56-9A8A-D38BCC1F4CB9}">
      <dgm:prSet/>
      <dgm:spPr/>
      <dgm:t>
        <a:bodyPr/>
        <a:lstStyle/>
        <a:p>
          <a:endParaRPr lang="en-US"/>
        </a:p>
      </dgm:t>
    </dgm:pt>
    <dgm:pt modelId="{EB849AB2-E46C-4F91-8140-99D5430D68A4}">
      <dgm:prSet phldrT="[Text]"/>
      <dgm:spPr/>
      <dgm:t>
        <a:bodyPr/>
        <a:lstStyle/>
        <a:p>
          <a:r>
            <a:rPr lang="en-US" b="1" dirty="0"/>
            <a:t>Simple Reflex Agents</a:t>
          </a:r>
        </a:p>
      </dgm:t>
    </dgm:pt>
    <dgm:pt modelId="{76760EDC-B4D1-4551-A83B-C67A5A78FDA8}" type="parTrans" cxnId="{3AC4C47E-B068-49C4-A914-33313E233200}">
      <dgm:prSet/>
      <dgm:spPr/>
      <dgm:t>
        <a:bodyPr/>
        <a:lstStyle/>
        <a:p>
          <a:endParaRPr lang="en-US"/>
        </a:p>
      </dgm:t>
    </dgm:pt>
    <dgm:pt modelId="{EA4E7153-3537-4724-9952-5E8BDE30714C}" type="sibTrans" cxnId="{3AC4C47E-B068-49C4-A914-33313E233200}">
      <dgm:prSet/>
      <dgm:spPr/>
      <dgm:t>
        <a:bodyPr/>
        <a:lstStyle/>
        <a:p>
          <a:endParaRPr lang="en-US"/>
        </a:p>
      </dgm:t>
    </dgm:pt>
    <dgm:pt modelId="{D9613D5F-DA1E-4B31-9817-BF8278381E9D}">
      <dgm:prSet phldrT="[Text]"/>
      <dgm:spPr/>
      <dgm:t>
        <a:bodyPr/>
        <a:lstStyle/>
        <a:p>
          <a:r>
            <a:rPr lang="en-US" dirty="0"/>
            <a:t>2</a:t>
          </a:r>
        </a:p>
      </dgm:t>
    </dgm:pt>
    <dgm:pt modelId="{CF3521AF-C9A7-47C4-B970-C2C0CFC2D05B}" type="parTrans" cxnId="{3E9CBA29-7DD1-4193-A01D-C026D83787C0}">
      <dgm:prSet/>
      <dgm:spPr/>
      <dgm:t>
        <a:bodyPr/>
        <a:lstStyle/>
        <a:p>
          <a:endParaRPr lang="en-US"/>
        </a:p>
      </dgm:t>
    </dgm:pt>
    <dgm:pt modelId="{2B136A84-4D2A-4398-817D-D9871AF0CC27}" type="sibTrans" cxnId="{3E9CBA29-7DD1-4193-A01D-C026D83787C0}">
      <dgm:prSet/>
      <dgm:spPr/>
      <dgm:t>
        <a:bodyPr/>
        <a:lstStyle/>
        <a:p>
          <a:endParaRPr lang="en-US"/>
        </a:p>
      </dgm:t>
    </dgm:pt>
    <dgm:pt modelId="{F9753874-7F49-4985-A44C-6EF15E160AC8}">
      <dgm:prSet phldrT="[Text]"/>
      <dgm:spPr/>
      <dgm:t>
        <a:bodyPr/>
        <a:lstStyle/>
        <a:p>
          <a:r>
            <a:rPr lang="en-US" b="1" dirty="0"/>
            <a:t>Model-Based Reflex Agents</a:t>
          </a:r>
        </a:p>
      </dgm:t>
    </dgm:pt>
    <dgm:pt modelId="{F57562D9-2EA4-4219-B2C4-35B9517D4C38}" type="parTrans" cxnId="{0CDDE3FB-822C-426F-ABF7-41BB80EC6426}">
      <dgm:prSet/>
      <dgm:spPr/>
      <dgm:t>
        <a:bodyPr/>
        <a:lstStyle/>
        <a:p>
          <a:endParaRPr lang="en-US"/>
        </a:p>
      </dgm:t>
    </dgm:pt>
    <dgm:pt modelId="{DAD8CD27-0A46-43D2-AE6E-4D2E2ABA99F7}" type="sibTrans" cxnId="{0CDDE3FB-822C-426F-ABF7-41BB80EC6426}">
      <dgm:prSet/>
      <dgm:spPr/>
      <dgm:t>
        <a:bodyPr/>
        <a:lstStyle/>
        <a:p>
          <a:endParaRPr lang="en-US"/>
        </a:p>
      </dgm:t>
    </dgm:pt>
    <dgm:pt modelId="{02E0D50F-3FAB-42AB-8739-51E7D69220AA}">
      <dgm:prSet phldrT="[Text]"/>
      <dgm:spPr/>
      <dgm:t>
        <a:bodyPr/>
        <a:lstStyle/>
        <a:p>
          <a:r>
            <a:rPr lang="en-US" dirty="0"/>
            <a:t>3</a:t>
          </a:r>
        </a:p>
      </dgm:t>
    </dgm:pt>
    <dgm:pt modelId="{DAF50DDF-1987-42C0-BD23-5AC8714C930E}" type="parTrans" cxnId="{5E5994C0-A9D0-4A29-AA20-A36352A36CBF}">
      <dgm:prSet/>
      <dgm:spPr/>
      <dgm:t>
        <a:bodyPr/>
        <a:lstStyle/>
        <a:p>
          <a:endParaRPr lang="en-US"/>
        </a:p>
      </dgm:t>
    </dgm:pt>
    <dgm:pt modelId="{DC948536-300B-42BB-958F-1DB7DE8E49B4}" type="sibTrans" cxnId="{5E5994C0-A9D0-4A29-AA20-A36352A36CBF}">
      <dgm:prSet/>
      <dgm:spPr/>
      <dgm:t>
        <a:bodyPr/>
        <a:lstStyle/>
        <a:p>
          <a:endParaRPr lang="en-US"/>
        </a:p>
      </dgm:t>
    </dgm:pt>
    <dgm:pt modelId="{DBC31060-97F4-49A3-BAB2-DBBF523A2E79}">
      <dgm:prSet phldrT="[Text]"/>
      <dgm:spPr/>
      <dgm:t>
        <a:bodyPr/>
        <a:lstStyle/>
        <a:p>
          <a:r>
            <a:rPr lang="en-US" b="1" dirty="0"/>
            <a:t>Goal-Based Agents</a:t>
          </a:r>
        </a:p>
      </dgm:t>
    </dgm:pt>
    <dgm:pt modelId="{E5A6F7DB-EEAE-430A-8B09-E83CA55E6486}" type="parTrans" cxnId="{3148CEDF-D141-4CDC-9085-AE3202447846}">
      <dgm:prSet/>
      <dgm:spPr/>
      <dgm:t>
        <a:bodyPr/>
        <a:lstStyle/>
        <a:p>
          <a:endParaRPr lang="en-US"/>
        </a:p>
      </dgm:t>
    </dgm:pt>
    <dgm:pt modelId="{1729551F-5CAE-4311-95A6-87EF597CCCF1}" type="sibTrans" cxnId="{3148CEDF-D141-4CDC-9085-AE3202447846}">
      <dgm:prSet/>
      <dgm:spPr/>
      <dgm:t>
        <a:bodyPr/>
        <a:lstStyle/>
        <a:p>
          <a:endParaRPr lang="en-US"/>
        </a:p>
      </dgm:t>
    </dgm:pt>
    <dgm:pt modelId="{93E47FF9-516D-4E5B-9506-B733D5B05481}">
      <dgm:prSet phldrT="[Text]"/>
      <dgm:spPr/>
      <dgm:t>
        <a:bodyPr/>
        <a:lstStyle/>
        <a:p>
          <a:r>
            <a:rPr lang="en-US" dirty="0"/>
            <a:t>4</a:t>
          </a:r>
        </a:p>
      </dgm:t>
    </dgm:pt>
    <dgm:pt modelId="{C999DD69-1B96-4B30-ADD7-97500D9BBC41}" type="parTrans" cxnId="{12603DC1-DEF4-41B6-BAA7-0805934E1466}">
      <dgm:prSet/>
      <dgm:spPr/>
      <dgm:t>
        <a:bodyPr/>
        <a:lstStyle/>
        <a:p>
          <a:endParaRPr lang="en-US"/>
        </a:p>
      </dgm:t>
    </dgm:pt>
    <dgm:pt modelId="{EADB3709-F9E9-4774-8483-19BCD33B8989}" type="sibTrans" cxnId="{12603DC1-DEF4-41B6-BAA7-0805934E1466}">
      <dgm:prSet/>
      <dgm:spPr/>
      <dgm:t>
        <a:bodyPr/>
        <a:lstStyle/>
        <a:p>
          <a:endParaRPr lang="en-US"/>
        </a:p>
      </dgm:t>
    </dgm:pt>
    <dgm:pt modelId="{80D21398-D0D1-48EF-BE08-09C282A418F8}">
      <dgm:prSet phldrT="[Text]"/>
      <dgm:spPr/>
      <dgm:t>
        <a:bodyPr/>
        <a:lstStyle/>
        <a:p>
          <a:r>
            <a:rPr lang="en-US" b="1" dirty="0"/>
            <a:t>Utility-Based Agents</a:t>
          </a:r>
        </a:p>
      </dgm:t>
    </dgm:pt>
    <dgm:pt modelId="{0FF0D6BD-9CFC-46FC-A907-680BC9B40C3B}" type="parTrans" cxnId="{32D29B37-A002-46F8-AB6E-BF03A7E670E4}">
      <dgm:prSet/>
      <dgm:spPr/>
      <dgm:t>
        <a:bodyPr/>
        <a:lstStyle/>
        <a:p>
          <a:endParaRPr lang="en-US"/>
        </a:p>
      </dgm:t>
    </dgm:pt>
    <dgm:pt modelId="{CF832034-E922-4F77-A095-23F905D0B861}" type="sibTrans" cxnId="{32D29B37-A002-46F8-AB6E-BF03A7E670E4}">
      <dgm:prSet/>
      <dgm:spPr/>
      <dgm:t>
        <a:bodyPr/>
        <a:lstStyle/>
        <a:p>
          <a:endParaRPr lang="en-US"/>
        </a:p>
      </dgm:t>
    </dgm:pt>
    <dgm:pt modelId="{6C929E86-FD76-41E5-824A-F30559900ED0}">
      <dgm:prSet phldrT="[Text]"/>
      <dgm:spPr/>
      <dgm:t>
        <a:bodyPr/>
        <a:lstStyle/>
        <a:p>
          <a:r>
            <a:rPr lang="en-US" dirty="0"/>
            <a:t>5</a:t>
          </a:r>
        </a:p>
      </dgm:t>
    </dgm:pt>
    <dgm:pt modelId="{C22B2D3A-FBA1-48AE-825F-4B728BDB8217}" type="parTrans" cxnId="{59EE216D-5072-41BF-B931-8FA00D9BE410}">
      <dgm:prSet/>
      <dgm:spPr/>
      <dgm:t>
        <a:bodyPr/>
        <a:lstStyle/>
        <a:p>
          <a:endParaRPr lang="en-US"/>
        </a:p>
      </dgm:t>
    </dgm:pt>
    <dgm:pt modelId="{50C9BB9B-A80D-4834-86D1-A186802608D8}" type="sibTrans" cxnId="{59EE216D-5072-41BF-B931-8FA00D9BE410}">
      <dgm:prSet/>
      <dgm:spPr/>
      <dgm:t>
        <a:bodyPr/>
        <a:lstStyle/>
        <a:p>
          <a:endParaRPr lang="en-US"/>
        </a:p>
      </dgm:t>
    </dgm:pt>
    <dgm:pt modelId="{B0C8D5C3-FFD6-4513-9EB8-A3FB03596CB6}">
      <dgm:prSet phldrT="[Text]"/>
      <dgm:spPr/>
      <dgm:t>
        <a:bodyPr/>
        <a:lstStyle/>
        <a:p>
          <a:r>
            <a:rPr lang="en-US" dirty="0"/>
            <a:t>Learning Agent</a:t>
          </a:r>
        </a:p>
      </dgm:t>
    </dgm:pt>
    <dgm:pt modelId="{F3C195E2-9C17-481E-8C94-509BCE753ECE}" type="parTrans" cxnId="{3FF1F02E-108C-4426-8734-29036FEBBFDC}">
      <dgm:prSet/>
      <dgm:spPr/>
      <dgm:t>
        <a:bodyPr/>
        <a:lstStyle/>
        <a:p>
          <a:endParaRPr lang="en-US"/>
        </a:p>
      </dgm:t>
    </dgm:pt>
    <dgm:pt modelId="{7552C26E-3AD9-4F56-8D22-E7C3928246EC}" type="sibTrans" cxnId="{3FF1F02E-108C-4426-8734-29036FEBBFDC}">
      <dgm:prSet/>
      <dgm:spPr/>
      <dgm:t>
        <a:bodyPr/>
        <a:lstStyle/>
        <a:p>
          <a:endParaRPr lang="en-US"/>
        </a:p>
      </dgm:t>
    </dgm:pt>
    <dgm:pt modelId="{1D7CC419-1FE7-4C77-84F1-033F1051953C}">
      <dgm:prSet phldrT="[Text]"/>
      <dgm:spPr/>
      <dgm:t>
        <a:bodyPr/>
        <a:lstStyle/>
        <a:p>
          <a:r>
            <a:rPr lang="en-US" dirty="0"/>
            <a:t>6</a:t>
          </a:r>
        </a:p>
      </dgm:t>
    </dgm:pt>
    <dgm:pt modelId="{8E414686-A768-4E1E-BB2E-0B429CB176D8}" type="parTrans" cxnId="{6E97F9DB-5A00-4E2A-8E9E-23A07603FB5C}">
      <dgm:prSet/>
      <dgm:spPr/>
      <dgm:t>
        <a:bodyPr/>
        <a:lstStyle/>
        <a:p>
          <a:endParaRPr lang="en-US"/>
        </a:p>
      </dgm:t>
    </dgm:pt>
    <dgm:pt modelId="{D8199959-780A-4418-BFE2-63D2960E8BA0}" type="sibTrans" cxnId="{6E97F9DB-5A00-4E2A-8E9E-23A07603FB5C}">
      <dgm:prSet/>
      <dgm:spPr/>
      <dgm:t>
        <a:bodyPr/>
        <a:lstStyle/>
        <a:p>
          <a:endParaRPr lang="en-US"/>
        </a:p>
      </dgm:t>
    </dgm:pt>
    <dgm:pt modelId="{188995B9-DCBB-4396-AAD4-1C6B738CB24B}">
      <dgm:prSet phldrT="[Text]"/>
      <dgm:spPr/>
      <dgm:t>
        <a:bodyPr/>
        <a:lstStyle/>
        <a:p>
          <a:r>
            <a:rPr lang="en-US" dirty="0"/>
            <a:t>Multi-agent Systems	</a:t>
          </a:r>
        </a:p>
      </dgm:t>
    </dgm:pt>
    <dgm:pt modelId="{05CFC7D2-CFF1-4D72-8F88-B06C6C3B221A}" type="parTrans" cxnId="{1AAEACA5-F642-45EE-B5C2-3B94F9D5A575}">
      <dgm:prSet/>
      <dgm:spPr/>
      <dgm:t>
        <a:bodyPr/>
        <a:lstStyle/>
        <a:p>
          <a:endParaRPr lang="en-US"/>
        </a:p>
      </dgm:t>
    </dgm:pt>
    <dgm:pt modelId="{74FDABB1-BDE8-46ED-9134-BFAA1D3756A5}" type="sibTrans" cxnId="{1AAEACA5-F642-45EE-B5C2-3B94F9D5A575}">
      <dgm:prSet/>
      <dgm:spPr/>
      <dgm:t>
        <a:bodyPr/>
        <a:lstStyle/>
        <a:p>
          <a:endParaRPr lang="en-US"/>
        </a:p>
      </dgm:t>
    </dgm:pt>
    <dgm:pt modelId="{EB5198F7-F1C7-4661-9E46-D0B6E6E56D65}">
      <dgm:prSet phldrT="[Text]"/>
      <dgm:spPr/>
      <dgm:t>
        <a:bodyPr/>
        <a:lstStyle/>
        <a:p>
          <a:r>
            <a:rPr lang="en-US" dirty="0"/>
            <a:t>7</a:t>
          </a:r>
        </a:p>
      </dgm:t>
    </dgm:pt>
    <dgm:pt modelId="{1B00B34B-4CCB-4D7D-B9DA-35D1B0D417BA}" type="parTrans" cxnId="{B4E72DCF-99A0-4539-9766-AB6E8D1B1B54}">
      <dgm:prSet/>
      <dgm:spPr/>
      <dgm:t>
        <a:bodyPr/>
        <a:lstStyle/>
        <a:p>
          <a:endParaRPr lang="en-US"/>
        </a:p>
      </dgm:t>
    </dgm:pt>
    <dgm:pt modelId="{F17AA669-A96A-441D-AE79-2A3AE534085E}" type="sibTrans" cxnId="{B4E72DCF-99A0-4539-9766-AB6E8D1B1B54}">
      <dgm:prSet/>
      <dgm:spPr/>
      <dgm:t>
        <a:bodyPr/>
        <a:lstStyle/>
        <a:p>
          <a:endParaRPr lang="en-US"/>
        </a:p>
      </dgm:t>
    </dgm:pt>
    <dgm:pt modelId="{9E2C5547-751C-478F-B1AF-37609C06435C}">
      <dgm:prSet phldrT="[Text]"/>
      <dgm:spPr/>
      <dgm:t>
        <a:bodyPr/>
        <a:lstStyle/>
        <a:p>
          <a:r>
            <a:rPr lang="en-US" dirty="0"/>
            <a:t>Hierarchical Agents</a:t>
          </a:r>
        </a:p>
      </dgm:t>
    </dgm:pt>
    <dgm:pt modelId="{83C3318C-8EBE-4433-964D-D99CA600ACE2}" type="parTrans" cxnId="{C2242B0A-C964-4423-BECD-CA4679D5631E}">
      <dgm:prSet/>
      <dgm:spPr/>
      <dgm:t>
        <a:bodyPr/>
        <a:lstStyle/>
        <a:p>
          <a:endParaRPr lang="en-US"/>
        </a:p>
      </dgm:t>
    </dgm:pt>
    <dgm:pt modelId="{31A1BCBA-B450-4C5E-B490-5D27B107A533}" type="sibTrans" cxnId="{C2242B0A-C964-4423-BECD-CA4679D5631E}">
      <dgm:prSet/>
      <dgm:spPr/>
      <dgm:t>
        <a:bodyPr/>
        <a:lstStyle/>
        <a:p>
          <a:endParaRPr lang="en-US"/>
        </a:p>
      </dgm:t>
    </dgm:pt>
    <dgm:pt modelId="{85338BD4-B525-4245-8BC1-F37AFF176914}" type="pres">
      <dgm:prSet presAssocID="{60263B7E-636F-4191-B427-ED52FB5DA16D}" presName="linearFlow" presStyleCnt="0">
        <dgm:presLayoutVars>
          <dgm:dir/>
          <dgm:animLvl val="lvl"/>
          <dgm:resizeHandles val="exact"/>
        </dgm:presLayoutVars>
      </dgm:prSet>
      <dgm:spPr/>
    </dgm:pt>
    <dgm:pt modelId="{EB85D73F-6128-44B5-A816-EDA03740261F}" type="pres">
      <dgm:prSet presAssocID="{FCE5AED2-5E78-477F-BACF-0D81FFFFC7FC}" presName="composite" presStyleCnt="0"/>
      <dgm:spPr/>
    </dgm:pt>
    <dgm:pt modelId="{1CAD1C1E-EA56-4DA8-83FB-76B2A09A6DA3}" type="pres">
      <dgm:prSet presAssocID="{FCE5AED2-5E78-477F-BACF-0D81FFFFC7FC}" presName="parentText" presStyleLbl="alignNode1" presStyleIdx="0" presStyleCnt="7">
        <dgm:presLayoutVars>
          <dgm:chMax val="1"/>
          <dgm:bulletEnabled val="1"/>
        </dgm:presLayoutVars>
      </dgm:prSet>
      <dgm:spPr/>
    </dgm:pt>
    <dgm:pt modelId="{BBB2A90D-81D0-4D6C-AA2E-25994F9B9CCD}" type="pres">
      <dgm:prSet presAssocID="{FCE5AED2-5E78-477F-BACF-0D81FFFFC7FC}" presName="descendantText" presStyleLbl="alignAcc1" presStyleIdx="0" presStyleCnt="7">
        <dgm:presLayoutVars>
          <dgm:bulletEnabled val="1"/>
        </dgm:presLayoutVars>
      </dgm:prSet>
      <dgm:spPr/>
    </dgm:pt>
    <dgm:pt modelId="{27BFA52E-AD51-480A-96FC-099D46C00B09}" type="pres">
      <dgm:prSet presAssocID="{A345C4D4-7699-4B7C-9B1E-9C19FE859E97}" presName="sp" presStyleCnt="0"/>
      <dgm:spPr/>
    </dgm:pt>
    <dgm:pt modelId="{1AAFE417-2FEF-4984-9AC8-46B40746E621}" type="pres">
      <dgm:prSet presAssocID="{D9613D5F-DA1E-4B31-9817-BF8278381E9D}" presName="composite" presStyleCnt="0"/>
      <dgm:spPr/>
    </dgm:pt>
    <dgm:pt modelId="{62C9F546-59B5-447E-85E1-B92C3D31BB5A}" type="pres">
      <dgm:prSet presAssocID="{D9613D5F-DA1E-4B31-9817-BF8278381E9D}" presName="parentText" presStyleLbl="alignNode1" presStyleIdx="1" presStyleCnt="7">
        <dgm:presLayoutVars>
          <dgm:chMax val="1"/>
          <dgm:bulletEnabled val="1"/>
        </dgm:presLayoutVars>
      </dgm:prSet>
      <dgm:spPr/>
    </dgm:pt>
    <dgm:pt modelId="{E78CB0B7-44CB-43BF-AC08-1A2AB6781D11}" type="pres">
      <dgm:prSet presAssocID="{D9613D5F-DA1E-4B31-9817-BF8278381E9D}" presName="descendantText" presStyleLbl="alignAcc1" presStyleIdx="1" presStyleCnt="7">
        <dgm:presLayoutVars>
          <dgm:bulletEnabled val="1"/>
        </dgm:presLayoutVars>
      </dgm:prSet>
      <dgm:spPr/>
    </dgm:pt>
    <dgm:pt modelId="{D08198E5-A32B-467C-9381-7C59796E8BB8}" type="pres">
      <dgm:prSet presAssocID="{2B136A84-4D2A-4398-817D-D9871AF0CC27}" presName="sp" presStyleCnt="0"/>
      <dgm:spPr/>
    </dgm:pt>
    <dgm:pt modelId="{D7A1F01C-0188-42BE-80C6-1DDF3C6F03CA}" type="pres">
      <dgm:prSet presAssocID="{02E0D50F-3FAB-42AB-8739-51E7D69220AA}" presName="composite" presStyleCnt="0"/>
      <dgm:spPr/>
    </dgm:pt>
    <dgm:pt modelId="{6E0C9448-92F2-4F0D-9C91-FE15DADB15BD}" type="pres">
      <dgm:prSet presAssocID="{02E0D50F-3FAB-42AB-8739-51E7D69220AA}" presName="parentText" presStyleLbl="alignNode1" presStyleIdx="2" presStyleCnt="7">
        <dgm:presLayoutVars>
          <dgm:chMax val="1"/>
          <dgm:bulletEnabled val="1"/>
        </dgm:presLayoutVars>
      </dgm:prSet>
      <dgm:spPr/>
    </dgm:pt>
    <dgm:pt modelId="{2CF845F0-E574-4A8E-B05E-E18845EE39B5}" type="pres">
      <dgm:prSet presAssocID="{02E0D50F-3FAB-42AB-8739-51E7D69220AA}" presName="descendantText" presStyleLbl="alignAcc1" presStyleIdx="2" presStyleCnt="7">
        <dgm:presLayoutVars>
          <dgm:bulletEnabled val="1"/>
        </dgm:presLayoutVars>
      </dgm:prSet>
      <dgm:spPr/>
    </dgm:pt>
    <dgm:pt modelId="{82EAAA4B-16D0-4BCE-80D0-37D6493B0B0E}" type="pres">
      <dgm:prSet presAssocID="{DC948536-300B-42BB-958F-1DB7DE8E49B4}" presName="sp" presStyleCnt="0"/>
      <dgm:spPr/>
    </dgm:pt>
    <dgm:pt modelId="{29C73351-6E70-497F-BAAE-A190E52EE9F0}" type="pres">
      <dgm:prSet presAssocID="{93E47FF9-516D-4E5B-9506-B733D5B05481}" presName="composite" presStyleCnt="0"/>
      <dgm:spPr/>
    </dgm:pt>
    <dgm:pt modelId="{75D59983-3AA0-4FBB-80C8-606F9D5A4A7B}" type="pres">
      <dgm:prSet presAssocID="{93E47FF9-516D-4E5B-9506-B733D5B05481}" presName="parentText" presStyleLbl="alignNode1" presStyleIdx="3" presStyleCnt="7">
        <dgm:presLayoutVars>
          <dgm:chMax val="1"/>
          <dgm:bulletEnabled val="1"/>
        </dgm:presLayoutVars>
      </dgm:prSet>
      <dgm:spPr/>
    </dgm:pt>
    <dgm:pt modelId="{A58CBC55-16D4-4894-B10E-303FAE5E253F}" type="pres">
      <dgm:prSet presAssocID="{93E47FF9-516D-4E5B-9506-B733D5B05481}" presName="descendantText" presStyleLbl="alignAcc1" presStyleIdx="3" presStyleCnt="7">
        <dgm:presLayoutVars>
          <dgm:bulletEnabled val="1"/>
        </dgm:presLayoutVars>
      </dgm:prSet>
      <dgm:spPr/>
    </dgm:pt>
    <dgm:pt modelId="{1B091D4A-4C0F-44D6-A4D4-508A08BE8A46}" type="pres">
      <dgm:prSet presAssocID="{EADB3709-F9E9-4774-8483-19BCD33B8989}" presName="sp" presStyleCnt="0"/>
      <dgm:spPr/>
    </dgm:pt>
    <dgm:pt modelId="{E2D83B5E-D568-4654-9FFE-417E1DF6C619}" type="pres">
      <dgm:prSet presAssocID="{6C929E86-FD76-41E5-824A-F30559900ED0}" presName="composite" presStyleCnt="0"/>
      <dgm:spPr/>
    </dgm:pt>
    <dgm:pt modelId="{B86113B4-C0AA-4AC5-8B2B-8517E70CDEA0}" type="pres">
      <dgm:prSet presAssocID="{6C929E86-FD76-41E5-824A-F30559900ED0}" presName="parentText" presStyleLbl="alignNode1" presStyleIdx="4" presStyleCnt="7">
        <dgm:presLayoutVars>
          <dgm:chMax val="1"/>
          <dgm:bulletEnabled val="1"/>
        </dgm:presLayoutVars>
      </dgm:prSet>
      <dgm:spPr/>
    </dgm:pt>
    <dgm:pt modelId="{49AFEE46-9008-4523-8B8D-BB11024D641E}" type="pres">
      <dgm:prSet presAssocID="{6C929E86-FD76-41E5-824A-F30559900ED0}" presName="descendantText" presStyleLbl="alignAcc1" presStyleIdx="4" presStyleCnt="7">
        <dgm:presLayoutVars>
          <dgm:bulletEnabled val="1"/>
        </dgm:presLayoutVars>
      </dgm:prSet>
      <dgm:spPr/>
    </dgm:pt>
    <dgm:pt modelId="{B0A8E488-9FBB-45B6-A06D-250BC71D0D10}" type="pres">
      <dgm:prSet presAssocID="{50C9BB9B-A80D-4834-86D1-A186802608D8}" presName="sp" presStyleCnt="0"/>
      <dgm:spPr/>
    </dgm:pt>
    <dgm:pt modelId="{BC574E2B-D0E5-4CF0-A634-8672465015AC}" type="pres">
      <dgm:prSet presAssocID="{1D7CC419-1FE7-4C77-84F1-033F1051953C}" presName="composite" presStyleCnt="0"/>
      <dgm:spPr/>
    </dgm:pt>
    <dgm:pt modelId="{C1770B54-DB4A-462C-8CAF-94FBF7E0E3AE}" type="pres">
      <dgm:prSet presAssocID="{1D7CC419-1FE7-4C77-84F1-033F1051953C}" presName="parentText" presStyleLbl="alignNode1" presStyleIdx="5" presStyleCnt="7">
        <dgm:presLayoutVars>
          <dgm:chMax val="1"/>
          <dgm:bulletEnabled val="1"/>
        </dgm:presLayoutVars>
      </dgm:prSet>
      <dgm:spPr/>
    </dgm:pt>
    <dgm:pt modelId="{77C00F8A-73C7-451D-930E-E59CAB7BEB9B}" type="pres">
      <dgm:prSet presAssocID="{1D7CC419-1FE7-4C77-84F1-033F1051953C}" presName="descendantText" presStyleLbl="alignAcc1" presStyleIdx="5" presStyleCnt="7">
        <dgm:presLayoutVars>
          <dgm:bulletEnabled val="1"/>
        </dgm:presLayoutVars>
      </dgm:prSet>
      <dgm:spPr/>
    </dgm:pt>
    <dgm:pt modelId="{6E37097C-7AC4-485E-9742-454B23FC268D}" type="pres">
      <dgm:prSet presAssocID="{D8199959-780A-4418-BFE2-63D2960E8BA0}" presName="sp" presStyleCnt="0"/>
      <dgm:spPr/>
    </dgm:pt>
    <dgm:pt modelId="{2D3170AB-29B7-4A78-BB90-939C8BAC41FE}" type="pres">
      <dgm:prSet presAssocID="{EB5198F7-F1C7-4661-9E46-D0B6E6E56D65}" presName="composite" presStyleCnt="0"/>
      <dgm:spPr/>
    </dgm:pt>
    <dgm:pt modelId="{1DFF3258-4E6F-44FE-A706-3FF1A5FDBFDB}" type="pres">
      <dgm:prSet presAssocID="{EB5198F7-F1C7-4661-9E46-D0B6E6E56D65}" presName="parentText" presStyleLbl="alignNode1" presStyleIdx="6" presStyleCnt="7">
        <dgm:presLayoutVars>
          <dgm:chMax val="1"/>
          <dgm:bulletEnabled val="1"/>
        </dgm:presLayoutVars>
      </dgm:prSet>
      <dgm:spPr/>
    </dgm:pt>
    <dgm:pt modelId="{2EB2D544-4E04-4254-B465-BDAFDA8FB4F5}" type="pres">
      <dgm:prSet presAssocID="{EB5198F7-F1C7-4661-9E46-D0B6E6E56D65}" presName="descendantText" presStyleLbl="alignAcc1" presStyleIdx="6" presStyleCnt="7">
        <dgm:presLayoutVars>
          <dgm:bulletEnabled val="1"/>
        </dgm:presLayoutVars>
      </dgm:prSet>
      <dgm:spPr/>
    </dgm:pt>
  </dgm:ptLst>
  <dgm:cxnLst>
    <dgm:cxn modelId="{C2242B0A-C964-4423-BECD-CA4679D5631E}" srcId="{EB5198F7-F1C7-4661-9E46-D0B6E6E56D65}" destId="{9E2C5547-751C-478F-B1AF-37609C06435C}" srcOrd="0" destOrd="0" parTransId="{83C3318C-8EBE-4433-964D-D99CA600ACE2}" sibTransId="{31A1BCBA-B450-4C5E-B490-5D27B107A533}"/>
    <dgm:cxn modelId="{820B0119-0040-4088-AF58-1D1524E0F1A9}" type="presOf" srcId="{DBC31060-97F4-49A3-BAB2-DBBF523A2E79}" destId="{2CF845F0-E574-4A8E-B05E-E18845EE39B5}" srcOrd="0" destOrd="0" presId="urn:microsoft.com/office/officeart/2005/8/layout/chevron2"/>
    <dgm:cxn modelId="{3E9CBA29-7DD1-4193-A01D-C026D83787C0}" srcId="{60263B7E-636F-4191-B427-ED52FB5DA16D}" destId="{D9613D5F-DA1E-4B31-9817-BF8278381E9D}" srcOrd="1" destOrd="0" parTransId="{CF3521AF-C9A7-47C4-B970-C2C0CFC2D05B}" sibTransId="{2B136A84-4D2A-4398-817D-D9871AF0CC27}"/>
    <dgm:cxn modelId="{3FF1F02E-108C-4426-8734-29036FEBBFDC}" srcId="{6C929E86-FD76-41E5-824A-F30559900ED0}" destId="{B0C8D5C3-FFD6-4513-9EB8-A3FB03596CB6}" srcOrd="0" destOrd="0" parTransId="{F3C195E2-9C17-481E-8C94-509BCE753ECE}" sibTransId="{7552C26E-3AD9-4F56-8D22-E7C3928246EC}"/>
    <dgm:cxn modelId="{32D29B37-A002-46F8-AB6E-BF03A7E670E4}" srcId="{93E47FF9-516D-4E5B-9506-B733D5B05481}" destId="{80D21398-D0D1-48EF-BE08-09C282A418F8}" srcOrd="0" destOrd="0" parTransId="{0FF0D6BD-9CFC-46FC-A907-680BC9B40C3B}" sibTransId="{CF832034-E922-4F77-A095-23F905D0B861}"/>
    <dgm:cxn modelId="{65F6D663-32B2-4D56-9A8A-D38BCC1F4CB9}" srcId="{60263B7E-636F-4191-B427-ED52FB5DA16D}" destId="{FCE5AED2-5E78-477F-BACF-0D81FFFFC7FC}" srcOrd="0" destOrd="0" parTransId="{D0EC81CB-9632-4A64-8D2D-0FB5D79C2CBE}" sibTransId="{A345C4D4-7699-4B7C-9B1E-9C19FE859E97}"/>
    <dgm:cxn modelId="{59EE216D-5072-41BF-B931-8FA00D9BE410}" srcId="{60263B7E-636F-4191-B427-ED52FB5DA16D}" destId="{6C929E86-FD76-41E5-824A-F30559900ED0}" srcOrd="4" destOrd="0" parTransId="{C22B2D3A-FBA1-48AE-825F-4B728BDB8217}" sibTransId="{50C9BB9B-A80D-4834-86D1-A186802608D8}"/>
    <dgm:cxn modelId="{99057879-577F-4E7C-897C-BE44DC34D9F1}" type="presOf" srcId="{60263B7E-636F-4191-B427-ED52FB5DA16D}" destId="{85338BD4-B525-4245-8BC1-F37AFF176914}" srcOrd="0" destOrd="0" presId="urn:microsoft.com/office/officeart/2005/8/layout/chevron2"/>
    <dgm:cxn modelId="{535F7F7E-BAEA-4AA7-AF9C-17BC5C145FBB}" type="presOf" srcId="{6C929E86-FD76-41E5-824A-F30559900ED0}" destId="{B86113B4-C0AA-4AC5-8B2B-8517E70CDEA0}" srcOrd="0" destOrd="0" presId="urn:microsoft.com/office/officeart/2005/8/layout/chevron2"/>
    <dgm:cxn modelId="{3AC4C47E-B068-49C4-A914-33313E233200}" srcId="{FCE5AED2-5E78-477F-BACF-0D81FFFFC7FC}" destId="{EB849AB2-E46C-4F91-8140-99D5430D68A4}" srcOrd="0" destOrd="0" parTransId="{76760EDC-B4D1-4551-A83B-C67A5A78FDA8}" sibTransId="{EA4E7153-3537-4724-9952-5E8BDE30714C}"/>
    <dgm:cxn modelId="{539D998F-C402-4366-8162-24B4DE978D12}" type="presOf" srcId="{93E47FF9-516D-4E5B-9506-B733D5B05481}" destId="{75D59983-3AA0-4FBB-80C8-606F9D5A4A7B}" srcOrd="0" destOrd="0" presId="urn:microsoft.com/office/officeart/2005/8/layout/chevron2"/>
    <dgm:cxn modelId="{BFD1AA9B-98FA-4E3B-8651-D368182F77CA}" type="presOf" srcId="{EB5198F7-F1C7-4661-9E46-D0B6E6E56D65}" destId="{1DFF3258-4E6F-44FE-A706-3FF1A5FDBFDB}" srcOrd="0" destOrd="0" presId="urn:microsoft.com/office/officeart/2005/8/layout/chevron2"/>
    <dgm:cxn modelId="{6A6060A4-91A0-44DB-A794-E33B813E237B}" type="presOf" srcId="{80D21398-D0D1-48EF-BE08-09C282A418F8}" destId="{A58CBC55-16D4-4894-B10E-303FAE5E253F}" srcOrd="0" destOrd="0" presId="urn:microsoft.com/office/officeart/2005/8/layout/chevron2"/>
    <dgm:cxn modelId="{1AAEACA5-F642-45EE-B5C2-3B94F9D5A575}" srcId="{1D7CC419-1FE7-4C77-84F1-033F1051953C}" destId="{188995B9-DCBB-4396-AAD4-1C6B738CB24B}" srcOrd="0" destOrd="0" parTransId="{05CFC7D2-CFF1-4D72-8F88-B06C6C3B221A}" sibTransId="{74FDABB1-BDE8-46ED-9134-BFAA1D3756A5}"/>
    <dgm:cxn modelId="{B96C10A7-B8C1-4F05-A9E0-F9BDC349EF46}" type="presOf" srcId="{FCE5AED2-5E78-477F-BACF-0D81FFFFC7FC}" destId="{1CAD1C1E-EA56-4DA8-83FB-76B2A09A6DA3}" srcOrd="0" destOrd="0" presId="urn:microsoft.com/office/officeart/2005/8/layout/chevron2"/>
    <dgm:cxn modelId="{5E5994C0-A9D0-4A29-AA20-A36352A36CBF}" srcId="{60263B7E-636F-4191-B427-ED52FB5DA16D}" destId="{02E0D50F-3FAB-42AB-8739-51E7D69220AA}" srcOrd="2" destOrd="0" parTransId="{DAF50DDF-1987-42C0-BD23-5AC8714C930E}" sibTransId="{DC948536-300B-42BB-958F-1DB7DE8E49B4}"/>
    <dgm:cxn modelId="{12603DC1-DEF4-41B6-BAA7-0805934E1466}" srcId="{60263B7E-636F-4191-B427-ED52FB5DA16D}" destId="{93E47FF9-516D-4E5B-9506-B733D5B05481}" srcOrd="3" destOrd="0" parTransId="{C999DD69-1B96-4B30-ADD7-97500D9BBC41}" sibTransId="{EADB3709-F9E9-4774-8483-19BCD33B8989}"/>
    <dgm:cxn modelId="{7CA810C8-7C39-454F-A069-5A0740A235B1}" type="presOf" srcId="{1D7CC419-1FE7-4C77-84F1-033F1051953C}" destId="{C1770B54-DB4A-462C-8CAF-94FBF7E0E3AE}" srcOrd="0" destOrd="0" presId="urn:microsoft.com/office/officeart/2005/8/layout/chevron2"/>
    <dgm:cxn modelId="{703460CA-3149-4428-A4B4-914C4FE373A0}" type="presOf" srcId="{F9753874-7F49-4985-A44C-6EF15E160AC8}" destId="{E78CB0B7-44CB-43BF-AC08-1A2AB6781D11}" srcOrd="0" destOrd="0" presId="urn:microsoft.com/office/officeart/2005/8/layout/chevron2"/>
    <dgm:cxn modelId="{B4E72DCF-99A0-4539-9766-AB6E8D1B1B54}" srcId="{60263B7E-636F-4191-B427-ED52FB5DA16D}" destId="{EB5198F7-F1C7-4661-9E46-D0B6E6E56D65}" srcOrd="6" destOrd="0" parTransId="{1B00B34B-4CCB-4D7D-B9DA-35D1B0D417BA}" sibTransId="{F17AA669-A96A-441D-AE79-2A3AE534085E}"/>
    <dgm:cxn modelId="{8DAEEDD3-DB37-4F97-803A-A279CBFECAFB}" type="presOf" srcId="{9E2C5547-751C-478F-B1AF-37609C06435C}" destId="{2EB2D544-4E04-4254-B465-BDAFDA8FB4F5}" srcOrd="0" destOrd="0" presId="urn:microsoft.com/office/officeart/2005/8/layout/chevron2"/>
    <dgm:cxn modelId="{570BE7D6-26F1-4537-9EB7-0CCB008C0FFF}" type="presOf" srcId="{B0C8D5C3-FFD6-4513-9EB8-A3FB03596CB6}" destId="{49AFEE46-9008-4523-8B8D-BB11024D641E}" srcOrd="0" destOrd="0" presId="urn:microsoft.com/office/officeart/2005/8/layout/chevron2"/>
    <dgm:cxn modelId="{BB67DFD8-6509-44B4-A4A6-0E3E9711ECD0}" type="presOf" srcId="{188995B9-DCBB-4396-AAD4-1C6B738CB24B}" destId="{77C00F8A-73C7-451D-930E-E59CAB7BEB9B}" srcOrd="0" destOrd="0" presId="urn:microsoft.com/office/officeart/2005/8/layout/chevron2"/>
    <dgm:cxn modelId="{E4EC12DB-B336-4509-8ACF-D8C2D3FF6785}" type="presOf" srcId="{D9613D5F-DA1E-4B31-9817-BF8278381E9D}" destId="{62C9F546-59B5-447E-85E1-B92C3D31BB5A}" srcOrd="0" destOrd="0" presId="urn:microsoft.com/office/officeart/2005/8/layout/chevron2"/>
    <dgm:cxn modelId="{6E97F9DB-5A00-4E2A-8E9E-23A07603FB5C}" srcId="{60263B7E-636F-4191-B427-ED52FB5DA16D}" destId="{1D7CC419-1FE7-4C77-84F1-033F1051953C}" srcOrd="5" destOrd="0" parTransId="{8E414686-A768-4E1E-BB2E-0B429CB176D8}" sibTransId="{D8199959-780A-4418-BFE2-63D2960E8BA0}"/>
    <dgm:cxn modelId="{812589DD-6F89-4C8D-ABD3-CE810BA8EBA3}" type="presOf" srcId="{02E0D50F-3FAB-42AB-8739-51E7D69220AA}" destId="{6E0C9448-92F2-4F0D-9C91-FE15DADB15BD}" srcOrd="0" destOrd="0" presId="urn:microsoft.com/office/officeart/2005/8/layout/chevron2"/>
    <dgm:cxn modelId="{3148CEDF-D141-4CDC-9085-AE3202447846}" srcId="{02E0D50F-3FAB-42AB-8739-51E7D69220AA}" destId="{DBC31060-97F4-49A3-BAB2-DBBF523A2E79}" srcOrd="0" destOrd="0" parTransId="{E5A6F7DB-EEAE-430A-8B09-E83CA55E6486}" sibTransId="{1729551F-5CAE-4311-95A6-87EF597CCCF1}"/>
    <dgm:cxn modelId="{0474C6EE-FA62-4005-8A0F-0C7EF877D44A}" type="presOf" srcId="{EB849AB2-E46C-4F91-8140-99D5430D68A4}" destId="{BBB2A90D-81D0-4D6C-AA2E-25994F9B9CCD}" srcOrd="0" destOrd="0" presId="urn:microsoft.com/office/officeart/2005/8/layout/chevron2"/>
    <dgm:cxn modelId="{0CDDE3FB-822C-426F-ABF7-41BB80EC6426}" srcId="{D9613D5F-DA1E-4B31-9817-BF8278381E9D}" destId="{F9753874-7F49-4985-A44C-6EF15E160AC8}" srcOrd="0" destOrd="0" parTransId="{F57562D9-2EA4-4219-B2C4-35B9517D4C38}" sibTransId="{DAD8CD27-0A46-43D2-AE6E-4D2E2ABA99F7}"/>
    <dgm:cxn modelId="{89F8012E-6A47-4460-B20C-BF1B2BAD55F8}" type="presParOf" srcId="{85338BD4-B525-4245-8BC1-F37AFF176914}" destId="{EB85D73F-6128-44B5-A816-EDA03740261F}" srcOrd="0" destOrd="0" presId="urn:microsoft.com/office/officeart/2005/8/layout/chevron2"/>
    <dgm:cxn modelId="{9EB7C1D2-B234-4B77-8970-950E9D2B0F26}" type="presParOf" srcId="{EB85D73F-6128-44B5-A816-EDA03740261F}" destId="{1CAD1C1E-EA56-4DA8-83FB-76B2A09A6DA3}" srcOrd="0" destOrd="0" presId="urn:microsoft.com/office/officeart/2005/8/layout/chevron2"/>
    <dgm:cxn modelId="{E1F5FC67-402E-4923-B193-7561FB9060EB}" type="presParOf" srcId="{EB85D73F-6128-44B5-A816-EDA03740261F}" destId="{BBB2A90D-81D0-4D6C-AA2E-25994F9B9CCD}" srcOrd="1" destOrd="0" presId="urn:microsoft.com/office/officeart/2005/8/layout/chevron2"/>
    <dgm:cxn modelId="{0E33E443-D48A-4496-BB10-535C3EA3889E}" type="presParOf" srcId="{85338BD4-B525-4245-8BC1-F37AFF176914}" destId="{27BFA52E-AD51-480A-96FC-099D46C00B09}" srcOrd="1" destOrd="0" presId="urn:microsoft.com/office/officeart/2005/8/layout/chevron2"/>
    <dgm:cxn modelId="{75BEDDAE-CFE0-4258-B1EF-912A167FB5F7}" type="presParOf" srcId="{85338BD4-B525-4245-8BC1-F37AFF176914}" destId="{1AAFE417-2FEF-4984-9AC8-46B40746E621}" srcOrd="2" destOrd="0" presId="urn:microsoft.com/office/officeart/2005/8/layout/chevron2"/>
    <dgm:cxn modelId="{F33838C4-4C14-4352-860B-56B194EA8E91}" type="presParOf" srcId="{1AAFE417-2FEF-4984-9AC8-46B40746E621}" destId="{62C9F546-59B5-447E-85E1-B92C3D31BB5A}" srcOrd="0" destOrd="0" presId="urn:microsoft.com/office/officeart/2005/8/layout/chevron2"/>
    <dgm:cxn modelId="{D0E43589-98F7-40BA-880A-7B5B39B67D3C}" type="presParOf" srcId="{1AAFE417-2FEF-4984-9AC8-46B40746E621}" destId="{E78CB0B7-44CB-43BF-AC08-1A2AB6781D11}" srcOrd="1" destOrd="0" presId="urn:microsoft.com/office/officeart/2005/8/layout/chevron2"/>
    <dgm:cxn modelId="{C0F6C4F1-BB31-4127-91C1-41FFFE58676F}" type="presParOf" srcId="{85338BD4-B525-4245-8BC1-F37AFF176914}" destId="{D08198E5-A32B-467C-9381-7C59796E8BB8}" srcOrd="3" destOrd="0" presId="urn:microsoft.com/office/officeart/2005/8/layout/chevron2"/>
    <dgm:cxn modelId="{924BC561-836D-4451-8AAC-38339D34FCD5}" type="presParOf" srcId="{85338BD4-B525-4245-8BC1-F37AFF176914}" destId="{D7A1F01C-0188-42BE-80C6-1DDF3C6F03CA}" srcOrd="4" destOrd="0" presId="urn:microsoft.com/office/officeart/2005/8/layout/chevron2"/>
    <dgm:cxn modelId="{98C23155-0978-415A-B4ED-BF177977C560}" type="presParOf" srcId="{D7A1F01C-0188-42BE-80C6-1DDF3C6F03CA}" destId="{6E0C9448-92F2-4F0D-9C91-FE15DADB15BD}" srcOrd="0" destOrd="0" presId="urn:microsoft.com/office/officeart/2005/8/layout/chevron2"/>
    <dgm:cxn modelId="{77D01863-6346-485B-ACEC-DA4B9A828819}" type="presParOf" srcId="{D7A1F01C-0188-42BE-80C6-1DDF3C6F03CA}" destId="{2CF845F0-E574-4A8E-B05E-E18845EE39B5}" srcOrd="1" destOrd="0" presId="urn:microsoft.com/office/officeart/2005/8/layout/chevron2"/>
    <dgm:cxn modelId="{E8C0D51C-01AE-48E9-8C5B-D6FB03EC0687}" type="presParOf" srcId="{85338BD4-B525-4245-8BC1-F37AFF176914}" destId="{82EAAA4B-16D0-4BCE-80D0-37D6493B0B0E}" srcOrd="5" destOrd="0" presId="urn:microsoft.com/office/officeart/2005/8/layout/chevron2"/>
    <dgm:cxn modelId="{32623A3B-D1C6-4BD2-9EE0-3AC8BF570E23}" type="presParOf" srcId="{85338BD4-B525-4245-8BC1-F37AFF176914}" destId="{29C73351-6E70-497F-BAAE-A190E52EE9F0}" srcOrd="6" destOrd="0" presId="urn:microsoft.com/office/officeart/2005/8/layout/chevron2"/>
    <dgm:cxn modelId="{23984B13-0C12-4FD1-AD63-EDA29F7F7209}" type="presParOf" srcId="{29C73351-6E70-497F-BAAE-A190E52EE9F0}" destId="{75D59983-3AA0-4FBB-80C8-606F9D5A4A7B}" srcOrd="0" destOrd="0" presId="urn:microsoft.com/office/officeart/2005/8/layout/chevron2"/>
    <dgm:cxn modelId="{C3DD6CA3-E6C6-47F9-9B85-F468BF77DD5F}" type="presParOf" srcId="{29C73351-6E70-497F-BAAE-A190E52EE9F0}" destId="{A58CBC55-16D4-4894-B10E-303FAE5E253F}" srcOrd="1" destOrd="0" presId="urn:microsoft.com/office/officeart/2005/8/layout/chevron2"/>
    <dgm:cxn modelId="{AE52778F-326F-4419-80A0-0C50864121A9}" type="presParOf" srcId="{85338BD4-B525-4245-8BC1-F37AFF176914}" destId="{1B091D4A-4C0F-44D6-A4D4-508A08BE8A46}" srcOrd="7" destOrd="0" presId="urn:microsoft.com/office/officeart/2005/8/layout/chevron2"/>
    <dgm:cxn modelId="{2FD09861-A76C-44DF-9106-0EDFFE79F028}" type="presParOf" srcId="{85338BD4-B525-4245-8BC1-F37AFF176914}" destId="{E2D83B5E-D568-4654-9FFE-417E1DF6C619}" srcOrd="8" destOrd="0" presId="urn:microsoft.com/office/officeart/2005/8/layout/chevron2"/>
    <dgm:cxn modelId="{BC6A14B6-6E01-4628-91F7-91134352762F}" type="presParOf" srcId="{E2D83B5E-D568-4654-9FFE-417E1DF6C619}" destId="{B86113B4-C0AA-4AC5-8B2B-8517E70CDEA0}" srcOrd="0" destOrd="0" presId="urn:microsoft.com/office/officeart/2005/8/layout/chevron2"/>
    <dgm:cxn modelId="{5B10489A-F974-40F6-AEBD-42B8DFBE83C3}" type="presParOf" srcId="{E2D83B5E-D568-4654-9FFE-417E1DF6C619}" destId="{49AFEE46-9008-4523-8B8D-BB11024D641E}" srcOrd="1" destOrd="0" presId="urn:microsoft.com/office/officeart/2005/8/layout/chevron2"/>
    <dgm:cxn modelId="{E02FDE39-EDB7-4B58-A0DA-BBC5F6838426}" type="presParOf" srcId="{85338BD4-B525-4245-8BC1-F37AFF176914}" destId="{B0A8E488-9FBB-45B6-A06D-250BC71D0D10}" srcOrd="9" destOrd="0" presId="urn:microsoft.com/office/officeart/2005/8/layout/chevron2"/>
    <dgm:cxn modelId="{27AA641E-E246-4F23-9E74-532B72732447}" type="presParOf" srcId="{85338BD4-B525-4245-8BC1-F37AFF176914}" destId="{BC574E2B-D0E5-4CF0-A634-8672465015AC}" srcOrd="10" destOrd="0" presId="urn:microsoft.com/office/officeart/2005/8/layout/chevron2"/>
    <dgm:cxn modelId="{76642D50-CD2F-4927-B292-B0FEDDCC2304}" type="presParOf" srcId="{BC574E2B-D0E5-4CF0-A634-8672465015AC}" destId="{C1770B54-DB4A-462C-8CAF-94FBF7E0E3AE}" srcOrd="0" destOrd="0" presId="urn:microsoft.com/office/officeart/2005/8/layout/chevron2"/>
    <dgm:cxn modelId="{3B6CADF6-A183-41EA-999C-C6E52C30C655}" type="presParOf" srcId="{BC574E2B-D0E5-4CF0-A634-8672465015AC}" destId="{77C00F8A-73C7-451D-930E-E59CAB7BEB9B}" srcOrd="1" destOrd="0" presId="urn:microsoft.com/office/officeart/2005/8/layout/chevron2"/>
    <dgm:cxn modelId="{DB5291CF-3D73-423D-8FF2-B187A5F03956}" type="presParOf" srcId="{85338BD4-B525-4245-8BC1-F37AFF176914}" destId="{6E37097C-7AC4-485E-9742-454B23FC268D}" srcOrd="11" destOrd="0" presId="urn:microsoft.com/office/officeart/2005/8/layout/chevron2"/>
    <dgm:cxn modelId="{5CB0E644-2D13-4DDD-9C09-E2A954D12CC3}" type="presParOf" srcId="{85338BD4-B525-4245-8BC1-F37AFF176914}" destId="{2D3170AB-29B7-4A78-BB90-939C8BAC41FE}" srcOrd="12" destOrd="0" presId="urn:microsoft.com/office/officeart/2005/8/layout/chevron2"/>
    <dgm:cxn modelId="{079A51CA-54CA-4DE9-B5C8-877D89DCB619}" type="presParOf" srcId="{2D3170AB-29B7-4A78-BB90-939C8BAC41FE}" destId="{1DFF3258-4E6F-44FE-A706-3FF1A5FDBFDB}" srcOrd="0" destOrd="0" presId="urn:microsoft.com/office/officeart/2005/8/layout/chevron2"/>
    <dgm:cxn modelId="{3ECF2FC7-F3ED-4890-83E2-C8324EFA330E}" type="presParOf" srcId="{2D3170AB-29B7-4A78-BB90-939C8BAC41FE}" destId="{2EB2D544-4E04-4254-B465-BDAFDA8FB4F5}"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322040-8957-486E-A1D2-55D929265846}">
      <dsp:nvSpPr>
        <dsp:cNvPr id="0" name=""/>
        <dsp:cNvSpPr/>
      </dsp:nvSpPr>
      <dsp:spPr>
        <a:xfrm>
          <a:off x="0" y="0"/>
          <a:ext cx="8915400"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E706BA4-A042-4151-8F41-8185A7DBA6E3}">
      <dsp:nvSpPr>
        <dsp:cNvPr id="0" name=""/>
        <dsp:cNvSpPr/>
      </dsp:nvSpPr>
      <dsp:spPr>
        <a:xfrm>
          <a:off x="0" y="0"/>
          <a:ext cx="2214315" cy="3778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marL="0" lvl="0" indent="0" algn="l" defTabSz="1955800">
            <a:lnSpc>
              <a:spcPct val="90000"/>
            </a:lnSpc>
            <a:spcBef>
              <a:spcPct val="0"/>
            </a:spcBef>
            <a:spcAft>
              <a:spcPct val="35000"/>
            </a:spcAft>
            <a:buNone/>
          </a:pPr>
          <a:r>
            <a:rPr lang="en-US" sz="4400" kern="1200" dirty="0">
              <a:latin typeface="Bookman Old Style" panose="02050604050505020204" pitchFamily="18" charset="0"/>
            </a:rPr>
            <a:t>100 Marks</a:t>
          </a:r>
        </a:p>
      </dsp:txBody>
      <dsp:txXfrm>
        <a:off x="0" y="0"/>
        <a:ext cx="2214315" cy="3778250"/>
      </dsp:txXfrm>
    </dsp:sp>
    <dsp:sp modelId="{A1A5C03D-3859-4E04-9E27-13DA002C75E4}">
      <dsp:nvSpPr>
        <dsp:cNvPr id="0" name=""/>
        <dsp:cNvSpPr/>
      </dsp:nvSpPr>
      <dsp:spPr>
        <a:xfrm>
          <a:off x="2339818" y="87814"/>
          <a:ext cx="6568011" cy="17562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7650" tIns="247650" rIns="247650" bIns="247650" numCol="1" spcCol="1270" anchor="t" anchorCtr="0">
          <a:noAutofit/>
        </a:bodyPr>
        <a:lstStyle/>
        <a:p>
          <a:pPr marL="0" lvl="0" indent="0" algn="l" defTabSz="2889250">
            <a:lnSpc>
              <a:spcPct val="90000"/>
            </a:lnSpc>
            <a:spcBef>
              <a:spcPct val="0"/>
            </a:spcBef>
            <a:spcAft>
              <a:spcPct val="35000"/>
            </a:spcAft>
            <a:buNone/>
          </a:pPr>
          <a:r>
            <a:rPr lang="en-US" sz="6500" kern="1200" dirty="0">
              <a:latin typeface="Bookman Old Style" panose="02050604050505020204" pitchFamily="18" charset="0"/>
            </a:rPr>
            <a:t>60 (CIA)</a:t>
          </a:r>
        </a:p>
      </dsp:txBody>
      <dsp:txXfrm>
        <a:off x="2339818" y="87814"/>
        <a:ext cx="6568011" cy="1756295"/>
      </dsp:txXfrm>
    </dsp:sp>
    <dsp:sp modelId="{7937FD42-8A5D-406B-84CA-3D12E2FF2C78}">
      <dsp:nvSpPr>
        <dsp:cNvPr id="0" name=""/>
        <dsp:cNvSpPr/>
      </dsp:nvSpPr>
      <dsp:spPr>
        <a:xfrm>
          <a:off x="2214315" y="1844110"/>
          <a:ext cx="6693515" cy="0"/>
        </a:xfrm>
        <a:prstGeom prst="line">
          <a:avLst/>
        </a:prstGeom>
        <a:solidFill>
          <a:schemeClr val="accent1">
            <a:hueOff val="0"/>
            <a:satOff val="0"/>
            <a:lumOff val="0"/>
            <a:alphaOff val="0"/>
          </a:schemeClr>
        </a:solidFill>
        <a:ln w="15875"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D748FAA-BA3C-447C-BBFE-7ECF6CE2B6BC}">
      <dsp:nvSpPr>
        <dsp:cNvPr id="0" name=""/>
        <dsp:cNvSpPr/>
      </dsp:nvSpPr>
      <dsp:spPr>
        <a:xfrm>
          <a:off x="2339818" y="1931925"/>
          <a:ext cx="6568011" cy="17562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7650" tIns="247650" rIns="247650" bIns="247650" numCol="1" spcCol="1270" anchor="t" anchorCtr="0">
          <a:noAutofit/>
        </a:bodyPr>
        <a:lstStyle/>
        <a:p>
          <a:pPr marL="0" lvl="0" indent="0" algn="l" defTabSz="2889250">
            <a:lnSpc>
              <a:spcPct val="90000"/>
            </a:lnSpc>
            <a:spcBef>
              <a:spcPct val="0"/>
            </a:spcBef>
            <a:spcAft>
              <a:spcPct val="35000"/>
            </a:spcAft>
            <a:buNone/>
          </a:pPr>
          <a:r>
            <a:rPr lang="en-US" sz="6500" kern="1200" dirty="0">
              <a:latin typeface="Bookman Old Style" panose="02050604050505020204" pitchFamily="18" charset="0"/>
            </a:rPr>
            <a:t>40 (SEE)</a:t>
          </a:r>
        </a:p>
      </dsp:txBody>
      <dsp:txXfrm>
        <a:off x="2339818" y="1931925"/>
        <a:ext cx="6568011" cy="1756295"/>
      </dsp:txXfrm>
    </dsp:sp>
    <dsp:sp modelId="{90DB979C-8DD4-4668-AD4D-1D0730ADB81D}">
      <dsp:nvSpPr>
        <dsp:cNvPr id="0" name=""/>
        <dsp:cNvSpPr/>
      </dsp:nvSpPr>
      <dsp:spPr>
        <a:xfrm>
          <a:off x="2214315" y="3688221"/>
          <a:ext cx="6693515" cy="0"/>
        </a:xfrm>
        <a:prstGeom prst="line">
          <a:avLst/>
        </a:prstGeom>
        <a:solidFill>
          <a:schemeClr val="accent1">
            <a:hueOff val="0"/>
            <a:satOff val="0"/>
            <a:lumOff val="0"/>
            <a:alphaOff val="0"/>
          </a:schemeClr>
        </a:solidFill>
        <a:ln w="15875" cap="rnd"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9E1A51-A092-4292-B52B-0118F73C5CA8}">
      <dsp:nvSpPr>
        <dsp:cNvPr id="0" name=""/>
        <dsp:cNvSpPr/>
      </dsp:nvSpPr>
      <dsp:spPr>
        <a:xfrm>
          <a:off x="0" y="4078917"/>
          <a:ext cx="8128000" cy="1338791"/>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 </a:t>
          </a:r>
        </a:p>
      </dsp:txBody>
      <dsp:txXfrm>
        <a:off x="0" y="4078917"/>
        <a:ext cx="8128000" cy="722947"/>
      </dsp:txXfrm>
    </dsp:sp>
    <dsp:sp modelId="{DFBA85D0-3F45-487E-A7B3-65F40C06BB68}">
      <dsp:nvSpPr>
        <dsp:cNvPr id="0" name=""/>
        <dsp:cNvSpPr/>
      </dsp:nvSpPr>
      <dsp:spPr>
        <a:xfrm>
          <a:off x="0" y="4775089"/>
          <a:ext cx="4064000" cy="615844"/>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3576" tIns="29210" rIns="163576" bIns="29210" numCol="1" spcCol="1270" anchor="ctr" anchorCtr="0">
          <a:noAutofit/>
        </a:bodyPr>
        <a:lstStyle/>
        <a:p>
          <a:pPr marL="0" lvl="0" indent="0" algn="ctr" defTabSz="1022350">
            <a:lnSpc>
              <a:spcPct val="90000"/>
            </a:lnSpc>
            <a:spcBef>
              <a:spcPct val="0"/>
            </a:spcBef>
            <a:spcAft>
              <a:spcPct val="35000"/>
            </a:spcAft>
            <a:buFont typeface="Arial" panose="020B0604020202020204" pitchFamily="34" charset="0"/>
            <a:buNone/>
          </a:pPr>
          <a:r>
            <a:rPr lang="en-US" sz="2300" b="0" i="0" kern="1200" dirty="0">
              <a:solidFill>
                <a:srgbClr val="273239"/>
              </a:solidFill>
              <a:effectLst/>
              <a:latin typeface="Nunito" pitchFamily="2" charset="0"/>
            </a:rPr>
            <a:t>K-NN (k nearest neighbors)</a:t>
          </a:r>
          <a:endParaRPr lang="en-US" sz="2300" kern="1200" dirty="0"/>
        </a:p>
      </dsp:txBody>
      <dsp:txXfrm>
        <a:off x="0" y="4775089"/>
        <a:ext cx="4064000" cy="615844"/>
      </dsp:txXfrm>
    </dsp:sp>
    <dsp:sp modelId="{05DB7427-3347-4E9E-913A-C187BA752B96}">
      <dsp:nvSpPr>
        <dsp:cNvPr id="0" name=""/>
        <dsp:cNvSpPr/>
      </dsp:nvSpPr>
      <dsp:spPr>
        <a:xfrm>
          <a:off x="4064000" y="4775089"/>
          <a:ext cx="4064000" cy="615844"/>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3576" tIns="29210" rIns="163576" bIns="29210" numCol="1" spcCol="1270" anchor="ctr" anchorCtr="0">
          <a:noAutofit/>
        </a:bodyPr>
        <a:lstStyle/>
        <a:p>
          <a:pPr marL="0" lvl="0" indent="0" algn="ctr" defTabSz="1022350">
            <a:lnSpc>
              <a:spcPct val="90000"/>
            </a:lnSpc>
            <a:spcBef>
              <a:spcPct val="0"/>
            </a:spcBef>
            <a:spcAft>
              <a:spcPct val="35000"/>
            </a:spcAft>
            <a:buFont typeface="Arial" panose="020B0604020202020204" pitchFamily="34" charset="0"/>
            <a:buNone/>
          </a:pPr>
          <a:r>
            <a:rPr lang="en-US" sz="2300" b="0" i="0" kern="1200" dirty="0">
              <a:solidFill>
                <a:srgbClr val="273239"/>
              </a:solidFill>
              <a:effectLst/>
              <a:latin typeface="Nunito" pitchFamily="2" charset="0"/>
            </a:rPr>
            <a:t>Decision Trees</a:t>
          </a:r>
          <a:endParaRPr lang="en-US" sz="2300" kern="1200" dirty="0"/>
        </a:p>
      </dsp:txBody>
      <dsp:txXfrm>
        <a:off x="4064000" y="4775089"/>
        <a:ext cx="4064000" cy="615844"/>
      </dsp:txXfrm>
    </dsp:sp>
    <dsp:sp modelId="{4F16A3E6-7DC5-4C88-84EC-8E723F2AEC17}">
      <dsp:nvSpPr>
        <dsp:cNvPr id="0" name=""/>
        <dsp:cNvSpPr/>
      </dsp:nvSpPr>
      <dsp:spPr>
        <a:xfrm rot="10800000">
          <a:off x="0" y="2039937"/>
          <a:ext cx="8128000" cy="2059061"/>
        </a:xfrm>
        <a:prstGeom prst="upArrowCallou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 </a:t>
          </a:r>
        </a:p>
      </dsp:txBody>
      <dsp:txXfrm rot="-10800000">
        <a:off x="0" y="2039937"/>
        <a:ext cx="8128000" cy="722730"/>
      </dsp:txXfrm>
    </dsp:sp>
    <dsp:sp modelId="{40F95E6C-D0A4-46B1-9F4B-E57DE0FDB260}">
      <dsp:nvSpPr>
        <dsp:cNvPr id="0" name=""/>
        <dsp:cNvSpPr/>
      </dsp:nvSpPr>
      <dsp:spPr>
        <a:xfrm>
          <a:off x="0" y="2762668"/>
          <a:ext cx="4064000" cy="615659"/>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3576" tIns="29210" rIns="163576" bIns="29210" numCol="1" spcCol="1270" anchor="ctr" anchorCtr="0">
          <a:noAutofit/>
        </a:bodyPr>
        <a:lstStyle/>
        <a:p>
          <a:pPr marL="0" lvl="0" indent="0" algn="ctr" defTabSz="1022350">
            <a:lnSpc>
              <a:spcPct val="90000"/>
            </a:lnSpc>
            <a:spcBef>
              <a:spcPct val="0"/>
            </a:spcBef>
            <a:spcAft>
              <a:spcPct val="35000"/>
            </a:spcAft>
            <a:buFont typeface="Arial" panose="020B0604020202020204" pitchFamily="34" charset="0"/>
            <a:buNone/>
          </a:pPr>
          <a:r>
            <a:rPr lang="en-US" sz="2300" b="0" i="0" kern="1200" dirty="0">
              <a:solidFill>
                <a:srgbClr val="273239"/>
              </a:solidFill>
              <a:effectLst/>
              <a:latin typeface="Nunito" pitchFamily="2" charset="0"/>
            </a:rPr>
            <a:t>Classification</a:t>
          </a:r>
          <a:endParaRPr lang="en-US" sz="2300" kern="1200" dirty="0"/>
        </a:p>
      </dsp:txBody>
      <dsp:txXfrm>
        <a:off x="0" y="2762668"/>
        <a:ext cx="4064000" cy="615659"/>
      </dsp:txXfrm>
    </dsp:sp>
    <dsp:sp modelId="{FABB23E6-5FA6-48D4-8132-33D6E4FF7475}">
      <dsp:nvSpPr>
        <dsp:cNvPr id="0" name=""/>
        <dsp:cNvSpPr/>
      </dsp:nvSpPr>
      <dsp:spPr>
        <a:xfrm>
          <a:off x="4064000" y="2762668"/>
          <a:ext cx="4064000" cy="615659"/>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3576" tIns="29210" rIns="163576" bIns="29210" numCol="1" spcCol="1270" anchor="ctr" anchorCtr="0">
          <a:noAutofit/>
        </a:bodyPr>
        <a:lstStyle/>
        <a:p>
          <a:pPr marL="0" lvl="0" indent="0" algn="ctr" defTabSz="1022350">
            <a:lnSpc>
              <a:spcPct val="90000"/>
            </a:lnSpc>
            <a:spcBef>
              <a:spcPct val="0"/>
            </a:spcBef>
            <a:spcAft>
              <a:spcPct val="35000"/>
            </a:spcAft>
            <a:buFont typeface="Arial" panose="020B0604020202020204" pitchFamily="34" charset="0"/>
            <a:buNone/>
          </a:pPr>
          <a:r>
            <a:rPr lang="en-US" sz="2300" b="0" i="0" kern="1200" dirty="0">
              <a:solidFill>
                <a:srgbClr val="273239"/>
              </a:solidFill>
              <a:effectLst/>
              <a:latin typeface="Nunito" pitchFamily="2" charset="0"/>
            </a:rPr>
            <a:t>Naive Bayes Classifiers</a:t>
          </a:r>
          <a:endParaRPr lang="en-US" sz="2300" kern="1200" dirty="0"/>
        </a:p>
      </dsp:txBody>
      <dsp:txXfrm>
        <a:off x="4064000" y="2762668"/>
        <a:ext cx="4064000" cy="615659"/>
      </dsp:txXfrm>
    </dsp:sp>
    <dsp:sp modelId="{21FC5683-706F-4BCE-8559-A1D76FD1FB0A}">
      <dsp:nvSpPr>
        <dsp:cNvPr id="0" name=""/>
        <dsp:cNvSpPr/>
      </dsp:nvSpPr>
      <dsp:spPr>
        <a:xfrm rot="10800000">
          <a:off x="0" y="957"/>
          <a:ext cx="8128000" cy="2059061"/>
        </a:xfrm>
        <a:prstGeom prst="upArrowCallou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Types of Supervised Learning</a:t>
          </a:r>
        </a:p>
      </dsp:txBody>
      <dsp:txXfrm rot="-10800000">
        <a:off x="0" y="957"/>
        <a:ext cx="8128000" cy="722730"/>
      </dsp:txXfrm>
    </dsp:sp>
    <dsp:sp modelId="{541D0298-FBB8-484F-BDDD-3840D6BD9D9A}">
      <dsp:nvSpPr>
        <dsp:cNvPr id="0" name=""/>
        <dsp:cNvSpPr/>
      </dsp:nvSpPr>
      <dsp:spPr>
        <a:xfrm>
          <a:off x="0" y="723688"/>
          <a:ext cx="4064000" cy="615659"/>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3576" tIns="29210" rIns="163576" bIns="29210" numCol="1" spcCol="1270" anchor="ctr" anchorCtr="0">
          <a:noAutofit/>
        </a:bodyPr>
        <a:lstStyle/>
        <a:p>
          <a:pPr marL="0" lvl="0" indent="0" algn="ctr" defTabSz="1022350">
            <a:lnSpc>
              <a:spcPct val="90000"/>
            </a:lnSpc>
            <a:spcBef>
              <a:spcPct val="0"/>
            </a:spcBef>
            <a:spcAft>
              <a:spcPct val="35000"/>
            </a:spcAft>
            <a:buFont typeface="Arial" panose="020B0604020202020204" pitchFamily="34" charset="0"/>
            <a:buNone/>
          </a:pPr>
          <a:r>
            <a:rPr lang="en-US" sz="2300" b="0" i="0" kern="1200" dirty="0">
              <a:solidFill>
                <a:srgbClr val="273239"/>
              </a:solidFill>
              <a:effectLst/>
              <a:latin typeface="Nunito" pitchFamily="2" charset="0"/>
            </a:rPr>
            <a:t>Regression</a:t>
          </a:r>
          <a:endParaRPr lang="en-US" sz="2300" kern="1200" dirty="0"/>
        </a:p>
      </dsp:txBody>
      <dsp:txXfrm>
        <a:off x="0" y="723688"/>
        <a:ext cx="4064000" cy="615659"/>
      </dsp:txXfrm>
    </dsp:sp>
    <dsp:sp modelId="{91DA3B4E-C834-44D5-A71E-B687E8B99483}">
      <dsp:nvSpPr>
        <dsp:cNvPr id="0" name=""/>
        <dsp:cNvSpPr/>
      </dsp:nvSpPr>
      <dsp:spPr>
        <a:xfrm>
          <a:off x="4064000" y="723688"/>
          <a:ext cx="4064000" cy="615659"/>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3576" tIns="29210" rIns="163576" bIns="29210" numCol="1" spcCol="1270" anchor="ctr" anchorCtr="0">
          <a:noAutofit/>
        </a:bodyPr>
        <a:lstStyle/>
        <a:p>
          <a:pPr marL="0" lvl="0" indent="0" algn="ctr" defTabSz="1022350">
            <a:lnSpc>
              <a:spcPct val="90000"/>
            </a:lnSpc>
            <a:spcBef>
              <a:spcPct val="0"/>
            </a:spcBef>
            <a:spcAft>
              <a:spcPct val="35000"/>
            </a:spcAft>
            <a:buFont typeface="Arial" panose="020B0604020202020204" pitchFamily="34" charset="0"/>
            <a:buNone/>
          </a:pPr>
          <a:r>
            <a:rPr lang="en-US" sz="2300" b="0" i="0" kern="1200" dirty="0">
              <a:solidFill>
                <a:srgbClr val="273239"/>
              </a:solidFill>
              <a:effectLst/>
              <a:latin typeface="Nunito" pitchFamily="2" charset="0"/>
            </a:rPr>
            <a:t>Logistic Regression</a:t>
          </a:r>
          <a:endParaRPr lang="en-US" sz="2300" kern="1200" dirty="0"/>
        </a:p>
      </dsp:txBody>
      <dsp:txXfrm>
        <a:off x="4064000" y="723688"/>
        <a:ext cx="4064000" cy="61565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61C38C-934C-4A8E-A7A9-CE48758B40B4}">
      <dsp:nvSpPr>
        <dsp:cNvPr id="0" name=""/>
        <dsp:cNvSpPr/>
      </dsp:nvSpPr>
      <dsp:spPr>
        <a:xfrm>
          <a:off x="1201" y="341012"/>
          <a:ext cx="1592552" cy="1592552"/>
        </a:xfrm>
        <a:prstGeom prst="ellipse">
          <a:avLst/>
        </a:prstGeom>
        <a:solidFill>
          <a:schemeClr val="accent1">
            <a:hueOff val="0"/>
            <a:satOff val="0"/>
            <a:lumOff val="0"/>
            <a:alphaOff val="0"/>
          </a:schemeClr>
        </a:solidFill>
        <a:ln>
          <a:noFill/>
        </a:ln>
        <a:effectLst>
          <a:outerShdw blurRad="38100" dist="25400" dir="5400000" rotWithShape="0">
            <a:srgbClr val="000000">
              <a:alpha val="2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0" i="1" kern="1200" dirty="0">
              <a:effectLst/>
              <a:latin typeface="Nunito" pitchFamily="2" charset="0"/>
            </a:rPr>
            <a:t>Architecture</a:t>
          </a:r>
          <a:endParaRPr lang="en-US" sz="1500" kern="1200" dirty="0"/>
        </a:p>
      </dsp:txBody>
      <dsp:txXfrm>
        <a:off x="234425" y="574236"/>
        <a:ext cx="1126104" cy="1126104"/>
      </dsp:txXfrm>
    </dsp:sp>
    <dsp:sp modelId="{83007C53-916C-476C-9366-3E71632869F5}">
      <dsp:nvSpPr>
        <dsp:cNvPr id="0" name=""/>
        <dsp:cNvSpPr/>
      </dsp:nvSpPr>
      <dsp:spPr>
        <a:xfrm>
          <a:off x="1723068" y="675448"/>
          <a:ext cx="923680" cy="923680"/>
        </a:xfrm>
        <a:prstGeom prst="mathPlus">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1845502" y="1028663"/>
        <a:ext cx="678812" cy="217250"/>
      </dsp:txXfrm>
    </dsp:sp>
    <dsp:sp modelId="{0D12457D-AB53-453A-8306-437012896F00}">
      <dsp:nvSpPr>
        <dsp:cNvPr id="0" name=""/>
        <dsp:cNvSpPr/>
      </dsp:nvSpPr>
      <dsp:spPr>
        <a:xfrm>
          <a:off x="2776064" y="341012"/>
          <a:ext cx="1592552" cy="1592552"/>
        </a:xfrm>
        <a:prstGeom prst="ellipse">
          <a:avLst/>
        </a:prstGeom>
        <a:solidFill>
          <a:schemeClr val="accent1">
            <a:hueOff val="0"/>
            <a:satOff val="0"/>
            <a:lumOff val="0"/>
            <a:alphaOff val="0"/>
          </a:schemeClr>
        </a:solidFill>
        <a:ln>
          <a:noFill/>
        </a:ln>
        <a:effectLst>
          <a:outerShdw blurRad="38100" dist="25400" dir="5400000" rotWithShape="0">
            <a:srgbClr val="000000">
              <a:alpha val="2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0" i="1" kern="1200">
              <a:effectLst/>
              <a:latin typeface="Nunito" pitchFamily="2" charset="0"/>
            </a:rPr>
            <a:t>Agent Program</a:t>
          </a:r>
          <a:endParaRPr lang="en-US" sz="1500" kern="1200" dirty="0"/>
        </a:p>
      </dsp:txBody>
      <dsp:txXfrm>
        <a:off x="3009288" y="574236"/>
        <a:ext cx="1126104" cy="1126104"/>
      </dsp:txXfrm>
    </dsp:sp>
    <dsp:sp modelId="{715F86B9-3ED3-463B-B470-A3DA01DC3960}">
      <dsp:nvSpPr>
        <dsp:cNvPr id="0" name=""/>
        <dsp:cNvSpPr/>
      </dsp:nvSpPr>
      <dsp:spPr>
        <a:xfrm>
          <a:off x="4497931" y="675448"/>
          <a:ext cx="923680" cy="923680"/>
        </a:xfrm>
        <a:prstGeom prst="mathEqual">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4620365" y="865726"/>
        <a:ext cx="678812" cy="543124"/>
      </dsp:txXfrm>
    </dsp:sp>
    <dsp:sp modelId="{3B45CA4A-7927-49CA-AA9B-AB584CC3D66E}">
      <dsp:nvSpPr>
        <dsp:cNvPr id="0" name=""/>
        <dsp:cNvSpPr/>
      </dsp:nvSpPr>
      <dsp:spPr>
        <a:xfrm>
          <a:off x="5550927" y="341012"/>
          <a:ext cx="1592552" cy="1592552"/>
        </a:xfrm>
        <a:prstGeom prst="ellipse">
          <a:avLst/>
        </a:prstGeom>
        <a:solidFill>
          <a:schemeClr val="accent1">
            <a:hueOff val="0"/>
            <a:satOff val="0"/>
            <a:lumOff val="0"/>
            <a:alphaOff val="0"/>
          </a:schemeClr>
        </a:solidFill>
        <a:ln>
          <a:noFill/>
        </a:ln>
        <a:effectLst>
          <a:outerShdw blurRad="38100" dist="25400" dir="5400000" rotWithShape="0">
            <a:srgbClr val="000000">
              <a:alpha val="2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0" i="1" kern="1200">
              <a:effectLst/>
              <a:latin typeface="Nunito" pitchFamily="2" charset="0"/>
            </a:rPr>
            <a:t>Agent</a:t>
          </a:r>
          <a:endParaRPr lang="en-US" sz="1500" kern="1200" dirty="0"/>
        </a:p>
      </dsp:txBody>
      <dsp:txXfrm>
        <a:off x="5784151" y="574236"/>
        <a:ext cx="1126104" cy="112610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AD1C1E-EA56-4DA8-83FB-76B2A09A6DA3}">
      <dsp:nvSpPr>
        <dsp:cNvPr id="0" name=""/>
        <dsp:cNvSpPr/>
      </dsp:nvSpPr>
      <dsp:spPr>
        <a:xfrm rot="5400000">
          <a:off x="-126801" y="128139"/>
          <a:ext cx="845343" cy="591740"/>
        </a:xfrm>
        <a:prstGeom prst="chevron">
          <a:avLst/>
        </a:prstGeom>
        <a:gradFill rotWithShape="0">
          <a:gsLst>
            <a:gs pos="0">
              <a:schemeClr val="accent1">
                <a:hueOff val="0"/>
                <a:satOff val="0"/>
                <a:lumOff val="0"/>
                <a:alphaOff val="0"/>
                <a:tint val="96000"/>
                <a:lumMod val="104000"/>
              </a:schemeClr>
            </a:gs>
            <a:gs pos="100000">
              <a:schemeClr val="accent1">
                <a:hueOff val="0"/>
                <a:satOff val="0"/>
                <a:lumOff val="0"/>
                <a:alphaOff val="0"/>
                <a:shade val="98000"/>
                <a:lumMod val="94000"/>
              </a:schemeClr>
            </a:gs>
          </a:gsLst>
          <a:lin ang="5400000" scaled="0"/>
        </a:gradFill>
        <a:ln w="9525" cap="rnd" cmpd="sng" algn="ctr">
          <a:solidFill>
            <a:schemeClr val="accent1">
              <a:hueOff val="0"/>
              <a:satOff val="0"/>
              <a:lumOff val="0"/>
              <a:alphaOff val="0"/>
            </a:schemeClr>
          </a:solidFill>
          <a:prstDash val="solid"/>
        </a:ln>
        <a:effectLst>
          <a:outerShdw blurRad="50800" dist="381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t>1</a:t>
          </a:r>
        </a:p>
      </dsp:txBody>
      <dsp:txXfrm rot="-5400000">
        <a:off x="1" y="297207"/>
        <a:ext cx="591740" cy="253603"/>
      </dsp:txXfrm>
    </dsp:sp>
    <dsp:sp modelId="{BBB2A90D-81D0-4D6C-AA2E-25994F9B9CCD}">
      <dsp:nvSpPr>
        <dsp:cNvPr id="0" name=""/>
        <dsp:cNvSpPr/>
      </dsp:nvSpPr>
      <dsp:spPr>
        <a:xfrm rot="5400000">
          <a:off x="3486422" y="-2893344"/>
          <a:ext cx="549473" cy="6338837"/>
        </a:xfrm>
        <a:prstGeom prst="round2Same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a:outerShdw blurRad="38100" dist="25400" dir="5400000" rotWithShape="0">
            <a:srgbClr val="000000">
              <a:alpha val="25000"/>
            </a:srgbClr>
          </a:outerShdw>
        </a:effectLst>
      </dsp:spPr>
      <dsp:style>
        <a:lnRef idx="1">
          <a:scrgbClr r="0" g="0" b="0"/>
        </a:lnRef>
        <a:fillRef idx="1">
          <a:scrgbClr r="0" g="0" b="0"/>
        </a:fillRef>
        <a:effectRef idx="2">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b="1" kern="1200" dirty="0"/>
            <a:t>Simple Reflex Agents</a:t>
          </a:r>
        </a:p>
      </dsp:txBody>
      <dsp:txXfrm rot="-5400000">
        <a:off x="591741" y="28160"/>
        <a:ext cx="6312014" cy="495827"/>
      </dsp:txXfrm>
    </dsp:sp>
    <dsp:sp modelId="{62C9F546-59B5-447E-85E1-B92C3D31BB5A}">
      <dsp:nvSpPr>
        <dsp:cNvPr id="0" name=""/>
        <dsp:cNvSpPr/>
      </dsp:nvSpPr>
      <dsp:spPr>
        <a:xfrm rot="5400000">
          <a:off x="-126801" y="889914"/>
          <a:ext cx="845343" cy="591740"/>
        </a:xfrm>
        <a:prstGeom prst="chevron">
          <a:avLst/>
        </a:prstGeom>
        <a:gradFill rotWithShape="0">
          <a:gsLst>
            <a:gs pos="0">
              <a:schemeClr val="accent1">
                <a:hueOff val="0"/>
                <a:satOff val="0"/>
                <a:lumOff val="0"/>
                <a:alphaOff val="0"/>
                <a:tint val="96000"/>
                <a:lumMod val="104000"/>
              </a:schemeClr>
            </a:gs>
            <a:gs pos="100000">
              <a:schemeClr val="accent1">
                <a:hueOff val="0"/>
                <a:satOff val="0"/>
                <a:lumOff val="0"/>
                <a:alphaOff val="0"/>
                <a:shade val="98000"/>
                <a:lumMod val="94000"/>
              </a:schemeClr>
            </a:gs>
          </a:gsLst>
          <a:lin ang="5400000" scaled="0"/>
        </a:gradFill>
        <a:ln w="9525" cap="rnd" cmpd="sng" algn="ctr">
          <a:solidFill>
            <a:schemeClr val="accent1">
              <a:hueOff val="0"/>
              <a:satOff val="0"/>
              <a:lumOff val="0"/>
              <a:alphaOff val="0"/>
            </a:schemeClr>
          </a:solidFill>
          <a:prstDash val="solid"/>
        </a:ln>
        <a:effectLst>
          <a:outerShdw blurRad="50800" dist="381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t>2</a:t>
          </a:r>
        </a:p>
      </dsp:txBody>
      <dsp:txXfrm rot="-5400000">
        <a:off x="1" y="1058982"/>
        <a:ext cx="591740" cy="253603"/>
      </dsp:txXfrm>
    </dsp:sp>
    <dsp:sp modelId="{E78CB0B7-44CB-43BF-AC08-1A2AB6781D11}">
      <dsp:nvSpPr>
        <dsp:cNvPr id="0" name=""/>
        <dsp:cNvSpPr/>
      </dsp:nvSpPr>
      <dsp:spPr>
        <a:xfrm rot="5400000">
          <a:off x="3486422" y="-2131569"/>
          <a:ext cx="549473" cy="6338837"/>
        </a:xfrm>
        <a:prstGeom prst="round2Same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a:outerShdw blurRad="38100" dist="25400" dir="5400000" rotWithShape="0">
            <a:srgbClr val="000000">
              <a:alpha val="25000"/>
            </a:srgbClr>
          </a:outerShdw>
        </a:effectLst>
      </dsp:spPr>
      <dsp:style>
        <a:lnRef idx="1">
          <a:scrgbClr r="0" g="0" b="0"/>
        </a:lnRef>
        <a:fillRef idx="1">
          <a:scrgbClr r="0" g="0" b="0"/>
        </a:fillRef>
        <a:effectRef idx="2">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b="1" kern="1200" dirty="0"/>
            <a:t>Model-Based Reflex Agents</a:t>
          </a:r>
        </a:p>
      </dsp:txBody>
      <dsp:txXfrm rot="-5400000">
        <a:off x="591741" y="789935"/>
        <a:ext cx="6312014" cy="495827"/>
      </dsp:txXfrm>
    </dsp:sp>
    <dsp:sp modelId="{6E0C9448-92F2-4F0D-9C91-FE15DADB15BD}">
      <dsp:nvSpPr>
        <dsp:cNvPr id="0" name=""/>
        <dsp:cNvSpPr/>
      </dsp:nvSpPr>
      <dsp:spPr>
        <a:xfrm rot="5400000">
          <a:off x="-126801" y="1651688"/>
          <a:ext cx="845343" cy="591740"/>
        </a:xfrm>
        <a:prstGeom prst="chevron">
          <a:avLst/>
        </a:prstGeom>
        <a:gradFill rotWithShape="0">
          <a:gsLst>
            <a:gs pos="0">
              <a:schemeClr val="accent1">
                <a:hueOff val="0"/>
                <a:satOff val="0"/>
                <a:lumOff val="0"/>
                <a:alphaOff val="0"/>
                <a:tint val="96000"/>
                <a:lumMod val="104000"/>
              </a:schemeClr>
            </a:gs>
            <a:gs pos="100000">
              <a:schemeClr val="accent1">
                <a:hueOff val="0"/>
                <a:satOff val="0"/>
                <a:lumOff val="0"/>
                <a:alphaOff val="0"/>
                <a:shade val="98000"/>
                <a:lumMod val="94000"/>
              </a:schemeClr>
            </a:gs>
          </a:gsLst>
          <a:lin ang="5400000" scaled="0"/>
        </a:gradFill>
        <a:ln w="9525" cap="rnd" cmpd="sng" algn="ctr">
          <a:solidFill>
            <a:schemeClr val="accent1">
              <a:hueOff val="0"/>
              <a:satOff val="0"/>
              <a:lumOff val="0"/>
              <a:alphaOff val="0"/>
            </a:schemeClr>
          </a:solidFill>
          <a:prstDash val="solid"/>
        </a:ln>
        <a:effectLst>
          <a:outerShdw blurRad="50800" dist="381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t>3</a:t>
          </a:r>
        </a:p>
      </dsp:txBody>
      <dsp:txXfrm rot="-5400000">
        <a:off x="1" y="1820756"/>
        <a:ext cx="591740" cy="253603"/>
      </dsp:txXfrm>
    </dsp:sp>
    <dsp:sp modelId="{2CF845F0-E574-4A8E-B05E-E18845EE39B5}">
      <dsp:nvSpPr>
        <dsp:cNvPr id="0" name=""/>
        <dsp:cNvSpPr/>
      </dsp:nvSpPr>
      <dsp:spPr>
        <a:xfrm rot="5400000">
          <a:off x="3486422" y="-1369794"/>
          <a:ext cx="549473" cy="6338837"/>
        </a:xfrm>
        <a:prstGeom prst="round2Same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a:outerShdw blurRad="38100" dist="25400" dir="5400000" rotWithShape="0">
            <a:srgbClr val="000000">
              <a:alpha val="25000"/>
            </a:srgbClr>
          </a:outerShdw>
        </a:effectLst>
      </dsp:spPr>
      <dsp:style>
        <a:lnRef idx="1">
          <a:scrgbClr r="0" g="0" b="0"/>
        </a:lnRef>
        <a:fillRef idx="1">
          <a:scrgbClr r="0" g="0" b="0"/>
        </a:fillRef>
        <a:effectRef idx="2">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b="1" kern="1200" dirty="0"/>
            <a:t>Goal-Based Agents</a:t>
          </a:r>
        </a:p>
      </dsp:txBody>
      <dsp:txXfrm rot="-5400000">
        <a:off x="591741" y="1551710"/>
        <a:ext cx="6312014" cy="495827"/>
      </dsp:txXfrm>
    </dsp:sp>
    <dsp:sp modelId="{75D59983-3AA0-4FBB-80C8-606F9D5A4A7B}">
      <dsp:nvSpPr>
        <dsp:cNvPr id="0" name=""/>
        <dsp:cNvSpPr/>
      </dsp:nvSpPr>
      <dsp:spPr>
        <a:xfrm rot="5400000">
          <a:off x="-126801" y="2413463"/>
          <a:ext cx="845343" cy="591740"/>
        </a:xfrm>
        <a:prstGeom prst="chevron">
          <a:avLst/>
        </a:prstGeom>
        <a:gradFill rotWithShape="0">
          <a:gsLst>
            <a:gs pos="0">
              <a:schemeClr val="accent1">
                <a:hueOff val="0"/>
                <a:satOff val="0"/>
                <a:lumOff val="0"/>
                <a:alphaOff val="0"/>
                <a:tint val="96000"/>
                <a:lumMod val="104000"/>
              </a:schemeClr>
            </a:gs>
            <a:gs pos="100000">
              <a:schemeClr val="accent1">
                <a:hueOff val="0"/>
                <a:satOff val="0"/>
                <a:lumOff val="0"/>
                <a:alphaOff val="0"/>
                <a:shade val="98000"/>
                <a:lumMod val="94000"/>
              </a:schemeClr>
            </a:gs>
          </a:gsLst>
          <a:lin ang="5400000" scaled="0"/>
        </a:gradFill>
        <a:ln w="9525" cap="rnd" cmpd="sng" algn="ctr">
          <a:solidFill>
            <a:schemeClr val="accent1">
              <a:hueOff val="0"/>
              <a:satOff val="0"/>
              <a:lumOff val="0"/>
              <a:alphaOff val="0"/>
            </a:schemeClr>
          </a:solidFill>
          <a:prstDash val="solid"/>
        </a:ln>
        <a:effectLst>
          <a:outerShdw blurRad="50800" dist="381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t>4</a:t>
          </a:r>
        </a:p>
      </dsp:txBody>
      <dsp:txXfrm rot="-5400000">
        <a:off x="1" y="2582531"/>
        <a:ext cx="591740" cy="253603"/>
      </dsp:txXfrm>
    </dsp:sp>
    <dsp:sp modelId="{A58CBC55-16D4-4894-B10E-303FAE5E253F}">
      <dsp:nvSpPr>
        <dsp:cNvPr id="0" name=""/>
        <dsp:cNvSpPr/>
      </dsp:nvSpPr>
      <dsp:spPr>
        <a:xfrm rot="5400000">
          <a:off x="3486422" y="-608020"/>
          <a:ext cx="549473" cy="6338837"/>
        </a:xfrm>
        <a:prstGeom prst="round2Same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a:outerShdw blurRad="38100" dist="25400" dir="5400000" rotWithShape="0">
            <a:srgbClr val="000000">
              <a:alpha val="25000"/>
            </a:srgbClr>
          </a:outerShdw>
        </a:effectLst>
      </dsp:spPr>
      <dsp:style>
        <a:lnRef idx="1">
          <a:scrgbClr r="0" g="0" b="0"/>
        </a:lnRef>
        <a:fillRef idx="1">
          <a:scrgbClr r="0" g="0" b="0"/>
        </a:fillRef>
        <a:effectRef idx="2">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b="1" kern="1200" dirty="0"/>
            <a:t>Utility-Based Agents</a:t>
          </a:r>
        </a:p>
      </dsp:txBody>
      <dsp:txXfrm rot="-5400000">
        <a:off x="591741" y="2313484"/>
        <a:ext cx="6312014" cy="495827"/>
      </dsp:txXfrm>
    </dsp:sp>
    <dsp:sp modelId="{B86113B4-C0AA-4AC5-8B2B-8517E70CDEA0}">
      <dsp:nvSpPr>
        <dsp:cNvPr id="0" name=""/>
        <dsp:cNvSpPr/>
      </dsp:nvSpPr>
      <dsp:spPr>
        <a:xfrm rot="5400000">
          <a:off x="-126801" y="3175237"/>
          <a:ext cx="845343" cy="591740"/>
        </a:xfrm>
        <a:prstGeom prst="chevron">
          <a:avLst/>
        </a:prstGeom>
        <a:gradFill rotWithShape="0">
          <a:gsLst>
            <a:gs pos="0">
              <a:schemeClr val="accent1">
                <a:hueOff val="0"/>
                <a:satOff val="0"/>
                <a:lumOff val="0"/>
                <a:alphaOff val="0"/>
                <a:tint val="96000"/>
                <a:lumMod val="104000"/>
              </a:schemeClr>
            </a:gs>
            <a:gs pos="100000">
              <a:schemeClr val="accent1">
                <a:hueOff val="0"/>
                <a:satOff val="0"/>
                <a:lumOff val="0"/>
                <a:alphaOff val="0"/>
                <a:shade val="98000"/>
                <a:lumMod val="94000"/>
              </a:schemeClr>
            </a:gs>
          </a:gsLst>
          <a:lin ang="5400000" scaled="0"/>
        </a:gradFill>
        <a:ln w="9525" cap="rnd" cmpd="sng" algn="ctr">
          <a:solidFill>
            <a:schemeClr val="accent1">
              <a:hueOff val="0"/>
              <a:satOff val="0"/>
              <a:lumOff val="0"/>
              <a:alphaOff val="0"/>
            </a:schemeClr>
          </a:solidFill>
          <a:prstDash val="solid"/>
        </a:ln>
        <a:effectLst>
          <a:outerShdw blurRad="50800" dist="381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t>5</a:t>
          </a:r>
        </a:p>
      </dsp:txBody>
      <dsp:txXfrm rot="-5400000">
        <a:off x="1" y="3344305"/>
        <a:ext cx="591740" cy="253603"/>
      </dsp:txXfrm>
    </dsp:sp>
    <dsp:sp modelId="{49AFEE46-9008-4523-8B8D-BB11024D641E}">
      <dsp:nvSpPr>
        <dsp:cNvPr id="0" name=""/>
        <dsp:cNvSpPr/>
      </dsp:nvSpPr>
      <dsp:spPr>
        <a:xfrm rot="5400000">
          <a:off x="3486422" y="153754"/>
          <a:ext cx="549473" cy="6338837"/>
        </a:xfrm>
        <a:prstGeom prst="round2Same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a:outerShdw blurRad="38100" dist="25400" dir="5400000" rotWithShape="0">
            <a:srgbClr val="000000">
              <a:alpha val="25000"/>
            </a:srgbClr>
          </a:outerShdw>
        </a:effectLst>
      </dsp:spPr>
      <dsp:style>
        <a:lnRef idx="1">
          <a:scrgbClr r="0" g="0" b="0"/>
        </a:lnRef>
        <a:fillRef idx="1">
          <a:scrgbClr r="0" g="0" b="0"/>
        </a:fillRef>
        <a:effectRef idx="2">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a:t>Learning Agent</a:t>
          </a:r>
        </a:p>
      </dsp:txBody>
      <dsp:txXfrm rot="-5400000">
        <a:off x="591741" y="3075259"/>
        <a:ext cx="6312014" cy="495827"/>
      </dsp:txXfrm>
    </dsp:sp>
    <dsp:sp modelId="{C1770B54-DB4A-462C-8CAF-94FBF7E0E3AE}">
      <dsp:nvSpPr>
        <dsp:cNvPr id="0" name=""/>
        <dsp:cNvSpPr/>
      </dsp:nvSpPr>
      <dsp:spPr>
        <a:xfrm rot="5400000">
          <a:off x="-126801" y="3937012"/>
          <a:ext cx="845343" cy="591740"/>
        </a:xfrm>
        <a:prstGeom prst="chevron">
          <a:avLst/>
        </a:prstGeom>
        <a:gradFill rotWithShape="0">
          <a:gsLst>
            <a:gs pos="0">
              <a:schemeClr val="accent1">
                <a:hueOff val="0"/>
                <a:satOff val="0"/>
                <a:lumOff val="0"/>
                <a:alphaOff val="0"/>
                <a:tint val="96000"/>
                <a:lumMod val="104000"/>
              </a:schemeClr>
            </a:gs>
            <a:gs pos="100000">
              <a:schemeClr val="accent1">
                <a:hueOff val="0"/>
                <a:satOff val="0"/>
                <a:lumOff val="0"/>
                <a:alphaOff val="0"/>
                <a:shade val="98000"/>
                <a:lumMod val="94000"/>
              </a:schemeClr>
            </a:gs>
          </a:gsLst>
          <a:lin ang="5400000" scaled="0"/>
        </a:gradFill>
        <a:ln w="9525" cap="rnd" cmpd="sng" algn="ctr">
          <a:solidFill>
            <a:schemeClr val="accent1">
              <a:hueOff val="0"/>
              <a:satOff val="0"/>
              <a:lumOff val="0"/>
              <a:alphaOff val="0"/>
            </a:schemeClr>
          </a:solidFill>
          <a:prstDash val="solid"/>
        </a:ln>
        <a:effectLst>
          <a:outerShdw blurRad="50800" dist="381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t>6</a:t>
          </a:r>
        </a:p>
      </dsp:txBody>
      <dsp:txXfrm rot="-5400000">
        <a:off x="1" y="4106080"/>
        <a:ext cx="591740" cy="253603"/>
      </dsp:txXfrm>
    </dsp:sp>
    <dsp:sp modelId="{77C00F8A-73C7-451D-930E-E59CAB7BEB9B}">
      <dsp:nvSpPr>
        <dsp:cNvPr id="0" name=""/>
        <dsp:cNvSpPr/>
      </dsp:nvSpPr>
      <dsp:spPr>
        <a:xfrm rot="5400000">
          <a:off x="3486422" y="915528"/>
          <a:ext cx="549473" cy="6338837"/>
        </a:xfrm>
        <a:prstGeom prst="round2Same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a:outerShdw blurRad="38100" dist="25400" dir="5400000" rotWithShape="0">
            <a:srgbClr val="000000">
              <a:alpha val="25000"/>
            </a:srgbClr>
          </a:outerShdw>
        </a:effectLst>
      </dsp:spPr>
      <dsp:style>
        <a:lnRef idx="1">
          <a:scrgbClr r="0" g="0" b="0"/>
        </a:lnRef>
        <a:fillRef idx="1">
          <a:scrgbClr r="0" g="0" b="0"/>
        </a:fillRef>
        <a:effectRef idx="2">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a:t>Multi-agent Systems	</a:t>
          </a:r>
        </a:p>
      </dsp:txBody>
      <dsp:txXfrm rot="-5400000">
        <a:off x="591741" y="3837033"/>
        <a:ext cx="6312014" cy="495827"/>
      </dsp:txXfrm>
    </dsp:sp>
    <dsp:sp modelId="{1DFF3258-4E6F-44FE-A706-3FF1A5FDBFDB}">
      <dsp:nvSpPr>
        <dsp:cNvPr id="0" name=""/>
        <dsp:cNvSpPr/>
      </dsp:nvSpPr>
      <dsp:spPr>
        <a:xfrm rot="5400000">
          <a:off x="-126801" y="4698786"/>
          <a:ext cx="845343" cy="591740"/>
        </a:xfrm>
        <a:prstGeom prst="chevron">
          <a:avLst/>
        </a:prstGeom>
        <a:gradFill rotWithShape="0">
          <a:gsLst>
            <a:gs pos="0">
              <a:schemeClr val="accent1">
                <a:hueOff val="0"/>
                <a:satOff val="0"/>
                <a:lumOff val="0"/>
                <a:alphaOff val="0"/>
                <a:tint val="96000"/>
                <a:lumMod val="104000"/>
              </a:schemeClr>
            </a:gs>
            <a:gs pos="100000">
              <a:schemeClr val="accent1">
                <a:hueOff val="0"/>
                <a:satOff val="0"/>
                <a:lumOff val="0"/>
                <a:alphaOff val="0"/>
                <a:shade val="98000"/>
                <a:lumMod val="94000"/>
              </a:schemeClr>
            </a:gs>
          </a:gsLst>
          <a:lin ang="5400000" scaled="0"/>
        </a:gradFill>
        <a:ln w="9525" cap="rnd" cmpd="sng" algn="ctr">
          <a:solidFill>
            <a:schemeClr val="accent1">
              <a:hueOff val="0"/>
              <a:satOff val="0"/>
              <a:lumOff val="0"/>
              <a:alphaOff val="0"/>
            </a:schemeClr>
          </a:solidFill>
          <a:prstDash val="solid"/>
        </a:ln>
        <a:effectLst>
          <a:outerShdw blurRad="50800" dist="38100" dir="5400000" rotWithShape="0">
            <a:srgbClr val="000000">
              <a:alpha val="60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t>7</a:t>
          </a:r>
        </a:p>
      </dsp:txBody>
      <dsp:txXfrm rot="-5400000">
        <a:off x="1" y="4867854"/>
        <a:ext cx="591740" cy="253603"/>
      </dsp:txXfrm>
    </dsp:sp>
    <dsp:sp modelId="{2EB2D544-4E04-4254-B465-BDAFDA8FB4F5}">
      <dsp:nvSpPr>
        <dsp:cNvPr id="0" name=""/>
        <dsp:cNvSpPr/>
      </dsp:nvSpPr>
      <dsp:spPr>
        <a:xfrm rot="5400000">
          <a:off x="3486422" y="1677303"/>
          <a:ext cx="549473" cy="6338837"/>
        </a:xfrm>
        <a:prstGeom prst="round2SameRect">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a:outerShdw blurRad="38100" dist="25400" dir="5400000" rotWithShape="0">
            <a:srgbClr val="000000">
              <a:alpha val="25000"/>
            </a:srgbClr>
          </a:outerShdw>
        </a:effectLst>
      </dsp:spPr>
      <dsp:style>
        <a:lnRef idx="1">
          <a:scrgbClr r="0" g="0" b="0"/>
        </a:lnRef>
        <a:fillRef idx="1">
          <a:scrgbClr r="0" g="0" b="0"/>
        </a:fillRef>
        <a:effectRef idx="2">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a:t>Hierarchical Agents</a:t>
          </a:r>
        </a:p>
      </dsp:txBody>
      <dsp:txXfrm rot="-5400000">
        <a:off x="591741" y="4598808"/>
        <a:ext cx="6312014" cy="49582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30188B-57E9-4200-8534-BE8835512268}" type="datetimeFigureOut">
              <a:rPr lang="en-IN" smtClean="0"/>
              <a:t>03-03-2025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099F7B-37FC-443C-BED7-64EF1ED3C687}" type="slidenum">
              <a:rPr lang="en-IN" smtClean="0"/>
              <a:t>‹#›</a:t>
            </a:fld>
            <a:endParaRPr lang="en-IN"/>
          </a:p>
        </p:txBody>
      </p:sp>
    </p:spTree>
    <p:extLst>
      <p:ext uri="{BB962C8B-B14F-4D97-AF65-F5344CB8AC3E}">
        <p14:creationId xmlns:p14="http://schemas.microsoft.com/office/powerpoint/2010/main" val="4271175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04040"/>
                </a:solidFill>
                <a:effectLst/>
                <a:latin typeface="Verdana" panose="020B0604030504040204" pitchFamily="34" charset="0"/>
              </a:rPr>
              <a:t>In an episodic environment, the agent's experience is divided into episodes which consist of a percept sequence and an action. Since episodes are independent of one another and the agent doesn't need to know the effect of its actions.</a:t>
            </a:r>
            <a:endParaRPr lang="en-IN" dirty="0"/>
          </a:p>
        </p:txBody>
      </p:sp>
      <p:sp>
        <p:nvSpPr>
          <p:cNvPr id="4" name="Slide Number Placeholder 3"/>
          <p:cNvSpPr>
            <a:spLocks noGrp="1"/>
          </p:cNvSpPr>
          <p:nvPr>
            <p:ph type="sldNum" sz="quarter" idx="5"/>
          </p:nvPr>
        </p:nvSpPr>
        <p:spPr/>
        <p:txBody>
          <a:bodyPr/>
          <a:lstStyle/>
          <a:p>
            <a:fld id="{CA394980-24A5-4F68-915B-C5F1C6A5286A}" type="slidenum">
              <a:rPr lang="en-IN" smtClean="0"/>
              <a:t>96</a:t>
            </a:fld>
            <a:endParaRPr lang="en-IN"/>
          </a:p>
        </p:txBody>
      </p:sp>
    </p:spTree>
    <p:extLst>
      <p:ext uri="{BB962C8B-B14F-4D97-AF65-F5344CB8AC3E}">
        <p14:creationId xmlns:p14="http://schemas.microsoft.com/office/powerpoint/2010/main" val="22860195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04040"/>
                </a:solidFill>
                <a:effectLst/>
                <a:latin typeface="Verdana" panose="020B0604030504040204" pitchFamily="34" charset="0"/>
              </a:rPr>
              <a:t>In an episodic environment, the agent's experience is divided into episodes which consist of a percept sequence and an action. Since episodes are independent of one another and the agent doesn't need to know the effect of its actions.</a:t>
            </a:r>
            <a:endParaRPr lang="en-IN" dirty="0"/>
          </a:p>
        </p:txBody>
      </p:sp>
      <p:sp>
        <p:nvSpPr>
          <p:cNvPr id="4" name="Slide Number Placeholder 3"/>
          <p:cNvSpPr>
            <a:spLocks noGrp="1"/>
          </p:cNvSpPr>
          <p:nvPr>
            <p:ph type="sldNum" sz="quarter" idx="5"/>
          </p:nvPr>
        </p:nvSpPr>
        <p:spPr/>
        <p:txBody>
          <a:bodyPr/>
          <a:lstStyle/>
          <a:p>
            <a:fld id="{CA394980-24A5-4F68-915B-C5F1C6A5286A}" type="slidenum">
              <a:rPr lang="en-IN" smtClean="0"/>
              <a:t>97</a:t>
            </a:fld>
            <a:endParaRPr lang="en-IN"/>
          </a:p>
        </p:txBody>
      </p:sp>
    </p:spTree>
    <p:extLst>
      <p:ext uri="{BB962C8B-B14F-4D97-AF65-F5344CB8AC3E}">
        <p14:creationId xmlns:p14="http://schemas.microsoft.com/office/powerpoint/2010/main" val="1758305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err="1">
                <a:solidFill>
                  <a:srgbClr val="202124"/>
                </a:solidFill>
                <a:effectLst/>
                <a:latin typeface="arial" panose="020B0604020202020204" pitchFamily="34" charset="0"/>
              </a:rPr>
              <a:t>Delibration</a:t>
            </a:r>
            <a:r>
              <a:rPr lang="en-US" b="0" i="0" dirty="0">
                <a:solidFill>
                  <a:srgbClr val="202124"/>
                </a:solidFill>
                <a:effectLst/>
                <a:latin typeface="arial" panose="020B0604020202020204" pitchFamily="34" charset="0"/>
              </a:rPr>
              <a:t>-discussion or thinking about something in detail.</a:t>
            </a:r>
          </a:p>
          <a:p>
            <a:endParaRPr lang="en-US" b="0" i="0" dirty="0">
              <a:solidFill>
                <a:srgbClr val="202124"/>
              </a:solidFill>
              <a:effectLst/>
              <a:latin typeface="arial" panose="020B0604020202020204" pitchFamily="34" charset="0"/>
            </a:endParaRPr>
          </a:p>
          <a:p>
            <a:r>
              <a:rPr lang="en-US" b="0" i="0" dirty="0">
                <a:solidFill>
                  <a:srgbClr val="404040"/>
                </a:solidFill>
                <a:effectLst/>
                <a:latin typeface="Verdana" panose="020B0604030504040204" pitchFamily="34" charset="0"/>
              </a:rPr>
              <a:t>An environment is dynamic if it changes while an agent is in the process of responding to a percept sequence. It is static if it does not change while the agent is deciding on an action </a:t>
            </a:r>
            <a:r>
              <a:rPr lang="en-US" b="0" i="0" dirty="0" err="1">
                <a:solidFill>
                  <a:srgbClr val="404040"/>
                </a:solidFill>
                <a:effectLst/>
                <a:latin typeface="Verdana" panose="020B0604030504040204" pitchFamily="34" charset="0"/>
              </a:rPr>
              <a:t>i.e</a:t>
            </a:r>
            <a:r>
              <a:rPr lang="en-US" b="0" i="0" dirty="0">
                <a:solidFill>
                  <a:srgbClr val="404040"/>
                </a:solidFill>
                <a:effectLst/>
                <a:latin typeface="Verdana" panose="020B0604030504040204" pitchFamily="34" charset="0"/>
              </a:rPr>
              <a:t> the agent does not to keep in touch with time. An environment is </a:t>
            </a:r>
            <a:r>
              <a:rPr lang="en-US" b="0" i="0" dirty="0" err="1">
                <a:solidFill>
                  <a:srgbClr val="404040"/>
                </a:solidFill>
                <a:effectLst/>
                <a:latin typeface="Verdana" panose="020B0604030504040204" pitchFamily="34" charset="0"/>
              </a:rPr>
              <a:t>semidynamic</a:t>
            </a:r>
            <a:r>
              <a:rPr lang="en-US" b="0" i="0" dirty="0">
                <a:solidFill>
                  <a:srgbClr val="404040"/>
                </a:solidFill>
                <a:effectLst/>
                <a:latin typeface="Verdana" panose="020B0604030504040204" pitchFamily="34" charset="0"/>
              </a:rPr>
              <a:t> if it does not change with </a:t>
            </a:r>
            <a:r>
              <a:rPr lang="en-US" b="0" i="0" dirty="0" err="1">
                <a:solidFill>
                  <a:srgbClr val="404040"/>
                </a:solidFill>
                <a:effectLst/>
                <a:latin typeface="Verdana" panose="020B0604030504040204" pitchFamily="34" charset="0"/>
              </a:rPr>
              <a:t>timebut</a:t>
            </a:r>
            <a:r>
              <a:rPr lang="en-US" b="0" i="0" dirty="0">
                <a:solidFill>
                  <a:srgbClr val="404040"/>
                </a:solidFill>
                <a:effectLst/>
                <a:latin typeface="Verdana" panose="020B0604030504040204" pitchFamily="34" charset="0"/>
              </a:rPr>
              <a:t> he agent's </a:t>
            </a:r>
            <a:r>
              <a:rPr lang="en-US" b="0" i="0" dirty="0" err="1">
                <a:solidFill>
                  <a:srgbClr val="404040"/>
                </a:solidFill>
                <a:effectLst/>
                <a:latin typeface="Verdana" panose="020B0604030504040204" pitchFamily="34" charset="0"/>
              </a:rPr>
              <a:t>performace</a:t>
            </a:r>
            <a:r>
              <a:rPr lang="en-US" b="0" i="0" dirty="0">
                <a:solidFill>
                  <a:srgbClr val="404040"/>
                </a:solidFill>
                <a:effectLst/>
                <a:latin typeface="Verdana" panose="020B0604030504040204" pitchFamily="34" charset="0"/>
              </a:rPr>
              <a:t> score does.</a:t>
            </a:r>
            <a:endParaRPr lang="en-US" b="0" i="0" dirty="0">
              <a:solidFill>
                <a:srgbClr val="202124"/>
              </a:solidFill>
              <a:effectLst/>
              <a:latin typeface="arial" panose="020B0604020202020204" pitchFamily="34" charset="0"/>
            </a:endParaRPr>
          </a:p>
          <a:p>
            <a:endParaRPr lang="en-US" b="0" i="0" dirty="0">
              <a:solidFill>
                <a:srgbClr val="202124"/>
              </a:solidFill>
              <a:effectLst/>
              <a:latin typeface="arial" panose="020B0604020202020204" pitchFamily="34" charset="0"/>
            </a:endParaRPr>
          </a:p>
          <a:p>
            <a:r>
              <a:rPr lang="en-US" b="0" i="0" dirty="0">
                <a:solidFill>
                  <a:srgbClr val="404040"/>
                </a:solidFill>
                <a:effectLst/>
                <a:latin typeface="Verdana" panose="020B0604030504040204" pitchFamily="34" charset="0"/>
              </a:rPr>
              <a:t>If the number of percepts and actions in the environment is limited and distinct then the environment is said to be discrete.eg A chess board.</a:t>
            </a:r>
            <a:endParaRPr lang="en-IN" dirty="0"/>
          </a:p>
        </p:txBody>
      </p:sp>
      <p:sp>
        <p:nvSpPr>
          <p:cNvPr id="4" name="Slide Number Placeholder 3"/>
          <p:cNvSpPr>
            <a:spLocks noGrp="1"/>
          </p:cNvSpPr>
          <p:nvPr>
            <p:ph type="sldNum" sz="quarter" idx="5"/>
          </p:nvPr>
        </p:nvSpPr>
        <p:spPr/>
        <p:txBody>
          <a:bodyPr/>
          <a:lstStyle/>
          <a:p>
            <a:fld id="{CA394980-24A5-4F68-915B-C5F1C6A5286A}" type="slidenum">
              <a:rPr lang="en-IN" smtClean="0"/>
              <a:t>98</a:t>
            </a:fld>
            <a:endParaRPr lang="en-IN"/>
          </a:p>
        </p:txBody>
      </p:sp>
    </p:spTree>
    <p:extLst>
      <p:ext uri="{BB962C8B-B14F-4D97-AF65-F5344CB8AC3E}">
        <p14:creationId xmlns:p14="http://schemas.microsoft.com/office/powerpoint/2010/main" val="32599858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err="1">
                <a:solidFill>
                  <a:srgbClr val="202124"/>
                </a:solidFill>
                <a:effectLst/>
                <a:latin typeface="arial" panose="020B0604020202020204" pitchFamily="34" charset="0"/>
              </a:rPr>
              <a:t>Delibration</a:t>
            </a:r>
            <a:r>
              <a:rPr lang="en-US" b="0" i="0" dirty="0">
                <a:solidFill>
                  <a:srgbClr val="202124"/>
                </a:solidFill>
                <a:effectLst/>
                <a:latin typeface="arial" panose="020B0604020202020204" pitchFamily="34" charset="0"/>
              </a:rPr>
              <a:t>-discussion or thinking about something in detail.</a:t>
            </a:r>
          </a:p>
          <a:p>
            <a:endParaRPr lang="en-US" b="0" i="0" dirty="0">
              <a:solidFill>
                <a:srgbClr val="202124"/>
              </a:solidFill>
              <a:effectLst/>
              <a:latin typeface="arial" panose="020B0604020202020204" pitchFamily="34" charset="0"/>
            </a:endParaRPr>
          </a:p>
          <a:p>
            <a:r>
              <a:rPr lang="en-US" b="0" i="0" dirty="0">
                <a:solidFill>
                  <a:srgbClr val="404040"/>
                </a:solidFill>
                <a:effectLst/>
                <a:latin typeface="Verdana" panose="020B0604030504040204" pitchFamily="34" charset="0"/>
              </a:rPr>
              <a:t>An environment is dynamic if it changes while an agent is in the process of responding to a percept sequence. It is static if it does not change while the agent is deciding on an action </a:t>
            </a:r>
            <a:r>
              <a:rPr lang="en-US" b="0" i="0" dirty="0" err="1">
                <a:solidFill>
                  <a:srgbClr val="404040"/>
                </a:solidFill>
                <a:effectLst/>
                <a:latin typeface="Verdana" panose="020B0604030504040204" pitchFamily="34" charset="0"/>
              </a:rPr>
              <a:t>i.e</a:t>
            </a:r>
            <a:r>
              <a:rPr lang="en-US" b="0" i="0" dirty="0">
                <a:solidFill>
                  <a:srgbClr val="404040"/>
                </a:solidFill>
                <a:effectLst/>
                <a:latin typeface="Verdana" panose="020B0604030504040204" pitchFamily="34" charset="0"/>
              </a:rPr>
              <a:t> the agent does not to keep in touch with time. An environment is </a:t>
            </a:r>
            <a:r>
              <a:rPr lang="en-US" b="0" i="0" dirty="0" err="1">
                <a:solidFill>
                  <a:srgbClr val="404040"/>
                </a:solidFill>
                <a:effectLst/>
                <a:latin typeface="Verdana" panose="020B0604030504040204" pitchFamily="34" charset="0"/>
              </a:rPr>
              <a:t>semidynamic</a:t>
            </a:r>
            <a:r>
              <a:rPr lang="en-US" b="0" i="0" dirty="0">
                <a:solidFill>
                  <a:srgbClr val="404040"/>
                </a:solidFill>
                <a:effectLst/>
                <a:latin typeface="Verdana" panose="020B0604030504040204" pitchFamily="34" charset="0"/>
              </a:rPr>
              <a:t> if it does not change with </a:t>
            </a:r>
            <a:r>
              <a:rPr lang="en-US" b="0" i="0" dirty="0" err="1">
                <a:solidFill>
                  <a:srgbClr val="404040"/>
                </a:solidFill>
                <a:effectLst/>
                <a:latin typeface="Verdana" panose="020B0604030504040204" pitchFamily="34" charset="0"/>
              </a:rPr>
              <a:t>timebut</a:t>
            </a:r>
            <a:r>
              <a:rPr lang="en-US" b="0" i="0" dirty="0">
                <a:solidFill>
                  <a:srgbClr val="404040"/>
                </a:solidFill>
                <a:effectLst/>
                <a:latin typeface="Verdana" panose="020B0604030504040204" pitchFamily="34" charset="0"/>
              </a:rPr>
              <a:t> he agent's </a:t>
            </a:r>
            <a:r>
              <a:rPr lang="en-US" b="0" i="0" dirty="0" err="1">
                <a:solidFill>
                  <a:srgbClr val="404040"/>
                </a:solidFill>
                <a:effectLst/>
                <a:latin typeface="Verdana" panose="020B0604030504040204" pitchFamily="34" charset="0"/>
              </a:rPr>
              <a:t>performace</a:t>
            </a:r>
            <a:r>
              <a:rPr lang="en-US" b="0" i="0" dirty="0">
                <a:solidFill>
                  <a:srgbClr val="404040"/>
                </a:solidFill>
                <a:effectLst/>
                <a:latin typeface="Verdana" panose="020B0604030504040204" pitchFamily="34" charset="0"/>
              </a:rPr>
              <a:t> score does.</a:t>
            </a:r>
            <a:endParaRPr lang="en-US" b="0" i="0" dirty="0">
              <a:solidFill>
                <a:srgbClr val="202124"/>
              </a:solidFill>
              <a:effectLst/>
              <a:latin typeface="arial" panose="020B0604020202020204" pitchFamily="34" charset="0"/>
            </a:endParaRPr>
          </a:p>
          <a:p>
            <a:endParaRPr lang="en-US" b="0" i="0" dirty="0">
              <a:solidFill>
                <a:srgbClr val="202124"/>
              </a:solidFill>
              <a:effectLst/>
              <a:latin typeface="arial" panose="020B0604020202020204" pitchFamily="34" charset="0"/>
            </a:endParaRPr>
          </a:p>
          <a:p>
            <a:r>
              <a:rPr lang="en-US" b="0" i="0" dirty="0">
                <a:solidFill>
                  <a:srgbClr val="404040"/>
                </a:solidFill>
                <a:effectLst/>
                <a:latin typeface="Verdana" panose="020B0604030504040204" pitchFamily="34" charset="0"/>
              </a:rPr>
              <a:t>If the number of percepts and actions in the environment is limited and distinct then the environment is said to be discrete.eg A chess board.</a:t>
            </a:r>
            <a:endParaRPr lang="en-IN" dirty="0"/>
          </a:p>
        </p:txBody>
      </p:sp>
      <p:sp>
        <p:nvSpPr>
          <p:cNvPr id="4" name="Slide Number Placeholder 3"/>
          <p:cNvSpPr>
            <a:spLocks noGrp="1"/>
          </p:cNvSpPr>
          <p:nvPr>
            <p:ph type="sldNum" sz="quarter" idx="5"/>
          </p:nvPr>
        </p:nvSpPr>
        <p:spPr/>
        <p:txBody>
          <a:bodyPr/>
          <a:lstStyle/>
          <a:p>
            <a:fld id="{CA394980-24A5-4F68-915B-C5F1C6A5286A}" type="slidenum">
              <a:rPr lang="en-IN" smtClean="0"/>
              <a:t>99</a:t>
            </a:fld>
            <a:endParaRPr lang="en-IN"/>
          </a:p>
        </p:txBody>
      </p:sp>
    </p:spTree>
    <p:extLst>
      <p:ext uri="{BB962C8B-B14F-4D97-AF65-F5344CB8AC3E}">
        <p14:creationId xmlns:p14="http://schemas.microsoft.com/office/powerpoint/2010/main" val="8691541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42CE377-8CD7-4FA8-B5A5-91BE201F1183}" type="datetimeFigureOut">
              <a:rPr lang="en-IN" smtClean="0"/>
              <a:t>03-03-2025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F0A36FC-3A38-44EE-A13D-454498C57F48}" type="slidenum">
              <a:rPr lang="en-IN" smtClean="0"/>
              <a:t>‹#›</a:t>
            </a:fld>
            <a:endParaRPr lang="en-IN"/>
          </a:p>
        </p:txBody>
      </p:sp>
    </p:spTree>
    <p:extLst>
      <p:ext uri="{BB962C8B-B14F-4D97-AF65-F5344CB8AC3E}">
        <p14:creationId xmlns:p14="http://schemas.microsoft.com/office/powerpoint/2010/main" val="1346639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2CE377-8CD7-4FA8-B5A5-91BE201F1183}" type="datetimeFigureOut">
              <a:rPr lang="en-IN" smtClean="0"/>
              <a:t>03-03-2025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F0A36FC-3A38-44EE-A13D-454498C57F48}" type="slidenum">
              <a:rPr lang="en-IN" smtClean="0"/>
              <a:t>‹#›</a:t>
            </a:fld>
            <a:endParaRPr lang="en-IN"/>
          </a:p>
        </p:txBody>
      </p:sp>
    </p:spTree>
    <p:extLst>
      <p:ext uri="{BB962C8B-B14F-4D97-AF65-F5344CB8AC3E}">
        <p14:creationId xmlns:p14="http://schemas.microsoft.com/office/powerpoint/2010/main" val="3280524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2CE377-8CD7-4FA8-B5A5-91BE201F1183}" type="datetimeFigureOut">
              <a:rPr lang="en-IN" smtClean="0"/>
              <a:t>03-03-2025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F0A36FC-3A38-44EE-A13D-454498C57F48}" type="slidenum">
              <a:rPr lang="en-IN" smtClean="0"/>
              <a:t>‹#›</a:t>
            </a:fld>
            <a:endParaRPr lang="en-IN"/>
          </a:p>
        </p:txBody>
      </p:sp>
    </p:spTree>
    <p:extLst>
      <p:ext uri="{BB962C8B-B14F-4D97-AF65-F5344CB8AC3E}">
        <p14:creationId xmlns:p14="http://schemas.microsoft.com/office/powerpoint/2010/main" val="1666662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42CE377-8CD7-4FA8-B5A5-91BE201F1183}" type="datetimeFigureOut">
              <a:rPr lang="en-IN" smtClean="0"/>
              <a:t>03-03-2025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F0A36FC-3A38-44EE-A13D-454498C57F48}" type="slidenum">
              <a:rPr lang="en-IN" smtClean="0"/>
              <a:t>‹#›</a:t>
            </a:fld>
            <a:endParaRPr lang="en-IN"/>
          </a:p>
        </p:txBody>
      </p:sp>
    </p:spTree>
    <p:extLst>
      <p:ext uri="{BB962C8B-B14F-4D97-AF65-F5344CB8AC3E}">
        <p14:creationId xmlns:p14="http://schemas.microsoft.com/office/powerpoint/2010/main" val="2374489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42CE377-8CD7-4FA8-B5A5-91BE201F1183}" type="datetimeFigureOut">
              <a:rPr lang="en-IN" smtClean="0"/>
              <a:t>03-03-2025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F0A36FC-3A38-44EE-A13D-454498C57F48}" type="slidenum">
              <a:rPr lang="en-IN" smtClean="0"/>
              <a:t>‹#›</a:t>
            </a:fld>
            <a:endParaRPr lang="en-IN"/>
          </a:p>
        </p:txBody>
      </p:sp>
    </p:spTree>
    <p:extLst>
      <p:ext uri="{BB962C8B-B14F-4D97-AF65-F5344CB8AC3E}">
        <p14:creationId xmlns:p14="http://schemas.microsoft.com/office/powerpoint/2010/main" val="3749752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42CE377-8CD7-4FA8-B5A5-91BE201F1183}" type="datetimeFigureOut">
              <a:rPr lang="en-IN" smtClean="0"/>
              <a:t>03-03-2025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F0A36FC-3A38-44EE-A13D-454498C57F48}" type="slidenum">
              <a:rPr lang="en-IN" smtClean="0"/>
              <a:t>‹#›</a:t>
            </a:fld>
            <a:endParaRPr lang="en-IN"/>
          </a:p>
        </p:txBody>
      </p:sp>
    </p:spTree>
    <p:extLst>
      <p:ext uri="{BB962C8B-B14F-4D97-AF65-F5344CB8AC3E}">
        <p14:creationId xmlns:p14="http://schemas.microsoft.com/office/powerpoint/2010/main" val="43819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2CE377-8CD7-4FA8-B5A5-91BE201F1183}" type="datetimeFigureOut">
              <a:rPr lang="en-IN" smtClean="0"/>
              <a:t>03-03-2025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F0A36FC-3A38-44EE-A13D-454498C57F48}" type="slidenum">
              <a:rPr lang="en-IN" smtClean="0"/>
              <a:t>‹#›</a:t>
            </a:fld>
            <a:endParaRPr lang="en-IN"/>
          </a:p>
        </p:txBody>
      </p:sp>
    </p:spTree>
    <p:extLst>
      <p:ext uri="{BB962C8B-B14F-4D97-AF65-F5344CB8AC3E}">
        <p14:creationId xmlns:p14="http://schemas.microsoft.com/office/powerpoint/2010/main" val="2400157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2CE377-8CD7-4FA8-B5A5-91BE201F1183}" type="datetimeFigureOut">
              <a:rPr lang="en-IN" smtClean="0"/>
              <a:t>03-03-2025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F0A36FC-3A38-44EE-A13D-454498C57F48}" type="slidenum">
              <a:rPr lang="en-IN" smtClean="0"/>
              <a:t>‹#›</a:t>
            </a:fld>
            <a:endParaRPr lang="en-IN"/>
          </a:p>
        </p:txBody>
      </p:sp>
    </p:spTree>
    <p:extLst>
      <p:ext uri="{BB962C8B-B14F-4D97-AF65-F5344CB8AC3E}">
        <p14:creationId xmlns:p14="http://schemas.microsoft.com/office/powerpoint/2010/main" val="2380845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2CE377-8CD7-4FA8-B5A5-91BE201F1183}" type="datetimeFigureOut">
              <a:rPr lang="en-IN" smtClean="0"/>
              <a:t>03-03-2025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F0A36FC-3A38-44EE-A13D-454498C57F48}" type="slidenum">
              <a:rPr lang="en-IN" smtClean="0"/>
              <a:t>‹#›</a:t>
            </a:fld>
            <a:endParaRPr lang="en-IN"/>
          </a:p>
        </p:txBody>
      </p:sp>
    </p:spTree>
    <p:extLst>
      <p:ext uri="{BB962C8B-B14F-4D97-AF65-F5344CB8AC3E}">
        <p14:creationId xmlns:p14="http://schemas.microsoft.com/office/powerpoint/2010/main" val="2745346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2CE377-8CD7-4FA8-B5A5-91BE201F1183}" type="datetimeFigureOut">
              <a:rPr lang="en-IN" smtClean="0"/>
              <a:t>03-03-2025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F0A36FC-3A38-44EE-A13D-454498C57F48}" type="slidenum">
              <a:rPr lang="en-IN" smtClean="0"/>
              <a:t>‹#›</a:t>
            </a:fld>
            <a:endParaRPr lang="en-IN"/>
          </a:p>
        </p:txBody>
      </p:sp>
    </p:spTree>
    <p:extLst>
      <p:ext uri="{BB962C8B-B14F-4D97-AF65-F5344CB8AC3E}">
        <p14:creationId xmlns:p14="http://schemas.microsoft.com/office/powerpoint/2010/main" val="832573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2CE377-8CD7-4FA8-B5A5-91BE201F1183}" type="datetimeFigureOut">
              <a:rPr lang="en-IN" smtClean="0"/>
              <a:t>03-03-2025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F0A36FC-3A38-44EE-A13D-454498C57F48}"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0402247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42CE377-8CD7-4FA8-B5A5-91BE201F1183}" type="datetimeFigureOut">
              <a:rPr lang="en-IN" smtClean="0"/>
              <a:t>03-03-2025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F0A36FC-3A38-44EE-A13D-454498C57F48}" type="slidenum">
              <a:rPr lang="en-IN" smtClean="0"/>
              <a:t>‹#›</a:t>
            </a:fld>
            <a:endParaRPr lang="en-IN"/>
          </a:p>
        </p:txBody>
      </p:sp>
    </p:spTree>
    <p:extLst>
      <p:ext uri="{BB962C8B-B14F-4D97-AF65-F5344CB8AC3E}">
        <p14:creationId xmlns:p14="http://schemas.microsoft.com/office/powerpoint/2010/main" val="28354379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42CE377-8CD7-4FA8-B5A5-91BE201F1183}" type="datetimeFigureOut">
              <a:rPr lang="en-IN" smtClean="0"/>
              <a:t>03-03-2025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F0A36FC-3A38-44EE-A13D-454498C57F48}"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112007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42CE377-8CD7-4FA8-B5A5-91BE201F1183}" type="datetimeFigureOut">
              <a:rPr lang="en-IN" smtClean="0"/>
              <a:t>03-03-2025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F0A36FC-3A38-44EE-A13D-454498C57F48}" type="slidenum">
              <a:rPr lang="en-IN" smtClean="0"/>
              <a:t>‹#›</a:t>
            </a:fld>
            <a:endParaRPr lang="en-IN"/>
          </a:p>
        </p:txBody>
      </p:sp>
    </p:spTree>
    <p:extLst>
      <p:ext uri="{BB962C8B-B14F-4D97-AF65-F5344CB8AC3E}">
        <p14:creationId xmlns:p14="http://schemas.microsoft.com/office/powerpoint/2010/main" val="2657357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2CE377-8CD7-4FA8-B5A5-91BE201F1183}" type="datetimeFigureOut">
              <a:rPr lang="en-IN" smtClean="0"/>
              <a:t>03-03-2025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F0A36FC-3A38-44EE-A13D-454498C57F48}" type="slidenum">
              <a:rPr lang="en-IN" smtClean="0"/>
              <a:t>‹#›</a:t>
            </a:fld>
            <a:endParaRPr lang="en-IN"/>
          </a:p>
        </p:txBody>
      </p:sp>
    </p:spTree>
    <p:extLst>
      <p:ext uri="{BB962C8B-B14F-4D97-AF65-F5344CB8AC3E}">
        <p14:creationId xmlns:p14="http://schemas.microsoft.com/office/powerpoint/2010/main" val="35334381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2CE377-8CD7-4FA8-B5A5-91BE201F1183}" type="datetimeFigureOut">
              <a:rPr lang="en-IN" smtClean="0"/>
              <a:t>03-03-2025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F0A36FC-3A38-44EE-A13D-454498C57F48}" type="slidenum">
              <a:rPr lang="en-IN" smtClean="0"/>
              <a:t>‹#›</a:t>
            </a:fld>
            <a:endParaRPr lang="en-IN"/>
          </a:p>
        </p:txBody>
      </p:sp>
    </p:spTree>
    <p:extLst>
      <p:ext uri="{BB962C8B-B14F-4D97-AF65-F5344CB8AC3E}">
        <p14:creationId xmlns:p14="http://schemas.microsoft.com/office/powerpoint/2010/main" val="3705256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42CE377-8CD7-4FA8-B5A5-91BE201F1183}" type="datetimeFigureOut">
              <a:rPr lang="en-IN" smtClean="0"/>
              <a:t>03-03-2025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F0A36FC-3A38-44EE-A13D-454498C57F48}" type="slidenum">
              <a:rPr lang="en-IN" smtClean="0"/>
              <a:t>‹#›</a:t>
            </a:fld>
            <a:endParaRPr lang="en-IN"/>
          </a:p>
        </p:txBody>
      </p:sp>
    </p:spTree>
    <p:extLst>
      <p:ext uri="{BB962C8B-B14F-4D97-AF65-F5344CB8AC3E}">
        <p14:creationId xmlns:p14="http://schemas.microsoft.com/office/powerpoint/2010/main" val="23289334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onlinecourses.nptel.ac.in/noc23_ge40/preview" TargetMode="External"/><Relationship Id="rId2" Type="http://schemas.openxmlformats.org/officeDocument/2006/relationships/hyperlink" Target="https://onlinecourses.nptel.ac.in/noc22_cs56/preview" TargetMode="External"/><Relationship Id="rId1" Type="http://schemas.openxmlformats.org/officeDocument/2006/relationships/slideLayout" Target="../slideLayouts/slideLayout2.xml"/><Relationship Id="rId5" Type="http://schemas.openxmlformats.org/officeDocument/2006/relationships/image" Target="../media/image2.jpg"/><Relationship Id="rId4" Type="http://schemas.openxmlformats.org/officeDocument/2006/relationships/image" Target="../media/image1.jpg"/></Relationships>
</file>

<file path=ppt/slides/_rels/slide17.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diagramLayout" Target="../diagrams/layout1.xml"/><Relationship Id="rId7" Type="http://schemas.openxmlformats.org/officeDocument/2006/relationships/image" Target="../media/image1.jp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3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4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jpg"/><Relationship Id="rId7" Type="http://schemas.openxmlformats.org/officeDocument/2006/relationships/diagramColors" Target="../diagrams/colors2.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4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6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6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6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6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17.jpeg"/></Relationships>
</file>

<file path=ppt/slides/_rels/slide7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7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jpg"/><Relationship Id="rId7" Type="http://schemas.openxmlformats.org/officeDocument/2006/relationships/diagramColors" Target="../diagrams/colors3.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7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jpg"/><Relationship Id="rId7" Type="http://schemas.openxmlformats.org/officeDocument/2006/relationships/diagramColors" Target="../diagrams/colors4.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7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8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8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8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8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8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9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9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0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3.jpeg"/></Relationships>
</file>

<file path=ppt/slides/_rels/slide10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1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1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1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1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1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1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1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17.jpeg"/></Relationships>
</file>

<file path=ppt/slides/_rels/slide1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12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DFEC2-DEB5-447F-AEFE-9E7E2196D86D}"/>
              </a:ext>
            </a:extLst>
          </p:cNvPr>
          <p:cNvSpPr>
            <a:spLocks noGrp="1"/>
          </p:cNvSpPr>
          <p:nvPr>
            <p:ph type="ctrTitle"/>
          </p:nvPr>
        </p:nvSpPr>
        <p:spPr>
          <a:xfrm>
            <a:off x="1237529" y="2751777"/>
            <a:ext cx="10275580" cy="677223"/>
          </a:xfrm>
        </p:spPr>
        <p:txBody>
          <a:bodyPr>
            <a:noAutofit/>
          </a:bodyPr>
          <a:lstStyle/>
          <a:p>
            <a:pPr algn="ctr"/>
            <a:r>
              <a:rPr lang="en-US" sz="3600" b="1" dirty="0">
                <a:latin typeface="Bookman Old Style" panose="02050604050505020204" pitchFamily="18" charset="0"/>
              </a:rPr>
              <a:t>ARTIFICIAL INTELLIGENCE </a:t>
            </a:r>
            <a:endParaRPr lang="en-IN" sz="3600" b="1" dirty="0">
              <a:latin typeface="Bookman Old Style" panose="02050604050505020204" pitchFamily="18" charset="0"/>
            </a:endParaRPr>
          </a:p>
        </p:txBody>
      </p:sp>
      <p:sp>
        <p:nvSpPr>
          <p:cNvPr id="3" name="Subtitle 2">
            <a:extLst>
              <a:ext uri="{FF2B5EF4-FFF2-40B4-BE49-F238E27FC236}">
                <a16:creationId xmlns:a16="http://schemas.microsoft.com/office/drawing/2014/main" id="{A71590CC-6534-4400-AF9C-CCEBF477395D}"/>
              </a:ext>
            </a:extLst>
          </p:cNvPr>
          <p:cNvSpPr>
            <a:spLocks noGrp="1"/>
          </p:cNvSpPr>
          <p:nvPr>
            <p:ph type="subTitle" idx="1"/>
          </p:nvPr>
        </p:nvSpPr>
        <p:spPr>
          <a:xfrm>
            <a:off x="4464903" y="3569619"/>
            <a:ext cx="3429031" cy="940601"/>
          </a:xfrm>
        </p:spPr>
        <p:txBody>
          <a:bodyPr/>
          <a:lstStyle/>
          <a:p>
            <a:pPr algn="ctr"/>
            <a:r>
              <a:rPr lang="en-IN" b="1" dirty="0">
                <a:latin typeface="Bookman Old Style" panose="02050604050505020204" pitchFamily="18" charset="0"/>
              </a:rPr>
              <a:t>SEMESTER – IV</a:t>
            </a:r>
          </a:p>
          <a:p>
            <a:pPr algn="ctr"/>
            <a:r>
              <a:rPr lang="en-IN" b="1" dirty="0">
                <a:latin typeface="Bookman Old Style" panose="02050604050505020204" pitchFamily="18" charset="0"/>
              </a:rPr>
              <a:t>Course Code: 23AM2405</a:t>
            </a:r>
          </a:p>
        </p:txBody>
      </p:sp>
      <p:sp>
        <p:nvSpPr>
          <p:cNvPr id="5" name="TextBox 4">
            <a:extLst>
              <a:ext uri="{FF2B5EF4-FFF2-40B4-BE49-F238E27FC236}">
                <a16:creationId xmlns:a16="http://schemas.microsoft.com/office/drawing/2014/main" id="{CA32C355-0531-4BF0-9153-9B9471561D8A}"/>
              </a:ext>
            </a:extLst>
          </p:cNvPr>
          <p:cNvSpPr txBox="1"/>
          <p:nvPr/>
        </p:nvSpPr>
        <p:spPr>
          <a:xfrm>
            <a:off x="167148" y="688778"/>
            <a:ext cx="12192000" cy="1292662"/>
          </a:xfrm>
          <a:prstGeom prst="rect">
            <a:avLst/>
          </a:prstGeom>
          <a:noFill/>
        </p:spPr>
        <p:txBody>
          <a:bodyPr wrap="square">
            <a:spAutoFit/>
          </a:bodyPr>
          <a:lstStyle/>
          <a:p>
            <a:pPr algn="ctr"/>
            <a:r>
              <a:rPr lang="en-US" sz="3200" b="1" i="0" dirty="0">
                <a:solidFill>
                  <a:schemeClr val="accent1"/>
                </a:solidFill>
                <a:effectLst/>
                <a:latin typeface="Bookman Old Style" panose="02050604050505020204" pitchFamily="18" charset="0"/>
              </a:rPr>
              <a:t>Dayananda Sagar University (DSU)- Main Campus</a:t>
            </a:r>
          </a:p>
          <a:p>
            <a:pPr algn="ctr"/>
            <a:r>
              <a:rPr lang="en-US" sz="2800" b="1" dirty="0">
                <a:solidFill>
                  <a:srgbClr val="0070C0"/>
                </a:solidFill>
                <a:effectLst/>
                <a:latin typeface="Bookman Old Style" panose="02050604050505020204" pitchFamily="18" charset="0"/>
                <a:ea typeface="Calibri" panose="020F0502020204030204" pitchFamily="34" charset="0"/>
                <a:cs typeface="Arial" panose="020B0604020202020204" pitchFamily="34" charset="0"/>
              </a:rPr>
              <a:t>School of Engineering </a:t>
            </a:r>
          </a:p>
          <a:p>
            <a:pPr algn="ctr"/>
            <a:r>
              <a:rPr lang="en-US" b="1" dirty="0" err="1">
                <a:latin typeface="Bookman Old Style" panose="02050604050505020204" pitchFamily="18" charset="0"/>
                <a:cs typeface="Arial" panose="020B0604020202020204" pitchFamily="34" charset="0"/>
              </a:rPr>
              <a:t>Devarakaggalahalli</a:t>
            </a:r>
            <a:r>
              <a:rPr lang="en-US" b="1" dirty="0">
                <a:latin typeface="Bookman Old Style" panose="02050604050505020204" pitchFamily="18" charset="0"/>
                <a:cs typeface="Arial" panose="020B0604020202020204" pitchFamily="34" charset="0"/>
              </a:rPr>
              <a:t>, </a:t>
            </a:r>
            <a:r>
              <a:rPr lang="en-US" b="1" dirty="0" err="1">
                <a:latin typeface="Bookman Old Style" panose="02050604050505020204" pitchFamily="18" charset="0"/>
                <a:cs typeface="Arial" panose="020B0604020202020204" pitchFamily="34" charset="0"/>
              </a:rPr>
              <a:t>Harohalli</a:t>
            </a:r>
            <a:r>
              <a:rPr lang="en-US" b="1" dirty="0">
                <a:latin typeface="Bookman Old Style" panose="02050604050505020204" pitchFamily="18" charset="0"/>
                <a:cs typeface="Arial" panose="020B0604020202020204" pitchFamily="34" charset="0"/>
              </a:rPr>
              <a:t> </a:t>
            </a:r>
            <a:r>
              <a:rPr lang="en-US" b="1" dirty="0" err="1">
                <a:latin typeface="Bookman Old Style" panose="02050604050505020204" pitchFamily="18" charset="0"/>
                <a:cs typeface="Arial" panose="020B0604020202020204" pitchFamily="34" charset="0"/>
              </a:rPr>
              <a:t>Kanakapura</a:t>
            </a:r>
            <a:r>
              <a:rPr lang="en-US" b="1" dirty="0">
                <a:latin typeface="Bookman Old Style" panose="02050604050505020204" pitchFamily="18" charset="0"/>
                <a:cs typeface="Arial" panose="020B0604020202020204" pitchFamily="34" charset="0"/>
              </a:rPr>
              <a:t> Road, </a:t>
            </a:r>
            <a:r>
              <a:rPr lang="en-US" b="1" dirty="0" err="1">
                <a:latin typeface="Bookman Old Style" panose="02050604050505020204" pitchFamily="18" charset="0"/>
                <a:cs typeface="Arial" panose="020B0604020202020204" pitchFamily="34" charset="0"/>
              </a:rPr>
              <a:t>Ramanagara</a:t>
            </a:r>
            <a:r>
              <a:rPr lang="en-US" b="1" dirty="0">
                <a:latin typeface="Bookman Old Style" panose="02050604050505020204" pitchFamily="18" charset="0"/>
                <a:cs typeface="Arial" panose="020B0604020202020204" pitchFamily="34" charset="0"/>
              </a:rPr>
              <a:t>, Karnataka 562112</a:t>
            </a:r>
            <a:endParaRPr lang="en-IN" b="1" dirty="0">
              <a:latin typeface="Bookman Old Style" panose="02050604050505020204" pitchFamily="18" charset="0"/>
              <a:cs typeface="Arial" panose="020B0604020202020204" pitchFamily="34" charset="0"/>
            </a:endParaRPr>
          </a:p>
        </p:txBody>
      </p:sp>
      <p:pic>
        <p:nvPicPr>
          <p:cNvPr id="8" name="Picture 7">
            <a:extLst>
              <a:ext uri="{FF2B5EF4-FFF2-40B4-BE49-F238E27FC236}">
                <a16:creationId xmlns:a16="http://schemas.microsoft.com/office/drawing/2014/main" id="{B3A279DF-1471-4D42-AD1D-AD5FBF0A253C}"/>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9" name="TextBox 8">
            <a:extLst>
              <a:ext uri="{FF2B5EF4-FFF2-40B4-BE49-F238E27FC236}">
                <a16:creationId xmlns:a16="http://schemas.microsoft.com/office/drawing/2014/main" id="{E324DCDB-382E-4557-97AE-304803BA095E}"/>
              </a:ext>
            </a:extLst>
          </p:cNvPr>
          <p:cNvSpPr txBox="1"/>
          <p:nvPr/>
        </p:nvSpPr>
        <p:spPr>
          <a:xfrm>
            <a:off x="137652" y="4513006"/>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sp>
        <p:nvSpPr>
          <p:cNvPr id="7" name="Rectangle 2">
            <a:extLst>
              <a:ext uri="{FF2B5EF4-FFF2-40B4-BE49-F238E27FC236}">
                <a16:creationId xmlns:a16="http://schemas.microsoft.com/office/drawing/2014/main" id="{943850C8-A418-61B7-267C-6B159E580BB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9" name="TextBox 18">
            <a:extLst>
              <a:ext uri="{FF2B5EF4-FFF2-40B4-BE49-F238E27FC236}">
                <a16:creationId xmlns:a16="http://schemas.microsoft.com/office/drawing/2014/main" id="{1B9E9AAB-A1A0-A1A0-5438-B696F404FFAA}"/>
              </a:ext>
            </a:extLst>
          </p:cNvPr>
          <p:cNvSpPr txBox="1"/>
          <p:nvPr/>
        </p:nvSpPr>
        <p:spPr>
          <a:xfrm>
            <a:off x="1878882" y="2062998"/>
            <a:ext cx="8601075" cy="846386"/>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000" b="1" dirty="0">
                <a:latin typeface="Bookman Old Style" panose="02050604050505020204" pitchFamily="18" charset="0"/>
                <a:cs typeface="Times New Roman" panose="02020603050405020304" pitchFamily="18" charset="0"/>
              </a:rPr>
              <a:t>Department of Computer Science &amp; Engineering</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000" b="1" dirty="0">
                <a:latin typeface="Bookman Old Style" panose="02050604050505020204" pitchFamily="18" charset="0"/>
                <a:cs typeface="Times New Roman" panose="02020603050405020304" pitchFamily="18" charset="0"/>
              </a:rPr>
              <a:t>(Artificial Intelligence &amp; Machine Learning)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a:ln>
                <a:noFill/>
              </a:ln>
              <a:solidFill>
                <a:schemeClr val="tx1"/>
              </a:solidFill>
              <a:effectLst/>
            </a:endParaRPr>
          </a:p>
        </p:txBody>
      </p:sp>
      <p:pic>
        <p:nvPicPr>
          <p:cNvPr id="11" name="Picture 10">
            <a:extLst>
              <a:ext uri="{FF2B5EF4-FFF2-40B4-BE49-F238E27FC236}">
                <a16:creationId xmlns:a16="http://schemas.microsoft.com/office/drawing/2014/main" id="{8117810A-6AC4-588D-3FD6-EE81B509B8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22140" y="89593"/>
            <a:ext cx="742040" cy="757183"/>
          </a:xfrm>
          <a:prstGeom prst="rect">
            <a:avLst/>
          </a:prstGeom>
        </p:spPr>
      </p:pic>
      <p:pic>
        <p:nvPicPr>
          <p:cNvPr id="4" name="Picture 2" descr="DSU's Engineering College at Main Campus, Harohalli - YouTube">
            <a:extLst>
              <a:ext uri="{FF2B5EF4-FFF2-40B4-BE49-F238E27FC236}">
                <a16:creationId xmlns:a16="http://schemas.microsoft.com/office/drawing/2014/main" id="{D8AD77C5-7013-A703-7A10-0BC2CD3E9C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5939" y="4603570"/>
            <a:ext cx="8349630" cy="205068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FBFB2E47-95E5-A989-273B-E6929625172E}"/>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0926" t="23734" r="11111" b="24168"/>
          <a:stretch/>
        </p:blipFill>
        <p:spPr bwMode="auto">
          <a:xfrm>
            <a:off x="259744" y="100596"/>
            <a:ext cx="2226195" cy="71320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163354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p:txBody>
          <a:bodyPr/>
          <a:lstStyle/>
          <a:p>
            <a:r>
              <a:rPr lang="en-US" b="1" dirty="0">
                <a:latin typeface="Cambria" panose="02040503050406030204" pitchFamily="18" charset="0"/>
                <a:ea typeface="Cambria" panose="02040503050406030204" pitchFamily="18" charset="0"/>
                <a:cs typeface="Cambria" panose="02040503050406030204" pitchFamily="18" charset="0"/>
              </a:rPr>
              <a:t>SOE Vision-Mission</a:t>
            </a: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39" y="1425678"/>
            <a:ext cx="10334573" cy="3401962"/>
          </a:xfrm>
        </p:spPr>
        <p:txBody>
          <a:bodyPr/>
          <a:lstStyle/>
          <a:p>
            <a:pPr marL="0" indent="0" algn="l">
              <a:buNone/>
            </a:pPr>
            <a:r>
              <a:rPr lang="en-US" b="1" i="0" cap="all" dirty="0">
                <a:solidFill>
                  <a:srgbClr val="000000"/>
                </a:solidFill>
                <a:effectLst/>
                <a:latin typeface="Bookman Old Style" panose="02050604050505020204" pitchFamily="18" charset="0"/>
              </a:rPr>
              <a:t>VISION</a:t>
            </a:r>
          </a:p>
          <a:p>
            <a:pPr algn="just"/>
            <a:r>
              <a:rPr lang="en-US" b="0" i="0" dirty="0">
                <a:solidFill>
                  <a:srgbClr val="3C3939"/>
                </a:solidFill>
                <a:effectLst/>
                <a:latin typeface="Bookman Old Style" panose="02050604050505020204" pitchFamily="18" charset="0"/>
              </a:rPr>
              <a:t>To be a </a:t>
            </a:r>
            <a:r>
              <a:rPr lang="en-US" b="0" i="0" dirty="0" err="1">
                <a:solidFill>
                  <a:srgbClr val="3C3939"/>
                </a:solidFill>
                <a:effectLst/>
                <a:latin typeface="Bookman Old Style" panose="02050604050505020204" pitchFamily="18" charset="0"/>
              </a:rPr>
              <a:t>centre</a:t>
            </a:r>
            <a:r>
              <a:rPr lang="en-US" b="0" i="0" dirty="0">
                <a:solidFill>
                  <a:srgbClr val="3C3939"/>
                </a:solidFill>
                <a:effectLst/>
                <a:latin typeface="Bookman Old Style" panose="02050604050505020204" pitchFamily="18" charset="0"/>
              </a:rPr>
              <a:t> of excellence in education, research &amp; training, innovation &amp; entrepreneurship and to produce citizens with exceptional leadership qualities to serve national and global needs.</a:t>
            </a:r>
          </a:p>
          <a:p>
            <a:pPr algn="just"/>
            <a:endParaRPr lang="en-US" b="0" i="0" dirty="0">
              <a:solidFill>
                <a:srgbClr val="3C3939"/>
              </a:solidFill>
              <a:effectLst/>
              <a:latin typeface="Bookman Old Style" panose="02050604050505020204" pitchFamily="18" charset="0"/>
            </a:endParaRPr>
          </a:p>
          <a:p>
            <a:pPr marL="0" indent="0" algn="l">
              <a:buNone/>
            </a:pPr>
            <a:r>
              <a:rPr lang="en-US" b="1" i="0" cap="all" dirty="0">
                <a:solidFill>
                  <a:srgbClr val="000000"/>
                </a:solidFill>
                <a:effectLst/>
                <a:latin typeface="Bookman Old Style" panose="02050604050505020204" pitchFamily="18" charset="0"/>
              </a:rPr>
              <a:t>MISSION</a:t>
            </a:r>
          </a:p>
          <a:p>
            <a:pPr algn="just"/>
            <a:r>
              <a:rPr lang="en-US" b="0" i="0" dirty="0">
                <a:solidFill>
                  <a:srgbClr val="3C3939"/>
                </a:solidFill>
                <a:effectLst/>
                <a:latin typeface="Bookman Old Style" panose="02050604050505020204" pitchFamily="18" charset="0"/>
              </a:rPr>
              <a:t>To achieve our objectives in an environment that enhances creativity, innovation and scholarly pursuits while adhering to our vision.</a:t>
            </a:r>
          </a:p>
          <a:p>
            <a:endParaRPr lang="en-US" dirty="0">
              <a:latin typeface="Bookman Old Style" panose="02050604050505020204" pitchFamily="18" charset="0"/>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1851779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p:txBody>
          <a:bodyPr/>
          <a:lstStyle/>
          <a:p>
            <a:r>
              <a:rPr lang="en-US" b="1" dirty="0">
                <a:latin typeface="Cambria" panose="02040503050406030204" pitchFamily="18" charset="0"/>
                <a:ea typeface="Cambria" panose="02040503050406030204" pitchFamily="18" charset="0"/>
                <a:cs typeface="Cambria" panose="02040503050406030204" pitchFamily="18" charset="0"/>
              </a:rPr>
              <a:t>AIML Vision-Mission</a:t>
            </a: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355981" y="1544188"/>
            <a:ext cx="10334573" cy="4689702"/>
          </a:xfrm>
        </p:spPr>
        <p:txBody>
          <a:bodyPr>
            <a:normAutofit fontScale="92500" lnSpcReduction="10000"/>
          </a:bodyPr>
          <a:lstStyle/>
          <a:p>
            <a:pPr marL="0" marR="0" lvl="0" indent="0" algn="l" defTabSz="914400" rtl="0" eaLnBrk="0" fontAlgn="base" latinLnBrk="0" hangingPunct="0">
              <a:lnSpc>
                <a:spcPct val="150000"/>
              </a:lnSpc>
              <a:spcBef>
                <a:spcPct val="0"/>
              </a:spcBef>
              <a:spcAft>
                <a:spcPct val="0"/>
              </a:spcAft>
              <a:buClrTx/>
              <a:buSzTx/>
              <a:buNone/>
              <a:tabLst/>
            </a:pPr>
            <a:r>
              <a:rPr lang="en-US" altLang="en-US" b="1" dirty="0">
                <a:solidFill>
                  <a:srgbClr val="3C3939"/>
                </a:solidFill>
                <a:latin typeface="Bookman Old Style" panose="02050604050505020204" pitchFamily="18" charset="0"/>
              </a:rPr>
              <a:t>Vision</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dirty="0">
                <a:solidFill>
                  <a:srgbClr val="3C3939"/>
                </a:solidFill>
                <a:latin typeface="Bookman Old Style" panose="02050604050505020204" pitchFamily="18" charset="0"/>
              </a:rPr>
              <a:t>Develop highly competent engineers in the field of AI &amp; ML contributing globally to the benefit of industry and society.</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lang="en-US" altLang="en-US" dirty="0">
              <a:solidFill>
                <a:srgbClr val="3C3939"/>
              </a:solidFill>
              <a:latin typeface="Bookman Old Style" panose="02050604050505020204" pitchFamily="18" charset="0"/>
            </a:endParaRPr>
          </a:p>
          <a:p>
            <a:pPr marL="0" marR="0" lvl="0" indent="0" algn="l" defTabSz="914400" rtl="0" eaLnBrk="0" fontAlgn="base" latinLnBrk="0" hangingPunct="0">
              <a:lnSpc>
                <a:spcPct val="150000"/>
              </a:lnSpc>
              <a:spcBef>
                <a:spcPct val="0"/>
              </a:spcBef>
              <a:spcAft>
                <a:spcPct val="0"/>
              </a:spcAft>
              <a:buClrTx/>
              <a:buSzTx/>
              <a:buNone/>
              <a:tabLst/>
            </a:pPr>
            <a:r>
              <a:rPr lang="en-US" altLang="en-US" b="1" dirty="0">
                <a:solidFill>
                  <a:srgbClr val="3C3939"/>
                </a:solidFill>
                <a:latin typeface="Bookman Old Style" panose="02050604050505020204" pitchFamily="18" charset="0"/>
              </a:rPr>
              <a:t>Mission</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dirty="0">
                <a:solidFill>
                  <a:srgbClr val="3C3939"/>
                </a:solidFill>
                <a:latin typeface="Bookman Old Style" panose="02050604050505020204" pitchFamily="18" charset="0"/>
              </a:rPr>
              <a:t>To develop state-of-the-art academic and infrastructural facilities with the latest tools and other learning resources supported by curriculum that can produce self-sustainable professionals.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dirty="0">
                <a:solidFill>
                  <a:srgbClr val="3C3939"/>
                </a:solidFill>
                <a:latin typeface="Bookman Old Style" panose="02050604050505020204" pitchFamily="18" charset="0"/>
              </a:rPr>
              <a:t>To emerge as a research </a:t>
            </a:r>
            <a:r>
              <a:rPr lang="en-US" altLang="en-US" dirty="0" err="1">
                <a:solidFill>
                  <a:srgbClr val="3C3939"/>
                </a:solidFill>
                <a:latin typeface="Bookman Old Style" panose="02050604050505020204" pitchFamily="18" charset="0"/>
              </a:rPr>
              <a:t>centre</a:t>
            </a:r>
            <a:r>
              <a:rPr lang="en-US" altLang="en-US" dirty="0">
                <a:solidFill>
                  <a:srgbClr val="3C3939"/>
                </a:solidFill>
                <a:latin typeface="Bookman Old Style" panose="02050604050505020204" pitchFamily="18" charset="0"/>
              </a:rPr>
              <a:t> that interacts with industry on a regular basis for imparting wholistic curriculum to the students.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dirty="0">
                <a:solidFill>
                  <a:srgbClr val="3C3939"/>
                </a:solidFill>
                <a:latin typeface="Bookman Old Style" panose="02050604050505020204" pitchFamily="18" charset="0"/>
              </a:rPr>
              <a:t>To impart emerging skill sets that the industry require, apart from ensuring that the soft skills of the learners are given adequate thrust.</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800" b="0" i="0" u="none" strike="noStrike" cap="none" normalizeH="0" baseline="0" dirty="0">
              <a:ln>
                <a:noFill/>
              </a:ln>
              <a:solidFill>
                <a:srgbClr val="3C3939"/>
              </a:solidFill>
              <a:effectLst/>
              <a:latin typeface="Source Sans Pro" panose="020B0503030403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a:lnSpc>
                <a:spcPct val="150000"/>
              </a:lnSpc>
            </a:pPr>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
        <p:nvSpPr>
          <p:cNvPr id="8" name="Rectangle 1">
            <a:extLst>
              <a:ext uri="{FF2B5EF4-FFF2-40B4-BE49-F238E27FC236}">
                <a16:creationId xmlns:a16="http://schemas.microsoft.com/office/drawing/2014/main" id="{AC2C373D-3D60-DC42-5F6D-6CC43160E4BD}"/>
              </a:ext>
            </a:extLst>
          </p:cNvPr>
          <p:cNvSpPr>
            <a:spLocks noChangeArrowheads="1"/>
          </p:cNvSpPr>
          <p:nvPr/>
        </p:nvSpPr>
        <p:spPr bwMode="auto">
          <a:xfrm>
            <a:off x="185942" y="1544188"/>
            <a:ext cx="65" cy="37314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952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3">
            <a:extLst>
              <a:ext uri="{FF2B5EF4-FFF2-40B4-BE49-F238E27FC236}">
                <a16:creationId xmlns:a16="http://schemas.microsoft.com/office/drawing/2014/main" id="{AC18015F-97E6-4123-0AD4-B7F649564CCC}"/>
              </a:ext>
            </a:extLst>
          </p:cNvPr>
          <p:cNvSpPr>
            <a:spLocks noChangeArrowheads="1"/>
          </p:cNvSpPr>
          <p:nvPr/>
        </p:nvSpPr>
        <p:spPr bwMode="auto">
          <a:xfrm>
            <a:off x="185942" y="2033288"/>
            <a:ext cx="65" cy="3410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46546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p:txBody>
          <a:bodyPr/>
          <a:lstStyle/>
          <a:p>
            <a:r>
              <a:rPr lang="en-IN" b="1" dirty="0">
                <a:latin typeface="Cambria" panose="02040503050406030204" pitchFamily="18" charset="0"/>
                <a:ea typeface="Cambria" panose="02040503050406030204" pitchFamily="18" charset="0"/>
                <a:cs typeface="Cambria" panose="02040503050406030204" pitchFamily="18" charset="0"/>
              </a:rPr>
              <a:t>Course Learning Objectives</a:t>
            </a:r>
            <a:br>
              <a:rPr lang="en-US" dirty="0">
                <a:latin typeface="Calibri" panose="020F0502020204030204"/>
                <a:ea typeface="Calibri" panose="020F0502020204030204"/>
              </a:rPr>
            </a:b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39" y="1425678"/>
            <a:ext cx="10334573" cy="3401962"/>
          </a:xfrm>
        </p:spPr>
        <p:txBody>
          <a:bodyPr/>
          <a:lstStyle/>
          <a:p>
            <a:pPr>
              <a:lnSpc>
                <a:spcPct val="107000"/>
              </a:lnSpc>
              <a:spcAft>
                <a:spcPts val="800"/>
              </a:spcAft>
            </a:pPr>
            <a:r>
              <a:rPr lang="en-IN" sz="1800" dirty="0">
                <a:effectLst/>
                <a:latin typeface="Cambria" panose="02040503050406030204" pitchFamily="18" charset="0"/>
                <a:ea typeface="Cambria" panose="02040503050406030204" pitchFamily="18" charset="0"/>
                <a:cs typeface="Cambria" panose="02040503050406030204" pitchFamily="18" charset="0"/>
              </a:rPr>
              <a:t>This course will enable students to:</a:t>
            </a:r>
            <a:endParaRPr lang="en-US" sz="1800" dirty="0">
              <a:effectLst/>
              <a:latin typeface="Calibri" panose="020F0502020204030204"/>
              <a:ea typeface="Calibri" panose="020F0502020204030204"/>
            </a:endParaRPr>
          </a:p>
          <a:p>
            <a:pPr marL="342900" lvl="0" indent="-342900">
              <a:lnSpc>
                <a:spcPct val="107000"/>
              </a:lnSpc>
              <a:buFont typeface="+mj-lt"/>
              <a:buAutoNum type="arabicPeriod"/>
            </a:pP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To provide a strong foundation of fundamental concepts in artificial intelligence.</a:t>
            </a:r>
            <a:endParaRPr lang="en-US" sz="1800" dirty="0">
              <a:effectLst/>
              <a:latin typeface="Calibri" panose="020F0502020204030204"/>
              <a:ea typeface="Calibri" panose="020F0502020204030204"/>
            </a:endParaRPr>
          </a:p>
          <a:p>
            <a:pPr marL="342900" lvl="0" indent="-342900">
              <a:lnSpc>
                <a:spcPct val="107000"/>
              </a:lnSpc>
              <a:buFont typeface="+mj-lt"/>
              <a:buAutoNum type="arabicPeriod"/>
            </a:pP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To provide a basic exposition of different types of searching in Artificial intelligence.</a:t>
            </a:r>
            <a:endParaRPr lang="en-US" sz="1800" dirty="0">
              <a:effectLst/>
              <a:latin typeface="Calibri" panose="020F0502020204030204"/>
              <a:ea typeface="Calibri" panose="020F0502020204030204"/>
            </a:endParaRPr>
          </a:p>
          <a:p>
            <a:pPr marL="342900" lvl="0" indent="-342900" algn="just">
              <a:lnSpc>
                <a:spcPct val="115000"/>
              </a:lnSpc>
              <a:spcAft>
                <a:spcPts val="600"/>
              </a:spcAft>
              <a:buFont typeface="+mj-lt"/>
              <a:buAutoNum type="arabicPeriod"/>
            </a:pP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To provide different knowledge representation, reasoning, and learning techniques.</a:t>
            </a:r>
            <a:endParaRPr lang="en-US" sz="1800" dirty="0">
              <a:effectLst/>
              <a:latin typeface="Calibri" panose="020F0502020204030204"/>
              <a:ea typeface="Calibri" panose="020F0502020204030204"/>
            </a:endParaRPr>
          </a:p>
          <a:p>
            <a:pPr marL="342900" lvl="0" indent="-342900" algn="just">
              <a:lnSpc>
                <a:spcPct val="115000"/>
              </a:lnSpc>
              <a:spcAft>
                <a:spcPts val="600"/>
              </a:spcAft>
              <a:buFont typeface="+mj-lt"/>
              <a:buAutoNum type="arabicPeriod" startAt="4"/>
            </a:pP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To distinguish the different types of expert systems. </a:t>
            </a:r>
            <a:endParaRPr lang="en-US" sz="1800" dirty="0">
              <a:effectLst/>
              <a:latin typeface="Calibri" panose="020F0502020204030204"/>
              <a:ea typeface="Calibri" panose="020F0502020204030204"/>
            </a:endParaRPr>
          </a:p>
          <a:p>
            <a:pPr marL="342900" lvl="0" indent="-342900">
              <a:lnSpc>
                <a:spcPct val="107000"/>
              </a:lnSpc>
              <a:spcAft>
                <a:spcPts val="800"/>
              </a:spcAft>
              <a:buFont typeface="+mj-lt"/>
              <a:buAutoNum type="arabicPeriod" startAt="4"/>
            </a:pP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To design the Expert System based on the concepts of knowledge representation, searching and Reasoning on various applications using modernised AI tools.</a:t>
            </a:r>
            <a:endParaRPr lang="en-US" sz="1800" dirty="0">
              <a:effectLst/>
              <a:latin typeface="Calibri" panose="020F0502020204030204"/>
              <a:ea typeface="Calibri" panose="020F0502020204030204"/>
            </a:endParaRPr>
          </a:p>
          <a:p>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025148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graphicFrame>
        <p:nvGraphicFramePr>
          <p:cNvPr id="8" name="Table 7">
            <a:extLst>
              <a:ext uri="{FF2B5EF4-FFF2-40B4-BE49-F238E27FC236}">
                <a16:creationId xmlns:a16="http://schemas.microsoft.com/office/drawing/2014/main" id="{B504364A-B4DE-65C7-976A-445B70303647}"/>
              </a:ext>
            </a:extLst>
          </p:cNvPr>
          <p:cNvGraphicFramePr>
            <a:graphicFrameLocks noGrp="1"/>
          </p:cNvGraphicFramePr>
          <p:nvPr>
            <p:extLst>
              <p:ext uri="{D42A27DB-BD31-4B8C-83A1-F6EECF244321}">
                <p14:modId xmlns:p14="http://schemas.microsoft.com/office/powerpoint/2010/main" val="1406092620"/>
              </p:ext>
            </p:extLst>
          </p:nvPr>
        </p:nvGraphicFramePr>
        <p:xfrm>
          <a:off x="755076" y="1403110"/>
          <a:ext cx="10681847" cy="4297746"/>
        </p:xfrm>
        <a:graphic>
          <a:graphicData uri="http://schemas.openxmlformats.org/drawingml/2006/table">
            <a:tbl>
              <a:tblPr bandRow="1">
                <a:tableStyleId>{616DA210-FB5B-4158-B5E0-FEB733F419BA}</a:tableStyleId>
              </a:tblPr>
              <a:tblGrid>
                <a:gridCol w="992807">
                  <a:extLst>
                    <a:ext uri="{9D8B030D-6E8A-4147-A177-3AD203B41FA5}">
                      <a16:colId xmlns:a16="http://schemas.microsoft.com/office/drawing/2014/main" val="3732193762"/>
                    </a:ext>
                  </a:extLst>
                </a:gridCol>
                <a:gridCol w="7942439">
                  <a:extLst>
                    <a:ext uri="{9D8B030D-6E8A-4147-A177-3AD203B41FA5}">
                      <a16:colId xmlns:a16="http://schemas.microsoft.com/office/drawing/2014/main" val="87162701"/>
                    </a:ext>
                  </a:extLst>
                </a:gridCol>
                <a:gridCol w="1746601">
                  <a:extLst>
                    <a:ext uri="{9D8B030D-6E8A-4147-A177-3AD203B41FA5}">
                      <a16:colId xmlns:a16="http://schemas.microsoft.com/office/drawing/2014/main" val="1492142142"/>
                    </a:ext>
                  </a:extLst>
                </a:gridCol>
              </a:tblGrid>
              <a:tr h="492760">
                <a:tc>
                  <a:txBody>
                    <a:bodyPr/>
                    <a:lstStyle/>
                    <a:p>
                      <a:pPr indent="4445" algn="ctr">
                        <a:lnSpc>
                          <a:spcPct val="107000"/>
                        </a:lnSpc>
                      </a:pPr>
                      <a:r>
                        <a:rPr lang="en-US" sz="1800" b="1" kern="1200">
                          <a:solidFill>
                            <a:srgbClr val="000000"/>
                          </a:solidFill>
                          <a:effectLst/>
                          <a:latin typeface="Bookman Old Style" panose="02050604050505020204" pitchFamily="18" charset="0"/>
                        </a:rPr>
                        <a:t>CO No.</a:t>
                      </a:r>
                      <a:endParaRPr lang="en-US" sz="1800" b="1" kern="1200">
                        <a:solidFill>
                          <a:srgbClr val="000000"/>
                        </a:solidFill>
                        <a:effectLst/>
                        <a:latin typeface="Bookman Old Style" panose="02050604050505020204" pitchFamily="18" charset="0"/>
                        <a:ea typeface="Calibri" panose="020F0502020204030204" pitchFamily="34" charset="0"/>
                        <a:cs typeface="+mn-cs"/>
                      </a:endParaRPr>
                    </a:p>
                  </a:txBody>
                  <a:tcPr marL="68580" marR="68580" marT="0" marB="0" anchor="ctr"/>
                </a:tc>
                <a:tc>
                  <a:txBody>
                    <a:bodyPr/>
                    <a:lstStyle/>
                    <a:p>
                      <a:pPr marL="228600" indent="-228600" algn="ctr">
                        <a:lnSpc>
                          <a:spcPct val="107000"/>
                        </a:lnSpc>
                      </a:pPr>
                      <a:r>
                        <a:rPr lang="en-US" sz="1800" b="1" kern="1200" dirty="0">
                          <a:solidFill>
                            <a:srgbClr val="000000"/>
                          </a:solidFill>
                          <a:effectLst/>
                          <a:latin typeface="Bookman Old Style" panose="02050604050505020204" pitchFamily="18" charset="0"/>
                        </a:rPr>
                        <a:t>Outcomes</a:t>
                      </a:r>
                      <a:endParaRPr lang="en-US" sz="1800" b="1" kern="1200" dirty="0">
                        <a:solidFill>
                          <a:srgbClr val="000000"/>
                        </a:solidFill>
                        <a:effectLst/>
                        <a:latin typeface="Bookman Old Style" panose="02050604050505020204" pitchFamily="18" charset="0"/>
                        <a:ea typeface="Calibri" panose="020F0502020204030204" pitchFamily="34" charset="0"/>
                        <a:cs typeface="+mn-cs"/>
                      </a:endParaRPr>
                    </a:p>
                  </a:txBody>
                  <a:tcPr marL="68580" marR="68580" marT="0" marB="0" anchor="ctr"/>
                </a:tc>
                <a:tc>
                  <a:txBody>
                    <a:bodyPr/>
                    <a:lstStyle/>
                    <a:p>
                      <a:pPr marL="13970" indent="-13970" algn="ctr">
                        <a:lnSpc>
                          <a:spcPct val="107000"/>
                        </a:lnSpc>
                      </a:pPr>
                      <a:r>
                        <a:rPr lang="en-US" sz="1800" b="1" kern="1200" dirty="0">
                          <a:solidFill>
                            <a:srgbClr val="000000"/>
                          </a:solidFill>
                          <a:effectLst/>
                          <a:latin typeface="Bookman Old Style" panose="02050604050505020204" pitchFamily="18" charset="0"/>
                        </a:rPr>
                        <a:t>Bloom’s Taxonomy Level</a:t>
                      </a:r>
                      <a:endParaRPr lang="en-US" sz="1800" b="1" kern="1200" dirty="0">
                        <a:solidFill>
                          <a:srgbClr val="000000"/>
                        </a:solidFill>
                        <a:effectLst/>
                        <a:latin typeface="Bookman Old Style" panose="02050604050505020204" pitchFamily="18" charset="0"/>
                        <a:ea typeface="Calibri" panose="020F0502020204030204" pitchFamily="34" charset="0"/>
                        <a:cs typeface="+mn-cs"/>
                      </a:endParaRPr>
                    </a:p>
                  </a:txBody>
                  <a:tcPr marL="68580" marR="68580" marT="0" marB="0"/>
                </a:tc>
                <a:extLst>
                  <a:ext uri="{0D108BD9-81ED-4DB2-BD59-A6C34878D82A}">
                    <a16:rowId xmlns:a16="http://schemas.microsoft.com/office/drawing/2014/main" val="1093564784"/>
                  </a:ext>
                </a:extLst>
              </a:tr>
              <a:tr h="272415">
                <a:tc>
                  <a:txBody>
                    <a:bodyPr/>
                    <a:lstStyle/>
                    <a:p>
                      <a:pPr indent="4445" algn="just">
                        <a:lnSpc>
                          <a:spcPct val="107000"/>
                        </a:lnSpc>
                      </a:pPr>
                      <a:r>
                        <a:rPr lang="en-US" sz="1800" kern="1200" dirty="0">
                          <a:solidFill>
                            <a:srgbClr val="000000"/>
                          </a:solidFill>
                          <a:effectLst/>
                          <a:latin typeface="Bookman Old Style" panose="02050604050505020204" pitchFamily="18" charset="0"/>
                        </a:rPr>
                        <a:t>CO1</a:t>
                      </a:r>
                      <a:endParaRPr lang="en-US" sz="1800" kern="1200" dirty="0">
                        <a:solidFill>
                          <a:srgbClr val="000000"/>
                        </a:solidFill>
                        <a:effectLst/>
                        <a:latin typeface="Bookman Old Style" panose="02050604050505020204" pitchFamily="18" charset="0"/>
                        <a:ea typeface="Calibri" panose="020F0502020204030204" pitchFamily="34" charset="0"/>
                        <a:cs typeface="+mn-cs"/>
                      </a:endParaRPr>
                    </a:p>
                  </a:txBody>
                  <a:tcPr marL="68580" marR="68580" marT="0" marB="0"/>
                </a:tc>
                <a:tc>
                  <a:txBody>
                    <a:bodyPr/>
                    <a:lstStyle/>
                    <a:p>
                      <a:pPr marL="0" lvl="0" indent="4445" algn="just" defTabSz="457200" rtl="0" eaLnBrk="1" latinLnBrk="0" hangingPunct="1">
                        <a:lnSpc>
                          <a:spcPct val="107000"/>
                        </a:lnSpc>
                        <a:spcAft>
                          <a:spcPts val="600"/>
                        </a:spcAft>
                        <a:buFont typeface="+mj-lt"/>
                        <a:buNone/>
                      </a:pPr>
                      <a:r>
                        <a:rPr lang="en-IN" sz="1800" b="1" kern="1200" dirty="0">
                          <a:solidFill>
                            <a:srgbClr val="000000"/>
                          </a:solidFill>
                          <a:effectLst/>
                          <a:latin typeface="Bookman Old Style" panose="02050604050505020204" pitchFamily="18" charset="0"/>
                          <a:ea typeface="+mn-ea"/>
                          <a:cs typeface="+mn-cs"/>
                        </a:rPr>
                        <a:t>Summarize</a:t>
                      </a:r>
                      <a:r>
                        <a:rPr lang="en-IN" sz="1800" kern="1200" dirty="0">
                          <a:solidFill>
                            <a:srgbClr val="000000"/>
                          </a:solidFill>
                          <a:effectLst/>
                          <a:latin typeface="Bookman Old Style" panose="02050604050505020204" pitchFamily="18" charset="0"/>
                          <a:ea typeface="+mn-ea"/>
                          <a:cs typeface="+mn-cs"/>
                        </a:rPr>
                        <a:t> the basic concepts of Artificial Intelligence, AI principles, AI Task domains and applications. </a:t>
                      </a:r>
                      <a:endParaRPr lang="en-US" sz="1800" kern="1200" dirty="0">
                        <a:solidFill>
                          <a:srgbClr val="000000"/>
                        </a:solidFill>
                        <a:effectLst/>
                        <a:latin typeface="Bookman Old Style" panose="02050604050505020204" pitchFamily="18" charset="0"/>
                        <a:ea typeface="+mn-ea"/>
                        <a:cs typeface="+mn-cs"/>
                      </a:endParaRPr>
                    </a:p>
                  </a:txBody>
                  <a:tcPr marL="68580" marR="68580" marT="0" marB="0"/>
                </a:tc>
                <a:tc>
                  <a:txBody>
                    <a:bodyPr/>
                    <a:lstStyle/>
                    <a:p>
                      <a:pPr marL="228600" indent="-228600" algn="ctr">
                        <a:lnSpc>
                          <a:spcPct val="107000"/>
                        </a:lnSpc>
                      </a:pPr>
                      <a:r>
                        <a:rPr lang="en-US" sz="1800" kern="1200" dirty="0">
                          <a:solidFill>
                            <a:srgbClr val="000000"/>
                          </a:solidFill>
                          <a:effectLst/>
                          <a:latin typeface="Bookman Old Style" panose="02050604050505020204" pitchFamily="18" charset="0"/>
                          <a:ea typeface="Calibri" panose="020F0502020204030204" pitchFamily="34" charset="0"/>
                          <a:cs typeface="+mn-cs"/>
                        </a:rPr>
                        <a:t>L2</a:t>
                      </a:r>
                    </a:p>
                  </a:txBody>
                  <a:tcPr marL="68580" marR="68580" marT="0" marB="0"/>
                </a:tc>
                <a:extLst>
                  <a:ext uri="{0D108BD9-81ED-4DB2-BD59-A6C34878D82A}">
                    <a16:rowId xmlns:a16="http://schemas.microsoft.com/office/drawing/2014/main" val="3668317068"/>
                  </a:ext>
                </a:extLst>
              </a:tr>
              <a:tr h="325755">
                <a:tc>
                  <a:txBody>
                    <a:bodyPr/>
                    <a:lstStyle/>
                    <a:p>
                      <a:pPr indent="4445" algn="just">
                        <a:lnSpc>
                          <a:spcPct val="107000"/>
                        </a:lnSpc>
                      </a:pPr>
                      <a:r>
                        <a:rPr lang="en-US" sz="1800" kern="1200">
                          <a:solidFill>
                            <a:srgbClr val="000000"/>
                          </a:solidFill>
                          <a:effectLst/>
                          <a:latin typeface="Bookman Old Style" panose="02050604050505020204" pitchFamily="18" charset="0"/>
                        </a:rPr>
                        <a:t>CO2</a:t>
                      </a:r>
                      <a:endParaRPr lang="en-US" sz="1800" kern="1200">
                        <a:solidFill>
                          <a:srgbClr val="000000"/>
                        </a:solidFill>
                        <a:effectLst/>
                        <a:latin typeface="Bookman Old Style" panose="02050604050505020204" pitchFamily="18" charset="0"/>
                        <a:ea typeface="Calibri" panose="020F0502020204030204" pitchFamily="34" charset="0"/>
                        <a:cs typeface="+mn-cs"/>
                      </a:endParaRPr>
                    </a:p>
                  </a:txBody>
                  <a:tcPr marL="68580" marR="68580" marT="0" marB="0"/>
                </a:tc>
                <a:tc>
                  <a:txBody>
                    <a:bodyPr/>
                    <a:lstStyle/>
                    <a:p>
                      <a:pPr marL="0" lvl="0" indent="4445" algn="just" defTabSz="457200" rtl="0" eaLnBrk="1" latinLnBrk="0" hangingPunct="1">
                        <a:lnSpc>
                          <a:spcPct val="107000"/>
                        </a:lnSpc>
                        <a:spcAft>
                          <a:spcPts val="600"/>
                        </a:spcAft>
                        <a:buFont typeface="+mj-lt"/>
                        <a:buNone/>
                      </a:pPr>
                      <a:r>
                        <a:rPr lang="en-IN" sz="1800" b="1" kern="1200" dirty="0">
                          <a:solidFill>
                            <a:srgbClr val="000000"/>
                          </a:solidFill>
                          <a:effectLst/>
                          <a:latin typeface="Bookman Old Style" panose="02050604050505020204" pitchFamily="18" charset="0"/>
                          <a:ea typeface="+mn-ea"/>
                          <a:cs typeface="+mn-cs"/>
                        </a:rPr>
                        <a:t>Apply</a:t>
                      </a:r>
                      <a:r>
                        <a:rPr lang="en-IN" sz="1800" kern="1200" dirty="0">
                          <a:solidFill>
                            <a:srgbClr val="000000"/>
                          </a:solidFill>
                          <a:effectLst/>
                          <a:latin typeface="Bookman Old Style" panose="02050604050505020204" pitchFamily="18" charset="0"/>
                          <a:ea typeface="+mn-ea"/>
                          <a:cs typeface="+mn-cs"/>
                        </a:rPr>
                        <a:t> the different types of searching and knowledge representations techniques to solve the AI problems.</a:t>
                      </a:r>
                      <a:endParaRPr lang="en-US" sz="1800" kern="1200" dirty="0">
                        <a:solidFill>
                          <a:srgbClr val="000000"/>
                        </a:solidFill>
                        <a:effectLst/>
                        <a:latin typeface="Bookman Old Style" panose="02050604050505020204" pitchFamily="18" charset="0"/>
                        <a:ea typeface="+mn-ea"/>
                        <a:cs typeface="+mn-cs"/>
                      </a:endParaRPr>
                    </a:p>
                  </a:txBody>
                  <a:tcPr marL="68580" marR="68580" marT="0" marB="0"/>
                </a:tc>
                <a:tc>
                  <a:txBody>
                    <a:bodyPr/>
                    <a:lstStyle/>
                    <a:p>
                      <a:pPr algn="ctr">
                        <a:lnSpc>
                          <a:spcPct val="107000"/>
                        </a:lnSpc>
                      </a:pPr>
                      <a:r>
                        <a:rPr lang="en-US" sz="1800" kern="1200" dirty="0">
                          <a:solidFill>
                            <a:srgbClr val="000000"/>
                          </a:solidFill>
                          <a:effectLst/>
                          <a:latin typeface="Bookman Old Style" panose="02050604050505020204" pitchFamily="18" charset="0"/>
                          <a:ea typeface="Calibri" panose="020F0502020204030204" pitchFamily="34" charset="0"/>
                          <a:cs typeface="+mn-cs"/>
                        </a:rPr>
                        <a:t>L3</a:t>
                      </a:r>
                    </a:p>
                  </a:txBody>
                  <a:tcPr marL="68580" marR="68580" marT="0" marB="0"/>
                </a:tc>
                <a:extLst>
                  <a:ext uri="{0D108BD9-81ED-4DB2-BD59-A6C34878D82A}">
                    <a16:rowId xmlns:a16="http://schemas.microsoft.com/office/drawing/2014/main" val="552133446"/>
                  </a:ext>
                </a:extLst>
              </a:tr>
              <a:tr h="325755">
                <a:tc>
                  <a:txBody>
                    <a:bodyPr/>
                    <a:lstStyle/>
                    <a:p>
                      <a:pPr indent="4445" algn="just">
                        <a:lnSpc>
                          <a:spcPct val="107000"/>
                        </a:lnSpc>
                      </a:pPr>
                      <a:r>
                        <a:rPr lang="en-US" sz="1800" kern="1200">
                          <a:solidFill>
                            <a:srgbClr val="000000"/>
                          </a:solidFill>
                          <a:effectLst/>
                          <a:latin typeface="Bookman Old Style" panose="02050604050505020204" pitchFamily="18" charset="0"/>
                        </a:rPr>
                        <a:t>CO3</a:t>
                      </a:r>
                      <a:endParaRPr lang="en-US" sz="1800" kern="1200">
                        <a:solidFill>
                          <a:srgbClr val="000000"/>
                        </a:solidFill>
                        <a:effectLst/>
                        <a:latin typeface="Bookman Old Style" panose="02050604050505020204" pitchFamily="18" charset="0"/>
                        <a:ea typeface="Calibri" panose="020F0502020204030204" pitchFamily="34" charset="0"/>
                        <a:cs typeface="+mn-cs"/>
                      </a:endParaRPr>
                    </a:p>
                  </a:txBody>
                  <a:tcPr marL="68580" marR="68580" marT="0" marB="0"/>
                </a:tc>
                <a:tc>
                  <a:txBody>
                    <a:bodyPr/>
                    <a:lstStyle/>
                    <a:p>
                      <a:pPr marL="0" lvl="0" indent="4445" algn="just" defTabSz="457200" rtl="0" eaLnBrk="1" latinLnBrk="0" hangingPunct="1">
                        <a:lnSpc>
                          <a:spcPct val="107000"/>
                        </a:lnSpc>
                        <a:spcAft>
                          <a:spcPts val="600"/>
                        </a:spcAft>
                        <a:buFont typeface="+mj-lt"/>
                        <a:buNone/>
                      </a:pPr>
                      <a:r>
                        <a:rPr lang="en-IN" sz="1800" b="1" kern="1200" dirty="0">
                          <a:solidFill>
                            <a:srgbClr val="000000"/>
                          </a:solidFill>
                          <a:effectLst/>
                          <a:latin typeface="Bookman Old Style" panose="02050604050505020204" pitchFamily="18" charset="0"/>
                          <a:ea typeface="+mn-ea"/>
                          <a:cs typeface="+mn-cs"/>
                        </a:rPr>
                        <a:t>Make use of </a:t>
                      </a:r>
                      <a:r>
                        <a:rPr lang="en-IN" sz="1800" kern="1200" dirty="0">
                          <a:solidFill>
                            <a:srgbClr val="000000"/>
                          </a:solidFill>
                          <a:effectLst/>
                          <a:latin typeface="Bookman Old Style" panose="02050604050505020204" pitchFamily="18" charset="0"/>
                          <a:ea typeface="+mn-ea"/>
                          <a:cs typeface="+mn-cs"/>
                        </a:rPr>
                        <a:t>the different types of reasoning such as Monotonic Reasoning, Non-Monotonic Reasoning and Statistical Reasoning techniques for making analysis and predictions.</a:t>
                      </a:r>
                      <a:endParaRPr lang="en-US" sz="1800" kern="1200" dirty="0">
                        <a:solidFill>
                          <a:srgbClr val="000000"/>
                        </a:solidFill>
                        <a:effectLst/>
                        <a:latin typeface="Bookman Old Style" panose="02050604050505020204" pitchFamily="18" charset="0"/>
                        <a:ea typeface="+mn-ea"/>
                        <a:cs typeface="+mn-cs"/>
                      </a:endParaRPr>
                    </a:p>
                  </a:txBody>
                  <a:tcPr marL="68580" marR="68580" marT="0" marB="0"/>
                </a:tc>
                <a:tc>
                  <a:txBody>
                    <a:bodyPr/>
                    <a:lstStyle/>
                    <a:p>
                      <a:pPr marL="228600" indent="-228600" algn="ctr">
                        <a:lnSpc>
                          <a:spcPct val="107000"/>
                        </a:lnSpc>
                      </a:pPr>
                      <a:r>
                        <a:rPr lang="en-US" sz="1800" kern="1200" dirty="0">
                          <a:solidFill>
                            <a:srgbClr val="000000"/>
                          </a:solidFill>
                          <a:effectLst/>
                          <a:latin typeface="Bookman Old Style" panose="02050604050505020204" pitchFamily="18" charset="0"/>
                          <a:ea typeface="Calibri" panose="020F0502020204030204" pitchFamily="34" charset="0"/>
                          <a:cs typeface="+mn-cs"/>
                        </a:rPr>
                        <a:t>L3</a:t>
                      </a:r>
                    </a:p>
                  </a:txBody>
                  <a:tcPr marL="68580" marR="68580" marT="0" marB="0"/>
                </a:tc>
                <a:extLst>
                  <a:ext uri="{0D108BD9-81ED-4DB2-BD59-A6C34878D82A}">
                    <a16:rowId xmlns:a16="http://schemas.microsoft.com/office/drawing/2014/main" val="2591188315"/>
                  </a:ext>
                </a:extLst>
              </a:tr>
              <a:tr h="325755">
                <a:tc>
                  <a:txBody>
                    <a:bodyPr/>
                    <a:lstStyle/>
                    <a:p>
                      <a:pPr indent="4445" algn="just">
                        <a:lnSpc>
                          <a:spcPct val="107000"/>
                        </a:lnSpc>
                      </a:pPr>
                      <a:r>
                        <a:rPr lang="en-US" sz="1800" kern="1200">
                          <a:solidFill>
                            <a:srgbClr val="000000"/>
                          </a:solidFill>
                          <a:effectLst/>
                          <a:latin typeface="Bookman Old Style" panose="02050604050505020204" pitchFamily="18" charset="0"/>
                        </a:rPr>
                        <a:t>CO4</a:t>
                      </a:r>
                      <a:endParaRPr lang="en-US" sz="1800" kern="1200">
                        <a:solidFill>
                          <a:srgbClr val="000000"/>
                        </a:solidFill>
                        <a:effectLst/>
                        <a:latin typeface="Bookman Old Style" panose="02050604050505020204" pitchFamily="18" charset="0"/>
                        <a:ea typeface="Calibri" panose="020F0502020204030204" pitchFamily="34" charset="0"/>
                        <a:cs typeface="+mn-cs"/>
                      </a:endParaRPr>
                    </a:p>
                  </a:txBody>
                  <a:tcPr marL="68580" marR="68580" marT="0" marB="0"/>
                </a:tc>
                <a:tc>
                  <a:txBody>
                    <a:bodyPr/>
                    <a:lstStyle/>
                    <a:p>
                      <a:pPr marL="0" lvl="0" indent="4445" algn="just" defTabSz="457200" rtl="0" eaLnBrk="1" latinLnBrk="0" hangingPunct="1">
                        <a:lnSpc>
                          <a:spcPct val="107000"/>
                        </a:lnSpc>
                        <a:spcAft>
                          <a:spcPts val="600"/>
                        </a:spcAft>
                        <a:buFont typeface="+mj-lt"/>
                        <a:buNone/>
                      </a:pPr>
                      <a:r>
                        <a:rPr lang="en-IN" sz="1800" b="1" kern="1200" dirty="0">
                          <a:solidFill>
                            <a:srgbClr val="000000"/>
                          </a:solidFill>
                          <a:effectLst/>
                          <a:latin typeface="Bookman Old Style" panose="02050604050505020204" pitchFamily="18" charset="0"/>
                          <a:ea typeface="+mn-ea"/>
                          <a:cs typeface="+mn-cs"/>
                        </a:rPr>
                        <a:t>Differentiate</a:t>
                      </a:r>
                      <a:r>
                        <a:rPr lang="en-IN" sz="1800" kern="1200" dirty="0">
                          <a:solidFill>
                            <a:srgbClr val="000000"/>
                          </a:solidFill>
                          <a:effectLst/>
                          <a:latin typeface="Bookman Old Style" panose="02050604050505020204" pitchFamily="18" charset="0"/>
                          <a:ea typeface="+mn-ea"/>
                          <a:cs typeface="+mn-cs"/>
                        </a:rPr>
                        <a:t> the various types of Experts Systems such as Rule Based, Model Based, Case Based, Hybrid and Fuzzy Expert Systems. </a:t>
                      </a:r>
                      <a:endParaRPr lang="en-US" sz="1800" kern="1200" dirty="0">
                        <a:solidFill>
                          <a:srgbClr val="000000"/>
                        </a:solidFill>
                        <a:effectLst/>
                        <a:latin typeface="Bookman Old Style" panose="02050604050505020204" pitchFamily="18" charset="0"/>
                        <a:ea typeface="+mn-ea"/>
                        <a:cs typeface="+mn-cs"/>
                      </a:endParaRPr>
                    </a:p>
                  </a:txBody>
                  <a:tcPr marL="68580" marR="68580" marT="0" marB="0"/>
                </a:tc>
                <a:tc>
                  <a:txBody>
                    <a:bodyPr/>
                    <a:lstStyle/>
                    <a:p>
                      <a:pPr marL="228600" indent="-228600" algn="ctr">
                        <a:lnSpc>
                          <a:spcPct val="107000"/>
                        </a:lnSpc>
                      </a:pPr>
                      <a:r>
                        <a:rPr lang="en-US" sz="1800" kern="1200" dirty="0">
                          <a:solidFill>
                            <a:srgbClr val="000000"/>
                          </a:solidFill>
                          <a:effectLst/>
                          <a:latin typeface="Bookman Old Style" panose="02050604050505020204" pitchFamily="18" charset="0"/>
                          <a:ea typeface="Calibri" panose="020F0502020204030204" pitchFamily="34" charset="0"/>
                          <a:cs typeface="+mn-cs"/>
                        </a:rPr>
                        <a:t>L2</a:t>
                      </a:r>
                    </a:p>
                  </a:txBody>
                  <a:tcPr marL="68580" marR="68580" marT="0" marB="0"/>
                </a:tc>
                <a:extLst>
                  <a:ext uri="{0D108BD9-81ED-4DB2-BD59-A6C34878D82A}">
                    <a16:rowId xmlns:a16="http://schemas.microsoft.com/office/drawing/2014/main" val="771683343"/>
                  </a:ext>
                </a:extLst>
              </a:tr>
              <a:tr h="0">
                <a:tc>
                  <a:txBody>
                    <a:bodyPr/>
                    <a:lstStyle/>
                    <a:p>
                      <a:pPr indent="4445" algn="just">
                        <a:lnSpc>
                          <a:spcPct val="107000"/>
                        </a:lnSpc>
                      </a:pPr>
                      <a:r>
                        <a:rPr lang="en-US" sz="1800" kern="1200">
                          <a:solidFill>
                            <a:srgbClr val="000000"/>
                          </a:solidFill>
                          <a:effectLst/>
                          <a:latin typeface="Bookman Old Style" panose="02050604050505020204" pitchFamily="18" charset="0"/>
                        </a:rPr>
                        <a:t>CO5</a:t>
                      </a:r>
                      <a:endParaRPr lang="en-US" sz="1800" kern="1200">
                        <a:solidFill>
                          <a:srgbClr val="000000"/>
                        </a:solidFill>
                        <a:effectLst/>
                        <a:latin typeface="Bookman Old Style" panose="02050604050505020204" pitchFamily="18" charset="0"/>
                        <a:ea typeface="Calibri" panose="020F0502020204030204" pitchFamily="34" charset="0"/>
                        <a:cs typeface="+mn-cs"/>
                      </a:endParaRPr>
                    </a:p>
                  </a:txBody>
                  <a:tcPr marL="68580" marR="68580" marT="0" marB="0"/>
                </a:tc>
                <a:tc>
                  <a:txBody>
                    <a:bodyPr/>
                    <a:lstStyle/>
                    <a:p>
                      <a:pPr marL="0" lvl="0" indent="4445" algn="just" defTabSz="457200" rtl="0" eaLnBrk="1" latinLnBrk="0" hangingPunct="1">
                        <a:lnSpc>
                          <a:spcPct val="107000"/>
                        </a:lnSpc>
                        <a:spcAft>
                          <a:spcPts val="600"/>
                        </a:spcAft>
                        <a:buFont typeface="+mj-lt"/>
                        <a:buNone/>
                      </a:pPr>
                      <a:r>
                        <a:rPr lang="en-IN" sz="1800" b="1" kern="1200" dirty="0">
                          <a:solidFill>
                            <a:srgbClr val="000000"/>
                          </a:solidFill>
                          <a:effectLst/>
                          <a:latin typeface="Bookman Old Style" panose="02050604050505020204" pitchFamily="18" charset="0"/>
                          <a:ea typeface="+mn-ea"/>
                          <a:cs typeface="+mn-cs"/>
                        </a:rPr>
                        <a:t>Design</a:t>
                      </a:r>
                      <a:r>
                        <a:rPr lang="en-IN" sz="1800" kern="1200" dirty="0">
                          <a:solidFill>
                            <a:srgbClr val="000000"/>
                          </a:solidFill>
                          <a:effectLst/>
                          <a:latin typeface="Bookman Old Style" panose="02050604050505020204" pitchFamily="18" charset="0"/>
                          <a:ea typeface="+mn-ea"/>
                          <a:cs typeface="+mn-cs"/>
                        </a:rPr>
                        <a:t> the Expert System based on the concepts of knowledge representation, searching and Reasoning on various applications using modernised AI tools.</a:t>
                      </a:r>
                      <a:endParaRPr lang="en-US" sz="1800" kern="1200" dirty="0">
                        <a:solidFill>
                          <a:srgbClr val="000000"/>
                        </a:solidFill>
                        <a:effectLst/>
                        <a:latin typeface="Bookman Old Style" panose="02050604050505020204" pitchFamily="18" charset="0"/>
                        <a:ea typeface="+mn-ea"/>
                        <a:cs typeface="+mn-cs"/>
                      </a:endParaRPr>
                    </a:p>
                  </a:txBody>
                  <a:tcPr marL="68580" marR="68580" marT="0" marB="0"/>
                </a:tc>
                <a:tc>
                  <a:txBody>
                    <a:bodyPr/>
                    <a:lstStyle/>
                    <a:p>
                      <a:pPr marL="228600" indent="-228600" algn="ctr">
                        <a:lnSpc>
                          <a:spcPct val="107000"/>
                        </a:lnSpc>
                      </a:pPr>
                      <a:r>
                        <a:rPr lang="en-US" sz="1800" kern="1200" dirty="0">
                          <a:solidFill>
                            <a:srgbClr val="000000"/>
                          </a:solidFill>
                          <a:effectLst/>
                          <a:latin typeface="Bookman Old Style" panose="02050604050505020204" pitchFamily="18" charset="0"/>
                          <a:ea typeface="Calibri" panose="020F0502020204030204" pitchFamily="34" charset="0"/>
                          <a:cs typeface="+mn-cs"/>
                        </a:rPr>
                        <a:t>L6</a:t>
                      </a:r>
                    </a:p>
                  </a:txBody>
                  <a:tcPr marL="68580" marR="68580" marT="0" marB="0"/>
                </a:tc>
                <a:extLst>
                  <a:ext uri="{0D108BD9-81ED-4DB2-BD59-A6C34878D82A}">
                    <a16:rowId xmlns:a16="http://schemas.microsoft.com/office/drawing/2014/main" val="3176209796"/>
                  </a:ext>
                </a:extLst>
              </a:tr>
            </a:tbl>
          </a:graphicData>
        </a:graphic>
      </p:graphicFrame>
      <p:sp>
        <p:nvSpPr>
          <p:cNvPr id="2" name="Title 1">
            <a:extLst>
              <a:ext uri="{FF2B5EF4-FFF2-40B4-BE49-F238E27FC236}">
                <a16:creationId xmlns:a16="http://schemas.microsoft.com/office/drawing/2014/main" id="{CE889FA1-F6E3-DE2C-B562-C8C3A6337DD7}"/>
              </a:ext>
            </a:extLst>
          </p:cNvPr>
          <p:cNvSpPr>
            <a:spLocks noGrp="1"/>
          </p:cNvSpPr>
          <p:nvPr>
            <p:ph type="title"/>
          </p:nvPr>
        </p:nvSpPr>
        <p:spPr>
          <a:xfrm>
            <a:off x="1983325" y="409351"/>
            <a:ext cx="8911687" cy="747793"/>
          </a:xfrm>
        </p:spPr>
        <p:txBody>
          <a:bodyPr>
            <a:normAutofit/>
          </a:bodyPr>
          <a:lstStyle/>
          <a:p>
            <a:r>
              <a:rPr lang="en-US" b="1" dirty="0">
                <a:latin typeface="Cambria" panose="02040503050406030204" pitchFamily="18" charset="0"/>
                <a:ea typeface="Cambria" panose="02040503050406030204" pitchFamily="18" charset="0"/>
              </a:rPr>
              <a:t>Course Outcome</a:t>
            </a:r>
            <a:endParaRPr lang="en-US" dirty="0"/>
          </a:p>
        </p:txBody>
      </p:sp>
    </p:spTree>
    <p:extLst>
      <p:ext uri="{BB962C8B-B14F-4D97-AF65-F5344CB8AC3E}">
        <p14:creationId xmlns:p14="http://schemas.microsoft.com/office/powerpoint/2010/main" val="121358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
        <p:nvSpPr>
          <p:cNvPr id="8" name="Title 1">
            <a:extLst>
              <a:ext uri="{FF2B5EF4-FFF2-40B4-BE49-F238E27FC236}">
                <a16:creationId xmlns:a16="http://schemas.microsoft.com/office/drawing/2014/main" id="{ED5D6DA4-2824-FC01-8E4D-9E668A2C27CF}"/>
              </a:ext>
            </a:extLst>
          </p:cNvPr>
          <p:cNvSpPr txBox="1">
            <a:spLocks/>
          </p:cNvSpPr>
          <p:nvPr/>
        </p:nvSpPr>
        <p:spPr>
          <a:xfrm>
            <a:off x="1676302" y="241864"/>
            <a:ext cx="8911687" cy="64425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latin typeface="Bookman Old Style" panose="02050604050505020204" pitchFamily="18" charset="0"/>
              </a:rPr>
              <a:t>Text Documents Requirement </a:t>
            </a:r>
            <a:endParaRPr lang="en-IN" dirty="0">
              <a:latin typeface="Bookman Old Style" panose="02050604050505020204" pitchFamily="18" charset="0"/>
            </a:endParaRPr>
          </a:p>
        </p:txBody>
      </p:sp>
      <p:sp>
        <p:nvSpPr>
          <p:cNvPr id="9" name="Content Placeholder 2">
            <a:extLst>
              <a:ext uri="{FF2B5EF4-FFF2-40B4-BE49-F238E27FC236}">
                <a16:creationId xmlns:a16="http://schemas.microsoft.com/office/drawing/2014/main" id="{3D53C9DB-3D95-E187-A252-9F795D5B9279}"/>
              </a:ext>
            </a:extLst>
          </p:cNvPr>
          <p:cNvSpPr txBox="1">
            <a:spLocks/>
          </p:cNvSpPr>
          <p:nvPr/>
        </p:nvSpPr>
        <p:spPr>
          <a:xfrm>
            <a:off x="1410212" y="1049796"/>
            <a:ext cx="10094401" cy="513243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IN" b="1" dirty="0">
                <a:solidFill>
                  <a:schemeClr val="tx1"/>
                </a:solidFill>
                <a:latin typeface="Bookman Old Style" panose="02050604050505020204" pitchFamily="18" charset="0"/>
              </a:rPr>
              <a:t>Textbooks: </a:t>
            </a:r>
          </a:p>
          <a:p>
            <a:r>
              <a:rPr lang="en-US" dirty="0">
                <a:solidFill>
                  <a:schemeClr val="tx1"/>
                </a:solidFill>
                <a:latin typeface="Bookman Old Style" panose="02050604050505020204" pitchFamily="18" charset="0"/>
              </a:rPr>
              <a:t>Artificial Intelligence, George F Luger, Sixth Edition, Pearson Education Publications, 2014. </a:t>
            </a:r>
          </a:p>
          <a:p>
            <a:r>
              <a:rPr lang="en-US" dirty="0">
                <a:solidFill>
                  <a:schemeClr val="tx1"/>
                </a:solidFill>
                <a:latin typeface="Bookman Old Style" panose="02050604050505020204" pitchFamily="18" charset="0"/>
              </a:rPr>
              <a:t>Artificial Intelligence, Elaine Rich and Knight, McGraw-Hill Publications, 2010.</a:t>
            </a:r>
          </a:p>
          <a:p>
            <a:endParaRPr lang="en-US" b="1" dirty="0">
              <a:solidFill>
                <a:srgbClr val="FF0000"/>
              </a:solidFill>
              <a:latin typeface="Bookman Old Style" panose="02050604050505020204" pitchFamily="18" charset="0"/>
            </a:endParaRPr>
          </a:p>
          <a:p>
            <a:r>
              <a:rPr lang="en-IN" b="1" dirty="0">
                <a:solidFill>
                  <a:schemeClr val="tx1"/>
                </a:solidFill>
                <a:latin typeface="Bookman Old Style" panose="02050604050505020204" pitchFamily="18" charset="0"/>
              </a:rPr>
              <a:t>Reference Books: </a:t>
            </a:r>
          </a:p>
          <a:p>
            <a:pPr>
              <a:buFont typeface="Wingdings 3" charset="2"/>
              <a:buAutoNum type="arabicPeriod"/>
            </a:pPr>
            <a:r>
              <a:rPr lang="en-US" dirty="0">
                <a:solidFill>
                  <a:srgbClr val="000000"/>
                </a:solidFill>
                <a:latin typeface="Bookman Old Style" panose="02050604050505020204" pitchFamily="18" charset="0"/>
                <a:ea typeface="Times New Roman" panose="02020603050405020304" pitchFamily="18" charset="0"/>
              </a:rPr>
              <a:t>Artificial Intelligence: A modern Approach, Russell and Norvig, </a:t>
            </a:r>
            <a:r>
              <a:rPr lang="en-US" dirty="0" err="1">
                <a:solidFill>
                  <a:srgbClr val="000000"/>
                </a:solidFill>
                <a:latin typeface="Bookman Old Style" panose="02050604050505020204" pitchFamily="18" charset="0"/>
                <a:ea typeface="Times New Roman" panose="02020603050405020304" pitchFamily="18" charset="0"/>
              </a:rPr>
              <a:t>Printice</a:t>
            </a:r>
            <a:r>
              <a:rPr lang="en-US" dirty="0">
                <a:solidFill>
                  <a:srgbClr val="000000"/>
                </a:solidFill>
                <a:latin typeface="Bookman Old Style" panose="02050604050505020204" pitchFamily="18" charset="0"/>
                <a:ea typeface="Times New Roman" panose="02020603050405020304" pitchFamily="18" charset="0"/>
              </a:rPr>
              <a:t> Hall, 2010.</a:t>
            </a:r>
          </a:p>
          <a:p>
            <a:pPr>
              <a:buFont typeface="Wingdings 3" charset="2"/>
              <a:buAutoNum type="arabicPeriod"/>
            </a:pPr>
            <a:r>
              <a:rPr lang="en-US" dirty="0">
                <a:solidFill>
                  <a:srgbClr val="000000"/>
                </a:solidFill>
                <a:latin typeface="Bookman Old Style" panose="02050604050505020204" pitchFamily="18" charset="0"/>
                <a:ea typeface="Times New Roman" panose="02020603050405020304" pitchFamily="18" charset="0"/>
              </a:rPr>
              <a:t>Introduction To Artificial Intelligence &amp; Expert Systems, Patterson, PHI.</a:t>
            </a:r>
          </a:p>
          <a:p>
            <a:pPr>
              <a:buFont typeface="Wingdings 3" charset="2"/>
              <a:buAutoNum type="arabicPeriod"/>
            </a:pPr>
            <a:r>
              <a:rPr lang="en-US" dirty="0">
                <a:solidFill>
                  <a:srgbClr val="000000"/>
                </a:solidFill>
                <a:latin typeface="Bookman Old Style" panose="02050604050505020204" pitchFamily="18" charset="0"/>
                <a:ea typeface="Times New Roman" panose="02020603050405020304" pitchFamily="18" charset="0"/>
              </a:rPr>
              <a:t>Multi Agent systems- a modern approach to Distributed Artificial intelligence, Weiss. G, MIT Press.</a:t>
            </a:r>
          </a:p>
          <a:p>
            <a:pPr>
              <a:buFont typeface="Wingdings 3" charset="2"/>
              <a:buAutoNum type="arabicPeriod"/>
            </a:pPr>
            <a:r>
              <a:rPr lang="en-US" dirty="0">
                <a:solidFill>
                  <a:srgbClr val="000000"/>
                </a:solidFill>
                <a:latin typeface="Bookman Old Style" panose="02050604050505020204" pitchFamily="18" charset="0"/>
                <a:ea typeface="Times New Roman" panose="02020603050405020304" pitchFamily="18" charset="0"/>
              </a:rPr>
              <a:t>Artificial Intelligence: A modern Approach, Russell and Norvig, </a:t>
            </a:r>
            <a:r>
              <a:rPr lang="en-US" dirty="0" err="1">
                <a:solidFill>
                  <a:srgbClr val="000000"/>
                </a:solidFill>
                <a:latin typeface="Bookman Old Style" panose="02050604050505020204" pitchFamily="18" charset="0"/>
                <a:ea typeface="Times New Roman" panose="02020603050405020304" pitchFamily="18" charset="0"/>
              </a:rPr>
              <a:t>Printice</a:t>
            </a:r>
            <a:r>
              <a:rPr lang="en-US" dirty="0">
                <a:solidFill>
                  <a:srgbClr val="000000"/>
                </a:solidFill>
                <a:latin typeface="Bookman Old Style" panose="02050604050505020204" pitchFamily="18" charset="0"/>
                <a:ea typeface="Times New Roman" panose="02020603050405020304" pitchFamily="18" charset="0"/>
              </a:rPr>
              <a:t> Hall.</a:t>
            </a:r>
          </a:p>
        </p:txBody>
      </p:sp>
    </p:spTree>
    <p:extLst>
      <p:ext uri="{BB962C8B-B14F-4D97-AF65-F5344CB8AC3E}">
        <p14:creationId xmlns:p14="http://schemas.microsoft.com/office/powerpoint/2010/main" val="3507729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676302" y="240652"/>
            <a:ext cx="8911687" cy="1280890"/>
          </a:xfrm>
        </p:spPr>
        <p:txBody>
          <a:bodyPr>
            <a:normAutofit fontScale="90000"/>
          </a:bodyPr>
          <a:lstStyle/>
          <a:p>
            <a:r>
              <a:rPr lang="en-IN" b="1" dirty="0">
                <a:latin typeface="Cambria" panose="02040503050406030204" pitchFamily="18" charset="0"/>
                <a:ea typeface="Cambria" panose="02040503050406030204" pitchFamily="18" charset="0"/>
                <a:cs typeface="Cambria" panose="02040503050406030204" pitchFamily="18" charset="0"/>
              </a:rPr>
              <a:t>Teaching-Learning Process (General Instructions)</a:t>
            </a:r>
            <a:br>
              <a:rPr lang="en-US" dirty="0">
                <a:latin typeface="Calibri" panose="020F0502020204030204"/>
                <a:ea typeface="Calibri" panose="020F0502020204030204"/>
              </a:rPr>
            </a:b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39" y="1521542"/>
            <a:ext cx="10334573" cy="4319937"/>
          </a:xfrm>
        </p:spPr>
        <p:txBody>
          <a:bodyPr>
            <a:normAutofit lnSpcReduction="10000"/>
          </a:bodyPr>
          <a:lstStyle/>
          <a:p>
            <a:pPr algn="just">
              <a:lnSpc>
                <a:spcPct val="107000"/>
              </a:lnSpc>
              <a:spcAft>
                <a:spcPts val="800"/>
              </a:spcAft>
            </a:pPr>
            <a:r>
              <a:rPr lang="en-IN" sz="1800" dirty="0">
                <a:effectLst/>
                <a:latin typeface="Cambria" panose="02040503050406030204" pitchFamily="18" charset="0"/>
                <a:ea typeface="Cambria" panose="02040503050406030204" pitchFamily="18" charset="0"/>
                <a:cs typeface="Cambria" panose="02040503050406030204" pitchFamily="18" charset="0"/>
              </a:rPr>
              <a:t>These are sample new pedagogical methods that teachers can use to accelerate the attainment of the various course outcomes.</a:t>
            </a:r>
            <a:endParaRPr lang="en-US" sz="1800" dirty="0">
              <a:effectLst/>
              <a:latin typeface="Calibri" panose="020F0502020204030204"/>
              <a:ea typeface="Calibri" panose="020F0502020204030204"/>
            </a:endParaRPr>
          </a:p>
          <a:p>
            <a:pPr marL="342900" lvl="0" indent="-342900" algn="just">
              <a:lnSpc>
                <a:spcPct val="107000"/>
              </a:lnSpc>
              <a:spcAft>
                <a:spcPts val="600"/>
              </a:spcAft>
              <a:buFont typeface="+mj-lt"/>
              <a:buAutoNum type="arabicPeriod"/>
            </a:pPr>
            <a:r>
              <a:rPr lang="en-IN" sz="1800" b="1" i="1"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Lecture method</a:t>
            </a: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means it includes not only </a:t>
            </a:r>
            <a:r>
              <a:rPr lang="en-IN" sz="1800" dirty="0">
                <a:effectLst/>
                <a:latin typeface="Cambria" panose="02040503050406030204" pitchFamily="18" charset="0"/>
                <a:ea typeface="Cambria" panose="02040503050406030204" pitchFamily="18" charset="0"/>
                <a:cs typeface="Cambria" panose="02040503050406030204" pitchFamily="18" charset="0"/>
              </a:rPr>
              <a:t>the </a:t>
            </a: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traditional lecture method but </a:t>
            </a:r>
            <a:r>
              <a:rPr lang="en-IN" sz="1800" dirty="0">
                <a:effectLst/>
                <a:latin typeface="Cambria" panose="02040503050406030204" pitchFamily="18" charset="0"/>
                <a:ea typeface="Cambria" panose="02040503050406030204" pitchFamily="18" charset="0"/>
                <a:cs typeface="Cambria" panose="02040503050406030204" pitchFamily="18" charset="0"/>
              </a:rPr>
              <a:t>a </a:t>
            </a: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different </a:t>
            </a:r>
            <a:r>
              <a:rPr lang="en-IN" sz="1800" i="1"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type of teaching </a:t>
            </a:r>
            <a:r>
              <a:rPr lang="en-IN" sz="1800" i="1" dirty="0">
                <a:effectLst/>
                <a:latin typeface="Cambria" panose="02040503050406030204" pitchFamily="18" charset="0"/>
                <a:ea typeface="Cambria" panose="02040503050406030204" pitchFamily="18" charset="0"/>
                <a:cs typeface="Cambria" panose="02040503050406030204" pitchFamily="18" charset="0"/>
              </a:rPr>
              <a:t>method</a:t>
            </a: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a:t>
            </a:r>
            <a:r>
              <a:rPr lang="en-IN" sz="1800" dirty="0">
                <a:effectLst/>
                <a:latin typeface="Cambria" panose="02040503050406030204" pitchFamily="18" charset="0"/>
                <a:ea typeface="Cambria" panose="02040503050406030204" pitchFamily="18" charset="0"/>
                <a:cs typeface="Cambria" panose="02040503050406030204" pitchFamily="18" charset="0"/>
              </a:rPr>
              <a:t>that </a:t>
            </a: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may be adopted to develop the course outcomes.</a:t>
            </a:r>
            <a:endParaRPr lang="en-US" sz="1800" dirty="0">
              <a:effectLst/>
              <a:latin typeface="Calibri" panose="020F0502020204030204"/>
              <a:ea typeface="Calibri" panose="020F0502020204030204"/>
            </a:endParaRPr>
          </a:p>
          <a:p>
            <a:pPr marL="342900" lvl="0" indent="-342900" algn="just">
              <a:lnSpc>
                <a:spcPct val="107000"/>
              </a:lnSpc>
              <a:spcAft>
                <a:spcPts val="600"/>
              </a:spcAft>
              <a:buFont typeface="+mj-lt"/>
              <a:buAutoNum type="arabicPeriod"/>
            </a:pPr>
            <a:r>
              <a:rPr lang="en-IN" sz="1800" b="1" i="1"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Interactive Teaching: </a:t>
            </a:r>
            <a:r>
              <a:rPr lang="en-IN" sz="1800" i="1"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Adopt </a:t>
            </a:r>
            <a:r>
              <a:rPr lang="en-IN" sz="1800" b="1" i="1"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Active learning</a:t>
            </a: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that includes brainstorming, discussing, group work, focused listening, formulating questions, </a:t>
            </a:r>
            <a:r>
              <a:rPr lang="en-IN" sz="1800" dirty="0">
                <a:effectLst/>
                <a:latin typeface="Cambria" panose="02040503050406030204" pitchFamily="18" charset="0"/>
                <a:ea typeface="Cambria" panose="02040503050406030204" pitchFamily="18" charset="0"/>
                <a:cs typeface="Cambria" panose="02040503050406030204" pitchFamily="18" charset="0"/>
              </a:rPr>
              <a:t>note-taking</a:t>
            </a: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annotating, and roleplaying.</a:t>
            </a:r>
            <a:endParaRPr lang="en-US" sz="1800" dirty="0">
              <a:effectLst/>
              <a:latin typeface="Calibri" panose="020F0502020204030204"/>
              <a:ea typeface="Calibri" panose="020F0502020204030204"/>
            </a:endParaRPr>
          </a:p>
          <a:p>
            <a:pPr marL="342900" lvl="0" indent="-342900" algn="just">
              <a:lnSpc>
                <a:spcPct val="107000"/>
              </a:lnSpc>
              <a:spcAft>
                <a:spcPts val="600"/>
              </a:spcAft>
              <a:buFont typeface="+mj-lt"/>
              <a:buAutoNum type="arabicPeriod"/>
            </a:pP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Show </a:t>
            </a:r>
            <a:r>
              <a:rPr lang="en-IN" sz="1800" b="1" i="1"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Video/animation</a:t>
            </a: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films to explain </a:t>
            </a:r>
            <a:r>
              <a:rPr lang="en-IN" sz="1800" dirty="0">
                <a:effectLst/>
                <a:latin typeface="Cambria" panose="02040503050406030204" pitchFamily="18" charset="0"/>
                <a:ea typeface="Cambria" panose="02040503050406030204" pitchFamily="18" charset="0"/>
                <a:cs typeface="Cambria" panose="02040503050406030204" pitchFamily="18" charset="0"/>
              </a:rPr>
              <a:t>the </a:t>
            </a: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functioning of various concepts.</a:t>
            </a:r>
            <a:endParaRPr lang="en-US" sz="1800" dirty="0">
              <a:effectLst/>
              <a:latin typeface="Calibri" panose="020F0502020204030204"/>
              <a:ea typeface="Calibri" panose="020F0502020204030204"/>
            </a:endParaRPr>
          </a:p>
          <a:p>
            <a:pPr marL="342900" lvl="0" indent="-342900" algn="just">
              <a:lnSpc>
                <a:spcPct val="107000"/>
              </a:lnSpc>
              <a:spcAft>
                <a:spcPts val="600"/>
              </a:spcAft>
              <a:buFont typeface="+mj-lt"/>
              <a:buAutoNum type="arabicPeriod"/>
            </a:pP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Encourage </a:t>
            </a:r>
            <a:r>
              <a:rPr lang="en-IN" sz="1800" b="1" i="1"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Collaborative</a:t>
            </a: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(Group Learning) Learning in the class.</a:t>
            </a:r>
            <a:endParaRPr lang="en-US" sz="1800" dirty="0">
              <a:effectLst/>
              <a:latin typeface="Calibri" panose="020F0502020204030204"/>
              <a:ea typeface="Calibri" panose="020F0502020204030204"/>
            </a:endParaRPr>
          </a:p>
          <a:p>
            <a:pPr marL="342900" lvl="0" indent="-342900" algn="just">
              <a:lnSpc>
                <a:spcPct val="107000"/>
              </a:lnSpc>
              <a:spcAft>
                <a:spcPts val="600"/>
              </a:spcAft>
              <a:buFont typeface="+mj-lt"/>
              <a:buAutoNum type="arabicPeriod"/>
            </a:pP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To make </a:t>
            </a:r>
            <a:r>
              <a:rPr lang="en-IN" sz="1800" b="1" i="1"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Critical thinking</a:t>
            </a: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ask at least three </a:t>
            </a:r>
            <a:r>
              <a:rPr lang="en-IN" sz="1800" dirty="0">
                <a:effectLst/>
                <a:latin typeface="Cambria" panose="02040503050406030204" pitchFamily="18" charset="0"/>
                <a:ea typeface="Cambria" panose="02040503050406030204" pitchFamily="18" charset="0"/>
                <a:cs typeface="Cambria" panose="02040503050406030204" pitchFamily="18" charset="0"/>
              </a:rPr>
              <a:t>Higher-order</a:t>
            </a: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Thinking questions in the class.</a:t>
            </a:r>
          </a:p>
          <a:p>
            <a:pPr marL="342900" lvl="0" indent="-342900" algn="just">
              <a:lnSpc>
                <a:spcPct val="107000"/>
              </a:lnSpc>
              <a:spcAft>
                <a:spcPts val="600"/>
              </a:spcAft>
              <a:buFont typeface="+mj-lt"/>
              <a:buAutoNum type="arabicPeriod"/>
            </a:pP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Discuss how every </a:t>
            </a:r>
            <a:r>
              <a:rPr lang="en-IN" sz="1800" b="1" i="1"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concept can be applied to the real world</a:t>
            </a: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 and when that's possible, it helps improve the </a:t>
            </a:r>
            <a:r>
              <a:rPr lang="en-IN" sz="1800" dirty="0">
                <a:effectLst/>
                <a:latin typeface="Cambria" panose="02040503050406030204" pitchFamily="18" charset="0"/>
                <a:ea typeface="Cambria" panose="02040503050406030204" pitchFamily="18" charset="0"/>
                <a:cs typeface="Cambria" panose="02040503050406030204" pitchFamily="18" charset="0"/>
              </a:rPr>
              <a:t>student's</a:t>
            </a: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understanding.</a:t>
            </a:r>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7268102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
        <p:nvSpPr>
          <p:cNvPr id="8" name="Title 1">
            <a:extLst>
              <a:ext uri="{FF2B5EF4-FFF2-40B4-BE49-F238E27FC236}">
                <a16:creationId xmlns:a16="http://schemas.microsoft.com/office/drawing/2014/main" id="{96E70F5A-AC52-76CD-EEC1-481D61BA0FCB}"/>
              </a:ext>
            </a:extLst>
          </p:cNvPr>
          <p:cNvSpPr txBox="1">
            <a:spLocks/>
          </p:cNvSpPr>
          <p:nvPr/>
        </p:nvSpPr>
        <p:spPr>
          <a:xfrm>
            <a:off x="1676302" y="566619"/>
            <a:ext cx="8911687" cy="585258"/>
          </a:xfrm>
          <a:prstGeom prst="rect">
            <a:avLst/>
          </a:prstGeom>
        </p:spPr>
        <p:txBody>
          <a:bodyPr vert="horz" lIns="91440" tIns="45720" rIns="91440" bIns="45720" rtlCol="0" anchor="t">
            <a:normAutofit fontScale="97500" lnSpcReduction="10000"/>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latin typeface="Bookman Old Style" panose="02050604050505020204" pitchFamily="18" charset="0"/>
              </a:rPr>
              <a:t>Content of Syllabus</a:t>
            </a:r>
            <a:endParaRPr lang="en-IN" dirty="0">
              <a:latin typeface="Bookman Old Style" panose="02050604050505020204" pitchFamily="18" charset="0"/>
            </a:endParaRPr>
          </a:p>
        </p:txBody>
      </p:sp>
      <p:graphicFrame>
        <p:nvGraphicFramePr>
          <p:cNvPr id="9" name="Table 5">
            <a:extLst>
              <a:ext uri="{FF2B5EF4-FFF2-40B4-BE49-F238E27FC236}">
                <a16:creationId xmlns:a16="http://schemas.microsoft.com/office/drawing/2014/main" id="{1D861F19-BA83-7180-3249-5A1E6615D672}"/>
              </a:ext>
            </a:extLst>
          </p:cNvPr>
          <p:cNvGraphicFramePr>
            <a:graphicFrameLocks/>
          </p:cNvGraphicFramePr>
          <p:nvPr>
            <p:extLst>
              <p:ext uri="{D42A27DB-BD31-4B8C-83A1-F6EECF244321}">
                <p14:modId xmlns:p14="http://schemas.microsoft.com/office/powerpoint/2010/main" val="3876521487"/>
              </p:ext>
            </p:extLst>
          </p:nvPr>
        </p:nvGraphicFramePr>
        <p:xfrm>
          <a:off x="1576798" y="1749623"/>
          <a:ext cx="10429260" cy="3850640"/>
        </p:xfrm>
        <a:graphic>
          <a:graphicData uri="http://schemas.openxmlformats.org/drawingml/2006/table">
            <a:tbl>
              <a:tblPr firstRow="1" bandRow="1">
                <a:tableStyleId>{5940675A-B579-460E-94D1-54222C63F5DA}</a:tableStyleId>
              </a:tblPr>
              <a:tblGrid>
                <a:gridCol w="8780206">
                  <a:extLst>
                    <a:ext uri="{9D8B030D-6E8A-4147-A177-3AD203B41FA5}">
                      <a16:colId xmlns:a16="http://schemas.microsoft.com/office/drawing/2014/main" val="3077971440"/>
                    </a:ext>
                  </a:extLst>
                </a:gridCol>
                <a:gridCol w="1649054">
                  <a:extLst>
                    <a:ext uri="{9D8B030D-6E8A-4147-A177-3AD203B41FA5}">
                      <a16:colId xmlns:a16="http://schemas.microsoft.com/office/drawing/2014/main" val="2731420000"/>
                    </a:ext>
                  </a:extLst>
                </a:gridCol>
              </a:tblGrid>
              <a:tr h="370840">
                <a:tc>
                  <a:txBody>
                    <a:bodyPr/>
                    <a:lstStyle/>
                    <a:p>
                      <a:pPr algn="just"/>
                      <a:r>
                        <a:rPr lang="en-US" sz="1600" b="1" dirty="0">
                          <a:solidFill>
                            <a:schemeClr val="tx1"/>
                          </a:solidFill>
                          <a:latin typeface="Bookman Old Style" panose="02050604050505020204" pitchFamily="18" charset="0"/>
                        </a:rPr>
                        <a:t>Unit-1 : </a:t>
                      </a:r>
                      <a:r>
                        <a:rPr lang="en-US" sz="1600" b="1" kern="1200" dirty="0">
                          <a:solidFill>
                            <a:schemeClr val="tx1"/>
                          </a:solidFill>
                          <a:latin typeface="Bookman Old Style" panose="02050604050505020204" pitchFamily="18" charset="0"/>
                          <a:ea typeface="+mn-ea"/>
                          <a:cs typeface="+mn-cs"/>
                        </a:rPr>
                        <a:t>Introduction</a:t>
                      </a:r>
                      <a:endParaRPr lang="en-IN" sz="1600" b="1" kern="1200" dirty="0">
                        <a:solidFill>
                          <a:schemeClr val="tx1"/>
                        </a:solidFill>
                        <a:latin typeface="Bookman Old Style" panose="02050604050505020204" pitchFamily="18" charset="0"/>
                        <a:ea typeface="+mn-ea"/>
                        <a:cs typeface="+mn-cs"/>
                      </a:endParaRPr>
                    </a:p>
                  </a:txBody>
                  <a:tcPr/>
                </a:tc>
                <a:tc>
                  <a:txBody>
                    <a:bodyPr/>
                    <a:lstStyle/>
                    <a:p>
                      <a:pPr algn="just"/>
                      <a:r>
                        <a:rPr lang="en-US" sz="1600" dirty="0">
                          <a:solidFill>
                            <a:schemeClr val="tx1"/>
                          </a:solidFill>
                          <a:latin typeface="Bookman Old Style" panose="02050604050505020204" pitchFamily="18" charset="0"/>
                        </a:rPr>
                        <a:t>Contact Hours</a:t>
                      </a:r>
                      <a:endParaRPr lang="en-IN" sz="1600" dirty="0">
                        <a:solidFill>
                          <a:schemeClr val="tx1"/>
                        </a:solidFill>
                        <a:latin typeface="Bookman Old Style" panose="02050604050505020204" pitchFamily="18" charset="0"/>
                      </a:endParaRPr>
                    </a:p>
                  </a:txBody>
                  <a:tcPr/>
                </a:tc>
                <a:extLst>
                  <a:ext uri="{0D108BD9-81ED-4DB2-BD59-A6C34878D82A}">
                    <a16:rowId xmlns:a16="http://schemas.microsoft.com/office/drawing/2014/main" val="3599347431"/>
                  </a:ext>
                </a:extLst>
              </a:tr>
              <a:tr h="370840">
                <a:tc>
                  <a:txBody>
                    <a:bodyPr/>
                    <a:lstStyle/>
                    <a:p>
                      <a:pPr algn="just"/>
                      <a:r>
                        <a:rPr lang="en-US" sz="1600" b="0" dirty="0">
                          <a:solidFill>
                            <a:schemeClr val="tx1"/>
                          </a:solidFill>
                          <a:latin typeface="Bookman Old Style" panose="02050604050505020204" pitchFamily="18" charset="0"/>
                        </a:rPr>
                        <a:t>Introduction: Artificial Intelligence, AI Problems, AI Techniques: supervised learning, unsupervised learning, and reinforcement learning, Different Types of Agents: Simple reflex agents, Model‐based reflex agents, Goal‐based agents and Utility‐based agents; Environment, Problem Space and Search, Defining the Problem as a State Space Search, Problem Characteristics.</a:t>
                      </a:r>
                    </a:p>
                    <a:p>
                      <a:pPr algn="just"/>
                      <a:endParaRPr lang="en-US" sz="1600" b="0" dirty="0">
                        <a:solidFill>
                          <a:schemeClr val="tx1"/>
                        </a:solidFill>
                        <a:latin typeface="Bookman Old Style" panose="02050604050505020204" pitchFamily="18" charset="0"/>
                      </a:endParaRPr>
                    </a:p>
                    <a:p>
                      <a:pPr algn="just"/>
                      <a:r>
                        <a:rPr lang="en-US" sz="1600" b="0" dirty="0">
                          <a:solidFill>
                            <a:schemeClr val="tx1"/>
                          </a:solidFill>
                          <a:latin typeface="Bookman Old Style" panose="02050604050505020204" pitchFamily="18" charset="0"/>
                        </a:rPr>
                        <a:t>Textbook 2: Chapter 1,2 </a:t>
                      </a:r>
                    </a:p>
                  </a:txBody>
                  <a:tcPr/>
                </a:tc>
                <a:tc>
                  <a:txBody>
                    <a:bodyPr/>
                    <a:lstStyle/>
                    <a:p>
                      <a:pPr algn="ctr"/>
                      <a:r>
                        <a:rPr lang="en-IN" sz="1600" dirty="0">
                          <a:solidFill>
                            <a:schemeClr val="tx1"/>
                          </a:solidFill>
                          <a:latin typeface="Bookman Old Style" panose="02050604050505020204" pitchFamily="18" charset="0"/>
                        </a:rPr>
                        <a:t>08 </a:t>
                      </a:r>
                    </a:p>
                  </a:txBody>
                  <a:tcPr/>
                </a:tc>
                <a:extLst>
                  <a:ext uri="{0D108BD9-81ED-4DB2-BD59-A6C34878D82A}">
                    <a16:rowId xmlns:a16="http://schemas.microsoft.com/office/drawing/2014/main" val="2188060862"/>
                  </a:ext>
                </a:extLst>
              </a:tr>
              <a:tr h="370840">
                <a:tc>
                  <a:txBody>
                    <a:bodyPr/>
                    <a:lstStyle/>
                    <a:p>
                      <a:pPr algn="just"/>
                      <a:r>
                        <a:rPr lang="en-US" sz="1600" b="1" dirty="0">
                          <a:solidFill>
                            <a:schemeClr val="tx1"/>
                          </a:solidFill>
                          <a:latin typeface="Bookman Old Style" panose="02050604050505020204" pitchFamily="18" charset="0"/>
                        </a:rPr>
                        <a:t>Unit</a:t>
                      </a:r>
                      <a:r>
                        <a:rPr lang="en-US" sz="1600" b="1" dirty="0">
                          <a:latin typeface="Bookman Old Style" panose="02050604050505020204" pitchFamily="18" charset="0"/>
                        </a:rPr>
                        <a:t> – 2 : Basic Search Techniques</a:t>
                      </a:r>
                      <a:endParaRPr lang="en-IN" sz="1600" b="1" dirty="0">
                        <a:solidFill>
                          <a:schemeClr val="tx1"/>
                        </a:solidFill>
                        <a:latin typeface="Bookman Old Style" panose="02050604050505020204" pitchFamily="18" charset="0"/>
                      </a:endParaRPr>
                    </a:p>
                  </a:txBody>
                  <a:tcPr/>
                </a:tc>
                <a:tc>
                  <a:txBody>
                    <a:bodyPr/>
                    <a:lstStyle/>
                    <a:p>
                      <a:pPr algn="ctr"/>
                      <a:endParaRPr lang="en-IN" sz="1600" dirty="0">
                        <a:solidFill>
                          <a:schemeClr val="tx1"/>
                        </a:solidFill>
                        <a:latin typeface="Bookman Old Style" panose="02050604050505020204" pitchFamily="18" charset="0"/>
                      </a:endParaRPr>
                    </a:p>
                  </a:txBody>
                  <a:tcPr/>
                </a:tc>
                <a:extLst>
                  <a:ext uri="{0D108BD9-81ED-4DB2-BD59-A6C34878D82A}">
                    <a16:rowId xmlns:a16="http://schemas.microsoft.com/office/drawing/2014/main" val="2936878504"/>
                  </a:ext>
                </a:extLst>
              </a:tr>
              <a:tr h="370840">
                <a:tc>
                  <a:txBody>
                    <a:bodyPr/>
                    <a:lstStyle/>
                    <a:p>
                      <a:pPr algn="just"/>
                      <a:r>
                        <a:rPr lang="en-US" sz="1600" b="0" dirty="0">
                          <a:latin typeface="Bookman Old Style" panose="02050604050505020204" pitchFamily="18" charset="0"/>
                        </a:rPr>
                        <a:t>Basic Search Techniques: Solving problems by searching; issues in the design of search programs; uniform search strategies: Breadth first search, Depth first search, Depth limited search, Bidirectional search, Best First search.</a:t>
                      </a:r>
                    </a:p>
                    <a:p>
                      <a:pPr algn="just"/>
                      <a:endParaRPr lang="en-US" sz="1600" b="0" dirty="0">
                        <a:latin typeface="Bookman Old Style" panose="02050604050505020204" pitchFamily="18" charset="0"/>
                      </a:endParaRPr>
                    </a:p>
                    <a:p>
                      <a:pPr algn="just"/>
                      <a:r>
                        <a:rPr lang="en-US" sz="1600" b="0" dirty="0">
                          <a:latin typeface="Bookman Old Style" panose="02050604050505020204" pitchFamily="18" charset="0"/>
                        </a:rPr>
                        <a:t>Textbook 3: Chapter 3, 4; Textbook 2: Chapter 2, 3</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1600" dirty="0">
                          <a:solidFill>
                            <a:schemeClr val="tx1"/>
                          </a:solidFill>
                          <a:latin typeface="Bookman Old Style" panose="02050604050505020204" pitchFamily="18" charset="0"/>
                        </a:rPr>
                        <a:t>08 </a:t>
                      </a:r>
                    </a:p>
                    <a:p>
                      <a:pPr algn="ctr"/>
                      <a:endParaRPr lang="en-IN" sz="1600" dirty="0">
                        <a:solidFill>
                          <a:schemeClr val="tx1"/>
                        </a:solidFill>
                        <a:latin typeface="Bookman Old Style" panose="02050604050505020204" pitchFamily="18" charset="0"/>
                      </a:endParaRPr>
                    </a:p>
                  </a:txBody>
                  <a:tcPr/>
                </a:tc>
                <a:extLst>
                  <a:ext uri="{0D108BD9-81ED-4DB2-BD59-A6C34878D82A}">
                    <a16:rowId xmlns:a16="http://schemas.microsoft.com/office/drawing/2014/main" val="981463336"/>
                  </a:ext>
                </a:extLst>
              </a:tr>
            </a:tbl>
          </a:graphicData>
        </a:graphic>
      </p:graphicFrame>
    </p:spTree>
    <p:extLst>
      <p:ext uri="{BB962C8B-B14F-4D97-AF65-F5344CB8AC3E}">
        <p14:creationId xmlns:p14="http://schemas.microsoft.com/office/powerpoint/2010/main" val="4125449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graphicFrame>
        <p:nvGraphicFramePr>
          <p:cNvPr id="8" name="Table 5">
            <a:extLst>
              <a:ext uri="{FF2B5EF4-FFF2-40B4-BE49-F238E27FC236}">
                <a16:creationId xmlns:a16="http://schemas.microsoft.com/office/drawing/2014/main" id="{DB16AB08-42E4-64C7-FAA8-76B41822E521}"/>
              </a:ext>
            </a:extLst>
          </p:cNvPr>
          <p:cNvGraphicFramePr>
            <a:graphicFrameLocks/>
          </p:cNvGraphicFramePr>
          <p:nvPr>
            <p:extLst>
              <p:ext uri="{D42A27DB-BD31-4B8C-83A1-F6EECF244321}">
                <p14:modId xmlns:p14="http://schemas.microsoft.com/office/powerpoint/2010/main" val="3503310905"/>
              </p:ext>
            </p:extLst>
          </p:nvPr>
        </p:nvGraphicFramePr>
        <p:xfrm>
          <a:off x="1576798" y="770057"/>
          <a:ext cx="10429260" cy="4582160"/>
        </p:xfrm>
        <a:graphic>
          <a:graphicData uri="http://schemas.openxmlformats.org/drawingml/2006/table">
            <a:tbl>
              <a:tblPr firstRow="1" bandRow="1">
                <a:tableStyleId>{5940675A-B579-460E-94D1-54222C63F5DA}</a:tableStyleId>
              </a:tblPr>
              <a:tblGrid>
                <a:gridCol w="8780206">
                  <a:extLst>
                    <a:ext uri="{9D8B030D-6E8A-4147-A177-3AD203B41FA5}">
                      <a16:colId xmlns:a16="http://schemas.microsoft.com/office/drawing/2014/main" val="3077971440"/>
                    </a:ext>
                  </a:extLst>
                </a:gridCol>
                <a:gridCol w="1649054">
                  <a:extLst>
                    <a:ext uri="{9D8B030D-6E8A-4147-A177-3AD203B41FA5}">
                      <a16:colId xmlns:a16="http://schemas.microsoft.com/office/drawing/2014/main" val="2731420000"/>
                    </a:ext>
                  </a:extLst>
                </a:gridCol>
              </a:tblGrid>
              <a:tr h="370840">
                <a:tc>
                  <a:txBody>
                    <a:bodyPr/>
                    <a:lstStyle/>
                    <a:p>
                      <a:pPr algn="just"/>
                      <a:r>
                        <a:rPr lang="en-US" sz="1600" b="1" dirty="0">
                          <a:solidFill>
                            <a:schemeClr val="tx1"/>
                          </a:solidFill>
                          <a:latin typeface="Bookman Old Style" panose="02050604050505020204" pitchFamily="18" charset="0"/>
                        </a:rPr>
                        <a:t>Unit-3 : Special Search Techniques &amp; Knowledge Representation</a:t>
                      </a:r>
                      <a:endParaRPr lang="en-IN" sz="1600" b="1" kern="1200" dirty="0">
                        <a:solidFill>
                          <a:schemeClr val="tx1"/>
                        </a:solidFill>
                        <a:latin typeface="Bookman Old Style" panose="02050604050505020204" pitchFamily="18" charset="0"/>
                        <a:ea typeface="+mn-ea"/>
                        <a:cs typeface="+mn-cs"/>
                      </a:endParaRPr>
                    </a:p>
                  </a:txBody>
                  <a:tcPr/>
                </a:tc>
                <a:tc>
                  <a:txBody>
                    <a:bodyPr/>
                    <a:lstStyle/>
                    <a:p>
                      <a:pPr algn="just"/>
                      <a:r>
                        <a:rPr lang="en-US" sz="1600" dirty="0">
                          <a:solidFill>
                            <a:schemeClr val="tx1"/>
                          </a:solidFill>
                          <a:latin typeface="Bookman Old Style" panose="02050604050505020204" pitchFamily="18" charset="0"/>
                        </a:rPr>
                        <a:t>Contact Hours</a:t>
                      </a:r>
                      <a:endParaRPr lang="en-IN" sz="1600" dirty="0">
                        <a:solidFill>
                          <a:schemeClr val="tx1"/>
                        </a:solidFill>
                        <a:latin typeface="Bookman Old Style" panose="02050604050505020204" pitchFamily="18" charset="0"/>
                      </a:endParaRPr>
                    </a:p>
                  </a:txBody>
                  <a:tcPr/>
                </a:tc>
                <a:extLst>
                  <a:ext uri="{0D108BD9-81ED-4DB2-BD59-A6C34878D82A}">
                    <a16:rowId xmlns:a16="http://schemas.microsoft.com/office/drawing/2014/main" val="3599347431"/>
                  </a:ext>
                </a:extLst>
              </a:tr>
              <a:tr h="370840">
                <a:tc>
                  <a:txBody>
                    <a:bodyPr/>
                    <a:lstStyle/>
                    <a:p>
                      <a:pPr algn="just"/>
                      <a:r>
                        <a:rPr lang="en-US" sz="1600" b="0" dirty="0">
                          <a:solidFill>
                            <a:schemeClr val="tx1"/>
                          </a:solidFill>
                          <a:latin typeface="Bookman Old Style" panose="02050604050505020204" pitchFamily="18" charset="0"/>
                        </a:rPr>
                        <a:t>Special Search Techniques: Heuristic Search, greedy best first search, A* search, AO*Algorithm, Hill climbing search, Simulated Annealing search, Adversarial search, Minimax search, Alpha, beta pruning, Genetic Algorithm. </a:t>
                      </a:r>
                    </a:p>
                    <a:p>
                      <a:pPr algn="just"/>
                      <a:endParaRPr lang="en-US" sz="1600" b="0" dirty="0">
                        <a:solidFill>
                          <a:schemeClr val="tx1"/>
                        </a:solidFill>
                        <a:latin typeface="Bookman Old Style" panose="02050604050505020204" pitchFamily="18" charset="0"/>
                      </a:endParaRPr>
                    </a:p>
                    <a:p>
                      <a:pPr algn="just"/>
                      <a:r>
                        <a:rPr lang="en-US" sz="1600" b="0" dirty="0">
                          <a:solidFill>
                            <a:schemeClr val="tx1"/>
                          </a:solidFill>
                          <a:latin typeface="Bookman Old Style" panose="02050604050505020204" pitchFamily="18" charset="0"/>
                        </a:rPr>
                        <a:t>Knowledge Representation: Procedural Vs Declarative Knowledge, Approaches to Knowledge Representation, Forward Vs Backward Reasoning.</a:t>
                      </a:r>
                    </a:p>
                    <a:p>
                      <a:pPr algn="just"/>
                      <a:endParaRPr lang="en-US" sz="1600" b="0" dirty="0">
                        <a:solidFill>
                          <a:schemeClr val="tx1"/>
                        </a:solidFill>
                        <a:latin typeface="Bookman Old Style" panose="02050604050505020204" pitchFamily="18" charset="0"/>
                      </a:endParaRPr>
                    </a:p>
                    <a:p>
                      <a:pPr algn="just"/>
                      <a:r>
                        <a:rPr lang="en-US" sz="1600" b="0" dirty="0">
                          <a:solidFill>
                            <a:schemeClr val="tx1"/>
                          </a:solidFill>
                          <a:latin typeface="Bookman Old Style" panose="02050604050505020204" pitchFamily="18" charset="0"/>
                        </a:rPr>
                        <a:t>Textbook 1: Chapter 5; Textbook 2: Chapter 3, 6 </a:t>
                      </a:r>
                    </a:p>
                  </a:txBody>
                  <a:tcPr/>
                </a:tc>
                <a:tc>
                  <a:txBody>
                    <a:bodyPr/>
                    <a:lstStyle/>
                    <a:p>
                      <a:pPr algn="ctr"/>
                      <a:r>
                        <a:rPr lang="en-IN" sz="1600" dirty="0">
                          <a:solidFill>
                            <a:schemeClr val="tx1"/>
                          </a:solidFill>
                          <a:latin typeface="Bookman Old Style" panose="02050604050505020204" pitchFamily="18" charset="0"/>
                        </a:rPr>
                        <a:t>08 </a:t>
                      </a:r>
                    </a:p>
                  </a:txBody>
                  <a:tcPr/>
                </a:tc>
                <a:extLst>
                  <a:ext uri="{0D108BD9-81ED-4DB2-BD59-A6C34878D82A}">
                    <a16:rowId xmlns:a16="http://schemas.microsoft.com/office/drawing/2014/main" val="2188060862"/>
                  </a:ext>
                </a:extLst>
              </a:tr>
              <a:tr h="370840">
                <a:tc>
                  <a:txBody>
                    <a:bodyPr/>
                    <a:lstStyle/>
                    <a:p>
                      <a:pPr algn="just"/>
                      <a:r>
                        <a:rPr lang="en-US" sz="1600" b="1" dirty="0">
                          <a:solidFill>
                            <a:schemeClr val="tx1"/>
                          </a:solidFill>
                          <a:latin typeface="Bookman Old Style" panose="02050604050505020204" pitchFamily="18" charset="0"/>
                        </a:rPr>
                        <a:t>Unit</a:t>
                      </a:r>
                      <a:r>
                        <a:rPr lang="en-US" sz="1600" b="1" dirty="0">
                          <a:latin typeface="Bookman Old Style" panose="02050604050505020204" pitchFamily="18" charset="0"/>
                        </a:rPr>
                        <a:t> – 4 : </a:t>
                      </a:r>
                      <a:r>
                        <a:rPr lang="en-US" sz="1600" b="1" kern="1200" dirty="0">
                          <a:solidFill>
                            <a:schemeClr val="tx1"/>
                          </a:solidFill>
                          <a:latin typeface="Bookman Old Style" panose="02050604050505020204" pitchFamily="18" charset="0"/>
                          <a:ea typeface="+mn-ea"/>
                          <a:cs typeface="+mn-cs"/>
                        </a:rPr>
                        <a:t>Symbolic Logic, Reasoning &amp; Statistical Reasoning</a:t>
                      </a:r>
                      <a:endParaRPr lang="en-IN" sz="1600" b="1" kern="1200" dirty="0">
                        <a:solidFill>
                          <a:schemeClr val="tx1"/>
                        </a:solidFill>
                        <a:latin typeface="Bookman Old Style" panose="02050604050505020204" pitchFamily="18" charset="0"/>
                        <a:ea typeface="+mn-ea"/>
                        <a:cs typeface="+mn-cs"/>
                      </a:endParaRPr>
                    </a:p>
                  </a:txBody>
                  <a:tcPr/>
                </a:tc>
                <a:tc>
                  <a:txBody>
                    <a:bodyPr/>
                    <a:lstStyle/>
                    <a:p>
                      <a:pPr algn="ctr"/>
                      <a:endParaRPr lang="en-IN" sz="1600" dirty="0">
                        <a:solidFill>
                          <a:schemeClr val="tx1"/>
                        </a:solidFill>
                        <a:latin typeface="Bookman Old Style" panose="02050604050505020204" pitchFamily="18" charset="0"/>
                      </a:endParaRPr>
                    </a:p>
                  </a:txBody>
                  <a:tcPr/>
                </a:tc>
                <a:extLst>
                  <a:ext uri="{0D108BD9-81ED-4DB2-BD59-A6C34878D82A}">
                    <a16:rowId xmlns:a16="http://schemas.microsoft.com/office/drawing/2014/main" val="2936878504"/>
                  </a:ext>
                </a:extLst>
              </a:tr>
              <a:tr h="370840">
                <a:tc>
                  <a:txBody>
                    <a:bodyPr/>
                    <a:lstStyle/>
                    <a:p>
                      <a:pPr algn="just"/>
                      <a:r>
                        <a:rPr lang="en-US" sz="1600" b="0" dirty="0">
                          <a:latin typeface="Bookman Old Style" panose="02050604050505020204" pitchFamily="18" charset="0"/>
                        </a:rPr>
                        <a:t>Symbolic Logic: Propositional Logic, First Order Predicate Logic: Representing Instance and isa Relationships.</a:t>
                      </a:r>
                    </a:p>
                    <a:p>
                      <a:pPr algn="just"/>
                      <a:r>
                        <a:rPr lang="en-US" sz="1600" b="0" dirty="0">
                          <a:latin typeface="Bookman Old Style" panose="02050604050505020204" pitchFamily="18" charset="0"/>
                        </a:rPr>
                        <a:t>Reasoning: Introduction to Monotonic Reasoning and Non-Monotonic Reasoning.</a:t>
                      </a:r>
                    </a:p>
                    <a:p>
                      <a:pPr algn="just"/>
                      <a:r>
                        <a:rPr lang="en-US" sz="1600" b="0" dirty="0">
                          <a:latin typeface="Bookman Old Style" panose="02050604050505020204" pitchFamily="18" charset="0"/>
                        </a:rPr>
                        <a:t>Statistical Reasoning: Bayes Theorem, Certainty Factors, Bayesian Networks, Dempster-Shafer Theory.</a:t>
                      </a:r>
                    </a:p>
                    <a:p>
                      <a:pPr algn="just"/>
                      <a:endParaRPr lang="en-US" sz="1600" b="0" dirty="0">
                        <a:latin typeface="Bookman Old Style" panose="02050604050505020204" pitchFamily="18" charset="0"/>
                      </a:endParaRPr>
                    </a:p>
                    <a:p>
                      <a:pPr algn="just"/>
                      <a:r>
                        <a:rPr lang="en-US" sz="1600" b="0" dirty="0">
                          <a:latin typeface="Bookman Old Style" panose="02050604050505020204" pitchFamily="18" charset="0"/>
                        </a:rPr>
                        <a:t>Textbook 2: Chapter 7,8 </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1600" dirty="0">
                          <a:solidFill>
                            <a:schemeClr val="tx1"/>
                          </a:solidFill>
                          <a:latin typeface="Bookman Old Style" panose="02050604050505020204" pitchFamily="18" charset="0"/>
                        </a:rPr>
                        <a:t>07</a:t>
                      </a:r>
                    </a:p>
                    <a:p>
                      <a:pPr algn="ctr"/>
                      <a:endParaRPr lang="en-IN" sz="1600" dirty="0">
                        <a:solidFill>
                          <a:schemeClr val="tx1"/>
                        </a:solidFill>
                        <a:latin typeface="Bookman Old Style" panose="02050604050505020204" pitchFamily="18" charset="0"/>
                      </a:endParaRPr>
                    </a:p>
                  </a:txBody>
                  <a:tcPr/>
                </a:tc>
                <a:extLst>
                  <a:ext uri="{0D108BD9-81ED-4DB2-BD59-A6C34878D82A}">
                    <a16:rowId xmlns:a16="http://schemas.microsoft.com/office/drawing/2014/main" val="981463336"/>
                  </a:ext>
                </a:extLst>
              </a:tr>
            </a:tbl>
          </a:graphicData>
        </a:graphic>
      </p:graphicFrame>
    </p:spTree>
    <p:extLst>
      <p:ext uri="{BB962C8B-B14F-4D97-AF65-F5344CB8AC3E}">
        <p14:creationId xmlns:p14="http://schemas.microsoft.com/office/powerpoint/2010/main" val="10428676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graphicFrame>
        <p:nvGraphicFramePr>
          <p:cNvPr id="8" name="Table 5">
            <a:extLst>
              <a:ext uri="{FF2B5EF4-FFF2-40B4-BE49-F238E27FC236}">
                <a16:creationId xmlns:a16="http://schemas.microsoft.com/office/drawing/2014/main" id="{16596985-9A1F-033C-B1C0-234167242DF6}"/>
              </a:ext>
            </a:extLst>
          </p:cNvPr>
          <p:cNvGraphicFramePr>
            <a:graphicFrameLocks/>
          </p:cNvGraphicFramePr>
          <p:nvPr>
            <p:extLst>
              <p:ext uri="{D42A27DB-BD31-4B8C-83A1-F6EECF244321}">
                <p14:modId xmlns:p14="http://schemas.microsoft.com/office/powerpoint/2010/main" val="947235635"/>
              </p:ext>
            </p:extLst>
          </p:nvPr>
        </p:nvGraphicFramePr>
        <p:xfrm>
          <a:off x="1448980" y="1139389"/>
          <a:ext cx="10429260" cy="1925320"/>
        </p:xfrm>
        <a:graphic>
          <a:graphicData uri="http://schemas.openxmlformats.org/drawingml/2006/table">
            <a:tbl>
              <a:tblPr firstRow="1" bandRow="1">
                <a:tableStyleId>{5940675A-B579-460E-94D1-54222C63F5DA}</a:tableStyleId>
              </a:tblPr>
              <a:tblGrid>
                <a:gridCol w="8780206">
                  <a:extLst>
                    <a:ext uri="{9D8B030D-6E8A-4147-A177-3AD203B41FA5}">
                      <a16:colId xmlns:a16="http://schemas.microsoft.com/office/drawing/2014/main" val="3077971440"/>
                    </a:ext>
                  </a:extLst>
                </a:gridCol>
                <a:gridCol w="1649054">
                  <a:extLst>
                    <a:ext uri="{9D8B030D-6E8A-4147-A177-3AD203B41FA5}">
                      <a16:colId xmlns:a16="http://schemas.microsoft.com/office/drawing/2014/main" val="2731420000"/>
                    </a:ext>
                  </a:extLst>
                </a:gridCol>
              </a:tblGrid>
              <a:tr h="370840">
                <a:tc>
                  <a:txBody>
                    <a:bodyPr/>
                    <a:lstStyle/>
                    <a:p>
                      <a:pPr algn="just"/>
                      <a:r>
                        <a:rPr lang="en-US" sz="1600" b="1" dirty="0">
                          <a:solidFill>
                            <a:schemeClr val="tx1"/>
                          </a:solidFill>
                          <a:latin typeface="Bookman Old Style" panose="02050604050505020204" pitchFamily="18" charset="0"/>
                        </a:rPr>
                        <a:t>Unit-5 : Experts Systems</a:t>
                      </a:r>
                      <a:endParaRPr lang="en-IN" sz="1600" b="1" kern="1200" dirty="0">
                        <a:solidFill>
                          <a:schemeClr val="tx1"/>
                        </a:solidFill>
                        <a:latin typeface="Bookman Old Style" panose="02050604050505020204" pitchFamily="18" charset="0"/>
                        <a:ea typeface="+mn-ea"/>
                        <a:cs typeface="+mn-cs"/>
                      </a:endParaRPr>
                    </a:p>
                  </a:txBody>
                  <a:tcPr/>
                </a:tc>
                <a:tc>
                  <a:txBody>
                    <a:bodyPr/>
                    <a:lstStyle/>
                    <a:p>
                      <a:pPr algn="just"/>
                      <a:r>
                        <a:rPr lang="en-US" sz="1600" dirty="0">
                          <a:solidFill>
                            <a:schemeClr val="tx1"/>
                          </a:solidFill>
                          <a:latin typeface="Bookman Old Style" panose="02050604050505020204" pitchFamily="18" charset="0"/>
                        </a:rPr>
                        <a:t>Contact Hours</a:t>
                      </a:r>
                      <a:endParaRPr lang="en-IN" sz="1600" dirty="0">
                        <a:solidFill>
                          <a:schemeClr val="tx1"/>
                        </a:solidFill>
                        <a:latin typeface="Bookman Old Style" panose="02050604050505020204" pitchFamily="18" charset="0"/>
                      </a:endParaRPr>
                    </a:p>
                  </a:txBody>
                  <a:tcPr/>
                </a:tc>
                <a:extLst>
                  <a:ext uri="{0D108BD9-81ED-4DB2-BD59-A6C34878D82A}">
                    <a16:rowId xmlns:a16="http://schemas.microsoft.com/office/drawing/2014/main" val="3599347431"/>
                  </a:ext>
                </a:extLst>
              </a:tr>
              <a:tr h="370840">
                <a:tc>
                  <a:txBody>
                    <a:bodyPr/>
                    <a:lstStyle/>
                    <a:p>
                      <a:pPr algn="just"/>
                      <a:r>
                        <a:rPr lang="en-US" sz="1600" b="0" dirty="0">
                          <a:solidFill>
                            <a:schemeClr val="tx1"/>
                          </a:solidFill>
                          <a:latin typeface="Bookman Old Style" panose="02050604050505020204" pitchFamily="18" charset="0"/>
                        </a:rPr>
                        <a:t>Experts Systems: Overview of an Expert System, Structure of an Expert Systems, Different Types of Expert Systems: Rule Based, Model Based, Case Based and Hybrid Expert Systems, Knowledge Building System Tools, Expert System Shells and Fuzzy Expert systems. </a:t>
                      </a:r>
                    </a:p>
                    <a:p>
                      <a:pPr algn="just"/>
                      <a:endParaRPr lang="en-US" sz="1600" b="0" dirty="0">
                        <a:solidFill>
                          <a:schemeClr val="tx1"/>
                        </a:solidFill>
                        <a:latin typeface="Bookman Old Style" panose="02050604050505020204" pitchFamily="18" charset="0"/>
                      </a:endParaRPr>
                    </a:p>
                    <a:p>
                      <a:pPr algn="just"/>
                      <a:r>
                        <a:rPr lang="en-US" sz="1600" b="0" dirty="0">
                          <a:solidFill>
                            <a:schemeClr val="tx1"/>
                          </a:solidFill>
                          <a:latin typeface="Bookman Old Style" panose="02050604050505020204" pitchFamily="18" charset="0"/>
                        </a:rPr>
                        <a:t>Textbook 1: Chapter 8,9; Textbook 2: Chapter 20,22</a:t>
                      </a:r>
                    </a:p>
                  </a:txBody>
                  <a:tcPr/>
                </a:tc>
                <a:tc>
                  <a:txBody>
                    <a:bodyPr/>
                    <a:lstStyle/>
                    <a:p>
                      <a:pPr algn="ctr"/>
                      <a:r>
                        <a:rPr lang="en-IN" sz="1600" dirty="0">
                          <a:solidFill>
                            <a:schemeClr val="tx1"/>
                          </a:solidFill>
                          <a:latin typeface="Bookman Old Style" panose="02050604050505020204" pitchFamily="18" charset="0"/>
                        </a:rPr>
                        <a:t>08 </a:t>
                      </a:r>
                    </a:p>
                  </a:txBody>
                  <a:tcPr/>
                </a:tc>
                <a:extLst>
                  <a:ext uri="{0D108BD9-81ED-4DB2-BD59-A6C34878D82A}">
                    <a16:rowId xmlns:a16="http://schemas.microsoft.com/office/drawing/2014/main" val="2188060862"/>
                  </a:ext>
                </a:extLst>
              </a:tr>
            </a:tbl>
          </a:graphicData>
        </a:graphic>
      </p:graphicFrame>
      <p:graphicFrame>
        <p:nvGraphicFramePr>
          <p:cNvPr id="2" name="Table 2">
            <a:extLst>
              <a:ext uri="{FF2B5EF4-FFF2-40B4-BE49-F238E27FC236}">
                <a16:creationId xmlns:a16="http://schemas.microsoft.com/office/drawing/2014/main" id="{7F1B4FF6-5C3C-93E2-41B0-F50B596D0714}"/>
              </a:ext>
            </a:extLst>
          </p:cNvPr>
          <p:cNvGraphicFramePr>
            <a:graphicFrameLocks noGrp="1"/>
          </p:cNvGraphicFramePr>
          <p:nvPr>
            <p:extLst>
              <p:ext uri="{D42A27DB-BD31-4B8C-83A1-F6EECF244321}">
                <p14:modId xmlns:p14="http://schemas.microsoft.com/office/powerpoint/2010/main" val="3277040022"/>
              </p:ext>
            </p:extLst>
          </p:nvPr>
        </p:nvGraphicFramePr>
        <p:xfrm>
          <a:off x="3718517" y="3416709"/>
          <a:ext cx="4235779" cy="2492478"/>
        </p:xfrm>
        <a:graphic>
          <a:graphicData uri="http://schemas.openxmlformats.org/drawingml/2006/table">
            <a:tbl>
              <a:tblPr firstRow="1" bandRow="1">
                <a:tableStyleId>{5C22544A-7EE6-4342-B048-85BDC9FD1C3A}</a:tableStyleId>
              </a:tblPr>
              <a:tblGrid>
                <a:gridCol w="1308925">
                  <a:extLst>
                    <a:ext uri="{9D8B030D-6E8A-4147-A177-3AD203B41FA5}">
                      <a16:colId xmlns:a16="http://schemas.microsoft.com/office/drawing/2014/main" val="3482328546"/>
                    </a:ext>
                  </a:extLst>
                </a:gridCol>
                <a:gridCol w="2926854">
                  <a:extLst>
                    <a:ext uri="{9D8B030D-6E8A-4147-A177-3AD203B41FA5}">
                      <a16:colId xmlns:a16="http://schemas.microsoft.com/office/drawing/2014/main" val="1324315542"/>
                    </a:ext>
                  </a:extLst>
                </a:gridCol>
              </a:tblGrid>
              <a:tr h="415413">
                <a:tc>
                  <a:txBody>
                    <a:bodyPr/>
                    <a:lstStyle/>
                    <a:p>
                      <a:r>
                        <a:rPr lang="en-US" b="1" dirty="0"/>
                        <a:t>Unit</a:t>
                      </a:r>
                    </a:p>
                  </a:txBody>
                  <a:tcPr/>
                </a:tc>
                <a:tc>
                  <a:txBody>
                    <a:bodyPr/>
                    <a:lstStyle/>
                    <a:p>
                      <a:r>
                        <a:rPr lang="en-US" b="1" dirty="0"/>
                        <a:t>CO-Mapping</a:t>
                      </a:r>
                    </a:p>
                  </a:txBody>
                  <a:tcPr/>
                </a:tc>
                <a:extLst>
                  <a:ext uri="{0D108BD9-81ED-4DB2-BD59-A6C34878D82A}">
                    <a16:rowId xmlns:a16="http://schemas.microsoft.com/office/drawing/2014/main" val="230168504"/>
                  </a:ext>
                </a:extLst>
              </a:tr>
              <a:tr h="415413">
                <a:tc>
                  <a:txBody>
                    <a:bodyPr/>
                    <a:lstStyle/>
                    <a:p>
                      <a:r>
                        <a:rPr lang="en-US" sz="1800" b="1" dirty="0">
                          <a:solidFill>
                            <a:schemeClr val="tx1"/>
                          </a:solidFill>
                          <a:latin typeface="Bookman Old Style" panose="02050604050505020204" pitchFamily="18" charset="0"/>
                        </a:rPr>
                        <a:t>Unit1</a:t>
                      </a:r>
                      <a:endParaRPr lang="en-US" b="1" dirty="0"/>
                    </a:p>
                  </a:txBody>
                  <a:tcPr/>
                </a:tc>
                <a:tc>
                  <a:txBody>
                    <a:bodyPr/>
                    <a:lstStyle/>
                    <a:p>
                      <a:r>
                        <a:rPr lang="en-US" b="1" dirty="0"/>
                        <a:t>CO1</a:t>
                      </a:r>
                    </a:p>
                  </a:txBody>
                  <a:tcPr/>
                </a:tc>
                <a:extLst>
                  <a:ext uri="{0D108BD9-81ED-4DB2-BD59-A6C34878D82A}">
                    <a16:rowId xmlns:a16="http://schemas.microsoft.com/office/drawing/2014/main" val="1221252904"/>
                  </a:ext>
                </a:extLst>
              </a:tr>
              <a:tr h="415413">
                <a:tc>
                  <a:txBody>
                    <a:bodyPr/>
                    <a:lstStyle/>
                    <a:p>
                      <a:r>
                        <a:rPr kumimoji="0" lang="en-US" sz="1600" b="1"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Unit2</a:t>
                      </a:r>
                      <a:endParaRPr lang="en-US" b="1" dirty="0"/>
                    </a:p>
                  </a:txBody>
                  <a:tcPr/>
                </a:tc>
                <a:tc>
                  <a:txBody>
                    <a:bodyPr/>
                    <a:lstStyle/>
                    <a:p>
                      <a:r>
                        <a:rPr lang="en-US" b="1" dirty="0"/>
                        <a:t>CO2</a:t>
                      </a:r>
                    </a:p>
                  </a:txBody>
                  <a:tcPr/>
                </a:tc>
                <a:extLst>
                  <a:ext uri="{0D108BD9-81ED-4DB2-BD59-A6C34878D82A}">
                    <a16:rowId xmlns:a16="http://schemas.microsoft.com/office/drawing/2014/main" val="15062801"/>
                  </a:ext>
                </a:extLst>
              </a:tr>
              <a:tr h="415413">
                <a:tc>
                  <a:txBody>
                    <a:bodyPr/>
                    <a:lstStyle/>
                    <a:p>
                      <a:r>
                        <a:rPr kumimoji="0" lang="en-US" sz="1600" b="1"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Unit3</a:t>
                      </a:r>
                      <a:endParaRPr lang="en-US" b="1" dirty="0"/>
                    </a:p>
                  </a:txBody>
                  <a:tcPr/>
                </a:tc>
                <a:tc>
                  <a:txBody>
                    <a:bodyPr/>
                    <a:lstStyle/>
                    <a:p>
                      <a:r>
                        <a:rPr lang="en-US" b="1" dirty="0"/>
                        <a:t>CO2</a:t>
                      </a:r>
                    </a:p>
                  </a:txBody>
                  <a:tcPr/>
                </a:tc>
                <a:extLst>
                  <a:ext uri="{0D108BD9-81ED-4DB2-BD59-A6C34878D82A}">
                    <a16:rowId xmlns:a16="http://schemas.microsoft.com/office/drawing/2014/main" val="3245604561"/>
                  </a:ext>
                </a:extLst>
              </a:tr>
              <a:tr h="415413">
                <a:tc>
                  <a:txBody>
                    <a:bodyPr/>
                    <a:lstStyle/>
                    <a:p>
                      <a:r>
                        <a:rPr kumimoji="0" lang="en-US" sz="1600" b="1"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Unit4</a:t>
                      </a:r>
                      <a:endParaRPr lang="en-US" b="1" dirty="0"/>
                    </a:p>
                  </a:txBody>
                  <a:tcPr/>
                </a:tc>
                <a:tc>
                  <a:txBody>
                    <a:bodyPr/>
                    <a:lstStyle/>
                    <a:p>
                      <a:r>
                        <a:rPr lang="en-US" b="1" dirty="0"/>
                        <a:t>CO3</a:t>
                      </a:r>
                    </a:p>
                  </a:txBody>
                  <a:tcPr/>
                </a:tc>
                <a:extLst>
                  <a:ext uri="{0D108BD9-81ED-4DB2-BD59-A6C34878D82A}">
                    <a16:rowId xmlns:a16="http://schemas.microsoft.com/office/drawing/2014/main" val="3020042688"/>
                  </a:ext>
                </a:extLst>
              </a:tr>
              <a:tr h="415413">
                <a:tc>
                  <a:txBody>
                    <a:bodyPr/>
                    <a:lstStyle/>
                    <a:p>
                      <a:r>
                        <a:rPr kumimoji="0" lang="en-US" sz="1600" b="1" i="0" u="none" strike="noStrike" kern="1200" cap="none" spc="0" normalizeH="0" baseline="0" noProof="0" dirty="0">
                          <a:ln>
                            <a:noFill/>
                          </a:ln>
                          <a:solidFill>
                            <a:prstClr val="black"/>
                          </a:solidFill>
                          <a:effectLst/>
                          <a:uLnTx/>
                          <a:uFillTx/>
                          <a:latin typeface="Bookman Old Style" panose="02050604050505020204" pitchFamily="18" charset="0"/>
                          <a:ea typeface="+mn-ea"/>
                          <a:cs typeface="+mn-cs"/>
                        </a:rPr>
                        <a:t>Unit5</a:t>
                      </a:r>
                      <a:endParaRPr lang="en-US" b="1" dirty="0"/>
                    </a:p>
                  </a:txBody>
                  <a:tcPr/>
                </a:tc>
                <a:tc>
                  <a:txBody>
                    <a:bodyPr/>
                    <a:lstStyle/>
                    <a:p>
                      <a:r>
                        <a:rPr lang="en-US" b="1" dirty="0"/>
                        <a:t>CO4 &amp; CO5</a:t>
                      </a:r>
                    </a:p>
                  </a:txBody>
                  <a:tcPr/>
                </a:tc>
                <a:extLst>
                  <a:ext uri="{0D108BD9-81ED-4DB2-BD59-A6C34878D82A}">
                    <a16:rowId xmlns:a16="http://schemas.microsoft.com/office/drawing/2014/main" val="95544261"/>
                  </a:ext>
                </a:extLst>
              </a:tr>
            </a:tbl>
          </a:graphicData>
        </a:graphic>
      </p:graphicFrame>
    </p:spTree>
    <p:extLst>
      <p:ext uri="{BB962C8B-B14F-4D97-AF65-F5344CB8AC3E}">
        <p14:creationId xmlns:p14="http://schemas.microsoft.com/office/powerpoint/2010/main" val="13495188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676302" y="240652"/>
            <a:ext cx="8911687" cy="1280890"/>
          </a:xfrm>
        </p:spPr>
        <p:txBody>
          <a:bodyPr/>
          <a:lstStyle/>
          <a:p>
            <a:r>
              <a:rPr lang="en-US" b="0" i="0" cap="all" dirty="0">
                <a:solidFill>
                  <a:srgbClr val="000000"/>
                </a:solidFill>
                <a:effectLst/>
                <a:latin typeface="Rockwell" panose="02060603020205020403" pitchFamily="18" charset="0"/>
              </a:rPr>
              <a:t>PEO'S</a:t>
            </a:r>
            <a:br>
              <a:rPr lang="en-US" b="0" i="0" cap="all" dirty="0">
                <a:solidFill>
                  <a:srgbClr val="000000"/>
                </a:solidFill>
                <a:effectLst/>
                <a:latin typeface="Rockwell" panose="02060603020205020403" pitchFamily="18" charset="0"/>
              </a:rPr>
            </a:b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3401962"/>
          </a:xfrm>
        </p:spPr>
        <p:txBody>
          <a:bodyPr/>
          <a:lstStyle/>
          <a:p>
            <a:pPr algn="just">
              <a:buFont typeface="Arial" panose="020B0604020202020204" pitchFamily="34" charset="0"/>
              <a:buChar char="•"/>
            </a:pPr>
            <a:r>
              <a:rPr lang="en-US" b="1" i="0" dirty="0">
                <a:solidFill>
                  <a:srgbClr val="3C3939"/>
                </a:solidFill>
                <a:effectLst/>
                <a:latin typeface="Bookman Old Style" panose="02050604050505020204" pitchFamily="18" charset="0"/>
              </a:rPr>
              <a:t>PEO1.</a:t>
            </a:r>
            <a:r>
              <a:rPr lang="en-US" b="0" i="0" dirty="0">
                <a:solidFill>
                  <a:srgbClr val="3C3939"/>
                </a:solidFill>
                <a:effectLst/>
                <a:latin typeface="Bookman Old Style" panose="02050604050505020204" pitchFamily="18" charset="0"/>
              </a:rPr>
              <a:t> Promote design, research, product implementation and services in the field of Artificial Intelligence Engineering through strong technical, communication and entrepreneurial skills</a:t>
            </a:r>
          </a:p>
          <a:p>
            <a:pPr algn="just">
              <a:buFont typeface="Arial" panose="020B0604020202020204" pitchFamily="34" charset="0"/>
              <a:buChar char="•"/>
            </a:pPr>
            <a:r>
              <a:rPr lang="en-US" b="1" i="0" dirty="0">
                <a:solidFill>
                  <a:srgbClr val="3C3939"/>
                </a:solidFill>
                <a:effectLst/>
                <a:latin typeface="Bookman Old Style" panose="02050604050505020204" pitchFamily="18" charset="0"/>
              </a:rPr>
              <a:t>PEO2.</a:t>
            </a:r>
            <a:r>
              <a:rPr lang="en-US" b="0" i="0" dirty="0">
                <a:solidFill>
                  <a:srgbClr val="3C3939"/>
                </a:solidFill>
                <a:effectLst/>
                <a:latin typeface="Bookman Old Style" panose="02050604050505020204" pitchFamily="18" charset="0"/>
              </a:rPr>
              <a:t> Engage to work productively as design and development Engineers, cater to supportive and leadership roles in multidisciplinary domains.</a:t>
            </a:r>
          </a:p>
          <a:p>
            <a:pPr algn="just">
              <a:buFont typeface="Arial" panose="020B0604020202020204" pitchFamily="34" charset="0"/>
              <a:buChar char="•"/>
            </a:pPr>
            <a:r>
              <a:rPr lang="en-US" b="1" i="0" dirty="0">
                <a:solidFill>
                  <a:srgbClr val="3C3939"/>
                </a:solidFill>
                <a:effectLst/>
                <a:latin typeface="Bookman Old Style" panose="02050604050505020204" pitchFamily="18" charset="0"/>
              </a:rPr>
              <a:t>PEO3.</a:t>
            </a:r>
            <a:r>
              <a:rPr lang="en-US" b="0" i="0" dirty="0">
                <a:solidFill>
                  <a:srgbClr val="3C3939"/>
                </a:solidFill>
                <a:effectLst/>
                <a:latin typeface="Bookman Old Style" panose="02050604050505020204" pitchFamily="18" charset="0"/>
              </a:rPr>
              <a:t> Learn and advance their careers by attaining professional certification and seeking higher education.</a:t>
            </a:r>
          </a:p>
          <a:p>
            <a:pPr algn="just">
              <a:buFont typeface="Arial" panose="020B0604020202020204" pitchFamily="34" charset="0"/>
              <a:buChar char="•"/>
            </a:pPr>
            <a:r>
              <a:rPr lang="en-US" b="1" i="0" dirty="0">
                <a:solidFill>
                  <a:srgbClr val="3C3939"/>
                </a:solidFill>
                <a:effectLst/>
                <a:latin typeface="Bookman Old Style" panose="02050604050505020204" pitchFamily="18" charset="0"/>
              </a:rPr>
              <a:t>PEO4.</a:t>
            </a:r>
            <a:r>
              <a:rPr lang="en-US" b="0" i="0" dirty="0">
                <a:solidFill>
                  <a:srgbClr val="3C3939"/>
                </a:solidFill>
                <a:effectLst/>
                <a:latin typeface="Bookman Old Style" panose="02050604050505020204" pitchFamily="18" charset="0"/>
              </a:rPr>
              <a:t> Possess skill in AI &amp; ML expertise ready to serve the society locally and internationally</a:t>
            </a:r>
          </a:p>
          <a:p>
            <a:endParaRPr lang="en-US" dirty="0">
              <a:latin typeface="Bookman Old Style" panose="02050604050505020204" pitchFamily="18" charset="0"/>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706406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676302" y="240652"/>
            <a:ext cx="8911687" cy="1280890"/>
          </a:xfrm>
        </p:spPr>
        <p:txBody>
          <a:bodyPr/>
          <a:lstStyle/>
          <a:p>
            <a:r>
              <a:rPr lang="en-US" b="0" i="0" cap="all" dirty="0">
                <a:solidFill>
                  <a:srgbClr val="000000"/>
                </a:solidFill>
                <a:effectLst/>
                <a:latin typeface="Rockwell" panose="02060603020205020403" pitchFamily="18" charset="0"/>
              </a:rPr>
              <a:t>PO'S</a:t>
            </a: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259107" y="1269031"/>
            <a:ext cx="10334573" cy="4319937"/>
          </a:xfrm>
        </p:spPr>
        <p:txBody>
          <a:bodyPr>
            <a:normAutofit fontScale="92500" lnSpcReduction="10000"/>
          </a:bodyPr>
          <a:lstStyle/>
          <a:p>
            <a:r>
              <a:rPr lang="en-US" dirty="0"/>
              <a:t>PO1. Engineering knowledge </a:t>
            </a:r>
          </a:p>
          <a:p>
            <a:r>
              <a:rPr lang="en-US" dirty="0"/>
              <a:t>PO2. Problem analysis </a:t>
            </a:r>
          </a:p>
          <a:p>
            <a:r>
              <a:rPr lang="en-US" dirty="0"/>
              <a:t>PO3. Design/development of solutions </a:t>
            </a:r>
          </a:p>
          <a:p>
            <a:r>
              <a:rPr lang="en-US" dirty="0"/>
              <a:t>PO4. Conduct investigations of complex problems</a:t>
            </a:r>
          </a:p>
          <a:p>
            <a:r>
              <a:rPr lang="en-US" dirty="0"/>
              <a:t>PO5. Modern tool usage</a:t>
            </a:r>
          </a:p>
          <a:p>
            <a:r>
              <a:rPr lang="en-US" dirty="0"/>
              <a:t>PO6. The engineer and society</a:t>
            </a:r>
          </a:p>
          <a:p>
            <a:r>
              <a:rPr lang="en-US" dirty="0"/>
              <a:t>PO7. Environment and sustainability</a:t>
            </a:r>
          </a:p>
          <a:p>
            <a:r>
              <a:rPr lang="en-US" dirty="0"/>
              <a:t>PO8. Ethics</a:t>
            </a:r>
          </a:p>
          <a:p>
            <a:r>
              <a:rPr lang="en-US" dirty="0"/>
              <a:t>PO9. Individual and team work</a:t>
            </a:r>
          </a:p>
          <a:p>
            <a:r>
              <a:rPr lang="en-US" dirty="0"/>
              <a:t>PO10. Communication</a:t>
            </a:r>
          </a:p>
          <a:p>
            <a:r>
              <a:rPr lang="en-US" dirty="0"/>
              <a:t>PO11. Project management and finance</a:t>
            </a:r>
          </a:p>
          <a:p>
            <a:r>
              <a:rPr lang="en-US" dirty="0"/>
              <a:t>PO12. Life-long learning</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1381380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676302" y="240652"/>
            <a:ext cx="8911687" cy="1280890"/>
          </a:xfrm>
        </p:spPr>
        <p:txBody>
          <a:bodyPr/>
          <a:lstStyle/>
          <a:p>
            <a:r>
              <a:rPr lang="en-US" b="0" i="0" cap="all" dirty="0">
                <a:solidFill>
                  <a:srgbClr val="000000"/>
                </a:solidFill>
                <a:effectLst/>
                <a:latin typeface="Rockwell" panose="02060603020205020403" pitchFamily="18" charset="0"/>
              </a:rPr>
              <a:t>PSO'S</a:t>
            </a: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259107" y="1521542"/>
            <a:ext cx="10334573" cy="3401962"/>
          </a:xfrm>
        </p:spPr>
        <p:txBody>
          <a:bodyPr/>
          <a:lstStyle/>
          <a:p>
            <a:pPr algn="just">
              <a:buFont typeface="Arial" panose="020B0604020202020204" pitchFamily="34" charset="0"/>
              <a:buChar char="•"/>
            </a:pPr>
            <a:r>
              <a:rPr lang="en-US" b="1" i="0" dirty="0">
                <a:solidFill>
                  <a:srgbClr val="3C3939"/>
                </a:solidFill>
                <a:effectLst/>
                <a:latin typeface="Source Sans Pro" panose="020B0503030403020204" pitchFamily="34" charset="0"/>
              </a:rPr>
              <a:t>PSO1.</a:t>
            </a:r>
            <a:r>
              <a:rPr lang="en-US" b="0" i="0" dirty="0">
                <a:solidFill>
                  <a:srgbClr val="3C3939"/>
                </a:solidFill>
                <a:effectLst/>
                <a:latin typeface="Source Sans Pro" panose="020B0503030403020204" pitchFamily="34" charset="0"/>
              </a:rPr>
              <a:t> Apply the principal concepts of AI Engineering to design, develop, deploy and prototype AI Subsystems</a:t>
            </a:r>
          </a:p>
          <a:p>
            <a:pPr algn="just">
              <a:buFont typeface="Arial" panose="020B0604020202020204" pitchFamily="34" charset="0"/>
              <a:buChar char="•"/>
            </a:pPr>
            <a:r>
              <a:rPr lang="en-US" b="1" i="0" dirty="0">
                <a:solidFill>
                  <a:srgbClr val="3C3939"/>
                </a:solidFill>
                <a:effectLst/>
                <a:latin typeface="Source Sans Pro" panose="020B0503030403020204" pitchFamily="34" charset="0"/>
              </a:rPr>
              <a:t>PSO2.</a:t>
            </a:r>
            <a:r>
              <a:rPr lang="en-US" b="0" i="0" dirty="0">
                <a:solidFill>
                  <a:srgbClr val="3C3939"/>
                </a:solidFill>
                <a:effectLst/>
                <a:latin typeface="Source Sans Pro" panose="020B0503030403020204" pitchFamily="34" charset="0"/>
              </a:rPr>
              <a:t> Apply the knowledge gained pertaining to data storage, data analytics and AI concepts to solve real world business problems.</a:t>
            </a:r>
          </a:p>
          <a:p>
            <a:pPr algn="just">
              <a:buFont typeface="Arial" panose="020B0604020202020204" pitchFamily="34" charset="0"/>
              <a:buChar char="•"/>
            </a:pPr>
            <a:r>
              <a:rPr lang="en-US" b="1" i="0" dirty="0">
                <a:solidFill>
                  <a:srgbClr val="3C3939"/>
                </a:solidFill>
                <a:effectLst/>
                <a:latin typeface="Source Sans Pro" panose="020B0503030403020204" pitchFamily="34" charset="0"/>
              </a:rPr>
              <a:t>PSO3.</a:t>
            </a:r>
            <a:r>
              <a:rPr lang="en-US" b="0" i="0" dirty="0">
                <a:solidFill>
                  <a:srgbClr val="3C3939"/>
                </a:solidFill>
                <a:effectLst/>
                <a:latin typeface="Source Sans Pro" panose="020B0503030403020204" pitchFamily="34" charset="0"/>
              </a:rPr>
              <a:t> Apply, </a:t>
            </a:r>
            <a:r>
              <a:rPr lang="en-US" b="0" i="0" dirty="0" err="1">
                <a:solidFill>
                  <a:srgbClr val="3C3939"/>
                </a:solidFill>
                <a:effectLst/>
                <a:latin typeface="Source Sans Pro" panose="020B0503030403020204" pitchFamily="34" charset="0"/>
              </a:rPr>
              <a:t>analyse</a:t>
            </a:r>
            <a:r>
              <a:rPr lang="en-US" b="0" i="0" dirty="0">
                <a:solidFill>
                  <a:srgbClr val="3C3939"/>
                </a:solidFill>
                <a:effectLst/>
                <a:latin typeface="Source Sans Pro" panose="020B0503030403020204" pitchFamily="34" charset="0"/>
              </a:rPr>
              <a:t>, design, develop, and test principles of AI concepts on Intelligent Systems</a:t>
            </a:r>
          </a:p>
          <a:p>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17433441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graphicFrame>
        <p:nvGraphicFramePr>
          <p:cNvPr id="8" name="Table 7">
            <a:extLst>
              <a:ext uri="{FF2B5EF4-FFF2-40B4-BE49-F238E27FC236}">
                <a16:creationId xmlns:a16="http://schemas.microsoft.com/office/drawing/2014/main" id="{5E318B87-B129-FBB0-D12E-0B441B616693}"/>
              </a:ext>
            </a:extLst>
          </p:cNvPr>
          <p:cNvGraphicFramePr>
            <a:graphicFrameLocks noGrp="1"/>
          </p:cNvGraphicFramePr>
          <p:nvPr>
            <p:extLst>
              <p:ext uri="{D42A27DB-BD31-4B8C-83A1-F6EECF244321}">
                <p14:modId xmlns:p14="http://schemas.microsoft.com/office/powerpoint/2010/main" val="1330402325"/>
              </p:ext>
            </p:extLst>
          </p:nvPr>
        </p:nvGraphicFramePr>
        <p:xfrm>
          <a:off x="1505109" y="645671"/>
          <a:ext cx="9998633" cy="5442272"/>
        </p:xfrm>
        <a:graphic>
          <a:graphicData uri="http://schemas.openxmlformats.org/drawingml/2006/table">
            <a:tbl>
              <a:tblPr bandRow="1">
                <a:tableStyleId>{5C22544A-7EE6-4342-B048-85BDC9FD1C3A}</a:tableStyleId>
              </a:tblPr>
              <a:tblGrid>
                <a:gridCol w="566478">
                  <a:extLst>
                    <a:ext uri="{9D8B030D-6E8A-4147-A177-3AD203B41FA5}">
                      <a16:colId xmlns:a16="http://schemas.microsoft.com/office/drawing/2014/main" val="2841301817"/>
                    </a:ext>
                  </a:extLst>
                </a:gridCol>
                <a:gridCol w="692466">
                  <a:extLst>
                    <a:ext uri="{9D8B030D-6E8A-4147-A177-3AD203B41FA5}">
                      <a16:colId xmlns:a16="http://schemas.microsoft.com/office/drawing/2014/main" val="3617592628"/>
                    </a:ext>
                  </a:extLst>
                </a:gridCol>
                <a:gridCol w="497005">
                  <a:extLst>
                    <a:ext uri="{9D8B030D-6E8A-4147-A177-3AD203B41FA5}">
                      <a16:colId xmlns:a16="http://schemas.microsoft.com/office/drawing/2014/main" val="3311449518"/>
                    </a:ext>
                  </a:extLst>
                </a:gridCol>
                <a:gridCol w="455536">
                  <a:extLst>
                    <a:ext uri="{9D8B030D-6E8A-4147-A177-3AD203B41FA5}">
                      <a16:colId xmlns:a16="http://schemas.microsoft.com/office/drawing/2014/main" val="3867863272"/>
                    </a:ext>
                  </a:extLst>
                </a:gridCol>
                <a:gridCol w="747251">
                  <a:extLst>
                    <a:ext uri="{9D8B030D-6E8A-4147-A177-3AD203B41FA5}">
                      <a16:colId xmlns:a16="http://schemas.microsoft.com/office/drawing/2014/main" val="1235751164"/>
                    </a:ext>
                  </a:extLst>
                </a:gridCol>
                <a:gridCol w="314632">
                  <a:extLst>
                    <a:ext uri="{9D8B030D-6E8A-4147-A177-3AD203B41FA5}">
                      <a16:colId xmlns:a16="http://schemas.microsoft.com/office/drawing/2014/main" val="3675751306"/>
                    </a:ext>
                  </a:extLst>
                </a:gridCol>
                <a:gridCol w="651034">
                  <a:extLst>
                    <a:ext uri="{9D8B030D-6E8A-4147-A177-3AD203B41FA5}">
                      <a16:colId xmlns:a16="http://schemas.microsoft.com/office/drawing/2014/main" val="2780390034"/>
                    </a:ext>
                  </a:extLst>
                </a:gridCol>
                <a:gridCol w="497005">
                  <a:extLst>
                    <a:ext uri="{9D8B030D-6E8A-4147-A177-3AD203B41FA5}">
                      <a16:colId xmlns:a16="http://schemas.microsoft.com/office/drawing/2014/main" val="2314065011"/>
                    </a:ext>
                  </a:extLst>
                </a:gridCol>
                <a:gridCol w="346465">
                  <a:extLst>
                    <a:ext uri="{9D8B030D-6E8A-4147-A177-3AD203B41FA5}">
                      <a16:colId xmlns:a16="http://schemas.microsoft.com/office/drawing/2014/main" val="1507263401"/>
                    </a:ext>
                  </a:extLst>
                </a:gridCol>
                <a:gridCol w="650217">
                  <a:extLst>
                    <a:ext uri="{9D8B030D-6E8A-4147-A177-3AD203B41FA5}">
                      <a16:colId xmlns:a16="http://schemas.microsoft.com/office/drawing/2014/main" val="4074622093"/>
                    </a:ext>
                  </a:extLst>
                </a:gridCol>
                <a:gridCol w="500566">
                  <a:extLst>
                    <a:ext uri="{9D8B030D-6E8A-4147-A177-3AD203B41FA5}">
                      <a16:colId xmlns:a16="http://schemas.microsoft.com/office/drawing/2014/main" val="3752590902"/>
                    </a:ext>
                  </a:extLst>
                </a:gridCol>
                <a:gridCol w="500566">
                  <a:extLst>
                    <a:ext uri="{9D8B030D-6E8A-4147-A177-3AD203B41FA5}">
                      <a16:colId xmlns:a16="http://schemas.microsoft.com/office/drawing/2014/main" val="1075012704"/>
                    </a:ext>
                  </a:extLst>
                </a:gridCol>
                <a:gridCol w="521580">
                  <a:extLst>
                    <a:ext uri="{9D8B030D-6E8A-4147-A177-3AD203B41FA5}">
                      <a16:colId xmlns:a16="http://schemas.microsoft.com/office/drawing/2014/main" val="1280756045"/>
                    </a:ext>
                  </a:extLst>
                </a:gridCol>
                <a:gridCol w="927571">
                  <a:extLst>
                    <a:ext uri="{9D8B030D-6E8A-4147-A177-3AD203B41FA5}">
                      <a16:colId xmlns:a16="http://schemas.microsoft.com/office/drawing/2014/main" val="1406083689"/>
                    </a:ext>
                  </a:extLst>
                </a:gridCol>
                <a:gridCol w="1215861">
                  <a:extLst>
                    <a:ext uri="{9D8B030D-6E8A-4147-A177-3AD203B41FA5}">
                      <a16:colId xmlns:a16="http://schemas.microsoft.com/office/drawing/2014/main" val="2434064028"/>
                    </a:ext>
                  </a:extLst>
                </a:gridCol>
                <a:gridCol w="914400">
                  <a:extLst>
                    <a:ext uri="{9D8B030D-6E8A-4147-A177-3AD203B41FA5}">
                      <a16:colId xmlns:a16="http://schemas.microsoft.com/office/drawing/2014/main" val="593366053"/>
                    </a:ext>
                  </a:extLst>
                </a:gridCol>
              </a:tblGrid>
              <a:tr h="309628">
                <a:tc gridSpan="16">
                  <a:txBody>
                    <a:bodyPr/>
                    <a:lstStyle/>
                    <a:p>
                      <a:pPr algn="ctr">
                        <a:lnSpc>
                          <a:spcPct val="107000"/>
                        </a:lnSpc>
                        <a:spcAft>
                          <a:spcPts val="800"/>
                        </a:spcAft>
                      </a:pPr>
                      <a:r>
                        <a:rPr lang="en-IN" sz="1400">
                          <a:effectLst/>
                        </a:rPr>
                        <a:t>Table: Mapping Levels of COs to POs / PSOs</a:t>
                      </a:r>
                      <a:endParaRPr lang="en-US" sz="1400">
                        <a:effectLst/>
                        <a:latin typeface="Calibri" panose="020F0502020204030204" pitchFamily="34" charset="0"/>
                        <a:ea typeface="Calibri" panose="020F0502020204030204" pitchFamily="34" charset="0"/>
                      </a:endParaRPr>
                    </a:p>
                  </a:txBody>
                  <a:tcPr marL="58801" marR="58801"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707566774"/>
                  </a:ext>
                </a:extLst>
              </a:tr>
              <a:tr h="187102">
                <a:tc rowSpan="2">
                  <a:txBody>
                    <a:bodyPr/>
                    <a:lstStyle/>
                    <a:p>
                      <a:pPr>
                        <a:lnSpc>
                          <a:spcPct val="107000"/>
                        </a:lnSpc>
                        <a:spcAft>
                          <a:spcPts val="800"/>
                        </a:spcAft>
                      </a:pPr>
                      <a:r>
                        <a:rPr lang="en-IN" sz="1400">
                          <a:effectLst/>
                        </a:rPr>
                        <a:t>COs</a:t>
                      </a:r>
                      <a:endParaRPr lang="en-US" sz="1400">
                        <a:effectLst/>
                        <a:latin typeface="Calibri" panose="020F0502020204030204" pitchFamily="34" charset="0"/>
                        <a:ea typeface="Calibri" panose="020F0502020204030204" pitchFamily="34" charset="0"/>
                      </a:endParaRPr>
                    </a:p>
                  </a:txBody>
                  <a:tcPr marL="58801" marR="58801" marT="0" marB="0"/>
                </a:tc>
                <a:tc gridSpan="12">
                  <a:txBody>
                    <a:bodyPr/>
                    <a:lstStyle/>
                    <a:p>
                      <a:pPr algn="ctr">
                        <a:lnSpc>
                          <a:spcPct val="107000"/>
                        </a:lnSpc>
                        <a:spcAft>
                          <a:spcPts val="800"/>
                        </a:spcAft>
                      </a:pPr>
                      <a:r>
                        <a:rPr lang="en-IN" sz="1400">
                          <a:effectLst/>
                        </a:rPr>
                        <a:t>Program Outcomes (POs)</a:t>
                      </a:r>
                      <a:endParaRPr lang="en-US" sz="1400">
                        <a:effectLst/>
                        <a:latin typeface="Calibri" panose="020F0502020204030204" pitchFamily="34" charset="0"/>
                        <a:ea typeface="Calibri" panose="020F0502020204030204" pitchFamily="34" charset="0"/>
                      </a:endParaRPr>
                    </a:p>
                  </a:txBody>
                  <a:tcPr marL="58801" marR="58801"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algn="ctr">
                        <a:lnSpc>
                          <a:spcPct val="107000"/>
                        </a:lnSpc>
                        <a:spcAft>
                          <a:spcPts val="800"/>
                        </a:spcAft>
                      </a:pPr>
                      <a:r>
                        <a:rPr lang="en-IN" sz="1400">
                          <a:effectLst/>
                        </a:rPr>
                        <a:t>PSOs</a:t>
                      </a:r>
                      <a:endParaRPr lang="en-US" sz="1400">
                        <a:effectLst/>
                        <a:latin typeface="Calibri" panose="020F0502020204030204" pitchFamily="34" charset="0"/>
                        <a:ea typeface="Calibri" panose="020F0502020204030204" pitchFamily="34" charset="0"/>
                      </a:endParaRPr>
                    </a:p>
                  </a:txBody>
                  <a:tcPr marL="58801" marR="5880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71174534"/>
                  </a:ext>
                </a:extLst>
              </a:tr>
              <a:tr h="2010495">
                <a:tc vMerge="1">
                  <a:txBody>
                    <a:bodyPr/>
                    <a:lstStyle/>
                    <a:p>
                      <a:endParaRPr lang="en-US"/>
                    </a:p>
                  </a:txBody>
                  <a:tcPr/>
                </a:tc>
                <a:tc>
                  <a:txBody>
                    <a:bodyPr/>
                    <a:lstStyle/>
                    <a:p>
                      <a:pPr marL="71755" marR="71755" lvl="0" indent="0" algn="ctr" defTabSz="457200" rtl="0" eaLnBrk="1" fontAlgn="auto" latinLnBrk="0" hangingPunct="1">
                        <a:lnSpc>
                          <a:spcPct val="107000"/>
                        </a:lnSpc>
                        <a:spcBef>
                          <a:spcPts val="0"/>
                        </a:spcBef>
                        <a:spcAft>
                          <a:spcPts val="800"/>
                        </a:spcAft>
                        <a:buClrTx/>
                        <a:buSzTx/>
                        <a:buFontTx/>
                        <a:buNone/>
                        <a:tabLst/>
                        <a:defRPr/>
                      </a:pPr>
                      <a:r>
                        <a:rPr lang="en-US" sz="1400" dirty="0"/>
                        <a:t>Engineering knowledge </a:t>
                      </a:r>
                    </a:p>
                  </a:txBody>
                  <a:tcPr marL="58801" marR="58801" marT="0" marB="0" vert="vert270" anchor="ctr"/>
                </a:tc>
                <a:tc>
                  <a:txBody>
                    <a:bodyPr/>
                    <a:lstStyle/>
                    <a:p>
                      <a:pPr marL="88900" indent="0"/>
                      <a:r>
                        <a:rPr lang="en-US" sz="1400" dirty="0"/>
                        <a:t>Problem analysis </a:t>
                      </a:r>
                    </a:p>
                  </a:txBody>
                  <a:tcPr marL="58801" marR="58801" marT="0" marB="0" vert="vert270" anchor="ctr"/>
                </a:tc>
                <a:tc>
                  <a:txBody>
                    <a:bodyPr/>
                    <a:lstStyle/>
                    <a:p>
                      <a:pPr marL="88900" indent="0"/>
                      <a:r>
                        <a:rPr lang="en-US" sz="1400" dirty="0"/>
                        <a:t>Design/development of solutions </a:t>
                      </a:r>
                    </a:p>
                  </a:txBody>
                  <a:tcPr marL="58801" marR="58801" marT="0" marB="0" vert="vert270" anchor="ctr"/>
                </a:tc>
                <a:tc>
                  <a:txBody>
                    <a:bodyPr/>
                    <a:lstStyle/>
                    <a:p>
                      <a:pPr marL="71755" marR="71755" lvl="0" indent="0" algn="ctr" defTabSz="457200" rtl="0" eaLnBrk="1" fontAlgn="auto" latinLnBrk="0" hangingPunct="1">
                        <a:lnSpc>
                          <a:spcPct val="107000"/>
                        </a:lnSpc>
                        <a:spcBef>
                          <a:spcPts val="0"/>
                        </a:spcBef>
                        <a:spcAft>
                          <a:spcPts val="800"/>
                        </a:spcAft>
                        <a:buClrTx/>
                        <a:buSzTx/>
                        <a:buFontTx/>
                        <a:buNone/>
                        <a:tabLst/>
                        <a:defRPr/>
                      </a:pPr>
                      <a:r>
                        <a:rPr lang="en-US" sz="1400" dirty="0"/>
                        <a:t>Conduct investigations of complex problems</a:t>
                      </a:r>
                    </a:p>
                  </a:txBody>
                  <a:tcPr marL="58801" marR="58801" marT="0" marB="0" vert="vert270" anchor="ctr"/>
                </a:tc>
                <a:tc>
                  <a:txBody>
                    <a:bodyPr/>
                    <a:lstStyle/>
                    <a:p>
                      <a:pPr marL="71755" marR="71755" lvl="0" indent="0" algn="ctr" defTabSz="457200" rtl="0" eaLnBrk="1" fontAlgn="auto" latinLnBrk="0" hangingPunct="1">
                        <a:lnSpc>
                          <a:spcPct val="107000"/>
                        </a:lnSpc>
                        <a:spcBef>
                          <a:spcPts val="0"/>
                        </a:spcBef>
                        <a:spcAft>
                          <a:spcPts val="800"/>
                        </a:spcAft>
                        <a:buClrTx/>
                        <a:buSzTx/>
                        <a:buFontTx/>
                        <a:buNone/>
                        <a:tabLst/>
                        <a:defRPr/>
                      </a:pPr>
                      <a:r>
                        <a:rPr lang="en-US" sz="1400" dirty="0"/>
                        <a:t>Modern tool usage</a:t>
                      </a:r>
                    </a:p>
                  </a:txBody>
                  <a:tcPr marL="58801" marR="58801" marT="0" marB="0" vert="vert270" anchor="ctr"/>
                </a:tc>
                <a:tc>
                  <a:txBody>
                    <a:bodyPr/>
                    <a:lstStyle/>
                    <a:p>
                      <a:pPr marL="71755" marR="71755" lvl="0" indent="0" algn="ctr" defTabSz="457200" rtl="0" eaLnBrk="1" fontAlgn="auto" latinLnBrk="0" hangingPunct="1">
                        <a:lnSpc>
                          <a:spcPct val="107000"/>
                        </a:lnSpc>
                        <a:spcBef>
                          <a:spcPts val="0"/>
                        </a:spcBef>
                        <a:spcAft>
                          <a:spcPts val="800"/>
                        </a:spcAft>
                        <a:buClrTx/>
                        <a:buSzTx/>
                        <a:buFontTx/>
                        <a:buNone/>
                        <a:tabLst/>
                        <a:defRPr/>
                      </a:pPr>
                      <a:r>
                        <a:rPr lang="en-US" sz="1400" dirty="0"/>
                        <a:t>The engineer and society</a:t>
                      </a:r>
                    </a:p>
                  </a:txBody>
                  <a:tcPr marL="58801" marR="58801" marT="0" marB="0" vert="vert270" anchor="ctr"/>
                </a:tc>
                <a:tc>
                  <a:txBody>
                    <a:bodyPr/>
                    <a:lstStyle/>
                    <a:p>
                      <a:pPr marL="71755" marR="71755" lvl="0" indent="0" algn="ctr" defTabSz="457200" rtl="0" eaLnBrk="1" fontAlgn="auto" latinLnBrk="0" hangingPunct="1">
                        <a:lnSpc>
                          <a:spcPct val="107000"/>
                        </a:lnSpc>
                        <a:spcBef>
                          <a:spcPts val="0"/>
                        </a:spcBef>
                        <a:spcAft>
                          <a:spcPts val="800"/>
                        </a:spcAft>
                        <a:buClrTx/>
                        <a:buSzTx/>
                        <a:buFontTx/>
                        <a:buNone/>
                        <a:tabLst/>
                        <a:defRPr/>
                      </a:pPr>
                      <a:r>
                        <a:rPr lang="en-US" sz="1400" dirty="0"/>
                        <a:t>Environment and sustainability</a:t>
                      </a:r>
                    </a:p>
                  </a:txBody>
                  <a:tcPr marL="58801" marR="58801" marT="0" marB="0" vert="vert270" anchor="ctr"/>
                </a:tc>
                <a:tc>
                  <a:txBody>
                    <a:bodyPr/>
                    <a:lstStyle/>
                    <a:p>
                      <a:pPr marL="71755" marR="71755" lvl="0" indent="0" algn="ctr" defTabSz="457200" rtl="0" eaLnBrk="1" fontAlgn="auto" latinLnBrk="0" hangingPunct="1">
                        <a:lnSpc>
                          <a:spcPct val="107000"/>
                        </a:lnSpc>
                        <a:spcBef>
                          <a:spcPts val="0"/>
                        </a:spcBef>
                        <a:spcAft>
                          <a:spcPts val="800"/>
                        </a:spcAft>
                        <a:buClrTx/>
                        <a:buSzTx/>
                        <a:buFontTx/>
                        <a:buNone/>
                        <a:tabLst/>
                        <a:defRPr/>
                      </a:pPr>
                      <a:r>
                        <a:rPr lang="en-US" sz="1400" dirty="0"/>
                        <a:t>Ethics</a:t>
                      </a:r>
                    </a:p>
                  </a:txBody>
                  <a:tcPr marL="58801" marR="58801" marT="0" marB="0" vert="vert270" anchor="ctr"/>
                </a:tc>
                <a:tc>
                  <a:txBody>
                    <a:bodyPr/>
                    <a:lstStyle/>
                    <a:p>
                      <a:pPr marL="71755" marR="71755" lvl="0" indent="0" algn="ctr" defTabSz="457200" rtl="0" eaLnBrk="1" fontAlgn="auto" latinLnBrk="0" hangingPunct="1">
                        <a:lnSpc>
                          <a:spcPct val="107000"/>
                        </a:lnSpc>
                        <a:spcBef>
                          <a:spcPts val="0"/>
                        </a:spcBef>
                        <a:spcAft>
                          <a:spcPts val="800"/>
                        </a:spcAft>
                        <a:buClrTx/>
                        <a:buSzTx/>
                        <a:buFontTx/>
                        <a:buNone/>
                        <a:tabLst/>
                        <a:defRPr/>
                      </a:pPr>
                      <a:r>
                        <a:rPr lang="en-US" sz="1400" dirty="0"/>
                        <a:t>Individual and team work</a:t>
                      </a:r>
                    </a:p>
                  </a:txBody>
                  <a:tcPr marL="58801" marR="58801" marT="0" marB="0" vert="vert270" anchor="ctr"/>
                </a:tc>
                <a:tc>
                  <a:txBody>
                    <a:bodyPr/>
                    <a:lstStyle/>
                    <a:p>
                      <a:pPr marL="71755" marR="71755" lvl="0" indent="0" algn="ctr" defTabSz="457200" rtl="0" eaLnBrk="1" fontAlgn="auto" latinLnBrk="0" hangingPunct="1">
                        <a:lnSpc>
                          <a:spcPct val="107000"/>
                        </a:lnSpc>
                        <a:spcBef>
                          <a:spcPts val="0"/>
                        </a:spcBef>
                        <a:spcAft>
                          <a:spcPts val="800"/>
                        </a:spcAft>
                        <a:buClrTx/>
                        <a:buSzTx/>
                        <a:buFontTx/>
                        <a:buNone/>
                        <a:tabLst/>
                        <a:defRPr/>
                      </a:pPr>
                      <a:r>
                        <a:rPr lang="en-US" sz="1400" dirty="0"/>
                        <a:t>Communication</a:t>
                      </a:r>
                    </a:p>
                  </a:txBody>
                  <a:tcPr marL="58801" marR="58801" marT="0" marB="0" vert="vert270" anchor="ctr"/>
                </a:tc>
                <a:tc>
                  <a:txBody>
                    <a:bodyPr/>
                    <a:lstStyle/>
                    <a:p>
                      <a:pPr marL="71755" marR="71755" algn="ctr">
                        <a:lnSpc>
                          <a:spcPct val="107000"/>
                        </a:lnSpc>
                        <a:spcAft>
                          <a:spcPts val="800"/>
                        </a:spcAft>
                      </a:pPr>
                      <a:r>
                        <a:rPr lang="en-US" sz="1400" dirty="0"/>
                        <a:t>Project management and finance</a:t>
                      </a:r>
                      <a:endParaRPr lang="en-US" sz="1400" dirty="0">
                        <a:effectLst/>
                        <a:latin typeface="Calibri" panose="020F0502020204030204" pitchFamily="34" charset="0"/>
                        <a:ea typeface="Calibri" panose="020F0502020204030204" pitchFamily="34" charset="0"/>
                      </a:endParaRPr>
                    </a:p>
                  </a:txBody>
                  <a:tcPr marL="58801" marR="58801" marT="0" marB="0" vert="vert270" anchor="ctr"/>
                </a:tc>
                <a:tc>
                  <a:txBody>
                    <a:bodyPr/>
                    <a:lstStyle/>
                    <a:p>
                      <a:pPr marL="71755" marR="71755" algn="ctr">
                        <a:lnSpc>
                          <a:spcPct val="107000"/>
                        </a:lnSpc>
                        <a:spcAft>
                          <a:spcPts val="800"/>
                        </a:spcAft>
                      </a:pPr>
                      <a:r>
                        <a:rPr lang="en-US" sz="1400" dirty="0"/>
                        <a:t>Life-long learning</a:t>
                      </a:r>
                      <a:endParaRPr lang="en-US" sz="1400" dirty="0">
                        <a:effectLst/>
                        <a:latin typeface="Calibri" panose="020F0502020204030204" pitchFamily="34" charset="0"/>
                        <a:ea typeface="Calibri" panose="020F0502020204030204" pitchFamily="34" charset="0"/>
                      </a:endParaRPr>
                    </a:p>
                  </a:txBody>
                  <a:tcPr marL="58801" marR="58801" marT="0" marB="0" vert="vert270" anchor="ctr"/>
                </a:tc>
                <a:tc>
                  <a:txBody>
                    <a:bodyPr/>
                    <a:lstStyle/>
                    <a:p>
                      <a:pPr marL="71755" marR="71755" lvl="0" indent="0" algn="ctr" defTabSz="457200" rtl="0" eaLnBrk="1" fontAlgn="auto" latinLnBrk="0" hangingPunct="1">
                        <a:lnSpc>
                          <a:spcPct val="107000"/>
                        </a:lnSpc>
                        <a:spcBef>
                          <a:spcPts val="0"/>
                        </a:spcBef>
                        <a:spcAft>
                          <a:spcPts val="800"/>
                        </a:spcAft>
                        <a:buClrTx/>
                        <a:buSzTx/>
                        <a:buFontTx/>
                        <a:buNone/>
                        <a:tabLst/>
                        <a:defRPr/>
                      </a:pPr>
                      <a:r>
                        <a:rPr lang="en-US" sz="1200" b="0" i="0" dirty="0">
                          <a:solidFill>
                            <a:srgbClr val="3C3939"/>
                          </a:solidFill>
                          <a:effectLst/>
                          <a:latin typeface="Source Sans Pro" panose="020B0503030403020204" pitchFamily="34" charset="0"/>
                        </a:rPr>
                        <a:t>Apply the principal concepts of AI Engineering to design, develop, deploy and prototype AI Subsystems</a:t>
                      </a:r>
                    </a:p>
                  </a:txBody>
                  <a:tcPr marL="58801" marR="58801" marT="0" marB="0" vert="vert270" anchor="ctr"/>
                </a:tc>
                <a:tc>
                  <a:txBody>
                    <a:bodyPr/>
                    <a:lstStyle/>
                    <a:p>
                      <a:pPr marL="71755" marR="71755" lvl="0" indent="0" algn="ctr" defTabSz="457200" rtl="0" eaLnBrk="1" fontAlgn="auto" latinLnBrk="0" hangingPunct="1">
                        <a:lnSpc>
                          <a:spcPct val="107000"/>
                        </a:lnSpc>
                        <a:spcBef>
                          <a:spcPts val="0"/>
                        </a:spcBef>
                        <a:spcAft>
                          <a:spcPts val="800"/>
                        </a:spcAft>
                        <a:buClrTx/>
                        <a:buSzTx/>
                        <a:buFontTx/>
                        <a:buNone/>
                        <a:tabLst/>
                        <a:defRPr/>
                      </a:pPr>
                      <a:r>
                        <a:rPr lang="en-US" sz="1200" b="0" i="0" dirty="0">
                          <a:solidFill>
                            <a:srgbClr val="3C3939"/>
                          </a:solidFill>
                          <a:effectLst/>
                          <a:latin typeface="Source Sans Pro" panose="020B0503030403020204" pitchFamily="34" charset="0"/>
                        </a:rPr>
                        <a:t>Apply the knowledge gained pertaining to data storage, data analytics and AI concepts to solve real world business problems.</a:t>
                      </a:r>
                      <a:endParaRPr lang="en-US" sz="1400" dirty="0">
                        <a:effectLst/>
                        <a:latin typeface="Calibri" panose="020F0502020204030204" pitchFamily="34" charset="0"/>
                        <a:ea typeface="Calibri" panose="020F0502020204030204" pitchFamily="34" charset="0"/>
                      </a:endParaRPr>
                    </a:p>
                  </a:txBody>
                  <a:tcPr marL="58801" marR="58801" marT="0" marB="0" vert="vert270" anchor="ctr"/>
                </a:tc>
                <a:tc>
                  <a:txBody>
                    <a:bodyPr/>
                    <a:lstStyle/>
                    <a:p>
                      <a:pPr marL="71755" marR="71755" lvl="0" indent="0" algn="ctr" defTabSz="457200" rtl="0" eaLnBrk="1" fontAlgn="auto" latinLnBrk="0" hangingPunct="1">
                        <a:lnSpc>
                          <a:spcPct val="107000"/>
                        </a:lnSpc>
                        <a:spcBef>
                          <a:spcPts val="0"/>
                        </a:spcBef>
                        <a:spcAft>
                          <a:spcPts val="800"/>
                        </a:spcAft>
                        <a:buClrTx/>
                        <a:buSzTx/>
                        <a:buFontTx/>
                        <a:buNone/>
                        <a:tabLst/>
                        <a:defRPr/>
                      </a:pPr>
                      <a:r>
                        <a:rPr lang="en-US" sz="1200" b="0" i="0" dirty="0">
                          <a:solidFill>
                            <a:srgbClr val="3C3939"/>
                          </a:solidFill>
                          <a:effectLst/>
                          <a:latin typeface="Source Sans Pro" panose="020B0503030403020204" pitchFamily="34" charset="0"/>
                        </a:rPr>
                        <a:t>Apply, </a:t>
                      </a:r>
                      <a:r>
                        <a:rPr lang="en-US" sz="1200" b="0" i="0" dirty="0" err="1">
                          <a:solidFill>
                            <a:srgbClr val="3C3939"/>
                          </a:solidFill>
                          <a:effectLst/>
                          <a:latin typeface="Source Sans Pro" panose="020B0503030403020204" pitchFamily="34" charset="0"/>
                        </a:rPr>
                        <a:t>analyse</a:t>
                      </a:r>
                      <a:r>
                        <a:rPr lang="en-US" sz="1200" b="0" i="0" dirty="0">
                          <a:solidFill>
                            <a:srgbClr val="3C3939"/>
                          </a:solidFill>
                          <a:effectLst/>
                          <a:latin typeface="Source Sans Pro" panose="020B0503030403020204" pitchFamily="34" charset="0"/>
                        </a:rPr>
                        <a:t>, design, develop, and test principles of AI concepts on Intelligent Systems</a:t>
                      </a:r>
                    </a:p>
                  </a:txBody>
                  <a:tcPr marL="58801" marR="58801" marT="0" marB="0" vert="vert270" anchor="ctr"/>
                </a:tc>
                <a:extLst>
                  <a:ext uri="{0D108BD9-81ED-4DB2-BD59-A6C34878D82A}">
                    <a16:rowId xmlns:a16="http://schemas.microsoft.com/office/drawing/2014/main" val="3198922309"/>
                  </a:ext>
                </a:extLst>
              </a:tr>
              <a:tr h="581110">
                <a:tc>
                  <a:txBody>
                    <a:bodyPr/>
                    <a:lstStyle/>
                    <a:p>
                      <a:pPr algn="ctr">
                        <a:lnSpc>
                          <a:spcPct val="107000"/>
                        </a:lnSpc>
                        <a:spcAft>
                          <a:spcPts val="800"/>
                        </a:spcAft>
                      </a:pPr>
                      <a:r>
                        <a:rPr lang="en-IN" sz="1400">
                          <a:effectLst/>
                        </a:rPr>
                        <a:t>CO1</a:t>
                      </a:r>
                      <a:endParaRPr lang="en-US" sz="1400">
                        <a:effectLst/>
                        <a:latin typeface="Calibri" panose="020F0502020204030204" pitchFamily="34" charset="0"/>
                        <a:ea typeface="Calibri" panose="020F0502020204030204" pitchFamily="34" charset="0"/>
                      </a:endParaRPr>
                    </a:p>
                  </a:txBody>
                  <a:tcPr marL="58801" marR="58801" marT="0" marB="0"/>
                </a:tc>
                <a:tc>
                  <a:txBody>
                    <a:bodyPr/>
                    <a:lstStyle/>
                    <a:p>
                      <a:pPr algn="ctr">
                        <a:lnSpc>
                          <a:spcPct val="107000"/>
                        </a:lnSpc>
                        <a:spcAft>
                          <a:spcPts val="800"/>
                        </a:spcAft>
                      </a:pPr>
                      <a:r>
                        <a:rPr lang="en-IN" sz="1400" dirty="0">
                          <a:effectLst/>
                        </a:rPr>
                        <a:t>2</a:t>
                      </a:r>
                      <a:endParaRPr lang="en-US" sz="1400" dirty="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dirty="0">
                          <a:effectLst/>
                        </a:rPr>
                        <a:t> -</a:t>
                      </a:r>
                      <a:endParaRPr lang="en-US" sz="1400" dirty="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extLst>
                  <a:ext uri="{0D108BD9-81ED-4DB2-BD59-A6C34878D82A}">
                    <a16:rowId xmlns:a16="http://schemas.microsoft.com/office/drawing/2014/main" val="2221781865"/>
                  </a:ext>
                </a:extLst>
              </a:tr>
              <a:tr h="581110">
                <a:tc>
                  <a:txBody>
                    <a:bodyPr/>
                    <a:lstStyle/>
                    <a:p>
                      <a:pPr algn="ctr">
                        <a:lnSpc>
                          <a:spcPct val="107000"/>
                        </a:lnSpc>
                        <a:spcAft>
                          <a:spcPts val="800"/>
                        </a:spcAft>
                      </a:pPr>
                      <a:r>
                        <a:rPr lang="en-IN" sz="1400">
                          <a:effectLst/>
                        </a:rPr>
                        <a:t>CO2</a:t>
                      </a:r>
                      <a:endParaRPr lang="en-US" sz="1400">
                        <a:effectLst/>
                        <a:latin typeface="Calibri" panose="020F0502020204030204" pitchFamily="34" charset="0"/>
                        <a:ea typeface="Calibri" panose="020F0502020204030204" pitchFamily="34" charset="0"/>
                      </a:endParaRPr>
                    </a:p>
                  </a:txBody>
                  <a:tcPr marL="58801" marR="58801" marT="0" marB="0"/>
                </a:tc>
                <a:tc>
                  <a:txBody>
                    <a:bodyPr/>
                    <a:lstStyle/>
                    <a:p>
                      <a:pPr algn="ctr">
                        <a:lnSpc>
                          <a:spcPct val="107000"/>
                        </a:lnSpc>
                        <a:spcAft>
                          <a:spcPts val="800"/>
                        </a:spcAft>
                      </a:pPr>
                      <a:r>
                        <a:rPr lang="en-IN" sz="1400" dirty="0">
                          <a:effectLst/>
                        </a:rPr>
                        <a:t>3</a:t>
                      </a:r>
                      <a:endParaRPr lang="en-US" sz="1400" dirty="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dirty="0">
                          <a:effectLst/>
                        </a:rPr>
                        <a:t>2</a:t>
                      </a:r>
                      <a:endParaRPr lang="en-US" sz="1400" dirty="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extLst>
                  <a:ext uri="{0D108BD9-81ED-4DB2-BD59-A6C34878D82A}">
                    <a16:rowId xmlns:a16="http://schemas.microsoft.com/office/drawing/2014/main" val="2404060517"/>
                  </a:ext>
                </a:extLst>
              </a:tr>
              <a:tr h="581110">
                <a:tc>
                  <a:txBody>
                    <a:bodyPr/>
                    <a:lstStyle/>
                    <a:p>
                      <a:pPr algn="ctr">
                        <a:lnSpc>
                          <a:spcPct val="107000"/>
                        </a:lnSpc>
                        <a:spcAft>
                          <a:spcPts val="800"/>
                        </a:spcAft>
                      </a:pPr>
                      <a:r>
                        <a:rPr lang="en-IN" sz="1400">
                          <a:effectLst/>
                        </a:rPr>
                        <a:t>CO3</a:t>
                      </a:r>
                      <a:endParaRPr lang="en-US" sz="1400">
                        <a:effectLst/>
                        <a:latin typeface="Calibri" panose="020F0502020204030204" pitchFamily="34" charset="0"/>
                        <a:ea typeface="Calibri" panose="020F0502020204030204" pitchFamily="34" charset="0"/>
                      </a:endParaRPr>
                    </a:p>
                  </a:txBody>
                  <a:tcPr marL="58801" marR="58801" marT="0" marB="0"/>
                </a:tc>
                <a:tc>
                  <a:txBody>
                    <a:bodyPr/>
                    <a:lstStyle/>
                    <a:p>
                      <a:pPr algn="ctr">
                        <a:lnSpc>
                          <a:spcPct val="107000"/>
                        </a:lnSpc>
                        <a:spcAft>
                          <a:spcPts val="800"/>
                        </a:spcAft>
                      </a:pPr>
                      <a:r>
                        <a:rPr lang="en-IN" sz="1400" dirty="0">
                          <a:effectLst/>
                        </a:rPr>
                        <a:t>3</a:t>
                      </a:r>
                      <a:endParaRPr lang="en-US" sz="1400" dirty="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extLst>
                  <a:ext uri="{0D108BD9-81ED-4DB2-BD59-A6C34878D82A}">
                    <a16:rowId xmlns:a16="http://schemas.microsoft.com/office/drawing/2014/main" val="3375233841"/>
                  </a:ext>
                </a:extLst>
              </a:tr>
              <a:tr h="581110">
                <a:tc>
                  <a:txBody>
                    <a:bodyPr/>
                    <a:lstStyle/>
                    <a:p>
                      <a:pPr algn="ctr">
                        <a:lnSpc>
                          <a:spcPct val="107000"/>
                        </a:lnSpc>
                        <a:spcAft>
                          <a:spcPts val="800"/>
                        </a:spcAft>
                      </a:pPr>
                      <a:r>
                        <a:rPr lang="en-IN" sz="1400">
                          <a:effectLst/>
                        </a:rPr>
                        <a:t>CO4</a:t>
                      </a:r>
                      <a:endParaRPr lang="en-US" sz="1400">
                        <a:effectLst/>
                        <a:latin typeface="Calibri" panose="020F0502020204030204" pitchFamily="34" charset="0"/>
                        <a:ea typeface="Calibri" panose="020F0502020204030204" pitchFamily="34" charset="0"/>
                      </a:endParaRPr>
                    </a:p>
                  </a:txBody>
                  <a:tcPr marL="58801" marR="58801" marT="0" marB="0"/>
                </a:tc>
                <a:tc>
                  <a:txBody>
                    <a:bodyPr/>
                    <a:lstStyle/>
                    <a:p>
                      <a:pPr algn="ctr">
                        <a:lnSpc>
                          <a:spcPct val="107000"/>
                        </a:lnSpc>
                        <a:spcAft>
                          <a:spcPts val="800"/>
                        </a:spcAft>
                      </a:pPr>
                      <a:r>
                        <a:rPr lang="en-IN" sz="1400" dirty="0">
                          <a:effectLst/>
                        </a:rPr>
                        <a:t>3</a:t>
                      </a:r>
                      <a:endParaRPr lang="en-US" sz="1400" dirty="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dirty="0">
                          <a:effectLst/>
                        </a:rPr>
                        <a:t>2</a:t>
                      </a:r>
                      <a:endParaRPr lang="en-US" sz="1400" dirty="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extLst>
                  <a:ext uri="{0D108BD9-81ED-4DB2-BD59-A6C34878D82A}">
                    <a16:rowId xmlns:a16="http://schemas.microsoft.com/office/drawing/2014/main" val="3165535384"/>
                  </a:ext>
                </a:extLst>
              </a:tr>
              <a:tr h="581110">
                <a:tc>
                  <a:txBody>
                    <a:bodyPr/>
                    <a:lstStyle/>
                    <a:p>
                      <a:pPr algn="ctr">
                        <a:lnSpc>
                          <a:spcPct val="107000"/>
                        </a:lnSpc>
                        <a:spcAft>
                          <a:spcPts val="800"/>
                        </a:spcAft>
                      </a:pPr>
                      <a:r>
                        <a:rPr lang="en-IN" sz="1400">
                          <a:effectLst/>
                        </a:rPr>
                        <a:t>CO5</a:t>
                      </a:r>
                      <a:endParaRPr lang="en-US" sz="1400">
                        <a:effectLst/>
                        <a:latin typeface="Calibri" panose="020F0502020204030204" pitchFamily="34" charset="0"/>
                        <a:ea typeface="Calibri" panose="020F0502020204030204" pitchFamily="34" charset="0"/>
                      </a:endParaRPr>
                    </a:p>
                  </a:txBody>
                  <a:tcPr marL="58801" marR="58801" marT="0" marB="0"/>
                </a:tc>
                <a:tc>
                  <a:txBody>
                    <a:bodyPr/>
                    <a:lstStyle/>
                    <a:p>
                      <a:pPr algn="ctr">
                        <a:lnSpc>
                          <a:spcPct val="107000"/>
                        </a:lnSpc>
                        <a:spcAft>
                          <a:spcPts val="800"/>
                        </a:spcAft>
                      </a:pPr>
                      <a:r>
                        <a:rPr lang="en-IN" sz="1400" dirty="0">
                          <a:effectLst/>
                        </a:rPr>
                        <a:t>3</a:t>
                      </a:r>
                      <a:endParaRPr lang="en-US" sz="1400" dirty="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dirty="0">
                          <a:effectLst/>
                        </a:rPr>
                        <a:t>3</a:t>
                      </a:r>
                      <a:endParaRPr lang="en-US" sz="1400" dirty="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dirty="0">
                          <a:effectLst/>
                        </a:rPr>
                        <a:t>2</a:t>
                      </a:r>
                      <a:endParaRPr lang="en-US" sz="1400" dirty="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lang="en-IN" sz="1400" dirty="0">
                          <a:effectLst/>
                        </a:rPr>
                        <a:t>-</a:t>
                      </a:r>
                      <a:endParaRPr lang="en-US" sz="1400" dirty="0">
                        <a:effectLst/>
                        <a:latin typeface="Calibri" panose="020F0502020204030204" pitchFamily="34" charset="0"/>
                        <a:ea typeface="Calibri" panose="020F0502020204030204" pitchFamily="34" charset="0"/>
                      </a:endParaRPr>
                    </a:p>
                    <a:p>
                      <a:pPr algn="ctr">
                        <a:lnSpc>
                          <a:spcPct val="107000"/>
                        </a:lnSpc>
                        <a:spcAft>
                          <a:spcPts val="800"/>
                        </a:spcAft>
                      </a:pPr>
                      <a:r>
                        <a:rPr lang="en-IN" sz="1400" dirty="0">
                          <a:effectLst/>
                        </a:rPr>
                        <a:t> </a:t>
                      </a:r>
                      <a:endParaRPr lang="en-US" sz="1400" dirty="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dirty="0">
                          <a:effectLst/>
                        </a:rPr>
                        <a:t>2</a:t>
                      </a:r>
                      <a:endParaRPr lang="en-US" sz="1400" dirty="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1</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entury Gothic" panose="020B0502020202020204"/>
                          <a:ea typeface="+mn-ea"/>
                          <a:cs typeface="+mn-cs"/>
                        </a:rPr>
                        <a:t>-</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a:effectLst/>
                        </a:rPr>
                        <a:t>2</a:t>
                      </a:r>
                      <a:endParaRPr lang="en-US" sz="1400">
                        <a:effectLst/>
                        <a:latin typeface="Calibri" panose="020F0502020204030204" pitchFamily="34" charset="0"/>
                        <a:ea typeface="Calibri" panose="020F0502020204030204" pitchFamily="34" charset="0"/>
                      </a:endParaRPr>
                    </a:p>
                  </a:txBody>
                  <a:tcPr marL="58801" marR="58801" marT="0" marB="0" anchor="ctr"/>
                </a:tc>
                <a:tc>
                  <a:txBody>
                    <a:bodyPr/>
                    <a:lstStyle/>
                    <a:p>
                      <a:pPr algn="ctr">
                        <a:lnSpc>
                          <a:spcPct val="107000"/>
                        </a:lnSpc>
                        <a:spcAft>
                          <a:spcPts val="800"/>
                        </a:spcAft>
                      </a:pPr>
                      <a:r>
                        <a:rPr lang="en-IN" sz="1400" dirty="0">
                          <a:effectLst/>
                        </a:rPr>
                        <a:t>2</a:t>
                      </a:r>
                      <a:endParaRPr lang="en-US" sz="1400" dirty="0">
                        <a:effectLst/>
                        <a:latin typeface="Calibri" panose="020F0502020204030204" pitchFamily="34" charset="0"/>
                        <a:ea typeface="Calibri" panose="020F0502020204030204" pitchFamily="34" charset="0"/>
                      </a:endParaRPr>
                    </a:p>
                  </a:txBody>
                  <a:tcPr marL="58801" marR="58801" marT="0" marB="0" anchor="ctr"/>
                </a:tc>
                <a:extLst>
                  <a:ext uri="{0D108BD9-81ED-4DB2-BD59-A6C34878D82A}">
                    <a16:rowId xmlns:a16="http://schemas.microsoft.com/office/drawing/2014/main" val="3674051648"/>
                  </a:ext>
                </a:extLst>
              </a:tr>
            </a:tbl>
          </a:graphicData>
        </a:graphic>
      </p:graphicFrame>
      <p:sp>
        <p:nvSpPr>
          <p:cNvPr id="9" name="Rectangle 1">
            <a:extLst>
              <a:ext uri="{FF2B5EF4-FFF2-40B4-BE49-F238E27FC236}">
                <a16:creationId xmlns:a16="http://schemas.microsoft.com/office/drawing/2014/main" id="{D429BC22-2A94-8F83-1051-E05CBD778660}"/>
              </a:ext>
            </a:extLst>
          </p:cNvPr>
          <p:cNvSpPr>
            <a:spLocks noChangeArrowheads="1"/>
          </p:cNvSpPr>
          <p:nvPr/>
        </p:nvSpPr>
        <p:spPr bwMode="auto">
          <a:xfrm>
            <a:off x="3071995" y="6087943"/>
            <a:ext cx="604800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00050" algn="l"/>
              </a:tabLst>
              <a:defRPr>
                <a:solidFill>
                  <a:schemeClr val="tx1"/>
                </a:solidFill>
                <a:latin typeface="Arial" panose="020B0604020202020204" pitchFamily="34" charset="0"/>
              </a:defRPr>
            </a:lvl1pPr>
            <a:lvl2pPr eaLnBrk="0" fontAlgn="base" hangingPunct="0">
              <a:spcBef>
                <a:spcPct val="0"/>
              </a:spcBef>
              <a:spcAft>
                <a:spcPct val="0"/>
              </a:spcAft>
              <a:tabLst>
                <a:tab pos="400050" algn="l"/>
              </a:tabLst>
              <a:defRPr>
                <a:solidFill>
                  <a:schemeClr val="tx1"/>
                </a:solidFill>
                <a:latin typeface="Arial" panose="020B0604020202020204" pitchFamily="34" charset="0"/>
              </a:defRPr>
            </a:lvl2pPr>
            <a:lvl3pPr eaLnBrk="0" fontAlgn="base" hangingPunct="0">
              <a:spcBef>
                <a:spcPct val="0"/>
              </a:spcBef>
              <a:spcAft>
                <a:spcPct val="0"/>
              </a:spcAft>
              <a:tabLst>
                <a:tab pos="400050" algn="l"/>
              </a:tabLst>
              <a:defRPr>
                <a:solidFill>
                  <a:schemeClr val="tx1"/>
                </a:solidFill>
                <a:latin typeface="Arial" panose="020B0604020202020204" pitchFamily="34" charset="0"/>
              </a:defRPr>
            </a:lvl3pPr>
            <a:lvl4pPr eaLnBrk="0" fontAlgn="base" hangingPunct="0">
              <a:spcBef>
                <a:spcPct val="0"/>
              </a:spcBef>
              <a:spcAft>
                <a:spcPct val="0"/>
              </a:spcAft>
              <a:tabLst>
                <a:tab pos="400050" algn="l"/>
              </a:tabLst>
              <a:defRPr>
                <a:solidFill>
                  <a:schemeClr val="tx1"/>
                </a:solidFill>
                <a:latin typeface="Arial" panose="020B0604020202020204" pitchFamily="34" charset="0"/>
              </a:defRPr>
            </a:lvl4pPr>
            <a:lvl5pPr eaLnBrk="0" fontAlgn="base" hangingPunct="0">
              <a:spcBef>
                <a:spcPct val="0"/>
              </a:spcBef>
              <a:spcAft>
                <a:spcPct val="0"/>
              </a:spcAft>
              <a:tabLst>
                <a:tab pos="400050" algn="l"/>
              </a:tabLst>
              <a:defRPr>
                <a:solidFill>
                  <a:schemeClr val="tx1"/>
                </a:solidFill>
                <a:latin typeface="Arial" panose="020B0604020202020204" pitchFamily="34" charset="0"/>
              </a:defRPr>
            </a:lvl5pPr>
            <a:lvl6pPr eaLnBrk="0" fontAlgn="base" hangingPunct="0">
              <a:spcBef>
                <a:spcPct val="0"/>
              </a:spcBef>
              <a:spcAft>
                <a:spcPct val="0"/>
              </a:spcAft>
              <a:tabLst>
                <a:tab pos="400050" algn="l"/>
              </a:tabLst>
              <a:defRPr>
                <a:solidFill>
                  <a:schemeClr val="tx1"/>
                </a:solidFill>
                <a:latin typeface="Arial" panose="020B0604020202020204" pitchFamily="34" charset="0"/>
              </a:defRPr>
            </a:lvl6pPr>
            <a:lvl7pPr eaLnBrk="0" fontAlgn="base" hangingPunct="0">
              <a:spcBef>
                <a:spcPct val="0"/>
              </a:spcBef>
              <a:spcAft>
                <a:spcPct val="0"/>
              </a:spcAft>
              <a:tabLst>
                <a:tab pos="400050" algn="l"/>
              </a:tabLst>
              <a:defRPr>
                <a:solidFill>
                  <a:schemeClr val="tx1"/>
                </a:solidFill>
                <a:latin typeface="Arial" panose="020B0604020202020204" pitchFamily="34" charset="0"/>
              </a:defRPr>
            </a:lvl7pPr>
            <a:lvl8pPr eaLnBrk="0" fontAlgn="base" hangingPunct="0">
              <a:spcBef>
                <a:spcPct val="0"/>
              </a:spcBef>
              <a:spcAft>
                <a:spcPct val="0"/>
              </a:spcAft>
              <a:tabLst>
                <a:tab pos="400050" algn="l"/>
              </a:tabLst>
              <a:defRPr>
                <a:solidFill>
                  <a:schemeClr val="tx1"/>
                </a:solidFill>
                <a:latin typeface="Arial" panose="020B0604020202020204" pitchFamily="34" charset="0"/>
              </a:defRPr>
            </a:lvl8pPr>
            <a:lvl9pPr eaLnBrk="0" fontAlgn="base" hangingPunct="0">
              <a:spcBef>
                <a:spcPct val="0"/>
              </a:spcBef>
              <a:spcAft>
                <a:spcPct val="0"/>
              </a:spcAft>
              <a:tabLst>
                <a:tab pos="40005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00050" algn="l"/>
              </a:tabLst>
            </a:pPr>
            <a:r>
              <a:rPr kumimoji="0" lang="en-US" altLang="en-US" sz="1100" b="1" i="0" u="none" strike="noStrike" cap="none" normalizeH="0" baseline="0" dirty="0">
                <a:ln>
                  <a:noFill/>
                </a:ln>
                <a:solidFill>
                  <a:srgbClr val="000000"/>
                </a:solidFill>
                <a:effectLst/>
                <a:latin typeface="Arial" panose="020B0604020202020204" pitchFamily="34" charset="0"/>
                <a:ea typeface="Cambria" panose="02040503050406030204" pitchFamily="18" charset="0"/>
                <a:cs typeface="Cambria" panose="02040503050406030204" pitchFamily="18" charset="0"/>
              </a:rPr>
              <a:t>	3: Substantial (High)                     2: Moderate (Medium)                       1: Poor (Low)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A0BC8553-8EC9-19D7-FC0E-9DF50E99747D}"/>
              </a:ext>
            </a:extLst>
          </p:cNvPr>
          <p:cNvSpPr txBox="1"/>
          <p:nvPr/>
        </p:nvSpPr>
        <p:spPr>
          <a:xfrm>
            <a:off x="1710863" y="255639"/>
            <a:ext cx="2153214" cy="369332"/>
          </a:xfrm>
          <a:prstGeom prst="rect">
            <a:avLst/>
          </a:prstGeom>
          <a:noFill/>
        </p:spPr>
        <p:txBody>
          <a:bodyPr wrap="square" rtlCol="0">
            <a:spAutoFit/>
          </a:bodyPr>
          <a:lstStyle/>
          <a:p>
            <a:r>
              <a:rPr lang="en-US" dirty="0"/>
              <a:t>(Old PSO’S)</a:t>
            </a:r>
          </a:p>
        </p:txBody>
      </p:sp>
    </p:spTree>
    <p:extLst>
      <p:ext uri="{BB962C8B-B14F-4D97-AF65-F5344CB8AC3E}">
        <p14:creationId xmlns:p14="http://schemas.microsoft.com/office/powerpoint/2010/main" val="2464032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
        <p:nvSpPr>
          <p:cNvPr id="9" name="Rectangle 1">
            <a:extLst>
              <a:ext uri="{FF2B5EF4-FFF2-40B4-BE49-F238E27FC236}">
                <a16:creationId xmlns:a16="http://schemas.microsoft.com/office/drawing/2014/main" id="{D429BC22-2A94-8F83-1051-E05CBD778660}"/>
              </a:ext>
            </a:extLst>
          </p:cNvPr>
          <p:cNvSpPr>
            <a:spLocks noChangeArrowheads="1"/>
          </p:cNvSpPr>
          <p:nvPr/>
        </p:nvSpPr>
        <p:spPr bwMode="auto">
          <a:xfrm>
            <a:off x="3071995" y="6087943"/>
            <a:ext cx="604800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00050" algn="l"/>
              </a:tabLst>
              <a:defRPr>
                <a:solidFill>
                  <a:schemeClr val="tx1"/>
                </a:solidFill>
                <a:latin typeface="Arial" panose="020B0604020202020204" pitchFamily="34" charset="0"/>
              </a:defRPr>
            </a:lvl1pPr>
            <a:lvl2pPr eaLnBrk="0" fontAlgn="base" hangingPunct="0">
              <a:spcBef>
                <a:spcPct val="0"/>
              </a:spcBef>
              <a:spcAft>
                <a:spcPct val="0"/>
              </a:spcAft>
              <a:tabLst>
                <a:tab pos="400050" algn="l"/>
              </a:tabLst>
              <a:defRPr>
                <a:solidFill>
                  <a:schemeClr val="tx1"/>
                </a:solidFill>
                <a:latin typeface="Arial" panose="020B0604020202020204" pitchFamily="34" charset="0"/>
              </a:defRPr>
            </a:lvl2pPr>
            <a:lvl3pPr eaLnBrk="0" fontAlgn="base" hangingPunct="0">
              <a:spcBef>
                <a:spcPct val="0"/>
              </a:spcBef>
              <a:spcAft>
                <a:spcPct val="0"/>
              </a:spcAft>
              <a:tabLst>
                <a:tab pos="400050" algn="l"/>
              </a:tabLst>
              <a:defRPr>
                <a:solidFill>
                  <a:schemeClr val="tx1"/>
                </a:solidFill>
                <a:latin typeface="Arial" panose="020B0604020202020204" pitchFamily="34" charset="0"/>
              </a:defRPr>
            </a:lvl3pPr>
            <a:lvl4pPr eaLnBrk="0" fontAlgn="base" hangingPunct="0">
              <a:spcBef>
                <a:spcPct val="0"/>
              </a:spcBef>
              <a:spcAft>
                <a:spcPct val="0"/>
              </a:spcAft>
              <a:tabLst>
                <a:tab pos="400050" algn="l"/>
              </a:tabLst>
              <a:defRPr>
                <a:solidFill>
                  <a:schemeClr val="tx1"/>
                </a:solidFill>
                <a:latin typeface="Arial" panose="020B0604020202020204" pitchFamily="34" charset="0"/>
              </a:defRPr>
            </a:lvl4pPr>
            <a:lvl5pPr eaLnBrk="0" fontAlgn="base" hangingPunct="0">
              <a:spcBef>
                <a:spcPct val="0"/>
              </a:spcBef>
              <a:spcAft>
                <a:spcPct val="0"/>
              </a:spcAft>
              <a:tabLst>
                <a:tab pos="400050" algn="l"/>
              </a:tabLst>
              <a:defRPr>
                <a:solidFill>
                  <a:schemeClr val="tx1"/>
                </a:solidFill>
                <a:latin typeface="Arial" panose="020B0604020202020204" pitchFamily="34" charset="0"/>
              </a:defRPr>
            </a:lvl5pPr>
            <a:lvl6pPr eaLnBrk="0" fontAlgn="base" hangingPunct="0">
              <a:spcBef>
                <a:spcPct val="0"/>
              </a:spcBef>
              <a:spcAft>
                <a:spcPct val="0"/>
              </a:spcAft>
              <a:tabLst>
                <a:tab pos="400050" algn="l"/>
              </a:tabLst>
              <a:defRPr>
                <a:solidFill>
                  <a:schemeClr val="tx1"/>
                </a:solidFill>
                <a:latin typeface="Arial" panose="020B0604020202020204" pitchFamily="34" charset="0"/>
              </a:defRPr>
            </a:lvl6pPr>
            <a:lvl7pPr eaLnBrk="0" fontAlgn="base" hangingPunct="0">
              <a:spcBef>
                <a:spcPct val="0"/>
              </a:spcBef>
              <a:spcAft>
                <a:spcPct val="0"/>
              </a:spcAft>
              <a:tabLst>
                <a:tab pos="400050" algn="l"/>
              </a:tabLst>
              <a:defRPr>
                <a:solidFill>
                  <a:schemeClr val="tx1"/>
                </a:solidFill>
                <a:latin typeface="Arial" panose="020B0604020202020204" pitchFamily="34" charset="0"/>
              </a:defRPr>
            </a:lvl7pPr>
            <a:lvl8pPr eaLnBrk="0" fontAlgn="base" hangingPunct="0">
              <a:spcBef>
                <a:spcPct val="0"/>
              </a:spcBef>
              <a:spcAft>
                <a:spcPct val="0"/>
              </a:spcAft>
              <a:tabLst>
                <a:tab pos="400050" algn="l"/>
              </a:tabLst>
              <a:defRPr>
                <a:solidFill>
                  <a:schemeClr val="tx1"/>
                </a:solidFill>
                <a:latin typeface="Arial" panose="020B0604020202020204" pitchFamily="34" charset="0"/>
              </a:defRPr>
            </a:lvl8pPr>
            <a:lvl9pPr eaLnBrk="0" fontAlgn="base" hangingPunct="0">
              <a:spcBef>
                <a:spcPct val="0"/>
              </a:spcBef>
              <a:spcAft>
                <a:spcPct val="0"/>
              </a:spcAft>
              <a:tabLst>
                <a:tab pos="40005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00050" algn="l"/>
              </a:tabLst>
            </a:pPr>
            <a:r>
              <a:rPr kumimoji="0" lang="en-US" altLang="en-US" sz="1100" b="1" i="0" u="none" strike="noStrike" cap="none" normalizeH="0" baseline="0" dirty="0">
                <a:ln>
                  <a:noFill/>
                </a:ln>
                <a:solidFill>
                  <a:srgbClr val="000000"/>
                </a:solidFill>
                <a:effectLst/>
                <a:latin typeface="Arial" panose="020B0604020202020204" pitchFamily="34" charset="0"/>
                <a:ea typeface="Cambria" panose="02040503050406030204" pitchFamily="18" charset="0"/>
                <a:cs typeface="Cambria" panose="02040503050406030204" pitchFamily="18" charset="0"/>
              </a:rPr>
              <a:t>	3: Substantial (High)                     2: Moderate (Medium)                       1: Poor (Low)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57599B20-EC68-69E2-6224-3AA9F60D78AC}"/>
              </a:ext>
            </a:extLst>
          </p:cNvPr>
          <p:cNvGraphicFramePr>
            <a:graphicFrameLocks noGrp="1"/>
          </p:cNvGraphicFramePr>
          <p:nvPr>
            <p:extLst>
              <p:ext uri="{D42A27DB-BD31-4B8C-83A1-F6EECF244321}">
                <p14:modId xmlns:p14="http://schemas.microsoft.com/office/powerpoint/2010/main" val="8188575"/>
              </p:ext>
            </p:extLst>
          </p:nvPr>
        </p:nvGraphicFramePr>
        <p:xfrm>
          <a:off x="1741738" y="508447"/>
          <a:ext cx="9261430" cy="5629625"/>
        </p:xfrm>
        <a:graphic>
          <a:graphicData uri="http://schemas.openxmlformats.org/drawingml/2006/table">
            <a:tbl>
              <a:tblPr bandRow="1">
                <a:tableStyleId>{5C22544A-7EE6-4342-B048-85BDC9FD1C3A}</a:tableStyleId>
              </a:tblPr>
              <a:tblGrid>
                <a:gridCol w="585174">
                  <a:extLst>
                    <a:ext uri="{9D8B030D-6E8A-4147-A177-3AD203B41FA5}">
                      <a16:colId xmlns:a16="http://schemas.microsoft.com/office/drawing/2014/main" val="1463236724"/>
                    </a:ext>
                  </a:extLst>
                </a:gridCol>
                <a:gridCol w="332144">
                  <a:extLst>
                    <a:ext uri="{9D8B030D-6E8A-4147-A177-3AD203B41FA5}">
                      <a16:colId xmlns:a16="http://schemas.microsoft.com/office/drawing/2014/main" val="3604954817"/>
                    </a:ext>
                  </a:extLst>
                </a:gridCol>
                <a:gridCol w="334758">
                  <a:extLst>
                    <a:ext uri="{9D8B030D-6E8A-4147-A177-3AD203B41FA5}">
                      <a16:colId xmlns:a16="http://schemas.microsoft.com/office/drawing/2014/main" val="595568692"/>
                    </a:ext>
                  </a:extLst>
                </a:gridCol>
                <a:gridCol w="369411">
                  <a:extLst>
                    <a:ext uri="{9D8B030D-6E8A-4147-A177-3AD203B41FA5}">
                      <a16:colId xmlns:a16="http://schemas.microsoft.com/office/drawing/2014/main" val="167415497"/>
                    </a:ext>
                  </a:extLst>
                </a:gridCol>
                <a:gridCol w="369411">
                  <a:extLst>
                    <a:ext uri="{9D8B030D-6E8A-4147-A177-3AD203B41FA5}">
                      <a16:colId xmlns:a16="http://schemas.microsoft.com/office/drawing/2014/main" val="3674388907"/>
                    </a:ext>
                  </a:extLst>
                </a:gridCol>
                <a:gridCol w="369411">
                  <a:extLst>
                    <a:ext uri="{9D8B030D-6E8A-4147-A177-3AD203B41FA5}">
                      <a16:colId xmlns:a16="http://schemas.microsoft.com/office/drawing/2014/main" val="618168838"/>
                    </a:ext>
                  </a:extLst>
                </a:gridCol>
                <a:gridCol w="369411">
                  <a:extLst>
                    <a:ext uri="{9D8B030D-6E8A-4147-A177-3AD203B41FA5}">
                      <a16:colId xmlns:a16="http://schemas.microsoft.com/office/drawing/2014/main" val="3804881025"/>
                    </a:ext>
                  </a:extLst>
                </a:gridCol>
                <a:gridCol w="369411">
                  <a:extLst>
                    <a:ext uri="{9D8B030D-6E8A-4147-A177-3AD203B41FA5}">
                      <a16:colId xmlns:a16="http://schemas.microsoft.com/office/drawing/2014/main" val="38761729"/>
                    </a:ext>
                  </a:extLst>
                </a:gridCol>
                <a:gridCol w="369411">
                  <a:extLst>
                    <a:ext uri="{9D8B030D-6E8A-4147-A177-3AD203B41FA5}">
                      <a16:colId xmlns:a16="http://schemas.microsoft.com/office/drawing/2014/main" val="1444288773"/>
                    </a:ext>
                  </a:extLst>
                </a:gridCol>
                <a:gridCol w="369411">
                  <a:extLst>
                    <a:ext uri="{9D8B030D-6E8A-4147-A177-3AD203B41FA5}">
                      <a16:colId xmlns:a16="http://schemas.microsoft.com/office/drawing/2014/main" val="3055907202"/>
                    </a:ext>
                  </a:extLst>
                </a:gridCol>
                <a:gridCol w="369411">
                  <a:extLst>
                    <a:ext uri="{9D8B030D-6E8A-4147-A177-3AD203B41FA5}">
                      <a16:colId xmlns:a16="http://schemas.microsoft.com/office/drawing/2014/main" val="2897197589"/>
                    </a:ext>
                  </a:extLst>
                </a:gridCol>
                <a:gridCol w="461600">
                  <a:extLst>
                    <a:ext uri="{9D8B030D-6E8A-4147-A177-3AD203B41FA5}">
                      <a16:colId xmlns:a16="http://schemas.microsoft.com/office/drawing/2014/main" val="2910070043"/>
                    </a:ext>
                  </a:extLst>
                </a:gridCol>
                <a:gridCol w="1006891">
                  <a:extLst>
                    <a:ext uri="{9D8B030D-6E8A-4147-A177-3AD203B41FA5}">
                      <a16:colId xmlns:a16="http://schemas.microsoft.com/office/drawing/2014/main" val="3250176563"/>
                    </a:ext>
                  </a:extLst>
                </a:gridCol>
                <a:gridCol w="1006891">
                  <a:extLst>
                    <a:ext uri="{9D8B030D-6E8A-4147-A177-3AD203B41FA5}">
                      <a16:colId xmlns:a16="http://schemas.microsoft.com/office/drawing/2014/main" val="456731765"/>
                    </a:ext>
                  </a:extLst>
                </a:gridCol>
                <a:gridCol w="1289342">
                  <a:extLst>
                    <a:ext uri="{9D8B030D-6E8A-4147-A177-3AD203B41FA5}">
                      <a16:colId xmlns:a16="http://schemas.microsoft.com/office/drawing/2014/main" val="3652891518"/>
                    </a:ext>
                  </a:extLst>
                </a:gridCol>
                <a:gridCol w="1289342">
                  <a:extLst>
                    <a:ext uri="{9D8B030D-6E8A-4147-A177-3AD203B41FA5}">
                      <a16:colId xmlns:a16="http://schemas.microsoft.com/office/drawing/2014/main" val="2109804406"/>
                    </a:ext>
                  </a:extLst>
                </a:gridCol>
              </a:tblGrid>
              <a:tr h="396201">
                <a:tc gridSpan="15">
                  <a:txBody>
                    <a:bodyPr/>
                    <a:lstStyle/>
                    <a:p>
                      <a:pPr algn="just"/>
                      <a:r>
                        <a:rPr lang="en-IN" sz="1200">
                          <a:effectLst/>
                        </a:rPr>
                        <a:t>Table: Mapping Levels of COs to POs / PSOs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just"/>
                      <a:r>
                        <a:rPr lang="en-IN" sz="1200">
                          <a:effectLst/>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52781916"/>
                  </a:ext>
                </a:extLst>
              </a:tr>
              <a:tr h="239506">
                <a:tc rowSpan="2">
                  <a:txBody>
                    <a:bodyPr/>
                    <a:lstStyle/>
                    <a:p>
                      <a:pPr algn="just"/>
                      <a:r>
                        <a:rPr lang="en-IN" sz="1200">
                          <a:effectLst/>
                        </a:rPr>
                        <a:t>COs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gridSpan="12">
                  <a:txBody>
                    <a:bodyPr/>
                    <a:lstStyle/>
                    <a:p>
                      <a:pPr algn="just"/>
                      <a:r>
                        <a:rPr lang="en-IN" sz="1200">
                          <a:effectLst/>
                        </a:rPr>
                        <a:t>Program Outcomes (POs)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just"/>
                      <a:r>
                        <a:rPr lang="en-IN" sz="1200">
                          <a:effectLst/>
                        </a:rPr>
                        <a:t>PSOs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tc>
                  <a:txBody>
                    <a:bodyPr/>
                    <a:lstStyle/>
                    <a:p>
                      <a:pPr algn="just"/>
                      <a:r>
                        <a:rPr lang="en-IN" sz="1200">
                          <a:effectLst/>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11928783"/>
                  </a:ext>
                </a:extLst>
              </a:tr>
              <a:tr h="2655683">
                <a:tc vMerge="1">
                  <a:txBody>
                    <a:bodyPr/>
                    <a:lstStyle/>
                    <a:p>
                      <a:endParaRPr lang="en-US"/>
                    </a:p>
                  </a:txBody>
                  <a:tcPr/>
                </a:tc>
                <a:tc>
                  <a:txBody>
                    <a:bodyPr/>
                    <a:lstStyle/>
                    <a:p>
                      <a:pPr algn="ctr"/>
                      <a:r>
                        <a:rPr lang="en-US" sz="900">
                          <a:effectLst/>
                        </a:rPr>
                        <a:t>Engineering knowledge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tc>
                  <a:txBody>
                    <a:bodyPr/>
                    <a:lstStyle/>
                    <a:p>
                      <a:pPr algn="ctr"/>
                      <a:r>
                        <a:rPr lang="en-US" sz="900">
                          <a:effectLst/>
                        </a:rPr>
                        <a:t>Problem analysis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tc>
                  <a:txBody>
                    <a:bodyPr/>
                    <a:lstStyle/>
                    <a:p>
                      <a:pPr algn="ctr"/>
                      <a:r>
                        <a:rPr lang="en-US" sz="900">
                          <a:effectLst/>
                        </a:rPr>
                        <a:t>Design/development of solutions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tc>
                  <a:txBody>
                    <a:bodyPr/>
                    <a:lstStyle/>
                    <a:p>
                      <a:pPr algn="ctr"/>
                      <a:r>
                        <a:rPr lang="en-US" sz="900">
                          <a:effectLst/>
                        </a:rPr>
                        <a:t>Conduct investigations of complex problems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tc>
                  <a:txBody>
                    <a:bodyPr/>
                    <a:lstStyle/>
                    <a:p>
                      <a:pPr algn="ctr"/>
                      <a:r>
                        <a:rPr lang="en-US" sz="900">
                          <a:effectLst/>
                        </a:rPr>
                        <a:t>Modern tool usage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tc>
                  <a:txBody>
                    <a:bodyPr/>
                    <a:lstStyle/>
                    <a:p>
                      <a:pPr algn="ctr"/>
                      <a:r>
                        <a:rPr lang="en-US" sz="900">
                          <a:effectLst/>
                        </a:rPr>
                        <a:t>The engineer and society</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tc>
                  <a:txBody>
                    <a:bodyPr/>
                    <a:lstStyle/>
                    <a:p>
                      <a:pPr algn="ctr"/>
                      <a:r>
                        <a:rPr lang="en-US" sz="900">
                          <a:effectLst/>
                        </a:rPr>
                        <a:t>Environment and sustainability</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tc>
                  <a:txBody>
                    <a:bodyPr/>
                    <a:lstStyle/>
                    <a:p>
                      <a:pPr algn="ctr"/>
                      <a:r>
                        <a:rPr lang="en-US" sz="900">
                          <a:effectLst/>
                        </a:rPr>
                        <a:t>Ethics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tc>
                  <a:txBody>
                    <a:bodyPr/>
                    <a:lstStyle/>
                    <a:p>
                      <a:pPr algn="ctr"/>
                      <a:r>
                        <a:rPr lang="en-US" sz="900">
                          <a:effectLst/>
                        </a:rPr>
                        <a:t>Individual and team work</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tc>
                  <a:txBody>
                    <a:bodyPr/>
                    <a:lstStyle/>
                    <a:p>
                      <a:pPr algn="ctr"/>
                      <a:r>
                        <a:rPr lang="en-US" sz="900">
                          <a:effectLst/>
                        </a:rPr>
                        <a:t>Communication</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tc>
                  <a:txBody>
                    <a:bodyPr/>
                    <a:lstStyle/>
                    <a:p>
                      <a:pPr algn="ctr"/>
                      <a:r>
                        <a:rPr lang="en-US" sz="900">
                          <a:effectLst/>
                        </a:rPr>
                        <a:t>Project management and finance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tc>
                  <a:txBody>
                    <a:bodyPr/>
                    <a:lstStyle/>
                    <a:p>
                      <a:pPr algn="ctr"/>
                      <a:r>
                        <a:rPr lang="en-US" sz="900">
                          <a:effectLst/>
                        </a:rPr>
                        <a:t>Life-long learning</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tc>
                  <a:txBody>
                    <a:bodyPr/>
                    <a:lstStyle/>
                    <a:p>
                      <a:pPr algn="ctr"/>
                      <a:r>
                        <a:rPr lang="en-US" sz="900">
                          <a:effectLst/>
                        </a:rPr>
                        <a:t>Apply Analytical, Mathematical and Programming Skills in AI and ML domain for Design and Development, Analyse and test principles of Intelligent Systems used to solve Real World Problems.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tc>
                  <a:txBody>
                    <a:bodyPr/>
                    <a:lstStyle/>
                    <a:p>
                      <a:pPr algn="ctr"/>
                      <a:r>
                        <a:rPr lang="en-US" sz="900">
                          <a:effectLst/>
                        </a:rPr>
                        <a:t>Formulate &amp; Build Optimized Solutions for Computationally Intensive Applications.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tc>
                  <a:txBody>
                    <a:bodyPr/>
                    <a:lstStyle/>
                    <a:p>
                      <a:pPr algn="ctr"/>
                      <a:r>
                        <a:rPr lang="en-US" sz="900">
                          <a:effectLst/>
                        </a:rPr>
                        <a:t>PO’s Average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vert="vert270"/>
                </a:tc>
                <a:extLst>
                  <a:ext uri="{0D108BD9-81ED-4DB2-BD59-A6C34878D82A}">
                    <a16:rowId xmlns:a16="http://schemas.microsoft.com/office/drawing/2014/main" val="4154411364"/>
                  </a:ext>
                </a:extLst>
              </a:tr>
              <a:tr h="467647">
                <a:tc>
                  <a:txBody>
                    <a:bodyPr/>
                    <a:lstStyle/>
                    <a:p>
                      <a:pPr algn="just"/>
                      <a:r>
                        <a:rPr lang="en-IN" sz="1200">
                          <a:effectLst/>
                        </a:rPr>
                        <a:t>CO1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1.40</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07361798"/>
                  </a:ext>
                </a:extLst>
              </a:tr>
              <a:tr h="467647">
                <a:tc>
                  <a:txBody>
                    <a:bodyPr/>
                    <a:lstStyle/>
                    <a:p>
                      <a:pPr algn="just"/>
                      <a:r>
                        <a:rPr lang="en-IN" sz="1200">
                          <a:effectLst/>
                        </a:rPr>
                        <a:t>CO2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1.66</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30719150"/>
                  </a:ext>
                </a:extLst>
              </a:tr>
              <a:tr h="467647">
                <a:tc>
                  <a:txBody>
                    <a:bodyPr/>
                    <a:lstStyle/>
                    <a:p>
                      <a:pPr algn="just"/>
                      <a:r>
                        <a:rPr lang="en-IN" sz="1200">
                          <a:effectLst/>
                        </a:rPr>
                        <a:t>CO3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1.66</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29748215"/>
                  </a:ext>
                </a:extLst>
              </a:tr>
              <a:tr h="467647">
                <a:tc>
                  <a:txBody>
                    <a:bodyPr/>
                    <a:lstStyle/>
                    <a:p>
                      <a:pPr algn="just"/>
                      <a:r>
                        <a:rPr lang="en-IN" sz="1200">
                          <a:effectLst/>
                        </a:rPr>
                        <a:t>CO4</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1.66</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78623738"/>
                  </a:ext>
                </a:extLst>
              </a:tr>
              <a:tr h="467647">
                <a:tc>
                  <a:txBody>
                    <a:bodyPr/>
                    <a:lstStyle/>
                    <a:p>
                      <a:pPr algn="just"/>
                      <a:r>
                        <a:rPr lang="en-IN" sz="1200">
                          <a:effectLst/>
                        </a:rPr>
                        <a:t>CO5</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3</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 </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1</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a:effectLst/>
                        </a:rPr>
                        <a:t>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r>
                        <a:rPr lang="en-IN" sz="1200" dirty="0">
                          <a:effectLst/>
                        </a:rPr>
                        <a:t>1.85</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71678492"/>
                  </a:ext>
                </a:extLst>
              </a:tr>
            </a:tbl>
          </a:graphicData>
        </a:graphic>
      </p:graphicFrame>
      <p:sp>
        <p:nvSpPr>
          <p:cNvPr id="10" name="TextBox 9">
            <a:extLst>
              <a:ext uri="{FF2B5EF4-FFF2-40B4-BE49-F238E27FC236}">
                <a16:creationId xmlns:a16="http://schemas.microsoft.com/office/drawing/2014/main" id="{455DF195-6BD4-0B7A-5A23-8847F491C8B3}"/>
              </a:ext>
            </a:extLst>
          </p:cNvPr>
          <p:cNvSpPr txBox="1"/>
          <p:nvPr/>
        </p:nvSpPr>
        <p:spPr>
          <a:xfrm>
            <a:off x="840248" y="89593"/>
            <a:ext cx="6135328" cy="369332"/>
          </a:xfrm>
          <a:prstGeom prst="rect">
            <a:avLst/>
          </a:prstGeom>
          <a:noFill/>
        </p:spPr>
        <p:txBody>
          <a:bodyPr wrap="square">
            <a:spAutoFit/>
          </a:bodyPr>
          <a:lstStyle/>
          <a:p>
            <a:r>
              <a:rPr lang="en-US" dirty="0"/>
              <a:t>(New PSO’S)</a:t>
            </a:r>
          </a:p>
        </p:txBody>
      </p:sp>
    </p:spTree>
    <p:extLst>
      <p:ext uri="{BB962C8B-B14F-4D97-AF65-F5344CB8AC3E}">
        <p14:creationId xmlns:p14="http://schemas.microsoft.com/office/powerpoint/2010/main" val="4265129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259107" y="1849581"/>
            <a:ext cx="10334573" cy="3401962"/>
          </a:xfrm>
        </p:spPr>
        <p:txBody>
          <a:bodyPr>
            <a:noAutofit/>
          </a:bodyPr>
          <a:lstStyle/>
          <a:p>
            <a:pPr algn="just">
              <a:lnSpc>
                <a:spcPct val="107000"/>
              </a:lnSpc>
              <a:spcAft>
                <a:spcPts val="800"/>
              </a:spcAft>
            </a:pPr>
            <a:r>
              <a:rPr lang="en-IN" sz="1600" b="1"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E-Resources:</a:t>
            </a:r>
            <a:endParaRPr lang="en-US" sz="1600" dirty="0">
              <a:effectLst/>
              <a:latin typeface="Calibri" panose="020F0502020204030204" pitchFamily="34" charset="0"/>
              <a:ea typeface="Calibri" panose="020F0502020204030204" pitchFamily="34" charset="0"/>
            </a:endParaRPr>
          </a:p>
          <a:p>
            <a:pPr marL="342900" lvl="0" indent="-342900" algn="just">
              <a:lnSpc>
                <a:spcPct val="107000"/>
              </a:lnSpc>
              <a:spcAft>
                <a:spcPts val="800"/>
              </a:spcAft>
              <a:buSzPts val="1100"/>
              <a:buFont typeface="Cambria" panose="02040503050406030204" pitchFamily="18" charset="0"/>
              <a:buAutoNum type="arabicPeriod"/>
            </a:pPr>
            <a:r>
              <a:rPr lang="en-IN" sz="1600" u="none" strike="noStrike" dirty="0">
                <a:solidFill>
                  <a:srgbClr val="0563C1"/>
                </a:solidFill>
                <a:effectLst/>
                <a:latin typeface="Cambria" panose="02040503050406030204" pitchFamily="18" charset="0"/>
                <a:ea typeface="Cambria" panose="02040503050406030204" pitchFamily="18" charset="0"/>
                <a:cs typeface="Cambria" panose="02040503050406030204" pitchFamily="18" charset="0"/>
                <a:hlinkClick r:id="rId2"/>
              </a:rPr>
              <a:t>https://onlinecourses.nptel.ac.in/noc22_cs56/preview</a:t>
            </a:r>
            <a:endParaRPr lang="en-US" sz="1600" dirty="0">
              <a:effectLst/>
              <a:latin typeface="Calibri" panose="020F0502020204030204" pitchFamily="34" charset="0"/>
              <a:ea typeface="Cambria" panose="02040503050406030204" pitchFamily="18" charset="0"/>
              <a:cs typeface="Cambria" panose="02040503050406030204" pitchFamily="18" charset="0"/>
            </a:endParaRPr>
          </a:p>
          <a:p>
            <a:pPr marL="342900" lvl="0" indent="-342900" algn="just">
              <a:lnSpc>
                <a:spcPct val="107000"/>
              </a:lnSpc>
              <a:spcAft>
                <a:spcPts val="800"/>
              </a:spcAft>
              <a:buSzPts val="1100"/>
              <a:buFont typeface="Cambria" panose="02040503050406030204" pitchFamily="18" charset="0"/>
              <a:buAutoNum type="arabicPeriod"/>
            </a:pPr>
            <a:r>
              <a:rPr lang="en-IN" sz="1600" u="sng" dirty="0">
                <a:solidFill>
                  <a:srgbClr val="0563C1"/>
                </a:solidFill>
                <a:effectLst/>
                <a:latin typeface="Cambria" panose="02040503050406030204" pitchFamily="18" charset="0"/>
                <a:ea typeface="Cambria" panose="02040503050406030204" pitchFamily="18" charset="0"/>
                <a:cs typeface="Cambria" panose="02040503050406030204" pitchFamily="18" charset="0"/>
                <a:hlinkClick r:id="rId3"/>
              </a:rPr>
              <a:t>https://onlinecourses.nptel.ac.in/noc23_ge40/preview</a:t>
            </a:r>
            <a:endParaRPr lang="en-US" sz="1600" dirty="0">
              <a:effectLst/>
              <a:latin typeface="Calibri" panose="020F0502020204030204" pitchFamily="34" charset="0"/>
              <a:ea typeface="Calibri" panose="020F0502020204030204" pitchFamily="34" charset="0"/>
            </a:endParaRPr>
          </a:p>
          <a:p>
            <a:pPr algn="just">
              <a:lnSpc>
                <a:spcPct val="107000"/>
              </a:lnSpc>
              <a:spcAft>
                <a:spcPts val="800"/>
              </a:spcAft>
            </a:pPr>
            <a:r>
              <a:rPr lang="en-IN" sz="1600" b="1"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Activity Based Learning (Suggested Activities in Class)</a:t>
            </a:r>
            <a:endParaRPr lang="en-US" sz="1600" dirty="0">
              <a:effectLst/>
              <a:latin typeface="Calibri" panose="020F0502020204030204" pitchFamily="34" charset="0"/>
              <a:ea typeface="Calibri" panose="020F0502020204030204" pitchFamily="34" charset="0"/>
            </a:endParaRPr>
          </a:p>
          <a:p>
            <a:pPr marL="342900" lvl="0" indent="-342900" algn="just">
              <a:lnSpc>
                <a:spcPct val="107000"/>
              </a:lnSpc>
              <a:spcAft>
                <a:spcPts val="600"/>
              </a:spcAft>
              <a:buFont typeface="+mj-lt"/>
              <a:buAutoNum type="arabicPeriod"/>
            </a:pPr>
            <a:r>
              <a:rPr lang="en-IN" sz="16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Flipped Class Activity on Searching Techniques.</a:t>
            </a:r>
            <a:endParaRPr lang="en-US" sz="1600" dirty="0">
              <a:effectLst/>
              <a:latin typeface="Calibri" panose="020F0502020204030204" pitchFamily="34" charset="0"/>
              <a:ea typeface="Calibri" panose="020F0502020204030204" pitchFamily="34" charset="0"/>
            </a:endParaRPr>
          </a:p>
          <a:p>
            <a:pPr marL="342900" lvl="0" indent="-342900" algn="just">
              <a:lnSpc>
                <a:spcPct val="107000"/>
              </a:lnSpc>
              <a:spcAft>
                <a:spcPts val="600"/>
              </a:spcAft>
              <a:buFont typeface="+mj-lt"/>
              <a:buAutoNum type="arabicPeriod"/>
            </a:pPr>
            <a:r>
              <a:rPr lang="en-IN" sz="16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Problem Solving and Discussion.</a:t>
            </a:r>
            <a:endParaRPr lang="en-US" sz="1600" dirty="0">
              <a:effectLst/>
              <a:latin typeface="Calibri" panose="020F0502020204030204" pitchFamily="34" charset="0"/>
              <a:ea typeface="Calibri" panose="020F0502020204030204" pitchFamily="34" charset="0"/>
            </a:endParaRPr>
          </a:p>
          <a:p>
            <a:pPr marL="342900" lvl="0" indent="-342900" algn="just">
              <a:lnSpc>
                <a:spcPct val="107000"/>
              </a:lnSpc>
              <a:spcAft>
                <a:spcPts val="600"/>
              </a:spcAft>
              <a:buFont typeface="+mj-lt"/>
              <a:buAutoNum type="arabicPeriod"/>
            </a:pPr>
            <a:r>
              <a:rPr lang="en-IN" sz="16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Mini Project (presentation &amp; Report)</a:t>
            </a:r>
            <a:endParaRPr lang="en-US" sz="1600" dirty="0">
              <a:effectLst/>
              <a:latin typeface="Calibri" panose="020F0502020204030204" pitchFamily="34" charset="0"/>
              <a:ea typeface="Calibri" panose="020F0502020204030204" pitchFamily="34" charset="0"/>
            </a:endParaRPr>
          </a:p>
          <a:p>
            <a:endParaRPr lang="en-US" sz="1600"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4">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580731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676302" y="240652"/>
            <a:ext cx="8911687" cy="809144"/>
          </a:xfrm>
        </p:spPr>
        <p:txBody>
          <a:bodyPr/>
          <a:lstStyle/>
          <a:p>
            <a:r>
              <a:rPr lang="en-US" dirty="0"/>
              <a:t>Marks division</a:t>
            </a:r>
          </a:p>
        </p:txBody>
      </p:sp>
      <p:graphicFrame>
        <p:nvGraphicFramePr>
          <p:cNvPr id="8" name="Content Placeholder 7">
            <a:extLst>
              <a:ext uri="{FF2B5EF4-FFF2-40B4-BE49-F238E27FC236}">
                <a16:creationId xmlns:a16="http://schemas.microsoft.com/office/drawing/2014/main" id="{D1AF2572-F4AC-AE8B-B56A-D0E18E0D6488}"/>
              </a:ext>
            </a:extLst>
          </p:cNvPr>
          <p:cNvGraphicFramePr>
            <a:graphicFrameLocks noGrp="1"/>
          </p:cNvGraphicFramePr>
          <p:nvPr>
            <p:ph idx="1"/>
            <p:extLst>
              <p:ext uri="{D42A27DB-BD31-4B8C-83A1-F6EECF244321}">
                <p14:modId xmlns:p14="http://schemas.microsoft.com/office/powerpoint/2010/main" val="1360443679"/>
              </p:ext>
            </p:extLst>
          </p:nvPr>
        </p:nvGraphicFramePr>
        <p:xfrm>
          <a:off x="2087768" y="1406013"/>
          <a:ext cx="8915400" cy="3778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7">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2584879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676302" y="240652"/>
            <a:ext cx="8911687" cy="1280890"/>
          </a:xfrm>
        </p:spPr>
        <p:txBody>
          <a:bodyPr/>
          <a:lstStyle/>
          <a:p>
            <a:r>
              <a:rPr lang="en-US" dirty="0"/>
              <a:t>CIA Marks Split Up – 60M</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139389"/>
            <a:ext cx="10638502" cy="4948554"/>
          </a:xfrm>
        </p:spPr>
        <p:txBody>
          <a:bodyPr>
            <a:normAutofit/>
          </a:bodyPr>
          <a:lstStyle/>
          <a:p>
            <a:r>
              <a:rPr lang="en-US" b="1" dirty="0">
                <a:latin typeface="Bookman Old Style" panose="02050604050505020204" pitchFamily="18" charset="0"/>
              </a:rPr>
              <a:t>Internal Assessment – 40M (Average of 2 MSE).</a:t>
            </a:r>
          </a:p>
          <a:p>
            <a:r>
              <a:rPr lang="en-US" b="1" dirty="0">
                <a:latin typeface="Bookman Old Style" panose="02050604050505020204" pitchFamily="18" charset="0"/>
              </a:rPr>
              <a:t>MSE (Mid Semester Examination) </a:t>
            </a:r>
            <a:r>
              <a:rPr lang="en-US" dirty="0">
                <a:latin typeface="Bookman Old Style" panose="02050604050505020204" pitchFamily="18" charset="0"/>
              </a:rPr>
              <a:t>Will be conducted twice in a semester. </a:t>
            </a:r>
          </a:p>
          <a:p>
            <a:r>
              <a:rPr lang="en-US" dirty="0">
                <a:effectLst/>
                <a:latin typeface="Bookman Old Style" panose="02050604050505020204" pitchFamily="18" charset="0"/>
                <a:ea typeface="Calibri" panose="020F0502020204030204" pitchFamily="34" charset="0"/>
              </a:rPr>
              <a:t>Total marks for </a:t>
            </a:r>
            <a:r>
              <a:rPr lang="en-US" dirty="0">
                <a:latin typeface="Bookman Old Style" panose="02050604050505020204" pitchFamily="18" charset="0"/>
                <a:ea typeface="Calibri" panose="020F0502020204030204" pitchFamily="34" charset="0"/>
              </a:rPr>
              <a:t>MSE </a:t>
            </a:r>
            <a:r>
              <a:rPr lang="en-US" dirty="0">
                <a:effectLst/>
                <a:latin typeface="Bookman Old Style" panose="02050604050505020204" pitchFamily="18" charset="0"/>
                <a:ea typeface="Calibri" panose="020F0502020204030204" pitchFamily="34" charset="0"/>
              </a:rPr>
              <a:t>Question Paper will be 40M.</a:t>
            </a:r>
          </a:p>
          <a:p>
            <a:r>
              <a:rPr lang="en-US" dirty="0">
                <a:latin typeface="Bookman Old Style" panose="02050604050505020204" pitchFamily="18" charset="0"/>
                <a:ea typeface="Calibri" panose="020F0502020204030204" pitchFamily="34" charset="0"/>
              </a:rPr>
              <a:t>Average of 2 MSE will be considered for awarding the MSE total marks out of 40M</a:t>
            </a:r>
          </a:p>
          <a:p>
            <a:r>
              <a:rPr lang="en-US" dirty="0">
                <a:latin typeface="Bookman Old Style" panose="02050604050505020204" pitchFamily="18" charset="0"/>
                <a:ea typeface="Calibri" panose="020F0502020204030204" pitchFamily="34" charset="0"/>
              </a:rPr>
              <a:t>MSE-</a:t>
            </a:r>
            <a:r>
              <a:rPr lang="en-US" dirty="0">
                <a:effectLst/>
                <a:latin typeface="Bookman Old Style" panose="02050604050505020204" pitchFamily="18" charset="0"/>
                <a:ea typeface="Calibri" panose="020F0502020204030204" pitchFamily="34" charset="0"/>
              </a:rPr>
              <a:t>1 Portions will be from Unit 1 &amp; 2</a:t>
            </a:r>
          </a:p>
          <a:p>
            <a:r>
              <a:rPr lang="en-US" dirty="0">
                <a:latin typeface="Bookman Old Style" panose="02050604050505020204" pitchFamily="18" charset="0"/>
              </a:rPr>
              <a:t>MSE-2 portions will be from Unit 3 &amp; 4</a:t>
            </a:r>
          </a:p>
          <a:p>
            <a:r>
              <a:rPr lang="en-US" b="1" dirty="0">
                <a:latin typeface="Bookman Old Style" panose="02050604050505020204" pitchFamily="18" charset="0"/>
              </a:rPr>
              <a:t> Other Components – 20M</a:t>
            </a:r>
          </a:p>
          <a:p>
            <a:pPr lvl="1"/>
            <a:r>
              <a:rPr lang="en-IN" sz="1600" dirty="0">
                <a:solidFill>
                  <a:srgbClr val="000000"/>
                </a:solidFill>
                <a:effectLst/>
                <a:latin typeface="Bookman Old Style" panose="02050604050505020204" pitchFamily="18" charset="0"/>
                <a:ea typeface="Cambria" panose="02040503050406030204" pitchFamily="18" charset="0"/>
                <a:cs typeface="Cambria" panose="02040503050406030204" pitchFamily="18" charset="0"/>
              </a:rPr>
              <a:t>Mini Project (Report 15-20 pages minimum, Upload PPT and Video link). – 15M </a:t>
            </a:r>
            <a:r>
              <a:rPr lang="en-IN" dirty="0">
                <a:solidFill>
                  <a:srgbClr val="000000"/>
                </a:solidFill>
                <a:latin typeface="Bookman Old Style" panose="02050604050505020204" pitchFamily="18" charset="0"/>
                <a:ea typeface="Cambria" panose="02040503050406030204" pitchFamily="18" charset="0"/>
                <a:cs typeface="Cambria" panose="02040503050406030204" pitchFamily="18" charset="0"/>
              </a:rPr>
              <a:t>(4 Members for Batch Mandatory</a:t>
            </a:r>
            <a:r>
              <a:rPr lang="en-IN" sz="1600" dirty="0">
                <a:solidFill>
                  <a:srgbClr val="000000"/>
                </a:solidFill>
                <a:effectLst/>
                <a:latin typeface="Bookman Old Style" panose="02050604050505020204" pitchFamily="18" charset="0"/>
                <a:ea typeface="Cambria" panose="02040503050406030204" pitchFamily="18" charset="0"/>
                <a:cs typeface="Cambria" panose="02040503050406030204" pitchFamily="18" charset="0"/>
              </a:rPr>
              <a:t>)</a:t>
            </a:r>
          </a:p>
          <a:p>
            <a:pPr lvl="1"/>
            <a:r>
              <a:rPr lang="en-IN" dirty="0">
                <a:solidFill>
                  <a:srgbClr val="000000"/>
                </a:solidFill>
                <a:latin typeface="Bookman Old Style" panose="02050604050505020204" pitchFamily="18" charset="0"/>
                <a:ea typeface="Cambria" panose="02040503050406030204" pitchFamily="18" charset="0"/>
                <a:cs typeface="Cambria" panose="02040503050406030204" pitchFamily="18" charset="0"/>
              </a:rPr>
              <a:t>Open test/Quiz </a:t>
            </a:r>
            <a:r>
              <a:rPr lang="en-IN" sz="1600" dirty="0">
                <a:solidFill>
                  <a:srgbClr val="000000"/>
                </a:solidFill>
                <a:effectLst/>
                <a:latin typeface="Bookman Old Style" panose="02050604050505020204" pitchFamily="18" charset="0"/>
                <a:ea typeface="Cambria" panose="02040503050406030204" pitchFamily="18" charset="0"/>
                <a:cs typeface="Cambria" panose="02040503050406030204" pitchFamily="18" charset="0"/>
              </a:rPr>
              <a:t> – 5M</a:t>
            </a:r>
          </a:p>
          <a:p>
            <a:pPr lvl="2"/>
            <a:r>
              <a:rPr lang="en-IN" dirty="0">
                <a:solidFill>
                  <a:srgbClr val="FF0000"/>
                </a:solidFill>
                <a:effectLst/>
                <a:latin typeface="Bookman Old Style" panose="02050604050505020204" pitchFamily="18" charset="0"/>
                <a:ea typeface="Cambria" panose="02040503050406030204" pitchFamily="18" charset="0"/>
              </a:rPr>
              <a:t>Below 75% -0M (chances of getting detained)</a:t>
            </a:r>
            <a:endParaRPr lang="en-US" dirty="0">
              <a:solidFill>
                <a:srgbClr val="FF0000"/>
              </a:solidFill>
              <a:effectLst/>
              <a:latin typeface="Bookman Old Style" panose="02050604050505020204" pitchFamily="18" charset="0"/>
              <a:ea typeface="Calibri" panose="020F0502020204030204" pitchFamily="34" charset="0"/>
            </a:endParaRPr>
          </a:p>
          <a:p>
            <a:pPr lvl="1"/>
            <a:endParaRPr lang="en-US" sz="1600" dirty="0">
              <a:effectLst/>
              <a:latin typeface="Calibri" panose="020F0502020204030204" pitchFamily="34" charset="0"/>
              <a:ea typeface="Calibri" panose="020F0502020204030204" pitchFamily="34" charset="0"/>
            </a:endParaRPr>
          </a:p>
          <a:p>
            <a:pPr lvl="1"/>
            <a:endParaRPr lang="en-US" sz="1600" dirty="0">
              <a:effectLst/>
              <a:latin typeface="Calibri" panose="020F0502020204030204" pitchFamily="34" charset="0"/>
              <a:ea typeface="Calibri" panose="020F0502020204030204" pitchFamily="34" charset="0"/>
            </a:endParaRPr>
          </a:p>
          <a:p>
            <a:pPr lvl="1"/>
            <a:endParaRPr lang="en-US" dirty="0"/>
          </a:p>
          <a:p>
            <a:endParaRPr lang="en-US" dirty="0"/>
          </a:p>
        </p:txBody>
      </p:sp>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4122033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676302" y="240652"/>
            <a:ext cx="8911687" cy="1280890"/>
          </a:xfrm>
        </p:spPr>
        <p:txBody>
          <a:bodyPr/>
          <a:lstStyle/>
          <a:p>
            <a:r>
              <a:rPr lang="en-US" dirty="0"/>
              <a:t>SEE Marks Split Up – 40M</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2235715"/>
          </a:xfrm>
        </p:spPr>
        <p:txBody>
          <a:bodyPr/>
          <a:lstStyle/>
          <a:p>
            <a:r>
              <a:rPr lang="en-US" b="1" dirty="0">
                <a:latin typeface="Bookman Old Style" panose="02050604050505020204" pitchFamily="18" charset="0"/>
              </a:rPr>
              <a:t>SEE (Semester End Examination)</a:t>
            </a:r>
            <a:r>
              <a:rPr lang="en-US" dirty="0">
                <a:latin typeface="Bookman Old Style" panose="02050604050505020204" pitchFamily="18" charset="0"/>
              </a:rPr>
              <a:t>, Will be conducted at the end of the 3rd semester. </a:t>
            </a:r>
          </a:p>
          <a:p>
            <a:r>
              <a:rPr lang="en-US" dirty="0">
                <a:effectLst/>
                <a:latin typeface="Bookman Old Style" panose="02050604050505020204" pitchFamily="18" charset="0"/>
                <a:ea typeface="Calibri" panose="020F0502020204030204" pitchFamily="34" charset="0"/>
              </a:rPr>
              <a:t>Total marks for SEE Question Paper will be 100M.</a:t>
            </a:r>
          </a:p>
          <a:p>
            <a:r>
              <a:rPr lang="en-US" dirty="0">
                <a:latin typeface="Bookman Old Style" panose="02050604050505020204" pitchFamily="18" charset="0"/>
                <a:ea typeface="Calibri" panose="020F0502020204030204" pitchFamily="34" charset="0"/>
              </a:rPr>
              <a:t>Later 100M will be scaled down to 40M</a:t>
            </a:r>
          </a:p>
          <a:p>
            <a:r>
              <a:rPr lang="en-US" dirty="0">
                <a:effectLst/>
                <a:latin typeface="Bookman Old Style" panose="02050604050505020204" pitchFamily="18" charset="0"/>
                <a:ea typeface="Calibri" panose="020F0502020204030204" pitchFamily="34" charset="0"/>
              </a:rPr>
              <a:t>SEE Question paper will consist of 5Questions (each module will have one full question, and Each question carries a maximum of 20 Marks)</a:t>
            </a:r>
          </a:p>
          <a:p>
            <a:pPr lvl="1"/>
            <a:endParaRPr lang="en-US" sz="1600" dirty="0">
              <a:effectLst/>
              <a:latin typeface="Calibri" panose="020F0502020204030204" pitchFamily="34" charset="0"/>
              <a:ea typeface="Calibri" panose="020F0502020204030204" pitchFamily="34" charset="0"/>
            </a:endParaRPr>
          </a:p>
          <a:p>
            <a:pPr lvl="1"/>
            <a:endParaRPr lang="en-US" sz="1600" dirty="0">
              <a:effectLst/>
              <a:latin typeface="Calibri" panose="020F0502020204030204" pitchFamily="34" charset="0"/>
              <a:ea typeface="Calibri" panose="020F0502020204030204" pitchFamily="34" charset="0"/>
            </a:endParaRPr>
          </a:p>
          <a:p>
            <a:pPr lvl="1"/>
            <a:endParaRPr lang="en-US" dirty="0"/>
          </a:p>
          <a:p>
            <a:endParaRPr lang="en-US" dirty="0"/>
          </a:p>
        </p:txBody>
      </p:sp>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28571153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Prerequisites – Brush up course</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
        <p:nvSpPr>
          <p:cNvPr id="10" name="Content Placeholder 9">
            <a:extLst>
              <a:ext uri="{FF2B5EF4-FFF2-40B4-BE49-F238E27FC236}">
                <a16:creationId xmlns:a16="http://schemas.microsoft.com/office/drawing/2014/main" id="{E3AD497E-3BEF-74D6-D4FF-E3E46C09AE4C}"/>
              </a:ext>
            </a:extLst>
          </p:cNvPr>
          <p:cNvSpPr>
            <a:spLocks noGrp="1"/>
          </p:cNvSpPr>
          <p:nvPr>
            <p:ph idx="1"/>
          </p:nvPr>
        </p:nvSpPr>
        <p:spPr>
          <a:xfrm>
            <a:off x="1638300" y="1049796"/>
            <a:ext cx="8915400" cy="3777622"/>
          </a:xfrm>
        </p:spPr>
        <p:txBody>
          <a:bodyPr/>
          <a:lstStyle/>
          <a:p>
            <a:r>
              <a:rPr lang="en-US" dirty="0"/>
              <a:t>Introduction to C Program</a:t>
            </a:r>
          </a:p>
          <a:p>
            <a:r>
              <a:rPr lang="en-US" dirty="0"/>
              <a:t>Introduction to Python</a:t>
            </a:r>
          </a:p>
          <a:p>
            <a:r>
              <a:rPr lang="en-US" dirty="0"/>
              <a:t>Keywords in C &amp; python</a:t>
            </a:r>
          </a:p>
          <a:p>
            <a:r>
              <a:rPr lang="en-US" dirty="0"/>
              <a:t>Basic difference between C &amp; python Programming</a:t>
            </a:r>
          </a:p>
          <a:p>
            <a:r>
              <a:rPr lang="en-US" dirty="0"/>
              <a:t>Sample examples program in Python. </a:t>
            </a:r>
          </a:p>
        </p:txBody>
      </p:sp>
    </p:spTree>
    <p:extLst>
      <p:ext uri="{BB962C8B-B14F-4D97-AF65-F5344CB8AC3E}">
        <p14:creationId xmlns:p14="http://schemas.microsoft.com/office/powerpoint/2010/main" val="34459596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7BE6FF6F-046C-3826-77B0-4087BB38D50D}"/>
              </a:ext>
            </a:extLst>
          </p:cNvPr>
          <p:cNvSpPr txBox="1"/>
          <p:nvPr/>
        </p:nvSpPr>
        <p:spPr>
          <a:xfrm>
            <a:off x="265559" y="3429000"/>
            <a:ext cx="9787240" cy="2862322"/>
          </a:xfrm>
          <a:prstGeom prst="rect">
            <a:avLst/>
          </a:prstGeom>
          <a:solidFill>
            <a:schemeClr val="accent4">
              <a:lumMod val="60000"/>
              <a:lumOff val="40000"/>
            </a:schemeClr>
          </a:solidFill>
        </p:spPr>
        <p:txBody>
          <a:bodyPr wrap="square">
            <a:spAutoFit/>
          </a:bodyPr>
          <a:lstStyle/>
          <a:p>
            <a:r>
              <a:rPr lang="en-US" b="0" dirty="0">
                <a:solidFill>
                  <a:srgbClr val="008000"/>
                </a:solidFill>
                <a:effectLst/>
                <a:latin typeface="Courier New" panose="02070309020205020404" pitchFamily="49" charset="0"/>
              </a:rPr>
              <a:t># Store input numbers</a:t>
            </a:r>
            <a:endParaRPr lang="en-US" b="0" dirty="0">
              <a:solidFill>
                <a:srgbClr val="000000"/>
              </a:solidFill>
              <a:effectLst/>
              <a:latin typeface="Courier New" panose="02070309020205020404" pitchFamily="49" charset="0"/>
            </a:endParaRPr>
          </a:p>
          <a:p>
            <a:r>
              <a:rPr lang="en-US" b="0" dirty="0">
                <a:solidFill>
                  <a:srgbClr val="000000"/>
                </a:solidFill>
                <a:effectLst/>
                <a:latin typeface="Courier New" panose="02070309020205020404" pitchFamily="49" charset="0"/>
              </a:rPr>
              <a:t>num1 = </a:t>
            </a:r>
            <a:r>
              <a:rPr lang="en-US" b="0" dirty="0">
                <a:solidFill>
                  <a:srgbClr val="795E26"/>
                </a:solidFill>
                <a:effectLst/>
                <a:latin typeface="Courier New" panose="02070309020205020404" pitchFamily="49" charset="0"/>
              </a:rPr>
              <a:t>input</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'Enter first number: '</a:t>
            </a:r>
            <a:r>
              <a:rPr lang="en-US" b="0" dirty="0">
                <a:solidFill>
                  <a:srgbClr val="000000"/>
                </a:solidFill>
                <a:effectLst/>
                <a:latin typeface="Courier New" panose="02070309020205020404" pitchFamily="49" charset="0"/>
              </a:rPr>
              <a:t>)</a:t>
            </a:r>
          </a:p>
          <a:p>
            <a:r>
              <a:rPr lang="en-US" b="0" dirty="0">
                <a:solidFill>
                  <a:srgbClr val="000000"/>
                </a:solidFill>
                <a:effectLst/>
                <a:latin typeface="Courier New" panose="02070309020205020404" pitchFamily="49" charset="0"/>
              </a:rPr>
              <a:t>num2 = </a:t>
            </a:r>
            <a:r>
              <a:rPr lang="en-US" b="0" dirty="0">
                <a:solidFill>
                  <a:srgbClr val="795E26"/>
                </a:solidFill>
                <a:effectLst/>
                <a:latin typeface="Courier New" panose="02070309020205020404" pitchFamily="49" charset="0"/>
              </a:rPr>
              <a:t>input</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'Enter second number: '</a:t>
            </a:r>
            <a:r>
              <a:rPr lang="en-US" b="0" dirty="0">
                <a:solidFill>
                  <a:srgbClr val="000000"/>
                </a:solidFill>
                <a:effectLst/>
                <a:latin typeface="Courier New" panose="02070309020205020404" pitchFamily="49" charset="0"/>
              </a:rPr>
              <a:t>)</a:t>
            </a:r>
          </a:p>
          <a:p>
            <a:br>
              <a:rPr lang="en-US" b="0" dirty="0">
                <a:solidFill>
                  <a:srgbClr val="000000"/>
                </a:solidFill>
                <a:effectLst/>
                <a:latin typeface="Courier New" panose="02070309020205020404" pitchFamily="49" charset="0"/>
              </a:rPr>
            </a:br>
            <a:r>
              <a:rPr lang="en-US" b="0" dirty="0">
                <a:solidFill>
                  <a:srgbClr val="008000"/>
                </a:solidFill>
                <a:effectLst/>
                <a:latin typeface="Courier New" panose="02070309020205020404" pitchFamily="49" charset="0"/>
              </a:rPr>
              <a:t># Add two numbers</a:t>
            </a:r>
            <a:endParaRPr lang="en-US" b="0" dirty="0">
              <a:solidFill>
                <a:srgbClr val="000000"/>
              </a:solidFill>
              <a:effectLst/>
              <a:latin typeface="Courier New" panose="02070309020205020404" pitchFamily="49" charset="0"/>
            </a:endParaRPr>
          </a:p>
          <a:p>
            <a:r>
              <a:rPr lang="en-US" b="0" dirty="0">
                <a:solidFill>
                  <a:srgbClr val="000000"/>
                </a:solidFill>
                <a:effectLst/>
                <a:latin typeface="Courier New" panose="02070309020205020404" pitchFamily="49" charset="0"/>
              </a:rPr>
              <a:t>sum = </a:t>
            </a:r>
            <a:r>
              <a:rPr lang="en-US" b="0" dirty="0">
                <a:solidFill>
                  <a:srgbClr val="257693"/>
                </a:solidFill>
                <a:effectLst/>
                <a:latin typeface="Courier New" panose="02070309020205020404" pitchFamily="49" charset="0"/>
              </a:rPr>
              <a:t>float</a:t>
            </a:r>
            <a:r>
              <a:rPr lang="en-US" b="0" dirty="0">
                <a:solidFill>
                  <a:srgbClr val="000000"/>
                </a:solidFill>
                <a:effectLst/>
                <a:latin typeface="Courier New" panose="02070309020205020404" pitchFamily="49" charset="0"/>
              </a:rPr>
              <a:t>(num1) + </a:t>
            </a:r>
            <a:r>
              <a:rPr lang="en-US" b="0" dirty="0">
                <a:solidFill>
                  <a:srgbClr val="257693"/>
                </a:solidFill>
                <a:effectLst/>
                <a:latin typeface="Courier New" panose="02070309020205020404" pitchFamily="49" charset="0"/>
              </a:rPr>
              <a:t>float</a:t>
            </a:r>
            <a:r>
              <a:rPr lang="en-US" b="0" dirty="0">
                <a:solidFill>
                  <a:srgbClr val="000000"/>
                </a:solidFill>
                <a:effectLst/>
                <a:latin typeface="Courier New" panose="02070309020205020404" pitchFamily="49" charset="0"/>
              </a:rPr>
              <a:t>(num2)</a:t>
            </a:r>
          </a:p>
          <a:p>
            <a:r>
              <a:rPr lang="en-US" b="0" dirty="0">
                <a:solidFill>
                  <a:srgbClr val="000000"/>
                </a:solidFill>
                <a:effectLst/>
                <a:latin typeface="Courier New" panose="02070309020205020404" pitchFamily="49" charset="0"/>
              </a:rPr>
              <a:t>diff = </a:t>
            </a:r>
            <a:r>
              <a:rPr lang="en-US" b="0" dirty="0">
                <a:solidFill>
                  <a:srgbClr val="257693"/>
                </a:solidFill>
                <a:effectLst/>
                <a:latin typeface="Courier New" panose="02070309020205020404" pitchFamily="49" charset="0"/>
              </a:rPr>
              <a:t>float</a:t>
            </a:r>
            <a:r>
              <a:rPr lang="en-US" b="0" dirty="0">
                <a:solidFill>
                  <a:srgbClr val="000000"/>
                </a:solidFill>
                <a:effectLst/>
                <a:latin typeface="Courier New" panose="02070309020205020404" pitchFamily="49" charset="0"/>
              </a:rPr>
              <a:t>(num1)-</a:t>
            </a:r>
            <a:r>
              <a:rPr lang="en-US" b="0" dirty="0">
                <a:solidFill>
                  <a:srgbClr val="257693"/>
                </a:solidFill>
                <a:effectLst/>
                <a:latin typeface="Courier New" panose="02070309020205020404" pitchFamily="49" charset="0"/>
              </a:rPr>
              <a:t>float</a:t>
            </a:r>
            <a:r>
              <a:rPr lang="en-US" b="0" dirty="0">
                <a:solidFill>
                  <a:srgbClr val="000000"/>
                </a:solidFill>
                <a:effectLst/>
                <a:latin typeface="Courier New" panose="02070309020205020404" pitchFamily="49" charset="0"/>
              </a:rPr>
              <a:t>(num2)</a:t>
            </a:r>
          </a:p>
          <a:p>
            <a:r>
              <a:rPr lang="en-US" b="0" dirty="0">
                <a:solidFill>
                  <a:srgbClr val="008000"/>
                </a:solidFill>
                <a:effectLst/>
                <a:latin typeface="Courier New" panose="02070309020205020404" pitchFamily="49" charset="0"/>
              </a:rPr>
              <a:t># Display the sum</a:t>
            </a:r>
            <a:endParaRPr lang="en-US" b="0" dirty="0">
              <a:solidFill>
                <a:srgbClr val="000000"/>
              </a:solidFill>
              <a:effectLst/>
              <a:latin typeface="Courier New" panose="02070309020205020404" pitchFamily="49" charset="0"/>
            </a:endParaRPr>
          </a:p>
          <a:p>
            <a:r>
              <a:rPr lang="en-US" b="0" dirty="0">
                <a:solidFill>
                  <a:srgbClr val="795E26"/>
                </a:solidFill>
                <a:effectLst/>
                <a:latin typeface="Courier New" panose="02070309020205020404" pitchFamily="49" charset="0"/>
              </a:rPr>
              <a:t>print</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'The sum of {0} and {1} is {2}'</a:t>
            </a:r>
            <a:r>
              <a:rPr lang="en-US" b="0" dirty="0">
                <a:solidFill>
                  <a:srgbClr val="000000"/>
                </a:solidFill>
                <a:effectLst/>
                <a:latin typeface="Courier New" panose="02070309020205020404" pitchFamily="49" charset="0"/>
              </a:rPr>
              <a:t>.</a:t>
            </a:r>
            <a:r>
              <a:rPr lang="en-US" b="0" dirty="0">
                <a:solidFill>
                  <a:srgbClr val="795E26"/>
                </a:solidFill>
                <a:effectLst/>
                <a:latin typeface="Courier New" panose="02070309020205020404" pitchFamily="49" charset="0"/>
              </a:rPr>
              <a:t>format</a:t>
            </a:r>
            <a:r>
              <a:rPr lang="en-US" b="0" dirty="0">
                <a:solidFill>
                  <a:srgbClr val="000000"/>
                </a:solidFill>
                <a:effectLst/>
                <a:latin typeface="Courier New" panose="02070309020205020404" pitchFamily="49" charset="0"/>
              </a:rPr>
              <a:t>(num1, num2, sum))</a:t>
            </a:r>
          </a:p>
          <a:p>
            <a:r>
              <a:rPr lang="en-US" b="0" dirty="0">
                <a:solidFill>
                  <a:srgbClr val="795E26"/>
                </a:solidFill>
                <a:effectLst/>
                <a:latin typeface="Courier New" panose="02070309020205020404" pitchFamily="49" charset="0"/>
              </a:rPr>
              <a:t>print</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'the difference of {0} and {1} is {2}'</a:t>
            </a:r>
            <a:r>
              <a:rPr lang="en-US" b="0" dirty="0">
                <a:solidFill>
                  <a:srgbClr val="000000"/>
                </a:solidFill>
                <a:effectLst/>
                <a:latin typeface="Courier New" panose="02070309020205020404" pitchFamily="49" charset="0"/>
              </a:rPr>
              <a:t>.</a:t>
            </a:r>
            <a:r>
              <a:rPr lang="en-US" b="0" dirty="0">
                <a:solidFill>
                  <a:srgbClr val="795E26"/>
                </a:solidFill>
                <a:effectLst/>
                <a:latin typeface="Courier New" panose="02070309020205020404" pitchFamily="49" charset="0"/>
              </a:rPr>
              <a:t>format</a:t>
            </a:r>
            <a:r>
              <a:rPr lang="en-US" b="0" dirty="0">
                <a:solidFill>
                  <a:srgbClr val="000000"/>
                </a:solidFill>
                <a:effectLst/>
                <a:latin typeface="Courier New" panose="02070309020205020404" pitchFamily="49" charset="0"/>
              </a:rPr>
              <a:t>(num1,num2,diff))</a:t>
            </a:r>
          </a:p>
        </p:txBody>
      </p:sp>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Sample Programs</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
        <p:nvSpPr>
          <p:cNvPr id="9" name="TextBox 8">
            <a:extLst>
              <a:ext uri="{FF2B5EF4-FFF2-40B4-BE49-F238E27FC236}">
                <a16:creationId xmlns:a16="http://schemas.microsoft.com/office/drawing/2014/main" id="{A263A0D8-8294-F5E4-FE3E-F5869FC71773}"/>
              </a:ext>
            </a:extLst>
          </p:cNvPr>
          <p:cNvSpPr txBox="1"/>
          <p:nvPr/>
        </p:nvSpPr>
        <p:spPr>
          <a:xfrm>
            <a:off x="1598515" y="988856"/>
            <a:ext cx="6135328" cy="923330"/>
          </a:xfrm>
          <a:prstGeom prst="rect">
            <a:avLst/>
          </a:prstGeom>
          <a:solidFill>
            <a:schemeClr val="accent2">
              <a:lumMod val="40000"/>
              <a:lumOff val="60000"/>
            </a:schemeClr>
          </a:solidFill>
        </p:spPr>
        <p:txBody>
          <a:bodyPr wrap="square">
            <a:spAutoFit/>
          </a:bodyPr>
          <a:lstStyle/>
          <a:p>
            <a:r>
              <a:rPr lang="en-US" b="1" dirty="0">
                <a:solidFill>
                  <a:srgbClr val="008000"/>
                </a:solidFill>
                <a:effectLst/>
                <a:latin typeface="Courier New" panose="02070309020205020404" pitchFamily="49" charset="0"/>
              </a:rPr>
              <a:t># This program prints Hello, world!</a:t>
            </a:r>
            <a:endParaRPr lang="en-US" b="1" dirty="0">
              <a:solidFill>
                <a:srgbClr val="000000"/>
              </a:solidFill>
              <a:effectLst/>
              <a:latin typeface="Courier New" panose="02070309020205020404" pitchFamily="49" charset="0"/>
            </a:endParaRPr>
          </a:p>
          <a:p>
            <a:br>
              <a:rPr lang="en-US" b="1" dirty="0">
                <a:solidFill>
                  <a:srgbClr val="000000"/>
                </a:solidFill>
                <a:effectLst/>
                <a:latin typeface="Courier New" panose="02070309020205020404" pitchFamily="49" charset="0"/>
              </a:rPr>
            </a:br>
            <a:r>
              <a:rPr lang="en-US" b="1" dirty="0">
                <a:solidFill>
                  <a:srgbClr val="795E26"/>
                </a:solidFill>
                <a:effectLst/>
                <a:latin typeface="Courier New" panose="02070309020205020404" pitchFamily="49" charset="0"/>
              </a:rPr>
              <a:t>print</a:t>
            </a:r>
            <a:r>
              <a:rPr lang="en-US" b="1" dirty="0">
                <a:solidFill>
                  <a:srgbClr val="000000"/>
                </a:solidFill>
                <a:effectLst/>
                <a:latin typeface="Courier New" panose="02070309020205020404" pitchFamily="49" charset="0"/>
              </a:rPr>
              <a:t>(</a:t>
            </a:r>
            <a:r>
              <a:rPr lang="en-US" b="1" dirty="0">
                <a:solidFill>
                  <a:srgbClr val="A31515"/>
                </a:solidFill>
                <a:effectLst/>
                <a:latin typeface="Courier New" panose="02070309020205020404" pitchFamily="49" charset="0"/>
              </a:rPr>
              <a:t>'Hello, world!'</a:t>
            </a:r>
            <a:r>
              <a:rPr lang="en-US" b="1" dirty="0">
                <a:solidFill>
                  <a:srgbClr val="000000"/>
                </a:solidFill>
                <a:effectLst/>
                <a:latin typeface="Courier New" panose="02070309020205020404" pitchFamily="49" charset="0"/>
              </a:rPr>
              <a:t>)</a:t>
            </a:r>
          </a:p>
        </p:txBody>
      </p:sp>
      <p:sp>
        <p:nvSpPr>
          <p:cNvPr id="11" name="TextBox 10">
            <a:extLst>
              <a:ext uri="{FF2B5EF4-FFF2-40B4-BE49-F238E27FC236}">
                <a16:creationId xmlns:a16="http://schemas.microsoft.com/office/drawing/2014/main" id="{5F0977AB-50AB-39B2-12E2-0926D566CDAA}"/>
              </a:ext>
            </a:extLst>
          </p:cNvPr>
          <p:cNvSpPr txBox="1"/>
          <p:nvPr/>
        </p:nvSpPr>
        <p:spPr>
          <a:xfrm>
            <a:off x="7157012" y="1515286"/>
            <a:ext cx="4907168" cy="3139321"/>
          </a:xfrm>
          <a:prstGeom prst="rect">
            <a:avLst/>
          </a:prstGeom>
          <a:solidFill>
            <a:schemeClr val="accent2">
              <a:lumMod val="60000"/>
              <a:lumOff val="40000"/>
            </a:schemeClr>
          </a:solidFill>
        </p:spPr>
        <p:txBody>
          <a:bodyPr wrap="square">
            <a:spAutoFit/>
          </a:bodyPr>
          <a:lstStyle/>
          <a:p>
            <a:r>
              <a:rPr lang="en-US" b="0" dirty="0">
                <a:solidFill>
                  <a:srgbClr val="008000"/>
                </a:solidFill>
                <a:effectLst/>
                <a:latin typeface="Courier New" panose="02070309020205020404" pitchFamily="49" charset="0"/>
              </a:rPr>
              <a:t># This program adds two numbers</a:t>
            </a:r>
            <a:endParaRPr lang="en-US" b="0" dirty="0">
              <a:solidFill>
                <a:srgbClr val="000000"/>
              </a:solidFill>
              <a:effectLst/>
              <a:latin typeface="Courier New" panose="02070309020205020404" pitchFamily="49" charset="0"/>
            </a:endParaRPr>
          </a:p>
          <a:p>
            <a:br>
              <a:rPr lang="en-US" b="0" dirty="0">
                <a:solidFill>
                  <a:srgbClr val="000000"/>
                </a:solidFill>
                <a:effectLst/>
                <a:latin typeface="Courier New" panose="02070309020205020404" pitchFamily="49" charset="0"/>
              </a:rPr>
            </a:br>
            <a:r>
              <a:rPr lang="en-US" b="0" dirty="0">
                <a:solidFill>
                  <a:srgbClr val="000000"/>
                </a:solidFill>
                <a:effectLst/>
                <a:latin typeface="Courier New" panose="02070309020205020404" pitchFamily="49" charset="0"/>
              </a:rPr>
              <a:t>num1 = </a:t>
            </a:r>
            <a:r>
              <a:rPr lang="en-US" b="0" dirty="0">
                <a:solidFill>
                  <a:srgbClr val="098156"/>
                </a:solidFill>
                <a:effectLst/>
                <a:latin typeface="Courier New" panose="02070309020205020404" pitchFamily="49" charset="0"/>
              </a:rPr>
              <a:t>1.5</a:t>
            </a:r>
            <a:endParaRPr lang="en-US" b="0" dirty="0">
              <a:solidFill>
                <a:srgbClr val="000000"/>
              </a:solidFill>
              <a:effectLst/>
              <a:latin typeface="Courier New" panose="02070309020205020404" pitchFamily="49" charset="0"/>
            </a:endParaRPr>
          </a:p>
          <a:p>
            <a:r>
              <a:rPr lang="en-US" b="0" dirty="0">
                <a:solidFill>
                  <a:srgbClr val="000000"/>
                </a:solidFill>
                <a:effectLst/>
                <a:latin typeface="Courier New" panose="02070309020205020404" pitchFamily="49" charset="0"/>
              </a:rPr>
              <a:t>num2 = </a:t>
            </a:r>
            <a:r>
              <a:rPr lang="en-US" b="0" dirty="0">
                <a:solidFill>
                  <a:srgbClr val="098156"/>
                </a:solidFill>
                <a:effectLst/>
                <a:latin typeface="Courier New" panose="02070309020205020404" pitchFamily="49" charset="0"/>
              </a:rPr>
              <a:t>6.3</a:t>
            </a:r>
            <a:endParaRPr lang="en-US" b="0" dirty="0">
              <a:solidFill>
                <a:srgbClr val="000000"/>
              </a:solidFill>
              <a:effectLst/>
              <a:latin typeface="Courier New" panose="02070309020205020404" pitchFamily="49" charset="0"/>
            </a:endParaRPr>
          </a:p>
          <a:p>
            <a:br>
              <a:rPr lang="en-US" b="0" dirty="0">
                <a:solidFill>
                  <a:srgbClr val="000000"/>
                </a:solidFill>
                <a:effectLst/>
                <a:latin typeface="Courier New" panose="02070309020205020404" pitchFamily="49" charset="0"/>
              </a:rPr>
            </a:br>
            <a:r>
              <a:rPr lang="en-US" b="0" dirty="0">
                <a:solidFill>
                  <a:srgbClr val="008000"/>
                </a:solidFill>
                <a:effectLst/>
                <a:latin typeface="Courier New" panose="02070309020205020404" pitchFamily="49" charset="0"/>
              </a:rPr>
              <a:t># Add two numbers</a:t>
            </a:r>
            <a:endParaRPr lang="en-US" b="0" dirty="0">
              <a:solidFill>
                <a:srgbClr val="000000"/>
              </a:solidFill>
              <a:effectLst/>
              <a:latin typeface="Courier New" panose="02070309020205020404" pitchFamily="49" charset="0"/>
            </a:endParaRPr>
          </a:p>
          <a:p>
            <a:r>
              <a:rPr lang="en-US" b="0" dirty="0">
                <a:solidFill>
                  <a:srgbClr val="000000"/>
                </a:solidFill>
                <a:effectLst/>
                <a:latin typeface="Courier New" panose="02070309020205020404" pitchFamily="49" charset="0"/>
              </a:rPr>
              <a:t>sum = num1 + num2</a:t>
            </a:r>
          </a:p>
          <a:p>
            <a:br>
              <a:rPr lang="en-US" b="0" dirty="0">
                <a:solidFill>
                  <a:srgbClr val="000000"/>
                </a:solidFill>
                <a:effectLst/>
                <a:latin typeface="Courier New" panose="02070309020205020404" pitchFamily="49" charset="0"/>
              </a:rPr>
            </a:br>
            <a:r>
              <a:rPr lang="en-US" b="0" dirty="0">
                <a:solidFill>
                  <a:srgbClr val="008000"/>
                </a:solidFill>
                <a:effectLst/>
                <a:latin typeface="Courier New" panose="02070309020205020404" pitchFamily="49" charset="0"/>
              </a:rPr>
              <a:t># Display the sum</a:t>
            </a:r>
            <a:endParaRPr lang="en-US" b="0" dirty="0">
              <a:solidFill>
                <a:srgbClr val="000000"/>
              </a:solidFill>
              <a:effectLst/>
              <a:latin typeface="Courier New" panose="02070309020205020404" pitchFamily="49" charset="0"/>
            </a:endParaRPr>
          </a:p>
          <a:p>
            <a:r>
              <a:rPr lang="en-US" b="0" dirty="0">
                <a:solidFill>
                  <a:srgbClr val="795E26"/>
                </a:solidFill>
                <a:effectLst/>
                <a:latin typeface="Courier New" panose="02070309020205020404" pitchFamily="49" charset="0"/>
              </a:rPr>
              <a:t>print</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'The sum of {0} and {1} is {2}'</a:t>
            </a:r>
            <a:r>
              <a:rPr lang="en-US" b="0" dirty="0">
                <a:solidFill>
                  <a:srgbClr val="000000"/>
                </a:solidFill>
                <a:effectLst/>
                <a:latin typeface="Courier New" panose="02070309020205020404" pitchFamily="49" charset="0"/>
              </a:rPr>
              <a:t>.</a:t>
            </a:r>
            <a:r>
              <a:rPr lang="en-US" b="0" dirty="0">
                <a:solidFill>
                  <a:srgbClr val="795E26"/>
                </a:solidFill>
                <a:effectLst/>
                <a:latin typeface="Courier New" panose="02070309020205020404" pitchFamily="49" charset="0"/>
              </a:rPr>
              <a:t>format</a:t>
            </a:r>
            <a:r>
              <a:rPr lang="en-US" b="0" dirty="0">
                <a:solidFill>
                  <a:srgbClr val="000000"/>
                </a:solidFill>
                <a:effectLst/>
                <a:latin typeface="Courier New" panose="02070309020205020404" pitchFamily="49" charset="0"/>
              </a:rPr>
              <a:t>(num1, num2, sum))</a:t>
            </a:r>
          </a:p>
        </p:txBody>
      </p:sp>
      <p:sp>
        <p:nvSpPr>
          <p:cNvPr id="13" name="TextBox 12">
            <a:extLst>
              <a:ext uri="{FF2B5EF4-FFF2-40B4-BE49-F238E27FC236}">
                <a16:creationId xmlns:a16="http://schemas.microsoft.com/office/drawing/2014/main" id="{A3A615F9-7DDE-1EBC-E130-9F0B8DD4E0EE}"/>
              </a:ext>
            </a:extLst>
          </p:cNvPr>
          <p:cNvSpPr txBox="1"/>
          <p:nvPr/>
        </p:nvSpPr>
        <p:spPr>
          <a:xfrm>
            <a:off x="403123" y="2125099"/>
            <a:ext cx="5171767" cy="646331"/>
          </a:xfrm>
          <a:prstGeom prst="rect">
            <a:avLst/>
          </a:prstGeom>
          <a:solidFill>
            <a:schemeClr val="accent4">
              <a:lumMod val="40000"/>
              <a:lumOff val="60000"/>
            </a:schemeClr>
          </a:solidFill>
        </p:spPr>
        <p:txBody>
          <a:bodyPr wrap="square">
            <a:spAutoFit/>
          </a:bodyPr>
          <a:lstStyle/>
          <a:p>
            <a:r>
              <a:rPr lang="en-US" b="0" dirty="0">
                <a:solidFill>
                  <a:srgbClr val="000000"/>
                </a:solidFill>
                <a:effectLst/>
                <a:latin typeface="Courier New" panose="02070309020205020404" pitchFamily="49" charset="0"/>
              </a:rPr>
              <a:t>sum = </a:t>
            </a:r>
            <a:r>
              <a:rPr lang="en-US" b="0" dirty="0">
                <a:solidFill>
                  <a:srgbClr val="098156"/>
                </a:solidFill>
                <a:effectLst/>
                <a:latin typeface="Courier New" panose="02070309020205020404" pitchFamily="49" charset="0"/>
              </a:rPr>
              <a:t>5</a:t>
            </a:r>
            <a:r>
              <a:rPr lang="en-US" b="0" dirty="0">
                <a:solidFill>
                  <a:srgbClr val="000000"/>
                </a:solidFill>
                <a:effectLst/>
                <a:latin typeface="Courier New" panose="02070309020205020404" pitchFamily="49" charset="0"/>
              </a:rPr>
              <a:t>+</a:t>
            </a:r>
            <a:r>
              <a:rPr lang="en-US" b="0" dirty="0">
                <a:solidFill>
                  <a:srgbClr val="098156"/>
                </a:solidFill>
                <a:effectLst/>
                <a:latin typeface="Courier New" panose="02070309020205020404" pitchFamily="49" charset="0"/>
              </a:rPr>
              <a:t>2</a:t>
            </a:r>
            <a:endParaRPr lang="en-US" b="0" dirty="0">
              <a:solidFill>
                <a:srgbClr val="000000"/>
              </a:solidFill>
              <a:effectLst/>
              <a:latin typeface="Courier New" panose="02070309020205020404" pitchFamily="49" charset="0"/>
            </a:endParaRPr>
          </a:p>
          <a:p>
            <a:r>
              <a:rPr lang="en-US" b="0" dirty="0">
                <a:solidFill>
                  <a:srgbClr val="000000"/>
                </a:solidFill>
                <a:effectLst/>
                <a:latin typeface="Courier New" panose="02070309020205020404" pitchFamily="49" charset="0"/>
              </a:rPr>
              <a:t>print (</a:t>
            </a:r>
            <a:r>
              <a:rPr lang="en-US" b="0" dirty="0">
                <a:solidFill>
                  <a:srgbClr val="A31515"/>
                </a:solidFill>
                <a:effectLst/>
                <a:latin typeface="Courier New" panose="02070309020205020404" pitchFamily="49" charset="0"/>
              </a:rPr>
              <a:t>'the sum is{0}'</a:t>
            </a:r>
            <a:r>
              <a:rPr lang="en-US" b="0" dirty="0">
                <a:solidFill>
                  <a:srgbClr val="000000"/>
                </a:solidFill>
                <a:effectLst/>
                <a:latin typeface="Courier New" panose="02070309020205020404" pitchFamily="49" charset="0"/>
              </a:rPr>
              <a:t>.</a:t>
            </a:r>
            <a:r>
              <a:rPr lang="en-US" b="0" dirty="0">
                <a:solidFill>
                  <a:srgbClr val="795E26"/>
                </a:solidFill>
                <a:effectLst/>
                <a:latin typeface="Courier New" panose="02070309020205020404" pitchFamily="49" charset="0"/>
              </a:rPr>
              <a:t>format</a:t>
            </a:r>
            <a:r>
              <a:rPr lang="en-US" b="0" dirty="0">
                <a:solidFill>
                  <a:srgbClr val="000000"/>
                </a:solidFill>
                <a:effectLst/>
                <a:latin typeface="Courier New" panose="02070309020205020404" pitchFamily="49" charset="0"/>
              </a:rPr>
              <a:t>(sum))</a:t>
            </a:r>
          </a:p>
        </p:txBody>
      </p:sp>
    </p:spTree>
    <p:extLst>
      <p:ext uri="{BB962C8B-B14F-4D97-AF65-F5344CB8AC3E}">
        <p14:creationId xmlns:p14="http://schemas.microsoft.com/office/powerpoint/2010/main" val="34708803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A6A6EB1-FEB4-6C13-07E0-6DD8836DE53D}"/>
              </a:ext>
            </a:extLst>
          </p:cNvPr>
          <p:cNvSpPr txBox="1"/>
          <p:nvPr/>
        </p:nvSpPr>
        <p:spPr>
          <a:xfrm>
            <a:off x="4815006" y="229356"/>
            <a:ext cx="6135328" cy="1477328"/>
          </a:xfrm>
          <a:prstGeom prst="rect">
            <a:avLst/>
          </a:prstGeom>
          <a:solidFill>
            <a:schemeClr val="accent1">
              <a:lumMod val="20000"/>
              <a:lumOff val="80000"/>
            </a:schemeClr>
          </a:solidFill>
        </p:spPr>
        <p:txBody>
          <a:bodyPr wrap="square">
            <a:spAutoFit/>
          </a:bodyPr>
          <a:lstStyle/>
          <a:p>
            <a:r>
              <a:rPr lang="en-US" b="0" dirty="0">
                <a:solidFill>
                  <a:srgbClr val="008000"/>
                </a:solidFill>
                <a:effectLst/>
                <a:latin typeface="Courier New" panose="02070309020205020404" pitchFamily="49" charset="0"/>
              </a:rPr>
              <a:t># Program to generate a random number between 0 and 9</a:t>
            </a:r>
            <a:endParaRPr lang="en-US" b="0" dirty="0">
              <a:solidFill>
                <a:srgbClr val="000000"/>
              </a:solidFill>
              <a:effectLst/>
              <a:latin typeface="Courier New" panose="02070309020205020404" pitchFamily="49" charset="0"/>
            </a:endParaRPr>
          </a:p>
          <a:p>
            <a:r>
              <a:rPr lang="en-US" b="0" dirty="0">
                <a:solidFill>
                  <a:srgbClr val="008000"/>
                </a:solidFill>
                <a:effectLst/>
                <a:latin typeface="Courier New" panose="02070309020205020404" pitchFamily="49" charset="0"/>
              </a:rPr>
              <a:t># importing the random module</a:t>
            </a:r>
            <a:endParaRPr lang="en-US" b="0" dirty="0">
              <a:solidFill>
                <a:srgbClr val="000000"/>
              </a:solidFill>
              <a:effectLst/>
              <a:latin typeface="Courier New" panose="02070309020205020404" pitchFamily="49" charset="0"/>
            </a:endParaRPr>
          </a:p>
          <a:p>
            <a:r>
              <a:rPr lang="en-US" b="0" dirty="0">
                <a:solidFill>
                  <a:srgbClr val="AF00DB"/>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random</a:t>
            </a:r>
          </a:p>
          <a:p>
            <a:r>
              <a:rPr lang="en-US" b="0" dirty="0">
                <a:solidFill>
                  <a:srgbClr val="795E26"/>
                </a:solidFill>
                <a:effectLst/>
                <a:latin typeface="Courier New" panose="02070309020205020404" pitchFamily="49" charset="0"/>
              </a:rPr>
              <a:t>print</a:t>
            </a:r>
            <a:r>
              <a:rPr lang="en-US" b="0" dirty="0">
                <a:solidFill>
                  <a:srgbClr val="000000"/>
                </a:solidFill>
                <a:effectLst/>
                <a:latin typeface="Courier New" panose="02070309020205020404" pitchFamily="49" charset="0"/>
              </a:rPr>
              <a:t>(</a:t>
            </a:r>
            <a:r>
              <a:rPr lang="en-US" b="0" dirty="0" err="1">
                <a:solidFill>
                  <a:srgbClr val="000000"/>
                </a:solidFill>
                <a:effectLst/>
                <a:latin typeface="Courier New" panose="02070309020205020404" pitchFamily="49" charset="0"/>
              </a:rPr>
              <a:t>random.randint</a:t>
            </a:r>
            <a:r>
              <a:rPr lang="en-US" b="0" dirty="0">
                <a:solidFill>
                  <a:srgbClr val="000000"/>
                </a:solidFill>
                <a:effectLst/>
                <a:latin typeface="Courier New" panose="02070309020205020404" pitchFamily="49" charset="0"/>
              </a:rPr>
              <a:t>(</a:t>
            </a:r>
            <a:r>
              <a:rPr lang="en-US" b="0" dirty="0">
                <a:solidFill>
                  <a:srgbClr val="098156"/>
                </a:solidFill>
                <a:effectLst/>
                <a:latin typeface="Courier New" panose="02070309020205020404" pitchFamily="49" charset="0"/>
              </a:rPr>
              <a:t>0</a:t>
            </a:r>
            <a:r>
              <a:rPr lang="en-US" b="0" dirty="0">
                <a:solidFill>
                  <a:srgbClr val="000000"/>
                </a:solidFill>
                <a:effectLst/>
                <a:latin typeface="Courier New" panose="02070309020205020404" pitchFamily="49" charset="0"/>
              </a:rPr>
              <a:t>,</a:t>
            </a:r>
            <a:r>
              <a:rPr lang="en-US" b="0" dirty="0">
                <a:solidFill>
                  <a:srgbClr val="098156"/>
                </a:solidFill>
                <a:effectLst/>
                <a:latin typeface="Courier New" panose="02070309020205020404" pitchFamily="49" charset="0"/>
              </a:rPr>
              <a:t>9</a:t>
            </a:r>
            <a:r>
              <a:rPr lang="en-US" b="0" dirty="0">
                <a:solidFill>
                  <a:srgbClr val="000000"/>
                </a:solidFill>
                <a:effectLst/>
                <a:latin typeface="Courier New" panose="02070309020205020404" pitchFamily="49" charset="0"/>
              </a:rPr>
              <a:t>))</a:t>
            </a:r>
          </a:p>
        </p:txBody>
      </p:sp>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Importing Function</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
        <p:nvSpPr>
          <p:cNvPr id="13" name="TextBox 12">
            <a:extLst>
              <a:ext uri="{FF2B5EF4-FFF2-40B4-BE49-F238E27FC236}">
                <a16:creationId xmlns:a16="http://schemas.microsoft.com/office/drawing/2014/main" id="{65A799B4-1F03-A44F-AF06-5C521DFC1431}"/>
              </a:ext>
            </a:extLst>
          </p:cNvPr>
          <p:cNvSpPr txBox="1"/>
          <p:nvPr/>
        </p:nvSpPr>
        <p:spPr>
          <a:xfrm>
            <a:off x="1747342" y="2075881"/>
            <a:ext cx="6135328" cy="3970318"/>
          </a:xfrm>
          <a:prstGeom prst="rect">
            <a:avLst/>
          </a:prstGeom>
          <a:solidFill>
            <a:schemeClr val="accent2">
              <a:lumMod val="40000"/>
              <a:lumOff val="60000"/>
            </a:schemeClr>
          </a:solidFill>
        </p:spPr>
        <p:txBody>
          <a:bodyPr wrap="square">
            <a:spAutoFit/>
          </a:bodyPr>
          <a:lstStyle/>
          <a:p>
            <a:r>
              <a:rPr lang="en-US" b="0" dirty="0">
                <a:solidFill>
                  <a:srgbClr val="008000"/>
                </a:solidFill>
                <a:effectLst/>
                <a:latin typeface="Courier New" panose="02070309020205020404" pitchFamily="49" charset="0"/>
              </a:rPr>
              <a:t># Program to display calendar of the given month and year</a:t>
            </a:r>
            <a:endParaRPr lang="en-US" b="0" dirty="0">
              <a:solidFill>
                <a:srgbClr val="000000"/>
              </a:solidFill>
              <a:effectLst/>
              <a:latin typeface="Courier New" panose="02070309020205020404" pitchFamily="49" charset="0"/>
            </a:endParaRPr>
          </a:p>
          <a:p>
            <a:br>
              <a:rPr lang="en-US" b="0" dirty="0">
                <a:solidFill>
                  <a:srgbClr val="000000"/>
                </a:solidFill>
                <a:effectLst/>
                <a:latin typeface="Courier New" panose="02070309020205020404" pitchFamily="49" charset="0"/>
              </a:rPr>
            </a:br>
            <a:r>
              <a:rPr lang="en-US" b="0" dirty="0">
                <a:solidFill>
                  <a:srgbClr val="008000"/>
                </a:solidFill>
                <a:effectLst/>
                <a:latin typeface="Courier New" panose="02070309020205020404" pitchFamily="49" charset="0"/>
              </a:rPr>
              <a:t># importing calendar module</a:t>
            </a:r>
            <a:endParaRPr lang="en-US" b="0" dirty="0">
              <a:solidFill>
                <a:srgbClr val="000000"/>
              </a:solidFill>
              <a:effectLst/>
              <a:latin typeface="Courier New" panose="02070309020205020404" pitchFamily="49" charset="0"/>
            </a:endParaRPr>
          </a:p>
          <a:p>
            <a:r>
              <a:rPr lang="en-US" b="0" dirty="0">
                <a:solidFill>
                  <a:srgbClr val="AF00DB"/>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calendar</a:t>
            </a:r>
          </a:p>
          <a:p>
            <a:r>
              <a:rPr lang="en-US" b="0" dirty="0">
                <a:solidFill>
                  <a:srgbClr val="008000"/>
                </a:solidFill>
                <a:effectLst/>
                <a:latin typeface="Courier New" panose="02070309020205020404" pitchFamily="49" charset="0"/>
              </a:rPr>
              <a:t># To take month and year input from the user</a:t>
            </a:r>
            <a:endParaRPr lang="en-US" b="0" dirty="0">
              <a:solidFill>
                <a:srgbClr val="000000"/>
              </a:solidFill>
              <a:effectLst/>
              <a:latin typeface="Courier New" panose="02070309020205020404" pitchFamily="49" charset="0"/>
            </a:endParaRPr>
          </a:p>
          <a:p>
            <a:r>
              <a:rPr lang="en-US" b="0" dirty="0">
                <a:solidFill>
                  <a:srgbClr val="000000"/>
                </a:solidFill>
                <a:effectLst/>
                <a:latin typeface="Courier New" panose="02070309020205020404" pitchFamily="49" charset="0"/>
              </a:rPr>
              <a:t>year = </a:t>
            </a:r>
            <a:r>
              <a:rPr lang="en-US" b="0" dirty="0">
                <a:solidFill>
                  <a:srgbClr val="257693"/>
                </a:solidFill>
                <a:effectLst/>
                <a:latin typeface="Courier New" panose="02070309020205020404" pitchFamily="49" charset="0"/>
              </a:rPr>
              <a:t>int</a:t>
            </a:r>
            <a:r>
              <a:rPr lang="en-US" b="0" dirty="0">
                <a:solidFill>
                  <a:srgbClr val="000000"/>
                </a:solidFill>
                <a:effectLst/>
                <a:latin typeface="Courier New" panose="02070309020205020404" pitchFamily="49" charset="0"/>
              </a:rPr>
              <a:t> (</a:t>
            </a:r>
            <a:r>
              <a:rPr lang="en-US" b="0" dirty="0">
                <a:solidFill>
                  <a:srgbClr val="795E26"/>
                </a:solidFill>
                <a:effectLst/>
                <a:latin typeface="Courier New" panose="02070309020205020404" pitchFamily="49" charset="0"/>
              </a:rPr>
              <a:t>input</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"Enter year: "</a:t>
            </a:r>
            <a:r>
              <a:rPr lang="en-US" b="0" dirty="0">
                <a:solidFill>
                  <a:srgbClr val="000000"/>
                </a:solidFill>
                <a:effectLst/>
                <a:latin typeface="Courier New" panose="02070309020205020404" pitchFamily="49" charset="0"/>
              </a:rPr>
              <a:t>))</a:t>
            </a:r>
          </a:p>
          <a:p>
            <a:r>
              <a:rPr lang="en-US" b="0" dirty="0">
                <a:solidFill>
                  <a:srgbClr val="000000"/>
                </a:solidFill>
                <a:effectLst/>
                <a:latin typeface="Courier New" panose="02070309020205020404" pitchFamily="49" charset="0"/>
              </a:rPr>
              <a:t>month= </a:t>
            </a:r>
            <a:r>
              <a:rPr lang="en-US" b="0" dirty="0">
                <a:solidFill>
                  <a:srgbClr val="257693"/>
                </a:solidFill>
                <a:effectLst/>
                <a:latin typeface="Courier New" panose="02070309020205020404" pitchFamily="49" charset="0"/>
              </a:rPr>
              <a:t>int</a:t>
            </a:r>
            <a:r>
              <a:rPr lang="en-US" b="0" dirty="0">
                <a:solidFill>
                  <a:srgbClr val="000000"/>
                </a:solidFill>
                <a:effectLst/>
                <a:latin typeface="Courier New" panose="02070309020205020404" pitchFamily="49" charset="0"/>
              </a:rPr>
              <a:t>(</a:t>
            </a:r>
            <a:r>
              <a:rPr lang="en-US" b="0" dirty="0">
                <a:solidFill>
                  <a:srgbClr val="795E26"/>
                </a:solidFill>
                <a:effectLst/>
                <a:latin typeface="Courier New" panose="02070309020205020404" pitchFamily="49" charset="0"/>
              </a:rPr>
              <a:t>input</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"Enter month: "</a:t>
            </a:r>
            <a:r>
              <a:rPr lang="en-US" b="0" dirty="0">
                <a:solidFill>
                  <a:srgbClr val="000000"/>
                </a:solidFill>
                <a:effectLst/>
                <a:latin typeface="Courier New" panose="02070309020205020404" pitchFamily="49" charset="0"/>
              </a:rPr>
              <a:t>))</a:t>
            </a:r>
          </a:p>
          <a:p>
            <a:r>
              <a:rPr lang="en-US" b="0" dirty="0">
                <a:solidFill>
                  <a:srgbClr val="000000"/>
                </a:solidFill>
                <a:effectLst/>
                <a:latin typeface="Courier New" panose="02070309020205020404" pitchFamily="49" charset="0"/>
              </a:rPr>
              <a:t> </a:t>
            </a:r>
            <a:r>
              <a:rPr lang="en-US" b="0" dirty="0">
                <a:solidFill>
                  <a:srgbClr val="008000"/>
                </a:solidFill>
                <a:effectLst/>
                <a:latin typeface="Courier New" panose="02070309020205020404" pitchFamily="49" charset="0"/>
              </a:rPr>
              <a:t>#yy = int(input("Enter year: "))</a:t>
            </a:r>
            <a:endParaRPr lang="en-US" b="0" dirty="0">
              <a:solidFill>
                <a:srgbClr val="000000"/>
              </a:solidFill>
              <a:effectLst/>
              <a:latin typeface="Courier New" panose="02070309020205020404" pitchFamily="49" charset="0"/>
            </a:endParaRPr>
          </a:p>
          <a:p>
            <a:r>
              <a:rPr lang="en-US" b="0" dirty="0">
                <a:solidFill>
                  <a:srgbClr val="000000"/>
                </a:solidFill>
                <a:effectLst/>
                <a:latin typeface="Courier New" panose="02070309020205020404" pitchFamily="49" charset="0"/>
              </a:rPr>
              <a:t> </a:t>
            </a:r>
            <a:r>
              <a:rPr lang="en-US" b="0" dirty="0">
                <a:solidFill>
                  <a:srgbClr val="008000"/>
                </a:solidFill>
                <a:effectLst/>
                <a:latin typeface="Courier New" panose="02070309020205020404" pitchFamily="49" charset="0"/>
              </a:rPr>
              <a:t>#mm = int(input("Enter month: "))</a:t>
            </a:r>
            <a:endParaRPr lang="en-US" b="0" dirty="0">
              <a:solidFill>
                <a:srgbClr val="000000"/>
              </a:solidFill>
              <a:effectLst/>
              <a:latin typeface="Courier New" panose="02070309020205020404" pitchFamily="49" charset="0"/>
            </a:endParaRPr>
          </a:p>
          <a:p>
            <a:br>
              <a:rPr lang="en-US" b="0" dirty="0">
                <a:solidFill>
                  <a:srgbClr val="000000"/>
                </a:solidFill>
                <a:effectLst/>
                <a:latin typeface="Courier New" panose="02070309020205020404" pitchFamily="49" charset="0"/>
              </a:rPr>
            </a:br>
            <a:r>
              <a:rPr lang="en-US" b="0" dirty="0">
                <a:solidFill>
                  <a:srgbClr val="008000"/>
                </a:solidFill>
                <a:effectLst/>
                <a:latin typeface="Courier New" panose="02070309020205020404" pitchFamily="49" charset="0"/>
              </a:rPr>
              <a:t># display the calendar</a:t>
            </a:r>
            <a:endParaRPr lang="en-US" b="0" dirty="0">
              <a:solidFill>
                <a:srgbClr val="000000"/>
              </a:solidFill>
              <a:effectLst/>
              <a:latin typeface="Courier New" panose="02070309020205020404" pitchFamily="49" charset="0"/>
            </a:endParaRPr>
          </a:p>
          <a:p>
            <a:r>
              <a:rPr lang="en-US" b="0" dirty="0">
                <a:solidFill>
                  <a:srgbClr val="795E26"/>
                </a:solidFill>
                <a:effectLst/>
                <a:latin typeface="Courier New" panose="02070309020205020404" pitchFamily="49" charset="0"/>
              </a:rPr>
              <a:t>print</a:t>
            </a:r>
            <a:r>
              <a:rPr lang="en-US" b="0" dirty="0">
                <a:solidFill>
                  <a:srgbClr val="000000"/>
                </a:solidFill>
                <a:effectLst/>
                <a:latin typeface="Courier New" panose="02070309020205020404" pitchFamily="49" charset="0"/>
              </a:rPr>
              <a:t>(</a:t>
            </a:r>
            <a:r>
              <a:rPr lang="en-US" b="0" dirty="0" err="1">
                <a:solidFill>
                  <a:srgbClr val="000000"/>
                </a:solidFill>
                <a:effectLst/>
                <a:latin typeface="Courier New" panose="02070309020205020404" pitchFamily="49" charset="0"/>
              </a:rPr>
              <a:t>calendar.month</a:t>
            </a:r>
            <a:r>
              <a:rPr lang="en-US" b="0" dirty="0">
                <a:solidFill>
                  <a:srgbClr val="000000"/>
                </a:solidFill>
                <a:effectLst/>
                <a:latin typeface="Courier New" panose="02070309020205020404" pitchFamily="49" charset="0"/>
              </a:rPr>
              <a:t>(year, month))</a:t>
            </a:r>
          </a:p>
        </p:txBody>
      </p:sp>
    </p:spTree>
    <p:extLst>
      <p:ext uri="{BB962C8B-B14F-4D97-AF65-F5344CB8AC3E}">
        <p14:creationId xmlns:p14="http://schemas.microsoft.com/office/powerpoint/2010/main" val="26765522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
        <p:nvSpPr>
          <p:cNvPr id="8" name="TextBox 7">
            <a:extLst>
              <a:ext uri="{FF2B5EF4-FFF2-40B4-BE49-F238E27FC236}">
                <a16:creationId xmlns:a16="http://schemas.microsoft.com/office/drawing/2014/main" id="{CBA97BCF-BE4F-148B-5AEE-09E0C2A10F8E}"/>
              </a:ext>
            </a:extLst>
          </p:cNvPr>
          <p:cNvSpPr txBox="1"/>
          <p:nvPr/>
        </p:nvSpPr>
        <p:spPr>
          <a:xfrm>
            <a:off x="1710863" y="286940"/>
            <a:ext cx="7236542" cy="3693319"/>
          </a:xfrm>
          <a:prstGeom prst="rect">
            <a:avLst/>
          </a:prstGeom>
          <a:solidFill>
            <a:schemeClr val="accent2">
              <a:lumMod val="60000"/>
              <a:lumOff val="40000"/>
            </a:schemeClr>
          </a:solidFill>
        </p:spPr>
        <p:txBody>
          <a:bodyPr wrap="square">
            <a:spAutoFit/>
          </a:bodyPr>
          <a:lstStyle/>
          <a:p>
            <a:r>
              <a:rPr lang="en-US" b="0" dirty="0">
                <a:solidFill>
                  <a:srgbClr val="008000"/>
                </a:solidFill>
                <a:effectLst/>
                <a:latin typeface="Courier New" panose="02070309020205020404" pitchFamily="49" charset="0"/>
              </a:rPr>
              <a:t># Display the powers of 2 using anonymous function</a:t>
            </a:r>
            <a:endParaRPr lang="en-US" b="0" dirty="0">
              <a:solidFill>
                <a:srgbClr val="000000"/>
              </a:solidFill>
              <a:effectLst/>
              <a:latin typeface="Courier New" panose="02070309020205020404" pitchFamily="49" charset="0"/>
            </a:endParaRPr>
          </a:p>
          <a:p>
            <a:br>
              <a:rPr lang="en-US" b="0" dirty="0">
                <a:solidFill>
                  <a:srgbClr val="000000"/>
                </a:solidFill>
                <a:effectLst/>
                <a:latin typeface="Courier New" panose="02070309020205020404" pitchFamily="49" charset="0"/>
              </a:rPr>
            </a:br>
            <a:r>
              <a:rPr lang="en-US" b="0" dirty="0">
                <a:solidFill>
                  <a:srgbClr val="000000"/>
                </a:solidFill>
                <a:effectLst/>
                <a:latin typeface="Courier New" panose="02070309020205020404" pitchFamily="49" charset="0"/>
              </a:rPr>
              <a:t>terms = </a:t>
            </a:r>
            <a:r>
              <a:rPr lang="en-US" b="0" dirty="0">
                <a:solidFill>
                  <a:srgbClr val="098156"/>
                </a:solidFill>
                <a:effectLst/>
                <a:latin typeface="Courier New" panose="02070309020205020404" pitchFamily="49" charset="0"/>
              </a:rPr>
              <a:t>10</a:t>
            </a:r>
            <a:endParaRPr lang="en-US" b="0" dirty="0">
              <a:solidFill>
                <a:srgbClr val="000000"/>
              </a:solidFill>
              <a:effectLst/>
              <a:latin typeface="Courier New" panose="02070309020205020404" pitchFamily="49" charset="0"/>
            </a:endParaRPr>
          </a:p>
          <a:p>
            <a:br>
              <a:rPr lang="en-US" b="0" dirty="0">
                <a:solidFill>
                  <a:srgbClr val="000000"/>
                </a:solidFill>
                <a:effectLst/>
                <a:latin typeface="Courier New" panose="02070309020205020404" pitchFamily="49" charset="0"/>
              </a:rPr>
            </a:br>
            <a:r>
              <a:rPr lang="en-US" b="0" dirty="0">
                <a:solidFill>
                  <a:srgbClr val="008000"/>
                </a:solidFill>
                <a:effectLst/>
                <a:latin typeface="Courier New" panose="02070309020205020404" pitchFamily="49" charset="0"/>
              </a:rPr>
              <a:t># Uncomment code below to take input from the user</a:t>
            </a:r>
            <a:endParaRPr lang="en-US" b="0" dirty="0">
              <a:solidFill>
                <a:srgbClr val="000000"/>
              </a:solidFill>
              <a:effectLst/>
              <a:latin typeface="Courier New" panose="02070309020205020404" pitchFamily="49" charset="0"/>
            </a:endParaRPr>
          </a:p>
          <a:p>
            <a:r>
              <a:rPr lang="en-US" b="0" dirty="0">
                <a:solidFill>
                  <a:srgbClr val="008000"/>
                </a:solidFill>
                <a:effectLst/>
                <a:latin typeface="Courier New" panose="02070309020205020404" pitchFamily="49" charset="0"/>
              </a:rPr>
              <a:t># terms = int(input("How many terms? "))</a:t>
            </a:r>
            <a:endParaRPr lang="en-US" b="0" dirty="0">
              <a:solidFill>
                <a:srgbClr val="000000"/>
              </a:solidFill>
              <a:effectLst/>
              <a:latin typeface="Courier New" panose="02070309020205020404" pitchFamily="49" charset="0"/>
            </a:endParaRPr>
          </a:p>
          <a:p>
            <a:br>
              <a:rPr lang="en-US" b="0" dirty="0">
                <a:solidFill>
                  <a:srgbClr val="000000"/>
                </a:solidFill>
                <a:effectLst/>
                <a:latin typeface="Courier New" panose="02070309020205020404" pitchFamily="49" charset="0"/>
              </a:rPr>
            </a:br>
            <a:r>
              <a:rPr lang="en-US" b="0" dirty="0">
                <a:solidFill>
                  <a:srgbClr val="008000"/>
                </a:solidFill>
                <a:effectLst/>
                <a:latin typeface="Courier New" panose="02070309020205020404" pitchFamily="49" charset="0"/>
              </a:rPr>
              <a:t># use anonymous function</a:t>
            </a:r>
            <a:endParaRPr lang="en-US" b="0" dirty="0">
              <a:solidFill>
                <a:srgbClr val="000000"/>
              </a:solidFill>
              <a:effectLst/>
              <a:latin typeface="Courier New" panose="02070309020205020404" pitchFamily="49" charset="0"/>
            </a:endParaRPr>
          </a:p>
          <a:p>
            <a:r>
              <a:rPr lang="en-US" b="0" dirty="0">
                <a:solidFill>
                  <a:srgbClr val="000000"/>
                </a:solidFill>
                <a:effectLst/>
                <a:latin typeface="Courier New" panose="02070309020205020404" pitchFamily="49" charset="0"/>
              </a:rPr>
              <a:t>result = </a:t>
            </a:r>
            <a:r>
              <a:rPr lang="en-US" b="0" dirty="0">
                <a:solidFill>
                  <a:srgbClr val="257693"/>
                </a:solidFill>
                <a:effectLst/>
                <a:latin typeface="Courier New" panose="02070309020205020404" pitchFamily="49" charset="0"/>
              </a:rPr>
              <a:t>list</a:t>
            </a:r>
            <a:r>
              <a:rPr lang="en-US" b="0" dirty="0">
                <a:solidFill>
                  <a:srgbClr val="000000"/>
                </a:solidFill>
                <a:effectLst/>
                <a:latin typeface="Courier New" panose="02070309020205020404" pitchFamily="49" charset="0"/>
              </a:rPr>
              <a:t>(</a:t>
            </a:r>
            <a:r>
              <a:rPr lang="en-US" b="0" dirty="0">
                <a:solidFill>
                  <a:srgbClr val="795E26"/>
                </a:solidFill>
                <a:effectLst/>
                <a:latin typeface="Courier New" panose="02070309020205020404" pitchFamily="49" charset="0"/>
              </a:rPr>
              <a:t>map</a:t>
            </a:r>
            <a:r>
              <a:rPr lang="en-US" b="0" dirty="0">
                <a:solidFill>
                  <a:srgbClr val="000000"/>
                </a:solidFill>
                <a:effectLst/>
                <a:latin typeface="Courier New" panose="02070309020205020404" pitchFamily="49" charset="0"/>
              </a:rPr>
              <a:t>(</a:t>
            </a:r>
            <a:r>
              <a:rPr lang="en-US" b="0" dirty="0">
                <a:solidFill>
                  <a:srgbClr val="0000FF"/>
                </a:solidFill>
                <a:effectLst/>
                <a:latin typeface="Courier New" panose="02070309020205020404" pitchFamily="49" charset="0"/>
              </a:rPr>
              <a:t>lambda</a:t>
            </a:r>
            <a:r>
              <a:rPr lang="en-US" b="0" dirty="0">
                <a:solidFill>
                  <a:srgbClr val="000000"/>
                </a:solidFill>
                <a:effectLst/>
                <a:latin typeface="Courier New" panose="02070309020205020404" pitchFamily="49" charset="0"/>
              </a:rPr>
              <a:t> x: </a:t>
            </a:r>
            <a:r>
              <a:rPr lang="en-US" b="0" dirty="0">
                <a:solidFill>
                  <a:srgbClr val="098156"/>
                </a:solidFill>
                <a:effectLst/>
                <a:latin typeface="Courier New" panose="02070309020205020404" pitchFamily="49" charset="0"/>
              </a:rPr>
              <a:t>2</a:t>
            </a:r>
            <a:r>
              <a:rPr lang="en-US" b="0" dirty="0">
                <a:solidFill>
                  <a:srgbClr val="000000"/>
                </a:solidFill>
                <a:effectLst/>
                <a:latin typeface="Courier New" panose="02070309020205020404" pitchFamily="49" charset="0"/>
              </a:rPr>
              <a:t> ** x, </a:t>
            </a:r>
            <a:r>
              <a:rPr lang="en-US" b="0" dirty="0">
                <a:solidFill>
                  <a:srgbClr val="795E26"/>
                </a:solidFill>
                <a:effectLst/>
                <a:latin typeface="Courier New" panose="02070309020205020404" pitchFamily="49" charset="0"/>
              </a:rPr>
              <a:t>range</a:t>
            </a:r>
            <a:r>
              <a:rPr lang="en-US" b="0" dirty="0">
                <a:solidFill>
                  <a:srgbClr val="000000"/>
                </a:solidFill>
                <a:effectLst/>
                <a:latin typeface="Courier New" panose="02070309020205020404" pitchFamily="49" charset="0"/>
              </a:rPr>
              <a:t>(terms)))</a:t>
            </a:r>
          </a:p>
          <a:p>
            <a:br>
              <a:rPr lang="en-US" b="0" dirty="0">
                <a:solidFill>
                  <a:srgbClr val="000000"/>
                </a:solidFill>
                <a:effectLst/>
                <a:latin typeface="Courier New" panose="02070309020205020404" pitchFamily="49" charset="0"/>
              </a:rPr>
            </a:br>
            <a:r>
              <a:rPr lang="en-US" b="0" dirty="0">
                <a:solidFill>
                  <a:srgbClr val="795E26"/>
                </a:solidFill>
                <a:effectLst/>
                <a:latin typeface="Courier New" panose="02070309020205020404" pitchFamily="49" charset="0"/>
              </a:rPr>
              <a:t>print</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"The total terms </a:t>
            </a:r>
            <a:r>
              <a:rPr lang="en-US" b="0" dirty="0" err="1">
                <a:solidFill>
                  <a:srgbClr val="A31515"/>
                </a:solidFill>
                <a:effectLst/>
                <a:latin typeface="Courier New" panose="02070309020205020404" pitchFamily="49" charset="0"/>
              </a:rPr>
              <a:t>are:"</a:t>
            </a:r>
            <a:r>
              <a:rPr lang="en-US" b="0" dirty="0" err="1">
                <a:solidFill>
                  <a:srgbClr val="000000"/>
                </a:solidFill>
                <a:effectLst/>
                <a:latin typeface="Courier New" panose="02070309020205020404" pitchFamily="49" charset="0"/>
              </a:rPr>
              <a:t>,terms</a:t>
            </a:r>
            <a:r>
              <a:rPr lang="en-US" b="0" dirty="0">
                <a:solidFill>
                  <a:srgbClr val="000000"/>
                </a:solidFill>
                <a:effectLst/>
                <a:latin typeface="Courier New" panose="02070309020205020404" pitchFamily="49" charset="0"/>
              </a:rPr>
              <a:t>)</a:t>
            </a:r>
          </a:p>
          <a:p>
            <a:r>
              <a:rPr lang="en-US" b="0" dirty="0">
                <a:solidFill>
                  <a:srgbClr val="AF00DB"/>
                </a:solidFill>
                <a:effectLst/>
                <a:latin typeface="Courier New" panose="02070309020205020404" pitchFamily="49" charset="0"/>
              </a:rPr>
              <a:t>for</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i</a:t>
            </a:r>
            <a:r>
              <a:rPr lang="en-US" b="0" dirty="0">
                <a:solidFill>
                  <a:srgbClr val="000000"/>
                </a:solidFill>
                <a:effectLst/>
                <a:latin typeface="Courier New" panose="02070309020205020404" pitchFamily="49" charset="0"/>
              </a:rPr>
              <a:t> </a:t>
            </a:r>
            <a:r>
              <a:rPr lang="en-US" b="0" dirty="0">
                <a:solidFill>
                  <a:srgbClr val="0000FF"/>
                </a:solidFill>
                <a:effectLst/>
                <a:latin typeface="Courier New" panose="02070309020205020404" pitchFamily="49" charset="0"/>
              </a:rPr>
              <a:t>in</a:t>
            </a:r>
            <a:r>
              <a:rPr lang="en-US" b="0" dirty="0">
                <a:solidFill>
                  <a:srgbClr val="000000"/>
                </a:solidFill>
                <a:effectLst/>
                <a:latin typeface="Courier New" panose="02070309020205020404" pitchFamily="49" charset="0"/>
              </a:rPr>
              <a:t> </a:t>
            </a:r>
            <a:r>
              <a:rPr lang="en-US" b="0" dirty="0">
                <a:solidFill>
                  <a:srgbClr val="795E26"/>
                </a:solidFill>
                <a:effectLst/>
                <a:latin typeface="Courier New" panose="02070309020205020404" pitchFamily="49" charset="0"/>
              </a:rPr>
              <a:t>range</a:t>
            </a:r>
            <a:r>
              <a:rPr lang="en-US" b="0" dirty="0">
                <a:solidFill>
                  <a:srgbClr val="000000"/>
                </a:solidFill>
                <a:effectLst/>
                <a:latin typeface="Courier New" panose="02070309020205020404" pitchFamily="49" charset="0"/>
              </a:rPr>
              <a:t>(terms):</a:t>
            </a:r>
          </a:p>
          <a:p>
            <a:r>
              <a:rPr lang="en-US" b="0" dirty="0">
                <a:solidFill>
                  <a:srgbClr val="000000"/>
                </a:solidFill>
                <a:effectLst/>
                <a:latin typeface="Courier New" panose="02070309020205020404" pitchFamily="49" charset="0"/>
              </a:rPr>
              <a:t>   </a:t>
            </a:r>
            <a:r>
              <a:rPr lang="en-US" b="0" dirty="0">
                <a:solidFill>
                  <a:srgbClr val="795E26"/>
                </a:solidFill>
                <a:effectLst/>
                <a:latin typeface="Courier New" panose="02070309020205020404" pitchFamily="49" charset="0"/>
              </a:rPr>
              <a:t>print</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"2 raised to power"</a:t>
            </a:r>
            <a:r>
              <a:rPr lang="en-US" b="0" dirty="0">
                <a:solidFill>
                  <a:srgbClr val="000000"/>
                </a:solidFill>
                <a:effectLst/>
                <a:latin typeface="Courier New" panose="02070309020205020404" pitchFamily="49" charset="0"/>
              </a:rPr>
              <a:t>,</a:t>
            </a:r>
            <a:r>
              <a:rPr lang="en-US" b="0" dirty="0" err="1">
                <a:solidFill>
                  <a:srgbClr val="000000"/>
                </a:solidFill>
                <a:effectLst/>
                <a:latin typeface="Courier New" panose="02070309020205020404" pitchFamily="49" charset="0"/>
              </a:rPr>
              <a:t>i</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a:t>
            </a:r>
            <a:r>
              <a:rPr lang="en-US" b="0" dirty="0" err="1">
                <a:solidFill>
                  <a:srgbClr val="A31515"/>
                </a:solidFill>
                <a:effectLst/>
                <a:latin typeface="Courier New" panose="02070309020205020404" pitchFamily="49" charset="0"/>
              </a:rPr>
              <a:t>is"</a:t>
            </a:r>
            <a:r>
              <a:rPr lang="en-US" b="0" dirty="0" err="1">
                <a:solidFill>
                  <a:srgbClr val="000000"/>
                </a:solidFill>
                <a:effectLst/>
                <a:latin typeface="Courier New" panose="02070309020205020404" pitchFamily="49" charset="0"/>
              </a:rPr>
              <a:t>,result</a:t>
            </a:r>
            <a:r>
              <a:rPr lang="en-US" b="0" dirty="0">
                <a:solidFill>
                  <a:srgbClr val="000000"/>
                </a:solidFill>
                <a:effectLst/>
                <a:latin typeface="Courier New" panose="02070309020205020404" pitchFamily="49" charset="0"/>
              </a:rPr>
              <a:t>[</a:t>
            </a:r>
            <a:r>
              <a:rPr lang="en-US" b="0" dirty="0" err="1">
                <a:solidFill>
                  <a:srgbClr val="000000"/>
                </a:solidFill>
                <a:effectLst/>
                <a:latin typeface="Courier New" panose="02070309020205020404" pitchFamily="49" charset="0"/>
              </a:rPr>
              <a:t>i</a:t>
            </a:r>
            <a:r>
              <a:rPr lang="en-US" b="0" dirty="0">
                <a:solidFill>
                  <a:srgbClr val="000000"/>
                </a:solidFill>
                <a:effectLst/>
                <a:latin typeface="Courier New" panose="02070309020205020404" pitchFamily="49" charset="0"/>
              </a:rPr>
              <a:t>])</a:t>
            </a:r>
          </a:p>
        </p:txBody>
      </p:sp>
      <p:sp>
        <p:nvSpPr>
          <p:cNvPr id="10" name="Content Placeholder 9">
            <a:extLst>
              <a:ext uri="{FF2B5EF4-FFF2-40B4-BE49-F238E27FC236}">
                <a16:creationId xmlns:a16="http://schemas.microsoft.com/office/drawing/2014/main" id="{8C2F9408-2725-E939-8179-1DEBA9F3F8A6}"/>
              </a:ext>
            </a:extLst>
          </p:cNvPr>
          <p:cNvSpPr>
            <a:spLocks noGrp="1"/>
          </p:cNvSpPr>
          <p:nvPr>
            <p:ph idx="1"/>
          </p:nvPr>
        </p:nvSpPr>
        <p:spPr/>
        <p:txBody>
          <a:bodyPr/>
          <a:lstStyle/>
          <a:p>
            <a:endParaRPr lang="en-US"/>
          </a:p>
        </p:txBody>
      </p:sp>
      <p:sp>
        <p:nvSpPr>
          <p:cNvPr id="12" name="TextBox 11">
            <a:extLst>
              <a:ext uri="{FF2B5EF4-FFF2-40B4-BE49-F238E27FC236}">
                <a16:creationId xmlns:a16="http://schemas.microsoft.com/office/drawing/2014/main" id="{A99FD64D-E654-9B4B-F69C-B9223C4E5446}"/>
              </a:ext>
            </a:extLst>
          </p:cNvPr>
          <p:cNvSpPr txBox="1"/>
          <p:nvPr/>
        </p:nvSpPr>
        <p:spPr>
          <a:xfrm>
            <a:off x="363869" y="4620704"/>
            <a:ext cx="11700311" cy="1754326"/>
          </a:xfrm>
          <a:prstGeom prst="rect">
            <a:avLst/>
          </a:prstGeom>
          <a:solidFill>
            <a:schemeClr val="accent3">
              <a:lumMod val="20000"/>
              <a:lumOff val="80000"/>
            </a:schemeClr>
          </a:solidFill>
        </p:spPr>
        <p:txBody>
          <a:bodyPr wrap="square">
            <a:spAutoFit/>
          </a:bodyPr>
          <a:lstStyle/>
          <a:p>
            <a:r>
              <a:rPr lang="en-US" b="0" dirty="0">
                <a:solidFill>
                  <a:srgbClr val="000000"/>
                </a:solidFill>
                <a:effectLst/>
                <a:latin typeface="Courier New" panose="02070309020205020404" pitchFamily="49" charset="0"/>
              </a:rPr>
              <a:t>number = </a:t>
            </a:r>
            <a:r>
              <a:rPr lang="en-US" b="0" dirty="0">
                <a:solidFill>
                  <a:srgbClr val="257693"/>
                </a:solidFill>
                <a:effectLst/>
                <a:latin typeface="Courier New" panose="02070309020205020404" pitchFamily="49" charset="0"/>
              </a:rPr>
              <a:t>int</a:t>
            </a:r>
            <a:r>
              <a:rPr lang="en-US" b="0" dirty="0">
                <a:solidFill>
                  <a:srgbClr val="000000"/>
                </a:solidFill>
                <a:effectLst/>
                <a:latin typeface="Courier New" panose="02070309020205020404" pitchFamily="49" charset="0"/>
              </a:rPr>
              <a:t>(input (</a:t>
            </a:r>
            <a:r>
              <a:rPr lang="en-US" b="0" dirty="0">
                <a:solidFill>
                  <a:srgbClr val="A31515"/>
                </a:solidFill>
                <a:effectLst/>
                <a:latin typeface="Courier New" panose="02070309020205020404" pitchFamily="49" charset="0"/>
              </a:rPr>
              <a:t>"Enter the number of which the user wants to print the multiplication table: "</a:t>
            </a:r>
            <a:r>
              <a:rPr lang="en-US" b="0" dirty="0">
                <a:solidFill>
                  <a:srgbClr val="000000"/>
                </a:solidFill>
                <a:effectLst/>
                <a:latin typeface="Courier New" panose="02070309020205020404" pitchFamily="49" charset="0"/>
              </a:rPr>
              <a:t>))      </a:t>
            </a:r>
          </a:p>
          <a:p>
            <a:r>
              <a:rPr lang="en-US" b="0" dirty="0">
                <a:solidFill>
                  <a:srgbClr val="008000"/>
                </a:solidFill>
                <a:effectLst/>
                <a:latin typeface="Courier New" panose="02070309020205020404" pitchFamily="49" charset="0"/>
              </a:rPr>
              <a:t># We are using "for loop" to iterate the multiplication 10 times       </a:t>
            </a:r>
            <a:endParaRPr lang="en-US" b="0" dirty="0">
              <a:solidFill>
                <a:srgbClr val="000000"/>
              </a:solidFill>
              <a:effectLst/>
              <a:latin typeface="Courier New" panose="02070309020205020404" pitchFamily="49" charset="0"/>
            </a:endParaRPr>
          </a:p>
          <a:p>
            <a:r>
              <a:rPr lang="en-US" b="0" dirty="0">
                <a:solidFill>
                  <a:srgbClr val="000000"/>
                </a:solidFill>
                <a:effectLst/>
                <a:latin typeface="Courier New" panose="02070309020205020404" pitchFamily="49" charset="0"/>
              </a:rPr>
              <a:t>print (</a:t>
            </a:r>
            <a:r>
              <a:rPr lang="en-US" b="0" dirty="0">
                <a:solidFill>
                  <a:srgbClr val="A31515"/>
                </a:solidFill>
                <a:effectLst/>
                <a:latin typeface="Courier New" panose="02070309020205020404" pitchFamily="49" charset="0"/>
              </a:rPr>
              <a:t>"The Multiplication Table of: "</a:t>
            </a:r>
            <a:r>
              <a:rPr lang="en-US" b="0" dirty="0">
                <a:solidFill>
                  <a:srgbClr val="000000"/>
                </a:solidFill>
                <a:effectLst/>
                <a:latin typeface="Courier New" panose="02070309020205020404" pitchFamily="49" charset="0"/>
              </a:rPr>
              <a:t>, number)    </a:t>
            </a:r>
          </a:p>
          <a:p>
            <a:r>
              <a:rPr lang="en-US" b="0" dirty="0">
                <a:solidFill>
                  <a:srgbClr val="AF00DB"/>
                </a:solidFill>
                <a:effectLst/>
                <a:latin typeface="Courier New" panose="02070309020205020404" pitchFamily="49" charset="0"/>
              </a:rPr>
              <a:t>for</a:t>
            </a:r>
            <a:r>
              <a:rPr lang="en-US" b="0" dirty="0">
                <a:solidFill>
                  <a:srgbClr val="000000"/>
                </a:solidFill>
                <a:effectLst/>
                <a:latin typeface="Courier New" panose="02070309020205020404" pitchFamily="49" charset="0"/>
              </a:rPr>
              <a:t> count </a:t>
            </a:r>
            <a:r>
              <a:rPr lang="en-US" b="0" dirty="0">
                <a:solidFill>
                  <a:srgbClr val="0000FF"/>
                </a:solidFill>
                <a:effectLst/>
                <a:latin typeface="Courier New" panose="02070309020205020404" pitchFamily="49" charset="0"/>
              </a:rPr>
              <a:t>in</a:t>
            </a:r>
            <a:r>
              <a:rPr lang="en-US" b="0" dirty="0">
                <a:solidFill>
                  <a:srgbClr val="000000"/>
                </a:solidFill>
                <a:effectLst/>
                <a:latin typeface="Courier New" panose="02070309020205020404" pitchFamily="49" charset="0"/>
              </a:rPr>
              <a:t> </a:t>
            </a:r>
            <a:r>
              <a:rPr lang="en-US" b="0" dirty="0">
                <a:solidFill>
                  <a:srgbClr val="795E26"/>
                </a:solidFill>
                <a:effectLst/>
                <a:latin typeface="Courier New" panose="02070309020205020404" pitchFamily="49" charset="0"/>
              </a:rPr>
              <a:t>range</a:t>
            </a:r>
            <a:r>
              <a:rPr lang="en-US" b="0" dirty="0">
                <a:solidFill>
                  <a:srgbClr val="000000"/>
                </a:solidFill>
                <a:effectLst/>
                <a:latin typeface="Courier New" panose="02070309020205020404" pitchFamily="49" charset="0"/>
              </a:rPr>
              <a:t>(</a:t>
            </a:r>
            <a:r>
              <a:rPr lang="en-US" b="0" dirty="0">
                <a:solidFill>
                  <a:srgbClr val="098156"/>
                </a:solidFill>
                <a:effectLst/>
                <a:latin typeface="Courier New" panose="02070309020205020404" pitchFamily="49" charset="0"/>
              </a:rPr>
              <a:t>1</a:t>
            </a:r>
            <a:r>
              <a:rPr lang="en-US" b="0" dirty="0">
                <a:solidFill>
                  <a:srgbClr val="000000"/>
                </a:solidFill>
                <a:effectLst/>
                <a:latin typeface="Courier New" panose="02070309020205020404" pitchFamily="49" charset="0"/>
              </a:rPr>
              <a:t>, </a:t>
            </a:r>
            <a:r>
              <a:rPr lang="en-US" b="0" dirty="0">
                <a:solidFill>
                  <a:srgbClr val="098156"/>
                </a:solidFill>
                <a:effectLst/>
                <a:latin typeface="Courier New" panose="02070309020205020404" pitchFamily="49" charset="0"/>
              </a:rPr>
              <a:t>11</a:t>
            </a:r>
            <a:r>
              <a:rPr lang="en-US" b="0" dirty="0">
                <a:solidFill>
                  <a:srgbClr val="000000"/>
                </a:solidFill>
                <a:effectLst/>
                <a:latin typeface="Courier New" panose="02070309020205020404" pitchFamily="49" charset="0"/>
              </a:rPr>
              <a:t>):      </a:t>
            </a:r>
          </a:p>
          <a:p>
            <a:r>
              <a:rPr lang="en-US" b="0" dirty="0">
                <a:solidFill>
                  <a:srgbClr val="000000"/>
                </a:solidFill>
                <a:effectLst/>
                <a:latin typeface="Courier New" panose="02070309020205020404" pitchFamily="49" charset="0"/>
              </a:rPr>
              <a:t>   print (number, </a:t>
            </a:r>
            <a:r>
              <a:rPr lang="en-US" b="0" dirty="0">
                <a:solidFill>
                  <a:srgbClr val="A31515"/>
                </a:solidFill>
                <a:effectLst/>
                <a:latin typeface="Courier New" panose="02070309020205020404" pitchFamily="49" charset="0"/>
              </a:rPr>
              <a:t>'x'</a:t>
            </a:r>
            <a:r>
              <a:rPr lang="en-US" b="0" dirty="0">
                <a:solidFill>
                  <a:srgbClr val="000000"/>
                </a:solidFill>
                <a:effectLst/>
                <a:latin typeface="Courier New" panose="02070309020205020404" pitchFamily="49" charset="0"/>
              </a:rPr>
              <a:t>, count, </a:t>
            </a:r>
            <a:r>
              <a:rPr lang="en-US" b="0" dirty="0">
                <a:solidFill>
                  <a:srgbClr val="A31515"/>
                </a:solidFill>
                <a:effectLst/>
                <a:latin typeface="Courier New" panose="02070309020205020404" pitchFamily="49" charset="0"/>
              </a:rPr>
              <a:t>'='</a:t>
            </a:r>
            <a:r>
              <a:rPr lang="en-US" b="0" dirty="0">
                <a:solidFill>
                  <a:srgbClr val="000000"/>
                </a:solidFill>
                <a:effectLst/>
                <a:latin typeface="Courier New" panose="02070309020205020404" pitchFamily="49" charset="0"/>
              </a:rPr>
              <a:t>, number * count)    </a:t>
            </a:r>
          </a:p>
        </p:txBody>
      </p:sp>
    </p:spTree>
    <p:extLst>
      <p:ext uri="{BB962C8B-B14F-4D97-AF65-F5344CB8AC3E}">
        <p14:creationId xmlns:p14="http://schemas.microsoft.com/office/powerpoint/2010/main" val="5499070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
        <p:nvSpPr>
          <p:cNvPr id="12" name="TextBox 11">
            <a:extLst>
              <a:ext uri="{FF2B5EF4-FFF2-40B4-BE49-F238E27FC236}">
                <a16:creationId xmlns:a16="http://schemas.microsoft.com/office/drawing/2014/main" id="{E5FAD0E2-4B69-B80E-D8D0-24D224838948}"/>
              </a:ext>
            </a:extLst>
          </p:cNvPr>
          <p:cNvSpPr txBox="1"/>
          <p:nvPr/>
        </p:nvSpPr>
        <p:spPr>
          <a:xfrm>
            <a:off x="1858297" y="569694"/>
            <a:ext cx="6135328" cy="4247317"/>
          </a:xfrm>
          <a:prstGeom prst="rect">
            <a:avLst/>
          </a:prstGeom>
          <a:solidFill>
            <a:schemeClr val="accent2">
              <a:lumMod val="60000"/>
              <a:lumOff val="40000"/>
            </a:schemeClr>
          </a:solidFill>
        </p:spPr>
        <p:txBody>
          <a:bodyPr wrap="square">
            <a:spAutoFit/>
          </a:bodyPr>
          <a:lstStyle/>
          <a:p>
            <a:r>
              <a:rPr lang="en-US" b="0" dirty="0">
                <a:solidFill>
                  <a:srgbClr val="008000"/>
                </a:solidFill>
                <a:effectLst/>
                <a:latin typeface="Courier New" panose="02070309020205020404" pitchFamily="49" charset="0"/>
              </a:rPr>
              <a:t># Program to multiply two matrices using nested loops</a:t>
            </a:r>
            <a:endParaRPr lang="en-US" b="0" dirty="0">
              <a:solidFill>
                <a:srgbClr val="000000"/>
              </a:solidFill>
              <a:effectLst/>
              <a:latin typeface="Courier New" panose="02070309020205020404" pitchFamily="49" charset="0"/>
            </a:endParaRPr>
          </a:p>
          <a:p>
            <a:br>
              <a:rPr lang="en-US" b="0" dirty="0">
                <a:solidFill>
                  <a:srgbClr val="000000"/>
                </a:solidFill>
                <a:effectLst/>
                <a:latin typeface="Courier New" panose="02070309020205020404" pitchFamily="49" charset="0"/>
              </a:rPr>
            </a:br>
            <a:r>
              <a:rPr lang="en-US" b="0" dirty="0">
                <a:solidFill>
                  <a:srgbClr val="008000"/>
                </a:solidFill>
                <a:effectLst/>
                <a:latin typeface="Courier New" panose="02070309020205020404" pitchFamily="49" charset="0"/>
              </a:rPr>
              <a:t># 3x3 matrix</a:t>
            </a:r>
            <a:endParaRPr lang="en-US" b="0" dirty="0">
              <a:solidFill>
                <a:srgbClr val="000000"/>
              </a:solidFill>
              <a:effectLst/>
              <a:latin typeface="Courier New" panose="02070309020205020404" pitchFamily="49" charset="0"/>
            </a:endParaRPr>
          </a:p>
          <a:p>
            <a:r>
              <a:rPr lang="en-US" b="0" dirty="0">
                <a:solidFill>
                  <a:srgbClr val="000000"/>
                </a:solidFill>
                <a:effectLst/>
                <a:latin typeface="Courier New" panose="02070309020205020404" pitchFamily="49" charset="0"/>
              </a:rPr>
              <a:t>X = [[</a:t>
            </a:r>
            <a:r>
              <a:rPr lang="en-US" b="0" dirty="0">
                <a:solidFill>
                  <a:srgbClr val="098156"/>
                </a:solidFill>
                <a:effectLst/>
                <a:latin typeface="Courier New" panose="02070309020205020404" pitchFamily="49" charset="0"/>
              </a:rPr>
              <a:t>12</a:t>
            </a:r>
            <a:r>
              <a:rPr lang="en-US" b="0" dirty="0">
                <a:solidFill>
                  <a:srgbClr val="000000"/>
                </a:solidFill>
                <a:effectLst/>
                <a:latin typeface="Courier New" panose="02070309020205020404" pitchFamily="49" charset="0"/>
              </a:rPr>
              <a:t>,</a:t>
            </a:r>
            <a:r>
              <a:rPr lang="en-US" b="0" dirty="0">
                <a:solidFill>
                  <a:srgbClr val="098156"/>
                </a:solidFill>
                <a:effectLst/>
                <a:latin typeface="Courier New" panose="02070309020205020404" pitchFamily="49" charset="0"/>
              </a:rPr>
              <a:t>7</a:t>
            </a:r>
            <a:r>
              <a:rPr lang="en-US" b="0" dirty="0">
                <a:solidFill>
                  <a:srgbClr val="000000"/>
                </a:solidFill>
                <a:effectLst/>
                <a:latin typeface="Courier New" panose="02070309020205020404" pitchFamily="49" charset="0"/>
              </a:rPr>
              <a:t>,</a:t>
            </a:r>
            <a:r>
              <a:rPr lang="en-US" b="0" dirty="0">
                <a:solidFill>
                  <a:srgbClr val="098156"/>
                </a:solidFill>
                <a:effectLst/>
                <a:latin typeface="Courier New" panose="02070309020205020404" pitchFamily="49" charset="0"/>
              </a:rPr>
              <a:t>3</a:t>
            </a:r>
            <a:r>
              <a:rPr lang="en-US" b="0" dirty="0">
                <a:solidFill>
                  <a:srgbClr val="000000"/>
                </a:solidFill>
                <a:effectLst/>
                <a:latin typeface="Courier New" panose="02070309020205020404" pitchFamily="49" charset="0"/>
              </a:rPr>
              <a:t>],</a:t>
            </a:r>
          </a:p>
          <a:p>
            <a:r>
              <a:rPr lang="en-US" b="0" dirty="0">
                <a:solidFill>
                  <a:srgbClr val="000000"/>
                </a:solidFill>
                <a:effectLst/>
                <a:latin typeface="Courier New" panose="02070309020205020404" pitchFamily="49" charset="0"/>
              </a:rPr>
              <a:t>    [</a:t>
            </a:r>
            <a:r>
              <a:rPr lang="en-US" b="0" dirty="0">
                <a:solidFill>
                  <a:srgbClr val="098156"/>
                </a:solidFill>
                <a:effectLst/>
                <a:latin typeface="Courier New" panose="02070309020205020404" pitchFamily="49" charset="0"/>
              </a:rPr>
              <a:t>4</a:t>
            </a:r>
            <a:r>
              <a:rPr lang="en-US" b="0" dirty="0">
                <a:solidFill>
                  <a:srgbClr val="000000"/>
                </a:solidFill>
                <a:effectLst/>
                <a:latin typeface="Courier New" panose="02070309020205020404" pitchFamily="49" charset="0"/>
              </a:rPr>
              <a:t> ,</a:t>
            </a:r>
            <a:r>
              <a:rPr lang="en-US" b="0" dirty="0">
                <a:solidFill>
                  <a:srgbClr val="098156"/>
                </a:solidFill>
                <a:effectLst/>
                <a:latin typeface="Courier New" panose="02070309020205020404" pitchFamily="49" charset="0"/>
              </a:rPr>
              <a:t>5</a:t>
            </a:r>
            <a:r>
              <a:rPr lang="en-US" b="0" dirty="0">
                <a:solidFill>
                  <a:srgbClr val="000000"/>
                </a:solidFill>
                <a:effectLst/>
                <a:latin typeface="Courier New" panose="02070309020205020404" pitchFamily="49" charset="0"/>
              </a:rPr>
              <a:t>,</a:t>
            </a:r>
            <a:r>
              <a:rPr lang="en-US" b="0" dirty="0">
                <a:solidFill>
                  <a:srgbClr val="098156"/>
                </a:solidFill>
                <a:effectLst/>
                <a:latin typeface="Courier New" panose="02070309020205020404" pitchFamily="49" charset="0"/>
              </a:rPr>
              <a:t>6</a:t>
            </a:r>
            <a:r>
              <a:rPr lang="en-US" b="0" dirty="0">
                <a:solidFill>
                  <a:srgbClr val="000000"/>
                </a:solidFill>
                <a:effectLst/>
                <a:latin typeface="Courier New" panose="02070309020205020404" pitchFamily="49" charset="0"/>
              </a:rPr>
              <a:t>],</a:t>
            </a:r>
          </a:p>
          <a:p>
            <a:r>
              <a:rPr lang="en-US" b="0" dirty="0">
                <a:solidFill>
                  <a:srgbClr val="000000"/>
                </a:solidFill>
                <a:effectLst/>
                <a:latin typeface="Courier New" panose="02070309020205020404" pitchFamily="49" charset="0"/>
              </a:rPr>
              <a:t>    [</a:t>
            </a:r>
            <a:r>
              <a:rPr lang="en-US" b="0" dirty="0">
                <a:solidFill>
                  <a:srgbClr val="098156"/>
                </a:solidFill>
                <a:effectLst/>
                <a:latin typeface="Courier New" panose="02070309020205020404" pitchFamily="49" charset="0"/>
              </a:rPr>
              <a:t>7</a:t>
            </a:r>
            <a:r>
              <a:rPr lang="en-US" b="0" dirty="0">
                <a:solidFill>
                  <a:srgbClr val="000000"/>
                </a:solidFill>
                <a:effectLst/>
                <a:latin typeface="Courier New" panose="02070309020205020404" pitchFamily="49" charset="0"/>
              </a:rPr>
              <a:t> ,</a:t>
            </a:r>
            <a:r>
              <a:rPr lang="en-US" b="0" dirty="0">
                <a:solidFill>
                  <a:srgbClr val="098156"/>
                </a:solidFill>
                <a:effectLst/>
                <a:latin typeface="Courier New" panose="02070309020205020404" pitchFamily="49" charset="0"/>
              </a:rPr>
              <a:t>8</a:t>
            </a:r>
            <a:r>
              <a:rPr lang="en-US" b="0" dirty="0">
                <a:solidFill>
                  <a:srgbClr val="000000"/>
                </a:solidFill>
                <a:effectLst/>
                <a:latin typeface="Courier New" panose="02070309020205020404" pitchFamily="49" charset="0"/>
              </a:rPr>
              <a:t>,</a:t>
            </a:r>
            <a:r>
              <a:rPr lang="en-US" b="0" dirty="0">
                <a:solidFill>
                  <a:srgbClr val="098156"/>
                </a:solidFill>
                <a:effectLst/>
                <a:latin typeface="Courier New" panose="02070309020205020404" pitchFamily="49" charset="0"/>
              </a:rPr>
              <a:t>9</a:t>
            </a:r>
            <a:r>
              <a:rPr lang="en-US" b="0" dirty="0">
                <a:solidFill>
                  <a:srgbClr val="000000"/>
                </a:solidFill>
                <a:effectLst/>
                <a:latin typeface="Courier New" panose="02070309020205020404" pitchFamily="49" charset="0"/>
              </a:rPr>
              <a:t>]]</a:t>
            </a:r>
          </a:p>
          <a:p>
            <a:r>
              <a:rPr lang="en-US" b="0" dirty="0">
                <a:solidFill>
                  <a:srgbClr val="008000"/>
                </a:solidFill>
                <a:effectLst/>
                <a:latin typeface="Courier New" panose="02070309020205020404" pitchFamily="49" charset="0"/>
              </a:rPr>
              <a:t># 3x4 matrix</a:t>
            </a:r>
            <a:endParaRPr lang="en-US" b="0" dirty="0">
              <a:solidFill>
                <a:srgbClr val="000000"/>
              </a:solidFill>
              <a:effectLst/>
              <a:latin typeface="Courier New" panose="02070309020205020404" pitchFamily="49" charset="0"/>
            </a:endParaRPr>
          </a:p>
          <a:p>
            <a:r>
              <a:rPr lang="en-US" b="0" dirty="0">
                <a:solidFill>
                  <a:srgbClr val="000000"/>
                </a:solidFill>
                <a:effectLst/>
                <a:latin typeface="Courier New" panose="02070309020205020404" pitchFamily="49" charset="0"/>
              </a:rPr>
              <a:t>Y = [[</a:t>
            </a:r>
            <a:r>
              <a:rPr lang="en-US" b="0" dirty="0">
                <a:solidFill>
                  <a:srgbClr val="098156"/>
                </a:solidFill>
                <a:effectLst/>
                <a:latin typeface="Courier New" panose="02070309020205020404" pitchFamily="49" charset="0"/>
              </a:rPr>
              <a:t>5</a:t>
            </a:r>
            <a:r>
              <a:rPr lang="en-US" b="0" dirty="0">
                <a:solidFill>
                  <a:srgbClr val="000000"/>
                </a:solidFill>
                <a:effectLst/>
                <a:latin typeface="Courier New" panose="02070309020205020404" pitchFamily="49" charset="0"/>
              </a:rPr>
              <a:t>,</a:t>
            </a:r>
            <a:r>
              <a:rPr lang="en-US" b="0" dirty="0">
                <a:solidFill>
                  <a:srgbClr val="098156"/>
                </a:solidFill>
                <a:effectLst/>
                <a:latin typeface="Courier New" panose="02070309020205020404" pitchFamily="49" charset="0"/>
              </a:rPr>
              <a:t>8</a:t>
            </a:r>
            <a:r>
              <a:rPr lang="en-US" b="0" dirty="0">
                <a:solidFill>
                  <a:srgbClr val="000000"/>
                </a:solidFill>
                <a:effectLst/>
                <a:latin typeface="Courier New" panose="02070309020205020404" pitchFamily="49" charset="0"/>
              </a:rPr>
              <a:t>,</a:t>
            </a:r>
            <a:r>
              <a:rPr lang="en-US" b="0" dirty="0">
                <a:solidFill>
                  <a:srgbClr val="098156"/>
                </a:solidFill>
                <a:effectLst/>
                <a:latin typeface="Courier New" panose="02070309020205020404" pitchFamily="49" charset="0"/>
              </a:rPr>
              <a:t>1</a:t>
            </a:r>
            <a:r>
              <a:rPr lang="en-US" b="0" dirty="0">
                <a:solidFill>
                  <a:srgbClr val="000000"/>
                </a:solidFill>
                <a:effectLst/>
                <a:latin typeface="Courier New" panose="02070309020205020404" pitchFamily="49" charset="0"/>
              </a:rPr>
              <a:t>,</a:t>
            </a:r>
            <a:r>
              <a:rPr lang="en-US" b="0" dirty="0">
                <a:solidFill>
                  <a:srgbClr val="098156"/>
                </a:solidFill>
                <a:effectLst/>
                <a:latin typeface="Courier New" panose="02070309020205020404" pitchFamily="49" charset="0"/>
              </a:rPr>
              <a:t>2</a:t>
            </a:r>
            <a:r>
              <a:rPr lang="en-US" b="0" dirty="0">
                <a:solidFill>
                  <a:srgbClr val="000000"/>
                </a:solidFill>
                <a:effectLst/>
                <a:latin typeface="Courier New" panose="02070309020205020404" pitchFamily="49" charset="0"/>
              </a:rPr>
              <a:t>],</a:t>
            </a:r>
          </a:p>
          <a:p>
            <a:r>
              <a:rPr lang="en-US" b="0" dirty="0">
                <a:solidFill>
                  <a:srgbClr val="000000"/>
                </a:solidFill>
                <a:effectLst/>
                <a:latin typeface="Courier New" panose="02070309020205020404" pitchFamily="49" charset="0"/>
              </a:rPr>
              <a:t>    [</a:t>
            </a:r>
            <a:r>
              <a:rPr lang="en-US" b="0" dirty="0">
                <a:solidFill>
                  <a:srgbClr val="098156"/>
                </a:solidFill>
                <a:effectLst/>
                <a:latin typeface="Courier New" panose="02070309020205020404" pitchFamily="49" charset="0"/>
              </a:rPr>
              <a:t>6</a:t>
            </a:r>
            <a:r>
              <a:rPr lang="en-US" b="0" dirty="0">
                <a:solidFill>
                  <a:srgbClr val="000000"/>
                </a:solidFill>
                <a:effectLst/>
                <a:latin typeface="Courier New" panose="02070309020205020404" pitchFamily="49" charset="0"/>
              </a:rPr>
              <a:t>,</a:t>
            </a:r>
            <a:r>
              <a:rPr lang="en-US" b="0" dirty="0">
                <a:solidFill>
                  <a:srgbClr val="098156"/>
                </a:solidFill>
                <a:effectLst/>
                <a:latin typeface="Courier New" panose="02070309020205020404" pitchFamily="49" charset="0"/>
              </a:rPr>
              <a:t>7</a:t>
            </a:r>
            <a:r>
              <a:rPr lang="en-US" b="0" dirty="0">
                <a:solidFill>
                  <a:srgbClr val="000000"/>
                </a:solidFill>
                <a:effectLst/>
                <a:latin typeface="Courier New" panose="02070309020205020404" pitchFamily="49" charset="0"/>
              </a:rPr>
              <a:t>,</a:t>
            </a:r>
            <a:r>
              <a:rPr lang="en-US" b="0" dirty="0">
                <a:solidFill>
                  <a:srgbClr val="098156"/>
                </a:solidFill>
                <a:effectLst/>
                <a:latin typeface="Courier New" panose="02070309020205020404" pitchFamily="49" charset="0"/>
              </a:rPr>
              <a:t>3</a:t>
            </a:r>
            <a:r>
              <a:rPr lang="en-US" b="0" dirty="0">
                <a:solidFill>
                  <a:srgbClr val="000000"/>
                </a:solidFill>
                <a:effectLst/>
                <a:latin typeface="Courier New" panose="02070309020205020404" pitchFamily="49" charset="0"/>
              </a:rPr>
              <a:t>,</a:t>
            </a:r>
            <a:r>
              <a:rPr lang="en-US" b="0" dirty="0">
                <a:solidFill>
                  <a:srgbClr val="098156"/>
                </a:solidFill>
                <a:effectLst/>
                <a:latin typeface="Courier New" panose="02070309020205020404" pitchFamily="49" charset="0"/>
              </a:rPr>
              <a:t>0</a:t>
            </a:r>
            <a:r>
              <a:rPr lang="en-US" b="0" dirty="0">
                <a:solidFill>
                  <a:srgbClr val="000000"/>
                </a:solidFill>
                <a:effectLst/>
                <a:latin typeface="Courier New" panose="02070309020205020404" pitchFamily="49" charset="0"/>
              </a:rPr>
              <a:t>],</a:t>
            </a:r>
          </a:p>
          <a:p>
            <a:r>
              <a:rPr lang="en-US" b="0" dirty="0">
                <a:solidFill>
                  <a:srgbClr val="000000"/>
                </a:solidFill>
                <a:effectLst/>
                <a:latin typeface="Courier New" panose="02070309020205020404" pitchFamily="49" charset="0"/>
              </a:rPr>
              <a:t>    [</a:t>
            </a:r>
            <a:r>
              <a:rPr lang="en-US" b="0" dirty="0">
                <a:solidFill>
                  <a:srgbClr val="098156"/>
                </a:solidFill>
                <a:effectLst/>
                <a:latin typeface="Courier New" panose="02070309020205020404" pitchFamily="49" charset="0"/>
              </a:rPr>
              <a:t>4</a:t>
            </a:r>
            <a:r>
              <a:rPr lang="en-US" b="0" dirty="0">
                <a:solidFill>
                  <a:srgbClr val="000000"/>
                </a:solidFill>
                <a:effectLst/>
                <a:latin typeface="Courier New" panose="02070309020205020404" pitchFamily="49" charset="0"/>
              </a:rPr>
              <a:t>,</a:t>
            </a:r>
            <a:r>
              <a:rPr lang="en-US" b="0" dirty="0">
                <a:solidFill>
                  <a:srgbClr val="098156"/>
                </a:solidFill>
                <a:effectLst/>
                <a:latin typeface="Courier New" panose="02070309020205020404" pitchFamily="49" charset="0"/>
              </a:rPr>
              <a:t>5</a:t>
            </a:r>
            <a:r>
              <a:rPr lang="en-US" b="0" dirty="0">
                <a:solidFill>
                  <a:srgbClr val="000000"/>
                </a:solidFill>
                <a:effectLst/>
                <a:latin typeface="Courier New" panose="02070309020205020404" pitchFamily="49" charset="0"/>
              </a:rPr>
              <a:t>,</a:t>
            </a:r>
            <a:r>
              <a:rPr lang="en-US" b="0" dirty="0">
                <a:solidFill>
                  <a:srgbClr val="098156"/>
                </a:solidFill>
                <a:effectLst/>
                <a:latin typeface="Courier New" panose="02070309020205020404" pitchFamily="49" charset="0"/>
              </a:rPr>
              <a:t>9</a:t>
            </a:r>
            <a:r>
              <a:rPr lang="en-US" b="0" dirty="0">
                <a:solidFill>
                  <a:srgbClr val="000000"/>
                </a:solidFill>
                <a:effectLst/>
                <a:latin typeface="Courier New" panose="02070309020205020404" pitchFamily="49" charset="0"/>
              </a:rPr>
              <a:t>,</a:t>
            </a:r>
            <a:r>
              <a:rPr lang="en-US" b="0" dirty="0">
                <a:solidFill>
                  <a:srgbClr val="098156"/>
                </a:solidFill>
                <a:effectLst/>
                <a:latin typeface="Courier New" panose="02070309020205020404" pitchFamily="49" charset="0"/>
              </a:rPr>
              <a:t>1</a:t>
            </a:r>
            <a:r>
              <a:rPr lang="en-US" b="0" dirty="0">
                <a:solidFill>
                  <a:srgbClr val="000000"/>
                </a:solidFill>
                <a:effectLst/>
                <a:latin typeface="Courier New" panose="02070309020205020404" pitchFamily="49" charset="0"/>
              </a:rPr>
              <a:t>]]</a:t>
            </a:r>
          </a:p>
          <a:p>
            <a:r>
              <a:rPr lang="en-US" b="0" dirty="0">
                <a:solidFill>
                  <a:srgbClr val="008000"/>
                </a:solidFill>
                <a:effectLst/>
                <a:latin typeface="Courier New" panose="02070309020205020404" pitchFamily="49" charset="0"/>
              </a:rPr>
              <a:t># result is 3x4</a:t>
            </a:r>
            <a:endParaRPr lang="en-US" b="0" dirty="0">
              <a:solidFill>
                <a:srgbClr val="000000"/>
              </a:solidFill>
              <a:effectLst/>
              <a:latin typeface="Courier New" panose="02070309020205020404" pitchFamily="49" charset="0"/>
            </a:endParaRPr>
          </a:p>
          <a:p>
            <a:r>
              <a:rPr lang="en-US" b="0" dirty="0">
                <a:solidFill>
                  <a:srgbClr val="000000"/>
                </a:solidFill>
                <a:effectLst/>
                <a:latin typeface="Courier New" panose="02070309020205020404" pitchFamily="49" charset="0"/>
              </a:rPr>
              <a:t>result = [[</a:t>
            </a:r>
            <a:r>
              <a:rPr lang="en-US" b="0" dirty="0">
                <a:solidFill>
                  <a:srgbClr val="098156"/>
                </a:solidFill>
                <a:effectLst/>
                <a:latin typeface="Courier New" panose="02070309020205020404" pitchFamily="49" charset="0"/>
              </a:rPr>
              <a:t>0</a:t>
            </a:r>
            <a:r>
              <a:rPr lang="en-US" b="0" dirty="0">
                <a:solidFill>
                  <a:srgbClr val="000000"/>
                </a:solidFill>
                <a:effectLst/>
                <a:latin typeface="Courier New" panose="02070309020205020404" pitchFamily="49" charset="0"/>
              </a:rPr>
              <a:t>,</a:t>
            </a:r>
            <a:r>
              <a:rPr lang="en-US" b="0" dirty="0">
                <a:solidFill>
                  <a:srgbClr val="098156"/>
                </a:solidFill>
                <a:effectLst/>
                <a:latin typeface="Courier New" panose="02070309020205020404" pitchFamily="49" charset="0"/>
              </a:rPr>
              <a:t>0</a:t>
            </a:r>
            <a:r>
              <a:rPr lang="en-US" b="0" dirty="0">
                <a:solidFill>
                  <a:srgbClr val="000000"/>
                </a:solidFill>
                <a:effectLst/>
                <a:latin typeface="Courier New" panose="02070309020205020404" pitchFamily="49" charset="0"/>
              </a:rPr>
              <a:t>,</a:t>
            </a:r>
            <a:r>
              <a:rPr lang="en-US" b="0" dirty="0">
                <a:solidFill>
                  <a:srgbClr val="098156"/>
                </a:solidFill>
                <a:effectLst/>
                <a:latin typeface="Courier New" panose="02070309020205020404" pitchFamily="49" charset="0"/>
              </a:rPr>
              <a:t>0</a:t>
            </a:r>
            <a:r>
              <a:rPr lang="en-US" b="0" dirty="0">
                <a:solidFill>
                  <a:srgbClr val="000000"/>
                </a:solidFill>
                <a:effectLst/>
                <a:latin typeface="Courier New" panose="02070309020205020404" pitchFamily="49" charset="0"/>
              </a:rPr>
              <a:t>,</a:t>
            </a:r>
            <a:r>
              <a:rPr lang="en-US" b="0" dirty="0">
                <a:solidFill>
                  <a:srgbClr val="098156"/>
                </a:solidFill>
                <a:effectLst/>
                <a:latin typeface="Courier New" panose="02070309020205020404" pitchFamily="49" charset="0"/>
              </a:rPr>
              <a:t>0</a:t>
            </a:r>
            <a:r>
              <a:rPr lang="en-US" b="0" dirty="0">
                <a:solidFill>
                  <a:srgbClr val="000000"/>
                </a:solidFill>
                <a:effectLst/>
                <a:latin typeface="Courier New" panose="02070309020205020404" pitchFamily="49" charset="0"/>
              </a:rPr>
              <a:t>],</a:t>
            </a:r>
          </a:p>
          <a:p>
            <a:r>
              <a:rPr lang="en-US" b="0" dirty="0">
                <a:solidFill>
                  <a:srgbClr val="000000"/>
                </a:solidFill>
                <a:effectLst/>
                <a:latin typeface="Courier New" panose="02070309020205020404" pitchFamily="49" charset="0"/>
              </a:rPr>
              <a:t>         [</a:t>
            </a:r>
            <a:r>
              <a:rPr lang="en-US" b="0" dirty="0">
                <a:solidFill>
                  <a:srgbClr val="098156"/>
                </a:solidFill>
                <a:effectLst/>
                <a:latin typeface="Courier New" panose="02070309020205020404" pitchFamily="49" charset="0"/>
              </a:rPr>
              <a:t>0</a:t>
            </a:r>
            <a:r>
              <a:rPr lang="en-US" b="0" dirty="0">
                <a:solidFill>
                  <a:srgbClr val="000000"/>
                </a:solidFill>
                <a:effectLst/>
                <a:latin typeface="Courier New" panose="02070309020205020404" pitchFamily="49" charset="0"/>
              </a:rPr>
              <a:t>,</a:t>
            </a:r>
            <a:r>
              <a:rPr lang="en-US" b="0" dirty="0">
                <a:solidFill>
                  <a:srgbClr val="098156"/>
                </a:solidFill>
                <a:effectLst/>
                <a:latin typeface="Courier New" panose="02070309020205020404" pitchFamily="49" charset="0"/>
              </a:rPr>
              <a:t>0</a:t>
            </a:r>
            <a:r>
              <a:rPr lang="en-US" b="0" dirty="0">
                <a:solidFill>
                  <a:srgbClr val="000000"/>
                </a:solidFill>
                <a:effectLst/>
                <a:latin typeface="Courier New" panose="02070309020205020404" pitchFamily="49" charset="0"/>
              </a:rPr>
              <a:t>,</a:t>
            </a:r>
            <a:r>
              <a:rPr lang="en-US" b="0" dirty="0">
                <a:solidFill>
                  <a:srgbClr val="098156"/>
                </a:solidFill>
                <a:effectLst/>
                <a:latin typeface="Courier New" panose="02070309020205020404" pitchFamily="49" charset="0"/>
              </a:rPr>
              <a:t>0</a:t>
            </a:r>
            <a:r>
              <a:rPr lang="en-US" b="0" dirty="0">
                <a:solidFill>
                  <a:srgbClr val="000000"/>
                </a:solidFill>
                <a:effectLst/>
                <a:latin typeface="Courier New" panose="02070309020205020404" pitchFamily="49" charset="0"/>
              </a:rPr>
              <a:t>,</a:t>
            </a:r>
            <a:r>
              <a:rPr lang="en-US" b="0" dirty="0">
                <a:solidFill>
                  <a:srgbClr val="098156"/>
                </a:solidFill>
                <a:effectLst/>
                <a:latin typeface="Courier New" panose="02070309020205020404" pitchFamily="49" charset="0"/>
              </a:rPr>
              <a:t>0</a:t>
            </a:r>
            <a:r>
              <a:rPr lang="en-US" b="0" dirty="0">
                <a:solidFill>
                  <a:srgbClr val="000000"/>
                </a:solidFill>
                <a:effectLst/>
                <a:latin typeface="Courier New" panose="02070309020205020404" pitchFamily="49" charset="0"/>
              </a:rPr>
              <a:t>],</a:t>
            </a:r>
          </a:p>
          <a:p>
            <a:r>
              <a:rPr lang="en-US" b="0" dirty="0">
                <a:solidFill>
                  <a:srgbClr val="000000"/>
                </a:solidFill>
                <a:effectLst/>
                <a:latin typeface="Courier New" panose="02070309020205020404" pitchFamily="49" charset="0"/>
              </a:rPr>
              <a:t>         [</a:t>
            </a:r>
            <a:r>
              <a:rPr lang="en-US" b="0" dirty="0">
                <a:solidFill>
                  <a:srgbClr val="098156"/>
                </a:solidFill>
                <a:effectLst/>
                <a:latin typeface="Courier New" panose="02070309020205020404" pitchFamily="49" charset="0"/>
              </a:rPr>
              <a:t>0</a:t>
            </a:r>
            <a:r>
              <a:rPr lang="en-US" b="0" dirty="0">
                <a:solidFill>
                  <a:srgbClr val="000000"/>
                </a:solidFill>
                <a:effectLst/>
                <a:latin typeface="Courier New" panose="02070309020205020404" pitchFamily="49" charset="0"/>
              </a:rPr>
              <a:t>,</a:t>
            </a:r>
            <a:r>
              <a:rPr lang="en-US" b="0" dirty="0">
                <a:solidFill>
                  <a:srgbClr val="098156"/>
                </a:solidFill>
                <a:effectLst/>
                <a:latin typeface="Courier New" panose="02070309020205020404" pitchFamily="49" charset="0"/>
              </a:rPr>
              <a:t>0</a:t>
            </a:r>
            <a:r>
              <a:rPr lang="en-US" b="0" dirty="0">
                <a:solidFill>
                  <a:srgbClr val="000000"/>
                </a:solidFill>
                <a:effectLst/>
                <a:latin typeface="Courier New" panose="02070309020205020404" pitchFamily="49" charset="0"/>
              </a:rPr>
              <a:t>,</a:t>
            </a:r>
            <a:r>
              <a:rPr lang="en-US" b="0" dirty="0">
                <a:solidFill>
                  <a:srgbClr val="098156"/>
                </a:solidFill>
                <a:effectLst/>
                <a:latin typeface="Courier New" panose="02070309020205020404" pitchFamily="49" charset="0"/>
              </a:rPr>
              <a:t>0</a:t>
            </a:r>
            <a:r>
              <a:rPr lang="en-US" b="0" dirty="0">
                <a:solidFill>
                  <a:srgbClr val="000000"/>
                </a:solidFill>
                <a:effectLst/>
                <a:latin typeface="Courier New" panose="02070309020205020404" pitchFamily="49" charset="0"/>
              </a:rPr>
              <a:t>,</a:t>
            </a:r>
            <a:r>
              <a:rPr lang="en-US" b="0" dirty="0">
                <a:solidFill>
                  <a:srgbClr val="098156"/>
                </a:solidFill>
                <a:effectLst/>
                <a:latin typeface="Courier New" panose="02070309020205020404" pitchFamily="49" charset="0"/>
              </a:rPr>
              <a:t>0</a:t>
            </a:r>
            <a:r>
              <a:rPr lang="en-US" b="0" dirty="0">
                <a:solidFill>
                  <a:srgbClr val="000000"/>
                </a:solidFill>
                <a:effectLst/>
                <a:latin typeface="Courier New" panose="02070309020205020404" pitchFamily="49" charset="0"/>
              </a:rPr>
              <a:t>]]</a:t>
            </a:r>
          </a:p>
        </p:txBody>
      </p:sp>
      <p:sp>
        <p:nvSpPr>
          <p:cNvPr id="14" name="TextBox 13">
            <a:extLst>
              <a:ext uri="{FF2B5EF4-FFF2-40B4-BE49-F238E27FC236}">
                <a16:creationId xmlns:a16="http://schemas.microsoft.com/office/drawing/2014/main" id="{0E6D9BAE-F0C3-814C-36AA-A26659B5A066}"/>
              </a:ext>
            </a:extLst>
          </p:cNvPr>
          <p:cNvSpPr txBox="1"/>
          <p:nvPr/>
        </p:nvSpPr>
        <p:spPr>
          <a:xfrm>
            <a:off x="5692878" y="3100889"/>
            <a:ext cx="6135328" cy="3139321"/>
          </a:xfrm>
          <a:prstGeom prst="rect">
            <a:avLst/>
          </a:prstGeom>
          <a:solidFill>
            <a:schemeClr val="accent3">
              <a:lumMod val="20000"/>
              <a:lumOff val="80000"/>
            </a:schemeClr>
          </a:solidFill>
        </p:spPr>
        <p:txBody>
          <a:bodyPr wrap="square">
            <a:spAutoFit/>
          </a:bodyPr>
          <a:lstStyle/>
          <a:p>
            <a:r>
              <a:rPr lang="en-US" b="0" dirty="0">
                <a:solidFill>
                  <a:srgbClr val="008000"/>
                </a:solidFill>
                <a:effectLst/>
                <a:latin typeface="Courier New" panose="02070309020205020404" pitchFamily="49" charset="0"/>
              </a:rPr>
              <a:t># iterate through rows of X</a:t>
            </a:r>
            <a:endParaRPr lang="en-US" b="0" dirty="0">
              <a:solidFill>
                <a:srgbClr val="000000"/>
              </a:solidFill>
              <a:effectLst/>
              <a:latin typeface="Courier New" panose="02070309020205020404" pitchFamily="49" charset="0"/>
            </a:endParaRPr>
          </a:p>
          <a:p>
            <a:r>
              <a:rPr lang="en-US" b="0" dirty="0">
                <a:solidFill>
                  <a:srgbClr val="AF00DB"/>
                </a:solidFill>
                <a:effectLst/>
                <a:latin typeface="Courier New" panose="02070309020205020404" pitchFamily="49" charset="0"/>
              </a:rPr>
              <a:t>for</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i</a:t>
            </a:r>
            <a:r>
              <a:rPr lang="en-US" b="0" dirty="0">
                <a:solidFill>
                  <a:srgbClr val="000000"/>
                </a:solidFill>
                <a:effectLst/>
                <a:latin typeface="Courier New" panose="02070309020205020404" pitchFamily="49" charset="0"/>
              </a:rPr>
              <a:t> </a:t>
            </a:r>
            <a:r>
              <a:rPr lang="en-US" b="0" dirty="0">
                <a:solidFill>
                  <a:srgbClr val="0000FF"/>
                </a:solidFill>
                <a:effectLst/>
                <a:latin typeface="Courier New" panose="02070309020205020404" pitchFamily="49" charset="0"/>
              </a:rPr>
              <a:t>in</a:t>
            </a:r>
            <a:r>
              <a:rPr lang="en-US" b="0" dirty="0">
                <a:solidFill>
                  <a:srgbClr val="000000"/>
                </a:solidFill>
                <a:effectLst/>
                <a:latin typeface="Courier New" panose="02070309020205020404" pitchFamily="49" charset="0"/>
              </a:rPr>
              <a:t> </a:t>
            </a:r>
            <a:r>
              <a:rPr lang="en-US" b="0" dirty="0">
                <a:solidFill>
                  <a:srgbClr val="795E26"/>
                </a:solidFill>
                <a:effectLst/>
                <a:latin typeface="Courier New" panose="02070309020205020404" pitchFamily="49" charset="0"/>
              </a:rPr>
              <a:t>range</a:t>
            </a:r>
            <a:r>
              <a:rPr lang="en-US" b="0" dirty="0">
                <a:solidFill>
                  <a:srgbClr val="000000"/>
                </a:solidFill>
                <a:effectLst/>
                <a:latin typeface="Courier New" panose="02070309020205020404" pitchFamily="49" charset="0"/>
              </a:rPr>
              <a:t>(</a:t>
            </a:r>
            <a:r>
              <a:rPr lang="en-US" b="0" dirty="0" err="1">
                <a:solidFill>
                  <a:srgbClr val="795E26"/>
                </a:solidFill>
                <a:effectLst/>
                <a:latin typeface="Courier New" panose="02070309020205020404" pitchFamily="49" charset="0"/>
              </a:rPr>
              <a:t>len</a:t>
            </a:r>
            <a:r>
              <a:rPr lang="en-US" b="0" dirty="0">
                <a:solidFill>
                  <a:srgbClr val="000000"/>
                </a:solidFill>
                <a:effectLst/>
                <a:latin typeface="Courier New" panose="02070309020205020404" pitchFamily="49" charset="0"/>
              </a:rPr>
              <a:t>(X)):</a:t>
            </a:r>
          </a:p>
          <a:p>
            <a:r>
              <a:rPr lang="en-US" b="0" dirty="0">
                <a:solidFill>
                  <a:srgbClr val="000000"/>
                </a:solidFill>
                <a:effectLst/>
                <a:latin typeface="Courier New" panose="02070309020205020404" pitchFamily="49" charset="0"/>
              </a:rPr>
              <a:t>   </a:t>
            </a:r>
            <a:r>
              <a:rPr lang="en-US" b="0" dirty="0">
                <a:solidFill>
                  <a:srgbClr val="008000"/>
                </a:solidFill>
                <a:effectLst/>
                <a:latin typeface="Courier New" panose="02070309020205020404" pitchFamily="49" charset="0"/>
              </a:rPr>
              <a:t># iterate through columns of Y</a:t>
            </a:r>
            <a:endParaRPr lang="en-US" b="0" dirty="0">
              <a:solidFill>
                <a:srgbClr val="000000"/>
              </a:solidFill>
              <a:effectLst/>
              <a:latin typeface="Courier New" panose="02070309020205020404" pitchFamily="49" charset="0"/>
            </a:endParaRPr>
          </a:p>
          <a:p>
            <a:r>
              <a:rPr lang="en-US" b="0" dirty="0">
                <a:solidFill>
                  <a:srgbClr val="000000"/>
                </a:solidFill>
                <a:effectLst/>
                <a:latin typeface="Courier New" panose="02070309020205020404" pitchFamily="49" charset="0"/>
              </a:rPr>
              <a:t>   </a:t>
            </a:r>
            <a:r>
              <a:rPr lang="en-US" b="0" dirty="0">
                <a:solidFill>
                  <a:srgbClr val="AF00DB"/>
                </a:solidFill>
                <a:effectLst/>
                <a:latin typeface="Courier New" panose="02070309020205020404" pitchFamily="49" charset="0"/>
              </a:rPr>
              <a:t>for</a:t>
            </a:r>
            <a:r>
              <a:rPr lang="en-US" b="0" dirty="0">
                <a:solidFill>
                  <a:srgbClr val="000000"/>
                </a:solidFill>
                <a:effectLst/>
                <a:latin typeface="Courier New" panose="02070309020205020404" pitchFamily="49" charset="0"/>
              </a:rPr>
              <a:t> j </a:t>
            </a:r>
            <a:r>
              <a:rPr lang="en-US" b="0" dirty="0">
                <a:solidFill>
                  <a:srgbClr val="0000FF"/>
                </a:solidFill>
                <a:effectLst/>
                <a:latin typeface="Courier New" panose="02070309020205020404" pitchFamily="49" charset="0"/>
              </a:rPr>
              <a:t>in</a:t>
            </a:r>
            <a:r>
              <a:rPr lang="en-US" b="0" dirty="0">
                <a:solidFill>
                  <a:srgbClr val="000000"/>
                </a:solidFill>
                <a:effectLst/>
                <a:latin typeface="Courier New" panose="02070309020205020404" pitchFamily="49" charset="0"/>
              </a:rPr>
              <a:t> </a:t>
            </a:r>
            <a:r>
              <a:rPr lang="en-US" b="0" dirty="0">
                <a:solidFill>
                  <a:srgbClr val="795E26"/>
                </a:solidFill>
                <a:effectLst/>
                <a:latin typeface="Courier New" panose="02070309020205020404" pitchFamily="49" charset="0"/>
              </a:rPr>
              <a:t>range</a:t>
            </a:r>
            <a:r>
              <a:rPr lang="en-US" b="0" dirty="0">
                <a:solidFill>
                  <a:srgbClr val="000000"/>
                </a:solidFill>
                <a:effectLst/>
                <a:latin typeface="Courier New" panose="02070309020205020404" pitchFamily="49" charset="0"/>
              </a:rPr>
              <a:t>(</a:t>
            </a:r>
            <a:r>
              <a:rPr lang="en-US" b="0" dirty="0" err="1">
                <a:solidFill>
                  <a:srgbClr val="795E26"/>
                </a:solidFill>
                <a:effectLst/>
                <a:latin typeface="Courier New" panose="02070309020205020404" pitchFamily="49" charset="0"/>
              </a:rPr>
              <a:t>len</a:t>
            </a:r>
            <a:r>
              <a:rPr lang="en-US" b="0" dirty="0">
                <a:solidFill>
                  <a:srgbClr val="000000"/>
                </a:solidFill>
                <a:effectLst/>
                <a:latin typeface="Courier New" panose="02070309020205020404" pitchFamily="49" charset="0"/>
              </a:rPr>
              <a:t>(Y[</a:t>
            </a:r>
            <a:r>
              <a:rPr lang="en-US" b="0" dirty="0">
                <a:solidFill>
                  <a:srgbClr val="098156"/>
                </a:solidFill>
                <a:effectLst/>
                <a:latin typeface="Courier New" panose="02070309020205020404" pitchFamily="49" charset="0"/>
              </a:rPr>
              <a:t>0</a:t>
            </a:r>
            <a:r>
              <a:rPr lang="en-US" b="0" dirty="0">
                <a:solidFill>
                  <a:srgbClr val="000000"/>
                </a:solidFill>
                <a:effectLst/>
                <a:latin typeface="Courier New" panose="02070309020205020404" pitchFamily="49" charset="0"/>
              </a:rPr>
              <a:t>])):</a:t>
            </a:r>
          </a:p>
          <a:p>
            <a:r>
              <a:rPr lang="en-US" b="0" dirty="0">
                <a:solidFill>
                  <a:srgbClr val="000000"/>
                </a:solidFill>
                <a:effectLst/>
                <a:latin typeface="Courier New" panose="02070309020205020404" pitchFamily="49" charset="0"/>
              </a:rPr>
              <a:t>       </a:t>
            </a:r>
            <a:r>
              <a:rPr lang="en-US" b="0" dirty="0">
                <a:solidFill>
                  <a:srgbClr val="008000"/>
                </a:solidFill>
                <a:effectLst/>
                <a:latin typeface="Courier New" panose="02070309020205020404" pitchFamily="49" charset="0"/>
              </a:rPr>
              <a:t># iterate through rows of Y</a:t>
            </a:r>
            <a:endParaRPr lang="en-US" b="0" dirty="0">
              <a:solidFill>
                <a:srgbClr val="000000"/>
              </a:solidFill>
              <a:effectLst/>
              <a:latin typeface="Courier New" panose="02070309020205020404" pitchFamily="49" charset="0"/>
            </a:endParaRPr>
          </a:p>
          <a:p>
            <a:r>
              <a:rPr lang="en-US" b="0" dirty="0">
                <a:solidFill>
                  <a:srgbClr val="000000"/>
                </a:solidFill>
                <a:effectLst/>
                <a:latin typeface="Courier New" panose="02070309020205020404" pitchFamily="49" charset="0"/>
              </a:rPr>
              <a:t>       </a:t>
            </a:r>
            <a:r>
              <a:rPr lang="en-US" b="0" dirty="0">
                <a:solidFill>
                  <a:srgbClr val="AF00DB"/>
                </a:solidFill>
                <a:effectLst/>
                <a:latin typeface="Courier New" panose="02070309020205020404" pitchFamily="49" charset="0"/>
              </a:rPr>
              <a:t>for</a:t>
            </a:r>
            <a:r>
              <a:rPr lang="en-US" b="0" dirty="0">
                <a:solidFill>
                  <a:srgbClr val="000000"/>
                </a:solidFill>
                <a:effectLst/>
                <a:latin typeface="Courier New" panose="02070309020205020404" pitchFamily="49" charset="0"/>
              </a:rPr>
              <a:t> k </a:t>
            </a:r>
            <a:r>
              <a:rPr lang="en-US" b="0" dirty="0">
                <a:solidFill>
                  <a:srgbClr val="0000FF"/>
                </a:solidFill>
                <a:effectLst/>
                <a:latin typeface="Courier New" panose="02070309020205020404" pitchFamily="49" charset="0"/>
              </a:rPr>
              <a:t>in</a:t>
            </a:r>
            <a:r>
              <a:rPr lang="en-US" b="0" dirty="0">
                <a:solidFill>
                  <a:srgbClr val="000000"/>
                </a:solidFill>
                <a:effectLst/>
                <a:latin typeface="Courier New" panose="02070309020205020404" pitchFamily="49" charset="0"/>
              </a:rPr>
              <a:t> </a:t>
            </a:r>
            <a:r>
              <a:rPr lang="en-US" b="0" dirty="0">
                <a:solidFill>
                  <a:srgbClr val="795E26"/>
                </a:solidFill>
                <a:effectLst/>
                <a:latin typeface="Courier New" panose="02070309020205020404" pitchFamily="49" charset="0"/>
              </a:rPr>
              <a:t>range</a:t>
            </a:r>
            <a:r>
              <a:rPr lang="en-US" b="0" dirty="0">
                <a:solidFill>
                  <a:srgbClr val="000000"/>
                </a:solidFill>
                <a:effectLst/>
                <a:latin typeface="Courier New" panose="02070309020205020404" pitchFamily="49" charset="0"/>
              </a:rPr>
              <a:t>(</a:t>
            </a:r>
            <a:r>
              <a:rPr lang="en-US" b="0" dirty="0" err="1">
                <a:solidFill>
                  <a:srgbClr val="795E26"/>
                </a:solidFill>
                <a:effectLst/>
                <a:latin typeface="Courier New" panose="02070309020205020404" pitchFamily="49" charset="0"/>
              </a:rPr>
              <a:t>len</a:t>
            </a:r>
            <a:r>
              <a:rPr lang="en-US" b="0" dirty="0">
                <a:solidFill>
                  <a:srgbClr val="000000"/>
                </a:solidFill>
                <a:effectLst/>
                <a:latin typeface="Courier New" panose="02070309020205020404" pitchFamily="49" charset="0"/>
              </a:rPr>
              <a:t>(Y)):</a:t>
            </a:r>
          </a:p>
          <a:p>
            <a:r>
              <a:rPr lang="en-US" b="0" dirty="0">
                <a:solidFill>
                  <a:srgbClr val="000000"/>
                </a:solidFill>
                <a:effectLst/>
                <a:latin typeface="Courier New" panose="02070309020205020404" pitchFamily="49" charset="0"/>
              </a:rPr>
              <a:t>           result[</a:t>
            </a:r>
            <a:r>
              <a:rPr lang="en-US" b="0" dirty="0" err="1">
                <a:solidFill>
                  <a:srgbClr val="000000"/>
                </a:solidFill>
                <a:effectLst/>
                <a:latin typeface="Courier New" panose="02070309020205020404" pitchFamily="49" charset="0"/>
              </a:rPr>
              <a:t>i</a:t>
            </a:r>
            <a:r>
              <a:rPr lang="en-US" b="0" dirty="0">
                <a:solidFill>
                  <a:srgbClr val="000000"/>
                </a:solidFill>
                <a:effectLst/>
                <a:latin typeface="Courier New" panose="02070309020205020404" pitchFamily="49" charset="0"/>
              </a:rPr>
              <a:t>][j] += X[</a:t>
            </a:r>
            <a:r>
              <a:rPr lang="en-US" b="0" dirty="0" err="1">
                <a:solidFill>
                  <a:srgbClr val="000000"/>
                </a:solidFill>
                <a:effectLst/>
                <a:latin typeface="Courier New" panose="02070309020205020404" pitchFamily="49" charset="0"/>
              </a:rPr>
              <a:t>i</a:t>
            </a:r>
            <a:r>
              <a:rPr lang="en-US" b="0" dirty="0">
                <a:solidFill>
                  <a:srgbClr val="000000"/>
                </a:solidFill>
                <a:effectLst/>
                <a:latin typeface="Courier New" panose="02070309020205020404" pitchFamily="49" charset="0"/>
              </a:rPr>
              <a:t>][k] * Y[k][j]</a:t>
            </a:r>
          </a:p>
          <a:p>
            <a:br>
              <a:rPr lang="en-US" b="0" dirty="0">
                <a:solidFill>
                  <a:srgbClr val="000000"/>
                </a:solidFill>
                <a:effectLst/>
                <a:latin typeface="Courier New" panose="02070309020205020404" pitchFamily="49" charset="0"/>
              </a:rPr>
            </a:br>
            <a:r>
              <a:rPr lang="en-US" b="0" dirty="0">
                <a:solidFill>
                  <a:srgbClr val="AF00DB"/>
                </a:solidFill>
                <a:effectLst/>
                <a:latin typeface="Courier New" panose="02070309020205020404" pitchFamily="49" charset="0"/>
              </a:rPr>
              <a:t>for</a:t>
            </a:r>
            <a:r>
              <a:rPr lang="en-US" b="0" dirty="0">
                <a:solidFill>
                  <a:srgbClr val="000000"/>
                </a:solidFill>
                <a:effectLst/>
                <a:latin typeface="Courier New" panose="02070309020205020404" pitchFamily="49" charset="0"/>
              </a:rPr>
              <a:t> r </a:t>
            </a:r>
            <a:r>
              <a:rPr lang="en-US" b="0" dirty="0">
                <a:solidFill>
                  <a:srgbClr val="0000FF"/>
                </a:solidFill>
                <a:effectLst/>
                <a:latin typeface="Courier New" panose="02070309020205020404" pitchFamily="49" charset="0"/>
              </a:rPr>
              <a:t>in</a:t>
            </a:r>
            <a:r>
              <a:rPr lang="en-US" b="0" dirty="0">
                <a:solidFill>
                  <a:srgbClr val="000000"/>
                </a:solidFill>
                <a:effectLst/>
                <a:latin typeface="Courier New" panose="02070309020205020404" pitchFamily="49" charset="0"/>
              </a:rPr>
              <a:t> result:</a:t>
            </a:r>
          </a:p>
          <a:p>
            <a:r>
              <a:rPr lang="en-US" b="0" dirty="0">
                <a:solidFill>
                  <a:srgbClr val="000000"/>
                </a:solidFill>
                <a:effectLst/>
                <a:latin typeface="Courier New" panose="02070309020205020404" pitchFamily="49" charset="0"/>
              </a:rPr>
              <a:t>   </a:t>
            </a:r>
            <a:r>
              <a:rPr lang="en-US" b="0" dirty="0">
                <a:solidFill>
                  <a:srgbClr val="795E26"/>
                </a:solidFill>
                <a:effectLst/>
                <a:latin typeface="Courier New" panose="02070309020205020404" pitchFamily="49" charset="0"/>
              </a:rPr>
              <a:t>print</a:t>
            </a:r>
            <a:r>
              <a:rPr lang="en-US" b="0" dirty="0">
                <a:solidFill>
                  <a:srgbClr val="000000"/>
                </a:solidFill>
                <a:effectLst/>
                <a:latin typeface="Courier New" panose="02070309020205020404" pitchFamily="49" charset="0"/>
              </a:rPr>
              <a:t>(r)</a:t>
            </a:r>
          </a:p>
        </p:txBody>
      </p:sp>
    </p:spTree>
    <p:extLst>
      <p:ext uri="{BB962C8B-B14F-4D97-AF65-F5344CB8AC3E}">
        <p14:creationId xmlns:p14="http://schemas.microsoft.com/office/powerpoint/2010/main" val="17308079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3152494" y="795864"/>
            <a:ext cx="4892172" cy="960203"/>
          </a:xfrm>
        </p:spPr>
        <p:txBody>
          <a:bodyPr/>
          <a:lstStyle/>
          <a:p>
            <a:r>
              <a:rPr lang="en-US" b="1" dirty="0">
                <a:solidFill>
                  <a:srgbClr val="FF0000"/>
                </a:solidFill>
              </a:rPr>
              <a:t>Unit 1: Introduction</a:t>
            </a:r>
          </a:p>
        </p:txBody>
      </p:sp>
      <p:graphicFrame>
        <p:nvGraphicFramePr>
          <p:cNvPr id="8" name="Content Placeholder 7">
            <a:extLst>
              <a:ext uri="{FF2B5EF4-FFF2-40B4-BE49-F238E27FC236}">
                <a16:creationId xmlns:a16="http://schemas.microsoft.com/office/drawing/2014/main" id="{5A2040CD-8CDD-19E9-C296-DACDFB09EFA6}"/>
              </a:ext>
            </a:extLst>
          </p:cNvPr>
          <p:cNvGraphicFramePr>
            <a:graphicFrameLocks noGrp="1"/>
          </p:cNvGraphicFramePr>
          <p:nvPr>
            <p:ph idx="1"/>
            <p:extLst>
              <p:ext uri="{D42A27DB-BD31-4B8C-83A1-F6EECF244321}">
                <p14:modId xmlns:p14="http://schemas.microsoft.com/office/powerpoint/2010/main" val="1807302275"/>
              </p:ext>
            </p:extLst>
          </p:nvPr>
        </p:nvGraphicFramePr>
        <p:xfrm>
          <a:off x="1164420" y="2344420"/>
          <a:ext cx="10429260" cy="2169160"/>
        </p:xfrm>
        <a:graphic>
          <a:graphicData uri="http://schemas.openxmlformats.org/drawingml/2006/table">
            <a:tbl>
              <a:tblPr firstRow="1" bandRow="1">
                <a:tableStyleId>{5940675A-B579-460E-94D1-54222C63F5DA}</a:tableStyleId>
              </a:tblPr>
              <a:tblGrid>
                <a:gridCol w="8780206">
                  <a:extLst>
                    <a:ext uri="{9D8B030D-6E8A-4147-A177-3AD203B41FA5}">
                      <a16:colId xmlns:a16="http://schemas.microsoft.com/office/drawing/2014/main" val="3207784939"/>
                    </a:ext>
                  </a:extLst>
                </a:gridCol>
                <a:gridCol w="1649054">
                  <a:extLst>
                    <a:ext uri="{9D8B030D-6E8A-4147-A177-3AD203B41FA5}">
                      <a16:colId xmlns:a16="http://schemas.microsoft.com/office/drawing/2014/main" val="4263419739"/>
                    </a:ext>
                  </a:extLst>
                </a:gridCol>
              </a:tblGrid>
              <a:tr h="370840">
                <a:tc>
                  <a:txBody>
                    <a:bodyPr/>
                    <a:lstStyle/>
                    <a:p>
                      <a:pPr algn="just"/>
                      <a:r>
                        <a:rPr lang="en-US" sz="1600" b="1" dirty="0">
                          <a:solidFill>
                            <a:schemeClr val="tx1"/>
                          </a:solidFill>
                          <a:latin typeface="Bookman Old Style" panose="02050604050505020204" pitchFamily="18" charset="0"/>
                        </a:rPr>
                        <a:t>Unit-1 : </a:t>
                      </a:r>
                      <a:r>
                        <a:rPr lang="en-US" sz="1600" b="1" kern="1200" dirty="0">
                          <a:solidFill>
                            <a:schemeClr val="tx1"/>
                          </a:solidFill>
                          <a:latin typeface="Bookman Old Style" panose="02050604050505020204" pitchFamily="18" charset="0"/>
                          <a:ea typeface="+mn-ea"/>
                          <a:cs typeface="+mn-cs"/>
                        </a:rPr>
                        <a:t>Introduction</a:t>
                      </a:r>
                      <a:endParaRPr lang="en-IN" sz="1600" b="1" kern="1200" dirty="0">
                        <a:solidFill>
                          <a:schemeClr val="tx1"/>
                        </a:solidFill>
                        <a:latin typeface="Bookman Old Style" panose="02050604050505020204" pitchFamily="18" charset="0"/>
                        <a:ea typeface="+mn-ea"/>
                        <a:cs typeface="+mn-cs"/>
                      </a:endParaRPr>
                    </a:p>
                  </a:txBody>
                  <a:tcPr/>
                </a:tc>
                <a:tc>
                  <a:txBody>
                    <a:bodyPr/>
                    <a:lstStyle/>
                    <a:p>
                      <a:pPr algn="just"/>
                      <a:r>
                        <a:rPr lang="en-US" sz="1600" dirty="0">
                          <a:solidFill>
                            <a:schemeClr val="tx1"/>
                          </a:solidFill>
                          <a:latin typeface="Bookman Old Style" panose="02050604050505020204" pitchFamily="18" charset="0"/>
                        </a:rPr>
                        <a:t>Contact Hours</a:t>
                      </a:r>
                      <a:endParaRPr lang="en-IN" sz="1600" dirty="0">
                        <a:solidFill>
                          <a:schemeClr val="tx1"/>
                        </a:solidFill>
                        <a:latin typeface="Bookman Old Style" panose="02050604050505020204" pitchFamily="18" charset="0"/>
                      </a:endParaRPr>
                    </a:p>
                  </a:txBody>
                  <a:tcPr/>
                </a:tc>
                <a:extLst>
                  <a:ext uri="{0D108BD9-81ED-4DB2-BD59-A6C34878D82A}">
                    <a16:rowId xmlns:a16="http://schemas.microsoft.com/office/drawing/2014/main" val="4026588745"/>
                  </a:ext>
                </a:extLst>
              </a:tr>
              <a:tr h="370840">
                <a:tc>
                  <a:txBody>
                    <a:bodyPr/>
                    <a:lstStyle/>
                    <a:p>
                      <a:pPr algn="just"/>
                      <a:r>
                        <a:rPr lang="en-US" sz="1600" b="0" dirty="0">
                          <a:solidFill>
                            <a:schemeClr val="tx1"/>
                          </a:solidFill>
                          <a:latin typeface="Bookman Old Style" panose="02050604050505020204" pitchFamily="18" charset="0"/>
                        </a:rPr>
                        <a:t>Introduction: Artificial Intelligence, AI Problems, AI Techniques: supervised learning, unsupervised learning, and reinforcement learning, Different Types of Agents: Simple reflex agents, Model‐based reflex agents, Goal‐based agents and Utility‐based agents; Environment, Problem Space and Search, Defining the Problem as a State Space Search, Problem Characteristics.</a:t>
                      </a:r>
                    </a:p>
                    <a:p>
                      <a:pPr algn="just"/>
                      <a:endParaRPr lang="en-US" sz="1600" b="0" dirty="0">
                        <a:solidFill>
                          <a:schemeClr val="tx1"/>
                        </a:solidFill>
                        <a:latin typeface="Bookman Old Style" panose="02050604050505020204" pitchFamily="18" charset="0"/>
                      </a:endParaRPr>
                    </a:p>
                    <a:p>
                      <a:pPr algn="just"/>
                      <a:r>
                        <a:rPr lang="en-US" sz="1600" b="0" dirty="0">
                          <a:solidFill>
                            <a:schemeClr val="tx1"/>
                          </a:solidFill>
                          <a:latin typeface="Bookman Old Style" panose="02050604050505020204" pitchFamily="18" charset="0"/>
                        </a:rPr>
                        <a:t>Textbook 2: Chapter 1,2 </a:t>
                      </a:r>
                    </a:p>
                  </a:txBody>
                  <a:tcPr/>
                </a:tc>
                <a:tc>
                  <a:txBody>
                    <a:bodyPr/>
                    <a:lstStyle/>
                    <a:p>
                      <a:pPr algn="ctr"/>
                      <a:r>
                        <a:rPr lang="en-IN" sz="1600" dirty="0">
                          <a:solidFill>
                            <a:schemeClr val="tx1"/>
                          </a:solidFill>
                          <a:latin typeface="Bookman Old Style" panose="02050604050505020204" pitchFamily="18" charset="0"/>
                        </a:rPr>
                        <a:t>08 </a:t>
                      </a:r>
                    </a:p>
                  </a:txBody>
                  <a:tcPr/>
                </a:tc>
                <a:extLst>
                  <a:ext uri="{0D108BD9-81ED-4DB2-BD59-A6C34878D82A}">
                    <a16:rowId xmlns:a16="http://schemas.microsoft.com/office/drawing/2014/main" val="25561586"/>
                  </a:ext>
                </a:extLst>
              </a:tr>
            </a:tbl>
          </a:graphicData>
        </a:graphic>
      </p:graphicFrame>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20558188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sz="3600" b="0" dirty="0">
                <a:solidFill>
                  <a:schemeClr val="tx1"/>
                </a:solidFill>
                <a:latin typeface="Bookman Old Style" panose="02050604050505020204" pitchFamily="18" charset="0"/>
              </a:rPr>
              <a:t>Artificial Intelligence</a:t>
            </a: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normAutofit/>
          </a:bodyPr>
          <a:lstStyle/>
          <a:p>
            <a:r>
              <a:rPr lang="en-US" sz="2400" dirty="0">
                <a:solidFill>
                  <a:srgbClr val="0070C0"/>
                </a:solidFill>
              </a:rPr>
              <a:t>Intelligence: </a:t>
            </a:r>
            <a:r>
              <a:rPr lang="en-US" sz="2400" dirty="0"/>
              <a:t>“ability to learn, understand and think” (Oxford dictionary)</a:t>
            </a:r>
          </a:p>
          <a:p>
            <a:r>
              <a:rPr lang="en-US" sz="2400" dirty="0"/>
              <a:t>AI is the study of how to make computers make things which at the moment people do better.</a:t>
            </a:r>
          </a:p>
          <a:p>
            <a:r>
              <a:rPr lang="en-US" sz="2400" dirty="0"/>
              <a:t>Examples: Speech recognition, Smell, Face, Object, Intuition, Inference, Learning new skills, Decision making, Abstract thinking.</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1869975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What AI Can DO</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graphicFrame>
        <p:nvGraphicFramePr>
          <p:cNvPr id="8" name="Group 45">
            <a:extLst>
              <a:ext uri="{FF2B5EF4-FFF2-40B4-BE49-F238E27FC236}">
                <a16:creationId xmlns:a16="http://schemas.microsoft.com/office/drawing/2014/main" id="{3BC0A264-1CF3-4598-28FA-578A5D92090B}"/>
              </a:ext>
            </a:extLst>
          </p:cNvPr>
          <p:cNvGraphicFramePr>
            <a:graphicFrameLocks noGrp="1"/>
          </p:cNvGraphicFramePr>
          <p:nvPr>
            <p:extLst>
              <p:ext uri="{D42A27DB-BD31-4B8C-83A1-F6EECF244321}">
                <p14:modId xmlns:p14="http://schemas.microsoft.com/office/powerpoint/2010/main" val="2529010986"/>
              </p:ext>
            </p:extLst>
          </p:nvPr>
        </p:nvGraphicFramePr>
        <p:xfrm>
          <a:off x="2286000" y="1410502"/>
          <a:ext cx="7620000" cy="2413000"/>
        </p:xfrm>
        <a:graphic>
          <a:graphicData uri="http://schemas.openxmlformats.org/drawingml/2006/table">
            <a:tbl>
              <a:tblPr/>
              <a:tblGrid>
                <a:gridCol w="3810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tblGrid>
              <a:tr h="12065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chemeClr val="tx1"/>
                        </a:solidFill>
                        <a:effectLst/>
                        <a:latin typeface="Arial Unicode MS" pitchFamily="34" charset="-128"/>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dirty="0">
                          <a:ln>
                            <a:noFill/>
                          </a:ln>
                          <a:solidFill>
                            <a:schemeClr val="tx1"/>
                          </a:solidFill>
                          <a:effectLst/>
                          <a:latin typeface="Arial Unicode MS" pitchFamily="34" charset="-128"/>
                        </a:rPr>
                        <a:t>Thinking humanly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chemeClr val="tx1"/>
                        </a:solidFill>
                        <a:effectLst/>
                        <a:latin typeface="Arial Unicode MS" pitchFamily="34" charset="-128"/>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Unicode MS" pitchFamily="34" charset="-128"/>
                        </a:rPr>
                        <a:t>Thinking rationally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065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chemeClr val="tx1"/>
                        </a:solidFill>
                        <a:effectLst/>
                        <a:latin typeface="Arial Unicode MS" pitchFamily="34" charset="-128"/>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Unicode MS" pitchFamily="34" charset="-128"/>
                        </a:rPr>
                        <a:t>Acting humanly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chemeClr val="tx1"/>
                        </a:solidFill>
                        <a:effectLst/>
                        <a:latin typeface="Arial Unicode MS" pitchFamily="34" charset="-128"/>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dirty="0">
                          <a:ln>
                            <a:noFill/>
                          </a:ln>
                          <a:solidFill>
                            <a:schemeClr val="tx1"/>
                          </a:solidFill>
                          <a:effectLst/>
                          <a:latin typeface="Arial Unicode MS" pitchFamily="34" charset="-128"/>
                        </a:rPr>
                        <a:t>Acting rationally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465274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Acting humanly</a:t>
            </a:r>
            <a:br>
              <a:rPr lang="en-US" dirty="0"/>
            </a:b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179408"/>
            <a:ext cx="10334573" cy="4908535"/>
          </a:xfrm>
        </p:spPr>
        <p:txBody>
          <a:bodyPr>
            <a:normAutofit lnSpcReduction="10000"/>
          </a:bodyPr>
          <a:lstStyle/>
          <a:p>
            <a:pPr marL="0" indent="0" algn="just">
              <a:buNone/>
            </a:pPr>
            <a:r>
              <a:rPr lang="en-US" dirty="0">
                <a:latin typeface="Bookman Old Style" panose="02050604050505020204" pitchFamily="18" charset="0"/>
              </a:rPr>
              <a:t>The first proposal for success in building a program and acts humanly was the Turing Test. To be considered intelligent a program must be able to act sufficiently like a human to fool an interrogator. A human interrogates the program and another human via a terminal simultaneously. If after a reasonable period, the interrogator cannot tell which is which, the program passes.</a:t>
            </a:r>
          </a:p>
          <a:p>
            <a:pPr algn="just"/>
            <a:r>
              <a:rPr lang="en-US" b="1" dirty="0">
                <a:latin typeface="Bookman Old Style" panose="02050604050505020204" pitchFamily="18" charset="0"/>
              </a:rPr>
              <a:t>To pass this test requires:</a:t>
            </a:r>
          </a:p>
          <a:p>
            <a:pPr marL="806450" algn="just"/>
            <a:r>
              <a:rPr lang="en-US" dirty="0">
                <a:latin typeface="Bookman Old Style" panose="02050604050505020204" pitchFamily="18" charset="0"/>
              </a:rPr>
              <a:t>Natural language processing</a:t>
            </a:r>
          </a:p>
          <a:p>
            <a:pPr marL="806450" algn="just"/>
            <a:r>
              <a:rPr lang="en-US" dirty="0">
                <a:latin typeface="Bookman Old Style" panose="02050604050505020204" pitchFamily="18" charset="0"/>
              </a:rPr>
              <a:t>Knowledge representation</a:t>
            </a:r>
          </a:p>
          <a:p>
            <a:pPr marL="806450" algn="just"/>
            <a:r>
              <a:rPr lang="en-US" dirty="0">
                <a:latin typeface="Bookman Old Style" panose="02050604050505020204" pitchFamily="18" charset="0"/>
              </a:rPr>
              <a:t>Automated reasoning</a:t>
            </a:r>
          </a:p>
          <a:p>
            <a:pPr marL="806450" algn="just"/>
            <a:r>
              <a:rPr lang="en-US" dirty="0">
                <a:latin typeface="Bookman Old Style" panose="02050604050505020204" pitchFamily="18" charset="0"/>
              </a:rPr>
              <a:t>Machine learning</a:t>
            </a:r>
          </a:p>
          <a:p>
            <a:pPr algn="just"/>
            <a:r>
              <a:rPr lang="en-US" b="1" dirty="0">
                <a:latin typeface="Bookman Old Style" panose="02050604050505020204" pitchFamily="18" charset="0"/>
              </a:rPr>
              <a:t>This test avoids physical contact and concentrates on "higher level" mental faculties. A total Turing test would require the program to also do:</a:t>
            </a:r>
          </a:p>
          <a:p>
            <a:pPr marL="806450" algn="just"/>
            <a:r>
              <a:rPr lang="en-US" dirty="0">
                <a:latin typeface="Bookman Old Style" panose="02050604050505020204" pitchFamily="18" charset="0"/>
              </a:rPr>
              <a:t>Computer vision</a:t>
            </a:r>
          </a:p>
          <a:p>
            <a:pPr marL="806450" algn="just"/>
            <a:r>
              <a:rPr lang="en-US" dirty="0">
                <a:latin typeface="Bookman Old Style" panose="02050604050505020204" pitchFamily="18" charset="0"/>
              </a:rPr>
              <a:t>Robotics</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811489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Thinking Humanly</a:t>
            </a:r>
            <a:br>
              <a:rPr lang="en-US" dirty="0"/>
            </a:b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lstStyle/>
          <a:p>
            <a:pPr algn="just"/>
            <a:r>
              <a:rPr lang="en-US" dirty="0">
                <a:latin typeface="Bookman Old Style" panose="02050604050505020204" pitchFamily="18" charset="0"/>
              </a:rPr>
              <a:t>This requires "getting inside" of the human mind to see how it works and then comparing our computer programs to this. This is what cognitive science attempts to do. Another way to do this is to observe a human problem solving and argue that one's programs go about problem solving in a similar way.</a:t>
            </a:r>
          </a:p>
          <a:p>
            <a:pPr algn="just"/>
            <a:r>
              <a:rPr lang="en-US" dirty="0">
                <a:latin typeface="Bookman Old Style" panose="02050604050505020204" pitchFamily="18" charset="0"/>
              </a:rPr>
              <a:t>Example: GPS (General Problem Solver) was an early computer program that attempted to model human thinking. The developers were not so much interested in whether or not GPS solved problems correctly. They were more interested in showing that it solved problems like people, going through the same steps and taking around the same amount of time to perform those steps.</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8396743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b="1" dirty="0">
                <a:solidFill>
                  <a:srgbClr val="000000"/>
                </a:solidFill>
                <a:latin typeface="Bookman Old Style" panose="02050604050505020204" pitchFamily="18" charset="0"/>
              </a:rPr>
              <a:t>Thinking Rationally</a:t>
            </a:r>
            <a:br>
              <a:rPr lang="en-US" b="1" dirty="0">
                <a:solidFill>
                  <a:srgbClr val="000000"/>
                </a:solidFill>
                <a:latin typeface="Bookman Old Style" panose="02050604050505020204" pitchFamily="18" charset="0"/>
              </a:rPr>
            </a:br>
            <a:endParaRPr lang="en-US" dirty="0">
              <a:latin typeface="Bookman Old Style" panose="02050604050505020204" pitchFamily="18" charset="0"/>
            </a:endParaRP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lstStyle/>
          <a:p>
            <a:pPr algn="just"/>
            <a:r>
              <a:rPr lang="en-US" b="0" i="0" dirty="0">
                <a:solidFill>
                  <a:srgbClr val="000000"/>
                </a:solidFill>
                <a:effectLst/>
                <a:latin typeface="Bookman Old Style" panose="02050604050505020204" pitchFamily="18" charset="0"/>
              </a:rPr>
              <a:t>Aristotle was one of the first to attempt to codify "thinking". His </a:t>
            </a:r>
            <a:r>
              <a:rPr lang="en-US" b="1" i="0" dirty="0">
                <a:solidFill>
                  <a:srgbClr val="000000"/>
                </a:solidFill>
                <a:effectLst/>
                <a:latin typeface="Bookman Old Style" panose="02050604050505020204" pitchFamily="18" charset="0"/>
              </a:rPr>
              <a:t>syllogisms</a:t>
            </a:r>
            <a:r>
              <a:rPr lang="en-US" b="0" i="0" dirty="0">
                <a:solidFill>
                  <a:srgbClr val="000000"/>
                </a:solidFill>
                <a:effectLst/>
                <a:latin typeface="Bookman Old Style" panose="02050604050505020204" pitchFamily="18" charset="0"/>
              </a:rPr>
              <a:t> provided patterns of argument structure that always gave correct conclusions, giving correct premises. </a:t>
            </a:r>
            <a:r>
              <a:rPr lang="en-US" b="1" i="0" dirty="0">
                <a:solidFill>
                  <a:srgbClr val="000000"/>
                </a:solidFill>
                <a:effectLst/>
                <a:latin typeface="Bookman Old Style" panose="02050604050505020204" pitchFamily="18" charset="0"/>
              </a:rPr>
              <a:t>Example</a:t>
            </a:r>
            <a:r>
              <a:rPr lang="en-US" b="0" i="0" dirty="0">
                <a:solidFill>
                  <a:srgbClr val="000000"/>
                </a:solidFill>
                <a:effectLst/>
                <a:latin typeface="Bookman Old Style" panose="02050604050505020204" pitchFamily="18" charset="0"/>
              </a:rPr>
              <a:t>: All computers use energy. Using energy always generates heat. Therefore, all computers generate heat.</a:t>
            </a:r>
          </a:p>
          <a:p>
            <a:pPr algn="just"/>
            <a:r>
              <a:rPr lang="en-US" b="0" i="0" dirty="0">
                <a:solidFill>
                  <a:srgbClr val="000000"/>
                </a:solidFill>
                <a:effectLst/>
                <a:latin typeface="Bookman Old Style" panose="02050604050505020204" pitchFamily="18" charset="0"/>
              </a:rPr>
              <a:t>This initiate the field of </a:t>
            </a:r>
            <a:r>
              <a:rPr lang="en-US" b="1" i="0" dirty="0">
                <a:solidFill>
                  <a:srgbClr val="000000"/>
                </a:solidFill>
                <a:effectLst/>
                <a:latin typeface="Bookman Old Style" panose="02050604050505020204" pitchFamily="18" charset="0"/>
              </a:rPr>
              <a:t>logic</a:t>
            </a:r>
            <a:r>
              <a:rPr lang="en-US" b="0" i="0" dirty="0">
                <a:solidFill>
                  <a:srgbClr val="000000"/>
                </a:solidFill>
                <a:effectLst/>
                <a:latin typeface="Bookman Old Style" panose="02050604050505020204" pitchFamily="18" charset="0"/>
              </a:rPr>
              <a:t>. Formal logic was developed in the late nineteenth century. This was the first step toward enabling computer programs to reason logically.</a:t>
            </a:r>
          </a:p>
          <a:p>
            <a:pPr algn="just"/>
            <a:r>
              <a:rPr lang="en-US" b="0" i="0" dirty="0">
                <a:solidFill>
                  <a:srgbClr val="000000"/>
                </a:solidFill>
                <a:effectLst/>
                <a:latin typeface="Bookman Old Style" panose="02050604050505020204" pitchFamily="18" charset="0"/>
              </a:rPr>
              <a:t>By 1965, programs existed that could, given enough time and memory, take a description of the problem in logical notation and find the solution, if one existed. The </a:t>
            </a:r>
            <a:r>
              <a:rPr lang="en-US" b="1" i="0" dirty="0" err="1">
                <a:solidFill>
                  <a:srgbClr val="000000"/>
                </a:solidFill>
                <a:effectLst/>
                <a:latin typeface="Bookman Old Style" panose="02050604050505020204" pitchFamily="18" charset="0"/>
              </a:rPr>
              <a:t>logicist</a:t>
            </a:r>
            <a:r>
              <a:rPr lang="en-US" b="0" i="0" dirty="0">
                <a:solidFill>
                  <a:srgbClr val="000000"/>
                </a:solidFill>
                <a:effectLst/>
                <a:latin typeface="Bookman Old Style" panose="02050604050505020204" pitchFamily="18" charset="0"/>
              </a:rPr>
              <a:t> tradition in AI hopes to build on such programs to create intelligence.</a:t>
            </a:r>
          </a:p>
          <a:p>
            <a:pPr algn="just"/>
            <a:r>
              <a:rPr lang="en-US" b="0" i="0" dirty="0">
                <a:solidFill>
                  <a:srgbClr val="000000"/>
                </a:solidFill>
                <a:effectLst/>
                <a:latin typeface="Bookman Old Style" panose="02050604050505020204" pitchFamily="18" charset="0"/>
              </a:rPr>
              <a:t>There are two main obstacles to this approach: First, it is difficult to make informal knowledge precise enough to use the </a:t>
            </a:r>
            <a:r>
              <a:rPr lang="en-US" b="0" i="0" dirty="0" err="1">
                <a:solidFill>
                  <a:srgbClr val="000000"/>
                </a:solidFill>
                <a:effectLst/>
                <a:latin typeface="Bookman Old Style" panose="02050604050505020204" pitchFamily="18" charset="0"/>
              </a:rPr>
              <a:t>logicist</a:t>
            </a:r>
            <a:r>
              <a:rPr lang="en-US" b="0" i="0" dirty="0">
                <a:solidFill>
                  <a:srgbClr val="000000"/>
                </a:solidFill>
                <a:effectLst/>
                <a:latin typeface="Bookman Old Style" panose="02050604050505020204" pitchFamily="18" charset="0"/>
              </a:rPr>
              <a:t> approach particularly when there is uncertainty in the knowledge. Second, there is a big difference between being able to solve a problem in principle and doing so in practice.</a:t>
            </a:r>
          </a:p>
          <a:p>
            <a:pPr algn="just"/>
            <a:endParaRPr lang="en-US" dirty="0">
              <a:latin typeface="Bookman Old Style" panose="02050604050505020204" pitchFamily="18" charset="0"/>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20637892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normAutofit fontScale="90000"/>
          </a:bodyPr>
          <a:lstStyle/>
          <a:p>
            <a:r>
              <a:rPr lang="en-US" dirty="0"/>
              <a:t>Acting Rationally: The rational agent approach</a:t>
            </a:r>
            <a:br>
              <a:rPr lang="en-US" dirty="0"/>
            </a:b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normAutofit fontScale="92500" lnSpcReduction="20000"/>
          </a:bodyPr>
          <a:lstStyle/>
          <a:p>
            <a:pPr algn="just"/>
            <a:r>
              <a:rPr lang="en-US" dirty="0">
                <a:latin typeface="Bookman Old Style" panose="02050604050505020204" pitchFamily="18" charset="0"/>
              </a:rPr>
              <a:t>Acting rationally means acting so as to achieve one's goals, given one's beliefs. An agent is just something that perceives and acts.</a:t>
            </a:r>
          </a:p>
          <a:p>
            <a:pPr algn="just"/>
            <a:r>
              <a:rPr lang="en-US" dirty="0">
                <a:latin typeface="Bookman Old Style" panose="02050604050505020204" pitchFamily="18" charset="0"/>
              </a:rPr>
              <a:t>In the logical approach to AI, the emphasis is on correct inferences. This is often part of being a rational agent because one way to act rationally is to reason logically and then act on ones conclusions. But this is not all of rationality because agents often find themselves in situations where there is no provably correct thing to do, yet they must do something.</a:t>
            </a:r>
          </a:p>
          <a:p>
            <a:pPr algn="just"/>
            <a:r>
              <a:rPr lang="en-US" dirty="0">
                <a:latin typeface="Bookman Old Style" panose="02050604050505020204" pitchFamily="18" charset="0"/>
              </a:rPr>
              <a:t>There are also ways to act rationally that do not seem to involve inference, e.g., reflex actions.</a:t>
            </a:r>
          </a:p>
          <a:p>
            <a:pPr algn="just"/>
            <a:r>
              <a:rPr lang="en-US" dirty="0">
                <a:latin typeface="Bookman Old Style" panose="02050604050505020204" pitchFamily="18" charset="0"/>
              </a:rPr>
              <a:t>The study of AI as rational agent design has two advantages:</a:t>
            </a:r>
          </a:p>
          <a:p>
            <a:pPr algn="just"/>
            <a:r>
              <a:rPr lang="en-US" dirty="0">
                <a:latin typeface="Bookman Old Style" panose="02050604050505020204" pitchFamily="18" charset="0"/>
              </a:rPr>
              <a:t>It is more general than the logical approach because correct inference is only a useful mechanism for achieving rationality, not a necessary one.</a:t>
            </a:r>
          </a:p>
          <a:p>
            <a:pPr algn="just"/>
            <a:r>
              <a:rPr lang="en-US" dirty="0">
                <a:latin typeface="Bookman Old Style" panose="02050604050505020204" pitchFamily="18" charset="0"/>
              </a:rPr>
              <a:t>It is more amenable to scientific development than approaches based on human </a:t>
            </a:r>
            <a:r>
              <a:rPr lang="en-US" dirty="0" err="1">
                <a:latin typeface="Bookman Old Style" panose="02050604050505020204" pitchFamily="18" charset="0"/>
              </a:rPr>
              <a:t>behaviour</a:t>
            </a:r>
            <a:r>
              <a:rPr lang="en-US" dirty="0">
                <a:latin typeface="Bookman Old Style" panose="02050604050505020204" pitchFamily="18" charset="0"/>
              </a:rPr>
              <a:t> or human thought because a standard of rationality can be defined independent of humans.</a:t>
            </a:r>
          </a:p>
          <a:p>
            <a:pPr algn="just"/>
            <a:r>
              <a:rPr lang="en-US" dirty="0">
                <a:latin typeface="Bookman Old Style" panose="02050604050505020204" pitchFamily="18" charset="0"/>
              </a:rPr>
              <a:t>Achieving perfect rationality in complex environments is not possible because the computational demands are too high. However, we will study perfect rationality as a starting place.</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14541674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836802" y="398627"/>
            <a:ext cx="3167818" cy="640445"/>
          </a:xfrm>
        </p:spPr>
        <p:txBody>
          <a:bodyPr/>
          <a:lstStyle/>
          <a:p>
            <a:r>
              <a:rPr lang="en-US" dirty="0"/>
              <a:t>AI Definition</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0"/>
            <a:ext cx="10746657" cy="5149187"/>
          </a:xfrm>
        </p:spPr>
        <p:txBody>
          <a:bodyPr>
            <a:normAutofit/>
          </a:bodyPr>
          <a:lstStyle/>
          <a:p>
            <a:pPr>
              <a:lnSpc>
                <a:spcPct val="80000"/>
              </a:lnSpc>
            </a:pPr>
            <a:r>
              <a:rPr lang="en-US" altLang="en-US" sz="1800" dirty="0"/>
              <a:t>The automation of activities that we associate with human thinking (e.g., decision-making, learning…)</a:t>
            </a:r>
          </a:p>
          <a:p>
            <a:pPr>
              <a:lnSpc>
                <a:spcPct val="80000"/>
              </a:lnSpc>
            </a:pPr>
            <a:r>
              <a:rPr lang="en-US" altLang="en-US" sz="1800" dirty="0"/>
              <a:t>The art of creating machines that perform functions that require intelligence when performed by people.</a:t>
            </a:r>
          </a:p>
          <a:p>
            <a:pPr>
              <a:lnSpc>
                <a:spcPct val="80000"/>
              </a:lnSpc>
            </a:pPr>
            <a:r>
              <a:rPr lang="en-US" altLang="en-US" sz="1800" dirty="0"/>
              <a:t>The study of mental faculties through the use of computational models.</a:t>
            </a:r>
          </a:p>
          <a:p>
            <a:pPr>
              <a:lnSpc>
                <a:spcPct val="80000"/>
              </a:lnSpc>
            </a:pPr>
            <a:r>
              <a:rPr lang="en-US" altLang="en-US" sz="1800" dirty="0"/>
              <a:t>A field of study that seeks to explain and emulate intelligent behavior in terms of computational processes.</a:t>
            </a:r>
          </a:p>
          <a:p>
            <a:pPr>
              <a:lnSpc>
                <a:spcPct val="80000"/>
              </a:lnSpc>
            </a:pPr>
            <a:r>
              <a:rPr lang="en-US" altLang="en-US" sz="1800" dirty="0"/>
              <a:t>The branch of computer science that is concerned with the automation of intelligent behavior.</a:t>
            </a:r>
          </a:p>
          <a:p>
            <a:pPr>
              <a:lnSpc>
                <a:spcPct val="90000"/>
              </a:lnSpc>
            </a:pPr>
            <a:r>
              <a:rPr lang="en-US" altLang="en-US" sz="1800" dirty="0"/>
              <a:t>AI is part science, part engineering</a:t>
            </a:r>
          </a:p>
          <a:p>
            <a:pPr>
              <a:lnSpc>
                <a:spcPct val="90000"/>
              </a:lnSpc>
            </a:pPr>
            <a:r>
              <a:rPr lang="en-US" altLang="en-US" sz="1800" dirty="0"/>
              <a:t>AI often must study other domains in order to implement systems </a:t>
            </a:r>
          </a:p>
          <a:p>
            <a:pPr>
              <a:lnSpc>
                <a:spcPct val="90000"/>
              </a:lnSpc>
            </a:pPr>
            <a:r>
              <a:rPr lang="en-US" altLang="en-US" sz="1800" dirty="0"/>
              <a:t>AI is a belief that the brain is a form of biological computer and that the mind is computational</a:t>
            </a:r>
          </a:p>
          <a:p>
            <a:pPr>
              <a:lnSpc>
                <a:spcPct val="90000"/>
              </a:lnSpc>
            </a:pPr>
            <a:r>
              <a:rPr lang="en-US" altLang="en-US" sz="1800" dirty="0"/>
              <a:t>AI has had a concrete impact on society but unlike other areas of CS, the impact is often</a:t>
            </a:r>
          </a:p>
          <a:p>
            <a:pPr>
              <a:lnSpc>
                <a:spcPct val="80000"/>
              </a:lnSpc>
            </a:pPr>
            <a:endParaRPr lang="en-US" altLang="en-US" sz="1800" dirty="0"/>
          </a:p>
          <a:p>
            <a:endParaRPr lang="en-US" dirty="0"/>
          </a:p>
          <a:p>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29299510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History of AI</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lstStyle/>
          <a:p>
            <a:endParaRPr lang="en-US" dirty="0"/>
          </a:p>
        </p:txBody>
      </p:sp>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8" name="Picture 7">
            <a:extLst>
              <a:ext uri="{FF2B5EF4-FFF2-40B4-BE49-F238E27FC236}">
                <a16:creationId xmlns:a16="http://schemas.microsoft.com/office/drawing/2014/main" id="{69596EE7-EF75-ABFD-3C5F-1FFBF0ECB381}"/>
              </a:ext>
            </a:extLst>
          </p:cNvPr>
          <p:cNvPicPr>
            <a:picLocks noChangeAspect="1"/>
          </p:cNvPicPr>
          <p:nvPr/>
        </p:nvPicPr>
        <p:blipFill>
          <a:blip r:embed="rId3"/>
          <a:stretch>
            <a:fillRect/>
          </a:stretch>
        </p:blipFill>
        <p:spPr>
          <a:xfrm>
            <a:off x="1409165" y="831907"/>
            <a:ext cx="9993974" cy="5715786"/>
          </a:xfrm>
          <a:prstGeom prst="rect">
            <a:avLst/>
          </a:prstGeom>
        </p:spPr>
      </p:pic>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4">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Tree>
    <p:extLst>
      <p:ext uri="{BB962C8B-B14F-4D97-AF65-F5344CB8AC3E}">
        <p14:creationId xmlns:p14="http://schemas.microsoft.com/office/powerpoint/2010/main" val="40543923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640445"/>
          </a:xfrm>
        </p:spPr>
        <p:txBody>
          <a:bodyPr/>
          <a:lstStyle/>
          <a:p>
            <a:r>
              <a:rPr lang="en-US" dirty="0"/>
              <a:t>Types of Intelligence</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graphicFrame>
        <p:nvGraphicFramePr>
          <p:cNvPr id="8" name="object 3">
            <a:extLst>
              <a:ext uri="{FF2B5EF4-FFF2-40B4-BE49-F238E27FC236}">
                <a16:creationId xmlns:a16="http://schemas.microsoft.com/office/drawing/2014/main" id="{FDA7F96B-20C3-91E3-86FF-42CF772CB3F7}"/>
              </a:ext>
            </a:extLst>
          </p:cNvPr>
          <p:cNvGraphicFramePr>
            <a:graphicFrameLocks noGrp="1"/>
          </p:cNvGraphicFramePr>
          <p:nvPr>
            <p:extLst>
              <p:ext uri="{D42A27DB-BD31-4B8C-83A1-F6EECF244321}">
                <p14:modId xmlns:p14="http://schemas.microsoft.com/office/powerpoint/2010/main" val="198789824"/>
              </p:ext>
            </p:extLst>
          </p:nvPr>
        </p:nvGraphicFramePr>
        <p:xfrm>
          <a:off x="250005" y="1321920"/>
          <a:ext cx="11814175" cy="5350811"/>
        </p:xfrm>
        <a:graphic>
          <a:graphicData uri="http://schemas.openxmlformats.org/drawingml/2006/table">
            <a:tbl>
              <a:tblPr firstRow="1" bandRow="1">
                <a:tableStyleId>{2D5ABB26-0587-4C30-8999-92F81FD0307C}</a:tableStyleId>
              </a:tblPr>
              <a:tblGrid>
                <a:gridCol w="2245360">
                  <a:extLst>
                    <a:ext uri="{9D8B030D-6E8A-4147-A177-3AD203B41FA5}">
                      <a16:colId xmlns:a16="http://schemas.microsoft.com/office/drawing/2014/main" val="20000"/>
                    </a:ext>
                  </a:extLst>
                </a:gridCol>
                <a:gridCol w="7867015">
                  <a:extLst>
                    <a:ext uri="{9D8B030D-6E8A-4147-A177-3AD203B41FA5}">
                      <a16:colId xmlns:a16="http://schemas.microsoft.com/office/drawing/2014/main" val="20001"/>
                    </a:ext>
                  </a:extLst>
                </a:gridCol>
                <a:gridCol w="1701800">
                  <a:extLst>
                    <a:ext uri="{9D8B030D-6E8A-4147-A177-3AD203B41FA5}">
                      <a16:colId xmlns:a16="http://schemas.microsoft.com/office/drawing/2014/main" val="20002"/>
                    </a:ext>
                  </a:extLst>
                </a:gridCol>
              </a:tblGrid>
              <a:tr h="418211">
                <a:tc>
                  <a:txBody>
                    <a:bodyPr/>
                    <a:lstStyle/>
                    <a:p>
                      <a:pPr algn="ctr">
                        <a:lnSpc>
                          <a:spcPct val="100000"/>
                        </a:lnSpc>
                        <a:spcBef>
                          <a:spcPts val="540"/>
                        </a:spcBef>
                      </a:pPr>
                      <a:r>
                        <a:rPr sz="1800" b="1" spc="-10" dirty="0">
                          <a:solidFill>
                            <a:srgbClr val="FFFFFF"/>
                          </a:solidFill>
                          <a:latin typeface="Calibri"/>
                          <a:cs typeface="Calibri"/>
                        </a:rPr>
                        <a:t>Intelligence</a:t>
                      </a:r>
                      <a:endParaRPr sz="1800" dirty="0">
                        <a:latin typeface="Calibri"/>
                        <a:cs typeface="Calibri"/>
                      </a:endParaRPr>
                    </a:p>
                  </a:txBody>
                  <a:tcPr marL="0" marR="0" marT="685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algn="ctr">
                        <a:lnSpc>
                          <a:spcPct val="100000"/>
                        </a:lnSpc>
                        <a:spcBef>
                          <a:spcPts val="540"/>
                        </a:spcBef>
                      </a:pPr>
                      <a:r>
                        <a:rPr sz="1800" b="1" spc="-10" dirty="0">
                          <a:solidFill>
                            <a:srgbClr val="FFFFFF"/>
                          </a:solidFill>
                          <a:latin typeface="Calibri"/>
                          <a:cs typeface="Calibri"/>
                        </a:rPr>
                        <a:t>Description</a:t>
                      </a:r>
                      <a:endParaRPr sz="1800" dirty="0">
                        <a:latin typeface="Calibri"/>
                        <a:cs typeface="Calibri"/>
                      </a:endParaRPr>
                    </a:p>
                  </a:txBody>
                  <a:tcPr marL="0" marR="0" marT="685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1270" algn="ctr">
                        <a:lnSpc>
                          <a:spcPct val="100000"/>
                        </a:lnSpc>
                        <a:spcBef>
                          <a:spcPts val="540"/>
                        </a:spcBef>
                      </a:pPr>
                      <a:r>
                        <a:rPr sz="1800" b="1" spc="-5" dirty="0">
                          <a:solidFill>
                            <a:srgbClr val="FFFFFF"/>
                          </a:solidFill>
                          <a:latin typeface="Calibri"/>
                          <a:cs typeface="Calibri"/>
                        </a:rPr>
                        <a:t>Example</a:t>
                      </a:r>
                      <a:endParaRPr sz="1800">
                        <a:latin typeface="Calibri"/>
                        <a:cs typeface="Calibri"/>
                      </a:endParaRPr>
                    </a:p>
                  </a:txBody>
                  <a:tcPr marL="0" marR="0" marT="685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614552">
                <a:tc>
                  <a:txBody>
                    <a:bodyPr/>
                    <a:lstStyle/>
                    <a:p>
                      <a:pPr algn="ctr">
                        <a:lnSpc>
                          <a:spcPct val="100000"/>
                        </a:lnSpc>
                        <a:spcBef>
                          <a:spcPts val="1435"/>
                        </a:spcBef>
                      </a:pPr>
                      <a:r>
                        <a:rPr sz="1600" b="1" spc="-5" dirty="0">
                          <a:solidFill>
                            <a:srgbClr val="FFFFFF"/>
                          </a:solidFill>
                          <a:latin typeface="Calibri"/>
                          <a:cs typeface="Calibri"/>
                        </a:rPr>
                        <a:t>Linguistic</a:t>
                      </a:r>
                      <a:r>
                        <a:rPr sz="1600" b="1" spc="-35" dirty="0">
                          <a:solidFill>
                            <a:srgbClr val="FFFFFF"/>
                          </a:solidFill>
                          <a:latin typeface="Calibri"/>
                          <a:cs typeface="Calibri"/>
                        </a:rPr>
                        <a:t> </a:t>
                      </a:r>
                      <a:r>
                        <a:rPr sz="1600" b="1" spc="-10" dirty="0">
                          <a:solidFill>
                            <a:srgbClr val="FFFFFF"/>
                          </a:solidFill>
                          <a:latin typeface="Calibri"/>
                          <a:cs typeface="Calibri"/>
                        </a:rPr>
                        <a:t>intelligence</a:t>
                      </a:r>
                      <a:endParaRPr sz="1600" dirty="0">
                        <a:latin typeface="Calibri"/>
                        <a:cs typeface="Calibri"/>
                      </a:endParaRPr>
                    </a:p>
                  </a:txBody>
                  <a:tcPr marL="0" marR="0" marT="1822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4471C4"/>
                    </a:solidFill>
                  </a:tcPr>
                </a:tc>
                <a:tc>
                  <a:txBody>
                    <a:bodyPr/>
                    <a:lstStyle/>
                    <a:p>
                      <a:pPr algn="ctr">
                        <a:lnSpc>
                          <a:spcPct val="100000"/>
                        </a:lnSpc>
                        <a:spcBef>
                          <a:spcPts val="75"/>
                        </a:spcBef>
                      </a:pPr>
                      <a:r>
                        <a:rPr sz="1800" spc="-5" dirty="0">
                          <a:latin typeface="Calibri"/>
                          <a:cs typeface="Calibri"/>
                        </a:rPr>
                        <a:t>The</a:t>
                      </a:r>
                      <a:r>
                        <a:rPr sz="1800" dirty="0">
                          <a:latin typeface="Calibri"/>
                          <a:cs typeface="Calibri"/>
                        </a:rPr>
                        <a:t> ability</a:t>
                      </a:r>
                      <a:r>
                        <a:rPr sz="1800" spc="-10" dirty="0">
                          <a:latin typeface="Calibri"/>
                          <a:cs typeface="Calibri"/>
                        </a:rPr>
                        <a:t> </a:t>
                      </a:r>
                      <a:r>
                        <a:rPr sz="1800" spc="-15" dirty="0">
                          <a:latin typeface="Calibri"/>
                          <a:cs typeface="Calibri"/>
                        </a:rPr>
                        <a:t>to</a:t>
                      </a:r>
                      <a:r>
                        <a:rPr sz="1800" dirty="0">
                          <a:latin typeface="Calibri"/>
                          <a:cs typeface="Calibri"/>
                        </a:rPr>
                        <a:t> </a:t>
                      </a:r>
                      <a:r>
                        <a:rPr sz="1800" spc="-5" dirty="0">
                          <a:latin typeface="Calibri"/>
                          <a:cs typeface="Calibri"/>
                        </a:rPr>
                        <a:t>speak, </a:t>
                      </a:r>
                      <a:r>
                        <a:rPr sz="1800" spc="-10" dirty="0">
                          <a:latin typeface="Calibri"/>
                          <a:cs typeface="Calibri"/>
                        </a:rPr>
                        <a:t>recognize,</a:t>
                      </a:r>
                      <a:r>
                        <a:rPr sz="1800" spc="10" dirty="0">
                          <a:latin typeface="Calibri"/>
                          <a:cs typeface="Calibri"/>
                        </a:rPr>
                        <a:t> </a:t>
                      </a:r>
                      <a:r>
                        <a:rPr sz="1800" dirty="0">
                          <a:latin typeface="Calibri"/>
                          <a:cs typeface="Calibri"/>
                        </a:rPr>
                        <a:t>and</a:t>
                      </a:r>
                      <a:r>
                        <a:rPr sz="1800" spc="5" dirty="0">
                          <a:latin typeface="Calibri"/>
                          <a:cs typeface="Calibri"/>
                        </a:rPr>
                        <a:t> </a:t>
                      </a:r>
                      <a:r>
                        <a:rPr sz="1800" spc="-5" dirty="0">
                          <a:latin typeface="Calibri"/>
                          <a:cs typeface="Calibri"/>
                        </a:rPr>
                        <a:t>use</a:t>
                      </a:r>
                      <a:r>
                        <a:rPr sz="1800" dirty="0">
                          <a:latin typeface="Calibri"/>
                          <a:cs typeface="Calibri"/>
                        </a:rPr>
                        <a:t> mechanisms </a:t>
                      </a:r>
                      <a:r>
                        <a:rPr sz="1800" spc="-5" dirty="0">
                          <a:latin typeface="Calibri"/>
                          <a:cs typeface="Calibri"/>
                        </a:rPr>
                        <a:t>of phonology</a:t>
                      </a:r>
                      <a:r>
                        <a:rPr sz="1800" spc="10" dirty="0">
                          <a:latin typeface="Calibri"/>
                          <a:cs typeface="Calibri"/>
                        </a:rPr>
                        <a:t> </a:t>
                      </a:r>
                      <a:r>
                        <a:rPr sz="1800" spc="-5" dirty="0">
                          <a:latin typeface="Calibri"/>
                          <a:cs typeface="Calibri"/>
                        </a:rPr>
                        <a:t>(speech</a:t>
                      </a:r>
                      <a:r>
                        <a:rPr sz="1800" spc="20" dirty="0">
                          <a:latin typeface="Calibri"/>
                          <a:cs typeface="Calibri"/>
                        </a:rPr>
                        <a:t> </a:t>
                      </a:r>
                      <a:r>
                        <a:rPr sz="1800" spc="-5" dirty="0">
                          <a:latin typeface="Calibri"/>
                          <a:cs typeface="Calibri"/>
                        </a:rPr>
                        <a:t>sounds),</a:t>
                      </a:r>
                      <a:endParaRPr sz="1800" dirty="0">
                        <a:latin typeface="Calibri"/>
                        <a:cs typeface="Calibri"/>
                      </a:endParaRPr>
                    </a:p>
                    <a:p>
                      <a:pPr algn="ctr">
                        <a:lnSpc>
                          <a:spcPct val="100000"/>
                        </a:lnSpc>
                        <a:spcBef>
                          <a:spcPts val="325"/>
                        </a:spcBef>
                      </a:pPr>
                      <a:r>
                        <a:rPr sz="1800" spc="-20" dirty="0">
                          <a:latin typeface="Calibri"/>
                          <a:cs typeface="Calibri"/>
                        </a:rPr>
                        <a:t>syntax</a:t>
                      </a:r>
                      <a:r>
                        <a:rPr sz="1800" spc="-10" dirty="0">
                          <a:latin typeface="Calibri"/>
                          <a:cs typeface="Calibri"/>
                        </a:rPr>
                        <a:t> </a:t>
                      </a:r>
                      <a:r>
                        <a:rPr sz="1800" spc="-5" dirty="0">
                          <a:latin typeface="Calibri"/>
                          <a:cs typeface="Calibri"/>
                        </a:rPr>
                        <a:t>(grammar),</a:t>
                      </a:r>
                      <a:r>
                        <a:rPr sz="1800" dirty="0">
                          <a:latin typeface="Calibri"/>
                          <a:cs typeface="Calibri"/>
                        </a:rPr>
                        <a:t> and</a:t>
                      </a:r>
                      <a:r>
                        <a:rPr sz="1800" spc="10" dirty="0">
                          <a:latin typeface="Calibri"/>
                          <a:cs typeface="Calibri"/>
                        </a:rPr>
                        <a:t> </a:t>
                      </a:r>
                      <a:r>
                        <a:rPr sz="1800" spc="-5" dirty="0">
                          <a:latin typeface="Calibri"/>
                          <a:cs typeface="Calibri"/>
                        </a:rPr>
                        <a:t>semantics</a:t>
                      </a:r>
                      <a:r>
                        <a:rPr sz="1800" dirty="0">
                          <a:latin typeface="Calibri"/>
                          <a:cs typeface="Calibri"/>
                        </a:rPr>
                        <a:t> </a:t>
                      </a:r>
                      <a:r>
                        <a:rPr sz="1800" spc="-5" dirty="0">
                          <a:latin typeface="Calibri"/>
                          <a:cs typeface="Calibri"/>
                        </a:rPr>
                        <a:t>(meaning).</a:t>
                      </a:r>
                      <a:endParaRPr sz="1800" dirty="0">
                        <a:latin typeface="Calibri"/>
                        <a:cs typeface="Calibri"/>
                      </a:endParaRPr>
                    </a:p>
                  </a:txBody>
                  <a:tcPr marL="0" marR="0" marT="952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35" algn="ctr">
                        <a:lnSpc>
                          <a:spcPct val="100000"/>
                        </a:lnSpc>
                        <a:spcBef>
                          <a:spcPts val="1315"/>
                        </a:spcBef>
                      </a:pPr>
                      <a:r>
                        <a:rPr sz="1800" spc="-15" dirty="0">
                          <a:latin typeface="Calibri"/>
                          <a:cs typeface="Calibri"/>
                        </a:rPr>
                        <a:t>Narrators,</a:t>
                      </a:r>
                      <a:r>
                        <a:rPr sz="1800" spc="-50" dirty="0">
                          <a:latin typeface="Calibri"/>
                          <a:cs typeface="Calibri"/>
                        </a:rPr>
                        <a:t> </a:t>
                      </a:r>
                      <a:r>
                        <a:rPr sz="1800" spc="-20" dirty="0">
                          <a:latin typeface="Calibri"/>
                          <a:cs typeface="Calibri"/>
                        </a:rPr>
                        <a:t>Orators</a:t>
                      </a:r>
                      <a:endParaRPr sz="1800">
                        <a:latin typeface="Calibri"/>
                        <a:cs typeface="Calibri"/>
                      </a:endParaRPr>
                    </a:p>
                  </a:txBody>
                  <a:tcPr marL="0" marR="0" marT="16700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930021">
                <a:tc>
                  <a:txBody>
                    <a:bodyPr/>
                    <a:lstStyle/>
                    <a:p>
                      <a:pPr algn="ctr">
                        <a:lnSpc>
                          <a:spcPct val="100000"/>
                        </a:lnSpc>
                        <a:spcBef>
                          <a:spcPts val="35"/>
                        </a:spcBef>
                      </a:pPr>
                      <a:endParaRPr sz="2300" dirty="0">
                        <a:latin typeface="Times New Roman"/>
                        <a:cs typeface="Times New Roman"/>
                      </a:endParaRPr>
                    </a:p>
                    <a:p>
                      <a:pPr algn="ctr">
                        <a:lnSpc>
                          <a:spcPct val="100000"/>
                        </a:lnSpc>
                      </a:pPr>
                      <a:r>
                        <a:rPr sz="1600" b="1" spc="-5" dirty="0">
                          <a:solidFill>
                            <a:srgbClr val="FFFFFF"/>
                          </a:solidFill>
                          <a:latin typeface="Calibri"/>
                          <a:cs typeface="Calibri"/>
                        </a:rPr>
                        <a:t>Musical</a:t>
                      </a:r>
                      <a:r>
                        <a:rPr sz="1600" b="1" spc="-30" dirty="0">
                          <a:solidFill>
                            <a:srgbClr val="FFFFFF"/>
                          </a:solidFill>
                          <a:latin typeface="Calibri"/>
                          <a:cs typeface="Calibri"/>
                        </a:rPr>
                        <a:t> </a:t>
                      </a:r>
                      <a:r>
                        <a:rPr sz="1600" b="1" spc="-10" dirty="0">
                          <a:solidFill>
                            <a:srgbClr val="FFFFFF"/>
                          </a:solidFill>
                          <a:latin typeface="Calibri"/>
                          <a:cs typeface="Calibri"/>
                        </a:rPr>
                        <a:t>intelligence</a:t>
                      </a:r>
                      <a:endParaRPr sz="1600" dirty="0">
                        <a:latin typeface="Calibri"/>
                        <a:cs typeface="Calibri"/>
                      </a:endParaRPr>
                    </a:p>
                  </a:txBody>
                  <a:tcPr marL="0" marR="0" marT="44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4471C4"/>
                    </a:solidFill>
                  </a:tcPr>
                </a:tc>
                <a:tc>
                  <a:txBody>
                    <a:bodyPr/>
                    <a:lstStyle/>
                    <a:p>
                      <a:pPr marL="2458085" marR="74295" indent="-2381885" algn="ctr">
                        <a:lnSpc>
                          <a:spcPct val="114999"/>
                        </a:lnSpc>
                        <a:spcBef>
                          <a:spcPts val="995"/>
                        </a:spcBef>
                      </a:pPr>
                      <a:r>
                        <a:rPr sz="1800" spc="-5" dirty="0">
                          <a:latin typeface="Calibri"/>
                          <a:cs typeface="Calibri"/>
                        </a:rPr>
                        <a:t>The</a:t>
                      </a:r>
                      <a:r>
                        <a:rPr sz="1800" dirty="0">
                          <a:latin typeface="Calibri"/>
                          <a:cs typeface="Calibri"/>
                        </a:rPr>
                        <a:t> ability</a:t>
                      </a:r>
                      <a:r>
                        <a:rPr sz="1800" spc="-10" dirty="0">
                          <a:latin typeface="Calibri"/>
                          <a:cs typeface="Calibri"/>
                        </a:rPr>
                        <a:t> </a:t>
                      </a:r>
                      <a:r>
                        <a:rPr sz="1800" spc="-15" dirty="0">
                          <a:latin typeface="Calibri"/>
                          <a:cs typeface="Calibri"/>
                        </a:rPr>
                        <a:t>to</a:t>
                      </a:r>
                      <a:r>
                        <a:rPr sz="1800" dirty="0">
                          <a:latin typeface="Calibri"/>
                          <a:cs typeface="Calibri"/>
                        </a:rPr>
                        <a:t> </a:t>
                      </a:r>
                      <a:r>
                        <a:rPr sz="1800" spc="-10" dirty="0">
                          <a:latin typeface="Calibri"/>
                          <a:cs typeface="Calibri"/>
                        </a:rPr>
                        <a:t>create,</a:t>
                      </a:r>
                      <a:r>
                        <a:rPr sz="1800" spc="-5" dirty="0">
                          <a:latin typeface="Calibri"/>
                          <a:cs typeface="Calibri"/>
                        </a:rPr>
                        <a:t> </a:t>
                      </a:r>
                      <a:r>
                        <a:rPr sz="1800" spc="-10" dirty="0">
                          <a:latin typeface="Calibri"/>
                          <a:cs typeface="Calibri"/>
                        </a:rPr>
                        <a:t>communicate</a:t>
                      </a:r>
                      <a:r>
                        <a:rPr sz="1800" spc="15" dirty="0">
                          <a:latin typeface="Calibri"/>
                          <a:cs typeface="Calibri"/>
                        </a:rPr>
                        <a:t> </a:t>
                      </a:r>
                      <a:r>
                        <a:rPr sz="1800" spc="-5" dirty="0">
                          <a:latin typeface="Calibri"/>
                          <a:cs typeface="Calibri"/>
                        </a:rPr>
                        <a:t>with,</a:t>
                      </a:r>
                      <a:r>
                        <a:rPr sz="1800" dirty="0">
                          <a:latin typeface="Calibri"/>
                          <a:cs typeface="Calibri"/>
                        </a:rPr>
                        <a:t> and</a:t>
                      </a:r>
                      <a:r>
                        <a:rPr sz="1800" spc="10" dirty="0">
                          <a:latin typeface="Calibri"/>
                          <a:cs typeface="Calibri"/>
                        </a:rPr>
                        <a:t> </a:t>
                      </a:r>
                      <a:r>
                        <a:rPr sz="1800" spc="-10" dirty="0">
                          <a:latin typeface="Calibri"/>
                          <a:cs typeface="Calibri"/>
                        </a:rPr>
                        <a:t>understand</a:t>
                      </a:r>
                      <a:r>
                        <a:rPr sz="1800" spc="5" dirty="0">
                          <a:latin typeface="Calibri"/>
                          <a:cs typeface="Calibri"/>
                        </a:rPr>
                        <a:t> </a:t>
                      </a:r>
                      <a:r>
                        <a:rPr sz="1800" dirty="0">
                          <a:latin typeface="Calibri"/>
                          <a:cs typeface="Calibri"/>
                        </a:rPr>
                        <a:t>meanings made</a:t>
                      </a:r>
                      <a:r>
                        <a:rPr sz="1800" spc="10" dirty="0">
                          <a:latin typeface="Calibri"/>
                          <a:cs typeface="Calibri"/>
                        </a:rPr>
                        <a:t> </a:t>
                      </a:r>
                      <a:r>
                        <a:rPr sz="1800" spc="-5" dirty="0">
                          <a:latin typeface="Calibri"/>
                          <a:cs typeface="Calibri"/>
                        </a:rPr>
                        <a:t>of</a:t>
                      </a:r>
                      <a:r>
                        <a:rPr sz="1800" spc="-10" dirty="0">
                          <a:latin typeface="Calibri"/>
                          <a:cs typeface="Calibri"/>
                        </a:rPr>
                        <a:t> </a:t>
                      </a:r>
                      <a:r>
                        <a:rPr sz="1800" spc="-5" dirty="0">
                          <a:latin typeface="Calibri"/>
                          <a:cs typeface="Calibri"/>
                        </a:rPr>
                        <a:t>sound, </a:t>
                      </a:r>
                      <a:r>
                        <a:rPr sz="1800" spc="-395" dirty="0">
                          <a:latin typeface="Calibri"/>
                          <a:cs typeface="Calibri"/>
                        </a:rPr>
                        <a:t> </a:t>
                      </a:r>
                      <a:r>
                        <a:rPr sz="1800" spc="-10" dirty="0">
                          <a:latin typeface="Calibri"/>
                          <a:cs typeface="Calibri"/>
                        </a:rPr>
                        <a:t>understanding</a:t>
                      </a:r>
                      <a:r>
                        <a:rPr sz="1800" spc="10" dirty="0">
                          <a:latin typeface="Calibri"/>
                          <a:cs typeface="Calibri"/>
                        </a:rPr>
                        <a:t> </a:t>
                      </a:r>
                      <a:r>
                        <a:rPr sz="1800" spc="-5" dirty="0">
                          <a:latin typeface="Calibri"/>
                          <a:cs typeface="Calibri"/>
                        </a:rPr>
                        <a:t>of pitch,</a:t>
                      </a:r>
                      <a:r>
                        <a:rPr sz="1800" spc="10" dirty="0">
                          <a:latin typeface="Calibri"/>
                          <a:cs typeface="Calibri"/>
                        </a:rPr>
                        <a:t> </a:t>
                      </a:r>
                      <a:r>
                        <a:rPr sz="1800" spc="-5" dirty="0">
                          <a:latin typeface="Calibri"/>
                          <a:cs typeface="Calibri"/>
                        </a:rPr>
                        <a:t>rhythm.</a:t>
                      </a:r>
                      <a:endParaRPr sz="1800" dirty="0">
                        <a:latin typeface="Calibri"/>
                        <a:cs typeface="Calibri"/>
                      </a:endParaRPr>
                    </a:p>
                  </a:txBody>
                  <a:tcPr marL="0" marR="0" marT="1263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75"/>
                        </a:spcBef>
                      </a:pPr>
                      <a:r>
                        <a:rPr sz="1800" spc="-5" dirty="0">
                          <a:latin typeface="Calibri"/>
                          <a:cs typeface="Calibri"/>
                        </a:rPr>
                        <a:t>Musicians,</a:t>
                      </a:r>
                      <a:endParaRPr sz="1800">
                        <a:latin typeface="Calibri"/>
                        <a:cs typeface="Calibri"/>
                      </a:endParaRPr>
                    </a:p>
                    <a:p>
                      <a:pPr marL="334645" marR="325755" indent="-1270" algn="ctr">
                        <a:lnSpc>
                          <a:spcPct val="114999"/>
                        </a:lnSpc>
                      </a:pPr>
                      <a:r>
                        <a:rPr sz="1800" spc="-10" dirty="0">
                          <a:latin typeface="Calibri"/>
                          <a:cs typeface="Calibri"/>
                        </a:rPr>
                        <a:t>Singers, </a:t>
                      </a:r>
                      <a:r>
                        <a:rPr sz="1800" spc="-5" dirty="0">
                          <a:latin typeface="Calibri"/>
                          <a:cs typeface="Calibri"/>
                        </a:rPr>
                        <a:t> Compose</a:t>
                      </a:r>
                      <a:r>
                        <a:rPr sz="1800" spc="-30" dirty="0">
                          <a:latin typeface="Calibri"/>
                          <a:cs typeface="Calibri"/>
                        </a:rPr>
                        <a:t>r</a:t>
                      </a:r>
                      <a:r>
                        <a:rPr sz="1800" dirty="0">
                          <a:latin typeface="Calibri"/>
                          <a:cs typeface="Calibri"/>
                        </a:rPr>
                        <a:t>s</a:t>
                      </a:r>
                      <a:endParaRPr sz="1800">
                        <a:latin typeface="Calibri"/>
                        <a:cs typeface="Calibri"/>
                      </a:endParaRPr>
                    </a:p>
                  </a:txBody>
                  <a:tcPr marL="0" marR="0" marT="95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614426">
                <a:tc>
                  <a:txBody>
                    <a:bodyPr/>
                    <a:lstStyle/>
                    <a:p>
                      <a:pPr marL="638175" marR="214629" indent="-415290" algn="ctr">
                        <a:lnSpc>
                          <a:spcPct val="114999"/>
                        </a:lnSpc>
                        <a:spcBef>
                          <a:spcPts val="45"/>
                        </a:spcBef>
                      </a:pPr>
                      <a:r>
                        <a:rPr sz="1600" b="1" spc="-10" dirty="0">
                          <a:solidFill>
                            <a:srgbClr val="FFFFFF"/>
                          </a:solidFill>
                          <a:latin typeface="Calibri"/>
                          <a:cs typeface="Calibri"/>
                        </a:rPr>
                        <a:t>Logical-mathematical </a:t>
                      </a:r>
                      <a:r>
                        <a:rPr sz="1600" b="1" spc="-350" dirty="0">
                          <a:solidFill>
                            <a:srgbClr val="FFFFFF"/>
                          </a:solidFill>
                          <a:latin typeface="Calibri"/>
                          <a:cs typeface="Calibri"/>
                        </a:rPr>
                        <a:t> </a:t>
                      </a:r>
                      <a:r>
                        <a:rPr sz="1600" b="1" spc="-10" dirty="0">
                          <a:solidFill>
                            <a:srgbClr val="FFFFFF"/>
                          </a:solidFill>
                          <a:latin typeface="Calibri"/>
                          <a:cs typeface="Calibri"/>
                        </a:rPr>
                        <a:t>intelligence</a:t>
                      </a:r>
                      <a:endParaRPr sz="1600" dirty="0">
                        <a:latin typeface="Calibri"/>
                        <a:cs typeface="Calibri"/>
                      </a:endParaRPr>
                    </a:p>
                  </a:txBody>
                  <a:tcPr marL="0" marR="0" marT="57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4471C4"/>
                    </a:solidFill>
                  </a:tcPr>
                </a:tc>
                <a:tc>
                  <a:txBody>
                    <a:bodyPr/>
                    <a:lstStyle/>
                    <a:p>
                      <a:pPr algn="ctr">
                        <a:lnSpc>
                          <a:spcPct val="100000"/>
                        </a:lnSpc>
                        <a:spcBef>
                          <a:spcPts val="75"/>
                        </a:spcBef>
                      </a:pPr>
                      <a:r>
                        <a:rPr sz="1800" spc="-5" dirty="0">
                          <a:latin typeface="Calibri"/>
                          <a:cs typeface="Calibri"/>
                        </a:rPr>
                        <a:t>The</a:t>
                      </a:r>
                      <a:r>
                        <a:rPr sz="1800" dirty="0">
                          <a:latin typeface="Calibri"/>
                          <a:cs typeface="Calibri"/>
                        </a:rPr>
                        <a:t> ability</a:t>
                      </a:r>
                      <a:r>
                        <a:rPr sz="1800" spc="-10" dirty="0">
                          <a:latin typeface="Calibri"/>
                          <a:cs typeface="Calibri"/>
                        </a:rPr>
                        <a:t> </a:t>
                      </a:r>
                      <a:r>
                        <a:rPr sz="1800" spc="-5" dirty="0">
                          <a:latin typeface="Calibri"/>
                          <a:cs typeface="Calibri"/>
                        </a:rPr>
                        <a:t>of use</a:t>
                      </a:r>
                      <a:r>
                        <a:rPr sz="1800" dirty="0">
                          <a:latin typeface="Calibri"/>
                          <a:cs typeface="Calibri"/>
                        </a:rPr>
                        <a:t> and</a:t>
                      </a:r>
                      <a:r>
                        <a:rPr sz="1800" spc="10" dirty="0">
                          <a:latin typeface="Calibri"/>
                          <a:cs typeface="Calibri"/>
                        </a:rPr>
                        <a:t> </a:t>
                      </a:r>
                      <a:r>
                        <a:rPr sz="1800" spc="-10" dirty="0">
                          <a:latin typeface="Calibri"/>
                          <a:cs typeface="Calibri"/>
                        </a:rPr>
                        <a:t>understand</a:t>
                      </a:r>
                      <a:r>
                        <a:rPr sz="1800" spc="10" dirty="0">
                          <a:latin typeface="Calibri"/>
                          <a:cs typeface="Calibri"/>
                        </a:rPr>
                        <a:t> </a:t>
                      </a:r>
                      <a:r>
                        <a:rPr sz="1800" spc="-5" dirty="0">
                          <a:latin typeface="Calibri"/>
                          <a:cs typeface="Calibri"/>
                        </a:rPr>
                        <a:t>relationships </a:t>
                      </a:r>
                      <a:r>
                        <a:rPr sz="1800" dirty="0">
                          <a:latin typeface="Calibri"/>
                          <a:cs typeface="Calibri"/>
                        </a:rPr>
                        <a:t>in</a:t>
                      </a:r>
                      <a:r>
                        <a:rPr sz="1800" spc="5" dirty="0">
                          <a:latin typeface="Calibri"/>
                          <a:cs typeface="Calibri"/>
                        </a:rPr>
                        <a:t> </a:t>
                      </a:r>
                      <a:r>
                        <a:rPr sz="1800" dirty="0">
                          <a:latin typeface="Calibri"/>
                          <a:cs typeface="Calibri"/>
                        </a:rPr>
                        <a:t>the</a:t>
                      </a:r>
                      <a:r>
                        <a:rPr sz="1800" spc="5" dirty="0">
                          <a:latin typeface="Calibri"/>
                          <a:cs typeface="Calibri"/>
                        </a:rPr>
                        <a:t> </a:t>
                      </a:r>
                      <a:r>
                        <a:rPr sz="1800" spc="-5" dirty="0">
                          <a:latin typeface="Calibri"/>
                          <a:cs typeface="Calibri"/>
                        </a:rPr>
                        <a:t>absence</a:t>
                      </a:r>
                      <a:r>
                        <a:rPr sz="1800" spc="10" dirty="0">
                          <a:latin typeface="Calibri"/>
                          <a:cs typeface="Calibri"/>
                        </a:rPr>
                        <a:t> </a:t>
                      </a:r>
                      <a:r>
                        <a:rPr sz="1800" spc="-5" dirty="0">
                          <a:latin typeface="Calibri"/>
                          <a:cs typeface="Calibri"/>
                        </a:rPr>
                        <a:t>of</a:t>
                      </a:r>
                      <a:r>
                        <a:rPr sz="1800" spc="-10" dirty="0">
                          <a:latin typeface="Calibri"/>
                          <a:cs typeface="Calibri"/>
                        </a:rPr>
                        <a:t> </a:t>
                      </a:r>
                      <a:r>
                        <a:rPr sz="1800" dirty="0">
                          <a:latin typeface="Calibri"/>
                          <a:cs typeface="Calibri"/>
                        </a:rPr>
                        <a:t>action </a:t>
                      </a:r>
                      <a:r>
                        <a:rPr sz="1800" spc="-5" dirty="0">
                          <a:latin typeface="Calibri"/>
                          <a:cs typeface="Calibri"/>
                        </a:rPr>
                        <a:t>or</a:t>
                      </a:r>
                      <a:r>
                        <a:rPr sz="1800" spc="5" dirty="0">
                          <a:latin typeface="Calibri"/>
                          <a:cs typeface="Calibri"/>
                        </a:rPr>
                        <a:t> </a:t>
                      </a:r>
                      <a:r>
                        <a:rPr sz="1800" spc="-5" dirty="0">
                          <a:latin typeface="Calibri"/>
                          <a:cs typeface="Calibri"/>
                        </a:rPr>
                        <a:t>objects.</a:t>
                      </a:r>
                      <a:endParaRPr sz="1800" dirty="0">
                        <a:latin typeface="Calibri"/>
                        <a:cs typeface="Calibri"/>
                      </a:endParaRPr>
                    </a:p>
                    <a:p>
                      <a:pPr algn="ctr">
                        <a:lnSpc>
                          <a:spcPct val="100000"/>
                        </a:lnSpc>
                        <a:spcBef>
                          <a:spcPts val="325"/>
                        </a:spcBef>
                      </a:pPr>
                      <a:r>
                        <a:rPr sz="1800" spc="-10" dirty="0">
                          <a:latin typeface="Calibri"/>
                          <a:cs typeface="Calibri"/>
                        </a:rPr>
                        <a:t>Understanding</a:t>
                      </a:r>
                      <a:r>
                        <a:rPr sz="1800" dirty="0">
                          <a:latin typeface="Calibri"/>
                          <a:cs typeface="Calibri"/>
                        </a:rPr>
                        <a:t> </a:t>
                      </a:r>
                      <a:r>
                        <a:rPr sz="1800" spc="-10" dirty="0">
                          <a:latin typeface="Calibri"/>
                          <a:cs typeface="Calibri"/>
                        </a:rPr>
                        <a:t>complex</a:t>
                      </a:r>
                      <a:r>
                        <a:rPr sz="1800" spc="5" dirty="0">
                          <a:latin typeface="Calibri"/>
                          <a:cs typeface="Calibri"/>
                        </a:rPr>
                        <a:t> </a:t>
                      </a:r>
                      <a:r>
                        <a:rPr sz="1800" dirty="0">
                          <a:latin typeface="Calibri"/>
                          <a:cs typeface="Calibri"/>
                        </a:rPr>
                        <a:t>and</a:t>
                      </a:r>
                      <a:r>
                        <a:rPr sz="1800" spc="5" dirty="0">
                          <a:latin typeface="Calibri"/>
                          <a:cs typeface="Calibri"/>
                        </a:rPr>
                        <a:t> </a:t>
                      </a:r>
                      <a:r>
                        <a:rPr sz="1800" spc="-10" dirty="0">
                          <a:latin typeface="Calibri"/>
                          <a:cs typeface="Calibri"/>
                        </a:rPr>
                        <a:t>abstract</a:t>
                      </a:r>
                      <a:r>
                        <a:rPr sz="1800" spc="-15" dirty="0">
                          <a:latin typeface="Calibri"/>
                          <a:cs typeface="Calibri"/>
                        </a:rPr>
                        <a:t> </a:t>
                      </a:r>
                      <a:r>
                        <a:rPr sz="1800" dirty="0">
                          <a:latin typeface="Calibri"/>
                          <a:cs typeface="Calibri"/>
                        </a:rPr>
                        <a:t>ideas.</a:t>
                      </a:r>
                    </a:p>
                  </a:txBody>
                  <a:tcPr marL="0" marR="0" marT="95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 algn="ctr">
                        <a:lnSpc>
                          <a:spcPct val="100000"/>
                        </a:lnSpc>
                        <a:spcBef>
                          <a:spcPts val="75"/>
                        </a:spcBef>
                      </a:pPr>
                      <a:r>
                        <a:rPr sz="1800" spc="-5" dirty="0">
                          <a:latin typeface="Calibri"/>
                          <a:cs typeface="Calibri"/>
                        </a:rPr>
                        <a:t>Mathematicians,</a:t>
                      </a:r>
                      <a:endParaRPr sz="1800">
                        <a:latin typeface="Calibri"/>
                        <a:cs typeface="Calibri"/>
                      </a:endParaRPr>
                    </a:p>
                    <a:p>
                      <a:pPr algn="ctr">
                        <a:lnSpc>
                          <a:spcPct val="100000"/>
                        </a:lnSpc>
                        <a:spcBef>
                          <a:spcPts val="325"/>
                        </a:spcBef>
                      </a:pPr>
                      <a:r>
                        <a:rPr sz="1800" spc="-10" dirty="0">
                          <a:latin typeface="Calibri"/>
                          <a:cs typeface="Calibri"/>
                        </a:rPr>
                        <a:t>Scientists</a:t>
                      </a:r>
                      <a:endParaRPr sz="1800">
                        <a:latin typeface="Calibri"/>
                        <a:cs typeface="Calibri"/>
                      </a:endParaRPr>
                    </a:p>
                  </a:txBody>
                  <a:tcPr marL="0" marR="0" marT="95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930021">
                <a:tc>
                  <a:txBody>
                    <a:bodyPr/>
                    <a:lstStyle/>
                    <a:p>
                      <a:pPr algn="ctr">
                        <a:lnSpc>
                          <a:spcPct val="100000"/>
                        </a:lnSpc>
                        <a:spcBef>
                          <a:spcPts val="35"/>
                        </a:spcBef>
                      </a:pPr>
                      <a:endParaRPr sz="2300" dirty="0">
                        <a:latin typeface="Times New Roman"/>
                        <a:cs typeface="Times New Roman"/>
                      </a:endParaRPr>
                    </a:p>
                    <a:p>
                      <a:pPr algn="ctr">
                        <a:lnSpc>
                          <a:spcPct val="100000"/>
                        </a:lnSpc>
                      </a:pPr>
                      <a:r>
                        <a:rPr sz="1600" b="1" spc="-5" dirty="0">
                          <a:solidFill>
                            <a:srgbClr val="FFFFFF"/>
                          </a:solidFill>
                          <a:latin typeface="Calibri"/>
                          <a:cs typeface="Calibri"/>
                        </a:rPr>
                        <a:t>Spatial</a:t>
                      </a:r>
                      <a:r>
                        <a:rPr sz="1600" b="1" spc="-40" dirty="0">
                          <a:solidFill>
                            <a:srgbClr val="FFFFFF"/>
                          </a:solidFill>
                          <a:latin typeface="Calibri"/>
                          <a:cs typeface="Calibri"/>
                        </a:rPr>
                        <a:t> </a:t>
                      </a:r>
                      <a:r>
                        <a:rPr sz="1600" b="1" spc="-10" dirty="0">
                          <a:solidFill>
                            <a:srgbClr val="FFFFFF"/>
                          </a:solidFill>
                          <a:latin typeface="Calibri"/>
                          <a:cs typeface="Calibri"/>
                        </a:rPr>
                        <a:t>intelligence</a:t>
                      </a:r>
                      <a:endParaRPr sz="1600" dirty="0">
                        <a:latin typeface="Calibri"/>
                        <a:cs typeface="Calibri"/>
                      </a:endParaRPr>
                    </a:p>
                  </a:txBody>
                  <a:tcPr marL="0" marR="0" marT="44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4471C4"/>
                    </a:solidFill>
                  </a:tcPr>
                </a:tc>
                <a:tc>
                  <a:txBody>
                    <a:bodyPr/>
                    <a:lstStyle/>
                    <a:p>
                      <a:pPr marL="635" algn="ctr">
                        <a:lnSpc>
                          <a:spcPct val="100000"/>
                        </a:lnSpc>
                        <a:spcBef>
                          <a:spcPts val="75"/>
                        </a:spcBef>
                      </a:pPr>
                      <a:r>
                        <a:rPr sz="1800" spc="-5" dirty="0">
                          <a:latin typeface="Calibri"/>
                          <a:cs typeface="Calibri"/>
                        </a:rPr>
                        <a:t>The</a:t>
                      </a:r>
                      <a:r>
                        <a:rPr sz="1800" spc="5" dirty="0">
                          <a:latin typeface="Calibri"/>
                          <a:cs typeface="Calibri"/>
                        </a:rPr>
                        <a:t> </a:t>
                      </a:r>
                      <a:r>
                        <a:rPr sz="1800" dirty="0">
                          <a:latin typeface="Calibri"/>
                          <a:cs typeface="Calibri"/>
                        </a:rPr>
                        <a:t>ability</a:t>
                      </a:r>
                      <a:r>
                        <a:rPr sz="1800" spc="-5" dirty="0">
                          <a:latin typeface="Calibri"/>
                          <a:cs typeface="Calibri"/>
                        </a:rPr>
                        <a:t> </a:t>
                      </a:r>
                      <a:r>
                        <a:rPr sz="1800" spc="-15" dirty="0">
                          <a:latin typeface="Calibri"/>
                          <a:cs typeface="Calibri"/>
                        </a:rPr>
                        <a:t>to</a:t>
                      </a:r>
                      <a:r>
                        <a:rPr sz="1800" spc="5" dirty="0">
                          <a:latin typeface="Calibri"/>
                          <a:cs typeface="Calibri"/>
                        </a:rPr>
                        <a:t> </a:t>
                      </a:r>
                      <a:r>
                        <a:rPr sz="1800" spc="-10" dirty="0">
                          <a:latin typeface="Calibri"/>
                          <a:cs typeface="Calibri"/>
                        </a:rPr>
                        <a:t>perceive</a:t>
                      </a:r>
                      <a:r>
                        <a:rPr sz="1800" spc="10" dirty="0">
                          <a:latin typeface="Calibri"/>
                          <a:cs typeface="Calibri"/>
                        </a:rPr>
                        <a:t> </a:t>
                      </a:r>
                      <a:r>
                        <a:rPr sz="1800" dirty="0">
                          <a:latin typeface="Calibri"/>
                          <a:cs typeface="Calibri"/>
                        </a:rPr>
                        <a:t>visual </a:t>
                      </a:r>
                      <a:r>
                        <a:rPr sz="1800" spc="-5" dirty="0">
                          <a:latin typeface="Calibri"/>
                          <a:cs typeface="Calibri"/>
                        </a:rPr>
                        <a:t>or</a:t>
                      </a:r>
                      <a:r>
                        <a:rPr sz="1800" dirty="0">
                          <a:latin typeface="Calibri"/>
                          <a:cs typeface="Calibri"/>
                        </a:rPr>
                        <a:t> </a:t>
                      </a:r>
                      <a:r>
                        <a:rPr sz="1800" spc="-5" dirty="0">
                          <a:latin typeface="Calibri"/>
                          <a:cs typeface="Calibri"/>
                        </a:rPr>
                        <a:t>spatial</a:t>
                      </a:r>
                      <a:r>
                        <a:rPr sz="1800" dirty="0">
                          <a:latin typeface="Calibri"/>
                          <a:cs typeface="Calibri"/>
                        </a:rPr>
                        <a:t> </a:t>
                      </a:r>
                      <a:r>
                        <a:rPr sz="1800" spc="-10" dirty="0">
                          <a:latin typeface="Calibri"/>
                          <a:cs typeface="Calibri"/>
                        </a:rPr>
                        <a:t>information,</a:t>
                      </a:r>
                      <a:r>
                        <a:rPr sz="1800" dirty="0">
                          <a:latin typeface="Calibri"/>
                          <a:cs typeface="Calibri"/>
                        </a:rPr>
                        <a:t> </a:t>
                      </a:r>
                      <a:r>
                        <a:rPr sz="1800" spc="-5" dirty="0">
                          <a:latin typeface="Calibri"/>
                          <a:cs typeface="Calibri"/>
                        </a:rPr>
                        <a:t>change</a:t>
                      </a:r>
                      <a:r>
                        <a:rPr sz="1800" spc="20" dirty="0">
                          <a:latin typeface="Calibri"/>
                          <a:cs typeface="Calibri"/>
                        </a:rPr>
                        <a:t> </a:t>
                      </a:r>
                      <a:r>
                        <a:rPr sz="1800" dirty="0">
                          <a:latin typeface="Calibri"/>
                          <a:cs typeface="Calibri"/>
                        </a:rPr>
                        <a:t>it, and</a:t>
                      </a:r>
                      <a:r>
                        <a:rPr sz="1800" spc="5" dirty="0">
                          <a:latin typeface="Calibri"/>
                          <a:cs typeface="Calibri"/>
                        </a:rPr>
                        <a:t> </a:t>
                      </a:r>
                      <a:r>
                        <a:rPr sz="1800" spc="-10" dirty="0">
                          <a:latin typeface="Calibri"/>
                          <a:cs typeface="Calibri"/>
                        </a:rPr>
                        <a:t>re-create</a:t>
                      </a:r>
                      <a:r>
                        <a:rPr sz="1800" spc="10" dirty="0">
                          <a:latin typeface="Calibri"/>
                          <a:cs typeface="Calibri"/>
                        </a:rPr>
                        <a:t> </a:t>
                      </a:r>
                      <a:r>
                        <a:rPr sz="1800" dirty="0">
                          <a:latin typeface="Calibri"/>
                          <a:cs typeface="Calibri"/>
                        </a:rPr>
                        <a:t>visual</a:t>
                      </a:r>
                    </a:p>
                    <a:p>
                      <a:pPr algn="ctr">
                        <a:lnSpc>
                          <a:spcPct val="100000"/>
                        </a:lnSpc>
                        <a:spcBef>
                          <a:spcPts val="325"/>
                        </a:spcBef>
                      </a:pPr>
                      <a:r>
                        <a:rPr sz="1800" spc="-5" dirty="0">
                          <a:latin typeface="Calibri"/>
                          <a:cs typeface="Calibri"/>
                        </a:rPr>
                        <a:t>images</a:t>
                      </a:r>
                      <a:r>
                        <a:rPr sz="1800" dirty="0">
                          <a:latin typeface="Calibri"/>
                          <a:cs typeface="Calibri"/>
                        </a:rPr>
                        <a:t> </a:t>
                      </a:r>
                      <a:r>
                        <a:rPr sz="1800" spc="-5" dirty="0">
                          <a:latin typeface="Calibri"/>
                          <a:cs typeface="Calibri"/>
                        </a:rPr>
                        <a:t>without</a:t>
                      </a:r>
                      <a:r>
                        <a:rPr sz="1800" spc="5" dirty="0">
                          <a:latin typeface="Calibri"/>
                          <a:cs typeface="Calibri"/>
                        </a:rPr>
                        <a:t> </a:t>
                      </a:r>
                      <a:r>
                        <a:rPr sz="1800" spc="-15" dirty="0">
                          <a:latin typeface="Calibri"/>
                          <a:cs typeface="Calibri"/>
                        </a:rPr>
                        <a:t>reference</a:t>
                      </a:r>
                      <a:r>
                        <a:rPr sz="1800" spc="15" dirty="0">
                          <a:latin typeface="Calibri"/>
                          <a:cs typeface="Calibri"/>
                        </a:rPr>
                        <a:t> </a:t>
                      </a:r>
                      <a:r>
                        <a:rPr sz="1800" spc="-15" dirty="0">
                          <a:latin typeface="Calibri"/>
                          <a:cs typeface="Calibri"/>
                        </a:rPr>
                        <a:t>to</a:t>
                      </a:r>
                      <a:r>
                        <a:rPr sz="1800" spc="-5" dirty="0">
                          <a:latin typeface="Calibri"/>
                          <a:cs typeface="Calibri"/>
                        </a:rPr>
                        <a:t> </a:t>
                      </a:r>
                      <a:r>
                        <a:rPr sz="1800" dirty="0">
                          <a:latin typeface="Calibri"/>
                          <a:cs typeface="Calibri"/>
                        </a:rPr>
                        <a:t>the</a:t>
                      </a:r>
                      <a:r>
                        <a:rPr sz="1800" spc="10" dirty="0">
                          <a:latin typeface="Calibri"/>
                          <a:cs typeface="Calibri"/>
                        </a:rPr>
                        <a:t> </a:t>
                      </a:r>
                      <a:r>
                        <a:rPr sz="1800" spc="-5" dirty="0">
                          <a:latin typeface="Calibri"/>
                          <a:cs typeface="Calibri"/>
                        </a:rPr>
                        <a:t>objects, construct</a:t>
                      </a:r>
                      <a:r>
                        <a:rPr sz="1800" dirty="0">
                          <a:latin typeface="Calibri"/>
                          <a:cs typeface="Calibri"/>
                        </a:rPr>
                        <a:t> 3D</a:t>
                      </a:r>
                      <a:r>
                        <a:rPr sz="1800" spc="5" dirty="0">
                          <a:latin typeface="Calibri"/>
                          <a:cs typeface="Calibri"/>
                        </a:rPr>
                        <a:t> </a:t>
                      </a:r>
                      <a:r>
                        <a:rPr sz="1800" spc="-5" dirty="0">
                          <a:latin typeface="Calibri"/>
                          <a:cs typeface="Calibri"/>
                        </a:rPr>
                        <a:t>images,</a:t>
                      </a:r>
                      <a:r>
                        <a:rPr sz="1800" spc="10" dirty="0">
                          <a:latin typeface="Calibri"/>
                          <a:cs typeface="Calibri"/>
                        </a:rPr>
                        <a:t> </a:t>
                      </a:r>
                      <a:r>
                        <a:rPr sz="1800" dirty="0">
                          <a:latin typeface="Calibri"/>
                          <a:cs typeface="Calibri"/>
                        </a:rPr>
                        <a:t>and</a:t>
                      </a:r>
                      <a:r>
                        <a:rPr sz="1800" spc="5" dirty="0">
                          <a:latin typeface="Calibri"/>
                          <a:cs typeface="Calibri"/>
                        </a:rPr>
                        <a:t> </a:t>
                      </a:r>
                      <a:r>
                        <a:rPr sz="1800" spc="-15" dirty="0">
                          <a:latin typeface="Calibri"/>
                          <a:cs typeface="Calibri"/>
                        </a:rPr>
                        <a:t>to</a:t>
                      </a:r>
                      <a:r>
                        <a:rPr sz="1800" spc="-5" dirty="0">
                          <a:latin typeface="Calibri"/>
                          <a:cs typeface="Calibri"/>
                        </a:rPr>
                        <a:t> move</a:t>
                      </a:r>
                      <a:r>
                        <a:rPr sz="1800" dirty="0">
                          <a:latin typeface="Calibri"/>
                          <a:cs typeface="Calibri"/>
                        </a:rPr>
                        <a:t> and</a:t>
                      </a:r>
                    </a:p>
                    <a:p>
                      <a:pPr algn="ctr">
                        <a:lnSpc>
                          <a:spcPct val="100000"/>
                        </a:lnSpc>
                        <a:spcBef>
                          <a:spcPts val="325"/>
                        </a:spcBef>
                      </a:pPr>
                      <a:r>
                        <a:rPr sz="1800" spc="-20" dirty="0">
                          <a:latin typeface="Calibri"/>
                          <a:cs typeface="Calibri"/>
                        </a:rPr>
                        <a:t>rotate</a:t>
                      </a:r>
                      <a:r>
                        <a:rPr sz="1800" spc="-30" dirty="0">
                          <a:latin typeface="Calibri"/>
                          <a:cs typeface="Calibri"/>
                        </a:rPr>
                        <a:t> </a:t>
                      </a:r>
                      <a:r>
                        <a:rPr sz="1800" dirty="0">
                          <a:latin typeface="Calibri"/>
                          <a:cs typeface="Calibri"/>
                        </a:rPr>
                        <a:t>them.</a:t>
                      </a:r>
                    </a:p>
                  </a:txBody>
                  <a:tcPr marL="0" marR="0" marT="95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75"/>
                        </a:spcBef>
                      </a:pPr>
                      <a:r>
                        <a:rPr sz="1800" dirty="0">
                          <a:latin typeface="Calibri"/>
                          <a:cs typeface="Calibri"/>
                        </a:rPr>
                        <a:t>Map</a:t>
                      </a:r>
                      <a:r>
                        <a:rPr sz="1800" spc="-30" dirty="0">
                          <a:latin typeface="Calibri"/>
                          <a:cs typeface="Calibri"/>
                        </a:rPr>
                        <a:t> </a:t>
                      </a:r>
                      <a:r>
                        <a:rPr sz="1800" spc="-10" dirty="0">
                          <a:latin typeface="Calibri"/>
                          <a:cs typeface="Calibri"/>
                        </a:rPr>
                        <a:t>readers,</a:t>
                      </a:r>
                      <a:endParaRPr sz="1800">
                        <a:latin typeface="Calibri"/>
                        <a:cs typeface="Calibri"/>
                      </a:endParaRPr>
                    </a:p>
                    <a:p>
                      <a:pPr algn="ctr">
                        <a:lnSpc>
                          <a:spcPct val="100000"/>
                        </a:lnSpc>
                        <a:spcBef>
                          <a:spcPts val="325"/>
                        </a:spcBef>
                      </a:pPr>
                      <a:r>
                        <a:rPr sz="1800" spc="-10" dirty="0">
                          <a:latin typeface="Calibri"/>
                          <a:cs typeface="Calibri"/>
                        </a:rPr>
                        <a:t>Astronauts,</a:t>
                      </a:r>
                      <a:endParaRPr sz="1800">
                        <a:latin typeface="Calibri"/>
                        <a:cs typeface="Calibri"/>
                      </a:endParaRPr>
                    </a:p>
                    <a:p>
                      <a:pPr marL="1270" algn="ctr">
                        <a:lnSpc>
                          <a:spcPct val="100000"/>
                        </a:lnSpc>
                        <a:spcBef>
                          <a:spcPts val="325"/>
                        </a:spcBef>
                      </a:pPr>
                      <a:r>
                        <a:rPr sz="1800" spc="-10" dirty="0">
                          <a:latin typeface="Calibri"/>
                          <a:cs typeface="Calibri"/>
                        </a:rPr>
                        <a:t>Physicists</a:t>
                      </a:r>
                      <a:endParaRPr sz="1800">
                        <a:latin typeface="Calibri"/>
                        <a:cs typeface="Calibri"/>
                      </a:endParaRPr>
                    </a:p>
                  </a:txBody>
                  <a:tcPr marL="0" marR="0" marT="95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r h="614552">
                <a:tc>
                  <a:txBody>
                    <a:bodyPr/>
                    <a:lstStyle/>
                    <a:p>
                      <a:pPr marL="638175" marR="351790" indent="-279400" algn="ctr">
                        <a:lnSpc>
                          <a:spcPct val="114999"/>
                        </a:lnSpc>
                        <a:spcBef>
                          <a:spcPts val="45"/>
                        </a:spcBef>
                      </a:pPr>
                      <a:r>
                        <a:rPr sz="1600" b="1" dirty="0">
                          <a:solidFill>
                            <a:srgbClr val="FFFFFF"/>
                          </a:solidFill>
                          <a:latin typeface="Calibri"/>
                          <a:cs typeface="Calibri"/>
                        </a:rPr>
                        <a:t>Bodil</a:t>
                      </a:r>
                      <a:r>
                        <a:rPr sz="1600" b="1" spc="-5" dirty="0">
                          <a:solidFill>
                            <a:srgbClr val="FFFFFF"/>
                          </a:solidFill>
                          <a:latin typeface="Calibri"/>
                          <a:cs typeface="Calibri"/>
                        </a:rPr>
                        <a:t>y</a:t>
                      </a:r>
                      <a:r>
                        <a:rPr sz="1600" b="1" dirty="0">
                          <a:solidFill>
                            <a:srgbClr val="FFFFFF"/>
                          </a:solidFill>
                          <a:latin typeface="Calibri"/>
                          <a:cs typeface="Calibri"/>
                        </a:rPr>
                        <a:t>-Ki</a:t>
                      </a:r>
                      <a:r>
                        <a:rPr sz="1600" b="1" spc="-10" dirty="0">
                          <a:solidFill>
                            <a:srgbClr val="FFFFFF"/>
                          </a:solidFill>
                          <a:latin typeface="Calibri"/>
                          <a:cs typeface="Calibri"/>
                        </a:rPr>
                        <a:t>n</a:t>
                      </a:r>
                      <a:r>
                        <a:rPr sz="1600" b="1" spc="-5" dirty="0">
                          <a:solidFill>
                            <a:srgbClr val="FFFFFF"/>
                          </a:solidFill>
                          <a:latin typeface="Calibri"/>
                          <a:cs typeface="Calibri"/>
                        </a:rPr>
                        <a:t>e</a:t>
                      </a:r>
                      <a:r>
                        <a:rPr sz="1600" b="1" spc="-25" dirty="0">
                          <a:solidFill>
                            <a:srgbClr val="FFFFFF"/>
                          </a:solidFill>
                          <a:latin typeface="Calibri"/>
                          <a:cs typeface="Calibri"/>
                        </a:rPr>
                        <a:t>s</a:t>
                      </a:r>
                      <a:r>
                        <a:rPr sz="1600" b="1" dirty="0">
                          <a:solidFill>
                            <a:srgbClr val="FFFFFF"/>
                          </a:solidFill>
                          <a:latin typeface="Calibri"/>
                          <a:cs typeface="Calibri"/>
                        </a:rPr>
                        <a:t>t</a:t>
                      </a:r>
                      <a:r>
                        <a:rPr sz="1600" b="1" spc="-10" dirty="0">
                          <a:solidFill>
                            <a:srgbClr val="FFFFFF"/>
                          </a:solidFill>
                          <a:latin typeface="Calibri"/>
                          <a:cs typeface="Calibri"/>
                        </a:rPr>
                        <a:t>h</a:t>
                      </a:r>
                      <a:r>
                        <a:rPr sz="1600" b="1" spc="-20" dirty="0">
                          <a:solidFill>
                            <a:srgbClr val="FFFFFF"/>
                          </a:solidFill>
                          <a:latin typeface="Calibri"/>
                          <a:cs typeface="Calibri"/>
                        </a:rPr>
                        <a:t>e</a:t>
                      </a:r>
                      <a:r>
                        <a:rPr sz="1600" b="1" dirty="0">
                          <a:solidFill>
                            <a:srgbClr val="FFFFFF"/>
                          </a:solidFill>
                          <a:latin typeface="Calibri"/>
                          <a:cs typeface="Calibri"/>
                        </a:rPr>
                        <a:t>t</a:t>
                      </a:r>
                      <a:r>
                        <a:rPr sz="1600" b="1" spc="-10" dirty="0">
                          <a:solidFill>
                            <a:srgbClr val="FFFFFF"/>
                          </a:solidFill>
                          <a:latin typeface="Calibri"/>
                          <a:cs typeface="Calibri"/>
                        </a:rPr>
                        <a:t>i</a:t>
                      </a:r>
                      <a:r>
                        <a:rPr sz="1600" b="1" dirty="0">
                          <a:solidFill>
                            <a:srgbClr val="FFFFFF"/>
                          </a:solidFill>
                          <a:latin typeface="Calibri"/>
                          <a:cs typeface="Calibri"/>
                        </a:rPr>
                        <a:t>c  </a:t>
                      </a:r>
                      <a:r>
                        <a:rPr sz="1600" b="1" spc="-10" dirty="0">
                          <a:solidFill>
                            <a:srgbClr val="FFFFFF"/>
                          </a:solidFill>
                          <a:latin typeface="Calibri"/>
                          <a:cs typeface="Calibri"/>
                        </a:rPr>
                        <a:t>intelligence</a:t>
                      </a:r>
                      <a:endParaRPr sz="1600" dirty="0">
                        <a:latin typeface="Calibri"/>
                        <a:cs typeface="Calibri"/>
                      </a:endParaRPr>
                    </a:p>
                  </a:txBody>
                  <a:tcPr marL="0" marR="0" marT="57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4471C4"/>
                    </a:solidFill>
                  </a:tcPr>
                </a:tc>
                <a:tc>
                  <a:txBody>
                    <a:bodyPr/>
                    <a:lstStyle/>
                    <a:p>
                      <a:pPr algn="ctr">
                        <a:lnSpc>
                          <a:spcPct val="100000"/>
                        </a:lnSpc>
                        <a:spcBef>
                          <a:spcPts val="75"/>
                        </a:spcBef>
                      </a:pPr>
                      <a:r>
                        <a:rPr sz="1800" spc="-5" dirty="0">
                          <a:latin typeface="Calibri"/>
                          <a:cs typeface="Calibri"/>
                        </a:rPr>
                        <a:t>The</a:t>
                      </a:r>
                      <a:r>
                        <a:rPr sz="1800" dirty="0">
                          <a:latin typeface="Calibri"/>
                          <a:cs typeface="Calibri"/>
                        </a:rPr>
                        <a:t> ability</a:t>
                      </a:r>
                      <a:r>
                        <a:rPr sz="1800" spc="-5" dirty="0">
                          <a:latin typeface="Calibri"/>
                          <a:cs typeface="Calibri"/>
                        </a:rPr>
                        <a:t> </a:t>
                      </a:r>
                      <a:r>
                        <a:rPr sz="1800" spc="-15" dirty="0">
                          <a:latin typeface="Calibri"/>
                          <a:cs typeface="Calibri"/>
                        </a:rPr>
                        <a:t>to</a:t>
                      </a:r>
                      <a:r>
                        <a:rPr sz="1800" spc="5" dirty="0">
                          <a:latin typeface="Calibri"/>
                          <a:cs typeface="Calibri"/>
                        </a:rPr>
                        <a:t> </a:t>
                      </a:r>
                      <a:r>
                        <a:rPr sz="1800" spc="-5" dirty="0">
                          <a:latin typeface="Calibri"/>
                          <a:cs typeface="Calibri"/>
                        </a:rPr>
                        <a:t>use </a:t>
                      </a:r>
                      <a:r>
                        <a:rPr sz="1800" spc="-10" dirty="0">
                          <a:latin typeface="Calibri"/>
                          <a:cs typeface="Calibri"/>
                        </a:rPr>
                        <a:t>complete</a:t>
                      </a:r>
                      <a:r>
                        <a:rPr sz="1800" spc="20" dirty="0">
                          <a:latin typeface="Calibri"/>
                          <a:cs typeface="Calibri"/>
                        </a:rPr>
                        <a:t> </a:t>
                      </a:r>
                      <a:r>
                        <a:rPr sz="1800" spc="-5" dirty="0">
                          <a:latin typeface="Calibri"/>
                          <a:cs typeface="Calibri"/>
                        </a:rPr>
                        <a:t>or </a:t>
                      </a:r>
                      <a:r>
                        <a:rPr sz="1800" dirty="0">
                          <a:latin typeface="Calibri"/>
                          <a:cs typeface="Calibri"/>
                        </a:rPr>
                        <a:t>part</a:t>
                      </a:r>
                      <a:r>
                        <a:rPr sz="1800" spc="-5" dirty="0">
                          <a:latin typeface="Calibri"/>
                          <a:cs typeface="Calibri"/>
                        </a:rPr>
                        <a:t> of</a:t>
                      </a:r>
                      <a:r>
                        <a:rPr sz="1800" dirty="0">
                          <a:latin typeface="Calibri"/>
                          <a:cs typeface="Calibri"/>
                        </a:rPr>
                        <a:t> the</a:t>
                      </a:r>
                      <a:r>
                        <a:rPr sz="1800" spc="5" dirty="0">
                          <a:latin typeface="Calibri"/>
                          <a:cs typeface="Calibri"/>
                        </a:rPr>
                        <a:t> </a:t>
                      </a:r>
                      <a:r>
                        <a:rPr sz="1800" spc="-5" dirty="0">
                          <a:latin typeface="Calibri"/>
                          <a:cs typeface="Calibri"/>
                        </a:rPr>
                        <a:t>body</a:t>
                      </a:r>
                      <a:r>
                        <a:rPr sz="1800" spc="5" dirty="0">
                          <a:latin typeface="Calibri"/>
                          <a:cs typeface="Calibri"/>
                        </a:rPr>
                        <a:t> </a:t>
                      </a:r>
                      <a:r>
                        <a:rPr sz="1800" spc="-15" dirty="0">
                          <a:latin typeface="Calibri"/>
                          <a:cs typeface="Calibri"/>
                        </a:rPr>
                        <a:t>to</a:t>
                      </a:r>
                      <a:r>
                        <a:rPr sz="1800" dirty="0">
                          <a:latin typeface="Calibri"/>
                          <a:cs typeface="Calibri"/>
                        </a:rPr>
                        <a:t> </a:t>
                      </a:r>
                      <a:r>
                        <a:rPr sz="1800" spc="-10" dirty="0">
                          <a:latin typeface="Calibri"/>
                          <a:cs typeface="Calibri"/>
                        </a:rPr>
                        <a:t>solve</a:t>
                      </a:r>
                      <a:r>
                        <a:rPr sz="1800" spc="-5" dirty="0">
                          <a:latin typeface="Calibri"/>
                          <a:cs typeface="Calibri"/>
                        </a:rPr>
                        <a:t> </a:t>
                      </a:r>
                      <a:r>
                        <a:rPr sz="1800" spc="-10" dirty="0">
                          <a:latin typeface="Calibri"/>
                          <a:cs typeface="Calibri"/>
                        </a:rPr>
                        <a:t>problems</a:t>
                      </a:r>
                      <a:r>
                        <a:rPr sz="1800" dirty="0">
                          <a:latin typeface="Calibri"/>
                          <a:cs typeface="Calibri"/>
                        </a:rPr>
                        <a:t> </a:t>
                      </a:r>
                      <a:r>
                        <a:rPr sz="1800" spc="-5" dirty="0">
                          <a:latin typeface="Calibri"/>
                          <a:cs typeface="Calibri"/>
                        </a:rPr>
                        <a:t>or</a:t>
                      </a:r>
                      <a:r>
                        <a:rPr sz="1800" spc="5" dirty="0">
                          <a:latin typeface="Calibri"/>
                          <a:cs typeface="Calibri"/>
                        </a:rPr>
                        <a:t> </a:t>
                      </a:r>
                      <a:r>
                        <a:rPr sz="1800" spc="-5" dirty="0">
                          <a:latin typeface="Calibri"/>
                          <a:cs typeface="Calibri"/>
                        </a:rPr>
                        <a:t>fashion</a:t>
                      </a:r>
                      <a:endParaRPr sz="1800">
                        <a:latin typeface="Calibri"/>
                        <a:cs typeface="Calibri"/>
                      </a:endParaRPr>
                    </a:p>
                    <a:p>
                      <a:pPr algn="ctr">
                        <a:lnSpc>
                          <a:spcPct val="100000"/>
                        </a:lnSpc>
                        <a:spcBef>
                          <a:spcPts val="325"/>
                        </a:spcBef>
                      </a:pPr>
                      <a:r>
                        <a:rPr sz="1800" spc="-10" dirty="0">
                          <a:latin typeface="Calibri"/>
                          <a:cs typeface="Calibri"/>
                        </a:rPr>
                        <a:t>products,</a:t>
                      </a:r>
                      <a:r>
                        <a:rPr sz="1800" dirty="0">
                          <a:latin typeface="Calibri"/>
                          <a:cs typeface="Calibri"/>
                        </a:rPr>
                        <a:t> </a:t>
                      </a:r>
                      <a:r>
                        <a:rPr sz="1800" spc="-15" dirty="0">
                          <a:latin typeface="Calibri"/>
                          <a:cs typeface="Calibri"/>
                        </a:rPr>
                        <a:t>control</a:t>
                      </a:r>
                      <a:r>
                        <a:rPr sz="1800" spc="5" dirty="0">
                          <a:latin typeface="Calibri"/>
                          <a:cs typeface="Calibri"/>
                        </a:rPr>
                        <a:t> </a:t>
                      </a:r>
                      <a:r>
                        <a:rPr sz="1800" spc="-10" dirty="0">
                          <a:latin typeface="Calibri"/>
                          <a:cs typeface="Calibri"/>
                        </a:rPr>
                        <a:t>over</a:t>
                      </a:r>
                      <a:r>
                        <a:rPr sz="1800" spc="5" dirty="0">
                          <a:latin typeface="Calibri"/>
                          <a:cs typeface="Calibri"/>
                        </a:rPr>
                        <a:t> </a:t>
                      </a:r>
                      <a:r>
                        <a:rPr sz="1800" spc="-5" dirty="0">
                          <a:latin typeface="Calibri"/>
                          <a:cs typeface="Calibri"/>
                        </a:rPr>
                        <a:t>fine</a:t>
                      </a:r>
                      <a:r>
                        <a:rPr sz="1800" spc="10" dirty="0">
                          <a:latin typeface="Calibri"/>
                          <a:cs typeface="Calibri"/>
                        </a:rPr>
                        <a:t> </a:t>
                      </a:r>
                      <a:r>
                        <a:rPr sz="1800" dirty="0">
                          <a:latin typeface="Calibri"/>
                          <a:cs typeface="Calibri"/>
                        </a:rPr>
                        <a:t>and</a:t>
                      </a:r>
                      <a:r>
                        <a:rPr sz="1800" spc="15" dirty="0">
                          <a:latin typeface="Calibri"/>
                          <a:cs typeface="Calibri"/>
                        </a:rPr>
                        <a:t> </a:t>
                      </a:r>
                      <a:r>
                        <a:rPr sz="1800" spc="-15" dirty="0">
                          <a:latin typeface="Calibri"/>
                          <a:cs typeface="Calibri"/>
                        </a:rPr>
                        <a:t>coarse</a:t>
                      </a:r>
                      <a:r>
                        <a:rPr sz="1800" spc="-5" dirty="0">
                          <a:latin typeface="Calibri"/>
                          <a:cs typeface="Calibri"/>
                        </a:rPr>
                        <a:t> motor</a:t>
                      </a:r>
                      <a:r>
                        <a:rPr sz="1800" dirty="0">
                          <a:latin typeface="Calibri"/>
                          <a:cs typeface="Calibri"/>
                        </a:rPr>
                        <a:t> </a:t>
                      </a:r>
                      <a:r>
                        <a:rPr sz="1800" spc="-5" dirty="0">
                          <a:latin typeface="Calibri"/>
                          <a:cs typeface="Calibri"/>
                        </a:rPr>
                        <a:t>skills,</a:t>
                      </a:r>
                      <a:r>
                        <a:rPr sz="1800" spc="-10" dirty="0">
                          <a:latin typeface="Calibri"/>
                          <a:cs typeface="Calibri"/>
                        </a:rPr>
                        <a:t> </a:t>
                      </a:r>
                      <a:r>
                        <a:rPr sz="1800" dirty="0">
                          <a:latin typeface="Calibri"/>
                          <a:cs typeface="Calibri"/>
                        </a:rPr>
                        <a:t>and</a:t>
                      </a:r>
                      <a:r>
                        <a:rPr sz="1800" spc="15" dirty="0">
                          <a:latin typeface="Calibri"/>
                          <a:cs typeface="Calibri"/>
                        </a:rPr>
                        <a:t> </a:t>
                      </a:r>
                      <a:r>
                        <a:rPr sz="1800" spc="-5" dirty="0">
                          <a:latin typeface="Calibri"/>
                          <a:cs typeface="Calibri"/>
                        </a:rPr>
                        <a:t>manipulate</a:t>
                      </a:r>
                      <a:r>
                        <a:rPr sz="1800" spc="10" dirty="0">
                          <a:latin typeface="Calibri"/>
                          <a:cs typeface="Calibri"/>
                        </a:rPr>
                        <a:t> </a:t>
                      </a:r>
                      <a:r>
                        <a:rPr sz="1800" dirty="0">
                          <a:latin typeface="Calibri"/>
                          <a:cs typeface="Calibri"/>
                        </a:rPr>
                        <a:t>the</a:t>
                      </a:r>
                      <a:r>
                        <a:rPr sz="1800" spc="10" dirty="0">
                          <a:latin typeface="Calibri"/>
                          <a:cs typeface="Calibri"/>
                        </a:rPr>
                        <a:t> </a:t>
                      </a:r>
                      <a:r>
                        <a:rPr sz="1800" spc="-5" dirty="0">
                          <a:latin typeface="Calibri"/>
                          <a:cs typeface="Calibri"/>
                        </a:rPr>
                        <a:t>objects.</a:t>
                      </a:r>
                      <a:endParaRPr sz="1800">
                        <a:latin typeface="Calibri"/>
                        <a:cs typeface="Calibri"/>
                      </a:endParaRPr>
                    </a:p>
                  </a:txBody>
                  <a:tcPr marL="0" marR="0" marT="95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gn="ctr">
                        <a:lnSpc>
                          <a:spcPct val="100000"/>
                        </a:lnSpc>
                        <a:spcBef>
                          <a:spcPts val="1320"/>
                        </a:spcBef>
                      </a:pPr>
                      <a:r>
                        <a:rPr sz="1800" spc="-15" dirty="0">
                          <a:latin typeface="Calibri"/>
                          <a:cs typeface="Calibri"/>
                        </a:rPr>
                        <a:t>Players,</a:t>
                      </a:r>
                      <a:r>
                        <a:rPr sz="1800" spc="-30" dirty="0">
                          <a:latin typeface="Calibri"/>
                          <a:cs typeface="Calibri"/>
                        </a:rPr>
                        <a:t> </a:t>
                      </a:r>
                      <a:r>
                        <a:rPr sz="1800" spc="-10" dirty="0">
                          <a:latin typeface="Calibri"/>
                          <a:cs typeface="Calibri"/>
                        </a:rPr>
                        <a:t>Dancers</a:t>
                      </a:r>
                      <a:endParaRPr sz="1800">
                        <a:latin typeface="Calibri"/>
                        <a:cs typeface="Calibri"/>
                      </a:endParaRPr>
                    </a:p>
                  </a:txBody>
                  <a:tcPr marL="0" marR="0" marT="167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5"/>
                  </a:ext>
                </a:extLst>
              </a:tr>
              <a:tr h="299084">
                <a:tc>
                  <a:txBody>
                    <a:bodyPr/>
                    <a:lstStyle/>
                    <a:p>
                      <a:pPr algn="ctr">
                        <a:lnSpc>
                          <a:spcPct val="100000"/>
                        </a:lnSpc>
                        <a:spcBef>
                          <a:spcPts val="200"/>
                        </a:spcBef>
                      </a:pPr>
                      <a:r>
                        <a:rPr sz="1600" b="1" spc="-10" dirty="0">
                          <a:solidFill>
                            <a:srgbClr val="FFFFFF"/>
                          </a:solidFill>
                          <a:latin typeface="Calibri"/>
                          <a:cs typeface="Calibri"/>
                        </a:rPr>
                        <a:t>Intra-personal</a:t>
                      </a:r>
                      <a:r>
                        <a:rPr sz="1600" b="1" spc="-25" dirty="0">
                          <a:solidFill>
                            <a:srgbClr val="FFFFFF"/>
                          </a:solidFill>
                          <a:latin typeface="Calibri"/>
                          <a:cs typeface="Calibri"/>
                        </a:rPr>
                        <a:t> </a:t>
                      </a:r>
                      <a:r>
                        <a:rPr sz="1600" b="1" spc="-10" dirty="0">
                          <a:solidFill>
                            <a:srgbClr val="FFFFFF"/>
                          </a:solidFill>
                          <a:latin typeface="Calibri"/>
                          <a:cs typeface="Calibri"/>
                        </a:rPr>
                        <a:t>intelligence</a:t>
                      </a:r>
                      <a:endParaRPr sz="1600" dirty="0">
                        <a:latin typeface="Calibri"/>
                        <a:cs typeface="Calibri"/>
                      </a:endParaRPr>
                    </a:p>
                  </a:txBody>
                  <a:tcPr marL="0" marR="0" marT="254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4471C4"/>
                    </a:solidFill>
                  </a:tcPr>
                </a:tc>
                <a:tc>
                  <a:txBody>
                    <a:bodyPr/>
                    <a:lstStyle/>
                    <a:p>
                      <a:pPr algn="ctr">
                        <a:lnSpc>
                          <a:spcPct val="100000"/>
                        </a:lnSpc>
                        <a:spcBef>
                          <a:spcPts val="80"/>
                        </a:spcBef>
                      </a:pPr>
                      <a:r>
                        <a:rPr sz="1800" spc="-5" dirty="0">
                          <a:latin typeface="Calibri"/>
                          <a:cs typeface="Calibri"/>
                        </a:rPr>
                        <a:t>The</a:t>
                      </a:r>
                      <a:r>
                        <a:rPr sz="1800" spc="5" dirty="0">
                          <a:latin typeface="Calibri"/>
                          <a:cs typeface="Calibri"/>
                        </a:rPr>
                        <a:t> </a:t>
                      </a:r>
                      <a:r>
                        <a:rPr sz="1800" dirty="0">
                          <a:latin typeface="Calibri"/>
                          <a:cs typeface="Calibri"/>
                        </a:rPr>
                        <a:t>ability </a:t>
                      </a:r>
                      <a:r>
                        <a:rPr sz="1800" spc="-15" dirty="0">
                          <a:latin typeface="Calibri"/>
                          <a:cs typeface="Calibri"/>
                        </a:rPr>
                        <a:t>to</a:t>
                      </a:r>
                      <a:r>
                        <a:rPr sz="1800" spc="10" dirty="0">
                          <a:latin typeface="Calibri"/>
                          <a:cs typeface="Calibri"/>
                        </a:rPr>
                        <a:t> </a:t>
                      </a:r>
                      <a:r>
                        <a:rPr sz="1800" spc="-5" dirty="0">
                          <a:latin typeface="Calibri"/>
                          <a:cs typeface="Calibri"/>
                        </a:rPr>
                        <a:t>distinguish</a:t>
                      </a:r>
                      <a:r>
                        <a:rPr sz="1800" spc="10" dirty="0">
                          <a:latin typeface="Calibri"/>
                          <a:cs typeface="Calibri"/>
                        </a:rPr>
                        <a:t> </a:t>
                      </a:r>
                      <a:r>
                        <a:rPr sz="1800" dirty="0">
                          <a:latin typeface="Calibri"/>
                          <a:cs typeface="Calibri"/>
                        </a:rPr>
                        <a:t>among </a:t>
                      </a:r>
                      <a:r>
                        <a:rPr sz="1800" spc="-25" dirty="0">
                          <a:latin typeface="Calibri"/>
                          <a:cs typeface="Calibri"/>
                        </a:rPr>
                        <a:t>one’s</a:t>
                      </a:r>
                      <a:r>
                        <a:rPr sz="1800" spc="10" dirty="0">
                          <a:latin typeface="Calibri"/>
                          <a:cs typeface="Calibri"/>
                        </a:rPr>
                        <a:t> </a:t>
                      </a:r>
                      <a:r>
                        <a:rPr sz="1800" spc="-5" dirty="0">
                          <a:latin typeface="Calibri"/>
                          <a:cs typeface="Calibri"/>
                        </a:rPr>
                        <a:t>own</a:t>
                      </a:r>
                      <a:r>
                        <a:rPr sz="1800" spc="15" dirty="0">
                          <a:latin typeface="Calibri"/>
                          <a:cs typeface="Calibri"/>
                        </a:rPr>
                        <a:t> </a:t>
                      </a:r>
                      <a:r>
                        <a:rPr sz="1800" spc="-10" dirty="0">
                          <a:latin typeface="Calibri"/>
                          <a:cs typeface="Calibri"/>
                        </a:rPr>
                        <a:t>feelings,</a:t>
                      </a:r>
                      <a:r>
                        <a:rPr sz="1800" spc="15" dirty="0">
                          <a:latin typeface="Calibri"/>
                          <a:cs typeface="Calibri"/>
                        </a:rPr>
                        <a:t> </a:t>
                      </a:r>
                      <a:r>
                        <a:rPr sz="1800" spc="-10" dirty="0">
                          <a:latin typeface="Calibri"/>
                          <a:cs typeface="Calibri"/>
                        </a:rPr>
                        <a:t>intentions,</a:t>
                      </a:r>
                      <a:r>
                        <a:rPr sz="1800" spc="10" dirty="0">
                          <a:latin typeface="Calibri"/>
                          <a:cs typeface="Calibri"/>
                        </a:rPr>
                        <a:t> </a:t>
                      </a:r>
                      <a:r>
                        <a:rPr sz="1800" dirty="0">
                          <a:latin typeface="Calibri"/>
                          <a:cs typeface="Calibri"/>
                        </a:rPr>
                        <a:t>and</a:t>
                      </a:r>
                      <a:r>
                        <a:rPr sz="1800" spc="10" dirty="0">
                          <a:latin typeface="Calibri"/>
                          <a:cs typeface="Calibri"/>
                        </a:rPr>
                        <a:t> </a:t>
                      </a:r>
                      <a:r>
                        <a:rPr sz="1800" spc="-5" dirty="0">
                          <a:latin typeface="Calibri"/>
                          <a:cs typeface="Calibri"/>
                        </a:rPr>
                        <a:t>motivations.</a:t>
                      </a:r>
                      <a:endParaRPr sz="1800">
                        <a:latin typeface="Calibri"/>
                        <a:cs typeface="Calibri"/>
                      </a:endParaRPr>
                    </a:p>
                  </a:txBody>
                  <a:tcPr marL="0" marR="0" marT="101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1270" algn="ctr">
                        <a:lnSpc>
                          <a:spcPct val="100000"/>
                        </a:lnSpc>
                        <a:spcBef>
                          <a:spcPts val="80"/>
                        </a:spcBef>
                      </a:pPr>
                      <a:r>
                        <a:rPr sz="1800" spc="-5" dirty="0">
                          <a:latin typeface="Calibri"/>
                          <a:cs typeface="Calibri"/>
                        </a:rPr>
                        <a:t>Saints</a:t>
                      </a:r>
                      <a:endParaRPr sz="1800">
                        <a:latin typeface="Calibri"/>
                        <a:cs typeface="Calibri"/>
                      </a:endParaRPr>
                    </a:p>
                  </a:txBody>
                  <a:tcPr marL="0" marR="0" marT="101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6"/>
                  </a:ext>
                </a:extLst>
              </a:tr>
              <a:tr h="929944">
                <a:tc>
                  <a:txBody>
                    <a:bodyPr/>
                    <a:lstStyle/>
                    <a:p>
                      <a:pPr algn="ctr">
                        <a:lnSpc>
                          <a:spcPct val="100000"/>
                        </a:lnSpc>
                        <a:spcBef>
                          <a:spcPts val="35"/>
                        </a:spcBef>
                      </a:pPr>
                      <a:endParaRPr sz="2300" dirty="0">
                        <a:latin typeface="Times New Roman"/>
                        <a:cs typeface="Times New Roman"/>
                      </a:endParaRPr>
                    </a:p>
                    <a:p>
                      <a:pPr algn="ctr">
                        <a:lnSpc>
                          <a:spcPct val="100000"/>
                        </a:lnSpc>
                      </a:pPr>
                      <a:r>
                        <a:rPr sz="1600" b="1" spc="-10" dirty="0">
                          <a:solidFill>
                            <a:srgbClr val="FFFFFF"/>
                          </a:solidFill>
                          <a:latin typeface="Calibri"/>
                          <a:cs typeface="Calibri"/>
                        </a:rPr>
                        <a:t>Interpersonal</a:t>
                      </a:r>
                      <a:r>
                        <a:rPr sz="1600" b="1" spc="-25" dirty="0">
                          <a:solidFill>
                            <a:srgbClr val="FFFFFF"/>
                          </a:solidFill>
                          <a:latin typeface="Calibri"/>
                          <a:cs typeface="Calibri"/>
                        </a:rPr>
                        <a:t> </a:t>
                      </a:r>
                      <a:r>
                        <a:rPr sz="1600" b="1" spc="-10" dirty="0">
                          <a:solidFill>
                            <a:srgbClr val="FFFFFF"/>
                          </a:solidFill>
                          <a:latin typeface="Calibri"/>
                          <a:cs typeface="Calibri"/>
                        </a:rPr>
                        <a:t>intelligence</a:t>
                      </a:r>
                      <a:endParaRPr sz="1600" dirty="0">
                        <a:latin typeface="Calibri"/>
                        <a:cs typeface="Calibri"/>
                      </a:endParaRPr>
                    </a:p>
                  </a:txBody>
                  <a:tcPr marL="0" marR="0" marT="44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4471C4"/>
                    </a:solidFill>
                  </a:tcPr>
                </a:tc>
                <a:tc>
                  <a:txBody>
                    <a:bodyPr/>
                    <a:lstStyle/>
                    <a:p>
                      <a:pPr algn="ctr">
                        <a:lnSpc>
                          <a:spcPct val="100000"/>
                        </a:lnSpc>
                        <a:spcBef>
                          <a:spcPts val="1320"/>
                        </a:spcBef>
                      </a:pPr>
                      <a:r>
                        <a:rPr sz="1800" spc="-5" dirty="0">
                          <a:latin typeface="Calibri"/>
                          <a:cs typeface="Calibri"/>
                        </a:rPr>
                        <a:t>The</a:t>
                      </a:r>
                      <a:r>
                        <a:rPr sz="1800" spc="5" dirty="0">
                          <a:latin typeface="Calibri"/>
                          <a:cs typeface="Calibri"/>
                        </a:rPr>
                        <a:t> </a:t>
                      </a:r>
                      <a:r>
                        <a:rPr sz="1800" dirty="0">
                          <a:latin typeface="Calibri"/>
                          <a:cs typeface="Calibri"/>
                        </a:rPr>
                        <a:t>ability </a:t>
                      </a:r>
                      <a:r>
                        <a:rPr sz="1800" spc="-15" dirty="0">
                          <a:latin typeface="Calibri"/>
                          <a:cs typeface="Calibri"/>
                        </a:rPr>
                        <a:t>to</a:t>
                      </a:r>
                      <a:r>
                        <a:rPr sz="1800" spc="10" dirty="0">
                          <a:latin typeface="Calibri"/>
                          <a:cs typeface="Calibri"/>
                        </a:rPr>
                        <a:t> </a:t>
                      </a:r>
                      <a:r>
                        <a:rPr sz="1800" spc="-15" dirty="0">
                          <a:latin typeface="Calibri"/>
                          <a:cs typeface="Calibri"/>
                        </a:rPr>
                        <a:t>recognize</a:t>
                      </a:r>
                      <a:r>
                        <a:rPr sz="1800" spc="20" dirty="0">
                          <a:latin typeface="Calibri"/>
                          <a:cs typeface="Calibri"/>
                        </a:rPr>
                        <a:t> </a:t>
                      </a:r>
                      <a:r>
                        <a:rPr sz="1800" dirty="0">
                          <a:latin typeface="Calibri"/>
                          <a:cs typeface="Calibri"/>
                        </a:rPr>
                        <a:t>and</a:t>
                      </a:r>
                      <a:r>
                        <a:rPr sz="1800" spc="10" dirty="0">
                          <a:latin typeface="Calibri"/>
                          <a:cs typeface="Calibri"/>
                        </a:rPr>
                        <a:t> </a:t>
                      </a:r>
                      <a:r>
                        <a:rPr sz="1800" spc="-15" dirty="0">
                          <a:latin typeface="Calibri"/>
                          <a:cs typeface="Calibri"/>
                        </a:rPr>
                        <a:t>make</a:t>
                      </a:r>
                      <a:r>
                        <a:rPr sz="1800" spc="5" dirty="0">
                          <a:latin typeface="Calibri"/>
                          <a:cs typeface="Calibri"/>
                        </a:rPr>
                        <a:t> </a:t>
                      </a:r>
                      <a:r>
                        <a:rPr sz="1800" spc="-5" dirty="0">
                          <a:latin typeface="Calibri"/>
                          <a:cs typeface="Calibri"/>
                        </a:rPr>
                        <a:t>distinctions</a:t>
                      </a:r>
                      <a:r>
                        <a:rPr sz="1800" spc="5" dirty="0">
                          <a:latin typeface="Calibri"/>
                          <a:cs typeface="Calibri"/>
                        </a:rPr>
                        <a:t> </a:t>
                      </a:r>
                      <a:r>
                        <a:rPr sz="1800" dirty="0">
                          <a:latin typeface="Calibri"/>
                          <a:cs typeface="Calibri"/>
                        </a:rPr>
                        <a:t>among</a:t>
                      </a:r>
                      <a:r>
                        <a:rPr sz="1800" spc="5" dirty="0">
                          <a:latin typeface="Calibri"/>
                          <a:cs typeface="Calibri"/>
                        </a:rPr>
                        <a:t> </a:t>
                      </a:r>
                      <a:r>
                        <a:rPr sz="1800" spc="-5" dirty="0">
                          <a:latin typeface="Calibri"/>
                          <a:cs typeface="Calibri"/>
                        </a:rPr>
                        <a:t>other</a:t>
                      </a:r>
                      <a:r>
                        <a:rPr sz="1800" spc="5" dirty="0">
                          <a:latin typeface="Calibri"/>
                          <a:cs typeface="Calibri"/>
                        </a:rPr>
                        <a:t> </a:t>
                      </a:r>
                      <a:r>
                        <a:rPr sz="1800" spc="-20" dirty="0">
                          <a:latin typeface="Calibri"/>
                          <a:cs typeface="Calibri"/>
                        </a:rPr>
                        <a:t>people’s</a:t>
                      </a:r>
                      <a:r>
                        <a:rPr sz="1800" spc="20" dirty="0">
                          <a:latin typeface="Calibri"/>
                          <a:cs typeface="Calibri"/>
                        </a:rPr>
                        <a:t> </a:t>
                      </a:r>
                      <a:r>
                        <a:rPr sz="1800" spc="-10" dirty="0">
                          <a:latin typeface="Calibri"/>
                          <a:cs typeface="Calibri"/>
                        </a:rPr>
                        <a:t>feelings,</a:t>
                      </a:r>
                      <a:r>
                        <a:rPr sz="1800" spc="15" dirty="0">
                          <a:latin typeface="Calibri"/>
                          <a:cs typeface="Calibri"/>
                        </a:rPr>
                        <a:t> </a:t>
                      </a:r>
                      <a:r>
                        <a:rPr sz="1800" spc="-10" dirty="0">
                          <a:latin typeface="Calibri"/>
                          <a:cs typeface="Calibri"/>
                        </a:rPr>
                        <a:t>beliefs,</a:t>
                      </a:r>
                      <a:endParaRPr sz="1800" dirty="0">
                        <a:latin typeface="Calibri"/>
                        <a:cs typeface="Calibri"/>
                      </a:endParaRPr>
                    </a:p>
                    <a:p>
                      <a:pPr algn="ctr">
                        <a:lnSpc>
                          <a:spcPct val="100000"/>
                        </a:lnSpc>
                        <a:spcBef>
                          <a:spcPts val="320"/>
                        </a:spcBef>
                      </a:pPr>
                      <a:r>
                        <a:rPr sz="1800" dirty="0">
                          <a:latin typeface="Calibri"/>
                          <a:cs typeface="Calibri"/>
                        </a:rPr>
                        <a:t>and</a:t>
                      </a:r>
                      <a:r>
                        <a:rPr sz="1800" spc="-15" dirty="0">
                          <a:latin typeface="Calibri"/>
                          <a:cs typeface="Calibri"/>
                        </a:rPr>
                        <a:t> </a:t>
                      </a:r>
                      <a:r>
                        <a:rPr sz="1800" spc="-10" dirty="0">
                          <a:latin typeface="Calibri"/>
                          <a:cs typeface="Calibri"/>
                        </a:rPr>
                        <a:t>intentions.</a:t>
                      </a:r>
                      <a:endParaRPr sz="1800" dirty="0">
                        <a:latin typeface="Calibri"/>
                        <a:cs typeface="Calibri"/>
                      </a:endParaRPr>
                    </a:p>
                  </a:txBody>
                  <a:tcPr marL="0" marR="0" marT="167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 algn="ctr">
                        <a:lnSpc>
                          <a:spcPct val="100000"/>
                        </a:lnSpc>
                        <a:spcBef>
                          <a:spcPts val="75"/>
                        </a:spcBef>
                      </a:pPr>
                      <a:r>
                        <a:rPr sz="1800" dirty="0">
                          <a:latin typeface="Calibri"/>
                          <a:cs typeface="Calibri"/>
                        </a:rPr>
                        <a:t>Mass</a:t>
                      </a:r>
                    </a:p>
                    <a:p>
                      <a:pPr marL="91440" marR="83185" algn="ctr">
                        <a:lnSpc>
                          <a:spcPct val="114999"/>
                        </a:lnSpc>
                      </a:pPr>
                      <a:r>
                        <a:rPr sz="1800" spc="-5" dirty="0">
                          <a:latin typeface="Calibri"/>
                          <a:cs typeface="Calibri"/>
                        </a:rPr>
                        <a:t>Comm</a:t>
                      </a:r>
                      <a:r>
                        <a:rPr sz="1800" spc="5" dirty="0">
                          <a:latin typeface="Calibri"/>
                          <a:cs typeface="Calibri"/>
                        </a:rPr>
                        <a:t>u</a:t>
                      </a:r>
                      <a:r>
                        <a:rPr sz="1800" spc="-5" dirty="0">
                          <a:latin typeface="Calibri"/>
                          <a:cs typeface="Calibri"/>
                        </a:rPr>
                        <a:t>ni</a:t>
                      </a:r>
                      <a:r>
                        <a:rPr sz="1800" spc="-20" dirty="0">
                          <a:latin typeface="Calibri"/>
                          <a:cs typeface="Calibri"/>
                        </a:rPr>
                        <a:t>ca</a:t>
                      </a:r>
                      <a:r>
                        <a:rPr sz="1800" spc="-25" dirty="0">
                          <a:latin typeface="Calibri"/>
                          <a:cs typeface="Calibri"/>
                        </a:rPr>
                        <a:t>t</a:t>
                      </a:r>
                      <a:r>
                        <a:rPr sz="1800" spc="-5" dirty="0">
                          <a:latin typeface="Calibri"/>
                          <a:cs typeface="Calibri"/>
                        </a:rPr>
                        <a:t>o</a:t>
                      </a:r>
                      <a:r>
                        <a:rPr sz="1800" spc="-30" dirty="0">
                          <a:latin typeface="Calibri"/>
                          <a:cs typeface="Calibri"/>
                        </a:rPr>
                        <a:t>r</a:t>
                      </a:r>
                      <a:r>
                        <a:rPr sz="1800" spc="-5" dirty="0">
                          <a:latin typeface="Calibri"/>
                          <a:cs typeface="Calibri"/>
                        </a:rPr>
                        <a:t>s,  </a:t>
                      </a:r>
                      <a:r>
                        <a:rPr sz="1800" spc="-10" dirty="0">
                          <a:latin typeface="Calibri"/>
                          <a:cs typeface="Calibri"/>
                        </a:rPr>
                        <a:t>Interviewers</a:t>
                      </a:r>
                      <a:endParaRPr sz="1800" dirty="0">
                        <a:latin typeface="Calibri"/>
                        <a:cs typeface="Calibri"/>
                      </a:endParaRPr>
                    </a:p>
                  </a:txBody>
                  <a:tcPr marL="0" marR="0" marT="95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7228715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AI to Solve the Real World Problems</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lstStyle/>
          <a:p>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9" name="Picture 8">
            <a:extLst>
              <a:ext uri="{FF2B5EF4-FFF2-40B4-BE49-F238E27FC236}">
                <a16:creationId xmlns:a16="http://schemas.microsoft.com/office/drawing/2014/main" id="{3EA317E2-328D-0F73-99FC-397F82B2B75E}"/>
              </a:ext>
            </a:extLst>
          </p:cNvPr>
          <p:cNvPicPr>
            <a:picLocks noChangeAspect="1"/>
          </p:cNvPicPr>
          <p:nvPr/>
        </p:nvPicPr>
        <p:blipFill rotWithShape="1">
          <a:blip r:embed="rId4"/>
          <a:srcRect l="24758" t="15308" r="25264" b="23027"/>
          <a:stretch/>
        </p:blipFill>
        <p:spPr>
          <a:xfrm>
            <a:off x="387225" y="1337341"/>
            <a:ext cx="4958110" cy="3441136"/>
          </a:xfrm>
          <a:prstGeom prst="rect">
            <a:avLst/>
          </a:prstGeom>
        </p:spPr>
      </p:pic>
      <p:pic>
        <p:nvPicPr>
          <p:cNvPr id="1026" name="Picture 2" descr="Artificial Intelligence | Solve real world complex problems - Mantra Labs">
            <a:extLst>
              <a:ext uri="{FF2B5EF4-FFF2-40B4-BE49-F238E27FC236}">
                <a16:creationId xmlns:a16="http://schemas.microsoft.com/office/drawing/2014/main" id="{4D9EF1A0-4E48-74FD-5EDB-A33F3122E9B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16574" y="2169979"/>
            <a:ext cx="6447606" cy="39179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91330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b="0" i="0" dirty="0">
                <a:solidFill>
                  <a:srgbClr val="161616"/>
                </a:solidFill>
                <a:effectLst/>
                <a:latin typeface="IBM Plex Sans" panose="020B0503050203000203" pitchFamily="34" charset="0"/>
              </a:rPr>
              <a:t>What is machine learning?</a:t>
            </a: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lstStyle/>
          <a:p>
            <a:pPr algn="just"/>
            <a:r>
              <a:rPr lang="en-US" dirty="0">
                <a:solidFill>
                  <a:schemeClr val="tx1"/>
                </a:solidFill>
                <a:latin typeface="Bookman Old Style" panose="02050604050505020204" pitchFamily="18" charset="0"/>
              </a:rPr>
              <a:t>Machine learning is a branch of artificial intelligence (AI) and computer science which focuses on the use of data and algorithms to imitate the way that humans learn, gradually improving its accuracy.</a:t>
            </a:r>
          </a:p>
          <a:p>
            <a:pPr algn="just"/>
            <a:r>
              <a:rPr lang="en-US" dirty="0">
                <a:solidFill>
                  <a:schemeClr val="tx1"/>
                </a:solidFill>
                <a:latin typeface="Bookman Old Style" panose="02050604050505020204" pitchFamily="18" charset="0"/>
              </a:rPr>
              <a:t>ML is an important component of the growing field of data science. Through the use of statistical methods, algorithms are trained to make classifications or predictions, and to uncover key insights in data mining projects. These insights subsequently drive decision-making within applications and businesses, ideally impacting key growth metrics. </a:t>
            </a:r>
          </a:p>
          <a:p>
            <a:pPr algn="just"/>
            <a:r>
              <a:rPr lang="en-US" dirty="0">
                <a:solidFill>
                  <a:schemeClr val="tx1"/>
                </a:solidFill>
                <a:latin typeface="Bookman Old Style" panose="02050604050505020204" pitchFamily="18" charset="0"/>
              </a:rPr>
              <a:t>As big data continues to expand and grow, the market demand for data scientists will increase. They will be required to help identify the most relevant business questions and the data to answer them.</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2645518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73A676-B088-1B3B-2399-9CF5E03DB24B}"/>
              </a:ext>
            </a:extLst>
          </p:cNvPr>
          <p:cNvSpPr>
            <a:spLocks noGrp="1"/>
          </p:cNvSpPr>
          <p:nvPr>
            <p:ph idx="1"/>
          </p:nvPr>
        </p:nvSpPr>
        <p:spPr>
          <a:xfrm>
            <a:off x="2028773" y="855406"/>
            <a:ext cx="8915400" cy="3777622"/>
          </a:xfrm>
        </p:spPr>
        <p:txBody>
          <a:bodyPr/>
          <a:lstStyle/>
          <a:p>
            <a:pPr marL="0" indent="0">
              <a:buNone/>
            </a:pPr>
            <a:r>
              <a:rPr lang="en-US" dirty="0"/>
              <a:t> Machine Learning is the science of getting machines to interpret, process and analyze data in order to solve real-world problems.</a:t>
            </a:r>
          </a:p>
          <a:p>
            <a:pPr marL="0" indent="0">
              <a:buNone/>
            </a:pPr>
            <a:endParaRPr lang="en-US" dirty="0"/>
          </a:p>
          <a:p>
            <a:pPr marL="0" indent="0">
              <a:buNone/>
            </a:pPr>
            <a:r>
              <a:rPr lang="en-US" dirty="0"/>
              <a:t>Under Machine Learning there are three categories:</a:t>
            </a:r>
          </a:p>
          <a:p>
            <a:r>
              <a:rPr lang="en-US" dirty="0"/>
              <a:t>1.Supervised Learning</a:t>
            </a:r>
          </a:p>
          <a:p>
            <a:r>
              <a:rPr lang="en-US" dirty="0"/>
              <a:t>2.Unsupervised Learning</a:t>
            </a:r>
          </a:p>
          <a:p>
            <a:r>
              <a:rPr lang="en-US" dirty="0"/>
              <a:t>3.Reinforcement Learning</a:t>
            </a:r>
          </a:p>
        </p:txBody>
      </p:sp>
    </p:spTree>
    <p:extLst>
      <p:ext uri="{BB962C8B-B14F-4D97-AF65-F5344CB8AC3E}">
        <p14:creationId xmlns:p14="http://schemas.microsoft.com/office/powerpoint/2010/main" val="34819483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Supervised Learning</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40542" y="1174629"/>
            <a:ext cx="10609878" cy="4508742"/>
          </a:xfrm>
        </p:spPr>
        <p:txBody>
          <a:bodyPr/>
          <a:lstStyle/>
          <a:p>
            <a:pPr algn="just"/>
            <a:r>
              <a:rPr lang="en-US" b="0" i="0" dirty="0">
                <a:solidFill>
                  <a:srgbClr val="273239"/>
                </a:solidFill>
                <a:effectLst/>
                <a:latin typeface="Bookman Old Style" panose="02050604050505020204" pitchFamily="18" charset="0"/>
              </a:rPr>
              <a:t>Supervised learning, as the name indicates, has the presence of a supervisor as a teacher. </a:t>
            </a:r>
          </a:p>
          <a:p>
            <a:pPr algn="just"/>
            <a:r>
              <a:rPr lang="en-US" b="0" i="0" dirty="0">
                <a:solidFill>
                  <a:srgbClr val="273239"/>
                </a:solidFill>
                <a:effectLst/>
                <a:latin typeface="Bookman Old Style" panose="02050604050505020204" pitchFamily="18" charset="0"/>
              </a:rPr>
              <a:t>Basically supervised learning is when </a:t>
            </a:r>
            <a:r>
              <a:rPr lang="en-US" b="1" i="0" dirty="0">
                <a:solidFill>
                  <a:srgbClr val="273239"/>
                </a:solidFill>
                <a:effectLst/>
                <a:latin typeface="Bookman Old Style" panose="02050604050505020204" pitchFamily="18" charset="0"/>
              </a:rPr>
              <a:t>we teach or train the machine using data </a:t>
            </a:r>
            <a:r>
              <a:rPr lang="en-US" b="0" i="0" dirty="0">
                <a:solidFill>
                  <a:srgbClr val="273239"/>
                </a:solidFill>
                <a:effectLst/>
                <a:latin typeface="Bookman Old Style" panose="02050604050505020204" pitchFamily="18" charset="0"/>
              </a:rPr>
              <a:t>that is </a:t>
            </a:r>
            <a:r>
              <a:rPr lang="en-US" b="1" i="0" dirty="0">
                <a:solidFill>
                  <a:srgbClr val="273239"/>
                </a:solidFill>
                <a:effectLst/>
                <a:latin typeface="Bookman Old Style" panose="02050604050505020204" pitchFamily="18" charset="0"/>
              </a:rPr>
              <a:t>well-labelled. </a:t>
            </a:r>
            <a:r>
              <a:rPr lang="en-US" b="0" i="0" dirty="0">
                <a:solidFill>
                  <a:srgbClr val="273239"/>
                </a:solidFill>
                <a:effectLst/>
                <a:latin typeface="Bookman Old Style" panose="02050604050505020204" pitchFamily="18" charset="0"/>
              </a:rPr>
              <a:t>Which means some data is already tagged with the correct answer. </a:t>
            </a:r>
          </a:p>
          <a:p>
            <a:pPr algn="just"/>
            <a:r>
              <a:rPr lang="en-US" b="0" i="0" dirty="0">
                <a:solidFill>
                  <a:srgbClr val="273239"/>
                </a:solidFill>
                <a:effectLst/>
                <a:latin typeface="Bookman Old Style" panose="02050604050505020204" pitchFamily="18" charset="0"/>
              </a:rPr>
              <a:t>Then, the machine will be provided with a new set of examples(data) so that the supervised learning algorithm analyses the training data(set of training examples) and produces a correct outcome from labeled data.</a:t>
            </a:r>
            <a:endParaRPr lang="en-US" dirty="0">
              <a:latin typeface="Bookman Old Style" panose="02050604050505020204" pitchFamily="18" charset="0"/>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15834382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Supervised Learning</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40542" y="1174629"/>
            <a:ext cx="10609878" cy="4508742"/>
          </a:xfrm>
        </p:spPr>
        <p:txBody>
          <a:bodyPr/>
          <a:lstStyle/>
          <a:p>
            <a:pPr algn="just"/>
            <a:r>
              <a:rPr lang="en-US" sz="2000" b="1" i="0" dirty="0">
                <a:solidFill>
                  <a:srgbClr val="273239"/>
                </a:solidFill>
                <a:effectLst/>
                <a:latin typeface="Bookman Old Style" panose="02050604050505020204" pitchFamily="18" charset="0"/>
              </a:rPr>
              <a:t>For instance</a:t>
            </a:r>
            <a:r>
              <a:rPr lang="en-US" sz="2000" b="0" i="0" dirty="0">
                <a:solidFill>
                  <a:srgbClr val="273239"/>
                </a:solidFill>
                <a:effectLst/>
                <a:latin typeface="Bookman Old Style" panose="02050604050505020204" pitchFamily="18" charset="0"/>
              </a:rPr>
              <a:t>, suppose you are given a basket filled with different kinds of fruits. Now the first step is to train the machine with all the different fruits one by one like this: </a:t>
            </a:r>
          </a:p>
          <a:p>
            <a:pPr algn="l" fontAlgn="base">
              <a:buFont typeface="Arial" panose="020B0604020202020204" pitchFamily="34" charset="0"/>
              <a:buChar char="•"/>
            </a:pPr>
            <a:r>
              <a:rPr lang="en-US" sz="2000" b="0" i="0" dirty="0">
                <a:solidFill>
                  <a:srgbClr val="273239"/>
                </a:solidFill>
                <a:effectLst/>
                <a:latin typeface="Bookman Old Style" panose="02050604050505020204" pitchFamily="18" charset="0"/>
              </a:rPr>
              <a:t>If the shape of the object is rounded and has a depression at the top, is red in color, then it will be labeled as –</a:t>
            </a:r>
            <a:r>
              <a:rPr lang="en-US" sz="2000" b="1" i="0" dirty="0">
                <a:solidFill>
                  <a:srgbClr val="273239"/>
                </a:solidFill>
                <a:effectLst/>
                <a:latin typeface="Bookman Old Style" panose="02050604050505020204" pitchFamily="18" charset="0"/>
              </a:rPr>
              <a:t>Apple</a:t>
            </a:r>
            <a:r>
              <a:rPr lang="en-US" sz="2000" b="0" i="0" dirty="0">
                <a:solidFill>
                  <a:srgbClr val="273239"/>
                </a:solidFill>
                <a:effectLst/>
                <a:latin typeface="Bookman Old Style" panose="02050604050505020204" pitchFamily="18" charset="0"/>
              </a:rPr>
              <a:t>.</a:t>
            </a:r>
          </a:p>
          <a:p>
            <a:pPr algn="l" fontAlgn="base">
              <a:buFont typeface="Arial" panose="020B0604020202020204" pitchFamily="34" charset="0"/>
              <a:buChar char="•"/>
            </a:pPr>
            <a:r>
              <a:rPr lang="en-US" sz="2000" b="0" i="0" dirty="0">
                <a:solidFill>
                  <a:srgbClr val="273239"/>
                </a:solidFill>
                <a:effectLst/>
                <a:latin typeface="Bookman Old Style" panose="02050604050505020204" pitchFamily="18" charset="0"/>
              </a:rPr>
              <a:t>If the shape of the object is a long curving cylinder having Green-Yellow color, then it will be labeled as –</a:t>
            </a:r>
            <a:r>
              <a:rPr lang="en-US" sz="2000" b="1" i="0" dirty="0">
                <a:solidFill>
                  <a:srgbClr val="273239"/>
                </a:solidFill>
                <a:effectLst/>
                <a:latin typeface="Bookman Old Style" panose="02050604050505020204" pitchFamily="18" charset="0"/>
              </a:rPr>
              <a:t>Banana</a:t>
            </a:r>
            <a:r>
              <a:rPr lang="en-US" sz="2000" b="0" i="0" dirty="0">
                <a:solidFill>
                  <a:srgbClr val="273239"/>
                </a:solidFill>
                <a:effectLst/>
                <a:latin typeface="Bookman Old Style" panose="02050604050505020204" pitchFamily="18" charset="0"/>
              </a:rPr>
              <a:t>.</a:t>
            </a:r>
          </a:p>
          <a:p>
            <a:pPr algn="just"/>
            <a:endParaRPr lang="en-US" dirty="0">
              <a:latin typeface="Bookman Old Style" panose="02050604050505020204" pitchFamily="18" charset="0"/>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1028" name="Picture 4" descr="Lightbox">
            <a:extLst>
              <a:ext uri="{FF2B5EF4-FFF2-40B4-BE49-F238E27FC236}">
                <a16:creationId xmlns:a16="http://schemas.microsoft.com/office/drawing/2014/main" id="{D55D5F02-D99D-A955-77AB-CB775FCD49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7963" y="3429000"/>
            <a:ext cx="3595617" cy="2740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27289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Supervised Learning</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40542" y="1174629"/>
            <a:ext cx="10609878" cy="4508742"/>
          </a:xfrm>
        </p:spPr>
        <p:txBody>
          <a:bodyPr>
            <a:normAutofit/>
          </a:bodyPr>
          <a:lstStyle/>
          <a:p>
            <a:pPr algn="just"/>
            <a:r>
              <a:rPr lang="en-US" b="0" i="0" dirty="0">
                <a:solidFill>
                  <a:schemeClr val="tx1"/>
                </a:solidFill>
                <a:effectLst/>
                <a:latin typeface="Bookman Old Style" panose="02050604050505020204" pitchFamily="18" charset="0"/>
              </a:rPr>
              <a:t>After training the data, you have given a new separate fruit, say Banana from the basket, and asked to identify it. </a:t>
            </a:r>
          </a:p>
          <a:p>
            <a:pPr algn="just" fontAlgn="base"/>
            <a:r>
              <a:rPr lang="en-US" b="0" i="0" dirty="0">
                <a:solidFill>
                  <a:schemeClr val="tx1"/>
                </a:solidFill>
                <a:effectLst/>
                <a:latin typeface="Bookman Old Style" panose="02050604050505020204" pitchFamily="18" charset="0"/>
              </a:rPr>
              <a:t>Since the machine has already learned things from previous data and this time has to use it wisely. It will </a:t>
            </a:r>
            <a:r>
              <a:rPr lang="en-US" b="1" i="0" dirty="0">
                <a:solidFill>
                  <a:schemeClr val="tx1"/>
                </a:solidFill>
                <a:effectLst/>
                <a:latin typeface="Bookman Old Style" panose="02050604050505020204" pitchFamily="18" charset="0"/>
              </a:rPr>
              <a:t>first classify the fruit with its shape and color and would confirm the fruit name as BANANA </a:t>
            </a:r>
            <a:r>
              <a:rPr lang="en-US" b="0" i="0" dirty="0">
                <a:solidFill>
                  <a:schemeClr val="tx1"/>
                </a:solidFill>
                <a:effectLst/>
                <a:latin typeface="Bookman Old Style" panose="02050604050505020204" pitchFamily="18" charset="0"/>
              </a:rPr>
              <a:t>and </a:t>
            </a:r>
            <a:r>
              <a:rPr lang="en-US" b="1" i="0" dirty="0">
                <a:solidFill>
                  <a:schemeClr val="tx1"/>
                </a:solidFill>
                <a:effectLst/>
                <a:latin typeface="Bookman Old Style" panose="02050604050505020204" pitchFamily="18" charset="0"/>
              </a:rPr>
              <a:t>put it in the Banana category</a:t>
            </a:r>
            <a:r>
              <a:rPr lang="en-US" b="0" i="0" dirty="0">
                <a:solidFill>
                  <a:schemeClr val="tx1"/>
                </a:solidFill>
                <a:effectLst/>
                <a:latin typeface="Bookman Old Style" panose="02050604050505020204" pitchFamily="18" charset="0"/>
              </a:rPr>
              <a:t>. Thus the machine learns the things from training data(basket containing fruits) and then applies the knowledge to test data(new fruit). </a:t>
            </a:r>
          </a:p>
          <a:p>
            <a:pPr algn="just" fontAlgn="base"/>
            <a:r>
              <a:rPr lang="en-US" b="0" i="0" dirty="0">
                <a:solidFill>
                  <a:schemeClr val="tx1"/>
                </a:solidFill>
                <a:effectLst/>
                <a:latin typeface="Bookman Old Style" panose="02050604050505020204" pitchFamily="18" charset="0"/>
              </a:rPr>
              <a:t>Supervised learning is classified into two categories of algorithms: </a:t>
            </a:r>
          </a:p>
          <a:p>
            <a:pPr algn="just" fontAlgn="base">
              <a:buFont typeface="Arial" panose="020B0604020202020204" pitchFamily="34" charset="0"/>
              <a:buChar char="•"/>
            </a:pPr>
            <a:r>
              <a:rPr lang="en-US" b="1" i="0" dirty="0">
                <a:solidFill>
                  <a:schemeClr val="tx1"/>
                </a:solidFill>
                <a:effectLst/>
                <a:latin typeface="Bookman Old Style" panose="02050604050505020204" pitchFamily="18" charset="0"/>
              </a:rPr>
              <a:t>Classification</a:t>
            </a:r>
            <a:r>
              <a:rPr lang="en-US" b="0" i="0" dirty="0">
                <a:solidFill>
                  <a:schemeClr val="tx1"/>
                </a:solidFill>
                <a:effectLst/>
                <a:latin typeface="Bookman Old Style" panose="02050604050505020204" pitchFamily="18" charset="0"/>
              </a:rPr>
              <a:t>: A classification problem is when the output variable is a category, such as “Red” or “blue” , “disease” or “no disease”.</a:t>
            </a:r>
          </a:p>
          <a:p>
            <a:pPr algn="just" fontAlgn="base">
              <a:buFont typeface="Arial" panose="020B0604020202020204" pitchFamily="34" charset="0"/>
              <a:buChar char="•"/>
            </a:pPr>
            <a:r>
              <a:rPr lang="en-US" b="1" i="0" dirty="0">
                <a:solidFill>
                  <a:schemeClr val="tx1"/>
                </a:solidFill>
                <a:effectLst/>
                <a:latin typeface="Bookman Old Style" panose="02050604050505020204" pitchFamily="18" charset="0"/>
              </a:rPr>
              <a:t>Regression</a:t>
            </a:r>
            <a:r>
              <a:rPr lang="en-US" b="0" i="0" dirty="0">
                <a:solidFill>
                  <a:schemeClr val="tx1"/>
                </a:solidFill>
                <a:effectLst/>
                <a:latin typeface="Bookman Old Style" panose="02050604050505020204" pitchFamily="18" charset="0"/>
              </a:rPr>
              <a:t>: A regression problem is when the output variable is a real value, such as “dollars” or “weight”.</a:t>
            </a:r>
          </a:p>
          <a:p>
            <a:pPr algn="just"/>
            <a:endParaRPr lang="en-US" dirty="0">
              <a:solidFill>
                <a:schemeClr val="tx1"/>
              </a:solidFill>
              <a:latin typeface="Bookman Old Style" panose="02050604050505020204" pitchFamily="18" charset="0"/>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7389197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grpSp>
        <p:nvGrpSpPr>
          <p:cNvPr id="15" name="Group 14">
            <a:extLst>
              <a:ext uri="{FF2B5EF4-FFF2-40B4-BE49-F238E27FC236}">
                <a16:creationId xmlns:a16="http://schemas.microsoft.com/office/drawing/2014/main" id="{1F199380-CFD2-63D7-37B5-51B535B09BA3}"/>
              </a:ext>
            </a:extLst>
          </p:cNvPr>
          <p:cNvGrpSpPr/>
          <p:nvPr/>
        </p:nvGrpSpPr>
        <p:grpSpPr>
          <a:xfrm>
            <a:off x="1710863" y="285046"/>
            <a:ext cx="8128000" cy="6034511"/>
            <a:chOff x="3950348" y="655323"/>
            <a:chExt cx="8128000" cy="6034511"/>
          </a:xfrm>
        </p:grpSpPr>
        <p:graphicFrame>
          <p:nvGraphicFramePr>
            <p:cNvPr id="8" name="Diagram 7">
              <a:extLst>
                <a:ext uri="{FF2B5EF4-FFF2-40B4-BE49-F238E27FC236}">
                  <a16:creationId xmlns:a16="http://schemas.microsoft.com/office/drawing/2014/main" id="{4E3BEA60-CB16-4AF3-9A62-B6ECA241F50C}"/>
                </a:ext>
              </a:extLst>
            </p:cNvPr>
            <p:cNvGraphicFramePr/>
            <p:nvPr>
              <p:extLst>
                <p:ext uri="{D42A27DB-BD31-4B8C-83A1-F6EECF244321}">
                  <p14:modId xmlns:p14="http://schemas.microsoft.com/office/powerpoint/2010/main" val="2045348154"/>
                </p:ext>
              </p:extLst>
            </p:nvPr>
          </p:nvGraphicFramePr>
          <p:xfrm>
            <a:off x="3950348" y="655323"/>
            <a:ext cx="8128000"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9" name="Group 8">
              <a:extLst>
                <a:ext uri="{FF2B5EF4-FFF2-40B4-BE49-F238E27FC236}">
                  <a16:creationId xmlns:a16="http://schemas.microsoft.com/office/drawing/2014/main" id="{3425B762-37CC-0081-E6FF-8A83A8BB7178}"/>
                </a:ext>
              </a:extLst>
            </p:cNvPr>
            <p:cNvGrpSpPr/>
            <p:nvPr/>
          </p:nvGrpSpPr>
          <p:grpSpPr>
            <a:xfrm>
              <a:off x="5988799" y="6073990"/>
              <a:ext cx="4064000" cy="615844"/>
              <a:chOff x="0" y="4775089"/>
              <a:chExt cx="4064000" cy="615844"/>
            </a:xfrm>
          </p:grpSpPr>
          <p:sp>
            <p:nvSpPr>
              <p:cNvPr id="13" name="Rectangle 12">
                <a:extLst>
                  <a:ext uri="{FF2B5EF4-FFF2-40B4-BE49-F238E27FC236}">
                    <a16:creationId xmlns:a16="http://schemas.microsoft.com/office/drawing/2014/main" id="{AB2E2997-1D99-B591-31B9-572CF614FAE4}"/>
                  </a:ext>
                </a:extLst>
              </p:cNvPr>
              <p:cNvSpPr/>
              <p:nvPr/>
            </p:nvSpPr>
            <p:spPr>
              <a:xfrm>
                <a:off x="0" y="4775089"/>
                <a:ext cx="4064000" cy="615844"/>
              </a:xfrm>
              <a:prstGeom prst="rect">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4" name="TextBox 13">
                <a:extLst>
                  <a:ext uri="{FF2B5EF4-FFF2-40B4-BE49-F238E27FC236}">
                    <a16:creationId xmlns:a16="http://schemas.microsoft.com/office/drawing/2014/main" id="{8751C237-6D71-95D9-D813-A57472BE9960}"/>
                  </a:ext>
                </a:extLst>
              </p:cNvPr>
              <p:cNvSpPr txBox="1"/>
              <p:nvPr/>
            </p:nvSpPr>
            <p:spPr>
              <a:xfrm>
                <a:off x="0" y="4775089"/>
                <a:ext cx="4064000" cy="615844"/>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63576" tIns="29210" rIns="163576" bIns="29210" numCol="1" spcCol="1270" anchor="ctr" anchorCtr="0">
                <a:noAutofit/>
              </a:bodyPr>
              <a:lstStyle/>
              <a:p>
                <a:pPr algn="l" fontAlgn="base">
                  <a:buFont typeface="Arial" panose="020B0604020202020204" pitchFamily="34" charset="0"/>
                  <a:buChar char="•"/>
                </a:pPr>
                <a:r>
                  <a:rPr lang="en-US" sz="2400" b="0" i="0" dirty="0">
                    <a:solidFill>
                      <a:srgbClr val="273239"/>
                    </a:solidFill>
                    <a:effectLst/>
                    <a:latin typeface="Nunito" pitchFamily="2" charset="0"/>
                  </a:rPr>
                  <a:t>Support Vector Machine</a:t>
                </a:r>
              </a:p>
            </p:txBody>
          </p:sp>
        </p:grpSp>
      </p:grpSp>
    </p:spTree>
    <p:extLst>
      <p:ext uri="{BB962C8B-B14F-4D97-AF65-F5344CB8AC3E}">
        <p14:creationId xmlns:p14="http://schemas.microsoft.com/office/powerpoint/2010/main" val="28649206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Supervised Learning</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40542" y="1174629"/>
            <a:ext cx="10609878" cy="4508742"/>
          </a:xfrm>
        </p:spPr>
        <p:txBody>
          <a:bodyPr/>
          <a:lstStyle/>
          <a:p>
            <a:pPr marL="0" indent="0" algn="just">
              <a:buNone/>
            </a:pPr>
            <a:r>
              <a:rPr lang="en-US" b="1" dirty="0">
                <a:latin typeface="Bookman Old Style" panose="02050604050505020204" pitchFamily="18" charset="0"/>
              </a:rPr>
              <a:t>Advantages:-</a:t>
            </a:r>
          </a:p>
          <a:p>
            <a:pPr algn="just"/>
            <a:r>
              <a:rPr lang="en-US" dirty="0">
                <a:latin typeface="Bookman Old Style" panose="02050604050505020204" pitchFamily="18" charset="0"/>
              </a:rPr>
              <a:t>Supervised learning allows collecting data and produces data output from previous experiences.</a:t>
            </a:r>
          </a:p>
          <a:p>
            <a:pPr algn="just"/>
            <a:r>
              <a:rPr lang="en-US" dirty="0">
                <a:latin typeface="Bookman Old Style" panose="02050604050505020204" pitchFamily="18" charset="0"/>
              </a:rPr>
              <a:t>Helps to optimize performance criteria with the help of experience.</a:t>
            </a:r>
          </a:p>
          <a:p>
            <a:pPr algn="just"/>
            <a:r>
              <a:rPr lang="en-US" dirty="0">
                <a:latin typeface="Bookman Old Style" panose="02050604050505020204" pitchFamily="18" charset="0"/>
              </a:rPr>
              <a:t>Supervised machine learning helps to solve various types of real-world computation problems.</a:t>
            </a:r>
          </a:p>
          <a:p>
            <a:pPr algn="just"/>
            <a:r>
              <a:rPr lang="en-US" dirty="0">
                <a:latin typeface="Bookman Old Style" panose="02050604050505020204" pitchFamily="18" charset="0"/>
              </a:rPr>
              <a:t>It performs classification and regression tasks.</a:t>
            </a:r>
          </a:p>
          <a:p>
            <a:pPr algn="just"/>
            <a:r>
              <a:rPr lang="en-US" dirty="0">
                <a:latin typeface="Bookman Old Style" panose="02050604050505020204" pitchFamily="18" charset="0"/>
              </a:rPr>
              <a:t>It allows estimating or mapping the result to a new sample. </a:t>
            </a:r>
          </a:p>
          <a:p>
            <a:pPr algn="just"/>
            <a:r>
              <a:rPr lang="en-US" dirty="0">
                <a:latin typeface="Bookman Old Style" panose="02050604050505020204" pitchFamily="18" charset="0"/>
              </a:rPr>
              <a:t>We have complete control over choosing the number of classes we want in the training data.</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25894565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Supervised Learning</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40542" y="1174629"/>
            <a:ext cx="10609878" cy="4508742"/>
          </a:xfrm>
        </p:spPr>
        <p:txBody>
          <a:bodyPr/>
          <a:lstStyle/>
          <a:p>
            <a:pPr marL="0" indent="0" algn="just">
              <a:buNone/>
            </a:pPr>
            <a:r>
              <a:rPr lang="en-US" b="1" dirty="0">
                <a:latin typeface="Bookman Old Style" panose="02050604050505020204" pitchFamily="18" charset="0"/>
              </a:rPr>
              <a:t>Disadvantages:-</a:t>
            </a:r>
          </a:p>
          <a:p>
            <a:pPr algn="just"/>
            <a:r>
              <a:rPr lang="en-US" dirty="0">
                <a:latin typeface="Bookman Old Style" panose="02050604050505020204" pitchFamily="18" charset="0"/>
              </a:rPr>
              <a:t>Classifying big data can be challenging.</a:t>
            </a:r>
          </a:p>
          <a:p>
            <a:pPr algn="just"/>
            <a:r>
              <a:rPr lang="en-US" dirty="0">
                <a:latin typeface="Bookman Old Style" panose="02050604050505020204" pitchFamily="18" charset="0"/>
              </a:rPr>
              <a:t>Training for supervised learning needs a lot of computation time. So, it requires a lot of time.</a:t>
            </a:r>
          </a:p>
          <a:p>
            <a:pPr algn="just"/>
            <a:r>
              <a:rPr lang="en-US" dirty="0">
                <a:latin typeface="Bookman Old Style" panose="02050604050505020204" pitchFamily="18" charset="0"/>
              </a:rPr>
              <a:t>Supervised learning cannot handle all complex tasks in Machine Learning.</a:t>
            </a:r>
          </a:p>
          <a:p>
            <a:pPr algn="just"/>
            <a:r>
              <a:rPr lang="en-US" dirty="0">
                <a:latin typeface="Bookman Old Style" panose="02050604050505020204" pitchFamily="18" charset="0"/>
              </a:rPr>
              <a:t> Computation time is vast for supervised learning.</a:t>
            </a:r>
          </a:p>
          <a:p>
            <a:pPr algn="just"/>
            <a:r>
              <a:rPr lang="en-US" dirty="0">
                <a:latin typeface="Bookman Old Style" panose="02050604050505020204" pitchFamily="18" charset="0"/>
              </a:rPr>
              <a:t>It requires a labelled data set.</a:t>
            </a:r>
          </a:p>
          <a:p>
            <a:pPr algn="just"/>
            <a:r>
              <a:rPr lang="en-US" dirty="0">
                <a:latin typeface="Bookman Old Style" panose="02050604050505020204" pitchFamily="18" charset="0"/>
              </a:rPr>
              <a:t> It requires a training process.</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7994172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Unsupervised Learning</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40542" y="1174629"/>
            <a:ext cx="10609878" cy="4508742"/>
          </a:xfrm>
        </p:spPr>
        <p:txBody>
          <a:bodyPr/>
          <a:lstStyle/>
          <a:p>
            <a:pPr algn="just"/>
            <a:r>
              <a:rPr lang="en-US" dirty="0">
                <a:solidFill>
                  <a:schemeClr val="tx1"/>
                </a:solidFill>
                <a:latin typeface="Bookman Old Style" panose="02050604050505020204" pitchFamily="18" charset="0"/>
              </a:rPr>
              <a:t>Unsupervised learning is the training of a machine using information that is </a:t>
            </a:r>
            <a:r>
              <a:rPr lang="en-US" b="1" dirty="0">
                <a:solidFill>
                  <a:schemeClr val="tx1"/>
                </a:solidFill>
                <a:latin typeface="Bookman Old Style" panose="02050604050505020204" pitchFamily="18" charset="0"/>
              </a:rPr>
              <a:t>neither classified nor labeled and allowing the algorithm to act on that information without guidance. </a:t>
            </a:r>
            <a:r>
              <a:rPr lang="en-US" dirty="0">
                <a:solidFill>
                  <a:schemeClr val="tx1"/>
                </a:solidFill>
                <a:latin typeface="Bookman Old Style" panose="02050604050505020204" pitchFamily="18" charset="0"/>
              </a:rPr>
              <a:t>Here the task of the machine is to group unsorted information according to similarities, patterns, and differences without any prior training of data. </a:t>
            </a:r>
          </a:p>
          <a:p>
            <a:pPr algn="just"/>
            <a:r>
              <a:rPr lang="en-US" dirty="0">
                <a:solidFill>
                  <a:schemeClr val="tx1"/>
                </a:solidFill>
                <a:latin typeface="Bookman Old Style" panose="02050604050505020204" pitchFamily="18" charset="0"/>
              </a:rPr>
              <a:t>Unlike supervised learning, no teacher is provided which means no training will be given to the machine. Therefore the machine is restricted to finding the hidden structure in unlabeled data by itself. </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9566872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Unsupervised Learning</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658761" y="1174629"/>
            <a:ext cx="11405419" cy="4508742"/>
          </a:xfrm>
        </p:spPr>
        <p:txBody>
          <a:bodyPr>
            <a:normAutofit/>
          </a:bodyPr>
          <a:lstStyle/>
          <a:p>
            <a:pPr algn="just"/>
            <a:r>
              <a:rPr lang="en-US" b="1" i="0" dirty="0">
                <a:solidFill>
                  <a:schemeClr val="tx1"/>
                </a:solidFill>
                <a:effectLst/>
                <a:latin typeface="Bookman Old Style" panose="02050604050505020204" pitchFamily="18" charset="0"/>
              </a:rPr>
              <a:t>For instance</a:t>
            </a:r>
            <a:r>
              <a:rPr lang="en-US" b="0" i="0" dirty="0">
                <a:solidFill>
                  <a:schemeClr val="tx1"/>
                </a:solidFill>
                <a:effectLst/>
                <a:latin typeface="Bookman Old Style" panose="02050604050505020204" pitchFamily="18" charset="0"/>
              </a:rPr>
              <a:t>, suppose it is given an image having both dogs and cats which it has never seen. </a:t>
            </a:r>
          </a:p>
          <a:p>
            <a:pPr algn="l" fontAlgn="base"/>
            <a:r>
              <a:rPr lang="en-US" b="0" i="0" dirty="0">
                <a:solidFill>
                  <a:schemeClr val="tx1"/>
                </a:solidFill>
                <a:effectLst/>
                <a:latin typeface="Bookman Old Style" panose="02050604050505020204" pitchFamily="18" charset="0"/>
              </a:rPr>
              <a:t>The machine has no idea about the features of dogs and cats, The Machine can’t categorize it as ‘dogs and cats ‘. But it can categorize them according to their similarities, patterns, and differences, i.e., we can easily categorize the above picture into two parts. The first may contain all pics having </a:t>
            </a:r>
            <a:r>
              <a:rPr lang="en-US" b="1" i="0" dirty="0">
                <a:solidFill>
                  <a:schemeClr val="tx1"/>
                </a:solidFill>
                <a:effectLst/>
                <a:latin typeface="Bookman Old Style" panose="02050604050505020204" pitchFamily="18" charset="0"/>
              </a:rPr>
              <a:t>dogs</a:t>
            </a:r>
            <a:r>
              <a:rPr lang="en-US" b="0" i="0" dirty="0">
                <a:solidFill>
                  <a:schemeClr val="tx1"/>
                </a:solidFill>
                <a:effectLst/>
                <a:latin typeface="Bookman Old Style" panose="02050604050505020204" pitchFamily="18" charset="0"/>
              </a:rPr>
              <a:t> in them and the second part may contain all pics having </a:t>
            </a:r>
            <a:r>
              <a:rPr lang="en-US" b="1" i="0" dirty="0">
                <a:solidFill>
                  <a:schemeClr val="tx1"/>
                </a:solidFill>
                <a:effectLst/>
                <a:latin typeface="Bookman Old Style" panose="02050604050505020204" pitchFamily="18" charset="0"/>
              </a:rPr>
              <a:t>cats</a:t>
            </a:r>
            <a:r>
              <a:rPr lang="en-US" b="0" i="0" dirty="0">
                <a:solidFill>
                  <a:schemeClr val="tx1"/>
                </a:solidFill>
                <a:effectLst/>
                <a:latin typeface="Bookman Old Style" panose="02050604050505020204" pitchFamily="18" charset="0"/>
              </a:rPr>
              <a:t> in them. Here you didn’t learn anything before, which means no training data or examples. </a:t>
            </a:r>
          </a:p>
          <a:p>
            <a:pPr algn="l" fontAlgn="base"/>
            <a:r>
              <a:rPr lang="en-US" b="0" i="0" dirty="0">
                <a:solidFill>
                  <a:schemeClr val="tx1"/>
                </a:solidFill>
                <a:effectLst/>
                <a:latin typeface="Bookman Old Style" panose="02050604050505020204" pitchFamily="18" charset="0"/>
              </a:rPr>
              <a:t>It allows the model to work on its own to discover patterns and information that was previously undetected. It mainly deals with </a:t>
            </a:r>
            <a:r>
              <a:rPr lang="en-US" b="0" i="0" dirty="0" err="1">
                <a:solidFill>
                  <a:schemeClr val="tx1"/>
                </a:solidFill>
                <a:effectLst/>
                <a:latin typeface="Bookman Old Style" panose="02050604050505020204" pitchFamily="18" charset="0"/>
              </a:rPr>
              <a:t>unlabelled</a:t>
            </a:r>
            <a:r>
              <a:rPr lang="en-US" b="0" i="0" dirty="0">
                <a:solidFill>
                  <a:schemeClr val="tx1"/>
                </a:solidFill>
                <a:effectLst/>
                <a:latin typeface="Bookman Old Style" panose="02050604050505020204" pitchFamily="18" charset="0"/>
              </a:rPr>
              <a:t> data.</a:t>
            </a:r>
          </a:p>
          <a:p>
            <a:pPr algn="l" fontAlgn="base"/>
            <a:r>
              <a:rPr lang="en-US" b="0" i="0" dirty="0">
                <a:solidFill>
                  <a:schemeClr val="tx1"/>
                </a:solidFill>
                <a:effectLst/>
                <a:latin typeface="Bookman Old Style" panose="02050604050505020204" pitchFamily="18" charset="0"/>
              </a:rPr>
              <a:t>Unsupervised learning is classified into two categories of algorithms: </a:t>
            </a:r>
          </a:p>
          <a:p>
            <a:pPr algn="l" fontAlgn="base">
              <a:buFont typeface="Arial" panose="020B0604020202020204" pitchFamily="34" charset="0"/>
              <a:buChar char="•"/>
            </a:pPr>
            <a:r>
              <a:rPr lang="en-US" b="1" i="0" dirty="0">
                <a:solidFill>
                  <a:schemeClr val="tx1"/>
                </a:solidFill>
                <a:effectLst/>
                <a:latin typeface="Bookman Old Style" panose="02050604050505020204" pitchFamily="18" charset="0"/>
              </a:rPr>
              <a:t>Clustering</a:t>
            </a:r>
            <a:r>
              <a:rPr lang="en-US" b="0" i="0" dirty="0">
                <a:solidFill>
                  <a:schemeClr val="tx1"/>
                </a:solidFill>
                <a:effectLst/>
                <a:latin typeface="Bookman Old Style" panose="02050604050505020204" pitchFamily="18" charset="0"/>
              </a:rPr>
              <a:t>: A clustering problem is where you want to discover the inherent groupings in the data, such as grouping customers by purchasing behavior.</a:t>
            </a:r>
          </a:p>
          <a:p>
            <a:pPr algn="l" fontAlgn="base">
              <a:buFont typeface="Arial" panose="020B0604020202020204" pitchFamily="34" charset="0"/>
              <a:buChar char="•"/>
            </a:pPr>
            <a:r>
              <a:rPr lang="en-US" b="1" i="0" dirty="0">
                <a:solidFill>
                  <a:schemeClr val="tx1"/>
                </a:solidFill>
                <a:effectLst/>
                <a:latin typeface="Bookman Old Style" panose="02050604050505020204" pitchFamily="18" charset="0"/>
              </a:rPr>
              <a:t>Association</a:t>
            </a:r>
            <a:r>
              <a:rPr lang="en-US" b="0" i="0" dirty="0">
                <a:solidFill>
                  <a:schemeClr val="tx1"/>
                </a:solidFill>
                <a:effectLst/>
                <a:latin typeface="Bookman Old Style" panose="02050604050505020204" pitchFamily="18" charset="0"/>
              </a:rPr>
              <a:t>: An association rule learning problem is where you want to discover rules that describe large portions of your data, such as people that buy X also tend to buy Y.</a:t>
            </a:r>
          </a:p>
          <a:p>
            <a:pPr algn="just"/>
            <a:endParaRPr lang="en-US" dirty="0">
              <a:solidFill>
                <a:schemeClr val="tx1"/>
              </a:solidFill>
              <a:latin typeface="Bookman Old Style" panose="02050604050505020204" pitchFamily="18" charset="0"/>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2050" name="Picture 2">
            <a:extLst>
              <a:ext uri="{FF2B5EF4-FFF2-40B4-BE49-F238E27FC236}">
                <a16:creationId xmlns:a16="http://schemas.microsoft.com/office/drawing/2014/main" id="{68F59CD6-915F-4712-4270-90B5B0112FA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0078" t="13630" r="17235" b="2887"/>
          <a:stretch/>
        </p:blipFill>
        <p:spPr bwMode="auto">
          <a:xfrm>
            <a:off x="4499437" y="5487103"/>
            <a:ext cx="2756769" cy="13708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24736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Types Unsupervised Learning</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40542" y="1174629"/>
            <a:ext cx="10609878" cy="4508742"/>
          </a:xfrm>
        </p:spPr>
        <p:txBody>
          <a:bodyPr/>
          <a:lstStyle/>
          <a:p>
            <a:pPr algn="l" fontAlgn="base"/>
            <a:r>
              <a:rPr lang="en-US" b="1" i="0" dirty="0">
                <a:solidFill>
                  <a:srgbClr val="273239"/>
                </a:solidFill>
                <a:effectLst/>
                <a:latin typeface="Bookman Old Style" panose="02050604050505020204" pitchFamily="18" charset="0"/>
              </a:rPr>
              <a:t>Clustering</a:t>
            </a:r>
            <a:endParaRPr lang="en-US" b="0" i="0" dirty="0">
              <a:solidFill>
                <a:srgbClr val="273239"/>
              </a:solidFill>
              <a:effectLst/>
              <a:latin typeface="Bookman Old Style" panose="02050604050505020204" pitchFamily="18" charset="0"/>
            </a:endParaRPr>
          </a:p>
          <a:p>
            <a:pPr algn="l" fontAlgn="base">
              <a:buFont typeface="+mj-lt"/>
              <a:buAutoNum type="arabicPeriod"/>
            </a:pPr>
            <a:r>
              <a:rPr lang="en-US" b="0" i="0" dirty="0">
                <a:solidFill>
                  <a:srgbClr val="273239"/>
                </a:solidFill>
                <a:effectLst/>
                <a:latin typeface="Bookman Old Style" panose="02050604050505020204" pitchFamily="18" charset="0"/>
              </a:rPr>
              <a:t>Exclusive (partitioning)</a:t>
            </a:r>
          </a:p>
          <a:p>
            <a:pPr algn="l" fontAlgn="base">
              <a:buFont typeface="+mj-lt"/>
              <a:buAutoNum type="arabicPeriod"/>
            </a:pPr>
            <a:r>
              <a:rPr lang="en-US" b="0" i="0" dirty="0">
                <a:solidFill>
                  <a:srgbClr val="273239"/>
                </a:solidFill>
                <a:effectLst/>
                <a:latin typeface="Bookman Old Style" panose="02050604050505020204" pitchFamily="18" charset="0"/>
              </a:rPr>
              <a:t>Agglomerative</a:t>
            </a:r>
          </a:p>
          <a:p>
            <a:pPr algn="l" fontAlgn="base">
              <a:buFont typeface="+mj-lt"/>
              <a:buAutoNum type="arabicPeriod"/>
            </a:pPr>
            <a:r>
              <a:rPr lang="en-US" b="0" i="0" dirty="0">
                <a:solidFill>
                  <a:srgbClr val="273239"/>
                </a:solidFill>
                <a:effectLst/>
                <a:latin typeface="Bookman Old Style" panose="02050604050505020204" pitchFamily="18" charset="0"/>
              </a:rPr>
              <a:t>Overlapping</a:t>
            </a:r>
          </a:p>
          <a:p>
            <a:pPr algn="l" fontAlgn="base">
              <a:buFont typeface="+mj-lt"/>
              <a:buAutoNum type="arabicPeriod"/>
            </a:pPr>
            <a:r>
              <a:rPr lang="en-US" b="0" i="0" dirty="0">
                <a:solidFill>
                  <a:srgbClr val="273239"/>
                </a:solidFill>
                <a:effectLst/>
                <a:latin typeface="Bookman Old Style" panose="02050604050505020204" pitchFamily="18" charset="0"/>
              </a:rPr>
              <a:t>Probabilistic</a:t>
            </a:r>
          </a:p>
          <a:p>
            <a:pPr marL="1071563" algn="l" fontAlgn="base"/>
            <a:r>
              <a:rPr lang="en-US" b="1" i="0" dirty="0">
                <a:solidFill>
                  <a:srgbClr val="273239"/>
                </a:solidFill>
                <a:effectLst/>
                <a:latin typeface="Bookman Old Style" panose="02050604050505020204" pitchFamily="18" charset="0"/>
              </a:rPr>
              <a:t>Clustering Types:-</a:t>
            </a:r>
            <a:endParaRPr lang="en-US" b="0" i="0" dirty="0">
              <a:solidFill>
                <a:srgbClr val="273239"/>
              </a:solidFill>
              <a:effectLst/>
              <a:latin typeface="Bookman Old Style" panose="02050604050505020204" pitchFamily="18" charset="0"/>
            </a:endParaRPr>
          </a:p>
          <a:p>
            <a:pPr marL="1071563" algn="l" fontAlgn="base">
              <a:buFont typeface="+mj-lt"/>
              <a:buAutoNum type="arabicPeriod"/>
            </a:pPr>
            <a:r>
              <a:rPr lang="en-US" b="0" i="0" dirty="0">
                <a:solidFill>
                  <a:srgbClr val="273239"/>
                </a:solidFill>
                <a:effectLst/>
                <a:latin typeface="Bookman Old Style" panose="02050604050505020204" pitchFamily="18" charset="0"/>
              </a:rPr>
              <a:t>Hierarchical clustering</a:t>
            </a:r>
          </a:p>
          <a:p>
            <a:pPr marL="1071563" algn="l" fontAlgn="base">
              <a:buFont typeface="+mj-lt"/>
              <a:buAutoNum type="arabicPeriod"/>
            </a:pPr>
            <a:r>
              <a:rPr lang="en-US" b="0" i="0" dirty="0">
                <a:solidFill>
                  <a:srgbClr val="273239"/>
                </a:solidFill>
                <a:effectLst/>
                <a:latin typeface="Bookman Old Style" panose="02050604050505020204" pitchFamily="18" charset="0"/>
              </a:rPr>
              <a:t>K-means clustering</a:t>
            </a:r>
          </a:p>
          <a:p>
            <a:pPr marL="1071563" algn="l" fontAlgn="base">
              <a:buFont typeface="+mj-lt"/>
              <a:buAutoNum type="arabicPeriod"/>
            </a:pPr>
            <a:r>
              <a:rPr lang="en-US" b="0" i="0" dirty="0">
                <a:solidFill>
                  <a:srgbClr val="273239"/>
                </a:solidFill>
                <a:effectLst/>
                <a:latin typeface="Bookman Old Style" panose="02050604050505020204" pitchFamily="18" charset="0"/>
              </a:rPr>
              <a:t>Principal Component Analysis</a:t>
            </a:r>
          </a:p>
          <a:p>
            <a:pPr marL="1071563" algn="l" fontAlgn="base">
              <a:buFont typeface="+mj-lt"/>
              <a:buAutoNum type="arabicPeriod"/>
            </a:pPr>
            <a:r>
              <a:rPr lang="en-US" b="0" i="0" dirty="0">
                <a:solidFill>
                  <a:srgbClr val="273239"/>
                </a:solidFill>
                <a:effectLst/>
                <a:latin typeface="Bookman Old Style" panose="02050604050505020204" pitchFamily="18" charset="0"/>
              </a:rPr>
              <a:t>Singular Value Decomposition</a:t>
            </a:r>
          </a:p>
          <a:p>
            <a:pPr marL="1071563" algn="l" fontAlgn="base">
              <a:buFont typeface="+mj-lt"/>
              <a:buAutoNum type="arabicPeriod"/>
            </a:pPr>
            <a:r>
              <a:rPr lang="en-US" b="0" i="0" dirty="0">
                <a:solidFill>
                  <a:srgbClr val="273239"/>
                </a:solidFill>
                <a:effectLst/>
                <a:latin typeface="Bookman Old Style" panose="02050604050505020204" pitchFamily="18" charset="0"/>
              </a:rPr>
              <a:t>Independent Component Analysis</a:t>
            </a:r>
          </a:p>
          <a:p>
            <a:pPr algn="just"/>
            <a:endParaRPr lang="en-US" dirty="0">
              <a:latin typeface="Bookman Old Style" panose="02050604050505020204" pitchFamily="18" charset="0"/>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15898072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425988" y="129612"/>
            <a:ext cx="8911687" cy="1280890"/>
          </a:xfrm>
        </p:spPr>
        <p:txBody>
          <a:bodyPr/>
          <a:lstStyle/>
          <a:p>
            <a:r>
              <a:rPr lang="en-US" i="0" dirty="0">
                <a:solidFill>
                  <a:srgbClr val="273239"/>
                </a:solidFill>
                <a:effectLst/>
                <a:latin typeface="Bookman Old Style" panose="02050604050505020204" pitchFamily="18" charset="0"/>
              </a:rPr>
              <a:t>Supervised vs. Unsupervised Machine Learning:</a:t>
            </a:r>
            <a:endParaRPr lang="en-US" dirty="0">
              <a:latin typeface="Bookman Old Style" panose="02050604050505020204" pitchFamily="18" charset="0"/>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graphicFrame>
        <p:nvGraphicFramePr>
          <p:cNvPr id="8" name="Table 7">
            <a:extLst>
              <a:ext uri="{FF2B5EF4-FFF2-40B4-BE49-F238E27FC236}">
                <a16:creationId xmlns:a16="http://schemas.microsoft.com/office/drawing/2014/main" id="{4D0AF145-D82F-15DC-1F5C-975532E83C3A}"/>
              </a:ext>
            </a:extLst>
          </p:cNvPr>
          <p:cNvGraphicFramePr>
            <a:graphicFrameLocks noGrp="1"/>
          </p:cNvGraphicFramePr>
          <p:nvPr>
            <p:extLst>
              <p:ext uri="{D42A27DB-BD31-4B8C-83A1-F6EECF244321}">
                <p14:modId xmlns:p14="http://schemas.microsoft.com/office/powerpoint/2010/main" val="483813296"/>
              </p:ext>
            </p:extLst>
          </p:nvPr>
        </p:nvGraphicFramePr>
        <p:xfrm>
          <a:off x="1137399" y="1539240"/>
          <a:ext cx="10346679" cy="5059680"/>
        </p:xfrm>
        <a:graphic>
          <a:graphicData uri="http://schemas.openxmlformats.org/drawingml/2006/table">
            <a:tbl>
              <a:tblPr>
                <a:tableStyleId>{616DA210-FB5B-4158-B5E0-FEB733F419BA}</a:tableStyleId>
              </a:tblPr>
              <a:tblGrid>
                <a:gridCol w="3448893">
                  <a:extLst>
                    <a:ext uri="{9D8B030D-6E8A-4147-A177-3AD203B41FA5}">
                      <a16:colId xmlns:a16="http://schemas.microsoft.com/office/drawing/2014/main" val="2150960272"/>
                    </a:ext>
                  </a:extLst>
                </a:gridCol>
                <a:gridCol w="3448893">
                  <a:extLst>
                    <a:ext uri="{9D8B030D-6E8A-4147-A177-3AD203B41FA5}">
                      <a16:colId xmlns:a16="http://schemas.microsoft.com/office/drawing/2014/main" val="1651855516"/>
                    </a:ext>
                  </a:extLst>
                </a:gridCol>
                <a:gridCol w="3448893">
                  <a:extLst>
                    <a:ext uri="{9D8B030D-6E8A-4147-A177-3AD203B41FA5}">
                      <a16:colId xmlns:a16="http://schemas.microsoft.com/office/drawing/2014/main" val="1118191255"/>
                    </a:ext>
                  </a:extLst>
                </a:gridCol>
              </a:tblGrid>
              <a:tr h="0">
                <a:tc>
                  <a:txBody>
                    <a:bodyPr/>
                    <a:lstStyle/>
                    <a:p>
                      <a:pPr algn="l" fontAlgn="ctr"/>
                      <a:r>
                        <a:rPr lang="en-US" sz="1800" b="1" dirty="0">
                          <a:effectLst/>
                        </a:rPr>
                        <a:t>Parameters</a:t>
                      </a:r>
                      <a:endParaRPr lang="en-US" sz="1800" b="0" dirty="0">
                        <a:effectLst/>
                      </a:endParaRPr>
                    </a:p>
                  </a:txBody>
                  <a:tcPr marL="76200" marR="76200" marT="106680" marB="106680" anchor="ctr"/>
                </a:tc>
                <a:tc>
                  <a:txBody>
                    <a:bodyPr/>
                    <a:lstStyle/>
                    <a:p>
                      <a:pPr algn="l" fontAlgn="ctr"/>
                      <a:r>
                        <a:rPr lang="en-US" sz="1800" b="0" dirty="0">
                          <a:effectLst/>
                        </a:rPr>
                        <a:t> </a:t>
                      </a:r>
                      <a:r>
                        <a:rPr lang="en-US" sz="1800" b="1" dirty="0">
                          <a:effectLst/>
                        </a:rPr>
                        <a:t>Supervised machine learning</a:t>
                      </a:r>
                      <a:endParaRPr lang="en-US" sz="1800" b="0" dirty="0">
                        <a:effectLst/>
                      </a:endParaRPr>
                    </a:p>
                  </a:txBody>
                  <a:tcPr marL="76200" marR="76200" marT="106680" marB="106680" anchor="ctr"/>
                </a:tc>
                <a:tc>
                  <a:txBody>
                    <a:bodyPr/>
                    <a:lstStyle/>
                    <a:p>
                      <a:pPr algn="l" fontAlgn="ctr"/>
                      <a:r>
                        <a:rPr lang="en-US" sz="1800" b="1" dirty="0">
                          <a:effectLst/>
                        </a:rPr>
                        <a:t>Unsupervised machine learning</a:t>
                      </a:r>
                      <a:endParaRPr lang="en-US" sz="1800" b="0" dirty="0">
                        <a:effectLst/>
                      </a:endParaRPr>
                    </a:p>
                  </a:txBody>
                  <a:tcPr marL="76200" marR="76200" marT="106680" marB="106680" anchor="ctr"/>
                </a:tc>
                <a:extLst>
                  <a:ext uri="{0D108BD9-81ED-4DB2-BD59-A6C34878D82A}">
                    <a16:rowId xmlns:a16="http://schemas.microsoft.com/office/drawing/2014/main" val="1307118099"/>
                  </a:ext>
                </a:extLst>
              </a:tr>
              <a:tr h="0">
                <a:tc>
                  <a:txBody>
                    <a:bodyPr/>
                    <a:lstStyle/>
                    <a:p>
                      <a:pPr algn="l" fontAlgn="ctr"/>
                      <a:r>
                        <a:rPr lang="en-US" sz="1800" b="0" dirty="0">
                          <a:effectLst/>
                        </a:rPr>
                        <a:t>Input Data  </a:t>
                      </a:r>
                    </a:p>
                  </a:txBody>
                  <a:tcPr marL="76200" marR="76200" marT="106680" marB="106680" anchor="ctr"/>
                </a:tc>
                <a:tc>
                  <a:txBody>
                    <a:bodyPr/>
                    <a:lstStyle/>
                    <a:p>
                      <a:pPr algn="l" fontAlgn="ctr"/>
                      <a:r>
                        <a:rPr lang="en-US" sz="1800" b="0">
                          <a:effectLst/>
                        </a:rPr>
                        <a:t>Algorithms are trained using labeled data.</a:t>
                      </a:r>
                    </a:p>
                  </a:txBody>
                  <a:tcPr marL="76200" marR="76200" marT="106680" marB="106680" anchor="ctr"/>
                </a:tc>
                <a:tc>
                  <a:txBody>
                    <a:bodyPr/>
                    <a:lstStyle/>
                    <a:p>
                      <a:pPr algn="l" fontAlgn="ctr"/>
                      <a:r>
                        <a:rPr lang="en-US" sz="1800" b="0">
                          <a:effectLst/>
                        </a:rPr>
                        <a:t>Algorithms are used against data that is not labeled</a:t>
                      </a:r>
                    </a:p>
                  </a:txBody>
                  <a:tcPr marL="76200" marR="76200" marT="106680" marB="106680" anchor="ctr"/>
                </a:tc>
                <a:extLst>
                  <a:ext uri="{0D108BD9-81ED-4DB2-BD59-A6C34878D82A}">
                    <a16:rowId xmlns:a16="http://schemas.microsoft.com/office/drawing/2014/main" val="3673369971"/>
                  </a:ext>
                </a:extLst>
              </a:tr>
              <a:tr h="0">
                <a:tc>
                  <a:txBody>
                    <a:bodyPr/>
                    <a:lstStyle/>
                    <a:p>
                      <a:pPr algn="l" fontAlgn="ctr"/>
                      <a:r>
                        <a:rPr lang="en-US" sz="1800" b="0">
                          <a:effectLst/>
                        </a:rPr>
                        <a:t>Computational Complexity </a:t>
                      </a:r>
                    </a:p>
                  </a:txBody>
                  <a:tcPr marL="76200" marR="76200" marT="106680" marB="106680" anchor="ctr"/>
                </a:tc>
                <a:tc>
                  <a:txBody>
                    <a:bodyPr/>
                    <a:lstStyle/>
                    <a:p>
                      <a:pPr algn="l" fontAlgn="ctr"/>
                      <a:r>
                        <a:rPr lang="en-US" sz="1800" b="0">
                          <a:effectLst/>
                        </a:rPr>
                        <a:t> Simpler method</a:t>
                      </a:r>
                    </a:p>
                  </a:txBody>
                  <a:tcPr marL="76200" marR="76200" marT="106680" marB="106680" anchor="ctr"/>
                </a:tc>
                <a:tc>
                  <a:txBody>
                    <a:bodyPr/>
                    <a:lstStyle/>
                    <a:p>
                      <a:pPr algn="l" fontAlgn="ctr"/>
                      <a:r>
                        <a:rPr lang="en-US" sz="1800" b="0">
                          <a:effectLst/>
                        </a:rPr>
                        <a:t> Computationally complex</a:t>
                      </a:r>
                    </a:p>
                  </a:txBody>
                  <a:tcPr marL="76200" marR="76200" marT="106680" marB="106680" anchor="ctr"/>
                </a:tc>
                <a:extLst>
                  <a:ext uri="{0D108BD9-81ED-4DB2-BD59-A6C34878D82A}">
                    <a16:rowId xmlns:a16="http://schemas.microsoft.com/office/drawing/2014/main" val="3948052421"/>
                  </a:ext>
                </a:extLst>
              </a:tr>
              <a:tr h="0">
                <a:tc>
                  <a:txBody>
                    <a:bodyPr/>
                    <a:lstStyle/>
                    <a:p>
                      <a:pPr algn="l" fontAlgn="ctr"/>
                      <a:r>
                        <a:rPr lang="en-US" sz="1800" b="0">
                          <a:effectLst/>
                        </a:rPr>
                        <a:t>Accuracy</a:t>
                      </a:r>
                    </a:p>
                  </a:txBody>
                  <a:tcPr marL="76200" marR="76200" marT="106680" marB="106680" anchor="ctr"/>
                </a:tc>
                <a:tc>
                  <a:txBody>
                    <a:bodyPr/>
                    <a:lstStyle/>
                    <a:p>
                      <a:pPr algn="l" fontAlgn="ctr"/>
                      <a:r>
                        <a:rPr lang="en-US" sz="1800" b="0">
                          <a:effectLst/>
                        </a:rPr>
                        <a:t>Highly accurate</a:t>
                      </a:r>
                    </a:p>
                  </a:txBody>
                  <a:tcPr marL="76200" marR="76200" marT="106680" marB="106680" anchor="ctr"/>
                </a:tc>
                <a:tc>
                  <a:txBody>
                    <a:bodyPr/>
                    <a:lstStyle/>
                    <a:p>
                      <a:pPr algn="l" fontAlgn="ctr"/>
                      <a:r>
                        <a:rPr lang="en-US" sz="1800" b="0">
                          <a:effectLst/>
                        </a:rPr>
                        <a:t>Less accurate </a:t>
                      </a:r>
                    </a:p>
                  </a:txBody>
                  <a:tcPr marL="76200" marR="76200" marT="106680" marB="106680" anchor="ctr"/>
                </a:tc>
                <a:extLst>
                  <a:ext uri="{0D108BD9-81ED-4DB2-BD59-A6C34878D82A}">
                    <a16:rowId xmlns:a16="http://schemas.microsoft.com/office/drawing/2014/main" val="1238093068"/>
                  </a:ext>
                </a:extLst>
              </a:tr>
              <a:tr h="0">
                <a:tc>
                  <a:txBody>
                    <a:bodyPr/>
                    <a:lstStyle/>
                    <a:p>
                      <a:pPr algn="l" fontAlgn="ctr"/>
                      <a:r>
                        <a:rPr lang="en-US" sz="1800" b="0">
                          <a:effectLst/>
                        </a:rPr>
                        <a:t>No. of classes</a:t>
                      </a:r>
                    </a:p>
                  </a:txBody>
                  <a:tcPr marL="76200" marR="76200" marT="106680" marB="106680" anchor="ctr"/>
                </a:tc>
                <a:tc>
                  <a:txBody>
                    <a:bodyPr/>
                    <a:lstStyle/>
                    <a:p>
                      <a:pPr algn="l" fontAlgn="ctr"/>
                      <a:r>
                        <a:rPr lang="en-US" sz="1800" b="0" dirty="0">
                          <a:effectLst/>
                        </a:rPr>
                        <a:t>No. of classes is known</a:t>
                      </a:r>
                    </a:p>
                  </a:txBody>
                  <a:tcPr marL="76200" marR="76200" marT="106680" marB="106680" anchor="ctr"/>
                </a:tc>
                <a:tc>
                  <a:txBody>
                    <a:bodyPr/>
                    <a:lstStyle/>
                    <a:p>
                      <a:pPr algn="l" fontAlgn="ctr"/>
                      <a:r>
                        <a:rPr lang="en-US" sz="1800" b="0">
                          <a:effectLst/>
                        </a:rPr>
                        <a:t>No. of classes is not known</a:t>
                      </a:r>
                    </a:p>
                  </a:txBody>
                  <a:tcPr marL="76200" marR="76200" marT="106680" marB="106680" anchor="ctr"/>
                </a:tc>
                <a:extLst>
                  <a:ext uri="{0D108BD9-81ED-4DB2-BD59-A6C34878D82A}">
                    <a16:rowId xmlns:a16="http://schemas.microsoft.com/office/drawing/2014/main" val="3506953105"/>
                  </a:ext>
                </a:extLst>
              </a:tr>
              <a:tr h="0">
                <a:tc>
                  <a:txBody>
                    <a:bodyPr/>
                    <a:lstStyle/>
                    <a:p>
                      <a:pPr algn="l" fontAlgn="ctr"/>
                      <a:r>
                        <a:rPr lang="en-US" sz="1800" b="0">
                          <a:effectLst/>
                        </a:rPr>
                        <a:t>Data Analysis</a:t>
                      </a:r>
                    </a:p>
                  </a:txBody>
                  <a:tcPr marL="76200" marR="76200" marT="106680" marB="106680" anchor="ctr"/>
                </a:tc>
                <a:tc>
                  <a:txBody>
                    <a:bodyPr/>
                    <a:lstStyle/>
                    <a:p>
                      <a:pPr algn="l" fontAlgn="ctr"/>
                      <a:r>
                        <a:rPr lang="en-US" sz="1800" b="0">
                          <a:effectLst/>
                        </a:rPr>
                        <a:t>Uses offline analysis</a:t>
                      </a:r>
                    </a:p>
                  </a:txBody>
                  <a:tcPr marL="76200" marR="76200" marT="106680" marB="106680" anchor="ctr"/>
                </a:tc>
                <a:tc>
                  <a:txBody>
                    <a:bodyPr/>
                    <a:lstStyle/>
                    <a:p>
                      <a:pPr algn="l" fontAlgn="ctr"/>
                      <a:r>
                        <a:rPr lang="en-US" sz="1800" b="0">
                          <a:effectLst/>
                        </a:rPr>
                        <a:t>Uses real-time analysis of data</a:t>
                      </a:r>
                    </a:p>
                  </a:txBody>
                  <a:tcPr marL="76200" marR="76200" marT="106680" marB="106680" anchor="ctr"/>
                </a:tc>
                <a:extLst>
                  <a:ext uri="{0D108BD9-81ED-4DB2-BD59-A6C34878D82A}">
                    <a16:rowId xmlns:a16="http://schemas.microsoft.com/office/drawing/2014/main" val="2833626829"/>
                  </a:ext>
                </a:extLst>
              </a:tr>
              <a:tr h="0">
                <a:tc>
                  <a:txBody>
                    <a:bodyPr/>
                    <a:lstStyle/>
                    <a:p>
                      <a:pPr algn="l" fontAlgn="ctr"/>
                      <a:r>
                        <a:rPr lang="en-US" sz="1800" b="0">
                          <a:effectLst/>
                        </a:rPr>
                        <a:t>Algorithms used</a:t>
                      </a:r>
                    </a:p>
                  </a:txBody>
                  <a:tcPr marL="76200" marR="76200" marT="106680" marB="106680" anchor="ctr"/>
                </a:tc>
                <a:tc>
                  <a:txBody>
                    <a:bodyPr/>
                    <a:lstStyle/>
                    <a:p>
                      <a:pPr algn="l" fontAlgn="base"/>
                      <a:r>
                        <a:rPr lang="en-US" sz="1800" b="0">
                          <a:effectLst/>
                        </a:rPr>
                        <a:t>Linear and Logistics regression, Random forest,</a:t>
                      </a:r>
                    </a:p>
                    <a:p>
                      <a:pPr algn="l" fontAlgn="base"/>
                      <a:r>
                        <a:rPr lang="en-US" sz="1800" b="0">
                          <a:effectLst/>
                        </a:rPr>
                        <a:t>Support Vector Machine, Neural Network, etc.</a:t>
                      </a:r>
                    </a:p>
                  </a:txBody>
                  <a:tcPr marL="76200" marR="76200" marT="106680" marB="106680" anchor="ctr"/>
                </a:tc>
                <a:tc>
                  <a:txBody>
                    <a:bodyPr/>
                    <a:lstStyle/>
                    <a:p>
                      <a:pPr algn="l" fontAlgn="base"/>
                      <a:r>
                        <a:rPr lang="en-US" sz="1800" b="0" dirty="0">
                          <a:effectLst/>
                        </a:rPr>
                        <a:t>K-Means clustering, Hierarchical clustering, </a:t>
                      </a:r>
                    </a:p>
                    <a:p>
                      <a:pPr algn="l" fontAlgn="base"/>
                      <a:r>
                        <a:rPr lang="en-US" sz="1800" b="0" dirty="0" err="1">
                          <a:effectLst/>
                        </a:rPr>
                        <a:t>Apriori</a:t>
                      </a:r>
                      <a:r>
                        <a:rPr lang="en-US" sz="1800" b="0" dirty="0">
                          <a:effectLst/>
                        </a:rPr>
                        <a:t> algorithm, etc.</a:t>
                      </a:r>
                    </a:p>
                  </a:txBody>
                  <a:tcPr marL="76200" marR="76200" marT="106680" marB="106680" anchor="ctr"/>
                </a:tc>
                <a:extLst>
                  <a:ext uri="{0D108BD9-81ED-4DB2-BD59-A6C34878D82A}">
                    <a16:rowId xmlns:a16="http://schemas.microsoft.com/office/drawing/2014/main" val="3508534748"/>
                  </a:ext>
                </a:extLst>
              </a:tr>
            </a:tbl>
          </a:graphicData>
        </a:graphic>
      </p:graphicFrame>
    </p:spTree>
    <p:extLst>
      <p:ext uri="{BB962C8B-B14F-4D97-AF65-F5344CB8AC3E}">
        <p14:creationId xmlns:p14="http://schemas.microsoft.com/office/powerpoint/2010/main" val="11672456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Unsupervised Learning</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graphicFrame>
        <p:nvGraphicFramePr>
          <p:cNvPr id="8" name="Table 7">
            <a:extLst>
              <a:ext uri="{FF2B5EF4-FFF2-40B4-BE49-F238E27FC236}">
                <a16:creationId xmlns:a16="http://schemas.microsoft.com/office/drawing/2014/main" id="{368C0EA5-576E-70DE-15C8-B2D1E2F180F3}"/>
              </a:ext>
            </a:extLst>
          </p:cNvPr>
          <p:cNvGraphicFramePr>
            <a:graphicFrameLocks noGrp="1"/>
          </p:cNvGraphicFramePr>
          <p:nvPr>
            <p:extLst>
              <p:ext uri="{D42A27DB-BD31-4B8C-83A1-F6EECF244321}">
                <p14:modId xmlns:p14="http://schemas.microsoft.com/office/powerpoint/2010/main" val="3867158814"/>
              </p:ext>
            </p:extLst>
          </p:nvPr>
        </p:nvGraphicFramePr>
        <p:xfrm>
          <a:off x="1564434" y="1049796"/>
          <a:ext cx="9558747" cy="5334000"/>
        </p:xfrm>
        <a:graphic>
          <a:graphicData uri="http://schemas.openxmlformats.org/drawingml/2006/table">
            <a:tbl>
              <a:tblPr>
                <a:tableStyleId>{616DA210-FB5B-4158-B5E0-FEB733F419BA}</a:tableStyleId>
              </a:tblPr>
              <a:tblGrid>
                <a:gridCol w="3186249">
                  <a:extLst>
                    <a:ext uri="{9D8B030D-6E8A-4147-A177-3AD203B41FA5}">
                      <a16:colId xmlns:a16="http://schemas.microsoft.com/office/drawing/2014/main" val="2980524309"/>
                    </a:ext>
                  </a:extLst>
                </a:gridCol>
                <a:gridCol w="3186249">
                  <a:extLst>
                    <a:ext uri="{9D8B030D-6E8A-4147-A177-3AD203B41FA5}">
                      <a16:colId xmlns:a16="http://schemas.microsoft.com/office/drawing/2014/main" val="3798923921"/>
                    </a:ext>
                  </a:extLst>
                </a:gridCol>
                <a:gridCol w="3186249">
                  <a:extLst>
                    <a:ext uri="{9D8B030D-6E8A-4147-A177-3AD203B41FA5}">
                      <a16:colId xmlns:a16="http://schemas.microsoft.com/office/drawing/2014/main" val="792732962"/>
                    </a:ext>
                  </a:extLst>
                </a:gridCol>
              </a:tblGrid>
              <a:tr h="0">
                <a:tc>
                  <a:txBody>
                    <a:bodyPr/>
                    <a:lstStyle/>
                    <a:p>
                      <a:pPr algn="l" fontAlgn="ctr"/>
                      <a:r>
                        <a:rPr lang="en-US" sz="1800" b="1" kern="1200" dirty="0">
                          <a:solidFill>
                            <a:schemeClr val="tx1"/>
                          </a:solidFill>
                          <a:effectLst/>
                        </a:rPr>
                        <a:t>Parameters</a:t>
                      </a:r>
                      <a:endParaRPr lang="en-US" sz="1800" b="1" kern="1200" dirty="0">
                        <a:solidFill>
                          <a:schemeClr val="tx1"/>
                        </a:solidFill>
                        <a:effectLst/>
                        <a:latin typeface="+mn-lt"/>
                        <a:ea typeface="+mn-ea"/>
                        <a:cs typeface="+mn-cs"/>
                      </a:endParaRPr>
                    </a:p>
                  </a:txBody>
                  <a:tcPr marL="76200" marR="76200" marT="106680" marB="106680" anchor="ctr"/>
                </a:tc>
                <a:tc>
                  <a:txBody>
                    <a:bodyPr/>
                    <a:lstStyle/>
                    <a:p>
                      <a:pPr algn="l" fontAlgn="ctr"/>
                      <a:r>
                        <a:rPr lang="en-US" sz="1800" b="1" kern="1200" dirty="0">
                          <a:solidFill>
                            <a:schemeClr val="tx1"/>
                          </a:solidFill>
                          <a:effectLst/>
                        </a:rPr>
                        <a:t> Supervised machine learning</a:t>
                      </a:r>
                      <a:endParaRPr lang="en-US" sz="1800" b="1" kern="1200" dirty="0">
                        <a:solidFill>
                          <a:schemeClr val="tx1"/>
                        </a:solidFill>
                        <a:effectLst/>
                        <a:latin typeface="+mn-lt"/>
                        <a:ea typeface="+mn-ea"/>
                        <a:cs typeface="+mn-cs"/>
                      </a:endParaRPr>
                    </a:p>
                  </a:txBody>
                  <a:tcPr marL="76200" marR="76200" marT="106680" marB="106680" anchor="ctr"/>
                </a:tc>
                <a:tc>
                  <a:txBody>
                    <a:bodyPr/>
                    <a:lstStyle/>
                    <a:p>
                      <a:pPr algn="l" fontAlgn="ctr"/>
                      <a:r>
                        <a:rPr lang="en-US" sz="1800" b="1" kern="1200" dirty="0">
                          <a:solidFill>
                            <a:schemeClr val="tx1"/>
                          </a:solidFill>
                          <a:effectLst/>
                        </a:rPr>
                        <a:t>Unsupervised machine learning</a:t>
                      </a:r>
                      <a:endParaRPr lang="en-US" sz="1800" b="1" kern="1200" dirty="0">
                        <a:solidFill>
                          <a:schemeClr val="tx1"/>
                        </a:solidFill>
                        <a:effectLst/>
                        <a:latin typeface="+mn-lt"/>
                        <a:ea typeface="+mn-ea"/>
                        <a:cs typeface="+mn-cs"/>
                      </a:endParaRPr>
                    </a:p>
                  </a:txBody>
                  <a:tcPr marL="76200" marR="76200" marT="106680" marB="106680" anchor="ctr"/>
                </a:tc>
                <a:extLst>
                  <a:ext uri="{0D108BD9-81ED-4DB2-BD59-A6C34878D82A}">
                    <a16:rowId xmlns:a16="http://schemas.microsoft.com/office/drawing/2014/main" val="1727032529"/>
                  </a:ext>
                </a:extLst>
              </a:tr>
              <a:tr h="0">
                <a:tc>
                  <a:txBody>
                    <a:bodyPr/>
                    <a:lstStyle/>
                    <a:p>
                      <a:pPr algn="l" fontAlgn="ctr"/>
                      <a:r>
                        <a:rPr lang="en-US" sz="1800" b="0" kern="1200" dirty="0">
                          <a:solidFill>
                            <a:schemeClr val="tx1"/>
                          </a:solidFill>
                          <a:effectLst/>
                        </a:rPr>
                        <a:t>Output </a:t>
                      </a:r>
                      <a:endParaRPr lang="en-US" sz="1800" b="0" kern="1200" dirty="0">
                        <a:solidFill>
                          <a:schemeClr val="tx1"/>
                        </a:solidFill>
                        <a:effectLst/>
                        <a:latin typeface="+mn-lt"/>
                        <a:ea typeface="+mn-ea"/>
                        <a:cs typeface="+mn-cs"/>
                      </a:endParaRPr>
                    </a:p>
                  </a:txBody>
                  <a:tcPr marL="76200" marR="76200" marT="106680" marB="106680" anchor="ctr"/>
                </a:tc>
                <a:tc>
                  <a:txBody>
                    <a:bodyPr/>
                    <a:lstStyle/>
                    <a:p>
                      <a:pPr algn="l" fontAlgn="ctr"/>
                      <a:r>
                        <a:rPr lang="en-US" sz="1800" b="0" kern="1200">
                          <a:solidFill>
                            <a:schemeClr val="tx1"/>
                          </a:solidFill>
                          <a:effectLst/>
                        </a:rPr>
                        <a:t>Desired output is given.</a:t>
                      </a:r>
                      <a:endParaRPr lang="en-US" sz="1800" b="0" kern="1200">
                        <a:solidFill>
                          <a:schemeClr val="tx1"/>
                        </a:solidFill>
                        <a:effectLst/>
                        <a:latin typeface="+mn-lt"/>
                        <a:ea typeface="+mn-ea"/>
                        <a:cs typeface="+mn-cs"/>
                      </a:endParaRPr>
                    </a:p>
                  </a:txBody>
                  <a:tcPr marL="76200" marR="76200" marT="106680" marB="106680" anchor="ctr"/>
                </a:tc>
                <a:tc>
                  <a:txBody>
                    <a:bodyPr/>
                    <a:lstStyle/>
                    <a:p>
                      <a:pPr algn="l" fontAlgn="ctr"/>
                      <a:r>
                        <a:rPr lang="en-US" sz="1800" b="0" kern="1200">
                          <a:solidFill>
                            <a:schemeClr val="tx1"/>
                          </a:solidFill>
                          <a:effectLst/>
                        </a:rPr>
                        <a:t>Desired output is not given.</a:t>
                      </a:r>
                      <a:endParaRPr lang="en-US" sz="1800" b="0" kern="1200">
                        <a:solidFill>
                          <a:schemeClr val="tx1"/>
                        </a:solidFill>
                        <a:effectLst/>
                        <a:latin typeface="+mn-lt"/>
                        <a:ea typeface="+mn-ea"/>
                        <a:cs typeface="+mn-cs"/>
                      </a:endParaRPr>
                    </a:p>
                  </a:txBody>
                  <a:tcPr marL="76200" marR="76200" marT="106680" marB="106680" anchor="ctr"/>
                </a:tc>
                <a:extLst>
                  <a:ext uri="{0D108BD9-81ED-4DB2-BD59-A6C34878D82A}">
                    <a16:rowId xmlns:a16="http://schemas.microsoft.com/office/drawing/2014/main" val="3064863267"/>
                  </a:ext>
                </a:extLst>
              </a:tr>
              <a:tr h="0">
                <a:tc>
                  <a:txBody>
                    <a:bodyPr/>
                    <a:lstStyle/>
                    <a:p>
                      <a:pPr algn="l" fontAlgn="ctr"/>
                      <a:r>
                        <a:rPr lang="en-US" sz="1800" b="0" kern="1200">
                          <a:solidFill>
                            <a:schemeClr val="tx1"/>
                          </a:solidFill>
                          <a:effectLst/>
                        </a:rPr>
                        <a:t>Training data </a:t>
                      </a:r>
                      <a:endParaRPr lang="en-US" sz="1800" b="0" kern="1200">
                        <a:solidFill>
                          <a:schemeClr val="tx1"/>
                        </a:solidFill>
                        <a:effectLst/>
                        <a:latin typeface="+mn-lt"/>
                        <a:ea typeface="+mn-ea"/>
                        <a:cs typeface="+mn-cs"/>
                      </a:endParaRPr>
                    </a:p>
                  </a:txBody>
                  <a:tcPr marL="76200" marR="76200" marT="106680" marB="106680" anchor="ctr"/>
                </a:tc>
                <a:tc>
                  <a:txBody>
                    <a:bodyPr/>
                    <a:lstStyle/>
                    <a:p>
                      <a:pPr algn="l" fontAlgn="ctr"/>
                      <a:r>
                        <a:rPr lang="en-US" sz="1800" b="0" kern="1200">
                          <a:solidFill>
                            <a:schemeClr val="tx1"/>
                          </a:solidFill>
                          <a:effectLst/>
                        </a:rPr>
                        <a:t>Use training data to infer model.</a:t>
                      </a:r>
                      <a:endParaRPr lang="en-US" sz="1800" b="0" kern="1200">
                        <a:solidFill>
                          <a:schemeClr val="tx1"/>
                        </a:solidFill>
                        <a:effectLst/>
                        <a:latin typeface="+mn-lt"/>
                        <a:ea typeface="+mn-ea"/>
                        <a:cs typeface="+mn-cs"/>
                      </a:endParaRPr>
                    </a:p>
                  </a:txBody>
                  <a:tcPr marL="76200" marR="76200" marT="106680" marB="106680" anchor="ctr"/>
                </a:tc>
                <a:tc>
                  <a:txBody>
                    <a:bodyPr/>
                    <a:lstStyle/>
                    <a:p>
                      <a:pPr algn="l" fontAlgn="ctr"/>
                      <a:r>
                        <a:rPr lang="en-US" sz="1800" b="0" kern="1200">
                          <a:solidFill>
                            <a:schemeClr val="tx1"/>
                          </a:solidFill>
                          <a:effectLst/>
                        </a:rPr>
                        <a:t>No training data is used.</a:t>
                      </a:r>
                      <a:endParaRPr lang="en-US" sz="1800" b="0" kern="1200">
                        <a:solidFill>
                          <a:schemeClr val="tx1"/>
                        </a:solidFill>
                        <a:effectLst/>
                        <a:latin typeface="+mn-lt"/>
                        <a:ea typeface="+mn-ea"/>
                        <a:cs typeface="+mn-cs"/>
                      </a:endParaRPr>
                    </a:p>
                  </a:txBody>
                  <a:tcPr marL="76200" marR="76200" marT="106680" marB="106680" anchor="ctr"/>
                </a:tc>
                <a:extLst>
                  <a:ext uri="{0D108BD9-81ED-4DB2-BD59-A6C34878D82A}">
                    <a16:rowId xmlns:a16="http://schemas.microsoft.com/office/drawing/2014/main" val="2556156366"/>
                  </a:ext>
                </a:extLst>
              </a:tr>
              <a:tr h="0">
                <a:tc>
                  <a:txBody>
                    <a:bodyPr/>
                    <a:lstStyle/>
                    <a:p>
                      <a:pPr algn="l" fontAlgn="ctr"/>
                      <a:r>
                        <a:rPr lang="en-US" sz="1800" b="0" kern="1200" dirty="0">
                          <a:solidFill>
                            <a:schemeClr val="tx1"/>
                          </a:solidFill>
                          <a:effectLst/>
                        </a:rPr>
                        <a:t>Complex model </a:t>
                      </a:r>
                      <a:endParaRPr lang="en-US" sz="1800" b="0" kern="1200" dirty="0">
                        <a:solidFill>
                          <a:schemeClr val="tx1"/>
                        </a:solidFill>
                        <a:effectLst/>
                        <a:latin typeface="+mn-lt"/>
                        <a:ea typeface="+mn-ea"/>
                        <a:cs typeface="+mn-cs"/>
                      </a:endParaRPr>
                    </a:p>
                  </a:txBody>
                  <a:tcPr marL="76200" marR="76200" marT="106680" marB="106680" anchor="ctr"/>
                </a:tc>
                <a:tc>
                  <a:txBody>
                    <a:bodyPr/>
                    <a:lstStyle/>
                    <a:p>
                      <a:pPr algn="l" fontAlgn="ctr"/>
                      <a:r>
                        <a:rPr lang="en-US" sz="1800" b="0" kern="1200">
                          <a:solidFill>
                            <a:schemeClr val="tx1"/>
                          </a:solidFill>
                          <a:effectLst/>
                        </a:rPr>
                        <a:t>It is not possible to learn larger and more complex models than with supervised learning.</a:t>
                      </a:r>
                      <a:endParaRPr lang="en-US" sz="1800" b="0" kern="1200">
                        <a:solidFill>
                          <a:schemeClr val="tx1"/>
                        </a:solidFill>
                        <a:effectLst/>
                        <a:latin typeface="+mn-lt"/>
                        <a:ea typeface="+mn-ea"/>
                        <a:cs typeface="+mn-cs"/>
                      </a:endParaRPr>
                    </a:p>
                  </a:txBody>
                  <a:tcPr marL="76200" marR="76200" marT="106680" marB="106680" anchor="ctr"/>
                </a:tc>
                <a:tc>
                  <a:txBody>
                    <a:bodyPr/>
                    <a:lstStyle/>
                    <a:p>
                      <a:pPr algn="l" fontAlgn="ctr"/>
                      <a:r>
                        <a:rPr lang="en-US" sz="1800" b="0" kern="1200">
                          <a:solidFill>
                            <a:schemeClr val="tx1"/>
                          </a:solidFill>
                          <a:effectLst/>
                        </a:rPr>
                        <a:t>It is possible to learn larger and more complex models with unsupervised learning.</a:t>
                      </a:r>
                      <a:endParaRPr lang="en-US" sz="1800" b="0" kern="1200">
                        <a:solidFill>
                          <a:schemeClr val="tx1"/>
                        </a:solidFill>
                        <a:effectLst/>
                        <a:latin typeface="+mn-lt"/>
                        <a:ea typeface="+mn-ea"/>
                        <a:cs typeface="+mn-cs"/>
                      </a:endParaRPr>
                    </a:p>
                  </a:txBody>
                  <a:tcPr marL="76200" marR="76200" marT="106680" marB="106680" anchor="ctr"/>
                </a:tc>
                <a:extLst>
                  <a:ext uri="{0D108BD9-81ED-4DB2-BD59-A6C34878D82A}">
                    <a16:rowId xmlns:a16="http://schemas.microsoft.com/office/drawing/2014/main" val="2600485580"/>
                  </a:ext>
                </a:extLst>
              </a:tr>
              <a:tr h="0">
                <a:tc>
                  <a:txBody>
                    <a:bodyPr/>
                    <a:lstStyle/>
                    <a:p>
                      <a:pPr algn="l" fontAlgn="ctr"/>
                      <a:r>
                        <a:rPr lang="en-US" sz="1800" b="0" kern="1200">
                          <a:solidFill>
                            <a:schemeClr val="tx1"/>
                          </a:solidFill>
                          <a:effectLst/>
                        </a:rPr>
                        <a:t>Model </a:t>
                      </a:r>
                      <a:endParaRPr lang="en-US" sz="1800" b="0" kern="1200">
                        <a:solidFill>
                          <a:schemeClr val="tx1"/>
                        </a:solidFill>
                        <a:effectLst/>
                        <a:latin typeface="+mn-lt"/>
                        <a:ea typeface="+mn-ea"/>
                        <a:cs typeface="+mn-cs"/>
                      </a:endParaRPr>
                    </a:p>
                  </a:txBody>
                  <a:tcPr marL="76200" marR="76200" marT="106680" marB="106680" anchor="ctr"/>
                </a:tc>
                <a:tc>
                  <a:txBody>
                    <a:bodyPr/>
                    <a:lstStyle/>
                    <a:p>
                      <a:pPr algn="l" fontAlgn="ctr"/>
                      <a:r>
                        <a:rPr lang="en-US" sz="1800" b="0" kern="1200">
                          <a:solidFill>
                            <a:schemeClr val="tx1"/>
                          </a:solidFill>
                          <a:effectLst/>
                        </a:rPr>
                        <a:t>We can test our model.</a:t>
                      </a:r>
                      <a:endParaRPr lang="en-US" sz="1800" b="0" kern="1200">
                        <a:solidFill>
                          <a:schemeClr val="tx1"/>
                        </a:solidFill>
                        <a:effectLst/>
                        <a:latin typeface="+mn-lt"/>
                        <a:ea typeface="+mn-ea"/>
                        <a:cs typeface="+mn-cs"/>
                      </a:endParaRPr>
                    </a:p>
                  </a:txBody>
                  <a:tcPr marL="76200" marR="76200" marT="106680" marB="106680" anchor="ctr"/>
                </a:tc>
                <a:tc>
                  <a:txBody>
                    <a:bodyPr/>
                    <a:lstStyle/>
                    <a:p>
                      <a:pPr algn="l" fontAlgn="ctr"/>
                      <a:r>
                        <a:rPr lang="en-US" sz="1800" b="0" kern="1200">
                          <a:solidFill>
                            <a:schemeClr val="tx1"/>
                          </a:solidFill>
                          <a:effectLst/>
                        </a:rPr>
                        <a:t>We can not test our model.</a:t>
                      </a:r>
                      <a:endParaRPr lang="en-US" sz="1800" b="0" kern="1200">
                        <a:solidFill>
                          <a:schemeClr val="tx1"/>
                        </a:solidFill>
                        <a:effectLst/>
                        <a:latin typeface="+mn-lt"/>
                        <a:ea typeface="+mn-ea"/>
                        <a:cs typeface="+mn-cs"/>
                      </a:endParaRPr>
                    </a:p>
                  </a:txBody>
                  <a:tcPr marL="76200" marR="76200" marT="106680" marB="106680" anchor="ctr"/>
                </a:tc>
                <a:extLst>
                  <a:ext uri="{0D108BD9-81ED-4DB2-BD59-A6C34878D82A}">
                    <a16:rowId xmlns:a16="http://schemas.microsoft.com/office/drawing/2014/main" val="3885994291"/>
                  </a:ext>
                </a:extLst>
              </a:tr>
              <a:tr h="0">
                <a:tc>
                  <a:txBody>
                    <a:bodyPr/>
                    <a:lstStyle/>
                    <a:p>
                      <a:pPr algn="l" fontAlgn="ctr"/>
                      <a:r>
                        <a:rPr lang="en-US" sz="1800" b="0" kern="1200">
                          <a:solidFill>
                            <a:schemeClr val="tx1"/>
                          </a:solidFill>
                          <a:effectLst/>
                        </a:rPr>
                        <a:t>Called as</a:t>
                      </a:r>
                      <a:endParaRPr lang="en-US" sz="1800" b="0" kern="1200">
                        <a:solidFill>
                          <a:schemeClr val="tx1"/>
                        </a:solidFill>
                        <a:effectLst/>
                        <a:latin typeface="+mn-lt"/>
                        <a:ea typeface="+mn-ea"/>
                        <a:cs typeface="+mn-cs"/>
                      </a:endParaRPr>
                    </a:p>
                  </a:txBody>
                  <a:tcPr marL="76200" marR="76200" marT="106680" marB="106680" anchor="ctr"/>
                </a:tc>
                <a:tc>
                  <a:txBody>
                    <a:bodyPr/>
                    <a:lstStyle/>
                    <a:p>
                      <a:pPr algn="l" fontAlgn="ctr"/>
                      <a:r>
                        <a:rPr lang="en-US" sz="1800" b="0" kern="1200">
                          <a:solidFill>
                            <a:schemeClr val="tx1"/>
                          </a:solidFill>
                          <a:effectLst/>
                        </a:rPr>
                        <a:t>Supervised learning is also called classification.</a:t>
                      </a:r>
                      <a:endParaRPr lang="en-US" sz="1800" b="0" kern="1200">
                        <a:solidFill>
                          <a:schemeClr val="tx1"/>
                        </a:solidFill>
                        <a:effectLst/>
                        <a:latin typeface="+mn-lt"/>
                        <a:ea typeface="+mn-ea"/>
                        <a:cs typeface="+mn-cs"/>
                      </a:endParaRPr>
                    </a:p>
                  </a:txBody>
                  <a:tcPr marL="76200" marR="76200" marT="106680" marB="106680" anchor="ctr"/>
                </a:tc>
                <a:tc>
                  <a:txBody>
                    <a:bodyPr/>
                    <a:lstStyle/>
                    <a:p>
                      <a:pPr algn="l" fontAlgn="ctr"/>
                      <a:r>
                        <a:rPr lang="en-US" sz="1800" b="0" kern="1200">
                          <a:solidFill>
                            <a:schemeClr val="tx1"/>
                          </a:solidFill>
                          <a:effectLst/>
                        </a:rPr>
                        <a:t>Unsupervised learning is also called clustering.</a:t>
                      </a:r>
                      <a:endParaRPr lang="en-US" sz="1800" b="0" kern="1200">
                        <a:solidFill>
                          <a:schemeClr val="tx1"/>
                        </a:solidFill>
                        <a:effectLst/>
                        <a:latin typeface="+mn-lt"/>
                        <a:ea typeface="+mn-ea"/>
                        <a:cs typeface="+mn-cs"/>
                      </a:endParaRPr>
                    </a:p>
                  </a:txBody>
                  <a:tcPr marL="76200" marR="76200" marT="106680" marB="106680" anchor="ctr"/>
                </a:tc>
                <a:extLst>
                  <a:ext uri="{0D108BD9-81ED-4DB2-BD59-A6C34878D82A}">
                    <a16:rowId xmlns:a16="http://schemas.microsoft.com/office/drawing/2014/main" val="1456374546"/>
                  </a:ext>
                </a:extLst>
              </a:tr>
              <a:tr h="0">
                <a:tc>
                  <a:txBody>
                    <a:bodyPr/>
                    <a:lstStyle/>
                    <a:p>
                      <a:pPr algn="l" fontAlgn="ctr"/>
                      <a:r>
                        <a:rPr lang="en-US" sz="1800" b="0" kern="1200">
                          <a:solidFill>
                            <a:schemeClr val="tx1"/>
                          </a:solidFill>
                          <a:effectLst/>
                        </a:rPr>
                        <a:t>Example </a:t>
                      </a:r>
                      <a:endParaRPr lang="en-US" sz="1800" b="0" kern="1200">
                        <a:solidFill>
                          <a:schemeClr val="tx1"/>
                        </a:solidFill>
                        <a:effectLst/>
                        <a:latin typeface="+mn-lt"/>
                        <a:ea typeface="+mn-ea"/>
                        <a:cs typeface="+mn-cs"/>
                      </a:endParaRPr>
                    </a:p>
                  </a:txBody>
                  <a:tcPr marL="76200" marR="76200" marT="106680" marB="106680" anchor="ctr"/>
                </a:tc>
                <a:tc>
                  <a:txBody>
                    <a:bodyPr/>
                    <a:lstStyle/>
                    <a:p>
                      <a:pPr algn="l" fontAlgn="ctr"/>
                      <a:r>
                        <a:rPr lang="en-US" sz="1800" b="0" kern="1200">
                          <a:solidFill>
                            <a:schemeClr val="tx1"/>
                          </a:solidFill>
                          <a:effectLst/>
                        </a:rPr>
                        <a:t>Example: Optical character recognition.</a:t>
                      </a:r>
                      <a:endParaRPr lang="en-US" sz="1800" b="0" kern="1200">
                        <a:solidFill>
                          <a:schemeClr val="tx1"/>
                        </a:solidFill>
                        <a:effectLst/>
                        <a:latin typeface="+mn-lt"/>
                        <a:ea typeface="+mn-ea"/>
                        <a:cs typeface="+mn-cs"/>
                      </a:endParaRPr>
                    </a:p>
                  </a:txBody>
                  <a:tcPr marL="76200" marR="76200" marT="106680" marB="106680" anchor="ctr"/>
                </a:tc>
                <a:tc>
                  <a:txBody>
                    <a:bodyPr/>
                    <a:lstStyle/>
                    <a:p>
                      <a:pPr algn="l" fontAlgn="ctr"/>
                      <a:r>
                        <a:rPr lang="en-US" sz="1800" b="0" kern="1200" dirty="0">
                          <a:solidFill>
                            <a:schemeClr val="tx1"/>
                          </a:solidFill>
                          <a:effectLst/>
                        </a:rPr>
                        <a:t>Example: Find a face in an image.</a:t>
                      </a:r>
                      <a:endParaRPr lang="en-US" sz="1800" b="0" kern="1200" dirty="0">
                        <a:solidFill>
                          <a:schemeClr val="tx1"/>
                        </a:solidFill>
                        <a:effectLst/>
                        <a:latin typeface="+mn-lt"/>
                        <a:ea typeface="+mn-ea"/>
                        <a:cs typeface="+mn-cs"/>
                      </a:endParaRPr>
                    </a:p>
                  </a:txBody>
                  <a:tcPr marL="76200" marR="76200" marT="106680" marB="106680" anchor="ctr"/>
                </a:tc>
                <a:extLst>
                  <a:ext uri="{0D108BD9-81ED-4DB2-BD59-A6C34878D82A}">
                    <a16:rowId xmlns:a16="http://schemas.microsoft.com/office/drawing/2014/main" val="998425003"/>
                  </a:ext>
                </a:extLst>
              </a:tr>
            </a:tbl>
          </a:graphicData>
        </a:graphic>
      </p:graphicFrame>
    </p:spTree>
    <p:extLst>
      <p:ext uri="{BB962C8B-B14F-4D97-AF65-F5344CB8AC3E}">
        <p14:creationId xmlns:p14="http://schemas.microsoft.com/office/powerpoint/2010/main" val="15878401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Unsupervised Learning</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40542" y="1174629"/>
            <a:ext cx="10609878" cy="4508742"/>
          </a:xfrm>
        </p:spPr>
        <p:txBody>
          <a:bodyPr/>
          <a:lstStyle/>
          <a:p>
            <a:pPr marL="0" indent="0" algn="just">
              <a:buNone/>
            </a:pPr>
            <a:r>
              <a:rPr lang="en-US" dirty="0">
                <a:latin typeface="Bookman Old Style" panose="02050604050505020204" pitchFamily="18" charset="0"/>
              </a:rPr>
              <a:t>Advantages of unsupervised learning:</a:t>
            </a:r>
          </a:p>
          <a:p>
            <a:pPr algn="just"/>
            <a:r>
              <a:rPr lang="en-US" dirty="0">
                <a:latin typeface="Bookman Old Style" panose="02050604050505020204" pitchFamily="18" charset="0"/>
              </a:rPr>
              <a:t>  It does not require training data to be labeled.</a:t>
            </a:r>
          </a:p>
          <a:p>
            <a:pPr algn="just"/>
            <a:r>
              <a:rPr lang="en-US" dirty="0">
                <a:latin typeface="Bookman Old Style" panose="02050604050505020204" pitchFamily="18" charset="0"/>
              </a:rPr>
              <a:t>Dimensionality reduction can be easily accomplished using unsupervised learning. </a:t>
            </a:r>
          </a:p>
          <a:p>
            <a:pPr algn="just"/>
            <a:r>
              <a:rPr lang="en-US" dirty="0">
                <a:latin typeface="Bookman Old Style" panose="02050604050505020204" pitchFamily="18" charset="0"/>
              </a:rPr>
              <a:t>Capable of finding previously unknown patterns in data.</a:t>
            </a:r>
          </a:p>
          <a:p>
            <a:pPr algn="just"/>
            <a:r>
              <a:rPr lang="en-US" b="1" dirty="0">
                <a:latin typeface="Bookman Old Style" panose="02050604050505020204" pitchFamily="18" charset="0"/>
              </a:rPr>
              <a:t>Flexibility: </a:t>
            </a:r>
            <a:r>
              <a:rPr lang="en-US" dirty="0">
                <a:latin typeface="Bookman Old Style" panose="02050604050505020204" pitchFamily="18" charset="0"/>
              </a:rPr>
              <a:t>Unsupervised learning is flexible in that it can be applied to a wide variety of problems, including clustering, anomaly detection, and association rule mining.</a:t>
            </a:r>
          </a:p>
          <a:p>
            <a:pPr algn="just"/>
            <a:r>
              <a:rPr lang="en-US" b="1" dirty="0">
                <a:latin typeface="Bookman Old Style" panose="02050604050505020204" pitchFamily="18" charset="0"/>
              </a:rPr>
              <a:t>Exploration: </a:t>
            </a:r>
            <a:r>
              <a:rPr lang="en-US" dirty="0">
                <a:latin typeface="Bookman Old Style" panose="02050604050505020204" pitchFamily="18" charset="0"/>
              </a:rPr>
              <a:t>Unsupervised learning allows for the exploration of data and the discovery of novel and potentially useful patterns that may not be apparent from the outset.</a:t>
            </a:r>
          </a:p>
          <a:p>
            <a:pPr algn="just"/>
            <a:r>
              <a:rPr lang="en-US" b="1" dirty="0">
                <a:latin typeface="Bookman Old Style" panose="02050604050505020204" pitchFamily="18" charset="0"/>
              </a:rPr>
              <a:t>Low cost: </a:t>
            </a:r>
            <a:r>
              <a:rPr lang="en-US" dirty="0">
                <a:latin typeface="Bookman Old Style" panose="02050604050505020204" pitchFamily="18" charset="0"/>
              </a:rPr>
              <a:t>Unsupervised learning is often less expensive than supervised learning because it doesn’t require labeled data, which can be time-consuming and costly to obtain.</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196792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Unsupervised Learning</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40542" y="1174629"/>
            <a:ext cx="10609878" cy="4508742"/>
          </a:xfrm>
        </p:spPr>
        <p:txBody>
          <a:bodyPr/>
          <a:lstStyle/>
          <a:p>
            <a:pPr marL="0" indent="0" algn="just">
              <a:buNone/>
            </a:pPr>
            <a:r>
              <a:rPr lang="en-US" b="1" dirty="0">
                <a:latin typeface="Bookman Old Style" panose="02050604050505020204" pitchFamily="18" charset="0"/>
              </a:rPr>
              <a:t>Disadvantages of unsupervised learning :</a:t>
            </a:r>
          </a:p>
          <a:p>
            <a:pPr algn="just"/>
            <a:r>
              <a:rPr lang="en-US" dirty="0">
                <a:latin typeface="Bookman Old Style" panose="02050604050505020204" pitchFamily="18" charset="0"/>
              </a:rPr>
              <a:t>Difficult to measure accuracy or effectiveness due to lack of predefined answers during training. </a:t>
            </a:r>
          </a:p>
          <a:p>
            <a:pPr algn="just"/>
            <a:r>
              <a:rPr lang="en-US" dirty="0">
                <a:latin typeface="Bookman Old Style" panose="02050604050505020204" pitchFamily="18" charset="0"/>
              </a:rPr>
              <a:t>The results often have lesser accuracy.</a:t>
            </a:r>
          </a:p>
          <a:p>
            <a:pPr algn="just"/>
            <a:r>
              <a:rPr lang="en-US" dirty="0">
                <a:latin typeface="Bookman Old Style" panose="02050604050505020204" pitchFamily="18" charset="0"/>
              </a:rPr>
              <a:t>The user needs to spend time interpreting and label the classes which follow that classification.</a:t>
            </a:r>
          </a:p>
          <a:p>
            <a:pPr algn="just"/>
            <a:r>
              <a:rPr lang="en-US" b="1" dirty="0">
                <a:latin typeface="Bookman Old Style" panose="02050604050505020204" pitchFamily="18" charset="0"/>
              </a:rPr>
              <a:t>Lack of guidance: </a:t>
            </a:r>
            <a:r>
              <a:rPr lang="en-US" dirty="0">
                <a:latin typeface="Bookman Old Style" panose="02050604050505020204" pitchFamily="18" charset="0"/>
              </a:rPr>
              <a:t>Unsupervised learning lacks the guidance and feedback provided by labeled data, which can make it difficult to know whether the discovered patterns are relevant or useful.</a:t>
            </a:r>
          </a:p>
          <a:p>
            <a:pPr algn="just"/>
            <a:r>
              <a:rPr lang="en-US" b="1" dirty="0">
                <a:latin typeface="Bookman Old Style" panose="02050604050505020204" pitchFamily="18" charset="0"/>
              </a:rPr>
              <a:t>Sensitivity to data quality: </a:t>
            </a:r>
            <a:r>
              <a:rPr lang="en-US" dirty="0">
                <a:latin typeface="Bookman Old Style" panose="02050604050505020204" pitchFamily="18" charset="0"/>
              </a:rPr>
              <a:t>Unsupervised learning can be sensitive to data quality, including missing values, outliers, and noisy data.</a:t>
            </a:r>
          </a:p>
          <a:p>
            <a:pPr algn="just"/>
            <a:r>
              <a:rPr lang="en-US" b="1" dirty="0">
                <a:latin typeface="Bookman Old Style" panose="02050604050505020204" pitchFamily="18" charset="0"/>
              </a:rPr>
              <a:t>Scalability: </a:t>
            </a:r>
            <a:r>
              <a:rPr lang="en-US" dirty="0">
                <a:latin typeface="Bookman Old Style" panose="02050604050505020204" pitchFamily="18" charset="0"/>
              </a:rPr>
              <a:t>Unsupervised learning can be computationally expensive, particularly for large datasets or complex algorithms, which can limit its scalability.</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22643958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Reinforcement Learning</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40542" y="1174629"/>
            <a:ext cx="10609878" cy="4508742"/>
          </a:xfrm>
        </p:spPr>
        <p:txBody>
          <a:bodyPr>
            <a:normAutofit/>
          </a:bodyPr>
          <a:lstStyle/>
          <a:p>
            <a:pPr algn="just" fontAlgn="base"/>
            <a:r>
              <a:rPr lang="en-US" b="0" i="0" dirty="0">
                <a:solidFill>
                  <a:srgbClr val="273239"/>
                </a:solidFill>
                <a:effectLst/>
                <a:latin typeface="Bookman Old Style" panose="02050604050505020204" pitchFamily="18" charset="0"/>
              </a:rPr>
              <a:t>Reinforcement learning is about taking suitable action to maximize reward in a particular situation. </a:t>
            </a:r>
          </a:p>
          <a:p>
            <a:pPr algn="just" fontAlgn="base"/>
            <a:r>
              <a:rPr lang="en-US" b="0" i="0" dirty="0">
                <a:solidFill>
                  <a:srgbClr val="273239"/>
                </a:solidFill>
                <a:effectLst/>
                <a:latin typeface="Bookman Old Style" panose="02050604050505020204" pitchFamily="18" charset="0"/>
              </a:rPr>
              <a:t>It is employed by various software and machines to find the best possible behavior or path it should take in a specific situation. </a:t>
            </a:r>
          </a:p>
          <a:p>
            <a:pPr algn="just" fontAlgn="base"/>
            <a:r>
              <a:rPr lang="en-US" b="0" i="0" dirty="0">
                <a:solidFill>
                  <a:srgbClr val="273239"/>
                </a:solidFill>
                <a:effectLst/>
                <a:latin typeface="Bookman Old Style" panose="02050604050505020204" pitchFamily="18" charset="0"/>
              </a:rPr>
              <a:t>Reinforcement learning differs from supervised learning in a way that in supervised learning the training data has the answer key with it so the model is trained with the correct answer itself whereas in reinforcement learning, there is no answer but the reinforcement agent decides what to do to perform the given task. In the absence of a training dataset, it is bound to learn from its experience. </a:t>
            </a:r>
          </a:p>
          <a:p>
            <a:pPr algn="just" fontAlgn="base"/>
            <a:r>
              <a:rPr lang="en-US" b="0" i="0" dirty="0">
                <a:solidFill>
                  <a:srgbClr val="273239"/>
                </a:solidFill>
                <a:effectLst/>
                <a:latin typeface="Bookman Old Style" panose="02050604050505020204" pitchFamily="18" charset="0"/>
              </a:rPr>
              <a:t>RL is the science of decision making. It is about learning the optimal behavior in an environment to obtain maximum reward. In RL, the data is accumulated from machine learning systems that use a trial-and-error method. Data is not part of the input that we would find in supervised or unsupervised machine learning.</a:t>
            </a:r>
          </a:p>
          <a:p>
            <a:pPr algn="just"/>
            <a:endParaRPr lang="en-US" dirty="0">
              <a:latin typeface="Bookman Old Style" panose="02050604050505020204" pitchFamily="18" charset="0"/>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23913856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Reinforcement Learning</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40542" y="1174629"/>
            <a:ext cx="10609878" cy="4508742"/>
          </a:xfrm>
        </p:spPr>
        <p:txBody>
          <a:bodyPr/>
          <a:lstStyle/>
          <a:p>
            <a:pPr algn="just" fontAlgn="base"/>
            <a:r>
              <a:rPr lang="en-US" b="0" i="0" dirty="0">
                <a:solidFill>
                  <a:srgbClr val="273239"/>
                </a:solidFill>
                <a:effectLst/>
                <a:latin typeface="Bookman Old Style" panose="02050604050505020204" pitchFamily="18" charset="0"/>
              </a:rPr>
              <a:t>Reinforcement learning uses algorithms that learn from outcomes and decide which action to take next. After each action, the algorithm receives feedback that helps it determine whether the choice it made was correct, neutral or incorrect. It is a good technique to use for automated systems that have to make a lot of small decisions without human guidance.</a:t>
            </a:r>
          </a:p>
          <a:p>
            <a:pPr algn="just" fontAlgn="base"/>
            <a:r>
              <a:rPr lang="en-US" b="0" i="0" dirty="0">
                <a:solidFill>
                  <a:srgbClr val="273239"/>
                </a:solidFill>
                <a:effectLst/>
                <a:latin typeface="Bookman Old Style" panose="02050604050505020204" pitchFamily="18" charset="0"/>
              </a:rPr>
              <a:t>Reinforcement learning is an autonomous, self-teaching system that essentially learns by trial and error. It performs actions with the aim of maximizing rewards, or in other words, it is learning by doing in order to achieve the best outcomes.</a:t>
            </a:r>
          </a:p>
          <a:p>
            <a:pPr algn="just"/>
            <a:endParaRPr lang="en-US" dirty="0">
              <a:latin typeface="Bookman Old Style" panose="02050604050505020204" pitchFamily="18" charset="0"/>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2245693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Reinforcement Learning</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40542" y="1174629"/>
            <a:ext cx="10609878" cy="5498102"/>
          </a:xfrm>
        </p:spPr>
        <p:txBody>
          <a:bodyPr>
            <a:normAutofit lnSpcReduction="10000"/>
          </a:bodyPr>
          <a:lstStyle/>
          <a:p>
            <a:pPr algn="just" fontAlgn="base"/>
            <a:r>
              <a:rPr lang="en-US" b="1" i="0" dirty="0">
                <a:solidFill>
                  <a:srgbClr val="273239"/>
                </a:solidFill>
                <a:effectLst/>
                <a:latin typeface="Bookman Old Style" panose="02050604050505020204" pitchFamily="18" charset="0"/>
              </a:rPr>
              <a:t>Example: </a:t>
            </a:r>
            <a:endParaRPr lang="en-US" b="0" i="0" dirty="0">
              <a:solidFill>
                <a:srgbClr val="273239"/>
              </a:solidFill>
              <a:effectLst/>
              <a:latin typeface="Bookman Old Style" panose="02050604050505020204" pitchFamily="18" charset="0"/>
            </a:endParaRPr>
          </a:p>
          <a:p>
            <a:pPr algn="just" fontAlgn="base"/>
            <a:r>
              <a:rPr lang="en-US" b="0" i="0" dirty="0">
                <a:solidFill>
                  <a:srgbClr val="273239"/>
                </a:solidFill>
                <a:effectLst/>
                <a:latin typeface="Bookman Old Style" panose="02050604050505020204" pitchFamily="18" charset="0"/>
              </a:rPr>
              <a:t>The problem is as follows: We have an agent and a reward, with many hurdles in between. The agent is supposed to find the best possible path to reach the reward. The following problem explains the problem more easily.  </a:t>
            </a:r>
          </a:p>
          <a:p>
            <a:pPr algn="just" fontAlgn="base"/>
            <a:endParaRPr lang="en-US" dirty="0">
              <a:solidFill>
                <a:srgbClr val="273239"/>
              </a:solidFill>
              <a:latin typeface="Bookman Old Style" panose="02050604050505020204" pitchFamily="18" charset="0"/>
            </a:endParaRPr>
          </a:p>
          <a:p>
            <a:pPr algn="just" fontAlgn="base"/>
            <a:endParaRPr lang="en-US" b="0" i="0" dirty="0">
              <a:solidFill>
                <a:srgbClr val="273239"/>
              </a:solidFill>
              <a:effectLst/>
              <a:latin typeface="Bookman Old Style" panose="02050604050505020204" pitchFamily="18" charset="0"/>
            </a:endParaRPr>
          </a:p>
          <a:p>
            <a:pPr algn="just" fontAlgn="base"/>
            <a:endParaRPr lang="en-US" dirty="0">
              <a:solidFill>
                <a:srgbClr val="273239"/>
              </a:solidFill>
              <a:latin typeface="Bookman Old Style" panose="02050604050505020204" pitchFamily="18" charset="0"/>
            </a:endParaRPr>
          </a:p>
          <a:p>
            <a:pPr algn="just" fontAlgn="base"/>
            <a:endParaRPr lang="en-US" b="0" i="0" dirty="0">
              <a:solidFill>
                <a:srgbClr val="273239"/>
              </a:solidFill>
              <a:effectLst/>
              <a:latin typeface="Bookman Old Style" panose="02050604050505020204" pitchFamily="18" charset="0"/>
            </a:endParaRPr>
          </a:p>
          <a:p>
            <a:pPr algn="just" fontAlgn="base"/>
            <a:endParaRPr lang="en-US" dirty="0">
              <a:solidFill>
                <a:srgbClr val="273239"/>
              </a:solidFill>
              <a:latin typeface="Bookman Old Style" panose="02050604050505020204" pitchFamily="18" charset="0"/>
            </a:endParaRPr>
          </a:p>
          <a:p>
            <a:pPr algn="just" fontAlgn="base"/>
            <a:endParaRPr lang="en-US" b="0" i="0" dirty="0">
              <a:solidFill>
                <a:srgbClr val="273239"/>
              </a:solidFill>
              <a:effectLst/>
              <a:latin typeface="Bookman Old Style" panose="02050604050505020204" pitchFamily="18" charset="0"/>
            </a:endParaRPr>
          </a:p>
          <a:p>
            <a:pPr algn="just" fontAlgn="base"/>
            <a:endParaRPr lang="en-US" dirty="0">
              <a:solidFill>
                <a:srgbClr val="273239"/>
              </a:solidFill>
              <a:latin typeface="Bookman Old Style" panose="02050604050505020204" pitchFamily="18" charset="0"/>
            </a:endParaRPr>
          </a:p>
          <a:p>
            <a:pPr algn="just" fontAlgn="base"/>
            <a:r>
              <a:rPr lang="en-US" dirty="0">
                <a:solidFill>
                  <a:srgbClr val="273239"/>
                </a:solidFill>
                <a:latin typeface="Bookman Old Style" panose="02050604050505020204" pitchFamily="18" charset="0"/>
              </a:rPr>
              <a:t>The above image shows the robot, diamond, and fire. The goal of the robot is to get the reward that is the diamond and avoid the hurdles that are fired. The robot learns by trying all the possible paths and then choosing the path which gives him the reward with the least hurdles. Each right step will give the robot a reward and each wrong step will subtract the reward of the robot. The total reward will be calculated when it reaches the final reward that is the diamond. </a:t>
            </a:r>
          </a:p>
          <a:p>
            <a:pPr algn="just"/>
            <a:endParaRPr lang="en-US" dirty="0">
              <a:latin typeface="Bookman Old Style" panose="02050604050505020204" pitchFamily="18" charset="0"/>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5122" name="Picture 2">
            <a:extLst>
              <a:ext uri="{FF2B5EF4-FFF2-40B4-BE49-F238E27FC236}">
                <a16:creationId xmlns:a16="http://schemas.microsoft.com/office/drawing/2014/main" id="{184D773B-C8D9-B3A9-2740-FBAD03F6EE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27964" y="2463443"/>
            <a:ext cx="3265894" cy="2259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59593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Reinforcement Learning</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40542" y="1174629"/>
            <a:ext cx="10609878" cy="4508742"/>
          </a:xfrm>
        </p:spPr>
        <p:txBody>
          <a:bodyPr/>
          <a:lstStyle/>
          <a:p>
            <a:pPr marL="0" indent="0" algn="just">
              <a:buNone/>
            </a:pPr>
            <a:r>
              <a:rPr lang="en-US" b="1" dirty="0">
                <a:latin typeface="Bookman Old Style" panose="02050604050505020204" pitchFamily="18" charset="0"/>
              </a:rPr>
              <a:t>Main points in Reinforcement learning – </a:t>
            </a:r>
          </a:p>
          <a:p>
            <a:pPr marL="0" indent="0" algn="just">
              <a:buNone/>
            </a:pPr>
            <a:endParaRPr lang="en-US" dirty="0">
              <a:latin typeface="Bookman Old Style" panose="02050604050505020204" pitchFamily="18" charset="0"/>
            </a:endParaRPr>
          </a:p>
          <a:p>
            <a:pPr algn="just"/>
            <a:r>
              <a:rPr lang="en-US" b="1" dirty="0">
                <a:latin typeface="Bookman Old Style" panose="02050604050505020204" pitchFamily="18" charset="0"/>
              </a:rPr>
              <a:t>Input: </a:t>
            </a:r>
            <a:r>
              <a:rPr lang="en-US" dirty="0">
                <a:latin typeface="Bookman Old Style" panose="02050604050505020204" pitchFamily="18" charset="0"/>
              </a:rPr>
              <a:t>The input should be an initial state from which the model will start</a:t>
            </a:r>
          </a:p>
          <a:p>
            <a:pPr algn="just"/>
            <a:r>
              <a:rPr lang="en-US" b="1" dirty="0">
                <a:latin typeface="Bookman Old Style" panose="02050604050505020204" pitchFamily="18" charset="0"/>
              </a:rPr>
              <a:t>Output: </a:t>
            </a:r>
            <a:r>
              <a:rPr lang="en-US" dirty="0">
                <a:latin typeface="Bookman Old Style" panose="02050604050505020204" pitchFamily="18" charset="0"/>
              </a:rPr>
              <a:t>There are many possible outputs as there are a variety of solutions to a particular problem</a:t>
            </a:r>
          </a:p>
          <a:p>
            <a:pPr algn="just"/>
            <a:r>
              <a:rPr lang="en-US" b="1" dirty="0">
                <a:latin typeface="Bookman Old Style" panose="02050604050505020204" pitchFamily="18" charset="0"/>
              </a:rPr>
              <a:t>Training: </a:t>
            </a:r>
            <a:r>
              <a:rPr lang="en-US" dirty="0">
                <a:latin typeface="Bookman Old Style" panose="02050604050505020204" pitchFamily="18" charset="0"/>
              </a:rPr>
              <a:t>The training is based upon the input, The model will return a state and the user will decide to reward or punish the model based on its output.</a:t>
            </a:r>
          </a:p>
          <a:p>
            <a:pPr algn="just"/>
            <a:r>
              <a:rPr lang="en-US" dirty="0">
                <a:latin typeface="Bookman Old Style" panose="02050604050505020204" pitchFamily="18" charset="0"/>
              </a:rPr>
              <a:t>The model keeps continues to learn.</a:t>
            </a:r>
          </a:p>
          <a:p>
            <a:pPr algn="just"/>
            <a:r>
              <a:rPr lang="en-US" dirty="0">
                <a:latin typeface="Bookman Old Style" panose="02050604050505020204" pitchFamily="18" charset="0"/>
              </a:rPr>
              <a:t>The best solution is decided based on the maximum reward.</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8438330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Reinforcement Learning</a:t>
            </a:r>
          </a:p>
        </p:txBody>
      </p:sp>
      <p:graphicFrame>
        <p:nvGraphicFramePr>
          <p:cNvPr id="8" name="Content Placeholder 7">
            <a:extLst>
              <a:ext uri="{FF2B5EF4-FFF2-40B4-BE49-F238E27FC236}">
                <a16:creationId xmlns:a16="http://schemas.microsoft.com/office/drawing/2014/main" id="{A72C8788-5660-497A-5B83-86A52265CCFC}"/>
              </a:ext>
            </a:extLst>
          </p:cNvPr>
          <p:cNvGraphicFramePr>
            <a:graphicFrameLocks noGrp="1"/>
          </p:cNvGraphicFramePr>
          <p:nvPr>
            <p:ph idx="1"/>
            <p:extLst>
              <p:ext uri="{D42A27DB-BD31-4B8C-83A1-F6EECF244321}">
                <p14:modId xmlns:p14="http://schemas.microsoft.com/office/powerpoint/2010/main" val="1176401764"/>
              </p:ext>
            </p:extLst>
          </p:nvPr>
        </p:nvGraphicFramePr>
        <p:xfrm>
          <a:off x="1665877" y="1139389"/>
          <a:ext cx="9135630" cy="5136834"/>
        </p:xfrm>
        <a:graphic>
          <a:graphicData uri="http://schemas.openxmlformats.org/drawingml/2006/table">
            <a:tbl>
              <a:tblPr>
                <a:tableStyleId>{616DA210-FB5B-4158-B5E0-FEB733F419BA}</a:tableStyleId>
              </a:tblPr>
              <a:tblGrid>
                <a:gridCol w="4567815">
                  <a:extLst>
                    <a:ext uri="{9D8B030D-6E8A-4147-A177-3AD203B41FA5}">
                      <a16:colId xmlns:a16="http://schemas.microsoft.com/office/drawing/2014/main" val="382423887"/>
                    </a:ext>
                  </a:extLst>
                </a:gridCol>
                <a:gridCol w="4567815">
                  <a:extLst>
                    <a:ext uri="{9D8B030D-6E8A-4147-A177-3AD203B41FA5}">
                      <a16:colId xmlns:a16="http://schemas.microsoft.com/office/drawing/2014/main" val="2250838264"/>
                    </a:ext>
                  </a:extLst>
                </a:gridCol>
              </a:tblGrid>
              <a:tr h="534354">
                <a:tc>
                  <a:txBody>
                    <a:bodyPr/>
                    <a:lstStyle/>
                    <a:p>
                      <a:pPr algn="ctr" fontAlgn="base"/>
                      <a:r>
                        <a:rPr lang="en-US" sz="2000" b="1" dirty="0">
                          <a:effectLst/>
                          <a:latin typeface="Bookman Old Style" panose="02050604050505020204" pitchFamily="18" charset="0"/>
                        </a:rPr>
                        <a:t>Reinforcement learning</a:t>
                      </a:r>
                    </a:p>
                  </a:txBody>
                  <a:tcPr marL="38100" marR="38100" marT="76200" marB="76200" anchor="ctr"/>
                </a:tc>
                <a:tc>
                  <a:txBody>
                    <a:bodyPr/>
                    <a:lstStyle/>
                    <a:p>
                      <a:pPr algn="ctr" fontAlgn="base"/>
                      <a:r>
                        <a:rPr lang="en-US" sz="2000" b="1">
                          <a:effectLst/>
                          <a:latin typeface="Bookman Old Style" panose="02050604050505020204" pitchFamily="18" charset="0"/>
                        </a:rPr>
                        <a:t>Supervised learning</a:t>
                      </a:r>
                    </a:p>
                  </a:txBody>
                  <a:tcPr marL="76200" marR="76200" marT="76200" marB="76200" anchor="ctr"/>
                </a:tc>
                <a:extLst>
                  <a:ext uri="{0D108BD9-81ED-4DB2-BD59-A6C34878D82A}">
                    <a16:rowId xmlns:a16="http://schemas.microsoft.com/office/drawing/2014/main" val="3905352150"/>
                  </a:ext>
                </a:extLst>
              </a:tr>
              <a:tr h="1703252">
                <a:tc>
                  <a:txBody>
                    <a:bodyPr/>
                    <a:lstStyle/>
                    <a:p>
                      <a:pPr algn="l" fontAlgn="ctr"/>
                      <a:r>
                        <a:rPr lang="en-US" sz="2000" b="0" dirty="0">
                          <a:effectLst/>
                          <a:latin typeface="Bookman Old Style" panose="02050604050505020204" pitchFamily="18" charset="0"/>
                        </a:rPr>
                        <a:t>Reinforcement learning is all about making decisions sequentially. In simple words, we can say that the output depends on the state of the current input and the next input depends on the output of the previous input</a:t>
                      </a:r>
                    </a:p>
                  </a:txBody>
                  <a:tcPr marL="76200" marR="76200" marT="106680" marB="106680" anchor="ctr"/>
                </a:tc>
                <a:tc>
                  <a:txBody>
                    <a:bodyPr/>
                    <a:lstStyle/>
                    <a:p>
                      <a:pPr algn="l" fontAlgn="ctr"/>
                      <a:r>
                        <a:rPr lang="en-US" sz="2000" b="0">
                          <a:effectLst/>
                          <a:latin typeface="Bookman Old Style" panose="02050604050505020204" pitchFamily="18" charset="0"/>
                        </a:rPr>
                        <a:t>In Supervised learning, the decision is made on the initial input or the input given at the start</a:t>
                      </a:r>
                    </a:p>
                  </a:txBody>
                  <a:tcPr marL="76200" marR="76200" marT="106680" marB="106680" anchor="ctr"/>
                </a:tc>
                <a:extLst>
                  <a:ext uri="{0D108BD9-81ED-4DB2-BD59-A6C34878D82A}">
                    <a16:rowId xmlns:a16="http://schemas.microsoft.com/office/drawing/2014/main" val="1303431199"/>
                  </a:ext>
                </a:extLst>
              </a:tr>
              <a:tr h="868325">
                <a:tc>
                  <a:txBody>
                    <a:bodyPr/>
                    <a:lstStyle/>
                    <a:p>
                      <a:pPr algn="l" fontAlgn="ctr"/>
                      <a:r>
                        <a:rPr lang="en-US" sz="2000" b="0" dirty="0">
                          <a:effectLst/>
                          <a:latin typeface="Bookman Old Style" panose="02050604050505020204" pitchFamily="18" charset="0"/>
                        </a:rPr>
                        <a:t>In Reinforcement learning decision is dependent, So we give labels to sequences of dependent decisions</a:t>
                      </a:r>
                    </a:p>
                  </a:txBody>
                  <a:tcPr marL="76200" marR="76200" marT="106680" marB="106680" anchor="ctr"/>
                </a:tc>
                <a:tc>
                  <a:txBody>
                    <a:bodyPr/>
                    <a:lstStyle/>
                    <a:p>
                      <a:pPr algn="l" fontAlgn="ctr"/>
                      <a:r>
                        <a:rPr lang="en-US" sz="2000" b="0" dirty="0">
                          <a:effectLst/>
                          <a:latin typeface="Bookman Old Style" panose="02050604050505020204" pitchFamily="18" charset="0"/>
                        </a:rPr>
                        <a:t>In supervised learning the decisions are independent of each other so labels are given to each decision.</a:t>
                      </a:r>
                    </a:p>
                  </a:txBody>
                  <a:tcPr marL="76200" marR="76200" marT="106680" marB="106680" anchor="ctr"/>
                </a:tc>
                <a:extLst>
                  <a:ext uri="{0D108BD9-81ED-4DB2-BD59-A6C34878D82A}">
                    <a16:rowId xmlns:a16="http://schemas.microsoft.com/office/drawing/2014/main" val="2354878965"/>
                  </a:ext>
                </a:extLst>
              </a:tr>
              <a:tr h="590015">
                <a:tc>
                  <a:txBody>
                    <a:bodyPr/>
                    <a:lstStyle/>
                    <a:p>
                      <a:pPr algn="l" fontAlgn="ctr"/>
                      <a:r>
                        <a:rPr lang="en-US" sz="2000" b="0">
                          <a:effectLst/>
                          <a:latin typeface="Bookman Old Style" panose="02050604050505020204" pitchFamily="18" charset="0"/>
                        </a:rPr>
                        <a:t>Example: Chess game,text summarization</a:t>
                      </a:r>
                    </a:p>
                  </a:txBody>
                  <a:tcPr marL="76200" marR="76200" marT="106680" marB="106680" anchor="ctr"/>
                </a:tc>
                <a:tc>
                  <a:txBody>
                    <a:bodyPr/>
                    <a:lstStyle/>
                    <a:p>
                      <a:pPr algn="l" fontAlgn="ctr"/>
                      <a:r>
                        <a:rPr lang="en-US" sz="2000" b="0" dirty="0">
                          <a:effectLst/>
                          <a:latin typeface="Bookman Old Style" panose="02050604050505020204" pitchFamily="18" charset="0"/>
                        </a:rPr>
                        <a:t>Example: Object </a:t>
                      </a:r>
                      <a:r>
                        <a:rPr lang="en-US" sz="2000" b="0" dirty="0" err="1">
                          <a:effectLst/>
                          <a:latin typeface="Bookman Old Style" panose="02050604050505020204" pitchFamily="18" charset="0"/>
                        </a:rPr>
                        <a:t>recognition,spam</a:t>
                      </a:r>
                      <a:r>
                        <a:rPr lang="en-US" sz="2000" b="0" dirty="0">
                          <a:effectLst/>
                          <a:latin typeface="Bookman Old Style" panose="02050604050505020204" pitchFamily="18" charset="0"/>
                        </a:rPr>
                        <a:t> </a:t>
                      </a:r>
                      <a:r>
                        <a:rPr lang="en-US" sz="2000" b="0" dirty="0" err="1">
                          <a:effectLst/>
                          <a:latin typeface="Bookman Old Style" panose="02050604050505020204" pitchFamily="18" charset="0"/>
                        </a:rPr>
                        <a:t>detetction</a:t>
                      </a:r>
                      <a:endParaRPr lang="en-US" sz="2000" b="0" dirty="0">
                        <a:effectLst/>
                        <a:latin typeface="Bookman Old Style" panose="02050604050505020204" pitchFamily="18" charset="0"/>
                      </a:endParaRPr>
                    </a:p>
                  </a:txBody>
                  <a:tcPr marL="76200" marR="76200" marT="106680" marB="106680" anchor="ctr"/>
                </a:tc>
                <a:extLst>
                  <a:ext uri="{0D108BD9-81ED-4DB2-BD59-A6C34878D82A}">
                    <a16:rowId xmlns:a16="http://schemas.microsoft.com/office/drawing/2014/main" val="1063483760"/>
                  </a:ext>
                </a:extLst>
              </a:tr>
            </a:tbl>
          </a:graphicData>
        </a:graphic>
      </p:graphicFrame>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0664059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Types of Reinforcement Learning</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40542" y="1174628"/>
            <a:ext cx="10609878" cy="5065581"/>
          </a:xfrm>
        </p:spPr>
        <p:txBody>
          <a:bodyPr>
            <a:normAutofit lnSpcReduction="10000"/>
          </a:bodyPr>
          <a:lstStyle/>
          <a:p>
            <a:pPr marL="0" indent="0" algn="just" fontAlgn="base">
              <a:buNone/>
            </a:pPr>
            <a:r>
              <a:rPr lang="en-US" dirty="0">
                <a:solidFill>
                  <a:schemeClr val="tx1"/>
                </a:solidFill>
                <a:latin typeface="Bookman Old Style" panose="02050604050505020204" pitchFamily="18" charset="0"/>
              </a:rPr>
              <a:t>There are two types of Reinforcement:  </a:t>
            </a:r>
          </a:p>
          <a:p>
            <a:pPr marL="0" indent="0" algn="just" fontAlgn="base">
              <a:buNone/>
            </a:pPr>
            <a:r>
              <a:rPr lang="en-US" b="1" dirty="0">
                <a:solidFill>
                  <a:schemeClr val="tx1"/>
                </a:solidFill>
                <a:latin typeface="Bookman Old Style" panose="02050604050505020204" pitchFamily="18" charset="0"/>
              </a:rPr>
              <a:t>Positive: </a:t>
            </a:r>
            <a:r>
              <a:rPr lang="en-US" dirty="0">
                <a:solidFill>
                  <a:schemeClr val="tx1"/>
                </a:solidFill>
                <a:latin typeface="Bookman Old Style" panose="02050604050505020204" pitchFamily="18" charset="0"/>
              </a:rPr>
              <a:t>Positive Reinforcement is defined as when an event, occurs due to a particular behavior, increases the strength and the frequency of the behavior. In other words, it has a positive effect on behavior. </a:t>
            </a:r>
          </a:p>
          <a:p>
            <a:pPr marL="0" indent="0" algn="just" fontAlgn="base">
              <a:buNone/>
            </a:pPr>
            <a:r>
              <a:rPr lang="en-US" b="1" dirty="0">
                <a:solidFill>
                  <a:schemeClr val="tx1"/>
                </a:solidFill>
                <a:latin typeface="Bookman Old Style" panose="02050604050505020204" pitchFamily="18" charset="0"/>
              </a:rPr>
              <a:t>Advantages of reinforcement learning are: </a:t>
            </a:r>
          </a:p>
          <a:p>
            <a:pPr marL="342900" lvl="1" indent="-342900" algn="just" fontAlgn="base"/>
            <a:r>
              <a:rPr lang="en-US" sz="1800" dirty="0">
                <a:solidFill>
                  <a:schemeClr val="tx1"/>
                </a:solidFill>
                <a:latin typeface="Bookman Old Style" panose="02050604050505020204" pitchFamily="18" charset="0"/>
              </a:rPr>
              <a:t>Maximizes Performance</a:t>
            </a:r>
          </a:p>
          <a:p>
            <a:pPr marL="342900" lvl="1" indent="-342900" algn="just" fontAlgn="base"/>
            <a:r>
              <a:rPr lang="en-US" sz="1800" dirty="0">
                <a:solidFill>
                  <a:schemeClr val="tx1"/>
                </a:solidFill>
                <a:latin typeface="Bookman Old Style" panose="02050604050505020204" pitchFamily="18" charset="0"/>
              </a:rPr>
              <a:t>Sustain Change for a long period of time</a:t>
            </a:r>
          </a:p>
          <a:p>
            <a:pPr marL="342900" lvl="1" indent="-342900" algn="just" fontAlgn="base"/>
            <a:r>
              <a:rPr lang="en-US" sz="1800" dirty="0">
                <a:solidFill>
                  <a:schemeClr val="tx1"/>
                </a:solidFill>
                <a:latin typeface="Bookman Old Style" panose="02050604050505020204" pitchFamily="18" charset="0"/>
              </a:rPr>
              <a:t>Too much Reinforcement can lead to an overload of states which can diminish the results</a:t>
            </a:r>
          </a:p>
          <a:p>
            <a:pPr marL="0" indent="0" algn="just" fontAlgn="base">
              <a:buNone/>
            </a:pPr>
            <a:r>
              <a:rPr lang="en-US" b="1" dirty="0">
                <a:solidFill>
                  <a:schemeClr val="tx1"/>
                </a:solidFill>
                <a:latin typeface="Bookman Old Style" panose="02050604050505020204" pitchFamily="18" charset="0"/>
              </a:rPr>
              <a:t>Negative: </a:t>
            </a:r>
            <a:r>
              <a:rPr lang="en-US" dirty="0">
                <a:solidFill>
                  <a:schemeClr val="tx1"/>
                </a:solidFill>
                <a:latin typeface="Bookman Old Style" panose="02050604050505020204" pitchFamily="18" charset="0"/>
              </a:rPr>
              <a:t>Negative Reinforcement is defined as strengthening of behavior because a negative condition is stopped or avoided.</a:t>
            </a:r>
          </a:p>
          <a:p>
            <a:pPr marL="0" indent="0" algn="just" fontAlgn="base">
              <a:buNone/>
            </a:pPr>
            <a:r>
              <a:rPr lang="en-US" b="1" dirty="0">
                <a:solidFill>
                  <a:schemeClr val="tx1"/>
                </a:solidFill>
                <a:latin typeface="Bookman Old Style" panose="02050604050505020204" pitchFamily="18" charset="0"/>
              </a:rPr>
              <a:t>Advantages of reinforcement learning: </a:t>
            </a:r>
          </a:p>
          <a:p>
            <a:pPr marL="342900" lvl="1" indent="-342900" algn="just" fontAlgn="base"/>
            <a:r>
              <a:rPr lang="en-US" sz="1800" dirty="0">
                <a:solidFill>
                  <a:schemeClr val="tx1"/>
                </a:solidFill>
                <a:latin typeface="Bookman Old Style" panose="02050604050505020204" pitchFamily="18" charset="0"/>
              </a:rPr>
              <a:t>Increases Behavior</a:t>
            </a:r>
          </a:p>
          <a:p>
            <a:pPr marL="342900" lvl="1" indent="-342900" algn="just" fontAlgn="base"/>
            <a:r>
              <a:rPr lang="en-US" sz="1800" dirty="0">
                <a:solidFill>
                  <a:schemeClr val="tx1"/>
                </a:solidFill>
                <a:latin typeface="Bookman Old Style" panose="02050604050505020204" pitchFamily="18" charset="0"/>
              </a:rPr>
              <a:t>Provide defiance to a minimum standard of performance</a:t>
            </a:r>
          </a:p>
          <a:p>
            <a:pPr marL="342900" lvl="1" indent="-342900" algn="just" fontAlgn="base"/>
            <a:r>
              <a:rPr lang="en-US" sz="1800" dirty="0">
                <a:solidFill>
                  <a:schemeClr val="tx1"/>
                </a:solidFill>
                <a:latin typeface="Bookman Old Style" panose="02050604050505020204" pitchFamily="18" charset="0"/>
              </a:rPr>
              <a:t>It Only provides enough to meet up the minimum behavior</a:t>
            </a:r>
          </a:p>
          <a:p>
            <a:pPr algn="just"/>
            <a:endParaRPr lang="en-US" dirty="0">
              <a:solidFill>
                <a:schemeClr val="tx1"/>
              </a:solidFill>
              <a:latin typeface="Bookman Old Style" panose="02050604050505020204" pitchFamily="18" charset="0"/>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7909363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Reinforcement Learning</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40542" y="1174629"/>
            <a:ext cx="10609878" cy="4508742"/>
          </a:xfrm>
        </p:spPr>
        <p:txBody>
          <a:bodyPr>
            <a:normAutofit/>
          </a:bodyPr>
          <a:lstStyle/>
          <a:p>
            <a:pPr marL="0" indent="0" algn="just">
              <a:buNone/>
            </a:pPr>
            <a:r>
              <a:rPr lang="en-US" b="1" dirty="0">
                <a:solidFill>
                  <a:schemeClr val="tx1"/>
                </a:solidFill>
                <a:latin typeface="Bookman Old Style" panose="02050604050505020204" pitchFamily="18" charset="0"/>
              </a:rPr>
              <a:t>Application of Reinforcement Learnings </a:t>
            </a:r>
          </a:p>
          <a:p>
            <a:pPr algn="just"/>
            <a:r>
              <a:rPr lang="en-US" dirty="0">
                <a:solidFill>
                  <a:schemeClr val="tx1"/>
                </a:solidFill>
                <a:latin typeface="Bookman Old Style" panose="02050604050505020204" pitchFamily="18" charset="0"/>
              </a:rPr>
              <a:t>Robotics: Robots with pre-programmed behavior are useful in structured environments, such as the assembly line of an automobile manufacturing plant, where the task is repetitive in nature.</a:t>
            </a:r>
          </a:p>
          <a:p>
            <a:pPr algn="just"/>
            <a:r>
              <a:rPr lang="en-US" dirty="0">
                <a:solidFill>
                  <a:schemeClr val="tx1"/>
                </a:solidFill>
                <a:latin typeface="Bookman Old Style" panose="02050604050505020204" pitchFamily="18" charset="0"/>
              </a:rPr>
              <a:t>A master chess player makes a move. The choice is informed both by planning, anticipating possible replies and counter replies.</a:t>
            </a:r>
          </a:p>
          <a:p>
            <a:pPr algn="just"/>
            <a:r>
              <a:rPr lang="en-US" dirty="0">
                <a:solidFill>
                  <a:schemeClr val="tx1"/>
                </a:solidFill>
                <a:latin typeface="Bookman Old Style" panose="02050604050505020204" pitchFamily="18" charset="0"/>
              </a:rPr>
              <a:t>An adaptive controller adjusts parameters of a petroleum refinery’s operation in real time.</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3566315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latin typeface="Bookman Old Style" panose="02050604050505020204" pitchFamily="18" charset="0"/>
              </a:rPr>
              <a:t>Advantages of </a:t>
            </a:r>
            <a:r>
              <a:rPr lang="en-US" dirty="0"/>
              <a:t>Reinforcement Learning</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40542" y="1174629"/>
            <a:ext cx="10609878" cy="4508742"/>
          </a:xfrm>
        </p:spPr>
        <p:txBody>
          <a:bodyPr>
            <a:normAutofit/>
          </a:bodyPr>
          <a:lstStyle/>
          <a:p>
            <a:pPr algn="just"/>
            <a:r>
              <a:rPr lang="en-US" dirty="0">
                <a:latin typeface="Bookman Old Style" panose="02050604050505020204" pitchFamily="18" charset="0"/>
              </a:rPr>
              <a:t>1. Reinforcement learning can be used to solve very complex problems that cannot be solved by conventional techniques.</a:t>
            </a:r>
          </a:p>
          <a:p>
            <a:pPr algn="just"/>
            <a:r>
              <a:rPr lang="en-US" dirty="0">
                <a:latin typeface="Bookman Old Style" panose="02050604050505020204" pitchFamily="18" charset="0"/>
              </a:rPr>
              <a:t>2. The model can correct the errors that occurred during the training process. </a:t>
            </a:r>
          </a:p>
          <a:p>
            <a:pPr algn="just"/>
            <a:r>
              <a:rPr lang="en-US" dirty="0">
                <a:latin typeface="Bookman Old Style" panose="02050604050505020204" pitchFamily="18" charset="0"/>
              </a:rPr>
              <a:t>3. In RL, training data is obtained via the direct interaction of the agent with the environment</a:t>
            </a:r>
          </a:p>
          <a:p>
            <a:pPr algn="just"/>
            <a:r>
              <a:rPr lang="en-US" dirty="0">
                <a:latin typeface="Bookman Old Style" panose="02050604050505020204" pitchFamily="18" charset="0"/>
              </a:rPr>
              <a:t>4. Reinforcement learning can handle environments that are non-deterministic, meaning that the outcomes of actions are not always predictable. This is useful in real-world applications where the environment may change over time or is uncertain.</a:t>
            </a:r>
          </a:p>
          <a:p>
            <a:pPr algn="just"/>
            <a:r>
              <a:rPr lang="en-US" dirty="0">
                <a:latin typeface="Bookman Old Style" panose="02050604050505020204" pitchFamily="18" charset="0"/>
              </a:rPr>
              <a:t>5. Reinforcement learning can be used to solve a wide range of problems, including those that involve decision making, control, and optimization.</a:t>
            </a:r>
          </a:p>
          <a:p>
            <a:pPr algn="just"/>
            <a:r>
              <a:rPr lang="en-US" dirty="0">
                <a:latin typeface="Bookman Old Style" panose="02050604050505020204" pitchFamily="18" charset="0"/>
              </a:rPr>
              <a:t>6. Reinforcement learning is a flexible approach that can be combined with other machine learning techniques, such as deep learning, to improve performance.</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1481770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latin typeface="Bookman Old Style" panose="02050604050505020204" pitchFamily="18" charset="0"/>
              </a:rPr>
              <a:t>Disadvantages of </a:t>
            </a:r>
            <a:r>
              <a:rPr lang="en-US" dirty="0"/>
              <a:t>Reinforcement Learning</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091381" y="1821061"/>
            <a:ext cx="10609878" cy="4508742"/>
          </a:xfrm>
        </p:spPr>
        <p:txBody>
          <a:bodyPr/>
          <a:lstStyle/>
          <a:p>
            <a:pPr algn="just"/>
            <a:r>
              <a:rPr lang="en-US" dirty="0">
                <a:latin typeface="Bookman Old Style" panose="02050604050505020204" pitchFamily="18" charset="0"/>
              </a:rPr>
              <a:t>1. Reinforcement learning is not preferable to use for solving simple problems.</a:t>
            </a:r>
          </a:p>
          <a:p>
            <a:pPr algn="just"/>
            <a:r>
              <a:rPr lang="en-US" dirty="0">
                <a:latin typeface="Bookman Old Style" panose="02050604050505020204" pitchFamily="18" charset="0"/>
              </a:rPr>
              <a:t>2. Reinforcement learning needs a lot of data and a lot of computation</a:t>
            </a:r>
          </a:p>
          <a:p>
            <a:pPr algn="just"/>
            <a:r>
              <a:rPr lang="en-US" dirty="0">
                <a:latin typeface="Bookman Old Style" panose="02050604050505020204" pitchFamily="18" charset="0"/>
              </a:rPr>
              <a:t>3. Reinforcement learning is highly dependent on the quality of the reward function. If the reward function is poorly designed, the agent may not learn the desired behavior.</a:t>
            </a:r>
          </a:p>
          <a:p>
            <a:pPr algn="just"/>
            <a:r>
              <a:rPr lang="en-US" dirty="0">
                <a:latin typeface="Bookman Old Style" panose="02050604050505020204" pitchFamily="18" charset="0"/>
              </a:rPr>
              <a:t>4. Reinforcement learning can be difficult to debug and interpret. It is not always clear why the agent is behaving in a certain way, which can make it difficult to diagnose and fix problems.</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21235320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Activity / Assignment	</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4699820" y="1757414"/>
            <a:ext cx="7050600" cy="4508742"/>
          </a:xfrm>
        </p:spPr>
        <p:txBody>
          <a:bodyPr/>
          <a:lstStyle/>
          <a:p>
            <a:r>
              <a:rPr lang="en-US" b="1" dirty="0"/>
              <a:t>Write up / chart preparation </a:t>
            </a:r>
            <a:r>
              <a:rPr lang="en-US" dirty="0"/>
              <a:t>on Machine Learning three categories. </a:t>
            </a:r>
          </a:p>
          <a:p>
            <a:pPr marL="0" indent="0">
              <a:buNone/>
            </a:pPr>
            <a:r>
              <a:rPr lang="en-US" dirty="0"/>
              <a:t>	1. Supervised Learning</a:t>
            </a:r>
          </a:p>
          <a:p>
            <a:pPr marL="0" indent="0">
              <a:buNone/>
            </a:pPr>
            <a:r>
              <a:rPr lang="en-US" dirty="0"/>
              <a:t>	2. Unsupervised Learning</a:t>
            </a:r>
          </a:p>
          <a:p>
            <a:pPr marL="0" indent="0">
              <a:buNone/>
            </a:pPr>
            <a:r>
              <a:rPr lang="en-US" dirty="0"/>
              <a:t>	3. Reinforcement Learning</a:t>
            </a:r>
          </a:p>
          <a:p>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2050" name="Picture 2" descr="UMS - aSSIGNMENT and activity pAGE - Home">
            <a:extLst>
              <a:ext uri="{FF2B5EF4-FFF2-40B4-BE49-F238E27FC236}">
                <a16:creationId xmlns:a16="http://schemas.microsoft.com/office/drawing/2014/main" id="{C37C1E66-4DB4-367D-3BBE-94FB771DD9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409" y="1410502"/>
            <a:ext cx="4193101" cy="50486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778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normAutofit/>
          </a:bodyPr>
          <a:lstStyle/>
          <a:p>
            <a:r>
              <a:rPr lang="en-US" b="0" i="0" dirty="0">
                <a:solidFill>
                  <a:srgbClr val="232F3E"/>
                </a:solidFill>
                <a:effectLst/>
                <a:latin typeface="AmazonEmberBold"/>
              </a:rPr>
              <a:t>Neural </a:t>
            </a:r>
            <a:r>
              <a:rPr lang="en-US" dirty="0">
                <a:solidFill>
                  <a:srgbClr val="232F3E"/>
                </a:solidFill>
                <a:latin typeface="AmazonEmberBold"/>
              </a:rPr>
              <a:t>N</a:t>
            </a:r>
            <a:r>
              <a:rPr lang="en-US" b="0" i="0" dirty="0">
                <a:solidFill>
                  <a:srgbClr val="232F3E"/>
                </a:solidFill>
                <a:effectLst/>
                <a:latin typeface="AmazonEmberBold"/>
              </a:rPr>
              <a:t>etwork and its important</a:t>
            </a:r>
            <a:br>
              <a:rPr lang="en-US" b="0" i="0" dirty="0">
                <a:solidFill>
                  <a:srgbClr val="232F3E"/>
                </a:solidFill>
                <a:effectLst/>
                <a:latin typeface="AmazonEmberBold"/>
              </a:rPr>
            </a:b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lstStyle/>
          <a:p>
            <a:pPr algn="just"/>
            <a:r>
              <a:rPr lang="en-US" dirty="0">
                <a:solidFill>
                  <a:schemeClr val="tx1"/>
                </a:solidFill>
              </a:rPr>
              <a:t>A neural network is a method in artificial intelligence that teaches computers to process data in a way that is inspired by the human brain. </a:t>
            </a:r>
          </a:p>
          <a:p>
            <a:pPr algn="just"/>
            <a:r>
              <a:rPr lang="en-US" dirty="0">
                <a:solidFill>
                  <a:schemeClr val="tx1"/>
                </a:solidFill>
              </a:rPr>
              <a:t>It is a type of machine learning process, called deep learning, that uses interconnected nodes or neurons in a layered structure that resembles the human brain. </a:t>
            </a:r>
          </a:p>
          <a:p>
            <a:pPr algn="just"/>
            <a:r>
              <a:rPr lang="en-US" dirty="0">
                <a:solidFill>
                  <a:schemeClr val="tx1"/>
                </a:solidFill>
              </a:rPr>
              <a:t>It creates an adaptive system that computers use to learn from their mistakes and improve continuously. Thus, artificial neural networks attempt to solve complicated problems, like summarizing documents or recognizing faces, with greater accuracy.</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9" name="Picture 8">
            <a:extLst>
              <a:ext uri="{FF2B5EF4-FFF2-40B4-BE49-F238E27FC236}">
                <a16:creationId xmlns:a16="http://schemas.microsoft.com/office/drawing/2014/main" id="{CE119298-693C-6669-BA14-C3A64CA45746}"/>
              </a:ext>
            </a:extLst>
          </p:cNvPr>
          <p:cNvPicPr>
            <a:picLocks noChangeAspect="1"/>
          </p:cNvPicPr>
          <p:nvPr/>
        </p:nvPicPr>
        <p:blipFill>
          <a:blip r:embed="rId4"/>
          <a:stretch>
            <a:fillRect/>
          </a:stretch>
        </p:blipFill>
        <p:spPr>
          <a:xfrm>
            <a:off x="3554250" y="3804412"/>
            <a:ext cx="6209183" cy="3142452"/>
          </a:xfrm>
          <a:prstGeom prst="rect">
            <a:avLst/>
          </a:prstGeom>
        </p:spPr>
      </p:pic>
    </p:spTree>
    <p:extLst>
      <p:ext uri="{BB962C8B-B14F-4D97-AF65-F5344CB8AC3E}">
        <p14:creationId xmlns:p14="http://schemas.microsoft.com/office/powerpoint/2010/main" val="14161911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209369" y="1274401"/>
            <a:ext cx="10334573" cy="4508742"/>
          </a:xfrm>
        </p:spPr>
        <p:txBody>
          <a:bodyPr/>
          <a:lstStyle/>
          <a:p>
            <a:pPr algn="just"/>
            <a:r>
              <a:rPr lang="en-US" dirty="0">
                <a:solidFill>
                  <a:schemeClr val="tx1"/>
                </a:solidFill>
              </a:rPr>
              <a:t>Neural networks can help computers make intelligent decisions with limited human assistance. This is because they can learn and model the relationships between input and output data that are nonlinear and complex. For instance, they can do the following tasks.</a:t>
            </a:r>
          </a:p>
          <a:p>
            <a:pPr marL="0" indent="0" algn="just">
              <a:buNone/>
            </a:pPr>
            <a:r>
              <a:rPr lang="en-US" b="1" dirty="0">
                <a:solidFill>
                  <a:schemeClr val="tx1"/>
                </a:solidFill>
              </a:rPr>
              <a:t>Make generalizations and inferences</a:t>
            </a:r>
          </a:p>
          <a:p>
            <a:pPr algn="just"/>
            <a:r>
              <a:rPr lang="en-US" dirty="0">
                <a:solidFill>
                  <a:schemeClr val="tx1"/>
                </a:solidFill>
              </a:rPr>
              <a:t>Neural networks can comprehend unstructured data and make general observations without explicit training. For instance, they can recognize that two different input sentences have a similar meaning:</a:t>
            </a:r>
          </a:p>
          <a:p>
            <a:pPr algn="just">
              <a:buFont typeface="Arial" panose="020B0604020202020204" pitchFamily="34" charset="0"/>
              <a:buChar char="•"/>
            </a:pPr>
            <a:r>
              <a:rPr lang="en-US" dirty="0">
                <a:solidFill>
                  <a:schemeClr val="tx1"/>
                </a:solidFill>
              </a:rPr>
              <a:t>Can you tell me how to make the payment?</a:t>
            </a:r>
          </a:p>
          <a:p>
            <a:pPr algn="just">
              <a:buFont typeface="Arial" panose="020B0604020202020204" pitchFamily="34" charset="0"/>
              <a:buChar char="•"/>
            </a:pPr>
            <a:r>
              <a:rPr lang="en-US" dirty="0">
                <a:solidFill>
                  <a:schemeClr val="tx1"/>
                </a:solidFill>
              </a:rPr>
              <a:t>How do I transfer money?</a:t>
            </a:r>
          </a:p>
          <a:p>
            <a:pPr algn="just"/>
            <a:r>
              <a:rPr lang="en-US" dirty="0">
                <a:solidFill>
                  <a:schemeClr val="tx1"/>
                </a:solidFill>
              </a:rPr>
              <a:t>A neural network would know that both sentences mean the same thing. Or it would be able to broadly recognize that Baxter Road is a place, but Baxter Smith is a person’s name</a:t>
            </a:r>
            <a:r>
              <a:rPr lang="en-US" b="0" i="0" dirty="0">
                <a:solidFill>
                  <a:srgbClr val="333333"/>
                </a:solidFill>
                <a:effectLst/>
                <a:latin typeface="AmazonEmber"/>
              </a:rPr>
              <a:t>.</a:t>
            </a:r>
          </a:p>
          <a:p>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3563485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794620"/>
          </a:xfrm>
        </p:spPr>
        <p:txBody>
          <a:bodyPr/>
          <a:lstStyle/>
          <a:p>
            <a:r>
              <a:rPr lang="en-US" b="0" i="0" dirty="0">
                <a:solidFill>
                  <a:srgbClr val="232F3E"/>
                </a:solidFill>
                <a:effectLst/>
                <a:latin typeface="AmazonEmberBold"/>
              </a:rPr>
              <a:t>Neural Networks used for</a:t>
            </a: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lstStyle/>
          <a:p>
            <a:pPr marL="0" indent="0" algn="just">
              <a:buNone/>
            </a:pPr>
            <a:r>
              <a:rPr lang="en-US" dirty="0"/>
              <a:t>Neural networks have several use cases across many industries, such as the following:</a:t>
            </a:r>
          </a:p>
          <a:p>
            <a:pPr algn="just"/>
            <a:endParaRPr lang="en-US" dirty="0"/>
          </a:p>
          <a:p>
            <a:pPr algn="just"/>
            <a:r>
              <a:rPr lang="en-US" dirty="0"/>
              <a:t>Medical diagnosis by medical image classification</a:t>
            </a:r>
          </a:p>
          <a:p>
            <a:pPr algn="just"/>
            <a:r>
              <a:rPr lang="en-US" dirty="0"/>
              <a:t>Targeted marketing by social network filtering and behavioral data analysis</a:t>
            </a:r>
          </a:p>
          <a:p>
            <a:pPr algn="just"/>
            <a:r>
              <a:rPr lang="en-US" dirty="0"/>
              <a:t>Financial predictions by processing historical data of financial instruments</a:t>
            </a:r>
          </a:p>
          <a:p>
            <a:pPr algn="just"/>
            <a:r>
              <a:rPr lang="en-US" dirty="0"/>
              <a:t>Electrical load and energy demand forecasting</a:t>
            </a:r>
          </a:p>
          <a:p>
            <a:pPr algn="just"/>
            <a:r>
              <a:rPr lang="en-US" dirty="0"/>
              <a:t>Process and quality control</a:t>
            </a:r>
          </a:p>
          <a:p>
            <a:pPr algn="just"/>
            <a:r>
              <a:rPr lang="en-US" dirty="0"/>
              <a:t>Chemical compound identification</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8944950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Robotics </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3242237" y="1179408"/>
            <a:ext cx="8262376" cy="4908535"/>
          </a:xfrm>
        </p:spPr>
        <p:txBody>
          <a:bodyPr/>
          <a:lstStyle/>
          <a:p>
            <a:pPr algn="just"/>
            <a:r>
              <a:rPr lang="en-US" b="0" i="0" dirty="0">
                <a:solidFill>
                  <a:srgbClr val="000000"/>
                </a:solidFill>
                <a:effectLst/>
                <a:latin typeface="Nunito" pitchFamily="2" charset="0"/>
              </a:rPr>
              <a:t>Robotics is a domain of artificial intelligence that deals with the study of creating intelligent and efficient robots.</a:t>
            </a:r>
          </a:p>
          <a:p>
            <a:pPr algn="just"/>
            <a:r>
              <a:rPr lang="en-US" b="0" i="0" dirty="0">
                <a:solidFill>
                  <a:srgbClr val="000000"/>
                </a:solidFill>
                <a:effectLst/>
                <a:latin typeface="Nunito" pitchFamily="2" charset="0"/>
              </a:rPr>
              <a:t>Robots are artificial agents acting in real-world environments.</a:t>
            </a:r>
            <a:endParaRPr lang="en-US" dirty="0">
              <a:solidFill>
                <a:srgbClr val="000000"/>
              </a:solidFill>
              <a:latin typeface="Nunito" pitchFamily="2" charset="0"/>
            </a:endParaRPr>
          </a:p>
          <a:p>
            <a:pPr algn="just"/>
            <a:r>
              <a:rPr lang="en-US" b="0" i="0" dirty="0">
                <a:solidFill>
                  <a:srgbClr val="000000"/>
                </a:solidFill>
                <a:effectLst/>
                <a:latin typeface="Nunito" pitchFamily="2" charset="0"/>
              </a:rPr>
              <a:t>Robots are aimed at manipulating objects by perceiving, picking, moving, modifying the physical properties of an object, destroying it, or having an effect thereby freeing manpower from doing repetitive functions without getting bored, distracted, or exhausted.</a:t>
            </a:r>
          </a:p>
          <a:p>
            <a:pPr algn="just"/>
            <a:r>
              <a:rPr lang="en-US" b="0" i="0" dirty="0">
                <a:solidFill>
                  <a:srgbClr val="000000"/>
                </a:solidFill>
                <a:effectLst/>
                <a:latin typeface="Heebo" pitchFamily="2" charset="-79"/>
                <a:cs typeface="Heebo" pitchFamily="2" charset="-79"/>
              </a:rPr>
              <a:t>Robotics: </a:t>
            </a:r>
            <a:r>
              <a:rPr lang="en-US" b="0" i="0" dirty="0">
                <a:solidFill>
                  <a:srgbClr val="000000"/>
                </a:solidFill>
                <a:effectLst/>
                <a:latin typeface="Nunito" pitchFamily="2" charset="0"/>
              </a:rPr>
              <a:t>Robotics is a branch of AI, which is composed of Electrical Engineering, Mechanical Engineering, and Computer Science for designing, construction, and application of robots.</a:t>
            </a:r>
          </a:p>
          <a:p>
            <a:pPr algn="just"/>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4098" name="Picture 2" descr="Legged Locomotion">
            <a:extLst>
              <a:ext uri="{FF2B5EF4-FFF2-40B4-BE49-F238E27FC236}">
                <a16:creationId xmlns:a16="http://schemas.microsoft.com/office/drawing/2014/main" id="{506CB37D-9B4D-7561-D879-DD6BB3740C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489" y="1337341"/>
            <a:ext cx="3062748" cy="45941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81224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Expert System</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lstStyle/>
          <a:p>
            <a:r>
              <a:rPr lang="en-US" dirty="0">
                <a:solidFill>
                  <a:schemeClr val="tx1"/>
                </a:solidFill>
              </a:rPr>
              <a:t>An expert system is an AI-based computer system that learns and reciprocates the decision-making ability of a human expert.</a:t>
            </a:r>
          </a:p>
          <a:p>
            <a:r>
              <a:rPr lang="en-US" dirty="0">
                <a:solidFill>
                  <a:schemeClr val="tx1"/>
                </a:solidFill>
              </a:rPr>
              <a:t>These are Soft wares used for decision making . Automated Reasoning and Theorem Proving.</a:t>
            </a:r>
          </a:p>
          <a:p>
            <a:r>
              <a:rPr lang="en-US" dirty="0">
                <a:solidFill>
                  <a:schemeClr val="tx1"/>
                </a:solidFill>
              </a:rPr>
              <a:t>Expert systems use if-then logical notations to solve complex problems.</a:t>
            </a:r>
          </a:p>
          <a:p>
            <a:r>
              <a:rPr lang="en-US" dirty="0">
                <a:solidFill>
                  <a:schemeClr val="tx1"/>
                </a:solidFill>
              </a:rPr>
              <a:t>It does not rely on conventional procedural programming.</a:t>
            </a:r>
          </a:p>
          <a:p>
            <a:r>
              <a:rPr lang="en-US" dirty="0">
                <a:solidFill>
                  <a:schemeClr val="tx1"/>
                </a:solidFill>
              </a:rPr>
              <a:t>Expert systems are mainly used in information management, medical facilities, loan analysis, virus detection and so on.</a:t>
            </a:r>
          </a:p>
          <a:p>
            <a:endParaRPr lang="en-US" dirty="0">
              <a:solidFill>
                <a:schemeClr val="tx1"/>
              </a:solidFill>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5122" name="Picture 2" descr="Expert Systems in AI">
            <a:extLst>
              <a:ext uri="{FF2B5EF4-FFF2-40B4-BE49-F238E27FC236}">
                <a16:creationId xmlns:a16="http://schemas.microsoft.com/office/drawing/2014/main" id="{A4C6A1E7-D6EE-76F9-A44B-8B19B3FF38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8388" y="4438650"/>
            <a:ext cx="5857875" cy="2419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35743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Fuzzy logic</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normAutofit/>
          </a:bodyPr>
          <a:lstStyle/>
          <a:p>
            <a:r>
              <a:rPr lang="en-US" dirty="0">
                <a:solidFill>
                  <a:schemeClr val="tx1"/>
                </a:solidFill>
              </a:rPr>
              <a:t>In artificial intelligence (AI) systems, fuzzy logic is used to imitate human reasoning and cognition. Rather than strictly binary cases of truth, fuzzy logic includes 0 and 1 as extreme cases of truth but with various intermediate degrees of truth.</a:t>
            </a:r>
          </a:p>
          <a:p>
            <a:pPr marL="0" indent="0">
              <a:buNone/>
            </a:pPr>
            <a:endParaRPr lang="en-US" dirty="0">
              <a:solidFill>
                <a:schemeClr val="tx1"/>
              </a:solidFill>
            </a:endParaRPr>
          </a:p>
          <a:p>
            <a:pPr marL="0" indent="0">
              <a:buNone/>
            </a:pPr>
            <a:r>
              <a:rPr lang="en-US" dirty="0">
                <a:solidFill>
                  <a:schemeClr val="tx1"/>
                </a:solidFill>
              </a:rPr>
              <a:t>Fuzzy logic is well-suited for the following:</a:t>
            </a:r>
          </a:p>
          <a:p>
            <a:r>
              <a:rPr lang="en-US" dirty="0">
                <a:solidFill>
                  <a:schemeClr val="tx1"/>
                </a:solidFill>
              </a:rPr>
              <a:t>Engineering for decisions without clear certainties and uncertainties, or with imprecise data -- such as with natural language processing technologies; and</a:t>
            </a:r>
          </a:p>
          <a:p>
            <a:r>
              <a:rPr lang="en-US" dirty="0">
                <a:solidFill>
                  <a:schemeClr val="tx1"/>
                </a:solidFill>
              </a:rPr>
              <a:t>Regulating and controlling machine outputs, according to multiple inputs/input variables -- such as with temperature control systems.</a:t>
            </a:r>
          </a:p>
          <a:p>
            <a:pPr marL="0" indent="0">
              <a:buNone/>
            </a:pPr>
            <a:r>
              <a:rPr lang="en-US" dirty="0">
                <a:solidFill>
                  <a:schemeClr val="tx1"/>
                </a:solidFill>
              </a:rPr>
              <a:t>IBM's Watson supercomputer is one of the most prominent examples of how variations of fuzzy logic and fuzzy semantics are used.</a:t>
            </a:r>
          </a:p>
          <a:p>
            <a:pPr marL="0" indent="0">
              <a:buNone/>
            </a:pPr>
            <a:r>
              <a:rPr lang="en-US" b="0" i="0" dirty="0">
                <a:solidFill>
                  <a:schemeClr val="accent1"/>
                </a:solidFill>
                <a:effectLst/>
                <a:latin typeface="Arial" panose="020B0604020202020204" pitchFamily="34" charset="0"/>
              </a:rPr>
              <a:t>Watson is an IBM supercomputer that combines artificial intelligence (AI) and sophisticated analytical software...</a:t>
            </a:r>
            <a:endParaRPr lang="en-US" dirty="0">
              <a:solidFill>
                <a:schemeClr val="accent1"/>
              </a:solidFill>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0897070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Natural Language Processing</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5161935" y="1579201"/>
            <a:ext cx="6342678" cy="4508742"/>
          </a:xfrm>
        </p:spPr>
        <p:txBody>
          <a:bodyPr/>
          <a:lstStyle/>
          <a:p>
            <a:r>
              <a:rPr lang="en-US" dirty="0">
                <a:solidFill>
                  <a:schemeClr val="tx1"/>
                </a:solidFill>
              </a:rPr>
              <a:t>Natural Language Processing (NLP) refers to the science of drawing insights from natural human language in order to communicate with machines and grow businesses.</a:t>
            </a:r>
          </a:p>
          <a:p>
            <a:r>
              <a:rPr lang="en-US" dirty="0">
                <a:solidFill>
                  <a:schemeClr val="tx1"/>
                </a:solidFill>
              </a:rPr>
              <a:t>One of the older and best-known examples of NLP is spam detection, which looks at the subject line and text of an email and decides if it's junk. </a:t>
            </a:r>
          </a:p>
          <a:p>
            <a:r>
              <a:rPr lang="en-US" dirty="0">
                <a:solidFill>
                  <a:schemeClr val="tx1"/>
                </a:solidFill>
              </a:rPr>
              <a:t>Current approaches to NLP are based on machine learning. NLP tasks include text translation, sentiment analysis and speech recognition. </a:t>
            </a:r>
          </a:p>
          <a:p>
            <a:r>
              <a:rPr lang="en-US" dirty="0">
                <a:solidFill>
                  <a:schemeClr val="tx1"/>
                </a:solidFill>
              </a:rPr>
              <a:t>Amazon uses NLP to understand customer reviews and improve user experience.</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6146" name="Picture 2" descr="Applications of Natural Language Processing | Data Science Dojo">
            <a:extLst>
              <a:ext uri="{FF2B5EF4-FFF2-40B4-BE49-F238E27FC236}">
                <a16:creationId xmlns:a16="http://schemas.microsoft.com/office/drawing/2014/main" id="{360ABB29-28AB-BC76-E455-C6313D27F3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28" y="1231316"/>
            <a:ext cx="5161935" cy="54970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85957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Data science</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lstStyle/>
          <a:p>
            <a:pPr algn="just"/>
            <a:r>
              <a:rPr lang="en-US" dirty="0"/>
              <a:t>Data science combines math and statistics, specialized programming, advanced analytics, artificial intelligence (AI), and machine learning with specific subject matter expertise to uncover actionable insights hidden in an organization’s data. These insights can be used to guide decision making and strategic planning.</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7170" name="Picture 2" descr="Data Science Vs Artificial Intelligence Vs Machine Learning">
            <a:extLst>
              <a:ext uri="{FF2B5EF4-FFF2-40B4-BE49-F238E27FC236}">
                <a16:creationId xmlns:a16="http://schemas.microsoft.com/office/drawing/2014/main" id="{84BB876D-F69C-2F44-6295-E8ECA3ACC2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7114" y="2918388"/>
            <a:ext cx="66675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91404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AI Techniques</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lstStyle/>
          <a:p>
            <a:r>
              <a:rPr lang="en-US" dirty="0"/>
              <a:t>Artificial Intelligence (AI) techniques are methods, algorithms, and approaches used to create intelligent systems capable of learning, reasoning, and problem-solving. These techniques enable AI systems to perform tasks that would otherwise require human intelligence.</a:t>
            </a:r>
          </a:p>
          <a:p>
            <a:r>
              <a:rPr lang="en-US" b="0" i="0" dirty="0">
                <a:solidFill>
                  <a:srgbClr val="2D3748"/>
                </a:solidFill>
                <a:effectLst/>
                <a:latin typeface="-apple-system"/>
              </a:rPr>
              <a:t>4 types of Artificial Intelligence Techniques:</a:t>
            </a:r>
          </a:p>
          <a:p>
            <a:r>
              <a:rPr lang="en-US" b="1" i="0" dirty="0">
                <a:effectLst/>
                <a:latin typeface="-apple-system"/>
              </a:rPr>
              <a:t>Machine Learning (ML)</a:t>
            </a:r>
          </a:p>
          <a:p>
            <a:r>
              <a:rPr lang="en-US" b="1" i="0" dirty="0">
                <a:effectLst/>
                <a:latin typeface="-apple-system"/>
              </a:rPr>
              <a:t>Machine Vision or Computer Vision</a:t>
            </a:r>
          </a:p>
          <a:p>
            <a:r>
              <a:rPr lang="en-US" b="1" i="0" dirty="0">
                <a:effectLst/>
                <a:latin typeface="-apple-system"/>
              </a:rPr>
              <a:t>Automation and Robotics</a:t>
            </a:r>
          </a:p>
          <a:p>
            <a:r>
              <a:rPr lang="en-US" b="1" i="0" dirty="0">
                <a:effectLst/>
                <a:latin typeface="-apple-system"/>
              </a:rPr>
              <a:t>Natural Language Processing (NLP)</a:t>
            </a:r>
          </a:p>
          <a:p>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27443242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Fun program</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526338"/>
          </a:xfrm>
        </p:spPr>
        <p:txBody>
          <a:bodyPr/>
          <a:lstStyle/>
          <a:p>
            <a:r>
              <a:rPr lang="en-US" dirty="0"/>
              <a:t>Implement an python code and explain for its working- Tic tac toe –</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29064"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8194" name="Picture 2" descr="YouTube for Android apparently updated with Activity tab and swipe to  remove videos from playlist ​ | Digit">
            <a:extLst>
              <a:ext uri="{FF2B5EF4-FFF2-40B4-BE49-F238E27FC236}">
                <a16:creationId xmlns:a16="http://schemas.microsoft.com/office/drawing/2014/main" id="{805E04D5-E050-4AD2-4F4B-B9B094FDBF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43764" y="2466245"/>
            <a:ext cx="4260849" cy="2447109"/>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Tic Tac Toe Images - Free Download on Freepik">
            <a:extLst>
              <a:ext uri="{FF2B5EF4-FFF2-40B4-BE49-F238E27FC236}">
                <a16:creationId xmlns:a16="http://schemas.microsoft.com/office/drawing/2014/main" id="{27FFBE5A-4C63-ABA3-DEB9-45F9702A07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8367" y="1939907"/>
            <a:ext cx="4405623" cy="3779998"/>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a:extLst>
              <a:ext uri="{FF2B5EF4-FFF2-40B4-BE49-F238E27FC236}">
                <a16:creationId xmlns:a16="http://schemas.microsoft.com/office/drawing/2014/main" id="{220A524D-DFA6-B122-48CB-B6C23D732242}"/>
              </a:ext>
            </a:extLst>
          </p:cNvPr>
          <p:cNvSpPr txBox="1">
            <a:spLocks/>
          </p:cNvSpPr>
          <p:nvPr/>
        </p:nvSpPr>
        <p:spPr>
          <a:xfrm>
            <a:off x="1469924" y="6066634"/>
            <a:ext cx="10334573" cy="526338"/>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dirty="0">
                <a:solidFill>
                  <a:schemeClr val="tx1"/>
                </a:solidFill>
              </a:rPr>
              <a:t>Submission of Video / YouTube link 3-5min video with description (English/ Hindi / </a:t>
            </a:r>
            <a:r>
              <a:rPr lang="en-US" b="1" dirty="0" err="1">
                <a:solidFill>
                  <a:schemeClr val="tx1"/>
                </a:solidFill>
              </a:rPr>
              <a:t>kannada</a:t>
            </a:r>
            <a:r>
              <a:rPr lang="en-US" b="1" dirty="0">
                <a:solidFill>
                  <a:schemeClr val="tx1"/>
                </a:solidFill>
              </a:rPr>
              <a:t> sub titles)</a:t>
            </a:r>
          </a:p>
        </p:txBody>
      </p:sp>
    </p:spTree>
    <p:extLst>
      <p:ext uri="{BB962C8B-B14F-4D97-AF65-F5344CB8AC3E}">
        <p14:creationId xmlns:p14="http://schemas.microsoft.com/office/powerpoint/2010/main" val="99491329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AI Agents</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lstStyle/>
          <a:p>
            <a:pPr algn="just"/>
            <a:r>
              <a:rPr lang="en-US" dirty="0"/>
              <a:t>In artificial intelligence, an agent is a computer program or system that is designed to perceive its environment, make decisions and take actions to achieve a specific goal or set of goals. The agent operates autonomously, meaning it is not directly controlled by a human operator.</a:t>
            </a:r>
          </a:p>
          <a:p>
            <a:pPr algn="just"/>
            <a:r>
              <a:rPr lang="en-US" dirty="0"/>
              <a:t>An AI system can be defined as the study of the rational agent and its environment. The agents sense the environment through sensors and act on their environment through actuators. An AI agent can have mental properties such as knowledge, belief, intention, etc.</a:t>
            </a:r>
          </a:p>
          <a:p>
            <a:pPr algn="just"/>
            <a:r>
              <a:rPr lang="en-US" dirty="0"/>
              <a:t>An agent can be anything that </a:t>
            </a:r>
            <a:r>
              <a:rPr lang="en-US" dirty="0" err="1"/>
              <a:t>perceiveits</a:t>
            </a:r>
            <a:r>
              <a:rPr lang="en-US" dirty="0"/>
              <a:t> environment through sensors and act upon that environment through actuators. An Agent runs in the cycle of perceiving, thinking, and acting.</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179939747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259107" y="1049796"/>
            <a:ext cx="10334573" cy="4508742"/>
          </a:xfrm>
        </p:spPr>
        <p:txBody>
          <a:bodyPr/>
          <a:lstStyle/>
          <a:p>
            <a:pPr marL="0" indent="0">
              <a:buNone/>
            </a:pPr>
            <a:r>
              <a:rPr lang="en-US" dirty="0"/>
              <a:t>An agent can be:</a:t>
            </a:r>
          </a:p>
          <a:p>
            <a:r>
              <a:rPr lang="en-US" b="1" dirty="0"/>
              <a:t>Human-Agent: </a:t>
            </a:r>
            <a:r>
              <a:rPr lang="en-US" dirty="0"/>
              <a:t>A human agent has eyes, ears, and other organs which work for sensors and hand, legs, vocal tract work for actuators.</a:t>
            </a:r>
          </a:p>
          <a:p>
            <a:r>
              <a:rPr lang="en-US" b="1" dirty="0"/>
              <a:t>Robotic Agent: </a:t>
            </a:r>
            <a:r>
              <a:rPr lang="en-US" dirty="0"/>
              <a:t>A robotic agent can have cameras, infrared range finder, NLP for sensors and various motors for actuators.</a:t>
            </a:r>
          </a:p>
          <a:p>
            <a:r>
              <a:rPr lang="en-US" b="1" dirty="0"/>
              <a:t>Software Agent: </a:t>
            </a:r>
            <a:r>
              <a:rPr lang="en-US" dirty="0"/>
              <a:t>Software agent can have keystrokes, file contents as sensory input and act on those inputs and display output on the screen.</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8" name="Picture 2">
            <a:extLst>
              <a:ext uri="{FF2B5EF4-FFF2-40B4-BE49-F238E27FC236}">
                <a16:creationId xmlns:a16="http://schemas.microsoft.com/office/drawing/2014/main" id="{1365E2B8-2A26-B4FA-549F-A8EAF1F6C3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321" y="3487618"/>
            <a:ext cx="5298408" cy="26003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26" name="Picture 2" descr="Agents in AI">
            <a:extLst>
              <a:ext uri="{FF2B5EF4-FFF2-40B4-BE49-F238E27FC236}">
                <a16:creationId xmlns:a16="http://schemas.microsoft.com/office/drawing/2014/main" id="{4BBF957D-B8DF-3A5D-01A4-EA87430A87A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73429" y="3682880"/>
            <a:ext cx="6191250" cy="220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53538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lstStyle/>
          <a:p>
            <a:r>
              <a:rPr lang="en-US" dirty="0"/>
              <a:t>Before moving forward, we should first know about sensors, effectors, and actuators.</a:t>
            </a:r>
          </a:p>
          <a:p>
            <a:r>
              <a:rPr lang="en-US" b="1" dirty="0"/>
              <a:t>Sensor: </a:t>
            </a:r>
            <a:r>
              <a:rPr lang="en-US" dirty="0"/>
              <a:t>Sensor is a device which detects the change in the environment and sends the information to other electronic devices. An agent observes its environment through sensors.</a:t>
            </a:r>
          </a:p>
          <a:p>
            <a:r>
              <a:rPr lang="en-US" b="1" dirty="0"/>
              <a:t>Actuators: </a:t>
            </a:r>
            <a:r>
              <a:rPr lang="en-US" dirty="0"/>
              <a:t>Actuators are the component of machines that converts energy into motion. The actuators are only responsible for moving and controlling a system. An actuator can be an electric motor, gears, rails, etc.</a:t>
            </a:r>
          </a:p>
          <a:p>
            <a:r>
              <a:rPr lang="en-US" b="1" dirty="0"/>
              <a:t>Effectors: </a:t>
            </a:r>
            <a:r>
              <a:rPr lang="en-US" dirty="0"/>
              <a:t>Effectors are the devices which affect the environment. Effectors can be legs, wheels, arms, fingers, wings, fins, and display screen.</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87656310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259107" y="1139389"/>
            <a:ext cx="10334573" cy="960203"/>
          </a:xfrm>
        </p:spPr>
        <p:txBody>
          <a:bodyPr/>
          <a:lstStyle/>
          <a:p>
            <a:pPr algn="just"/>
            <a:r>
              <a:rPr lang="en-US" dirty="0">
                <a:latin typeface="Bookman Old Style" panose="02050604050505020204" pitchFamily="18" charset="0"/>
              </a:rPr>
              <a:t>Agents can be classified into different types based on their characteristics, such as whether they are reactive or proactive, whether they have a fixed or dynamic environment, and whether they are single or multi-agent systems.</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graphicFrame>
        <p:nvGraphicFramePr>
          <p:cNvPr id="8" name="Table 8">
            <a:extLst>
              <a:ext uri="{FF2B5EF4-FFF2-40B4-BE49-F238E27FC236}">
                <a16:creationId xmlns:a16="http://schemas.microsoft.com/office/drawing/2014/main" id="{705B6496-B35B-4CEB-E2D8-693DE586DFEF}"/>
              </a:ext>
            </a:extLst>
          </p:cNvPr>
          <p:cNvGraphicFramePr>
            <a:graphicFrameLocks noGrp="1"/>
          </p:cNvGraphicFramePr>
          <p:nvPr>
            <p:extLst>
              <p:ext uri="{D42A27DB-BD31-4B8C-83A1-F6EECF244321}">
                <p14:modId xmlns:p14="http://schemas.microsoft.com/office/powerpoint/2010/main" val="979943360"/>
              </p:ext>
            </p:extLst>
          </p:nvPr>
        </p:nvGraphicFramePr>
        <p:xfrm>
          <a:off x="865527" y="2333823"/>
          <a:ext cx="11121732" cy="3754120"/>
        </p:xfrm>
        <a:graphic>
          <a:graphicData uri="http://schemas.openxmlformats.org/drawingml/2006/table">
            <a:tbl>
              <a:tblPr firstRow="1" bandRow="1">
                <a:tableStyleId>{8A107856-5554-42FB-B03E-39F5DBC370BA}</a:tableStyleId>
              </a:tblPr>
              <a:tblGrid>
                <a:gridCol w="5560866">
                  <a:extLst>
                    <a:ext uri="{9D8B030D-6E8A-4147-A177-3AD203B41FA5}">
                      <a16:colId xmlns:a16="http://schemas.microsoft.com/office/drawing/2014/main" val="2007989852"/>
                    </a:ext>
                  </a:extLst>
                </a:gridCol>
                <a:gridCol w="5560866">
                  <a:extLst>
                    <a:ext uri="{9D8B030D-6E8A-4147-A177-3AD203B41FA5}">
                      <a16:colId xmlns:a16="http://schemas.microsoft.com/office/drawing/2014/main" val="510008718"/>
                    </a:ext>
                  </a:extLst>
                </a:gridCol>
              </a:tblGrid>
              <a:tr h="370840">
                <a:tc>
                  <a:txBody>
                    <a:bodyPr/>
                    <a:lstStyle/>
                    <a:p>
                      <a:pPr algn="just"/>
                      <a:r>
                        <a:rPr lang="en-US" sz="1800" b="1" kern="1200" dirty="0">
                          <a:solidFill>
                            <a:schemeClr val="dk1"/>
                          </a:solidFill>
                          <a:effectLst/>
                        </a:rPr>
                        <a:t>Reactive agents </a:t>
                      </a:r>
                      <a:endParaRPr lang="en-US" b="1" dirty="0">
                        <a:latin typeface="Bookman Old Style" panose="02050604050505020204" pitchFamily="18" charset="0"/>
                      </a:endParaRPr>
                    </a:p>
                  </a:txBody>
                  <a:tcPr/>
                </a:tc>
                <a:tc>
                  <a:txBody>
                    <a:bodyPr/>
                    <a:lstStyle/>
                    <a:p>
                      <a:pPr algn="just"/>
                      <a:r>
                        <a:rPr lang="en-US" sz="1800" b="1" kern="1200" dirty="0">
                          <a:solidFill>
                            <a:schemeClr val="dk1"/>
                          </a:solidFill>
                          <a:effectLst/>
                        </a:rPr>
                        <a:t>Multi-agent systems </a:t>
                      </a:r>
                      <a:endParaRPr lang="en-US" b="1" dirty="0">
                        <a:latin typeface="Bookman Old Style" panose="02050604050505020204" pitchFamily="18" charset="0"/>
                      </a:endParaRPr>
                    </a:p>
                  </a:txBody>
                  <a:tcPr/>
                </a:tc>
                <a:extLst>
                  <a:ext uri="{0D108BD9-81ED-4DB2-BD59-A6C34878D82A}">
                    <a16:rowId xmlns:a16="http://schemas.microsoft.com/office/drawing/2014/main" val="4034461664"/>
                  </a:ext>
                </a:extLst>
              </a:tr>
              <a:tr h="370840">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800" b="0" kern="1200" dirty="0">
                          <a:solidFill>
                            <a:schemeClr val="dk1"/>
                          </a:solidFill>
                          <a:effectLst/>
                        </a:rPr>
                        <a:t>Reactive agents are those that respond to immediate stimuli from their environment and take actions based on those stimuli. Proactive agents, on the other hand, take initiative and plan ahead to achieve their goals. The environment in which an agent operates can also be fixed or dynamic. Fixed environments have a static set of rules that do not change, while dynamic environments are constantly changing and require agents to adapt to new situations.</a:t>
                      </a:r>
                    </a:p>
                    <a:p>
                      <a:pPr algn="just"/>
                      <a:endParaRPr lang="en-US" dirty="0">
                        <a:latin typeface="Bookman Old Style" panose="02050604050505020204" pitchFamily="18" charset="0"/>
                      </a:endParaRP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800" b="0" kern="1200" dirty="0">
                          <a:solidFill>
                            <a:schemeClr val="dk1"/>
                          </a:solidFill>
                          <a:effectLst/>
                        </a:rPr>
                        <a:t>Multi-agent systems involve multiple agents working together to achieve a common goal. These agents may have to coordinate their actions and communicate with each other to achieve their objectives. Agents are used in a variety of applications, including robotics, gaming, and intelligent systems. They can be implemented using different programming languages and techniques, including machine learning and natural language processing.</a:t>
                      </a:r>
                    </a:p>
                    <a:p>
                      <a:pPr algn="just"/>
                      <a:endParaRPr lang="en-US" dirty="0">
                        <a:latin typeface="Bookman Old Style" panose="02050604050505020204" pitchFamily="18" charset="0"/>
                      </a:endParaRPr>
                    </a:p>
                  </a:txBody>
                  <a:tcPr/>
                </a:tc>
                <a:extLst>
                  <a:ext uri="{0D108BD9-81ED-4DB2-BD59-A6C34878D82A}">
                    <a16:rowId xmlns:a16="http://schemas.microsoft.com/office/drawing/2014/main" val="1108665411"/>
                  </a:ext>
                </a:extLst>
              </a:tr>
            </a:tbl>
          </a:graphicData>
        </a:graphic>
      </p:graphicFrame>
    </p:spTree>
    <p:extLst>
      <p:ext uri="{BB962C8B-B14F-4D97-AF65-F5344CB8AC3E}">
        <p14:creationId xmlns:p14="http://schemas.microsoft.com/office/powerpoint/2010/main" val="34250190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Structure of an AI Agent</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lstStyle/>
          <a:p>
            <a:pPr algn="just"/>
            <a:r>
              <a:rPr lang="en-US" dirty="0"/>
              <a:t>To understand the structure of Intelligent Agents, we should be familiar with Architecture and Agent programs. Architecture is the machinery that the agent executes on. It is a device with sensors and actuators, for example, a robotic car, a camera, and a PC. An agent program is an implementation of an agent function. An agent function is a map from the percept sequence(history of all that an agent has perceived to date) to an action. </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graphicFrame>
        <p:nvGraphicFramePr>
          <p:cNvPr id="8" name="Diagram 7">
            <a:extLst>
              <a:ext uri="{FF2B5EF4-FFF2-40B4-BE49-F238E27FC236}">
                <a16:creationId xmlns:a16="http://schemas.microsoft.com/office/drawing/2014/main" id="{6E3A117D-E3E4-8655-710C-905B4614B437}"/>
              </a:ext>
            </a:extLst>
          </p:cNvPr>
          <p:cNvGraphicFramePr/>
          <p:nvPr>
            <p:extLst>
              <p:ext uri="{D42A27DB-BD31-4B8C-83A1-F6EECF244321}">
                <p14:modId xmlns:p14="http://schemas.microsoft.com/office/powerpoint/2010/main" val="4167514459"/>
              </p:ext>
            </p:extLst>
          </p:nvPr>
        </p:nvGraphicFramePr>
        <p:xfrm>
          <a:off x="2991127" y="3429000"/>
          <a:ext cx="7144681" cy="227457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51179643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Example of Agents with their PEAS representation</a:t>
            </a:r>
          </a:p>
        </p:txBody>
      </p:sp>
      <p:graphicFrame>
        <p:nvGraphicFramePr>
          <p:cNvPr id="10" name="Content Placeholder 9">
            <a:extLst>
              <a:ext uri="{FF2B5EF4-FFF2-40B4-BE49-F238E27FC236}">
                <a16:creationId xmlns:a16="http://schemas.microsoft.com/office/drawing/2014/main" id="{1DAE3365-80C6-8DC7-882F-692ABE63461B}"/>
              </a:ext>
            </a:extLst>
          </p:cNvPr>
          <p:cNvGraphicFramePr>
            <a:graphicFrameLocks noGrp="1"/>
          </p:cNvGraphicFramePr>
          <p:nvPr>
            <p:ph idx="1"/>
            <p:extLst>
              <p:ext uri="{D42A27DB-BD31-4B8C-83A1-F6EECF244321}">
                <p14:modId xmlns:p14="http://schemas.microsoft.com/office/powerpoint/2010/main" val="1235678632"/>
              </p:ext>
            </p:extLst>
          </p:nvPr>
        </p:nvGraphicFramePr>
        <p:xfrm>
          <a:off x="635840" y="2218220"/>
          <a:ext cx="11428340" cy="4646129"/>
        </p:xfrm>
        <a:graphic>
          <a:graphicData uri="http://schemas.openxmlformats.org/drawingml/2006/table">
            <a:tbl>
              <a:tblPr>
                <a:tableStyleId>{E8B1032C-EA38-4F05-BA0D-38AFFFC7BED3}</a:tableStyleId>
              </a:tblPr>
              <a:tblGrid>
                <a:gridCol w="2285668">
                  <a:extLst>
                    <a:ext uri="{9D8B030D-6E8A-4147-A177-3AD203B41FA5}">
                      <a16:colId xmlns:a16="http://schemas.microsoft.com/office/drawing/2014/main" val="4273608031"/>
                    </a:ext>
                  </a:extLst>
                </a:gridCol>
                <a:gridCol w="2741873">
                  <a:extLst>
                    <a:ext uri="{9D8B030D-6E8A-4147-A177-3AD203B41FA5}">
                      <a16:colId xmlns:a16="http://schemas.microsoft.com/office/drawing/2014/main" val="3646143357"/>
                    </a:ext>
                  </a:extLst>
                </a:gridCol>
                <a:gridCol w="1829463">
                  <a:extLst>
                    <a:ext uri="{9D8B030D-6E8A-4147-A177-3AD203B41FA5}">
                      <a16:colId xmlns:a16="http://schemas.microsoft.com/office/drawing/2014/main" val="2964776310"/>
                    </a:ext>
                  </a:extLst>
                </a:gridCol>
                <a:gridCol w="2285668">
                  <a:extLst>
                    <a:ext uri="{9D8B030D-6E8A-4147-A177-3AD203B41FA5}">
                      <a16:colId xmlns:a16="http://schemas.microsoft.com/office/drawing/2014/main" val="3954825413"/>
                    </a:ext>
                  </a:extLst>
                </a:gridCol>
                <a:gridCol w="2285668">
                  <a:extLst>
                    <a:ext uri="{9D8B030D-6E8A-4147-A177-3AD203B41FA5}">
                      <a16:colId xmlns:a16="http://schemas.microsoft.com/office/drawing/2014/main" val="2933340886"/>
                    </a:ext>
                  </a:extLst>
                </a:gridCol>
              </a:tblGrid>
              <a:tr h="419973">
                <a:tc>
                  <a:txBody>
                    <a:bodyPr/>
                    <a:lstStyle/>
                    <a:p>
                      <a:pPr algn="l" fontAlgn="t"/>
                      <a:r>
                        <a:rPr lang="en-US" sz="1800" b="1">
                          <a:solidFill>
                            <a:srgbClr val="000000"/>
                          </a:solidFill>
                          <a:effectLst/>
                        </a:rPr>
                        <a:t>Agent</a:t>
                      </a:r>
                      <a:endParaRPr lang="en-US" sz="1800" b="1">
                        <a:solidFill>
                          <a:srgbClr val="000000"/>
                        </a:solidFill>
                        <a:effectLst/>
                        <a:latin typeface="times new roman" panose="02020603050405020304" pitchFamily="18" charset="0"/>
                      </a:endParaRPr>
                    </a:p>
                  </a:txBody>
                  <a:tcPr marL="90775" marR="90775" marT="90775" marB="90775"/>
                </a:tc>
                <a:tc>
                  <a:txBody>
                    <a:bodyPr/>
                    <a:lstStyle/>
                    <a:p>
                      <a:pPr algn="l" fontAlgn="t"/>
                      <a:r>
                        <a:rPr lang="en-US" sz="1800" b="1" dirty="0">
                          <a:solidFill>
                            <a:srgbClr val="000000"/>
                          </a:solidFill>
                          <a:effectLst/>
                        </a:rPr>
                        <a:t>Performance measure</a:t>
                      </a:r>
                      <a:endParaRPr lang="en-US" sz="1800" b="1" dirty="0">
                        <a:solidFill>
                          <a:srgbClr val="000000"/>
                        </a:solidFill>
                        <a:effectLst/>
                        <a:latin typeface="times new roman" panose="02020603050405020304" pitchFamily="18" charset="0"/>
                      </a:endParaRPr>
                    </a:p>
                  </a:txBody>
                  <a:tcPr marL="90775" marR="90775" marT="90775" marB="90775"/>
                </a:tc>
                <a:tc>
                  <a:txBody>
                    <a:bodyPr/>
                    <a:lstStyle/>
                    <a:p>
                      <a:pPr algn="l" fontAlgn="t"/>
                      <a:r>
                        <a:rPr lang="en-US" sz="1800" b="1" dirty="0">
                          <a:solidFill>
                            <a:srgbClr val="000000"/>
                          </a:solidFill>
                          <a:effectLst/>
                        </a:rPr>
                        <a:t>Environment</a:t>
                      </a:r>
                      <a:endParaRPr lang="en-US" sz="1800" b="1" dirty="0">
                        <a:solidFill>
                          <a:srgbClr val="000000"/>
                        </a:solidFill>
                        <a:effectLst/>
                        <a:latin typeface="times new roman" panose="02020603050405020304" pitchFamily="18" charset="0"/>
                      </a:endParaRPr>
                    </a:p>
                  </a:txBody>
                  <a:tcPr marL="90775" marR="90775" marT="90775" marB="90775"/>
                </a:tc>
                <a:tc>
                  <a:txBody>
                    <a:bodyPr/>
                    <a:lstStyle/>
                    <a:p>
                      <a:pPr algn="l" fontAlgn="t"/>
                      <a:r>
                        <a:rPr lang="en-US" sz="1800" b="1">
                          <a:solidFill>
                            <a:srgbClr val="000000"/>
                          </a:solidFill>
                          <a:effectLst/>
                        </a:rPr>
                        <a:t>Actuators</a:t>
                      </a:r>
                      <a:endParaRPr lang="en-US" sz="1800" b="1">
                        <a:solidFill>
                          <a:srgbClr val="000000"/>
                        </a:solidFill>
                        <a:effectLst/>
                        <a:latin typeface="times new roman" panose="02020603050405020304" pitchFamily="18" charset="0"/>
                      </a:endParaRPr>
                    </a:p>
                  </a:txBody>
                  <a:tcPr marL="90775" marR="90775" marT="90775" marB="90775"/>
                </a:tc>
                <a:tc>
                  <a:txBody>
                    <a:bodyPr/>
                    <a:lstStyle/>
                    <a:p>
                      <a:pPr algn="l" fontAlgn="t"/>
                      <a:r>
                        <a:rPr lang="en-US" sz="1800" b="1" dirty="0">
                          <a:solidFill>
                            <a:srgbClr val="000000"/>
                          </a:solidFill>
                          <a:effectLst/>
                        </a:rPr>
                        <a:t>Sensors</a:t>
                      </a:r>
                      <a:endParaRPr lang="en-US" sz="1800" b="1" dirty="0">
                        <a:solidFill>
                          <a:srgbClr val="000000"/>
                        </a:solidFill>
                        <a:effectLst/>
                        <a:latin typeface="times new roman" panose="02020603050405020304" pitchFamily="18" charset="0"/>
                      </a:endParaRPr>
                    </a:p>
                  </a:txBody>
                  <a:tcPr marL="90775" marR="90775" marT="90775" marB="90775"/>
                </a:tc>
                <a:extLst>
                  <a:ext uri="{0D108BD9-81ED-4DB2-BD59-A6C34878D82A}">
                    <a16:rowId xmlns:a16="http://schemas.microsoft.com/office/drawing/2014/main" val="232061511"/>
                  </a:ext>
                </a:extLst>
              </a:tr>
              <a:tr h="869660">
                <a:tc>
                  <a:txBody>
                    <a:bodyPr/>
                    <a:lstStyle/>
                    <a:p>
                      <a:pPr algn="just" fontAlgn="t"/>
                      <a:r>
                        <a:rPr lang="en-US" sz="1800" b="1">
                          <a:solidFill>
                            <a:srgbClr val="333333"/>
                          </a:solidFill>
                          <a:effectLst/>
                        </a:rPr>
                        <a:t>1. Medical Diagnose</a:t>
                      </a:r>
                      <a:endParaRPr lang="en-US" sz="1800">
                        <a:solidFill>
                          <a:srgbClr val="333333"/>
                        </a:solidFill>
                        <a:effectLst/>
                        <a:latin typeface="inter-regular"/>
                      </a:endParaRPr>
                    </a:p>
                  </a:txBody>
                  <a:tcPr marL="60517" marR="60517" marT="60517" marB="60517"/>
                </a:tc>
                <a:tc>
                  <a:txBody>
                    <a:bodyPr/>
                    <a:lstStyle/>
                    <a:p>
                      <a:pPr algn="just" fontAlgn="t">
                        <a:buFont typeface="Arial" panose="020B0604020202020204" pitchFamily="34" charset="0"/>
                        <a:buChar char="•"/>
                      </a:pPr>
                      <a:r>
                        <a:rPr lang="en-US" sz="1800">
                          <a:solidFill>
                            <a:srgbClr val="000000"/>
                          </a:solidFill>
                          <a:effectLst/>
                        </a:rPr>
                        <a:t>Healthy patient</a:t>
                      </a:r>
                    </a:p>
                    <a:p>
                      <a:pPr algn="just" fontAlgn="t">
                        <a:buFont typeface="Arial" panose="020B0604020202020204" pitchFamily="34" charset="0"/>
                        <a:buChar char="•"/>
                      </a:pPr>
                      <a:r>
                        <a:rPr lang="en-US" sz="1800">
                          <a:solidFill>
                            <a:srgbClr val="000000"/>
                          </a:solidFill>
                          <a:effectLst/>
                        </a:rPr>
                        <a:t>Minimized cost</a:t>
                      </a:r>
                      <a:endParaRPr lang="en-US" sz="1800">
                        <a:solidFill>
                          <a:srgbClr val="000000"/>
                        </a:solidFill>
                        <a:effectLst/>
                        <a:latin typeface="inter-regular"/>
                      </a:endParaRPr>
                    </a:p>
                  </a:txBody>
                  <a:tcPr marL="60517" marR="60517" marT="60517" marB="60517"/>
                </a:tc>
                <a:tc>
                  <a:txBody>
                    <a:bodyPr/>
                    <a:lstStyle/>
                    <a:p>
                      <a:pPr algn="just" fontAlgn="t">
                        <a:buFont typeface="Arial" panose="020B0604020202020204" pitchFamily="34" charset="0"/>
                        <a:buChar char="•"/>
                      </a:pPr>
                      <a:r>
                        <a:rPr lang="en-US" sz="1800">
                          <a:solidFill>
                            <a:srgbClr val="000000"/>
                          </a:solidFill>
                          <a:effectLst/>
                        </a:rPr>
                        <a:t>Patient</a:t>
                      </a:r>
                    </a:p>
                    <a:p>
                      <a:pPr algn="just" fontAlgn="t">
                        <a:buFont typeface="Arial" panose="020B0604020202020204" pitchFamily="34" charset="0"/>
                        <a:buChar char="•"/>
                      </a:pPr>
                      <a:r>
                        <a:rPr lang="en-US" sz="1800">
                          <a:solidFill>
                            <a:srgbClr val="000000"/>
                          </a:solidFill>
                          <a:effectLst/>
                        </a:rPr>
                        <a:t>Hospital</a:t>
                      </a:r>
                    </a:p>
                    <a:p>
                      <a:pPr algn="just" fontAlgn="t">
                        <a:buFont typeface="Arial" panose="020B0604020202020204" pitchFamily="34" charset="0"/>
                        <a:buChar char="•"/>
                      </a:pPr>
                      <a:r>
                        <a:rPr lang="en-US" sz="1800">
                          <a:solidFill>
                            <a:srgbClr val="000000"/>
                          </a:solidFill>
                          <a:effectLst/>
                        </a:rPr>
                        <a:t>Staff</a:t>
                      </a:r>
                      <a:endParaRPr lang="en-US" sz="1800">
                        <a:solidFill>
                          <a:srgbClr val="000000"/>
                        </a:solidFill>
                        <a:effectLst/>
                        <a:latin typeface="inter-regular"/>
                      </a:endParaRPr>
                    </a:p>
                  </a:txBody>
                  <a:tcPr marL="60517" marR="60517" marT="60517" marB="60517"/>
                </a:tc>
                <a:tc>
                  <a:txBody>
                    <a:bodyPr/>
                    <a:lstStyle/>
                    <a:p>
                      <a:pPr algn="just" fontAlgn="t">
                        <a:buFont typeface="Arial" panose="020B0604020202020204" pitchFamily="34" charset="0"/>
                        <a:buChar char="•"/>
                      </a:pPr>
                      <a:r>
                        <a:rPr lang="en-US" sz="1800">
                          <a:solidFill>
                            <a:srgbClr val="000000"/>
                          </a:solidFill>
                          <a:effectLst/>
                        </a:rPr>
                        <a:t>Tests</a:t>
                      </a:r>
                    </a:p>
                    <a:p>
                      <a:pPr algn="just" fontAlgn="t">
                        <a:buFont typeface="Arial" panose="020B0604020202020204" pitchFamily="34" charset="0"/>
                        <a:buChar char="•"/>
                      </a:pPr>
                      <a:r>
                        <a:rPr lang="en-US" sz="1800">
                          <a:solidFill>
                            <a:srgbClr val="000000"/>
                          </a:solidFill>
                          <a:effectLst/>
                        </a:rPr>
                        <a:t>Treatments</a:t>
                      </a:r>
                      <a:endParaRPr lang="en-US" sz="1800">
                        <a:solidFill>
                          <a:srgbClr val="000000"/>
                        </a:solidFill>
                        <a:effectLst/>
                        <a:latin typeface="inter-regular"/>
                      </a:endParaRPr>
                    </a:p>
                  </a:txBody>
                  <a:tcPr marL="60517" marR="60517" marT="60517" marB="60517"/>
                </a:tc>
                <a:tc>
                  <a:txBody>
                    <a:bodyPr/>
                    <a:lstStyle/>
                    <a:p>
                      <a:pPr algn="just" fontAlgn="t"/>
                      <a:r>
                        <a:rPr lang="en-US" sz="1800">
                          <a:solidFill>
                            <a:srgbClr val="333333"/>
                          </a:solidFill>
                          <a:effectLst/>
                        </a:rPr>
                        <a:t>Keyboard</a:t>
                      </a:r>
                      <a:br>
                        <a:rPr lang="en-US" sz="1800">
                          <a:solidFill>
                            <a:srgbClr val="333333"/>
                          </a:solidFill>
                          <a:effectLst/>
                        </a:rPr>
                      </a:br>
                      <a:r>
                        <a:rPr lang="en-US" sz="1800">
                          <a:solidFill>
                            <a:srgbClr val="333333"/>
                          </a:solidFill>
                          <a:effectLst/>
                        </a:rPr>
                        <a:t>(Entry of symptoms)</a:t>
                      </a:r>
                      <a:endParaRPr lang="en-US" sz="1800">
                        <a:solidFill>
                          <a:srgbClr val="333333"/>
                        </a:solidFill>
                        <a:effectLst/>
                        <a:latin typeface="inter-regular"/>
                      </a:endParaRPr>
                    </a:p>
                  </a:txBody>
                  <a:tcPr marL="60517" marR="60517" marT="60517" marB="60517"/>
                </a:tc>
                <a:extLst>
                  <a:ext uri="{0D108BD9-81ED-4DB2-BD59-A6C34878D82A}">
                    <a16:rowId xmlns:a16="http://schemas.microsoft.com/office/drawing/2014/main" val="1758029504"/>
                  </a:ext>
                </a:extLst>
              </a:tr>
              <a:tr h="1375098">
                <a:tc>
                  <a:txBody>
                    <a:bodyPr/>
                    <a:lstStyle/>
                    <a:p>
                      <a:pPr algn="just" fontAlgn="t"/>
                      <a:r>
                        <a:rPr lang="en-US" sz="1800" b="1">
                          <a:solidFill>
                            <a:srgbClr val="333333"/>
                          </a:solidFill>
                          <a:effectLst/>
                        </a:rPr>
                        <a:t>2. Vacuum Cleaner</a:t>
                      </a:r>
                      <a:endParaRPr lang="en-US" sz="1800">
                        <a:solidFill>
                          <a:srgbClr val="333333"/>
                        </a:solidFill>
                        <a:effectLst/>
                        <a:latin typeface="inter-regular"/>
                      </a:endParaRPr>
                    </a:p>
                  </a:txBody>
                  <a:tcPr marL="60517" marR="60517" marT="60517" marB="60517"/>
                </a:tc>
                <a:tc>
                  <a:txBody>
                    <a:bodyPr/>
                    <a:lstStyle/>
                    <a:p>
                      <a:pPr algn="just" fontAlgn="t">
                        <a:buFont typeface="Arial" panose="020B0604020202020204" pitchFamily="34" charset="0"/>
                        <a:buChar char="•"/>
                      </a:pPr>
                      <a:r>
                        <a:rPr lang="en-US" sz="1800">
                          <a:solidFill>
                            <a:srgbClr val="000000"/>
                          </a:solidFill>
                          <a:effectLst/>
                        </a:rPr>
                        <a:t>Cleanness</a:t>
                      </a:r>
                    </a:p>
                    <a:p>
                      <a:pPr algn="just" fontAlgn="t">
                        <a:buFont typeface="Arial" panose="020B0604020202020204" pitchFamily="34" charset="0"/>
                        <a:buChar char="•"/>
                      </a:pPr>
                      <a:r>
                        <a:rPr lang="en-US" sz="1800">
                          <a:solidFill>
                            <a:srgbClr val="000000"/>
                          </a:solidFill>
                          <a:effectLst/>
                        </a:rPr>
                        <a:t>Efficiency</a:t>
                      </a:r>
                    </a:p>
                    <a:p>
                      <a:pPr algn="just" fontAlgn="t">
                        <a:buFont typeface="Arial" panose="020B0604020202020204" pitchFamily="34" charset="0"/>
                        <a:buChar char="•"/>
                      </a:pPr>
                      <a:r>
                        <a:rPr lang="en-US" sz="1800">
                          <a:solidFill>
                            <a:srgbClr val="000000"/>
                          </a:solidFill>
                          <a:effectLst/>
                        </a:rPr>
                        <a:t>Battery life</a:t>
                      </a:r>
                    </a:p>
                    <a:p>
                      <a:pPr algn="just" fontAlgn="t">
                        <a:buFont typeface="Arial" panose="020B0604020202020204" pitchFamily="34" charset="0"/>
                        <a:buChar char="•"/>
                      </a:pPr>
                      <a:r>
                        <a:rPr lang="en-US" sz="1800">
                          <a:solidFill>
                            <a:srgbClr val="000000"/>
                          </a:solidFill>
                          <a:effectLst/>
                        </a:rPr>
                        <a:t>Security</a:t>
                      </a:r>
                      <a:endParaRPr lang="en-US" sz="1800">
                        <a:solidFill>
                          <a:srgbClr val="000000"/>
                        </a:solidFill>
                        <a:effectLst/>
                        <a:latin typeface="inter-regular"/>
                      </a:endParaRPr>
                    </a:p>
                  </a:txBody>
                  <a:tcPr marL="60517" marR="60517" marT="60517" marB="60517"/>
                </a:tc>
                <a:tc>
                  <a:txBody>
                    <a:bodyPr/>
                    <a:lstStyle/>
                    <a:p>
                      <a:pPr algn="just" fontAlgn="t">
                        <a:buFont typeface="Arial" panose="020B0604020202020204" pitchFamily="34" charset="0"/>
                        <a:buChar char="•"/>
                      </a:pPr>
                      <a:r>
                        <a:rPr lang="en-US" sz="1800" dirty="0">
                          <a:solidFill>
                            <a:srgbClr val="000000"/>
                          </a:solidFill>
                          <a:effectLst/>
                        </a:rPr>
                        <a:t>Room</a:t>
                      </a:r>
                    </a:p>
                    <a:p>
                      <a:pPr algn="just" fontAlgn="t">
                        <a:buFont typeface="Arial" panose="020B0604020202020204" pitchFamily="34" charset="0"/>
                        <a:buChar char="•"/>
                      </a:pPr>
                      <a:r>
                        <a:rPr lang="en-US" sz="1800" dirty="0">
                          <a:solidFill>
                            <a:srgbClr val="000000"/>
                          </a:solidFill>
                          <a:effectLst/>
                        </a:rPr>
                        <a:t>Table</a:t>
                      </a:r>
                    </a:p>
                    <a:p>
                      <a:pPr algn="just" fontAlgn="t">
                        <a:buFont typeface="Arial" panose="020B0604020202020204" pitchFamily="34" charset="0"/>
                        <a:buChar char="•"/>
                      </a:pPr>
                      <a:r>
                        <a:rPr lang="en-US" sz="1800" dirty="0">
                          <a:solidFill>
                            <a:srgbClr val="000000"/>
                          </a:solidFill>
                          <a:effectLst/>
                        </a:rPr>
                        <a:t>Wood floor</a:t>
                      </a:r>
                    </a:p>
                    <a:p>
                      <a:pPr algn="just" fontAlgn="t">
                        <a:buFont typeface="Arial" panose="020B0604020202020204" pitchFamily="34" charset="0"/>
                        <a:buChar char="•"/>
                      </a:pPr>
                      <a:r>
                        <a:rPr lang="en-US" sz="1800" dirty="0">
                          <a:solidFill>
                            <a:srgbClr val="000000"/>
                          </a:solidFill>
                          <a:effectLst/>
                        </a:rPr>
                        <a:t>Carpet</a:t>
                      </a:r>
                    </a:p>
                    <a:p>
                      <a:pPr algn="just" fontAlgn="t">
                        <a:buFont typeface="Arial" panose="020B0604020202020204" pitchFamily="34" charset="0"/>
                        <a:buChar char="•"/>
                      </a:pPr>
                      <a:r>
                        <a:rPr lang="en-US" sz="1800" dirty="0">
                          <a:solidFill>
                            <a:srgbClr val="000000"/>
                          </a:solidFill>
                          <a:effectLst/>
                        </a:rPr>
                        <a:t>Various obstacles</a:t>
                      </a:r>
                      <a:endParaRPr lang="en-US" sz="1800" dirty="0">
                        <a:solidFill>
                          <a:srgbClr val="000000"/>
                        </a:solidFill>
                        <a:effectLst/>
                        <a:latin typeface="inter-regular"/>
                      </a:endParaRPr>
                    </a:p>
                  </a:txBody>
                  <a:tcPr marL="60517" marR="60517" marT="60517" marB="60517"/>
                </a:tc>
                <a:tc>
                  <a:txBody>
                    <a:bodyPr/>
                    <a:lstStyle/>
                    <a:p>
                      <a:pPr algn="just" fontAlgn="t">
                        <a:buFont typeface="Arial" panose="020B0604020202020204" pitchFamily="34" charset="0"/>
                        <a:buChar char="•"/>
                      </a:pPr>
                      <a:r>
                        <a:rPr lang="en-US" sz="1800" dirty="0">
                          <a:solidFill>
                            <a:srgbClr val="000000"/>
                          </a:solidFill>
                          <a:effectLst/>
                        </a:rPr>
                        <a:t>Wheels</a:t>
                      </a:r>
                    </a:p>
                    <a:p>
                      <a:pPr algn="just" fontAlgn="t">
                        <a:buFont typeface="Arial" panose="020B0604020202020204" pitchFamily="34" charset="0"/>
                        <a:buChar char="•"/>
                      </a:pPr>
                      <a:r>
                        <a:rPr lang="en-US" sz="1800" dirty="0">
                          <a:solidFill>
                            <a:srgbClr val="000000"/>
                          </a:solidFill>
                          <a:effectLst/>
                        </a:rPr>
                        <a:t>Brushes</a:t>
                      </a:r>
                    </a:p>
                    <a:p>
                      <a:pPr algn="just" fontAlgn="t">
                        <a:buFont typeface="Arial" panose="020B0604020202020204" pitchFamily="34" charset="0"/>
                        <a:buChar char="•"/>
                      </a:pPr>
                      <a:r>
                        <a:rPr lang="en-US" sz="1800" dirty="0">
                          <a:solidFill>
                            <a:srgbClr val="000000"/>
                          </a:solidFill>
                          <a:effectLst/>
                        </a:rPr>
                        <a:t>Vacuum Extractor</a:t>
                      </a:r>
                      <a:endParaRPr lang="en-US" sz="1800" dirty="0">
                        <a:solidFill>
                          <a:srgbClr val="000000"/>
                        </a:solidFill>
                        <a:effectLst/>
                        <a:latin typeface="inter-regular"/>
                      </a:endParaRPr>
                    </a:p>
                  </a:txBody>
                  <a:tcPr marL="60517" marR="60517" marT="60517" marB="60517"/>
                </a:tc>
                <a:tc>
                  <a:txBody>
                    <a:bodyPr/>
                    <a:lstStyle/>
                    <a:p>
                      <a:pPr algn="just" fontAlgn="t">
                        <a:buFont typeface="Arial" panose="020B0604020202020204" pitchFamily="34" charset="0"/>
                        <a:buChar char="•"/>
                      </a:pPr>
                      <a:r>
                        <a:rPr lang="en-US" sz="1800" dirty="0">
                          <a:solidFill>
                            <a:srgbClr val="000000"/>
                          </a:solidFill>
                          <a:effectLst/>
                        </a:rPr>
                        <a:t>Camera</a:t>
                      </a:r>
                    </a:p>
                    <a:p>
                      <a:pPr algn="just" fontAlgn="t">
                        <a:buFont typeface="Arial" panose="020B0604020202020204" pitchFamily="34" charset="0"/>
                        <a:buChar char="•"/>
                      </a:pPr>
                      <a:r>
                        <a:rPr lang="en-US" sz="1800" dirty="0">
                          <a:solidFill>
                            <a:srgbClr val="000000"/>
                          </a:solidFill>
                          <a:effectLst/>
                        </a:rPr>
                        <a:t>Dirt detection sensor</a:t>
                      </a:r>
                    </a:p>
                    <a:p>
                      <a:pPr algn="just" fontAlgn="t">
                        <a:buFont typeface="Arial" panose="020B0604020202020204" pitchFamily="34" charset="0"/>
                        <a:buChar char="•"/>
                      </a:pPr>
                      <a:r>
                        <a:rPr lang="en-US" sz="1800" dirty="0">
                          <a:solidFill>
                            <a:srgbClr val="000000"/>
                          </a:solidFill>
                          <a:effectLst/>
                        </a:rPr>
                        <a:t>Cliff sensor</a:t>
                      </a:r>
                    </a:p>
                    <a:p>
                      <a:pPr algn="just" fontAlgn="t">
                        <a:buFont typeface="Arial" panose="020B0604020202020204" pitchFamily="34" charset="0"/>
                        <a:buChar char="•"/>
                      </a:pPr>
                      <a:r>
                        <a:rPr lang="en-US" sz="1800" dirty="0">
                          <a:solidFill>
                            <a:srgbClr val="000000"/>
                          </a:solidFill>
                          <a:effectLst/>
                        </a:rPr>
                        <a:t>Bump Sensor</a:t>
                      </a:r>
                    </a:p>
                    <a:p>
                      <a:pPr algn="just" fontAlgn="t">
                        <a:buFont typeface="Arial" panose="020B0604020202020204" pitchFamily="34" charset="0"/>
                        <a:buChar char="•"/>
                      </a:pPr>
                      <a:r>
                        <a:rPr lang="en-US" sz="1800" dirty="0">
                          <a:solidFill>
                            <a:srgbClr val="000000"/>
                          </a:solidFill>
                          <a:effectLst/>
                        </a:rPr>
                        <a:t>Infrared Wall Sensor</a:t>
                      </a:r>
                      <a:endParaRPr lang="en-US" sz="1800" dirty="0">
                        <a:solidFill>
                          <a:srgbClr val="000000"/>
                        </a:solidFill>
                        <a:effectLst/>
                        <a:latin typeface="inter-regular"/>
                      </a:endParaRPr>
                    </a:p>
                  </a:txBody>
                  <a:tcPr marL="60517" marR="60517" marT="60517" marB="60517"/>
                </a:tc>
                <a:extLst>
                  <a:ext uri="{0D108BD9-81ED-4DB2-BD59-A6C34878D82A}">
                    <a16:rowId xmlns:a16="http://schemas.microsoft.com/office/drawing/2014/main" val="2829888140"/>
                  </a:ext>
                </a:extLst>
              </a:tr>
              <a:tr h="1204991">
                <a:tc>
                  <a:txBody>
                    <a:bodyPr/>
                    <a:lstStyle/>
                    <a:p>
                      <a:pPr algn="just" fontAlgn="t"/>
                      <a:r>
                        <a:rPr lang="en-US" b="1" dirty="0">
                          <a:solidFill>
                            <a:srgbClr val="333333"/>
                          </a:solidFill>
                          <a:effectLst/>
                        </a:rPr>
                        <a:t>3. Part -picking Robot</a:t>
                      </a:r>
                      <a:endParaRPr lang="en-US" dirty="0">
                        <a:solidFill>
                          <a:srgbClr val="333333"/>
                        </a:solidFill>
                        <a:effectLst/>
                        <a:latin typeface="inter-regular"/>
                      </a:endParaRPr>
                    </a:p>
                  </a:txBody>
                  <a:tcPr marL="60960" marR="60960" marT="60960" marB="60960"/>
                </a:tc>
                <a:tc>
                  <a:txBody>
                    <a:bodyPr/>
                    <a:lstStyle/>
                    <a:p>
                      <a:pPr algn="just" fontAlgn="t">
                        <a:buFont typeface="Arial" panose="020B0604020202020204" pitchFamily="34" charset="0"/>
                        <a:buChar char="•"/>
                      </a:pPr>
                      <a:r>
                        <a:rPr lang="en-US" dirty="0">
                          <a:solidFill>
                            <a:srgbClr val="000000"/>
                          </a:solidFill>
                          <a:effectLst/>
                        </a:rPr>
                        <a:t>Percentage of parts in correct bins.</a:t>
                      </a:r>
                      <a:endParaRPr lang="en-US" dirty="0">
                        <a:solidFill>
                          <a:srgbClr val="000000"/>
                        </a:solidFill>
                        <a:effectLst/>
                        <a:latin typeface="inter-regular"/>
                      </a:endParaRPr>
                    </a:p>
                  </a:txBody>
                  <a:tcPr marL="60960" marR="60960" marT="60960" marB="60960"/>
                </a:tc>
                <a:tc>
                  <a:txBody>
                    <a:bodyPr/>
                    <a:lstStyle/>
                    <a:p>
                      <a:pPr algn="just" fontAlgn="t">
                        <a:buFont typeface="Arial" panose="020B0604020202020204" pitchFamily="34" charset="0"/>
                        <a:buChar char="•"/>
                      </a:pPr>
                      <a:r>
                        <a:rPr lang="en-US" dirty="0">
                          <a:solidFill>
                            <a:srgbClr val="000000"/>
                          </a:solidFill>
                          <a:effectLst/>
                        </a:rPr>
                        <a:t>Conveyor belt with parts,</a:t>
                      </a:r>
                    </a:p>
                    <a:p>
                      <a:pPr algn="just" fontAlgn="t">
                        <a:buFont typeface="Arial" panose="020B0604020202020204" pitchFamily="34" charset="0"/>
                        <a:buChar char="•"/>
                      </a:pPr>
                      <a:r>
                        <a:rPr lang="en-US" dirty="0">
                          <a:solidFill>
                            <a:srgbClr val="000000"/>
                          </a:solidFill>
                          <a:effectLst/>
                        </a:rPr>
                        <a:t>Bins</a:t>
                      </a:r>
                      <a:endParaRPr lang="en-US" dirty="0">
                        <a:solidFill>
                          <a:srgbClr val="000000"/>
                        </a:solidFill>
                        <a:effectLst/>
                        <a:latin typeface="inter-regular"/>
                      </a:endParaRPr>
                    </a:p>
                  </a:txBody>
                  <a:tcPr marL="60960" marR="60960" marT="60960" marB="60960"/>
                </a:tc>
                <a:tc>
                  <a:txBody>
                    <a:bodyPr/>
                    <a:lstStyle/>
                    <a:p>
                      <a:pPr algn="just" fontAlgn="t">
                        <a:buFont typeface="Arial" panose="020B0604020202020204" pitchFamily="34" charset="0"/>
                        <a:buChar char="•"/>
                      </a:pPr>
                      <a:r>
                        <a:rPr lang="en-US">
                          <a:solidFill>
                            <a:srgbClr val="000000"/>
                          </a:solidFill>
                          <a:effectLst/>
                        </a:rPr>
                        <a:t>Jointed Arms</a:t>
                      </a:r>
                    </a:p>
                    <a:p>
                      <a:pPr algn="just" fontAlgn="t">
                        <a:buFont typeface="Arial" panose="020B0604020202020204" pitchFamily="34" charset="0"/>
                        <a:buChar char="•"/>
                      </a:pPr>
                      <a:r>
                        <a:rPr lang="en-US">
                          <a:solidFill>
                            <a:srgbClr val="000000"/>
                          </a:solidFill>
                          <a:effectLst/>
                        </a:rPr>
                        <a:t>Hand</a:t>
                      </a:r>
                      <a:endParaRPr lang="en-US">
                        <a:solidFill>
                          <a:srgbClr val="000000"/>
                        </a:solidFill>
                        <a:effectLst/>
                        <a:latin typeface="inter-regular"/>
                      </a:endParaRPr>
                    </a:p>
                  </a:txBody>
                  <a:tcPr marL="60960" marR="60960" marT="60960" marB="60960"/>
                </a:tc>
                <a:tc>
                  <a:txBody>
                    <a:bodyPr/>
                    <a:lstStyle/>
                    <a:p>
                      <a:pPr algn="just" fontAlgn="t">
                        <a:buFont typeface="Arial" panose="020B0604020202020204" pitchFamily="34" charset="0"/>
                        <a:buChar char="•"/>
                      </a:pPr>
                      <a:r>
                        <a:rPr lang="en-US" dirty="0">
                          <a:solidFill>
                            <a:srgbClr val="000000"/>
                          </a:solidFill>
                          <a:effectLst/>
                        </a:rPr>
                        <a:t>Camera</a:t>
                      </a:r>
                    </a:p>
                    <a:p>
                      <a:pPr algn="just" fontAlgn="t">
                        <a:buFont typeface="Arial" panose="020B0604020202020204" pitchFamily="34" charset="0"/>
                        <a:buChar char="•"/>
                      </a:pPr>
                      <a:r>
                        <a:rPr lang="en-US" dirty="0">
                          <a:solidFill>
                            <a:srgbClr val="000000"/>
                          </a:solidFill>
                          <a:effectLst/>
                        </a:rPr>
                        <a:t>Joint angle sensors.</a:t>
                      </a:r>
                      <a:endParaRPr lang="en-US" dirty="0">
                        <a:solidFill>
                          <a:srgbClr val="000000"/>
                        </a:solidFill>
                        <a:effectLst/>
                        <a:latin typeface="inter-regular"/>
                      </a:endParaRPr>
                    </a:p>
                  </a:txBody>
                  <a:tcPr marL="60960" marR="60960" marT="60960" marB="60960"/>
                </a:tc>
                <a:extLst>
                  <a:ext uri="{0D108BD9-81ED-4DB2-BD59-A6C34878D82A}">
                    <a16:rowId xmlns:a16="http://schemas.microsoft.com/office/drawing/2014/main" val="3316400058"/>
                  </a:ext>
                </a:extLst>
              </a:tr>
            </a:tbl>
          </a:graphicData>
        </a:graphic>
      </p:graphicFrame>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
        <p:nvSpPr>
          <p:cNvPr id="9" name="TextBox 8">
            <a:extLst>
              <a:ext uri="{FF2B5EF4-FFF2-40B4-BE49-F238E27FC236}">
                <a16:creationId xmlns:a16="http://schemas.microsoft.com/office/drawing/2014/main" id="{94A33110-8FE5-26E5-9269-C4569C4F83AD}"/>
              </a:ext>
            </a:extLst>
          </p:cNvPr>
          <p:cNvSpPr txBox="1"/>
          <p:nvPr/>
        </p:nvSpPr>
        <p:spPr>
          <a:xfrm>
            <a:off x="5250426" y="749827"/>
            <a:ext cx="6941574" cy="1200329"/>
          </a:xfrm>
          <a:prstGeom prst="rect">
            <a:avLst/>
          </a:prstGeom>
          <a:noFill/>
        </p:spPr>
        <p:txBody>
          <a:bodyPr wrap="square">
            <a:spAutoFit/>
          </a:bodyPr>
          <a:lstStyle/>
          <a:p>
            <a:pPr algn="just"/>
            <a:r>
              <a:rPr lang="en-US" b="1" i="0" dirty="0">
                <a:solidFill>
                  <a:srgbClr val="333333"/>
                </a:solidFill>
                <a:effectLst/>
                <a:latin typeface="inter-bold"/>
              </a:rPr>
              <a:t>Performance:</a:t>
            </a:r>
            <a:r>
              <a:rPr lang="en-US" b="0" i="0" dirty="0">
                <a:solidFill>
                  <a:srgbClr val="333333"/>
                </a:solidFill>
                <a:effectLst/>
                <a:latin typeface="inter-regular"/>
              </a:rPr>
              <a:t> Safety, time, legal drive, comfort</a:t>
            </a:r>
          </a:p>
          <a:p>
            <a:pPr algn="just"/>
            <a:r>
              <a:rPr lang="en-US" b="1" i="0" dirty="0">
                <a:solidFill>
                  <a:srgbClr val="333333"/>
                </a:solidFill>
                <a:effectLst/>
                <a:latin typeface="inter-bold"/>
              </a:rPr>
              <a:t>Environment:</a:t>
            </a:r>
            <a:r>
              <a:rPr lang="en-US" b="0" i="0" dirty="0">
                <a:solidFill>
                  <a:srgbClr val="333333"/>
                </a:solidFill>
                <a:effectLst/>
                <a:latin typeface="inter-regular"/>
              </a:rPr>
              <a:t> Roads, other vehicles, road signs, pedestrian</a:t>
            </a:r>
          </a:p>
          <a:p>
            <a:pPr algn="just"/>
            <a:r>
              <a:rPr lang="en-US" b="1" i="0" dirty="0">
                <a:solidFill>
                  <a:srgbClr val="333333"/>
                </a:solidFill>
                <a:effectLst/>
                <a:latin typeface="inter-bold"/>
              </a:rPr>
              <a:t>Actuators:</a:t>
            </a:r>
            <a:r>
              <a:rPr lang="en-US" b="0" i="0" dirty="0">
                <a:solidFill>
                  <a:srgbClr val="333333"/>
                </a:solidFill>
                <a:effectLst/>
                <a:latin typeface="inter-regular"/>
              </a:rPr>
              <a:t> Steering, accelerator, brake, signal, horn</a:t>
            </a:r>
          </a:p>
          <a:p>
            <a:pPr algn="just"/>
            <a:r>
              <a:rPr lang="en-US" b="1" i="0" dirty="0">
                <a:solidFill>
                  <a:srgbClr val="333333"/>
                </a:solidFill>
                <a:effectLst/>
                <a:latin typeface="inter-bold"/>
              </a:rPr>
              <a:t>Sensors:</a:t>
            </a:r>
            <a:r>
              <a:rPr lang="en-US" b="0" i="0" dirty="0">
                <a:solidFill>
                  <a:srgbClr val="333333"/>
                </a:solidFill>
                <a:effectLst/>
                <a:latin typeface="inter-regular"/>
              </a:rPr>
              <a:t> Camera, GPS, speedometer, odometer, accelerometer, sonar.</a:t>
            </a:r>
          </a:p>
        </p:txBody>
      </p:sp>
    </p:spTree>
    <p:extLst>
      <p:ext uri="{BB962C8B-B14F-4D97-AF65-F5344CB8AC3E}">
        <p14:creationId xmlns:p14="http://schemas.microsoft.com/office/powerpoint/2010/main" val="96887758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b="1" dirty="0">
                <a:solidFill>
                  <a:srgbClr val="273239"/>
                </a:solidFill>
                <a:latin typeface="Nunito" pitchFamily="2" charset="0"/>
              </a:rPr>
              <a:t>Types of Agents</a:t>
            </a:r>
            <a:br>
              <a:rPr lang="en-US" b="1" dirty="0">
                <a:solidFill>
                  <a:srgbClr val="273239"/>
                </a:solidFill>
                <a:latin typeface="Nunito" pitchFamily="2" charset="0"/>
              </a:rPr>
            </a:br>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graphicFrame>
        <p:nvGraphicFramePr>
          <p:cNvPr id="8" name="Diagram 7">
            <a:extLst>
              <a:ext uri="{FF2B5EF4-FFF2-40B4-BE49-F238E27FC236}">
                <a16:creationId xmlns:a16="http://schemas.microsoft.com/office/drawing/2014/main" id="{058395CF-337A-7086-90F3-F54D3D6AFF70}"/>
              </a:ext>
            </a:extLst>
          </p:cNvPr>
          <p:cNvGraphicFramePr/>
          <p:nvPr>
            <p:extLst>
              <p:ext uri="{D42A27DB-BD31-4B8C-83A1-F6EECF244321}">
                <p14:modId xmlns:p14="http://schemas.microsoft.com/office/powerpoint/2010/main" val="3062142313"/>
              </p:ext>
            </p:extLst>
          </p:nvPr>
        </p:nvGraphicFramePr>
        <p:xfrm>
          <a:off x="2181221" y="1082600"/>
          <a:ext cx="6930578"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0316138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Simple Reflex Agents</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
        <p:nvSpPr>
          <p:cNvPr id="9" name="TextBox 8">
            <a:extLst>
              <a:ext uri="{FF2B5EF4-FFF2-40B4-BE49-F238E27FC236}">
                <a16:creationId xmlns:a16="http://schemas.microsoft.com/office/drawing/2014/main" id="{DC8893A5-7F63-DB75-38C1-DBDB0A0F0E77}"/>
              </a:ext>
            </a:extLst>
          </p:cNvPr>
          <p:cNvSpPr txBox="1"/>
          <p:nvPr/>
        </p:nvSpPr>
        <p:spPr>
          <a:xfrm>
            <a:off x="963561" y="1580340"/>
            <a:ext cx="10864109" cy="4708981"/>
          </a:xfrm>
          <a:prstGeom prst="rect">
            <a:avLst/>
          </a:prstGeom>
          <a:noFill/>
        </p:spPr>
        <p:txBody>
          <a:bodyPr wrap="square">
            <a:spAutoFit/>
          </a:bodyPr>
          <a:lstStyle/>
          <a:p>
            <a:pPr marL="285750" indent="-285750" algn="just">
              <a:buFont typeface="Arial" panose="020B0604020202020204" pitchFamily="34" charset="0"/>
              <a:buChar char="•"/>
            </a:pPr>
            <a:r>
              <a:rPr lang="en-US" sz="2000" dirty="0"/>
              <a:t>The Simple reflex agents are the </a:t>
            </a:r>
            <a:r>
              <a:rPr lang="en-US" sz="2000" b="1" u="sng" dirty="0">
                <a:solidFill>
                  <a:srgbClr val="00B0F0"/>
                </a:solidFill>
              </a:rPr>
              <a:t>simplest agents</a:t>
            </a:r>
            <a:r>
              <a:rPr lang="en-US" sz="2000" dirty="0"/>
              <a:t>. These agents make decisions on the basis of the </a:t>
            </a:r>
            <a:r>
              <a:rPr lang="en-US" sz="2000" b="1" u="sng" dirty="0">
                <a:solidFill>
                  <a:srgbClr val="FFC000"/>
                </a:solidFill>
              </a:rPr>
              <a:t>current percepts and ignore the rest of the percept history.</a:t>
            </a:r>
          </a:p>
          <a:p>
            <a:pPr marL="285750" indent="-285750" algn="just">
              <a:buFont typeface="Arial" panose="020B0604020202020204" pitchFamily="34" charset="0"/>
              <a:buChar char="•"/>
            </a:pPr>
            <a:r>
              <a:rPr lang="en-US" sz="2000" dirty="0"/>
              <a:t>These agents only succeed in the fully observable environment.</a:t>
            </a:r>
          </a:p>
          <a:p>
            <a:pPr marL="285750" indent="-285750" algn="just">
              <a:buFont typeface="Arial" panose="020B0604020202020204" pitchFamily="34" charset="0"/>
              <a:buChar char="•"/>
            </a:pPr>
            <a:r>
              <a:rPr lang="en-US" sz="2000" dirty="0"/>
              <a:t>The Simple reflex agent does not consider any part of percept history during their decision and action process.</a:t>
            </a:r>
          </a:p>
          <a:p>
            <a:pPr marL="285750" indent="-285750" algn="just">
              <a:buFont typeface="Arial" panose="020B0604020202020204" pitchFamily="34" charset="0"/>
              <a:buChar char="•"/>
            </a:pPr>
            <a:r>
              <a:rPr lang="en-US" sz="2000" dirty="0"/>
              <a:t>The Simple reflex agent </a:t>
            </a:r>
            <a:r>
              <a:rPr lang="en-US" sz="2000" b="1" u="sng" dirty="0">
                <a:solidFill>
                  <a:srgbClr val="00B050"/>
                </a:solidFill>
              </a:rPr>
              <a:t>works on Condition-action rule</a:t>
            </a:r>
            <a:r>
              <a:rPr lang="en-US" sz="2000" b="1" u="sng" dirty="0"/>
              <a:t>, </a:t>
            </a:r>
            <a:r>
              <a:rPr lang="en-US" sz="2000" dirty="0"/>
              <a:t>which means it maps the current state to action. Such as a </a:t>
            </a:r>
            <a:r>
              <a:rPr lang="en-US" sz="2000" dirty="0">
                <a:solidFill>
                  <a:srgbClr val="7030A0"/>
                </a:solidFill>
              </a:rPr>
              <a:t>Room Cleaner agent</a:t>
            </a:r>
            <a:r>
              <a:rPr lang="en-US" sz="2000" dirty="0"/>
              <a:t>, it works only if there is dirt in the room.</a:t>
            </a:r>
          </a:p>
          <a:p>
            <a:pPr algn="just"/>
            <a:endParaRPr lang="en-US" sz="2000" dirty="0"/>
          </a:p>
          <a:p>
            <a:pPr algn="just">
              <a:buFont typeface="Arial" panose="020B0604020202020204" pitchFamily="34" charset="0"/>
              <a:buChar char="•"/>
            </a:pPr>
            <a:r>
              <a:rPr lang="en-US" sz="2000" b="1" dirty="0">
                <a:solidFill>
                  <a:srgbClr val="FF0000"/>
                </a:solidFill>
              </a:rPr>
              <a:t>Problems for the simple reflex agent design approach: </a:t>
            </a:r>
          </a:p>
          <a:p>
            <a:pPr algn="just">
              <a:buFont typeface="Arial" panose="020B0604020202020204" pitchFamily="34" charset="0"/>
              <a:buChar char="•"/>
            </a:pPr>
            <a:r>
              <a:rPr lang="en-US" sz="2000" dirty="0"/>
              <a:t>They have very limited intelligence</a:t>
            </a:r>
          </a:p>
          <a:p>
            <a:pPr algn="just">
              <a:buFont typeface="Arial" panose="020B0604020202020204" pitchFamily="34" charset="0"/>
              <a:buChar char="•"/>
            </a:pPr>
            <a:r>
              <a:rPr lang="en-US" sz="2000" dirty="0"/>
              <a:t>They do not have knowledge of non-perceptual parts of the current state (background knowledge).</a:t>
            </a:r>
          </a:p>
          <a:p>
            <a:pPr algn="just">
              <a:buFont typeface="Arial" panose="020B0604020202020204" pitchFamily="34" charset="0"/>
              <a:buChar char="•"/>
            </a:pPr>
            <a:r>
              <a:rPr lang="en-US" sz="2000" dirty="0"/>
              <a:t>Not adaptive to changes in the environment.</a:t>
            </a:r>
          </a:p>
          <a:p>
            <a:endParaRPr lang="en-IN" sz="2000" dirty="0"/>
          </a:p>
        </p:txBody>
      </p:sp>
    </p:spTree>
    <p:extLst>
      <p:ext uri="{BB962C8B-B14F-4D97-AF65-F5344CB8AC3E}">
        <p14:creationId xmlns:p14="http://schemas.microsoft.com/office/powerpoint/2010/main" val="75837145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lstStyle/>
          <a:p>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8" name="Picture 2" descr="Simple Reflex Agents">
            <a:extLst>
              <a:ext uri="{FF2B5EF4-FFF2-40B4-BE49-F238E27FC236}">
                <a16:creationId xmlns:a16="http://schemas.microsoft.com/office/drawing/2014/main" id="{B7906B50-9CEC-4A7F-C617-4BE36FF81F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6325" y="1579201"/>
            <a:ext cx="6135330" cy="49210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306547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Model-Based Reflex Agents</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259107" y="1223738"/>
            <a:ext cx="10334573" cy="5111308"/>
          </a:xfrm>
        </p:spPr>
        <p:txBody>
          <a:bodyPr>
            <a:normAutofit/>
          </a:bodyPr>
          <a:lstStyle/>
          <a:p>
            <a:pPr>
              <a:buFont typeface="Arial" panose="020B0604020202020204" pitchFamily="34" charset="0"/>
              <a:buChar char="•"/>
            </a:pPr>
            <a:r>
              <a:rPr lang="en-US" dirty="0"/>
              <a:t>The Model-based agent </a:t>
            </a:r>
            <a:r>
              <a:rPr lang="en-US" b="1" dirty="0">
                <a:solidFill>
                  <a:srgbClr val="00B050"/>
                </a:solidFill>
              </a:rPr>
              <a:t>can work in a partially observable environment</a:t>
            </a:r>
            <a:r>
              <a:rPr lang="en-US" dirty="0"/>
              <a:t>, and track the situation.</a:t>
            </a:r>
          </a:p>
          <a:p>
            <a:pPr>
              <a:buFont typeface="Arial" panose="020B0604020202020204" pitchFamily="34" charset="0"/>
              <a:buChar char="•"/>
            </a:pPr>
            <a:r>
              <a:rPr lang="en-US" dirty="0"/>
              <a:t>A model-based agent has two important factors: </a:t>
            </a:r>
          </a:p>
          <a:p>
            <a:pPr marL="742950" lvl="1" indent="-285750">
              <a:buFont typeface="Arial" panose="020B0604020202020204" pitchFamily="34" charset="0"/>
              <a:buChar char="•"/>
            </a:pPr>
            <a:r>
              <a:rPr lang="en-US" b="1" dirty="0"/>
              <a:t>Model:</a:t>
            </a:r>
            <a:r>
              <a:rPr lang="en-US" dirty="0"/>
              <a:t> It is knowledge about </a:t>
            </a:r>
            <a:r>
              <a:rPr lang="en-US" b="1" dirty="0"/>
              <a:t>"</a:t>
            </a:r>
            <a:r>
              <a:rPr lang="en-US" b="1" dirty="0">
                <a:solidFill>
                  <a:srgbClr val="00B0F0"/>
                </a:solidFill>
              </a:rPr>
              <a:t>how things happen in the world</a:t>
            </a:r>
            <a:r>
              <a:rPr lang="en-US" dirty="0"/>
              <a:t>," so it is called a Model-based agent.</a:t>
            </a:r>
          </a:p>
          <a:p>
            <a:pPr marL="742950" lvl="1" indent="-285750">
              <a:buFont typeface="Arial" panose="020B0604020202020204" pitchFamily="34" charset="0"/>
              <a:buChar char="•"/>
            </a:pPr>
            <a:r>
              <a:rPr lang="en-US" b="1" dirty="0"/>
              <a:t>Internal State:</a:t>
            </a:r>
            <a:r>
              <a:rPr lang="en-US" dirty="0"/>
              <a:t> It is a </a:t>
            </a:r>
            <a:r>
              <a:rPr lang="en-US" b="1" dirty="0">
                <a:solidFill>
                  <a:srgbClr val="FFC000"/>
                </a:solidFill>
              </a:rPr>
              <a:t>representation of the current state based on percept history</a:t>
            </a:r>
            <a:r>
              <a:rPr lang="en-US" b="1" dirty="0"/>
              <a:t>.</a:t>
            </a:r>
            <a:r>
              <a:rPr lang="en-US" dirty="0"/>
              <a:t> </a:t>
            </a:r>
          </a:p>
          <a:p>
            <a:pPr>
              <a:buFont typeface="Arial" panose="020B0604020202020204" pitchFamily="34" charset="0"/>
              <a:buChar char="•"/>
            </a:pPr>
            <a:r>
              <a:rPr lang="en-US" dirty="0"/>
              <a:t>These agents have the model, "which is </a:t>
            </a:r>
            <a:r>
              <a:rPr lang="en-US" b="1" dirty="0">
                <a:solidFill>
                  <a:schemeClr val="accent2"/>
                </a:solidFill>
              </a:rPr>
              <a:t>knowledge of the world</a:t>
            </a:r>
            <a:r>
              <a:rPr lang="en-US" b="1" dirty="0"/>
              <a:t>" </a:t>
            </a:r>
            <a:r>
              <a:rPr lang="en-US" dirty="0"/>
              <a:t>and </a:t>
            </a:r>
            <a:r>
              <a:rPr lang="en-US" b="1" dirty="0">
                <a:solidFill>
                  <a:srgbClr val="00B0F0"/>
                </a:solidFill>
              </a:rPr>
              <a:t>based on the model they perform actions</a:t>
            </a:r>
            <a:r>
              <a:rPr lang="en-US" b="1" dirty="0"/>
              <a:t>. </a:t>
            </a:r>
          </a:p>
          <a:p>
            <a:pPr>
              <a:buFont typeface="Arial" panose="020B0604020202020204" pitchFamily="34" charset="0"/>
              <a:buChar char="•"/>
            </a:pPr>
            <a:r>
              <a:rPr lang="en-US" dirty="0"/>
              <a:t>Updating the agent state requires information about: </a:t>
            </a:r>
          </a:p>
          <a:p>
            <a:pPr marL="742950" lvl="1" indent="-285750">
              <a:buFont typeface="Arial" panose="020B0604020202020204" pitchFamily="34" charset="0"/>
              <a:buChar char="•"/>
            </a:pPr>
            <a:r>
              <a:rPr lang="en-US" dirty="0"/>
              <a:t>How the world evolves?</a:t>
            </a:r>
          </a:p>
          <a:p>
            <a:pPr marL="742950" lvl="1" indent="-285750">
              <a:buFont typeface="Arial" panose="020B0604020202020204" pitchFamily="34" charset="0"/>
              <a:buChar char="•"/>
            </a:pPr>
            <a:r>
              <a:rPr lang="en-US" dirty="0"/>
              <a:t>How the agent's action affects the world?</a:t>
            </a:r>
          </a:p>
          <a:p>
            <a:pPr marL="742950" lvl="1" indent="-285750" algn="just">
              <a:buFont typeface="Arial" panose="020B0604020202020204" pitchFamily="34" charset="0"/>
              <a:buChar char="•"/>
            </a:pPr>
            <a:r>
              <a:rPr lang="en-IN" b="1" dirty="0">
                <a:solidFill>
                  <a:srgbClr val="7030A0"/>
                </a:solidFill>
              </a:rPr>
              <a:t>Self-driving cars</a:t>
            </a:r>
            <a:r>
              <a:rPr lang="en-IN" dirty="0">
                <a:solidFill>
                  <a:srgbClr val="7030A0"/>
                </a:solidFill>
              </a:rPr>
              <a:t> </a:t>
            </a:r>
            <a:r>
              <a:rPr lang="en-IN" dirty="0"/>
              <a:t>are a great example of a model-based reflex agent. The </a:t>
            </a:r>
            <a:r>
              <a:rPr lang="en-IN" dirty="0">
                <a:solidFill>
                  <a:srgbClr val="FF0000"/>
                </a:solidFill>
              </a:rPr>
              <a:t>car is equipped with sensors that detect obstacles</a:t>
            </a:r>
            <a:r>
              <a:rPr lang="en-IN" dirty="0"/>
              <a:t>, such as car brake, lights in front of them or pedestrians walking on the sidewalk. As it drives, these </a:t>
            </a:r>
            <a:r>
              <a:rPr lang="en-IN" dirty="0">
                <a:solidFill>
                  <a:srgbClr val="7030A0"/>
                </a:solidFill>
              </a:rPr>
              <a:t>sensors feed </a:t>
            </a:r>
            <a:r>
              <a:rPr lang="en-IN" dirty="0" err="1">
                <a:solidFill>
                  <a:srgbClr val="7030A0"/>
                </a:solidFill>
              </a:rPr>
              <a:t>percepts</a:t>
            </a:r>
            <a:r>
              <a:rPr lang="en-IN" dirty="0">
                <a:solidFill>
                  <a:srgbClr val="7030A0"/>
                </a:solidFill>
              </a:rPr>
              <a:t> into the car's memory</a:t>
            </a:r>
            <a:r>
              <a:rPr lang="en-IN" dirty="0"/>
              <a:t> and internal model of its environment.</a:t>
            </a:r>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18783191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Model-Based Reflex Agents</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lstStyle/>
          <a:p>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5122" name="Picture 2" descr="Model-Based Reflex Agents">
            <a:extLst>
              <a:ext uri="{FF2B5EF4-FFF2-40B4-BE49-F238E27FC236}">
                <a16:creationId xmlns:a16="http://schemas.microsoft.com/office/drawing/2014/main" id="{89DBBCB8-CE67-BAE7-56D9-6DD6748AED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8147" y="1450521"/>
            <a:ext cx="8245680" cy="5187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023263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b="1" dirty="0"/>
              <a:t>Goal-Based Agents</a:t>
            </a:r>
            <a:br>
              <a:rPr lang="en-US" b="1" dirty="0"/>
            </a:b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lstStyle/>
          <a:p>
            <a:pPr algn="just">
              <a:buFont typeface="Arial" panose="020B0604020202020204" pitchFamily="34" charset="0"/>
              <a:buChar char="•"/>
            </a:pPr>
            <a:r>
              <a:rPr lang="en-US" dirty="0"/>
              <a:t>The </a:t>
            </a:r>
            <a:r>
              <a:rPr lang="en-US" dirty="0">
                <a:solidFill>
                  <a:srgbClr val="00B0F0"/>
                </a:solidFill>
              </a:rPr>
              <a:t>knowledge of the current state environment is not always sufficient </a:t>
            </a:r>
            <a:r>
              <a:rPr lang="en-US" dirty="0"/>
              <a:t>to decide for an agent to what to do. </a:t>
            </a:r>
          </a:p>
          <a:p>
            <a:pPr algn="just">
              <a:buFont typeface="Arial" panose="020B0604020202020204" pitchFamily="34" charset="0"/>
              <a:buChar char="•"/>
            </a:pPr>
            <a:r>
              <a:rPr lang="en-US" dirty="0"/>
              <a:t>The agent </a:t>
            </a:r>
            <a:r>
              <a:rPr lang="en-US" dirty="0">
                <a:solidFill>
                  <a:srgbClr val="FFC000"/>
                </a:solidFill>
              </a:rPr>
              <a:t>needs to know its goal </a:t>
            </a:r>
            <a:r>
              <a:rPr lang="en-US" dirty="0"/>
              <a:t>which describes desirable situations.</a:t>
            </a:r>
          </a:p>
          <a:p>
            <a:pPr algn="just">
              <a:buFont typeface="Arial" panose="020B0604020202020204" pitchFamily="34" charset="0"/>
              <a:buChar char="•"/>
            </a:pPr>
            <a:r>
              <a:rPr lang="en-US" dirty="0"/>
              <a:t>Goal-based agents </a:t>
            </a:r>
            <a:r>
              <a:rPr lang="en-US" dirty="0">
                <a:solidFill>
                  <a:srgbClr val="FF0000"/>
                </a:solidFill>
              </a:rPr>
              <a:t>expand the capabilities of the model-based agent </a:t>
            </a:r>
            <a:r>
              <a:rPr lang="en-US" dirty="0"/>
              <a:t>by having the "goal" information.</a:t>
            </a:r>
          </a:p>
          <a:p>
            <a:pPr algn="just">
              <a:buFont typeface="Arial" panose="020B0604020202020204" pitchFamily="34" charset="0"/>
              <a:buChar char="•"/>
            </a:pPr>
            <a:r>
              <a:rPr lang="en-US" dirty="0">
                <a:solidFill>
                  <a:srgbClr val="00B050"/>
                </a:solidFill>
              </a:rPr>
              <a:t>They choose an action</a:t>
            </a:r>
            <a:r>
              <a:rPr lang="en-US" dirty="0"/>
              <a:t>, so that they can achieve the goal.</a:t>
            </a:r>
          </a:p>
          <a:p>
            <a:pPr algn="just">
              <a:buFont typeface="Arial" panose="020B0604020202020204" pitchFamily="34" charset="0"/>
              <a:buChar char="•"/>
            </a:pPr>
            <a:r>
              <a:rPr lang="en-US" dirty="0"/>
              <a:t>These agents may have to consider a </a:t>
            </a:r>
            <a:r>
              <a:rPr lang="en-US" dirty="0">
                <a:solidFill>
                  <a:srgbClr val="FFC000"/>
                </a:solidFill>
              </a:rPr>
              <a:t>long sequence of possible actions</a:t>
            </a:r>
            <a:r>
              <a:rPr lang="en-US" dirty="0"/>
              <a:t> before deciding whether the goal is achieved or not. Such considerations of different scenario are called searching and planning, which makes an agent proactive. </a:t>
            </a:r>
          </a:p>
          <a:p>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05023462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b="1" dirty="0"/>
              <a:t>Goal-Based Agents</a:t>
            </a:r>
            <a:br>
              <a:rPr lang="en-US" b="1" dirty="0"/>
            </a:b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lstStyle/>
          <a:p>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6146" name="Picture 2" descr="Goal-Based Agents">
            <a:extLst>
              <a:ext uri="{FF2B5EF4-FFF2-40B4-BE49-F238E27FC236}">
                <a16:creationId xmlns:a16="http://schemas.microsoft.com/office/drawing/2014/main" id="{067C950D-6067-8988-7C68-01EF51AEA0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9511" y="1288026"/>
            <a:ext cx="8706004" cy="55699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082861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b="1" dirty="0"/>
              <a:t>Utility-Based Agents</a:t>
            </a:r>
            <a:br>
              <a:rPr lang="en-US" b="1" dirty="0"/>
            </a:b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lstStyle/>
          <a:p>
            <a:pPr>
              <a:buFont typeface="Arial" panose="020B0604020202020204" pitchFamily="34" charset="0"/>
              <a:buChar char="•"/>
            </a:pPr>
            <a:r>
              <a:rPr lang="en-US" dirty="0"/>
              <a:t>These agents are </a:t>
            </a:r>
            <a:r>
              <a:rPr lang="en-US" dirty="0">
                <a:solidFill>
                  <a:srgbClr val="FF0000"/>
                </a:solidFill>
              </a:rPr>
              <a:t>similar to the goal-based agent</a:t>
            </a:r>
            <a:r>
              <a:rPr lang="en-US" dirty="0"/>
              <a:t> but provide an </a:t>
            </a:r>
            <a:r>
              <a:rPr lang="en-US" dirty="0">
                <a:solidFill>
                  <a:srgbClr val="00B050"/>
                </a:solidFill>
              </a:rPr>
              <a:t>extra component of utility measurement</a:t>
            </a:r>
            <a:r>
              <a:rPr lang="en-US" dirty="0"/>
              <a:t> which makes them different by providing a measure of success at a given state.</a:t>
            </a:r>
          </a:p>
          <a:p>
            <a:pPr>
              <a:buFont typeface="Arial" panose="020B0604020202020204" pitchFamily="34" charset="0"/>
              <a:buChar char="•"/>
            </a:pPr>
            <a:r>
              <a:rPr lang="en-US" dirty="0"/>
              <a:t>Utility-based agent act </a:t>
            </a:r>
            <a:r>
              <a:rPr lang="en-US" dirty="0">
                <a:solidFill>
                  <a:srgbClr val="00B050"/>
                </a:solidFill>
              </a:rPr>
              <a:t>based not only goals </a:t>
            </a:r>
            <a:r>
              <a:rPr lang="en-US" dirty="0"/>
              <a:t>but </a:t>
            </a:r>
            <a:r>
              <a:rPr lang="en-US" dirty="0">
                <a:solidFill>
                  <a:srgbClr val="00B0F0"/>
                </a:solidFill>
              </a:rPr>
              <a:t>also the best way to achieve the goal.</a:t>
            </a:r>
          </a:p>
          <a:p>
            <a:pPr>
              <a:buFont typeface="Arial" panose="020B0604020202020204" pitchFamily="34" charset="0"/>
              <a:buChar char="•"/>
            </a:pPr>
            <a:r>
              <a:rPr lang="en-US" dirty="0"/>
              <a:t>The Utility-based agent is useful when there are </a:t>
            </a:r>
            <a:r>
              <a:rPr lang="en-US" dirty="0">
                <a:solidFill>
                  <a:srgbClr val="00B0F0"/>
                </a:solidFill>
              </a:rPr>
              <a:t>multiple possible alternatives</a:t>
            </a:r>
            <a:r>
              <a:rPr lang="en-US" dirty="0"/>
              <a:t>, and an </a:t>
            </a:r>
            <a:r>
              <a:rPr lang="en-US" dirty="0">
                <a:solidFill>
                  <a:srgbClr val="FFC000"/>
                </a:solidFill>
              </a:rPr>
              <a:t>agent has to choose in order to perform the best action. </a:t>
            </a:r>
          </a:p>
          <a:p>
            <a:pPr>
              <a:buFont typeface="Arial" panose="020B0604020202020204" pitchFamily="34" charset="0"/>
              <a:buChar char="•"/>
            </a:pPr>
            <a:r>
              <a:rPr lang="en-US" dirty="0"/>
              <a:t>The utility function </a:t>
            </a:r>
            <a:r>
              <a:rPr lang="en-US" dirty="0">
                <a:solidFill>
                  <a:srgbClr val="FF0000"/>
                </a:solidFill>
              </a:rPr>
              <a:t>maps each state to a real number </a:t>
            </a:r>
            <a:r>
              <a:rPr lang="en-US" dirty="0"/>
              <a:t>to check how efficiently each action achieves the goals. </a:t>
            </a:r>
          </a:p>
          <a:p>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219547682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b="1" dirty="0"/>
              <a:t>Utility-Based Agents</a:t>
            </a:r>
            <a:br>
              <a:rPr lang="en-US" b="1" dirty="0"/>
            </a:br>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7170" name="Picture 2" descr="Utility-Based Agents">
            <a:extLst>
              <a:ext uri="{FF2B5EF4-FFF2-40B4-BE49-F238E27FC236}">
                <a16:creationId xmlns:a16="http://schemas.microsoft.com/office/drawing/2014/main" id="{6C51D500-6438-62FD-0449-0ACA7F8A23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4760" y="954723"/>
            <a:ext cx="7866366" cy="53312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89649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Learning Agent</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normAutofit/>
          </a:bodyPr>
          <a:lstStyle/>
          <a:p>
            <a:pPr algn="just"/>
            <a:r>
              <a:rPr lang="en-US" sz="2000" dirty="0"/>
              <a:t>A learning agent in AI is the type of agent that </a:t>
            </a:r>
            <a:r>
              <a:rPr lang="en-US" sz="2000" b="1" dirty="0">
                <a:solidFill>
                  <a:srgbClr val="00B050"/>
                </a:solidFill>
              </a:rPr>
              <a:t>can learn from its past experiences or it has learning capabilities</a:t>
            </a:r>
            <a:r>
              <a:rPr lang="en-US" sz="2000" dirty="0"/>
              <a:t>. It starts to act with </a:t>
            </a:r>
            <a:r>
              <a:rPr lang="en-US" sz="2000" b="1" dirty="0">
                <a:solidFill>
                  <a:srgbClr val="FF0000"/>
                </a:solidFill>
              </a:rPr>
              <a:t>basic knowledge </a:t>
            </a:r>
            <a:r>
              <a:rPr lang="en-US" sz="2000" dirty="0"/>
              <a:t>and then is able to </a:t>
            </a:r>
            <a:r>
              <a:rPr lang="en-US" sz="2000" b="1" dirty="0">
                <a:solidFill>
                  <a:srgbClr val="FF0000"/>
                </a:solidFill>
              </a:rPr>
              <a:t>act and adapt automatically through learning</a:t>
            </a:r>
            <a:r>
              <a:rPr lang="en-US" sz="2000" dirty="0"/>
              <a:t>. </a:t>
            </a:r>
          </a:p>
          <a:p>
            <a:pPr algn="just"/>
            <a:r>
              <a:rPr lang="en-US" sz="2000" dirty="0"/>
              <a:t>It has mainly four conceptual components, which are: </a:t>
            </a:r>
          </a:p>
          <a:p>
            <a:pPr marL="806450" algn="just"/>
            <a:r>
              <a:rPr lang="en-US" sz="2000" b="1" dirty="0"/>
              <a:t>Learning element: </a:t>
            </a:r>
            <a:r>
              <a:rPr lang="en-US" sz="2000" dirty="0"/>
              <a:t>It is responsible for making improvements by learning from the environment.</a:t>
            </a:r>
          </a:p>
          <a:p>
            <a:pPr marL="806450" algn="just"/>
            <a:r>
              <a:rPr lang="en-US" sz="2000" b="1" dirty="0"/>
              <a:t>Critic: </a:t>
            </a:r>
            <a:r>
              <a:rPr lang="en-US" sz="2000" dirty="0"/>
              <a:t>The learning element takes feedback from critics which describes how well the agent is doing with respect to a fixed performance standard.</a:t>
            </a:r>
          </a:p>
          <a:p>
            <a:pPr marL="806450" algn="just"/>
            <a:r>
              <a:rPr lang="en-US" sz="2000" b="1" dirty="0"/>
              <a:t>Performance element: </a:t>
            </a:r>
            <a:r>
              <a:rPr lang="en-US" sz="2000" dirty="0"/>
              <a:t>It is responsible for selecting external action.</a:t>
            </a:r>
          </a:p>
          <a:p>
            <a:pPr marL="806450" algn="just"/>
            <a:r>
              <a:rPr lang="en-US" sz="2000" b="1" dirty="0"/>
              <a:t>Problem Generator: </a:t>
            </a:r>
            <a:r>
              <a:rPr lang="en-US" sz="2000" dirty="0"/>
              <a:t>This component is responsible for suggesting actions that will lead to new and informative experiences.</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11238600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Learning Agent</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lstStyle/>
          <a:p>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8194" name="Picture 2" descr="Learning Agent">
            <a:extLst>
              <a:ext uri="{FF2B5EF4-FFF2-40B4-BE49-F238E27FC236}">
                <a16:creationId xmlns:a16="http://schemas.microsoft.com/office/drawing/2014/main" id="{58A105C7-C58C-FDAD-27C3-B65ECACF88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3003" y="1778256"/>
            <a:ext cx="6441973" cy="4625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655309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Multi-agent Systems	</a:t>
            </a:r>
            <a:br>
              <a:rPr lang="en-US" dirty="0"/>
            </a:b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179408"/>
            <a:ext cx="10334573" cy="4908535"/>
          </a:xfrm>
        </p:spPr>
        <p:txBody>
          <a:bodyPr>
            <a:normAutofit/>
          </a:bodyPr>
          <a:lstStyle/>
          <a:p>
            <a:pPr algn="just"/>
            <a:r>
              <a:rPr lang="en-US" dirty="0"/>
              <a:t>These agents </a:t>
            </a:r>
            <a:r>
              <a:rPr lang="en-US" b="1" dirty="0"/>
              <a:t>interact with other agents </a:t>
            </a:r>
            <a:r>
              <a:rPr lang="en-US" dirty="0"/>
              <a:t>to achieve a common goal. They may have to coordinate their actions and communicate with each other to achieve their objective.</a:t>
            </a:r>
          </a:p>
          <a:p>
            <a:pPr algn="just"/>
            <a:r>
              <a:rPr lang="en-US" dirty="0"/>
              <a:t>A multi-agent system (MAS) is a system composed of </a:t>
            </a:r>
            <a:r>
              <a:rPr lang="en-US" b="1" dirty="0"/>
              <a:t>multiple interacting agents </a:t>
            </a:r>
            <a:r>
              <a:rPr lang="en-US" dirty="0"/>
              <a:t>that are designed to work together to achieve a common goal. These agents may be </a:t>
            </a:r>
            <a:r>
              <a:rPr lang="en-US" b="1" dirty="0"/>
              <a:t>autonomous or semi-autonomous </a:t>
            </a:r>
            <a:r>
              <a:rPr lang="en-US" dirty="0"/>
              <a:t>and are capable of perceiving their environment, making decisions, and taking action to achieve the common objective.</a:t>
            </a:r>
          </a:p>
          <a:p>
            <a:pPr algn="just"/>
            <a:r>
              <a:rPr lang="en-US" dirty="0"/>
              <a:t>MAS can be used in a variety of applications, including transportation systems, robotics, and social networks. </a:t>
            </a:r>
          </a:p>
          <a:p>
            <a:pPr algn="just"/>
            <a:r>
              <a:rPr lang="en-US" dirty="0"/>
              <a:t>They can help improve efficiency, reduce costs, and increase flexibility in complex systems. </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78278571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Hierarchical Agents</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628670" cy="1380309"/>
          </a:xfrm>
        </p:spPr>
        <p:txBody>
          <a:bodyPr/>
          <a:lstStyle/>
          <a:p>
            <a:pPr algn="just"/>
            <a:r>
              <a:rPr lang="en-US" dirty="0"/>
              <a:t>These agents are organized into a hierarchy, with high-level agents overseeing the behavior of lower-level agents. The high-level agents provide goals and constraints, while the low-level agents carry out specific tasks. Hierarchical agents are useful in complex environments with many tasks and sub-tasks.</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152877044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Uses of Agents</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049796"/>
            <a:ext cx="10736825" cy="5280007"/>
          </a:xfrm>
        </p:spPr>
        <p:txBody>
          <a:bodyPr>
            <a:normAutofit/>
          </a:bodyPr>
          <a:lstStyle/>
          <a:p>
            <a:pPr marL="0" indent="0" algn="just">
              <a:buNone/>
            </a:pPr>
            <a:r>
              <a:rPr lang="en-US" dirty="0"/>
              <a:t>Agents are used in a wide range of applications in artificial intelligence, including:</a:t>
            </a:r>
          </a:p>
          <a:p>
            <a:pPr algn="just"/>
            <a:endParaRPr lang="en-US" dirty="0"/>
          </a:p>
          <a:p>
            <a:pPr algn="just"/>
            <a:r>
              <a:rPr lang="en-US" b="1" dirty="0"/>
              <a:t>Robotics: </a:t>
            </a:r>
            <a:r>
              <a:rPr lang="en-US" dirty="0"/>
              <a:t>Agents can be used to control robots and automate tasks in manufacturing, transportation, and other industries.</a:t>
            </a:r>
          </a:p>
          <a:p>
            <a:pPr algn="just"/>
            <a:r>
              <a:rPr lang="en-US" b="1" dirty="0"/>
              <a:t>Smart homes and buildings: </a:t>
            </a:r>
            <a:r>
              <a:rPr lang="en-US" dirty="0"/>
              <a:t>Agents can be used to control heating, lighting, and other systems in smart homes and buildings, optimizing energy use and improving comfort.</a:t>
            </a:r>
          </a:p>
          <a:p>
            <a:pPr algn="just"/>
            <a:r>
              <a:rPr lang="en-US" b="1" dirty="0"/>
              <a:t>Transportation systems: </a:t>
            </a:r>
            <a:r>
              <a:rPr lang="en-US" dirty="0"/>
              <a:t>Agents can be used to manage traffic flow, optimize routes for autonomous vehicles, and improve logistics and supply chain management.</a:t>
            </a:r>
          </a:p>
          <a:p>
            <a:pPr algn="just"/>
            <a:r>
              <a:rPr lang="en-US" b="1" dirty="0"/>
              <a:t>Healthcare: </a:t>
            </a:r>
            <a:r>
              <a:rPr lang="en-US" dirty="0"/>
              <a:t>Agents can be used to monitor patients, provide personalized treatment plans, and optimize healthcare resource allocation.</a:t>
            </a:r>
          </a:p>
          <a:p>
            <a:pPr algn="just"/>
            <a:r>
              <a:rPr lang="en-US" b="1" dirty="0"/>
              <a:t>Finance: </a:t>
            </a:r>
            <a:r>
              <a:rPr lang="en-US" dirty="0"/>
              <a:t>Agents can be used for automated trading, fraud detection, and risk management in the financial industry.</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14500195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Uses of Agents</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normAutofit/>
          </a:bodyPr>
          <a:lstStyle/>
          <a:p>
            <a:pPr algn="just"/>
            <a:r>
              <a:rPr lang="en-US" sz="2000" b="1" dirty="0"/>
              <a:t>Games: </a:t>
            </a:r>
            <a:r>
              <a:rPr lang="en-US" sz="2000" dirty="0"/>
              <a:t>Agents can be used to create intelligent opponents in games and simulations, providing a more challenging and realistic experience for players.</a:t>
            </a:r>
          </a:p>
          <a:p>
            <a:pPr algn="just"/>
            <a:r>
              <a:rPr lang="en-US" sz="2000" b="1" dirty="0"/>
              <a:t>Natural language processing: </a:t>
            </a:r>
            <a:r>
              <a:rPr lang="en-US" sz="2000" dirty="0"/>
              <a:t>Agents can be used for language translation, question answering, and chatbots that can communicate with users in natural language.</a:t>
            </a:r>
          </a:p>
          <a:p>
            <a:pPr algn="just"/>
            <a:r>
              <a:rPr lang="en-US" sz="2000" b="1" dirty="0"/>
              <a:t>Cybersecurity: </a:t>
            </a:r>
            <a:r>
              <a:rPr lang="en-US" sz="2000" dirty="0"/>
              <a:t>Agents can be used for intrusion detection, malware analysis, and network security.</a:t>
            </a:r>
          </a:p>
          <a:p>
            <a:pPr algn="just"/>
            <a:r>
              <a:rPr lang="en-US" sz="2000" b="1" dirty="0"/>
              <a:t>Environmental monitoring: </a:t>
            </a:r>
            <a:r>
              <a:rPr lang="en-US" sz="2000" dirty="0"/>
              <a:t>Agents can be used to monitor and manage natural resources, track climate change, and improve environmental sustainability.</a:t>
            </a:r>
          </a:p>
          <a:p>
            <a:pPr algn="just"/>
            <a:r>
              <a:rPr lang="en-US" sz="2000" b="1" dirty="0"/>
              <a:t>Social media: </a:t>
            </a:r>
            <a:r>
              <a:rPr lang="en-US" sz="2000" dirty="0"/>
              <a:t>Agents can be used to analyze social media data, identify trends and patterns, and provide personalized recommendations to users.</a:t>
            </a:r>
          </a:p>
          <a:p>
            <a:pPr algn="just"/>
            <a:endParaRPr lang="en-US" sz="2000"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33283836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Agent Environment in AI</a:t>
            </a:r>
          </a:p>
        </p:txBody>
      </p:sp>
      <p:sp>
        <p:nvSpPr>
          <p:cNvPr id="6" name="Content Placeholder 5"/>
          <p:cNvSpPr>
            <a:spLocks noGrp="1"/>
          </p:cNvSpPr>
          <p:nvPr>
            <p:ph idx="1"/>
          </p:nvPr>
        </p:nvSpPr>
        <p:spPr/>
        <p:txBody>
          <a:bodyPr/>
          <a:lstStyle/>
          <a:p>
            <a:r>
              <a:rPr lang="en-IN" dirty="0"/>
              <a:t>An environment is everything in the </a:t>
            </a:r>
            <a:r>
              <a:rPr lang="en-IN" i="1" dirty="0">
                <a:solidFill>
                  <a:srgbClr val="FF0000"/>
                </a:solidFill>
              </a:rPr>
              <a:t>world which surrounds the agent</a:t>
            </a:r>
            <a:r>
              <a:rPr lang="en-IN" dirty="0"/>
              <a:t>, but it is not a part of an agent itself. </a:t>
            </a:r>
          </a:p>
          <a:p>
            <a:r>
              <a:rPr lang="en-IN" dirty="0"/>
              <a:t>An environment can be described as a </a:t>
            </a:r>
            <a:r>
              <a:rPr lang="en-IN" i="1" dirty="0">
                <a:solidFill>
                  <a:srgbClr val="FF0000"/>
                </a:solidFill>
              </a:rPr>
              <a:t>situation in which an agent is present</a:t>
            </a:r>
            <a:r>
              <a:rPr lang="en-IN" dirty="0"/>
              <a:t>.</a:t>
            </a:r>
          </a:p>
          <a:p>
            <a:r>
              <a:rPr lang="en-IN" dirty="0"/>
              <a:t>The environment is where </a:t>
            </a:r>
            <a:r>
              <a:rPr lang="en-IN" i="1" dirty="0">
                <a:solidFill>
                  <a:srgbClr val="FF0000"/>
                </a:solidFill>
              </a:rPr>
              <a:t>agent lives, operate and provide the agent with something to sense and act upon it</a:t>
            </a:r>
            <a:r>
              <a:rPr lang="en-IN" dirty="0"/>
              <a:t>. </a:t>
            </a:r>
          </a:p>
          <a:p>
            <a:endParaRPr lang="en-IN" dirty="0"/>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27A22FF-2D7F-4692-9951-C3199FCCD5FF}"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92</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AI-1 &amp; 20AM2401</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Department of Computer Science &amp; Engineering</a:t>
            </a:r>
          </a:p>
        </p:txBody>
      </p:sp>
    </p:spTree>
    <p:extLst>
      <p:ext uri="{BB962C8B-B14F-4D97-AF65-F5344CB8AC3E}">
        <p14:creationId xmlns:p14="http://schemas.microsoft.com/office/powerpoint/2010/main" val="170946862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Features of Environment</a:t>
            </a:r>
          </a:p>
        </p:txBody>
      </p:sp>
      <p:sp>
        <p:nvSpPr>
          <p:cNvPr id="3" name="Content Placeholder 2"/>
          <p:cNvSpPr>
            <a:spLocks noGrp="1"/>
          </p:cNvSpPr>
          <p:nvPr>
            <p:ph idx="1"/>
          </p:nvPr>
        </p:nvSpPr>
        <p:spPr/>
        <p:txBody>
          <a:bodyPr/>
          <a:lstStyle/>
          <a:p>
            <a:r>
              <a:rPr lang="en-IN" dirty="0"/>
              <a:t>An environment can have various features from the point of view of an agent:</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27A22FF-2D7F-4692-9951-C3199FCCD5FF}"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93</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5" name="Picture 4"/>
          <p:cNvPicPr>
            <a:picLocks noChangeAspect="1"/>
          </p:cNvPicPr>
          <p:nvPr/>
        </p:nvPicPr>
        <p:blipFill>
          <a:blip r:embed="rId2"/>
          <a:stretch>
            <a:fillRect/>
          </a:stretch>
        </p:blipFill>
        <p:spPr>
          <a:xfrm>
            <a:off x="3636962" y="2636044"/>
            <a:ext cx="4414838" cy="3819734"/>
          </a:xfrm>
          <a:prstGeom prst="rect">
            <a:avLst/>
          </a:prstGeom>
        </p:spPr>
      </p:pic>
      <p:sp>
        <p:nvSpPr>
          <p:cNvPr id="6" name="Date Placeholder 5"/>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AI-1 &amp; 20AM2401</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Footer Placeholder 6"/>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Department of Computer Science &amp; Engineering</a:t>
            </a:r>
          </a:p>
        </p:txBody>
      </p:sp>
    </p:spTree>
    <p:extLst>
      <p:ext uri="{BB962C8B-B14F-4D97-AF65-F5344CB8AC3E}">
        <p14:creationId xmlns:p14="http://schemas.microsoft.com/office/powerpoint/2010/main" val="43858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3405" y="0"/>
            <a:ext cx="9945189" cy="568869"/>
          </a:xfrm>
        </p:spPr>
        <p:txBody>
          <a:bodyPr>
            <a:normAutofit fontScale="90000"/>
          </a:bodyPr>
          <a:lstStyle/>
          <a:p>
            <a:r>
              <a:rPr lang="en-IN" dirty="0"/>
              <a:t>Features of Environment</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27A22FF-2D7F-4692-9951-C3199FCCD5FF}"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94</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8" name="Picture 7"/>
          <p:cNvPicPr>
            <a:picLocks noChangeAspect="1"/>
          </p:cNvPicPr>
          <p:nvPr/>
        </p:nvPicPr>
        <p:blipFill>
          <a:blip r:embed="rId2"/>
          <a:stretch>
            <a:fillRect/>
          </a:stretch>
        </p:blipFill>
        <p:spPr>
          <a:xfrm>
            <a:off x="-1" y="409843"/>
            <a:ext cx="9102335" cy="2887993"/>
          </a:xfrm>
          <a:prstGeom prst="rect">
            <a:avLst/>
          </a:prstGeom>
        </p:spPr>
      </p:pic>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AI-1 &amp; 20AM2401</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Department of Computer Science &amp; Engineering</a:t>
            </a:r>
          </a:p>
        </p:txBody>
      </p:sp>
      <p:pic>
        <p:nvPicPr>
          <p:cNvPr id="7" name="Picture 6">
            <a:extLst>
              <a:ext uri="{FF2B5EF4-FFF2-40B4-BE49-F238E27FC236}">
                <a16:creationId xmlns:a16="http://schemas.microsoft.com/office/drawing/2014/main" id="{6029A149-DBF7-0BB7-9CE3-6423DA76AC32}"/>
              </a:ext>
            </a:extLst>
          </p:cNvPr>
          <p:cNvPicPr>
            <a:picLocks noChangeAspect="1"/>
          </p:cNvPicPr>
          <p:nvPr/>
        </p:nvPicPr>
        <p:blipFill>
          <a:blip r:embed="rId3"/>
          <a:stretch>
            <a:fillRect/>
          </a:stretch>
        </p:blipFill>
        <p:spPr>
          <a:xfrm>
            <a:off x="4427880" y="2928362"/>
            <a:ext cx="7067602" cy="4019579"/>
          </a:xfrm>
          <a:prstGeom prst="rect">
            <a:avLst/>
          </a:prstGeom>
        </p:spPr>
      </p:pic>
    </p:spTree>
    <p:extLst>
      <p:ext uri="{BB962C8B-B14F-4D97-AF65-F5344CB8AC3E}">
        <p14:creationId xmlns:p14="http://schemas.microsoft.com/office/powerpoint/2010/main" val="22322985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1080" y="161381"/>
            <a:ext cx="9945189" cy="568869"/>
          </a:xfrm>
        </p:spPr>
        <p:txBody>
          <a:bodyPr>
            <a:normAutofit fontScale="90000"/>
          </a:bodyPr>
          <a:lstStyle/>
          <a:p>
            <a:r>
              <a:rPr lang="en-IN" dirty="0"/>
              <a:t>Features of Environment</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27A22FF-2D7F-4692-9951-C3199FCCD5FF}"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95</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9" name="Picture 8"/>
          <p:cNvPicPr>
            <a:picLocks noChangeAspect="1"/>
          </p:cNvPicPr>
          <p:nvPr/>
        </p:nvPicPr>
        <p:blipFill>
          <a:blip r:embed="rId2"/>
          <a:stretch>
            <a:fillRect/>
          </a:stretch>
        </p:blipFill>
        <p:spPr>
          <a:xfrm>
            <a:off x="78662" y="730250"/>
            <a:ext cx="8653108" cy="2763177"/>
          </a:xfrm>
          <a:prstGeom prst="rect">
            <a:avLst/>
          </a:prstGeom>
        </p:spPr>
      </p:pic>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AI-1 &amp; 20AM2401</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Department of Computer Science &amp; Engineering</a:t>
            </a:r>
          </a:p>
        </p:txBody>
      </p:sp>
      <p:pic>
        <p:nvPicPr>
          <p:cNvPr id="7" name="Picture 6">
            <a:extLst>
              <a:ext uri="{FF2B5EF4-FFF2-40B4-BE49-F238E27FC236}">
                <a16:creationId xmlns:a16="http://schemas.microsoft.com/office/drawing/2014/main" id="{2D3BC194-B04A-F85F-0DAD-4A6B70F2ED8E}"/>
              </a:ext>
            </a:extLst>
          </p:cNvPr>
          <p:cNvPicPr>
            <a:picLocks noChangeAspect="1"/>
          </p:cNvPicPr>
          <p:nvPr/>
        </p:nvPicPr>
        <p:blipFill>
          <a:blip r:embed="rId3"/>
          <a:stretch>
            <a:fillRect/>
          </a:stretch>
        </p:blipFill>
        <p:spPr>
          <a:xfrm>
            <a:off x="4921120" y="3390875"/>
            <a:ext cx="7086652" cy="3467125"/>
          </a:xfrm>
          <a:prstGeom prst="rect">
            <a:avLst/>
          </a:prstGeom>
        </p:spPr>
      </p:pic>
    </p:spTree>
    <p:extLst>
      <p:ext uri="{BB962C8B-B14F-4D97-AF65-F5344CB8AC3E}">
        <p14:creationId xmlns:p14="http://schemas.microsoft.com/office/powerpoint/2010/main" val="29649018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0897" y="29577"/>
            <a:ext cx="9657806" cy="692966"/>
          </a:xfrm>
        </p:spPr>
        <p:txBody>
          <a:bodyPr>
            <a:normAutofit/>
          </a:bodyPr>
          <a:lstStyle/>
          <a:p>
            <a:r>
              <a:rPr lang="en-IN" dirty="0"/>
              <a:t>Features of Environment</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27A22FF-2D7F-4692-9951-C3199FCCD5FF}"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96</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Date Placeholder 5"/>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AI-1 &amp; 20AM2401</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Footer Placeholder 6"/>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Department of Computer Science &amp; Engineering</a:t>
            </a:r>
          </a:p>
        </p:txBody>
      </p:sp>
      <p:pic>
        <p:nvPicPr>
          <p:cNvPr id="8" name="Picture 7">
            <a:extLst>
              <a:ext uri="{FF2B5EF4-FFF2-40B4-BE49-F238E27FC236}">
                <a16:creationId xmlns:a16="http://schemas.microsoft.com/office/drawing/2014/main" id="{08A9540F-A1D8-D5CC-CFD7-C15F1F64DCFC}"/>
              </a:ext>
            </a:extLst>
          </p:cNvPr>
          <p:cNvPicPr>
            <a:picLocks noChangeAspect="1"/>
          </p:cNvPicPr>
          <p:nvPr/>
        </p:nvPicPr>
        <p:blipFill>
          <a:blip r:embed="rId3"/>
          <a:stretch>
            <a:fillRect/>
          </a:stretch>
        </p:blipFill>
        <p:spPr>
          <a:xfrm>
            <a:off x="3581400" y="2753909"/>
            <a:ext cx="7957697" cy="3903337"/>
          </a:xfrm>
          <a:prstGeom prst="rect">
            <a:avLst/>
          </a:prstGeom>
        </p:spPr>
      </p:pic>
      <p:pic>
        <p:nvPicPr>
          <p:cNvPr id="10" name="Picture 9">
            <a:extLst>
              <a:ext uri="{FF2B5EF4-FFF2-40B4-BE49-F238E27FC236}">
                <a16:creationId xmlns:a16="http://schemas.microsoft.com/office/drawing/2014/main" id="{237CF04B-E279-0808-992E-93B346311056}"/>
              </a:ext>
            </a:extLst>
          </p:cNvPr>
          <p:cNvPicPr>
            <a:picLocks noChangeAspect="1"/>
          </p:cNvPicPr>
          <p:nvPr/>
        </p:nvPicPr>
        <p:blipFill>
          <a:blip r:embed="rId4"/>
          <a:stretch>
            <a:fillRect/>
          </a:stretch>
        </p:blipFill>
        <p:spPr>
          <a:xfrm>
            <a:off x="98350" y="522784"/>
            <a:ext cx="9210542" cy="2231125"/>
          </a:xfrm>
          <a:prstGeom prst="rect">
            <a:avLst/>
          </a:prstGeom>
        </p:spPr>
      </p:pic>
    </p:spTree>
    <p:extLst>
      <p:ext uri="{BB962C8B-B14F-4D97-AF65-F5344CB8AC3E}">
        <p14:creationId xmlns:p14="http://schemas.microsoft.com/office/powerpoint/2010/main" val="68034090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0897" y="29577"/>
            <a:ext cx="9657806" cy="692966"/>
          </a:xfrm>
        </p:spPr>
        <p:txBody>
          <a:bodyPr>
            <a:normAutofit/>
          </a:bodyPr>
          <a:lstStyle/>
          <a:p>
            <a:r>
              <a:rPr lang="en-IN" dirty="0"/>
              <a:t>Features of Environment</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27A22FF-2D7F-4692-9951-C3199FCCD5FF}"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97</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5" name="Picture 4"/>
          <p:cNvPicPr>
            <a:picLocks noChangeAspect="1"/>
          </p:cNvPicPr>
          <p:nvPr/>
        </p:nvPicPr>
        <p:blipFill>
          <a:blip r:embed="rId3"/>
          <a:stretch>
            <a:fillRect/>
          </a:stretch>
        </p:blipFill>
        <p:spPr>
          <a:xfrm>
            <a:off x="733697" y="989601"/>
            <a:ext cx="9520646" cy="5417381"/>
          </a:xfrm>
          <a:prstGeom prst="rect">
            <a:avLst/>
          </a:prstGeom>
        </p:spPr>
      </p:pic>
      <p:sp>
        <p:nvSpPr>
          <p:cNvPr id="6" name="Date Placeholder 5"/>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AI-1 &amp; 20AM2401</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Footer Placeholder 6"/>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Department of Computer Science &amp; Engineering</a:t>
            </a:r>
          </a:p>
        </p:txBody>
      </p:sp>
    </p:spTree>
    <p:extLst>
      <p:ext uri="{BB962C8B-B14F-4D97-AF65-F5344CB8AC3E}">
        <p14:creationId xmlns:p14="http://schemas.microsoft.com/office/powerpoint/2010/main" val="298658710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9632"/>
            <a:ext cx="9148354" cy="414100"/>
          </a:xfrm>
        </p:spPr>
        <p:txBody>
          <a:bodyPr>
            <a:normAutofit fontScale="90000"/>
          </a:bodyPr>
          <a:lstStyle/>
          <a:p>
            <a:r>
              <a:rPr lang="en-IN" dirty="0"/>
              <a:t>Features of Environment</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27A22FF-2D7F-4692-9951-C3199FCCD5FF}"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98</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AI-1 &amp; 20AM2401</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Footer Placeholder 6"/>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Department of Computer Science &amp; Engineering</a:t>
            </a:r>
          </a:p>
        </p:txBody>
      </p:sp>
      <p:pic>
        <p:nvPicPr>
          <p:cNvPr id="9" name="Picture 8">
            <a:extLst>
              <a:ext uri="{FF2B5EF4-FFF2-40B4-BE49-F238E27FC236}">
                <a16:creationId xmlns:a16="http://schemas.microsoft.com/office/drawing/2014/main" id="{2338BAE4-0460-8F49-E3E4-D8BEF83D75BE}"/>
              </a:ext>
            </a:extLst>
          </p:cNvPr>
          <p:cNvPicPr>
            <a:picLocks noChangeAspect="1"/>
          </p:cNvPicPr>
          <p:nvPr/>
        </p:nvPicPr>
        <p:blipFill>
          <a:blip r:embed="rId3"/>
          <a:stretch>
            <a:fillRect/>
          </a:stretch>
        </p:blipFill>
        <p:spPr>
          <a:xfrm>
            <a:off x="0" y="463732"/>
            <a:ext cx="8722570" cy="3573289"/>
          </a:xfrm>
          <a:prstGeom prst="rect">
            <a:avLst/>
          </a:prstGeom>
        </p:spPr>
      </p:pic>
      <p:pic>
        <p:nvPicPr>
          <p:cNvPr id="10" name="Picture 9">
            <a:extLst>
              <a:ext uri="{FF2B5EF4-FFF2-40B4-BE49-F238E27FC236}">
                <a16:creationId xmlns:a16="http://schemas.microsoft.com/office/drawing/2014/main" id="{E35C266E-D290-0003-C270-4D05C1B4C9A2}"/>
              </a:ext>
            </a:extLst>
          </p:cNvPr>
          <p:cNvPicPr>
            <a:picLocks noChangeAspect="1"/>
          </p:cNvPicPr>
          <p:nvPr/>
        </p:nvPicPr>
        <p:blipFill>
          <a:blip r:embed="rId4"/>
          <a:stretch>
            <a:fillRect/>
          </a:stretch>
        </p:blipFill>
        <p:spPr>
          <a:xfrm>
            <a:off x="5331646" y="3642430"/>
            <a:ext cx="6557907" cy="3278954"/>
          </a:xfrm>
          <a:prstGeom prst="rect">
            <a:avLst/>
          </a:prstGeom>
        </p:spPr>
      </p:pic>
      <p:pic>
        <p:nvPicPr>
          <p:cNvPr id="11" name="Picture 2" descr="Example of a crossword puzzle The crossword puzzle was presented in an... |  Download Scientific Diagram">
            <a:extLst>
              <a:ext uri="{FF2B5EF4-FFF2-40B4-BE49-F238E27FC236}">
                <a16:creationId xmlns:a16="http://schemas.microsoft.com/office/drawing/2014/main" id="{A079590B-5672-C125-4707-93D5331B7C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50665" y="385421"/>
            <a:ext cx="2647632" cy="30435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561360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9632"/>
            <a:ext cx="9148354" cy="414100"/>
          </a:xfrm>
        </p:spPr>
        <p:txBody>
          <a:bodyPr>
            <a:normAutofit fontScale="90000"/>
          </a:bodyPr>
          <a:lstStyle/>
          <a:p>
            <a:r>
              <a:rPr lang="en-IN" dirty="0"/>
              <a:t>Features of Environment</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27A22FF-2D7F-4692-9951-C3199FCCD5FF}"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99</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AI-1 &amp; 20AM2401</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Footer Placeholder 6"/>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Department of Computer Science &amp; Engineering</a:t>
            </a:r>
          </a:p>
        </p:txBody>
      </p:sp>
      <p:pic>
        <p:nvPicPr>
          <p:cNvPr id="9" name="Picture 8">
            <a:extLst>
              <a:ext uri="{FF2B5EF4-FFF2-40B4-BE49-F238E27FC236}">
                <a16:creationId xmlns:a16="http://schemas.microsoft.com/office/drawing/2014/main" id="{42281695-C173-A166-0099-EE59892AA7B9}"/>
              </a:ext>
            </a:extLst>
          </p:cNvPr>
          <p:cNvPicPr>
            <a:picLocks noChangeAspect="1"/>
          </p:cNvPicPr>
          <p:nvPr/>
        </p:nvPicPr>
        <p:blipFill>
          <a:blip r:embed="rId3"/>
          <a:stretch>
            <a:fillRect/>
          </a:stretch>
        </p:blipFill>
        <p:spPr>
          <a:xfrm>
            <a:off x="4986920" y="3297244"/>
            <a:ext cx="6950855" cy="3613681"/>
          </a:xfrm>
          <a:prstGeom prst="rect">
            <a:avLst/>
          </a:prstGeom>
        </p:spPr>
      </p:pic>
      <p:pic>
        <p:nvPicPr>
          <p:cNvPr id="11" name="Picture 10">
            <a:extLst>
              <a:ext uri="{FF2B5EF4-FFF2-40B4-BE49-F238E27FC236}">
                <a16:creationId xmlns:a16="http://schemas.microsoft.com/office/drawing/2014/main" id="{CDB57ED8-F2FD-F9B7-0E92-DC1DF86A1422}"/>
              </a:ext>
            </a:extLst>
          </p:cNvPr>
          <p:cNvPicPr>
            <a:picLocks noChangeAspect="1"/>
          </p:cNvPicPr>
          <p:nvPr/>
        </p:nvPicPr>
        <p:blipFill>
          <a:blip r:embed="rId4"/>
          <a:stretch>
            <a:fillRect/>
          </a:stretch>
        </p:blipFill>
        <p:spPr>
          <a:xfrm>
            <a:off x="0" y="581635"/>
            <a:ext cx="8392307" cy="2715609"/>
          </a:xfrm>
          <a:prstGeom prst="rect">
            <a:avLst/>
          </a:prstGeom>
        </p:spPr>
      </p:pic>
    </p:spTree>
    <p:extLst>
      <p:ext uri="{BB962C8B-B14F-4D97-AF65-F5344CB8AC3E}">
        <p14:creationId xmlns:p14="http://schemas.microsoft.com/office/powerpoint/2010/main" val="275361634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5734" y="136525"/>
            <a:ext cx="9999689" cy="921806"/>
          </a:xfrm>
        </p:spPr>
        <p:txBody>
          <a:bodyPr/>
          <a:lstStyle/>
          <a:p>
            <a:r>
              <a:rPr lang="en-IN" dirty="0"/>
              <a:t>Features of Environment</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27A22FF-2D7F-4692-9951-C3199FCCD5FF}"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100</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5" name="Picture 4"/>
          <p:cNvPicPr>
            <a:picLocks noChangeAspect="1"/>
          </p:cNvPicPr>
          <p:nvPr/>
        </p:nvPicPr>
        <p:blipFill>
          <a:blip r:embed="rId2"/>
          <a:stretch>
            <a:fillRect/>
          </a:stretch>
        </p:blipFill>
        <p:spPr>
          <a:xfrm>
            <a:off x="1201711" y="1036963"/>
            <a:ext cx="9167734" cy="5684512"/>
          </a:xfrm>
          <a:prstGeom prst="rect">
            <a:avLst/>
          </a:prstGeom>
        </p:spPr>
      </p:pic>
      <p:sp>
        <p:nvSpPr>
          <p:cNvPr id="6" name="Date Placeholder 5"/>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AI-1 &amp; 20AM2401</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Footer Placeholder 6"/>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Department of Computer Science &amp; Engineering</a:t>
            </a:r>
          </a:p>
        </p:txBody>
      </p:sp>
    </p:spTree>
    <p:extLst>
      <p:ext uri="{BB962C8B-B14F-4D97-AF65-F5344CB8AC3E}">
        <p14:creationId xmlns:p14="http://schemas.microsoft.com/office/powerpoint/2010/main" val="53718227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Environment Types</a:t>
            </a:r>
          </a:p>
        </p:txBody>
      </p:sp>
      <p:pic>
        <p:nvPicPr>
          <p:cNvPr id="5" name="Content Placeholder 4"/>
          <p:cNvPicPr>
            <a:picLocks noGrp="1" noChangeAspect="1"/>
          </p:cNvPicPr>
          <p:nvPr>
            <p:ph idx="1"/>
          </p:nvPr>
        </p:nvPicPr>
        <p:blipFill>
          <a:blip r:embed="rId2"/>
          <a:stretch>
            <a:fillRect/>
          </a:stretch>
        </p:blipFill>
        <p:spPr>
          <a:xfrm>
            <a:off x="1169743" y="2039144"/>
            <a:ext cx="8460613" cy="3402806"/>
          </a:xfrm>
          <a:prstGeom prst="rect">
            <a:avLst/>
          </a:prstGeom>
        </p:spPr>
      </p:pic>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27A22FF-2D7F-4692-9951-C3199FCCD5FF}"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101</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6" name="Picture 5"/>
          <p:cNvPicPr>
            <a:picLocks noChangeAspect="1"/>
          </p:cNvPicPr>
          <p:nvPr/>
        </p:nvPicPr>
        <p:blipFill>
          <a:blip r:embed="rId3"/>
          <a:stretch>
            <a:fillRect/>
          </a:stretch>
        </p:blipFill>
        <p:spPr>
          <a:xfrm>
            <a:off x="1106185" y="2039144"/>
            <a:ext cx="8587727" cy="3884295"/>
          </a:xfrm>
          <a:prstGeom prst="rect">
            <a:avLst/>
          </a:prstGeom>
        </p:spPr>
      </p:pic>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AI-1 &amp; 20AM2401</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Footer Placeholder 6"/>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Department of Computer Science &amp; Engineering</a:t>
            </a:r>
          </a:p>
        </p:txBody>
      </p:sp>
    </p:spTree>
    <p:extLst>
      <p:ext uri="{BB962C8B-B14F-4D97-AF65-F5344CB8AC3E}">
        <p14:creationId xmlns:p14="http://schemas.microsoft.com/office/powerpoint/2010/main" val="3211586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9436" y="32543"/>
            <a:ext cx="10515600" cy="1325563"/>
          </a:xfrm>
        </p:spPr>
        <p:txBody>
          <a:bodyPr/>
          <a:lstStyle/>
          <a:p>
            <a:r>
              <a:rPr lang="en-US" dirty="0"/>
              <a:t>Agents and Environment</a:t>
            </a:r>
            <a:endParaRPr lang="en-IN"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27A22FF-2D7F-4692-9951-C3199FCCD5FF}"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102</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5" name="Picture 4"/>
          <p:cNvPicPr>
            <a:picLocks noChangeAspect="1"/>
          </p:cNvPicPr>
          <p:nvPr/>
        </p:nvPicPr>
        <p:blipFill>
          <a:blip r:embed="rId2"/>
          <a:stretch>
            <a:fillRect/>
          </a:stretch>
        </p:blipFill>
        <p:spPr>
          <a:xfrm>
            <a:off x="1485900" y="1110498"/>
            <a:ext cx="9220200" cy="5610977"/>
          </a:xfrm>
          <a:prstGeom prst="rect">
            <a:avLst/>
          </a:prstGeom>
        </p:spPr>
      </p:pic>
      <p:sp>
        <p:nvSpPr>
          <p:cNvPr id="6" name="Date Placeholder 5"/>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AI-1 &amp; 20AM2401</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Footer Placeholder 6"/>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Department of Computer Science &amp; Engineering</a:t>
            </a:r>
          </a:p>
        </p:txBody>
      </p:sp>
    </p:spTree>
    <p:extLst>
      <p:ext uri="{BB962C8B-B14F-4D97-AF65-F5344CB8AC3E}">
        <p14:creationId xmlns:p14="http://schemas.microsoft.com/office/powerpoint/2010/main" val="96357487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 Windshield Wiper Agent</a:t>
            </a:r>
            <a:endParaRPr lang="en-IN" dirty="0"/>
          </a:p>
        </p:txBody>
      </p:sp>
      <p:sp>
        <p:nvSpPr>
          <p:cNvPr id="3" name="Content Placeholder 2"/>
          <p:cNvSpPr>
            <a:spLocks noGrp="1"/>
          </p:cNvSpPr>
          <p:nvPr>
            <p:ph idx="1"/>
          </p:nvPr>
        </p:nvSpPr>
        <p:spPr/>
        <p:txBody>
          <a:bodyPr>
            <a:normAutofit/>
          </a:bodyPr>
          <a:lstStyle/>
          <a:p>
            <a:r>
              <a:rPr lang="en-IN" dirty="0"/>
              <a:t>How do we design a agent that can wipe the windshields when needed?</a:t>
            </a:r>
          </a:p>
          <a:p>
            <a:endParaRPr lang="en-IN" dirty="0"/>
          </a:p>
          <a:p>
            <a:pPr fontAlgn="base"/>
            <a:r>
              <a:rPr lang="en-IN" dirty="0"/>
              <a:t>Goals? </a:t>
            </a:r>
          </a:p>
          <a:p>
            <a:pPr fontAlgn="base"/>
            <a:r>
              <a:rPr lang="en-IN" dirty="0" err="1"/>
              <a:t>Percepts</a:t>
            </a:r>
            <a:r>
              <a:rPr lang="en-IN" dirty="0"/>
              <a:t>?</a:t>
            </a:r>
          </a:p>
          <a:p>
            <a:pPr fontAlgn="base"/>
            <a:r>
              <a:rPr lang="en-IN" dirty="0"/>
              <a:t>Sensors?</a:t>
            </a:r>
          </a:p>
          <a:p>
            <a:pPr fontAlgn="base"/>
            <a:r>
              <a:rPr lang="en-IN" dirty="0"/>
              <a:t>Effectors?</a:t>
            </a:r>
          </a:p>
          <a:p>
            <a:pPr fontAlgn="base"/>
            <a:r>
              <a:rPr lang="en-IN" dirty="0"/>
              <a:t>Actions?</a:t>
            </a:r>
          </a:p>
          <a:p>
            <a:pPr fontAlgn="base"/>
            <a:r>
              <a:rPr lang="en-IN" dirty="0"/>
              <a:t>Environment?</a:t>
            </a:r>
          </a:p>
          <a:p>
            <a:endParaRPr lang="en-IN"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27A22FF-2D7F-4692-9951-C3199FCCD5FF}"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103</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TextBox 5"/>
          <p:cNvSpPr txBox="1"/>
          <p:nvPr/>
        </p:nvSpPr>
        <p:spPr>
          <a:xfrm>
            <a:off x="5303520" y="3219669"/>
            <a:ext cx="5909603" cy="2031325"/>
          </a:xfrm>
          <a:prstGeom prst="rect">
            <a:avLst/>
          </a:prstGeom>
          <a:noFill/>
        </p:spPr>
        <p:txBody>
          <a:bodyPr wrap="square" rtlCol="0">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Goals:     Keep windshields clean &amp; maintain visibility</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prstClr val="black"/>
                </a:solidFill>
                <a:effectLst/>
                <a:uLnTx/>
                <a:uFillTx/>
                <a:latin typeface="Calibri" panose="020F0502020204030204"/>
                <a:ea typeface="+mn-ea"/>
                <a:cs typeface="+mn-cs"/>
              </a:rPr>
              <a:t>Percepts</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     Raining, Dirty</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Sensors:     Camera (moist sensor)</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Effectors:     Wipers (left, right, back)</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Actions:     Off, Slow, Medium, Fast</a:t>
            </a: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Environment: Inner city, freeways, highways, weather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AI-1 &amp; 20AM2401</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Footer Placeholder 6"/>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Department of Computer Science &amp; Engineering</a:t>
            </a:r>
          </a:p>
        </p:txBody>
      </p:sp>
    </p:spTree>
    <p:extLst>
      <p:ext uri="{BB962C8B-B14F-4D97-AF65-F5344CB8AC3E}">
        <p14:creationId xmlns:p14="http://schemas.microsoft.com/office/powerpoint/2010/main" val="2241823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3385657" y="4823875"/>
            <a:ext cx="6667142" cy="810038"/>
          </a:xfrm>
        </p:spPr>
        <p:txBody>
          <a:bodyPr/>
          <a:lstStyle/>
          <a:p>
            <a:r>
              <a:rPr lang="en-US" b="1" i="0" dirty="0">
                <a:solidFill>
                  <a:srgbClr val="000000"/>
                </a:solidFill>
                <a:effectLst/>
                <a:latin typeface="Vanguard CF"/>
              </a:rPr>
              <a:t>Role of Artificial Intelligence in Online Casino Industry.</a:t>
            </a:r>
          </a:p>
          <a:p>
            <a:r>
              <a:rPr lang="en-US" b="1" dirty="0">
                <a:solidFill>
                  <a:srgbClr val="000000"/>
                </a:solidFill>
                <a:latin typeface="Vanguard CF"/>
              </a:rPr>
              <a:t>Can AI make games.</a:t>
            </a:r>
            <a:endParaRPr lang="en-US" b="1" i="0" dirty="0">
              <a:solidFill>
                <a:srgbClr val="000000"/>
              </a:solidFill>
              <a:effectLst/>
              <a:latin typeface="Vanguard CF"/>
            </a:endParaRPr>
          </a:p>
          <a:p>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
        <p:nvSpPr>
          <p:cNvPr id="8" name="Title 1">
            <a:extLst>
              <a:ext uri="{FF2B5EF4-FFF2-40B4-BE49-F238E27FC236}">
                <a16:creationId xmlns:a16="http://schemas.microsoft.com/office/drawing/2014/main" id="{7F3B3C60-42B0-18AB-8F22-4BCFB685910F}"/>
              </a:ext>
            </a:extLst>
          </p:cNvPr>
          <p:cNvSpPr txBox="1">
            <a:spLocks/>
          </p:cNvSpPr>
          <p:nvPr/>
        </p:nvSpPr>
        <p:spPr>
          <a:xfrm>
            <a:off x="1568147" y="129612"/>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Activity / Assignment	</a:t>
            </a:r>
          </a:p>
        </p:txBody>
      </p:sp>
      <p:pic>
        <p:nvPicPr>
          <p:cNvPr id="1026" name="Picture 2" descr="Group Discussion Excellence Should Be The Aim Of Knowledge Not Success">
            <a:extLst>
              <a:ext uri="{FF2B5EF4-FFF2-40B4-BE49-F238E27FC236}">
                <a16:creationId xmlns:a16="http://schemas.microsoft.com/office/drawing/2014/main" id="{F7601D59-DDCF-8B41-EEA7-4EEF4BDA225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2693"/>
          <a:stretch/>
        </p:blipFill>
        <p:spPr bwMode="auto">
          <a:xfrm>
            <a:off x="4075888" y="1450521"/>
            <a:ext cx="4315182" cy="2828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403613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normAutofit/>
          </a:bodyPr>
          <a:lstStyle/>
          <a:p>
            <a:r>
              <a:rPr lang="en-IN" sz="36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Problem Space and Search</a:t>
            </a:r>
            <a:br>
              <a:rPr lang="en-US" sz="3600" dirty="0">
                <a:effectLst/>
                <a:latin typeface="Calibri" panose="020F0502020204030204" pitchFamily="34" charset="0"/>
                <a:ea typeface="Calibri" panose="020F0502020204030204" pitchFamily="34" charset="0"/>
              </a:rPr>
            </a:b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lstStyle/>
          <a:p>
            <a:r>
              <a:rPr lang="en-US" dirty="0"/>
              <a:t>State space search is a problem-solving technique used in Artificial Intelligence (AI) to find the solution path from the initial state to the goal state by exploring the various states. The state space search approach searches through all possible states of a problem to find a solution. It is an essential part of Artificial Intelligence and is used in various applications, from game-playing algorithms to natural language processing.</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46203395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Problem of building a system </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746657" cy="4508742"/>
          </a:xfrm>
        </p:spPr>
        <p:txBody>
          <a:bodyPr/>
          <a:lstStyle/>
          <a:p>
            <a:pPr marL="0" indent="0" algn="l">
              <a:buNone/>
            </a:pPr>
            <a:r>
              <a:rPr lang="en-US" b="0" i="0" dirty="0">
                <a:solidFill>
                  <a:srgbClr val="000000"/>
                </a:solidFill>
                <a:effectLst/>
                <a:latin typeface="ff2"/>
              </a:rPr>
              <a:t>To solve the problem of building a system you should take the following steps: </a:t>
            </a:r>
          </a:p>
          <a:p>
            <a:pPr algn="l"/>
            <a:r>
              <a:rPr lang="en-US" b="0" i="0" dirty="0">
                <a:solidFill>
                  <a:srgbClr val="000000"/>
                </a:solidFill>
                <a:effectLst/>
                <a:latin typeface="ff2"/>
              </a:rPr>
              <a:t>Define the problem accurately including detailed specifications and what constitutes a  suitable solution. </a:t>
            </a:r>
          </a:p>
          <a:p>
            <a:pPr algn="l"/>
            <a:r>
              <a:rPr lang="en-US" b="0" i="0" dirty="0">
                <a:solidFill>
                  <a:srgbClr val="000000"/>
                </a:solidFill>
                <a:effectLst/>
                <a:latin typeface="ff2"/>
              </a:rPr>
              <a:t>Scrutinize the problem carefully, for some features may have a central affect on the chosen method of solution. </a:t>
            </a:r>
          </a:p>
          <a:p>
            <a:pPr algn="l"/>
            <a:r>
              <a:rPr lang="en-US" b="0" i="0" dirty="0">
                <a:solidFill>
                  <a:srgbClr val="000000"/>
                </a:solidFill>
                <a:effectLst/>
                <a:latin typeface="ff2"/>
              </a:rPr>
              <a:t>Segregate and represent the background knowledge needed in the solution of the problem. </a:t>
            </a:r>
          </a:p>
          <a:p>
            <a:pPr algn="l"/>
            <a:r>
              <a:rPr lang="en-US" b="0" i="0" dirty="0">
                <a:solidFill>
                  <a:srgbClr val="000000"/>
                </a:solidFill>
                <a:effectLst/>
                <a:latin typeface="ff2"/>
              </a:rPr>
              <a:t>Choose the best solving techniques for the problem to solve a solution.</a:t>
            </a:r>
          </a:p>
          <a:p>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229925131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normAutofit fontScale="90000"/>
          </a:bodyPr>
          <a:lstStyle/>
          <a:p>
            <a:r>
              <a:rPr lang="en-US" dirty="0">
                <a:solidFill>
                  <a:srgbClr val="000000"/>
                </a:solidFill>
                <a:latin typeface="ff4"/>
              </a:rPr>
              <a:t>Problem-solving </a:t>
            </a:r>
            <a:r>
              <a:rPr lang="en-US" dirty="0">
                <a:solidFill>
                  <a:srgbClr val="000000"/>
                </a:solidFill>
                <a:latin typeface="ff5"/>
              </a:rPr>
              <a:t>is a process </a:t>
            </a:r>
            <a:r>
              <a:rPr lang="en-US" dirty="0">
                <a:solidFill>
                  <a:srgbClr val="000000"/>
                </a:solidFill>
                <a:latin typeface="ff2"/>
              </a:rPr>
              <a:t>of generating solutions from observed data. </a:t>
            </a:r>
            <a:br>
              <a:rPr lang="en-US" dirty="0">
                <a:solidFill>
                  <a:srgbClr val="000000"/>
                </a:solidFill>
                <a:latin typeface="ff4"/>
              </a:rPr>
            </a:b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836018" cy="4508742"/>
          </a:xfrm>
        </p:spPr>
        <p:txBody>
          <a:bodyPr>
            <a:normAutofit lnSpcReduction="10000"/>
          </a:bodyPr>
          <a:lstStyle/>
          <a:p>
            <a:pPr algn="l"/>
            <a:r>
              <a:rPr lang="en-US" b="0" i="0" dirty="0">
                <a:solidFill>
                  <a:srgbClr val="000000"/>
                </a:solidFill>
                <a:effectLst/>
                <a:latin typeface="ff2"/>
              </a:rPr>
              <a:t>A Problem is characterized by a set of </a:t>
            </a:r>
            <a:r>
              <a:rPr lang="en-US" b="0" i="0" dirty="0">
                <a:solidFill>
                  <a:srgbClr val="000000"/>
                </a:solidFill>
                <a:effectLst/>
                <a:latin typeface="ff6"/>
              </a:rPr>
              <a:t>goals</a:t>
            </a:r>
            <a:r>
              <a:rPr lang="en-US" b="0" i="0" dirty="0">
                <a:solidFill>
                  <a:srgbClr val="000000"/>
                </a:solidFill>
                <a:effectLst/>
                <a:latin typeface="ff2"/>
              </a:rPr>
              <a:t>, </a:t>
            </a:r>
          </a:p>
          <a:p>
            <a:pPr algn="l"/>
            <a:r>
              <a:rPr lang="en-US" b="0" i="0" dirty="0">
                <a:solidFill>
                  <a:srgbClr val="000000"/>
                </a:solidFill>
                <a:effectLst/>
                <a:latin typeface="ff6"/>
              </a:rPr>
              <a:t>A set of objects</a:t>
            </a:r>
            <a:r>
              <a:rPr lang="en-US" b="0" i="0" dirty="0">
                <a:solidFill>
                  <a:srgbClr val="000000"/>
                </a:solidFill>
                <a:effectLst/>
                <a:latin typeface="ff2"/>
              </a:rPr>
              <a:t>, and </a:t>
            </a:r>
            <a:endParaRPr lang="en-US" b="0" i="0" dirty="0">
              <a:solidFill>
                <a:srgbClr val="000000"/>
              </a:solidFill>
              <a:effectLst/>
              <a:latin typeface="ff6"/>
            </a:endParaRPr>
          </a:p>
          <a:p>
            <a:pPr algn="l"/>
            <a:r>
              <a:rPr lang="en-US" b="0" i="0" dirty="0">
                <a:solidFill>
                  <a:srgbClr val="000000"/>
                </a:solidFill>
                <a:effectLst/>
                <a:latin typeface="ff6"/>
              </a:rPr>
              <a:t>A set of operations</a:t>
            </a:r>
            <a:r>
              <a:rPr lang="en-US" b="0" i="0" dirty="0">
                <a:solidFill>
                  <a:srgbClr val="000000"/>
                </a:solidFill>
                <a:effectLst/>
                <a:latin typeface="ff2"/>
              </a:rPr>
              <a:t>. </a:t>
            </a:r>
            <a:endParaRPr lang="en-US" b="0" i="0" dirty="0">
              <a:solidFill>
                <a:srgbClr val="000000"/>
              </a:solidFill>
              <a:effectLst/>
              <a:latin typeface="ff6"/>
            </a:endParaRPr>
          </a:p>
          <a:p>
            <a:pPr marL="0" indent="0" algn="l">
              <a:buNone/>
            </a:pPr>
            <a:r>
              <a:rPr lang="en-US" b="0" i="0" dirty="0">
                <a:solidFill>
                  <a:srgbClr val="000000"/>
                </a:solidFill>
                <a:effectLst/>
                <a:latin typeface="ff2"/>
              </a:rPr>
              <a:t>These could be ill-defined and may evolve during problem-solving. </a:t>
            </a:r>
          </a:p>
          <a:p>
            <a:pPr algn="l"/>
            <a:r>
              <a:rPr lang="en-US" b="0" i="0" dirty="0">
                <a:solidFill>
                  <a:srgbClr val="000000"/>
                </a:solidFill>
                <a:effectLst/>
                <a:latin typeface="ff4"/>
              </a:rPr>
              <a:t> A Problem space </a:t>
            </a:r>
            <a:r>
              <a:rPr lang="en-US" b="0" i="0" dirty="0">
                <a:solidFill>
                  <a:srgbClr val="000000"/>
                </a:solidFill>
                <a:effectLst/>
                <a:latin typeface="ff2"/>
              </a:rPr>
              <a:t>is an abstract space. </a:t>
            </a:r>
            <a:endParaRPr lang="en-US" b="0" i="0" dirty="0">
              <a:solidFill>
                <a:srgbClr val="000000"/>
              </a:solidFill>
              <a:effectLst/>
              <a:latin typeface="ff4"/>
            </a:endParaRPr>
          </a:p>
          <a:p>
            <a:pPr marL="1071563" algn="l">
              <a:tabLst>
                <a:tab pos="982663" algn="l"/>
              </a:tabLst>
            </a:pPr>
            <a:r>
              <a:rPr lang="en-US" b="0" i="0" dirty="0">
                <a:solidFill>
                  <a:srgbClr val="000000"/>
                </a:solidFill>
                <a:effectLst/>
                <a:latin typeface="ff2"/>
              </a:rPr>
              <a:t>A problem space encompasses all </a:t>
            </a:r>
            <a:r>
              <a:rPr lang="en-US" b="0" i="0" dirty="0">
                <a:solidFill>
                  <a:srgbClr val="000000"/>
                </a:solidFill>
                <a:effectLst/>
                <a:latin typeface="ff6"/>
              </a:rPr>
              <a:t>valid states </a:t>
            </a:r>
            <a:r>
              <a:rPr lang="en-US" b="0" i="0" dirty="0">
                <a:solidFill>
                  <a:srgbClr val="000000"/>
                </a:solidFill>
                <a:effectLst/>
                <a:latin typeface="ff2"/>
              </a:rPr>
              <a:t>that can be generated by the application of any combination of </a:t>
            </a:r>
            <a:r>
              <a:rPr lang="en-US" b="0" i="0" dirty="0">
                <a:solidFill>
                  <a:srgbClr val="000000"/>
                </a:solidFill>
                <a:effectLst/>
                <a:latin typeface="ff6"/>
              </a:rPr>
              <a:t>operators </a:t>
            </a:r>
            <a:r>
              <a:rPr lang="en-US" b="0" i="0" dirty="0">
                <a:solidFill>
                  <a:srgbClr val="000000"/>
                </a:solidFill>
                <a:effectLst/>
                <a:latin typeface="ff2"/>
              </a:rPr>
              <a:t>on any combination of </a:t>
            </a:r>
            <a:r>
              <a:rPr lang="en-US" b="0" i="0" dirty="0">
                <a:solidFill>
                  <a:srgbClr val="000000"/>
                </a:solidFill>
                <a:effectLst/>
                <a:latin typeface="ff6"/>
              </a:rPr>
              <a:t>objects</a:t>
            </a:r>
            <a:r>
              <a:rPr lang="en-US" b="0" i="0" dirty="0">
                <a:solidFill>
                  <a:srgbClr val="000000"/>
                </a:solidFill>
                <a:effectLst/>
                <a:latin typeface="ff2"/>
              </a:rPr>
              <a:t>. </a:t>
            </a:r>
          </a:p>
          <a:p>
            <a:pPr marL="1071563" algn="l">
              <a:tabLst>
                <a:tab pos="982663" algn="l"/>
              </a:tabLst>
            </a:pPr>
            <a:r>
              <a:rPr lang="en-US" b="0" i="0" dirty="0">
                <a:solidFill>
                  <a:srgbClr val="000000"/>
                </a:solidFill>
                <a:effectLst/>
                <a:latin typeface="ff2"/>
              </a:rPr>
              <a:t>The problem space may contain one or more </a:t>
            </a:r>
            <a:r>
              <a:rPr lang="en-US" b="0" i="0" dirty="0">
                <a:solidFill>
                  <a:srgbClr val="000000"/>
                </a:solidFill>
                <a:effectLst/>
                <a:latin typeface="ff6"/>
              </a:rPr>
              <a:t>solutions</a:t>
            </a:r>
            <a:r>
              <a:rPr lang="en-US" b="0" i="0" dirty="0">
                <a:solidFill>
                  <a:srgbClr val="000000"/>
                </a:solidFill>
                <a:effectLst/>
                <a:latin typeface="ff2"/>
              </a:rPr>
              <a:t>. A solution is a combination of </a:t>
            </a:r>
            <a:r>
              <a:rPr lang="en-US" b="0" i="0" dirty="0">
                <a:solidFill>
                  <a:srgbClr val="000000"/>
                </a:solidFill>
                <a:effectLst/>
                <a:latin typeface="ff6"/>
              </a:rPr>
              <a:t>operations </a:t>
            </a:r>
            <a:r>
              <a:rPr lang="en-US" b="0" i="0" dirty="0">
                <a:solidFill>
                  <a:srgbClr val="000000"/>
                </a:solidFill>
                <a:effectLst/>
                <a:latin typeface="ff2"/>
              </a:rPr>
              <a:t>and </a:t>
            </a:r>
            <a:r>
              <a:rPr lang="en-US" b="0" i="0" dirty="0">
                <a:solidFill>
                  <a:srgbClr val="000000"/>
                </a:solidFill>
                <a:effectLst/>
                <a:latin typeface="ff6"/>
              </a:rPr>
              <a:t>objects </a:t>
            </a:r>
            <a:r>
              <a:rPr lang="en-US" b="0" i="0" dirty="0">
                <a:solidFill>
                  <a:srgbClr val="000000"/>
                </a:solidFill>
                <a:effectLst/>
                <a:latin typeface="ff2"/>
              </a:rPr>
              <a:t>that achieve the </a:t>
            </a:r>
            <a:r>
              <a:rPr lang="en-US" b="0" i="0" dirty="0">
                <a:solidFill>
                  <a:srgbClr val="000000"/>
                </a:solidFill>
                <a:effectLst/>
                <a:latin typeface="ff6"/>
              </a:rPr>
              <a:t>goals</a:t>
            </a:r>
            <a:r>
              <a:rPr lang="en-US" b="0" i="0" dirty="0">
                <a:solidFill>
                  <a:srgbClr val="000000"/>
                </a:solidFill>
                <a:effectLst/>
                <a:latin typeface="ff2"/>
              </a:rPr>
              <a:t>. </a:t>
            </a:r>
          </a:p>
          <a:p>
            <a:pPr algn="l"/>
            <a:r>
              <a:rPr lang="en-US" b="0" i="0" dirty="0">
                <a:solidFill>
                  <a:srgbClr val="000000"/>
                </a:solidFill>
                <a:effectLst/>
                <a:latin typeface="ff4"/>
              </a:rPr>
              <a:t>A search refers </a:t>
            </a:r>
            <a:r>
              <a:rPr lang="en-US" b="0" i="0" dirty="0">
                <a:solidFill>
                  <a:srgbClr val="000000"/>
                </a:solidFill>
                <a:effectLst/>
                <a:latin typeface="ff2"/>
              </a:rPr>
              <a:t>to the search for a solution in a problem space. </a:t>
            </a:r>
            <a:endParaRPr lang="en-US" b="0" i="0" dirty="0">
              <a:solidFill>
                <a:srgbClr val="000000"/>
              </a:solidFill>
              <a:effectLst/>
              <a:latin typeface="ff4"/>
            </a:endParaRPr>
          </a:p>
          <a:p>
            <a:pPr marL="1071563" algn="l"/>
            <a:r>
              <a:rPr lang="en-US" b="0" i="0" dirty="0">
                <a:solidFill>
                  <a:srgbClr val="000000"/>
                </a:solidFill>
                <a:effectLst/>
                <a:latin typeface="ff6"/>
              </a:rPr>
              <a:t>Search proceeds with different types of search control strategies </a:t>
            </a:r>
            <a:endParaRPr lang="en-US" b="0" i="0" dirty="0">
              <a:solidFill>
                <a:srgbClr val="000000"/>
              </a:solidFill>
              <a:effectLst/>
              <a:latin typeface="ff7"/>
            </a:endParaRPr>
          </a:p>
          <a:p>
            <a:pPr marL="1071563" algn="l"/>
            <a:r>
              <a:rPr lang="en-US" b="0" i="0" dirty="0">
                <a:solidFill>
                  <a:srgbClr val="000000"/>
                </a:solidFill>
                <a:effectLst/>
                <a:latin typeface="ff2"/>
              </a:rPr>
              <a:t>The </a:t>
            </a:r>
            <a:r>
              <a:rPr lang="en-US" b="0" i="0" dirty="0">
                <a:solidFill>
                  <a:srgbClr val="000000"/>
                </a:solidFill>
                <a:effectLst/>
                <a:latin typeface="ff6"/>
              </a:rPr>
              <a:t>depth-first search and breadth-first search </a:t>
            </a:r>
            <a:r>
              <a:rPr lang="en-US" b="0" i="0" dirty="0">
                <a:solidFill>
                  <a:srgbClr val="000000"/>
                </a:solidFill>
                <a:effectLst/>
                <a:latin typeface="ff2"/>
              </a:rPr>
              <a:t>are the two common </a:t>
            </a:r>
            <a:r>
              <a:rPr lang="en-US" b="0" i="0" dirty="0">
                <a:solidFill>
                  <a:srgbClr val="000000"/>
                </a:solidFill>
                <a:effectLst/>
                <a:latin typeface="ff6"/>
              </a:rPr>
              <a:t>search strategies.</a:t>
            </a:r>
            <a:r>
              <a:rPr lang="en-US" b="0" i="0" dirty="0">
                <a:solidFill>
                  <a:srgbClr val="231F20"/>
                </a:solidFill>
                <a:effectLst/>
                <a:latin typeface="ff2"/>
              </a:rPr>
              <a:t> </a:t>
            </a:r>
            <a:endParaRPr lang="en-US" b="0" i="0" dirty="0">
              <a:solidFill>
                <a:srgbClr val="000000"/>
              </a:solidFill>
              <a:effectLst/>
              <a:latin typeface="ff6"/>
            </a:endParaRPr>
          </a:p>
          <a:p>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9411" y="138099"/>
            <a:ext cx="941000" cy="960203"/>
          </a:xfrm>
          <a:prstGeom prst="rect">
            <a:avLst/>
          </a:prstGeom>
        </p:spPr>
      </p:pic>
    </p:spTree>
    <p:extLst>
      <p:ext uri="{BB962C8B-B14F-4D97-AF65-F5344CB8AC3E}">
        <p14:creationId xmlns:p14="http://schemas.microsoft.com/office/powerpoint/2010/main" val="302673144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b="0" i="0" dirty="0">
                <a:solidFill>
                  <a:srgbClr val="000000"/>
                </a:solidFill>
                <a:effectLst/>
                <a:latin typeface="ff5"/>
              </a:rPr>
              <a:t>AI - General Problem Solving</a:t>
            </a: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lstStyle/>
          <a:p>
            <a:pPr algn="just"/>
            <a:r>
              <a:rPr lang="en-US" b="0" i="0">
                <a:solidFill>
                  <a:srgbClr val="000000"/>
                </a:solidFill>
                <a:effectLst/>
                <a:latin typeface="Bookman Old Style" panose="02050604050505020204" pitchFamily="18" charset="0"/>
              </a:rPr>
              <a:t>Problem-solving </a:t>
            </a:r>
            <a:r>
              <a:rPr lang="en-US" b="0" i="0" dirty="0">
                <a:solidFill>
                  <a:srgbClr val="000000"/>
                </a:solidFill>
                <a:effectLst/>
                <a:latin typeface="Bookman Old Style" panose="02050604050505020204" pitchFamily="18" charset="0"/>
              </a:rPr>
              <a:t>has been the key area of concern for Artificial Intelligence. </a:t>
            </a:r>
          </a:p>
          <a:p>
            <a:pPr algn="just"/>
            <a:r>
              <a:rPr lang="en-US" b="0" i="0">
                <a:solidFill>
                  <a:srgbClr val="000000"/>
                </a:solidFill>
                <a:effectLst/>
                <a:latin typeface="Bookman Old Style" panose="02050604050505020204" pitchFamily="18" charset="0"/>
              </a:rPr>
              <a:t>Problem-solving </a:t>
            </a:r>
            <a:r>
              <a:rPr lang="en-US" b="0" i="0" dirty="0">
                <a:solidFill>
                  <a:srgbClr val="000000"/>
                </a:solidFill>
                <a:effectLst/>
                <a:latin typeface="Bookman Old Style" panose="02050604050505020204" pitchFamily="18" charset="0"/>
              </a:rPr>
              <a:t>is a process of generating solutions from observed or given data. It is however not always possible to use direct methods (i.e. go directly from data to solution). Instead, problem-solving often needs to use indirect or model-based methods. </a:t>
            </a:r>
          </a:p>
          <a:p>
            <a:pPr algn="just"/>
            <a:r>
              <a:rPr lang="en-US" b="0" i="0" dirty="0">
                <a:solidFill>
                  <a:srgbClr val="000000"/>
                </a:solidFill>
                <a:effectLst/>
                <a:latin typeface="Bookman Old Style" panose="02050604050505020204" pitchFamily="18" charset="0"/>
              </a:rPr>
              <a:t>General Problem Solver (GPS) was a computer program created in 1957 by Simon and Newell to build a universal problem solver machine. GPS works on logic machines. GPS in principle can solve any formalized symbolic problem, such as theorems proof and geometric problems and chess playing. GPS solved many simple problems, such as the Towers of Hanoi, that could be sufficiently formalized, but GPS could not solve any real-world problems. </a:t>
            </a:r>
          </a:p>
          <a:p>
            <a:pPr algn="just"/>
            <a:endParaRPr lang="en-US" dirty="0">
              <a:latin typeface="Bookman Old Style" panose="02050604050505020204" pitchFamily="18" charset="0"/>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61531243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normAutofit/>
          </a:bodyPr>
          <a:lstStyle/>
          <a:p>
            <a:pPr algn="just"/>
            <a:r>
              <a:rPr lang="en-US" sz="2000" dirty="0">
                <a:latin typeface="Bookman Old Style" panose="02050604050505020204" pitchFamily="18" charset="0"/>
              </a:rPr>
              <a:t>To build a system to solve a particular problem, we need to:</a:t>
            </a:r>
          </a:p>
          <a:p>
            <a:pPr algn="just"/>
            <a:r>
              <a:rPr lang="en-US" sz="2000" b="1" i="0" dirty="0">
                <a:solidFill>
                  <a:srgbClr val="000000"/>
                </a:solidFill>
                <a:effectLst/>
                <a:latin typeface="Bookman Old Style" panose="02050604050505020204" pitchFamily="18" charset="0"/>
              </a:rPr>
              <a:t>Define the problem </a:t>
            </a:r>
            <a:r>
              <a:rPr lang="en-US" sz="2000" b="0" i="0" dirty="0">
                <a:solidFill>
                  <a:srgbClr val="000000"/>
                </a:solidFill>
                <a:effectLst/>
                <a:latin typeface="Bookman Old Style" panose="02050604050505020204" pitchFamily="18" charset="0"/>
              </a:rPr>
              <a:t>precisely find input situations as well as final situations for an acceptable solution to the problem </a:t>
            </a:r>
          </a:p>
          <a:p>
            <a:pPr algn="just"/>
            <a:r>
              <a:rPr lang="en-US" sz="2000" b="1" i="0" dirty="0">
                <a:solidFill>
                  <a:srgbClr val="000000"/>
                </a:solidFill>
                <a:effectLst/>
                <a:latin typeface="Bookman Old Style" panose="02050604050505020204" pitchFamily="18" charset="0"/>
              </a:rPr>
              <a:t>Analyze the problem </a:t>
            </a:r>
            <a:r>
              <a:rPr lang="en-US" sz="2000" b="0" i="0" dirty="0">
                <a:solidFill>
                  <a:srgbClr val="000000"/>
                </a:solidFill>
                <a:effectLst/>
                <a:latin typeface="Bookman Old Style" panose="02050604050505020204" pitchFamily="18" charset="0"/>
              </a:rPr>
              <a:t>find few important features that may have impact on the appropriateness of various possible techniques for solving the problem</a:t>
            </a:r>
          </a:p>
          <a:p>
            <a:pPr algn="just"/>
            <a:r>
              <a:rPr lang="en-US" sz="2000" b="1" i="0" dirty="0">
                <a:solidFill>
                  <a:srgbClr val="000000"/>
                </a:solidFill>
                <a:effectLst/>
                <a:latin typeface="Bookman Old Style" panose="02050604050505020204" pitchFamily="18" charset="0"/>
              </a:rPr>
              <a:t>Isolate and represent </a:t>
            </a:r>
            <a:r>
              <a:rPr lang="en-US" sz="2000" b="0" i="0" dirty="0">
                <a:solidFill>
                  <a:srgbClr val="000000"/>
                </a:solidFill>
                <a:effectLst/>
                <a:latin typeface="Bookman Old Style" panose="02050604050505020204" pitchFamily="18" charset="0"/>
              </a:rPr>
              <a:t>task knowledge necessary to solve the problem </a:t>
            </a:r>
          </a:p>
          <a:p>
            <a:pPr algn="just"/>
            <a:r>
              <a:rPr lang="en-US" sz="2000" b="1" i="0" dirty="0">
                <a:solidFill>
                  <a:srgbClr val="000000"/>
                </a:solidFill>
                <a:effectLst/>
                <a:latin typeface="Bookman Old Style" panose="02050604050505020204" pitchFamily="18" charset="0"/>
              </a:rPr>
              <a:t>Choose the best problem-solving technique(s)</a:t>
            </a:r>
            <a:r>
              <a:rPr lang="en-US" sz="2000" b="0" i="0" dirty="0">
                <a:solidFill>
                  <a:srgbClr val="000000"/>
                </a:solidFill>
                <a:effectLst/>
                <a:latin typeface="Bookman Old Style" panose="02050604050505020204" pitchFamily="18" charset="0"/>
              </a:rPr>
              <a:t> and apply to the particular problem</a:t>
            </a:r>
            <a:r>
              <a:rPr lang="en-US" sz="2000" b="0" i="0" dirty="0">
                <a:solidFill>
                  <a:srgbClr val="231F20"/>
                </a:solidFill>
                <a:effectLst/>
                <a:latin typeface="Bookman Old Style" panose="02050604050505020204" pitchFamily="18" charset="0"/>
              </a:rPr>
              <a:t> </a:t>
            </a:r>
          </a:p>
          <a:p>
            <a:pPr algn="just"/>
            <a:endParaRPr lang="en-US" sz="2000" b="0" i="0" dirty="0">
              <a:solidFill>
                <a:srgbClr val="000000"/>
              </a:solidFill>
              <a:effectLst/>
              <a:latin typeface="Bookman Old Style" panose="02050604050505020204" pitchFamily="18" charset="0"/>
            </a:endParaRPr>
          </a:p>
          <a:p>
            <a:pPr algn="just"/>
            <a:endParaRPr lang="en-US" sz="2000" b="0" i="0" dirty="0">
              <a:solidFill>
                <a:srgbClr val="000000"/>
              </a:solidFill>
              <a:effectLst/>
              <a:latin typeface="Bookman Old Style" panose="02050604050505020204" pitchFamily="18" charset="0"/>
            </a:endParaRPr>
          </a:p>
          <a:p>
            <a:pPr algn="just"/>
            <a:endParaRPr lang="en-US" sz="2000" dirty="0">
              <a:latin typeface="Bookman Old Style" panose="02050604050505020204" pitchFamily="18" charset="0"/>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90942496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Problem definitions</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lstStyle/>
          <a:p>
            <a:pPr algn="just"/>
            <a:r>
              <a:rPr lang="en-US" dirty="0">
                <a:latin typeface="Bookman Old Style" panose="02050604050505020204" pitchFamily="18" charset="0"/>
              </a:rPr>
              <a:t>A Problem is defined by its ‘elements’ and their ‘relations. To provide a formal description of a problem. We need to do the following:</a:t>
            </a:r>
          </a:p>
          <a:p>
            <a:pPr algn="just"/>
            <a:r>
              <a:rPr lang="en-US" b="0" i="0" dirty="0">
                <a:solidFill>
                  <a:srgbClr val="000000"/>
                </a:solidFill>
                <a:effectLst/>
                <a:latin typeface="Bookman Old Style" panose="02050604050505020204" pitchFamily="18" charset="0"/>
              </a:rPr>
              <a:t>a. Define a state space that contains all the possible configurations of the relevant objects, including some impossible ones. </a:t>
            </a:r>
          </a:p>
          <a:p>
            <a:pPr algn="just"/>
            <a:r>
              <a:rPr lang="en-US" b="0" i="0" dirty="0">
                <a:solidFill>
                  <a:srgbClr val="000000"/>
                </a:solidFill>
                <a:effectLst/>
                <a:latin typeface="Bookman Old Style" panose="02050604050505020204" pitchFamily="18" charset="0"/>
              </a:rPr>
              <a:t>b. Specify one or more states that describe possible situations, from which the problem-solving process may start. These states are called initial states. </a:t>
            </a:r>
          </a:p>
          <a:p>
            <a:pPr algn="just"/>
            <a:r>
              <a:rPr lang="en-US" b="0" i="0" dirty="0">
                <a:solidFill>
                  <a:srgbClr val="000000"/>
                </a:solidFill>
                <a:effectLst/>
                <a:latin typeface="Bookman Old Style" panose="02050604050505020204" pitchFamily="18" charset="0"/>
              </a:rPr>
              <a:t>c. Specify one or more states that would be acceptable solution to the problem.</a:t>
            </a:r>
          </a:p>
          <a:p>
            <a:pPr algn="just"/>
            <a:endParaRPr lang="en-US" dirty="0">
              <a:latin typeface="Bookman Old Style" panose="02050604050505020204" pitchFamily="18" charset="0"/>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164428066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b="0" i="0" dirty="0">
                <a:solidFill>
                  <a:srgbClr val="000000"/>
                </a:solidFill>
                <a:effectLst/>
                <a:latin typeface="ff6"/>
              </a:rPr>
              <a:t>Goal states</a:t>
            </a: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4508742"/>
          </a:xfrm>
        </p:spPr>
        <p:txBody>
          <a:bodyPr/>
          <a:lstStyle/>
          <a:p>
            <a:pPr algn="just"/>
            <a:r>
              <a:rPr lang="en-US" b="0" i="0" dirty="0">
                <a:solidFill>
                  <a:srgbClr val="000000"/>
                </a:solidFill>
                <a:effectLst/>
                <a:latin typeface="Bookman Old Style" panose="02050604050505020204" pitchFamily="18" charset="0"/>
              </a:rPr>
              <a:t>Specify a set of rules that describe the actions (operators) available. </a:t>
            </a:r>
          </a:p>
          <a:p>
            <a:pPr algn="just"/>
            <a:r>
              <a:rPr lang="en-US" b="0" i="0" dirty="0">
                <a:solidFill>
                  <a:srgbClr val="000000"/>
                </a:solidFill>
                <a:effectLst/>
                <a:latin typeface="Bookman Old Style" panose="02050604050505020204" pitchFamily="18" charset="0"/>
              </a:rPr>
              <a:t>The problem can then be solved by using the rules, in combination with an appropriate control  strategy, to move through the problem space until a path from an initial state to a goal state is found. This process is known as . Thus: </a:t>
            </a:r>
          </a:p>
          <a:p>
            <a:pPr algn="just"/>
            <a:r>
              <a:rPr lang="en-US" b="0" i="0" dirty="0">
                <a:solidFill>
                  <a:srgbClr val="000000"/>
                </a:solidFill>
                <a:effectLst/>
                <a:latin typeface="Bookman Old Style" panose="02050604050505020204" pitchFamily="18" charset="0"/>
              </a:rPr>
              <a:t>Search is fundamental to the problem-solving process. </a:t>
            </a:r>
          </a:p>
          <a:p>
            <a:pPr algn="just"/>
            <a:r>
              <a:rPr lang="en-US" b="0" i="0" dirty="0">
                <a:solidFill>
                  <a:srgbClr val="000000"/>
                </a:solidFill>
                <a:effectLst/>
                <a:latin typeface="Bookman Old Style" panose="02050604050505020204" pitchFamily="18" charset="0"/>
              </a:rPr>
              <a:t>Search is a general mechanism that can be used when a more direct method is not known. </a:t>
            </a:r>
          </a:p>
          <a:p>
            <a:pPr algn="just"/>
            <a:r>
              <a:rPr lang="en-US" b="0" i="0" dirty="0">
                <a:solidFill>
                  <a:srgbClr val="000000"/>
                </a:solidFill>
                <a:effectLst/>
                <a:latin typeface="Bookman Old Style" panose="02050604050505020204" pitchFamily="18" charset="0"/>
              </a:rPr>
              <a:t>Search provides the framework into which more direct methods for solving subparts of a problem can be embedded. A very large number of AI problems are formulated as search problems. </a:t>
            </a:r>
          </a:p>
          <a:p>
            <a:pPr algn="just"/>
            <a:endParaRPr lang="en-US" dirty="0">
              <a:latin typeface="Bookman Old Style" panose="02050604050505020204" pitchFamily="18" charset="0"/>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24854376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b="0" i="0" dirty="0">
                <a:solidFill>
                  <a:srgbClr val="000000"/>
                </a:solidFill>
                <a:effectLst/>
                <a:latin typeface="Bookman Old Style" panose="02050604050505020204" pitchFamily="18" charset="0"/>
              </a:rPr>
              <a:t>Problem space</a:t>
            </a: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5142272" y="1398414"/>
            <a:ext cx="6676974" cy="4508742"/>
          </a:xfrm>
        </p:spPr>
        <p:txBody>
          <a:bodyPr/>
          <a:lstStyle/>
          <a:p>
            <a:pPr algn="just"/>
            <a:r>
              <a:rPr lang="en-US" dirty="0"/>
              <a:t>A problem space is represented by a </a:t>
            </a:r>
            <a:r>
              <a:rPr lang="en-US" b="1" dirty="0"/>
              <a:t>directed graph</a:t>
            </a:r>
            <a:r>
              <a:rPr lang="en-US" dirty="0"/>
              <a:t>, where </a:t>
            </a:r>
            <a:r>
              <a:rPr lang="en-US" b="1" dirty="0"/>
              <a:t>nodes </a:t>
            </a:r>
            <a:r>
              <a:rPr lang="en-US" dirty="0"/>
              <a:t>represent the </a:t>
            </a:r>
            <a:r>
              <a:rPr lang="en-US" b="1" dirty="0"/>
              <a:t>search state</a:t>
            </a:r>
            <a:r>
              <a:rPr lang="en-US" dirty="0"/>
              <a:t> and </a:t>
            </a:r>
            <a:r>
              <a:rPr lang="en-US" b="1" dirty="0"/>
              <a:t>paths</a:t>
            </a:r>
            <a:r>
              <a:rPr lang="en-US" dirty="0"/>
              <a:t> represent the </a:t>
            </a:r>
            <a:r>
              <a:rPr lang="en-US" b="1" dirty="0"/>
              <a:t>operators applied to change the state</a:t>
            </a:r>
            <a:r>
              <a:rPr lang="en-US" dirty="0"/>
              <a:t>.   </a:t>
            </a:r>
          </a:p>
          <a:p>
            <a:pPr algn="just"/>
            <a:r>
              <a:rPr lang="en-US" dirty="0"/>
              <a:t>To simplify search algorithms, it is often convenient to </a:t>
            </a:r>
            <a:r>
              <a:rPr lang="en-US" b="1" dirty="0"/>
              <a:t>logically and programmatically represent a problem space as a tree</a:t>
            </a:r>
            <a:r>
              <a:rPr lang="en-US" dirty="0"/>
              <a:t>. </a:t>
            </a:r>
          </a:p>
          <a:p>
            <a:pPr algn="just"/>
            <a:r>
              <a:rPr lang="en-US" dirty="0"/>
              <a:t>A tree usually decreases the complexity of a search at a cost. Here, the cost is due to duplicating some nodes on the tree that were linked numerous times in the graph, e.g. node B and node D.  </a:t>
            </a:r>
          </a:p>
          <a:p>
            <a:pPr algn="just"/>
            <a:r>
              <a:rPr lang="en-US" dirty="0"/>
              <a:t>A tree is a graph in which any two vertices are connected by exactly one path. Alternatively, any connected graph with no cycles is a tree. </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2050" name="Picture 2">
            <a:extLst>
              <a:ext uri="{FF2B5EF4-FFF2-40B4-BE49-F238E27FC236}">
                <a16:creationId xmlns:a16="http://schemas.microsoft.com/office/drawing/2014/main" id="{70B1756C-ED0D-5B26-DD69-B2C8C7B80C7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304" t="7885" r="10073" b="55269"/>
          <a:stretch/>
        </p:blipFill>
        <p:spPr bwMode="auto">
          <a:xfrm>
            <a:off x="172501" y="1299461"/>
            <a:ext cx="4360170" cy="47884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971437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963561" y="1398414"/>
            <a:ext cx="10855685" cy="4508742"/>
          </a:xfrm>
        </p:spPr>
        <p:txBody>
          <a:bodyPr/>
          <a:lstStyle/>
          <a:p>
            <a:pPr algn="just"/>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19" name="Picture 18">
            <a:extLst>
              <a:ext uri="{FF2B5EF4-FFF2-40B4-BE49-F238E27FC236}">
                <a16:creationId xmlns:a16="http://schemas.microsoft.com/office/drawing/2014/main" id="{6434E0E6-EF9C-FC89-499C-D239E52D0383}"/>
              </a:ext>
            </a:extLst>
          </p:cNvPr>
          <p:cNvPicPr>
            <a:picLocks noChangeAspect="1"/>
          </p:cNvPicPr>
          <p:nvPr/>
        </p:nvPicPr>
        <p:blipFill rotWithShape="1">
          <a:blip r:embed="rId4"/>
          <a:srcRect l="21693" t="31111" r="22016" b="31469"/>
          <a:stretch/>
        </p:blipFill>
        <p:spPr>
          <a:xfrm>
            <a:off x="1061882" y="1587790"/>
            <a:ext cx="10866852" cy="4063392"/>
          </a:xfrm>
          <a:prstGeom prst="rect">
            <a:avLst/>
          </a:prstGeom>
        </p:spPr>
      </p:pic>
    </p:spTree>
    <p:extLst>
      <p:ext uri="{BB962C8B-B14F-4D97-AF65-F5344CB8AC3E}">
        <p14:creationId xmlns:p14="http://schemas.microsoft.com/office/powerpoint/2010/main" val="268633615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DEFINING PROBLEM AS A STATE SPACE SEARCH</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963561" y="1398414"/>
            <a:ext cx="10855685" cy="4508742"/>
          </a:xfrm>
        </p:spPr>
        <p:txBody>
          <a:bodyPr>
            <a:normAutofit lnSpcReduction="10000"/>
          </a:bodyPr>
          <a:lstStyle/>
          <a:p>
            <a:pPr algn="just"/>
            <a:r>
              <a:rPr lang="en-US" dirty="0"/>
              <a:t>To solve the problem of </a:t>
            </a:r>
            <a:r>
              <a:rPr lang="en-US" b="1" dirty="0"/>
              <a:t>playing a game, </a:t>
            </a:r>
            <a:r>
              <a:rPr lang="en-US" dirty="0"/>
              <a:t>we require the </a:t>
            </a:r>
            <a:r>
              <a:rPr lang="en-US" b="1" dirty="0"/>
              <a:t>rules of the game </a:t>
            </a:r>
            <a:r>
              <a:rPr lang="en-US" dirty="0"/>
              <a:t>and </a:t>
            </a:r>
            <a:r>
              <a:rPr lang="en-US" b="1" dirty="0"/>
              <a:t>targets for winning </a:t>
            </a:r>
            <a:r>
              <a:rPr lang="en-US" dirty="0"/>
              <a:t>as well as </a:t>
            </a:r>
            <a:r>
              <a:rPr lang="en-US" b="1" dirty="0"/>
              <a:t>representing positions </a:t>
            </a:r>
            <a:r>
              <a:rPr lang="en-US" dirty="0"/>
              <a:t>in the game. </a:t>
            </a:r>
          </a:p>
          <a:p>
            <a:pPr algn="just"/>
            <a:r>
              <a:rPr lang="en-US" dirty="0"/>
              <a:t>The </a:t>
            </a:r>
            <a:r>
              <a:rPr lang="en-US" b="1" dirty="0"/>
              <a:t>opening position </a:t>
            </a:r>
            <a:r>
              <a:rPr lang="en-US" dirty="0"/>
              <a:t>can be defined as the </a:t>
            </a:r>
            <a:r>
              <a:rPr lang="en-US" b="1" dirty="0"/>
              <a:t>initial state </a:t>
            </a:r>
            <a:r>
              <a:rPr lang="en-US" dirty="0"/>
              <a:t>and a </a:t>
            </a:r>
            <a:r>
              <a:rPr lang="en-US" b="1" dirty="0"/>
              <a:t>winning position </a:t>
            </a:r>
            <a:r>
              <a:rPr lang="en-US" dirty="0"/>
              <a:t>as a </a:t>
            </a:r>
            <a:r>
              <a:rPr lang="en-US" b="1" dirty="0"/>
              <a:t>goal state. </a:t>
            </a:r>
          </a:p>
          <a:p>
            <a:pPr algn="just"/>
            <a:r>
              <a:rPr lang="en-US" dirty="0"/>
              <a:t>Moves from initial state to other states leading to the goal state follow legally. </a:t>
            </a:r>
          </a:p>
          <a:p>
            <a:pPr algn="just"/>
            <a:r>
              <a:rPr lang="en-US" dirty="0"/>
              <a:t>The rules are far too abundant in most games, especially in chess, where they exceed the number of particles in the universe. </a:t>
            </a:r>
          </a:p>
          <a:p>
            <a:pPr algn="just"/>
            <a:r>
              <a:rPr lang="en-US" dirty="0"/>
              <a:t>The number of rules that are used must be minimized and the set can be created by expressing each rule in a form as possible. </a:t>
            </a:r>
          </a:p>
          <a:p>
            <a:pPr algn="just"/>
            <a:r>
              <a:rPr lang="en-US" dirty="0"/>
              <a:t>The representation of games leads to a state space representation and it is common for well-organized games with some structure. </a:t>
            </a:r>
          </a:p>
          <a:p>
            <a:pPr algn="just"/>
            <a:r>
              <a:rPr lang="en-US" dirty="0"/>
              <a:t>This representation allows for the formal definition of a problem that needs the movement from a set of initial positions to one of a set of target positions. It means that the solution involves using known techniques and a </a:t>
            </a:r>
            <a:r>
              <a:rPr lang="en-US" b="1" dirty="0"/>
              <a:t>systematic search</a:t>
            </a:r>
            <a:r>
              <a:rPr lang="en-US" dirty="0"/>
              <a:t>. </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245523754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State Space Search</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963561" y="1398414"/>
            <a:ext cx="10855685" cy="4508742"/>
          </a:xfrm>
        </p:spPr>
        <p:txBody>
          <a:bodyPr>
            <a:normAutofit/>
          </a:bodyPr>
          <a:lstStyle/>
          <a:p>
            <a:pPr algn="just"/>
            <a:r>
              <a:rPr lang="en-US" b="0" i="0" dirty="0">
                <a:solidFill>
                  <a:srgbClr val="231F20"/>
                </a:solidFill>
                <a:effectLst/>
                <a:latin typeface="Bookman Old Style" panose="02050604050505020204" pitchFamily="18" charset="0"/>
              </a:rPr>
              <a:t>A state space represents a problem in terms of states and operators that change states. </a:t>
            </a:r>
          </a:p>
          <a:p>
            <a:pPr marL="0" indent="0" algn="just">
              <a:buNone/>
            </a:pPr>
            <a:r>
              <a:rPr lang="en-US" b="0" i="0" dirty="0">
                <a:solidFill>
                  <a:srgbClr val="231F20"/>
                </a:solidFill>
                <a:effectLst/>
                <a:latin typeface="Bookman Old Style" panose="02050604050505020204" pitchFamily="18" charset="0"/>
              </a:rPr>
              <a:t>A state space consists of: </a:t>
            </a:r>
          </a:p>
          <a:p>
            <a:pPr algn="just"/>
            <a:r>
              <a:rPr lang="en-US" b="0" i="0" dirty="0">
                <a:solidFill>
                  <a:srgbClr val="231F20"/>
                </a:solidFill>
                <a:effectLst/>
                <a:latin typeface="Bookman Old Style" panose="02050604050505020204" pitchFamily="18" charset="0"/>
              </a:rPr>
              <a:t>A </a:t>
            </a:r>
            <a:r>
              <a:rPr lang="en-US" b="1" i="0" dirty="0">
                <a:solidFill>
                  <a:srgbClr val="231F20"/>
                </a:solidFill>
                <a:effectLst/>
                <a:latin typeface="Bookman Old Style" panose="02050604050505020204" pitchFamily="18" charset="0"/>
              </a:rPr>
              <a:t>representation of the states the system </a:t>
            </a:r>
            <a:r>
              <a:rPr lang="en-US" b="0" i="0" dirty="0">
                <a:solidFill>
                  <a:srgbClr val="231F20"/>
                </a:solidFill>
                <a:effectLst/>
                <a:latin typeface="Bookman Old Style" panose="02050604050505020204" pitchFamily="18" charset="0"/>
              </a:rPr>
              <a:t>can be in. For example, in a board game, the board represents the current state of the game. </a:t>
            </a:r>
          </a:p>
          <a:p>
            <a:pPr algn="just"/>
            <a:r>
              <a:rPr lang="en-US" b="0" i="0" dirty="0">
                <a:solidFill>
                  <a:srgbClr val="231F20"/>
                </a:solidFill>
                <a:effectLst/>
                <a:latin typeface="Bookman Old Style" panose="02050604050505020204" pitchFamily="18" charset="0"/>
              </a:rPr>
              <a:t>A </a:t>
            </a:r>
            <a:r>
              <a:rPr lang="en-US" b="1" i="0" dirty="0">
                <a:solidFill>
                  <a:srgbClr val="231F20"/>
                </a:solidFill>
                <a:effectLst/>
                <a:latin typeface="Bookman Old Style" panose="02050604050505020204" pitchFamily="18" charset="0"/>
              </a:rPr>
              <a:t>set of operators </a:t>
            </a:r>
            <a:r>
              <a:rPr lang="en-US" b="0" i="0" dirty="0">
                <a:solidFill>
                  <a:srgbClr val="231F20"/>
                </a:solidFill>
                <a:effectLst/>
                <a:latin typeface="Bookman Old Style" panose="02050604050505020204" pitchFamily="18" charset="0"/>
              </a:rPr>
              <a:t>that can change one state into another state. In a board game, the operators are the legal moves from any given state. Often the operators are represented as programs that change a state representation to represent the new state. </a:t>
            </a:r>
          </a:p>
          <a:p>
            <a:pPr algn="just"/>
            <a:r>
              <a:rPr lang="en-US" b="1" i="0" dirty="0">
                <a:solidFill>
                  <a:srgbClr val="231F20"/>
                </a:solidFill>
                <a:effectLst/>
                <a:latin typeface="Bookman Old Style" panose="02050604050505020204" pitchFamily="18" charset="0"/>
              </a:rPr>
              <a:t>An initial state</a:t>
            </a:r>
            <a:r>
              <a:rPr lang="en-US" b="0" i="0" dirty="0">
                <a:solidFill>
                  <a:srgbClr val="231F20"/>
                </a:solidFill>
                <a:effectLst/>
                <a:latin typeface="Bookman Old Style" panose="02050604050505020204" pitchFamily="18" charset="0"/>
              </a:rPr>
              <a:t>. </a:t>
            </a:r>
          </a:p>
          <a:p>
            <a:pPr algn="just"/>
            <a:r>
              <a:rPr lang="en-US" b="0" i="0" dirty="0">
                <a:solidFill>
                  <a:srgbClr val="231F20"/>
                </a:solidFill>
                <a:effectLst/>
                <a:latin typeface="Bookman Old Style" panose="02050604050505020204" pitchFamily="18" charset="0"/>
              </a:rPr>
              <a:t>A </a:t>
            </a:r>
            <a:r>
              <a:rPr lang="en-US" b="1" i="0" dirty="0">
                <a:solidFill>
                  <a:srgbClr val="231F20"/>
                </a:solidFill>
                <a:effectLst/>
                <a:latin typeface="Bookman Old Style" panose="02050604050505020204" pitchFamily="18" charset="0"/>
              </a:rPr>
              <a:t>set of final states</a:t>
            </a:r>
            <a:r>
              <a:rPr lang="en-US" b="0" i="0" dirty="0">
                <a:solidFill>
                  <a:srgbClr val="231F20"/>
                </a:solidFill>
                <a:effectLst/>
                <a:latin typeface="Bookman Old Style" panose="02050604050505020204" pitchFamily="18" charset="0"/>
              </a:rPr>
              <a:t>; some of these may be desirable, others undesirable. This set is often represented implicitly by a program that detects terminal states.</a:t>
            </a:r>
          </a:p>
          <a:p>
            <a:pPr algn="just"/>
            <a:endParaRPr lang="en-US" dirty="0">
              <a:latin typeface="Bookman Old Style" panose="02050604050505020204" pitchFamily="18" charset="0"/>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45321076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648928"/>
            <a:ext cx="8911687" cy="761573"/>
          </a:xfrm>
        </p:spPr>
        <p:txBody>
          <a:bodyPr>
            <a:normAutofit/>
          </a:bodyPr>
          <a:lstStyle/>
          <a:p>
            <a:r>
              <a:rPr lang="en-US" sz="2200" b="1" i="0" dirty="0">
                <a:solidFill>
                  <a:srgbClr val="000000"/>
                </a:solidFill>
                <a:effectLst/>
                <a:latin typeface="Bookman Old Style" panose="02050604050505020204" pitchFamily="18" charset="0"/>
              </a:rPr>
              <a:t>The Water Jug Problem</a:t>
            </a:r>
            <a:endParaRPr lang="en-US" sz="2200" b="1" dirty="0">
              <a:latin typeface="Bookman Old Style" panose="02050604050505020204" pitchFamily="18" charset="0"/>
            </a:endParaRP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963561" y="1398414"/>
            <a:ext cx="10855685" cy="4508742"/>
          </a:xfrm>
        </p:spPr>
        <p:txBody>
          <a:bodyPr/>
          <a:lstStyle/>
          <a:p>
            <a:pPr algn="l"/>
            <a:r>
              <a:rPr lang="en-US" b="0" i="0" dirty="0">
                <a:solidFill>
                  <a:srgbClr val="000000"/>
                </a:solidFill>
                <a:effectLst/>
                <a:latin typeface="ff2"/>
              </a:rPr>
              <a:t>In this problem, we use two jugs called </a:t>
            </a:r>
            <a:r>
              <a:rPr lang="en-US" b="0" i="0" dirty="0">
                <a:solidFill>
                  <a:srgbClr val="000000"/>
                </a:solidFill>
                <a:effectLst/>
                <a:latin typeface="ff5"/>
              </a:rPr>
              <a:t>four </a:t>
            </a:r>
            <a:r>
              <a:rPr lang="en-US" b="0" i="0" dirty="0">
                <a:solidFill>
                  <a:srgbClr val="000000"/>
                </a:solidFill>
                <a:effectLst/>
                <a:latin typeface="ff2"/>
              </a:rPr>
              <a:t>and </a:t>
            </a:r>
            <a:r>
              <a:rPr lang="en-US" b="0" i="0" dirty="0">
                <a:solidFill>
                  <a:srgbClr val="000000"/>
                </a:solidFill>
                <a:effectLst/>
                <a:latin typeface="ff5"/>
              </a:rPr>
              <a:t>three; </a:t>
            </a:r>
            <a:r>
              <a:rPr lang="en-US" b="0" i="0" dirty="0">
                <a:solidFill>
                  <a:srgbClr val="000000"/>
                </a:solidFill>
                <a:effectLst/>
                <a:latin typeface="ff2"/>
              </a:rPr>
              <a:t>four holds a maximum of four gallons of water and </a:t>
            </a:r>
            <a:r>
              <a:rPr lang="en-US" b="0" i="0" dirty="0">
                <a:solidFill>
                  <a:srgbClr val="000000"/>
                </a:solidFill>
                <a:effectLst/>
                <a:latin typeface="ff5"/>
              </a:rPr>
              <a:t>three </a:t>
            </a:r>
            <a:r>
              <a:rPr lang="en-US" b="0" i="0" dirty="0">
                <a:solidFill>
                  <a:srgbClr val="000000"/>
                </a:solidFill>
                <a:effectLst/>
                <a:latin typeface="ff2"/>
              </a:rPr>
              <a:t>a maximum of three gallons of water. How can we get two gallons of water in the </a:t>
            </a:r>
            <a:r>
              <a:rPr lang="en-US" b="0" i="0" dirty="0">
                <a:solidFill>
                  <a:srgbClr val="000000"/>
                </a:solidFill>
                <a:effectLst/>
                <a:latin typeface="ff5"/>
              </a:rPr>
              <a:t>four </a:t>
            </a:r>
            <a:r>
              <a:rPr lang="en-US" b="0" i="0" dirty="0">
                <a:solidFill>
                  <a:srgbClr val="000000"/>
                </a:solidFill>
                <a:effectLst/>
                <a:latin typeface="ff2"/>
              </a:rPr>
              <a:t>jug? </a:t>
            </a:r>
          </a:p>
          <a:p>
            <a:pPr algn="l"/>
            <a:r>
              <a:rPr lang="en-US" b="0" i="0" dirty="0">
                <a:solidFill>
                  <a:srgbClr val="000000"/>
                </a:solidFill>
                <a:effectLst/>
                <a:latin typeface="ff2"/>
              </a:rPr>
              <a:t>The state space is a set of prearranged pairs giving the number of gallons of water in the pair of jugs at any time, i.e., (</a:t>
            </a:r>
            <a:r>
              <a:rPr lang="en-US" b="0" i="0" dirty="0">
                <a:solidFill>
                  <a:srgbClr val="000000"/>
                </a:solidFill>
                <a:effectLst/>
                <a:latin typeface="ff5"/>
              </a:rPr>
              <a:t>four, three</a:t>
            </a:r>
            <a:r>
              <a:rPr lang="en-US" b="0" i="0" dirty="0">
                <a:solidFill>
                  <a:srgbClr val="000000"/>
                </a:solidFill>
                <a:effectLst/>
                <a:latin typeface="ff2"/>
              </a:rPr>
              <a:t>) where </a:t>
            </a:r>
            <a:r>
              <a:rPr lang="en-US" b="0" i="0" dirty="0">
                <a:solidFill>
                  <a:srgbClr val="000000"/>
                </a:solidFill>
                <a:effectLst/>
                <a:latin typeface="ff5"/>
              </a:rPr>
              <a:t>fou</a:t>
            </a:r>
            <a:r>
              <a:rPr lang="en-US" b="0" i="0" dirty="0">
                <a:solidFill>
                  <a:srgbClr val="000000"/>
                </a:solidFill>
                <a:effectLst/>
                <a:latin typeface="ff2"/>
              </a:rPr>
              <a:t>r = 0, 1, 2, 3 or 4 and </a:t>
            </a:r>
            <a:r>
              <a:rPr lang="en-US" b="0" i="0" dirty="0">
                <a:solidFill>
                  <a:srgbClr val="000000"/>
                </a:solidFill>
                <a:effectLst/>
                <a:latin typeface="ff5"/>
              </a:rPr>
              <a:t>three </a:t>
            </a:r>
            <a:r>
              <a:rPr lang="en-US" b="0" i="0" dirty="0">
                <a:solidFill>
                  <a:srgbClr val="000000"/>
                </a:solidFill>
                <a:effectLst/>
                <a:latin typeface="ff2"/>
              </a:rPr>
              <a:t>= 0, 1, 2 or 3. </a:t>
            </a:r>
          </a:p>
          <a:p>
            <a:pPr algn="just"/>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9" name="Picture 8">
            <a:extLst>
              <a:ext uri="{FF2B5EF4-FFF2-40B4-BE49-F238E27FC236}">
                <a16:creationId xmlns:a16="http://schemas.microsoft.com/office/drawing/2014/main" id="{97433A79-4289-C946-FD02-35A9E104CA4E}"/>
              </a:ext>
            </a:extLst>
          </p:cNvPr>
          <p:cNvPicPr>
            <a:picLocks noChangeAspect="1"/>
          </p:cNvPicPr>
          <p:nvPr/>
        </p:nvPicPr>
        <p:blipFill rotWithShape="1">
          <a:blip r:embed="rId4"/>
          <a:srcRect l="2096" t="21771" r="3058" b="7702"/>
          <a:stretch/>
        </p:blipFill>
        <p:spPr>
          <a:xfrm>
            <a:off x="314197" y="2781888"/>
            <a:ext cx="11563606" cy="3547915"/>
          </a:xfrm>
          <a:prstGeom prst="rect">
            <a:avLst/>
          </a:prstGeom>
        </p:spPr>
      </p:pic>
    </p:spTree>
    <p:extLst>
      <p:ext uri="{BB962C8B-B14F-4D97-AF65-F5344CB8AC3E}">
        <p14:creationId xmlns:p14="http://schemas.microsoft.com/office/powerpoint/2010/main" val="282794771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5574890" y="1398414"/>
            <a:ext cx="6244356" cy="4508742"/>
          </a:xfrm>
        </p:spPr>
        <p:txBody>
          <a:bodyPr/>
          <a:lstStyle/>
          <a:p>
            <a:pPr algn="just"/>
            <a:r>
              <a:rPr lang="en-US" sz="2400" b="0" i="0" dirty="0">
                <a:solidFill>
                  <a:srgbClr val="000000"/>
                </a:solidFill>
                <a:effectLst/>
                <a:latin typeface="ff2"/>
              </a:rPr>
              <a:t>The start state is (0, 0) and the goal state is (2, n) where n may be any but it is limited to </a:t>
            </a:r>
            <a:r>
              <a:rPr lang="en-US" sz="2400" b="0" i="0" dirty="0">
                <a:solidFill>
                  <a:srgbClr val="000000"/>
                </a:solidFill>
                <a:effectLst/>
                <a:latin typeface="ff5"/>
              </a:rPr>
              <a:t>three </a:t>
            </a:r>
            <a:r>
              <a:rPr lang="en-US" sz="2400" b="0" i="0" dirty="0">
                <a:solidFill>
                  <a:srgbClr val="000000"/>
                </a:solidFill>
                <a:effectLst/>
                <a:latin typeface="ff2"/>
              </a:rPr>
              <a:t>holding from 0 to 3 gallons of water or empty. Three and four shows the name and numerical number shows the amount of water in jugs for solving the water jug problem. The major production rules for solving this problem are shown : </a:t>
            </a:r>
          </a:p>
          <a:p>
            <a:pPr algn="just"/>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9" name="Picture 8">
            <a:extLst>
              <a:ext uri="{FF2B5EF4-FFF2-40B4-BE49-F238E27FC236}">
                <a16:creationId xmlns:a16="http://schemas.microsoft.com/office/drawing/2014/main" id="{87CD299A-656B-60DB-41D5-939484096A65}"/>
              </a:ext>
            </a:extLst>
          </p:cNvPr>
          <p:cNvPicPr>
            <a:picLocks noChangeAspect="1"/>
          </p:cNvPicPr>
          <p:nvPr/>
        </p:nvPicPr>
        <p:blipFill rotWithShape="1">
          <a:blip r:embed="rId4"/>
          <a:srcRect t="12472" r="28532" b="7702"/>
          <a:stretch/>
        </p:blipFill>
        <p:spPr>
          <a:xfrm>
            <a:off x="185942" y="1253991"/>
            <a:ext cx="5043948" cy="5474397"/>
          </a:xfrm>
          <a:prstGeom prst="rect">
            <a:avLst/>
          </a:prstGeom>
        </p:spPr>
      </p:pic>
    </p:spTree>
    <p:extLst>
      <p:ext uri="{BB962C8B-B14F-4D97-AF65-F5344CB8AC3E}">
        <p14:creationId xmlns:p14="http://schemas.microsoft.com/office/powerpoint/2010/main" val="324910393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Production Rules</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963561" y="1398414"/>
            <a:ext cx="10855685" cy="4508742"/>
          </a:xfrm>
        </p:spPr>
        <p:txBody>
          <a:bodyPr/>
          <a:lstStyle/>
          <a:p>
            <a:pPr algn="just"/>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9" name="Picture 8">
            <a:extLst>
              <a:ext uri="{FF2B5EF4-FFF2-40B4-BE49-F238E27FC236}">
                <a16:creationId xmlns:a16="http://schemas.microsoft.com/office/drawing/2014/main" id="{AC41C74C-9E63-47F3-D3A7-6A94226FAE61}"/>
              </a:ext>
            </a:extLst>
          </p:cNvPr>
          <p:cNvPicPr>
            <a:picLocks noChangeAspect="1"/>
          </p:cNvPicPr>
          <p:nvPr/>
        </p:nvPicPr>
        <p:blipFill rotWithShape="1">
          <a:blip r:embed="rId4"/>
          <a:srcRect t="11228" b="7702"/>
          <a:stretch/>
        </p:blipFill>
        <p:spPr>
          <a:xfrm>
            <a:off x="0" y="1225866"/>
            <a:ext cx="12192000" cy="5559747"/>
          </a:xfrm>
          <a:prstGeom prst="rect">
            <a:avLst/>
          </a:prstGeom>
        </p:spPr>
      </p:pic>
    </p:spTree>
    <p:extLst>
      <p:ext uri="{BB962C8B-B14F-4D97-AF65-F5344CB8AC3E}">
        <p14:creationId xmlns:p14="http://schemas.microsoft.com/office/powerpoint/2010/main" val="36557152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General Approach</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963561" y="1398414"/>
            <a:ext cx="10855685" cy="4508742"/>
          </a:xfrm>
        </p:spPr>
        <p:txBody>
          <a:bodyPr/>
          <a:lstStyle/>
          <a:p>
            <a:pPr algn="just"/>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9" name="Picture 8">
            <a:extLst>
              <a:ext uri="{FF2B5EF4-FFF2-40B4-BE49-F238E27FC236}">
                <a16:creationId xmlns:a16="http://schemas.microsoft.com/office/drawing/2014/main" id="{C9C9D6B6-F9D2-7852-D03A-CABB0D85C704}"/>
              </a:ext>
            </a:extLst>
          </p:cNvPr>
          <p:cNvPicPr>
            <a:picLocks noChangeAspect="1"/>
          </p:cNvPicPr>
          <p:nvPr/>
        </p:nvPicPr>
        <p:blipFill rotWithShape="1">
          <a:blip r:embed="rId4"/>
          <a:srcRect t="15307" r="26906" b="23154"/>
          <a:stretch/>
        </p:blipFill>
        <p:spPr>
          <a:xfrm>
            <a:off x="1258529" y="1277569"/>
            <a:ext cx="8911687" cy="4220294"/>
          </a:xfrm>
          <a:prstGeom prst="rect">
            <a:avLst/>
          </a:prstGeom>
        </p:spPr>
      </p:pic>
    </p:spTree>
    <p:extLst>
      <p:ext uri="{BB962C8B-B14F-4D97-AF65-F5344CB8AC3E}">
        <p14:creationId xmlns:p14="http://schemas.microsoft.com/office/powerpoint/2010/main" val="174197137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Method 1using Production Rules</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963561" y="1398414"/>
            <a:ext cx="10855685" cy="4508742"/>
          </a:xfrm>
        </p:spPr>
        <p:txBody>
          <a:bodyPr/>
          <a:lstStyle/>
          <a:p>
            <a:pPr algn="just"/>
            <a:endParaRPr lang="en-US" dirty="0"/>
          </a:p>
        </p:txBody>
      </p:sp>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9" name="Picture 8">
            <a:extLst>
              <a:ext uri="{FF2B5EF4-FFF2-40B4-BE49-F238E27FC236}">
                <a16:creationId xmlns:a16="http://schemas.microsoft.com/office/drawing/2014/main" id="{8485C13E-1AAD-564A-3EC8-D2EDDB2848E1}"/>
              </a:ext>
            </a:extLst>
          </p:cNvPr>
          <p:cNvPicPr>
            <a:picLocks noChangeAspect="1"/>
          </p:cNvPicPr>
          <p:nvPr/>
        </p:nvPicPr>
        <p:blipFill rotWithShape="1">
          <a:blip r:embed="rId3"/>
          <a:srcRect t="11228" b="8962"/>
          <a:stretch/>
        </p:blipFill>
        <p:spPr>
          <a:xfrm>
            <a:off x="-30367" y="1254961"/>
            <a:ext cx="12192000" cy="5473427"/>
          </a:xfrm>
          <a:prstGeom prst="rect">
            <a:avLst/>
          </a:prstGeom>
        </p:spPr>
      </p:pic>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4">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Tree>
    <p:extLst>
      <p:ext uri="{BB962C8B-B14F-4D97-AF65-F5344CB8AC3E}">
        <p14:creationId xmlns:p14="http://schemas.microsoft.com/office/powerpoint/2010/main" val="65200902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FD436B3-8BE5-B209-84D2-2001C6620BA9}"/>
              </a:ext>
            </a:extLst>
          </p:cNvPr>
          <p:cNvPicPr>
            <a:picLocks noChangeAspect="1"/>
          </p:cNvPicPr>
          <p:nvPr/>
        </p:nvPicPr>
        <p:blipFill rotWithShape="1">
          <a:blip r:embed="rId2"/>
          <a:srcRect t="13865" b="6523"/>
          <a:stretch/>
        </p:blipFill>
        <p:spPr>
          <a:xfrm>
            <a:off x="90222" y="1212943"/>
            <a:ext cx="11867535" cy="4627418"/>
          </a:xfrm>
          <a:prstGeom prst="rect">
            <a:avLst/>
          </a:prstGeom>
        </p:spPr>
      </p:pic>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Method 2 using Production Rules</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3">
            <a:extLst>
              <a:ext uri="{28A0092B-C50C-407E-A947-70E740481C1C}">
                <a14:useLocalDpi xmlns:a14="http://schemas.microsoft.com/office/drawing/2010/main" val="0"/>
              </a:ext>
            </a:extLst>
          </a:blip>
          <a:srcRect l="7632" t="6513" r="14801" b="12673"/>
          <a:stretch/>
        </p:blipFill>
        <p:spPr>
          <a:xfrm>
            <a:off x="11123180" y="6486692"/>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
        <p:nvSpPr>
          <p:cNvPr id="11" name="TextBox 10">
            <a:extLst>
              <a:ext uri="{FF2B5EF4-FFF2-40B4-BE49-F238E27FC236}">
                <a16:creationId xmlns:a16="http://schemas.microsoft.com/office/drawing/2014/main" id="{171FF6A1-A08E-E349-EF3B-4FA9BDA15181}"/>
              </a:ext>
            </a:extLst>
          </p:cNvPr>
          <p:cNvSpPr txBox="1"/>
          <p:nvPr/>
        </p:nvSpPr>
        <p:spPr>
          <a:xfrm>
            <a:off x="362928" y="5929954"/>
            <a:ext cx="11466144" cy="646331"/>
          </a:xfrm>
          <a:prstGeom prst="rect">
            <a:avLst/>
          </a:prstGeom>
          <a:noFill/>
        </p:spPr>
        <p:txBody>
          <a:bodyPr wrap="square">
            <a:spAutoFit/>
          </a:bodyPr>
          <a:lstStyle/>
          <a:p>
            <a:pPr algn="just"/>
            <a:r>
              <a:rPr lang="en-US" sz="1200" dirty="0"/>
              <a:t>https://www.google.com/search?q=solve+the+water+jug+problem&amp;rlz=1C1UEAD_enIN1034IN1034&amp;oq=The+Water+Jug+Problem+&amp;gs_lcrp=EgZjaHJvbWUqCAgHEAAYFhgeMgYIABBFGDsyBggBEEUYOzIHCAIQABiABDIICAMQABgWGB4yCAgEEAAYFhgeMggIBRAAGBYYHjIICAYQABgWGB4yCAgHEAAYFhgeMggICBAAGBYYHjIICAkQABgWGB7SAQg3OTI3ajBqN6gCALACAA&amp;sourceid=chrome&amp;ie=UTF-8#fpstate=ive&amp;vld=cid:1fc2ef9b,vid:26YyD_K-gpA </a:t>
            </a:r>
          </a:p>
        </p:txBody>
      </p:sp>
    </p:spTree>
    <p:extLst>
      <p:ext uri="{BB962C8B-B14F-4D97-AF65-F5344CB8AC3E}">
        <p14:creationId xmlns:p14="http://schemas.microsoft.com/office/powerpoint/2010/main" val="331351245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Fun program</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1170040" y="1579201"/>
            <a:ext cx="10334573" cy="526338"/>
          </a:xfrm>
        </p:spPr>
        <p:txBody>
          <a:bodyPr>
            <a:normAutofit/>
          </a:bodyPr>
          <a:lstStyle/>
          <a:p>
            <a:r>
              <a:rPr lang="en-US" dirty="0"/>
              <a:t>Try to use the production system for Tic tac toe – (as similar to water jug Program)</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29064"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8194" name="Picture 2" descr="YouTube for Android apparently updated with Activity tab and swipe to  remove videos from playlist ​ | Digit">
            <a:extLst>
              <a:ext uri="{FF2B5EF4-FFF2-40B4-BE49-F238E27FC236}">
                <a16:creationId xmlns:a16="http://schemas.microsoft.com/office/drawing/2014/main" id="{805E04D5-E050-4AD2-4F4B-B9B094FDBF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43764" y="2466245"/>
            <a:ext cx="4260849" cy="2447109"/>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Tic Tac Toe Images - Free Download on Freepik">
            <a:extLst>
              <a:ext uri="{FF2B5EF4-FFF2-40B4-BE49-F238E27FC236}">
                <a16:creationId xmlns:a16="http://schemas.microsoft.com/office/drawing/2014/main" id="{27FFBE5A-4C63-ABA3-DEB9-45F9702A07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8367" y="1939907"/>
            <a:ext cx="4405623" cy="3779998"/>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a:extLst>
              <a:ext uri="{FF2B5EF4-FFF2-40B4-BE49-F238E27FC236}">
                <a16:creationId xmlns:a16="http://schemas.microsoft.com/office/drawing/2014/main" id="{220A524D-DFA6-B122-48CB-B6C23D732242}"/>
              </a:ext>
            </a:extLst>
          </p:cNvPr>
          <p:cNvSpPr txBox="1">
            <a:spLocks/>
          </p:cNvSpPr>
          <p:nvPr/>
        </p:nvSpPr>
        <p:spPr>
          <a:xfrm>
            <a:off x="1469924" y="6066634"/>
            <a:ext cx="10334573" cy="526338"/>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dirty="0">
                <a:solidFill>
                  <a:schemeClr val="tx1"/>
                </a:solidFill>
              </a:rPr>
              <a:t>Submission of Video / YouTube link 3-5min video with description (English/ Hindi / </a:t>
            </a:r>
            <a:r>
              <a:rPr lang="en-US" b="1" dirty="0" err="1">
                <a:solidFill>
                  <a:schemeClr val="tx1"/>
                </a:solidFill>
              </a:rPr>
              <a:t>kannada</a:t>
            </a:r>
            <a:r>
              <a:rPr lang="en-US" b="1" dirty="0">
                <a:solidFill>
                  <a:schemeClr val="tx1"/>
                </a:solidFill>
              </a:rPr>
              <a:t> sub titles)</a:t>
            </a:r>
          </a:p>
        </p:txBody>
      </p:sp>
    </p:spTree>
    <p:extLst>
      <p:ext uri="{BB962C8B-B14F-4D97-AF65-F5344CB8AC3E}">
        <p14:creationId xmlns:p14="http://schemas.microsoft.com/office/powerpoint/2010/main" val="151336510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b="0" i="0" dirty="0">
                <a:solidFill>
                  <a:srgbClr val="231F20"/>
                </a:solidFill>
                <a:effectLst/>
                <a:latin typeface="ff5"/>
              </a:rPr>
              <a:t>PROBLEM CHARACTERISTICS</a:t>
            </a: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963561" y="1398414"/>
            <a:ext cx="10707329" cy="4508742"/>
          </a:xfrm>
        </p:spPr>
        <p:txBody>
          <a:bodyPr/>
          <a:lstStyle/>
          <a:p>
            <a:pPr algn="just"/>
            <a:r>
              <a:rPr lang="en-US" b="0" i="0" dirty="0">
                <a:solidFill>
                  <a:srgbClr val="231F20"/>
                </a:solidFill>
                <a:effectLst/>
                <a:latin typeface="Bookman Old Style" panose="02050604050505020204" pitchFamily="18" charset="0"/>
              </a:rPr>
              <a:t>Heuristics cannot be generalized, as they are domain-specific. Production systems provide ideal techniques for representing such heuristics in the form of </a:t>
            </a:r>
            <a:r>
              <a:rPr lang="en-US" b="1" i="0" dirty="0">
                <a:solidFill>
                  <a:srgbClr val="231F20"/>
                </a:solidFill>
                <a:effectLst/>
                <a:latin typeface="Bookman Old Style" panose="02050604050505020204" pitchFamily="18" charset="0"/>
              </a:rPr>
              <a:t>IF-THEN</a:t>
            </a:r>
            <a:r>
              <a:rPr lang="en-US" b="0" i="0" dirty="0">
                <a:solidFill>
                  <a:srgbClr val="231F20"/>
                </a:solidFill>
                <a:effectLst/>
                <a:latin typeface="Bookman Old Style" panose="02050604050505020204" pitchFamily="18" charset="0"/>
              </a:rPr>
              <a:t> rules. Most problems requiring simulation of intelligence use heuristic search extensively. </a:t>
            </a:r>
          </a:p>
          <a:p>
            <a:pPr algn="just"/>
            <a:r>
              <a:rPr lang="en-US" b="0" i="0" dirty="0">
                <a:solidFill>
                  <a:srgbClr val="231F20"/>
                </a:solidFill>
                <a:effectLst/>
                <a:latin typeface="Bookman Old Style" panose="02050604050505020204" pitchFamily="18" charset="0"/>
              </a:rPr>
              <a:t>Some heuristics are used to define the </a:t>
            </a:r>
            <a:r>
              <a:rPr lang="en-US" b="1" i="0" dirty="0">
                <a:solidFill>
                  <a:srgbClr val="231F20"/>
                </a:solidFill>
                <a:effectLst/>
                <a:latin typeface="Bookman Old Style" panose="02050604050505020204" pitchFamily="18" charset="0"/>
              </a:rPr>
              <a:t>control structure </a:t>
            </a:r>
            <a:r>
              <a:rPr lang="en-US" b="0" i="0" dirty="0">
                <a:solidFill>
                  <a:srgbClr val="231F20"/>
                </a:solidFill>
                <a:effectLst/>
                <a:latin typeface="Bookman Old Style" panose="02050604050505020204" pitchFamily="18" charset="0"/>
              </a:rPr>
              <a:t>that guides the search process, as seen in the example described above. </a:t>
            </a:r>
          </a:p>
          <a:p>
            <a:pPr algn="just"/>
            <a:r>
              <a:rPr lang="en-US" b="0" i="0" dirty="0">
                <a:solidFill>
                  <a:srgbClr val="231F20"/>
                </a:solidFill>
                <a:effectLst/>
                <a:latin typeface="Bookman Old Style" panose="02050604050505020204" pitchFamily="18" charset="0"/>
              </a:rPr>
              <a:t>But heuristics can also be encoded in the rules to represent the domain knowledge. Since most AI problems make use of knowledge and guided search through knowledge, </a:t>
            </a:r>
            <a:r>
              <a:rPr lang="en-US" b="1" i="0" dirty="0">
                <a:solidFill>
                  <a:srgbClr val="231F20"/>
                </a:solidFill>
                <a:effectLst/>
                <a:latin typeface="Bookman Old Style" panose="02050604050505020204" pitchFamily="18" charset="0"/>
              </a:rPr>
              <a:t>AI can be described as the study of techniques for solving exponentially hard problems in polynomial time by exploiting knowledge about the problem domain.</a:t>
            </a:r>
          </a:p>
          <a:p>
            <a:pPr algn="just"/>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11900231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963561" y="1398414"/>
            <a:ext cx="10855685" cy="4508742"/>
          </a:xfrm>
        </p:spPr>
        <p:txBody>
          <a:bodyPr/>
          <a:lstStyle/>
          <a:p>
            <a:pPr marL="0" indent="0" algn="just">
              <a:buNone/>
            </a:pPr>
            <a:r>
              <a:rPr lang="en-US" dirty="0">
                <a:solidFill>
                  <a:schemeClr val="tx1"/>
                </a:solidFill>
              </a:rPr>
              <a:t>To use the heuristic search for problem solving, we suggest analysis of the problem for the following considerations:  </a:t>
            </a:r>
          </a:p>
          <a:p>
            <a:pPr algn="just"/>
            <a:r>
              <a:rPr lang="en-US" dirty="0">
                <a:solidFill>
                  <a:schemeClr val="tx1"/>
                </a:solidFill>
              </a:rPr>
              <a:t>Decomposability of the problem into a set of independent smaller subproblems.  </a:t>
            </a:r>
          </a:p>
          <a:p>
            <a:pPr algn="just"/>
            <a:r>
              <a:rPr lang="en-US" dirty="0">
                <a:solidFill>
                  <a:schemeClr val="tx1"/>
                </a:solidFill>
              </a:rPr>
              <a:t>Possibility of undoing solution steps, if they are found to be unwise.  </a:t>
            </a:r>
          </a:p>
          <a:p>
            <a:pPr algn="just"/>
            <a:r>
              <a:rPr lang="en-US" dirty="0">
                <a:solidFill>
                  <a:schemeClr val="tx1"/>
                </a:solidFill>
              </a:rPr>
              <a:t>Predictability of the problem universe.  </a:t>
            </a:r>
          </a:p>
          <a:p>
            <a:pPr algn="just"/>
            <a:r>
              <a:rPr lang="en-US" dirty="0">
                <a:solidFill>
                  <a:schemeClr val="tx1"/>
                </a:solidFill>
              </a:rPr>
              <a:t>Possibility of obtaining an obvious solution to a problem without comparison of all other possible solutions . </a:t>
            </a:r>
          </a:p>
          <a:p>
            <a:pPr algn="just"/>
            <a:r>
              <a:rPr lang="en-US" dirty="0">
                <a:solidFill>
                  <a:schemeClr val="tx1"/>
                </a:solidFill>
              </a:rPr>
              <a:t>Type of the solution: whether it is a state or a path to the goal state.  </a:t>
            </a:r>
          </a:p>
          <a:p>
            <a:pPr algn="just"/>
            <a:r>
              <a:rPr lang="en-US" dirty="0">
                <a:solidFill>
                  <a:schemeClr val="tx1"/>
                </a:solidFill>
              </a:rPr>
              <a:t>Role of knowledge in problem solving.  </a:t>
            </a:r>
          </a:p>
          <a:p>
            <a:pPr algn="just"/>
            <a:r>
              <a:rPr lang="en-US" dirty="0">
                <a:solidFill>
                  <a:schemeClr val="tx1"/>
                </a:solidFill>
              </a:rPr>
              <a:t>Nature of solution process: with or without interacting with the user.</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197026909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b="0" i="0" dirty="0">
                <a:solidFill>
                  <a:srgbClr val="231F20"/>
                </a:solidFill>
                <a:effectLst/>
                <a:latin typeface="ff5"/>
              </a:rPr>
              <a:t>Problem Decomposition </a:t>
            </a: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963561" y="1398414"/>
            <a:ext cx="10855685" cy="4508742"/>
          </a:xfrm>
        </p:spPr>
        <p:txBody>
          <a:bodyPr/>
          <a:lstStyle/>
          <a:p>
            <a:pPr algn="just"/>
            <a:r>
              <a:rPr lang="en-US" b="0" i="0" dirty="0">
                <a:solidFill>
                  <a:srgbClr val="231F20"/>
                </a:solidFill>
                <a:effectLst/>
                <a:latin typeface="Bookman Old Style" panose="02050604050505020204" pitchFamily="18" charset="0"/>
              </a:rPr>
              <a:t>Suppose to solve the expression is: +∫ (X³ + X² + 2X + 3sinx) dx</a:t>
            </a:r>
            <a:endParaRPr lang="en-US" dirty="0">
              <a:latin typeface="Bookman Old Style" panose="02050604050505020204" pitchFamily="18" charset="0"/>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pic>
        <p:nvPicPr>
          <p:cNvPr id="6146" name="Picture 2">
            <a:extLst>
              <a:ext uri="{FF2B5EF4-FFF2-40B4-BE49-F238E27FC236}">
                <a16:creationId xmlns:a16="http://schemas.microsoft.com/office/drawing/2014/main" id="{160B44B3-287B-EC18-DC1D-B1E16703107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506" t="7742" r="9669" b="67742"/>
          <a:stretch/>
        </p:blipFill>
        <p:spPr bwMode="auto">
          <a:xfrm>
            <a:off x="1962059" y="1777795"/>
            <a:ext cx="8267882" cy="368179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9BA4836-4890-F635-7F29-CA04E7DBF5EB}"/>
              </a:ext>
            </a:extLst>
          </p:cNvPr>
          <p:cNvSpPr txBox="1"/>
          <p:nvPr/>
        </p:nvSpPr>
        <p:spPr>
          <a:xfrm>
            <a:off x="1160207" y="5129474"/>
            <a:ext cx="10068232" cy="1200329"/>
          </a:xfrm>
          <a:prstGeom prst="rect">
            <a:avLst/>
          </a:prstGeom>
          <a:noFill/>
        </p:spPr>
        <p:txBody>
          <a:bodyPr wrap="square">
            <a:spAutoFit/>
          </a:bodyPr>
          <a:lstStyle/>
          <a:p>
            <a:pPr algn="just"/>
            <a:r>
              <a:rPr lang="en-US" b="0" i="0" dirty="0">
                <a:solidFill>
                  <a:srgbClr val="231F20"/>
                </a:solidFill>
                <a:effectLst/>
                <a:latin typeface="Bookman Old Style" panose="02050604050505020204" pitchFamily="18" charset="0"/>
              </a:rPr>
              <a:t>This problem can be solved by breaking it into smaller problems, each of which we can solve by using a small collection of specific rules. Using this technique of problem decomposition, we can solve very large problems very easily. This can be considered as an intelligent </a:t>
            </a:r>
            <a:r>
              <a:rPr lang="en-US" b="0" i="0" dirty="0" err="1">
                <a:solidFill>
                  <a:srgbClr val="231F20"/>
                </a:solidFill>
                <a:effectLst/>
                <a:latin typeface="Bookman Old Style" panose="02050604050505020204" pitchFamily="18" charset="0"/>
              </a:rPr>
              <a:t>behaviour</a:t>
            </a:r>
            <a:r>
              <a:rPr lang="en-US" b="0" i="0" dirty="0">
                <a:solidFill>
                  <a:srgbClr val="231F20"/>
                </a:solidFill>
                <a:effectLst/>
                <a:latin typeface="Bookman Old Style" panose="02050604050505020204" pitchFamily="18" charset="0"/>
              </a:rPr>
              <a:t>.</a:t>
            </a:r>
          </a:p>
        </p:txBody>
      </p:sp>
    </p:spTree>
    <p:extLst>
      <p:ext uri="{BB962C8B-B14F-4D97-AF65-F5344CB8AC3E}">
        <p14:creationId xmlns:p14="http://schemas.microsoft.com/office/powerpoint/2010/main" val="345660528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normAutofit fontScale="90000"/>
          </a:bodyPr>
          <a:lstStyle/>
          <a:p>
            <a:r>
              <a:rPr lang="en-US" dirty="0"/>
              <a:t>Other examples to be solved – Assignment / craft work / YouTube explanation</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963561" y="1398414"/>
            <a:ext cx="10855685" cy="4508742"/>
          </a:xfrm>
        </p:spPr>
        <p:txBody>
          <a:bodyPr/>
          <a:lstStyle/>
          <a:p>
            <a:pPr algn="just"/>
            <a:r>
              <a:rPr lang="en-US" dirty="0">
                <a:solidFill>
                  <a:schemeClr val="tx1"/>
                </a:solidFill>
                <a:latin typeface="Bookman Old Style" panose="02050604050505020204" pitchFamily="18" charset="0"/>
              </a:rPr>
              <a:t>8 puzzle problem</a:t>
            </a:r>
          </a:p>
          <a:p>
            <a:pPr algn="just"/>
            <a:r>
              <a:rPr lang="en-US" dirty="0">
                <a:solidFill>
                  <a:schemeClr val="tx1"/>
                </a:solidFill>
                <a:latin typeface="Bookman Old Style" panose="02050604050505020204" pitchFamily="18" charset="0"/>
              </a:rPr>
              <a:t>Playing a chess using AI</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373717574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963561" y="1398414"/>
            <a:ext cx="10855685" cy="4508742"/>
          </a:xfrm>
        </p:spPr>
        <p:txBody>
          <a:bodyPr/>
          <a:lstStyle/>
          <a:p>
            <a:pPr algn="l"/>
            <a:r>
              <a:rPr lang="en-US" b="0" i="0" dirty="0">
                <a:solidFill>
                  <a:schemeClr val="tx1"/>
                </a:solidFill>
                <a:effectLst/>
                <a:latin typeface="Bookman Old Style" panose="02050604050505020204" pitchFamily="18" charset="0"/>
              </a:rPr>
              <a:t>Consider the problem of answering questions based on a database of simple facts such as the following:</a:t>
            </a:r>
          </a:p>
          <a:p>
            <a:pPr marL="0" indent="0" algn="l">
              <a:buNone/>
            </a:pPr>
            <a:r>
              <a:rPr lang="en-US" b="0" i="0" dirty="0">
                <a:solidFill>
                  <a:schemeClr val="tx1"/>
                </a:solidFill>
                <a:effectLst/>
                <a:latin typeface="Bookman Old Style" panose="02050604050505020204" pitchFamily="18" charset="0"/>
              </a:rPr>
              <a:t>1. Siva was a man. </a:t>
            </a:r>
          </a:p>
          <a:p>
            <a:pPr marL="0" indent="0" algn="l">
              <a:buNone/>
            </a:pPr>
            <a:r>
              <a:rPr lang="en-US" b="0" i="0" dirty="0">
                <a:solidFill>
                  <a:schemeClr val="tx1"/>
                </a:solidFill>
                <a:effectLst/>
                <a:latin typeface="Bookman Old Style" panose="02050604050505020204" pitchFamily="18" charset="0"/>
              </a:rPr>
              <a:t>2. Siva was a worker in a company. </a:t>
            </a:r>
          </a:p>
          <a:p>
            <a:pPr marL="0" indent="0" algn="l">
              <a:buNone/>
            </a:pPr>
            <a:r>
              <a:rPr lang="en-US" b="0" i="0" dirty="0">
                <a:solidFill>
                  <a:schemeClr val="tx1"/>
                </a:solidFill>
                <a:effectLst/>
                <a:latin typeface="Bookman Old Style" panose="02050604050505020204" pitchFamily="18" charset="0"/>
              </a:rPr>
              <a:t>3. Siva was born in 1905. </a:t>
            </a:r>
          </a:p>
          <a:p>
            <a:pPr marL="0" indent="0" algn="l">
              <a:buNone/>
            </a:pPr>
            <a:r>
              <a:rPr lang="en-US" b="0" i="0" dirty="0">
                <a:solidFill>
                  <a:schemeClr val="tx1"/>
                </a:solidFill>
                <a:effectLst/>
                <a:latin typeface="Bookman Old Style" panose="02050604050505020204" pitchFamily="18" charset="0"/>
              </a:rPr>
              <a:t>4. All men are mortal. </a:t>
            </a:r>
          </a:p>
          <a:p>
            <a:pPr marL="0" indent="0" algn="l">
              <a:buNone/>
            </a:pPr>
            <a:r>
              <a:rPr lang="en-US" b="0" i="0" dirty="0">
                <a:solidFill>
                  <a:schemeClr val="tx1"/>
                </a:solidFill>
                <a:effectLst/>
                <a:latin typeface="Bookman Old Style" panose="02050604050505020204" pitchFamily="18" charset="0"/>
              </a:rPr>
              <a:t>5. All workers in a factory died when there was an accident in 1952. </a:t>
            </a:r>
          </a:p>
          <a:p>
            <a:pPr marL="0" indent="0" algn="l">
              <a:buNone/>
            </a:pPr>
            <a:r>
              <a:rPr lang="en-US" b="0" i="0" dirty="0">
                <a:solidFill>
                  <a:schemeClr val="tx1"/>
                </a:solidFill>
                <a:effectLst/>
                <a:latin typeface="Bookman Old Style" panose="02050604050505020204" pitchFamily="18" charset="0"/>
              </a:rPr>
              <a:t>6. No mortal lives longer than 100 years.</a:t>
            </a:r>
            <a:endParaRPr lang="en-US" dirty="0">
              <a:solidFill>
                <a:schemeClr val="tx1"/>
              </a:solidFill>
              <a:latin typeface="Bookman Old Style" panose="02050604050505020204" pitchFamily="18" charset="0"/>
            </a:endParaRPr>
          </a:p>
          <a:p>
            <a:pPr algn="just"/>
            <a:endParaRPr lang="en-US" dirty="0"/>
          </a:p>
          <a:p>
            <a:pPr algn="just"/>
            <a:r>
              <a:rPr lang="en-US" dirty="0">
                <a:solidFill>
                  <a:schemeClr val="tx1"/>
                </a:solidFill>
              </a:rPr>
              <a:t>Facts: </a:t>
            </a:r>
          </a:p>
          <a:p>
            <a:pPr marL="0" indent="0" algn="just">
              <a:buNone/>
            </a:pPr>
            <a:r>
              <a:rPr lang="en-US" dirty="0">
                <a:solidFill>
                  <a:schemeClr val="tx1"/>
                </a:solidFill>
              </a:rPr>
              <a:t>Q1: Suppose a question is – “ is Siva alive”?</a:t>
            </a:r>
          </a:p>
          <a:p>
            <a:pPr marL="0" indent="0" algn="just">
              <a:buNone/>
            </a:pPr>
            <a:endParaRPr lang="en-US" dirty="0"/>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284635468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solidFill>
                  <a:schemeClr val="tx1"/>
                </a:solidFill>
              </a:rPr>
              <a:t>“ is Siva alive”?</a:t>
            </a: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963561" y="1398414"/>
            <a:ext cx="10855685" cy="4508742"/>
          </a:xfrm>
        </p:spPr>
        <p:txBody>
          <a:bodyPr/>
          <a:lstStyle/>
          <a:p>
            <a:pPr marL="0" indent="0" algn="l">
              <a:buNone/>
            </a:pPr>
            <a:r>
              <a:rPr lang="en-US" b="1" i="0" dirty="0">
                <a:solidFill>
                  <a:srgbClr val="231F20"/>
                </a:solidFill>
                <a:effectLst/>
                <a:latin typeface="Bookman Old Style" panose="02050604050505020204" pitchFamily="18" charset="0"/>
              </a:rPr>
              <a:t>Method I: </a:t>
            </a:r>
          </a:p>
          <a:p>
            <a:pPr algn="l"/>
            <a:r>
              <a:rPr lang="en-US" b="0" i="0" dirty="0">
                <a:solidFill>
                  <a:srgbClr val="231F20"/>
                </a:solidFill>
                <a:effectLst/>
                <a:latin typeface="Bookman Old Style" panose="02050604050505020204" pitchFamily="18" charset="0"/>
              </a:rPr>
              <a:t>1. Siva was a man. </a:t>
            </a:r>
          </a:p>
          <a:p>
            <a:pPr algn="l"/>
            <a:r>
              <a:rPr lang="en-US" b="0" i="0" dirty="0">
                <a:solidFill>
                  <a:srgbClr val="231F20"/>
                </a:solidFill>
                <a:effectLst/>
                <a:latin typeface="Bookman Old Style" panose="02050604050505020204" pitchFamily="18" charset="0"/>
              </a:rPr>
              <a:t>2. Siva was born in 1905. </a:t>
            </a:r>
          </a:p>
          <a:p>
            <a:pPr algn="l"/>
            <a:r>
              <a:rPr lang="en-US" b="0" i="0" dirty="0">
                <a:solidFill>
                  <a:srgbClr val="231F20"/>
                </a:solidFill>
                <a:effectLst/>
                <a:latin typeface="Bookman Old Style" panose="02050604050505020204" pitchFamily="18" charset="0"/>
              </a:rPr>
              <a:t>3. All men are mortal. </a:t>
            </a:r>
          </a:p>
          <a:p>
            <a:pPr algn="l"/>
            <a:r>
              <a:rPr lang="en-US" b="0" i="0" dirty="0">
                <a:solidFill>
                  <a:srgbClr val="231F20"/>
                </a:solidFill>
                <a:effectLst/>
                <a:latin typeface="Bookman Old Style" panose="02050604050505020204" pitchFamily="18" charset="0"/>
              </a:rPr>
              <a:t>4. Now </a:t>
            </a:r>
          </a:p>
          <a:p>
            <a:pPr algn="l"/>
            <a:r>
              <a:rPr lang="en-US" b="0" i="0" dirty="0">
                <a:solidFill>
                  <a:srgbClr val="231F20"/>
                </a:solidFill>
                <a:effectLst/>
                <a:latin typeface="Bookman Old Style" panose="02050604050505020204" pitchFamily="18" charset="0"/>
              </a:rPr>
              <a:t>5. No mortal lives longer than 100 years. </a:t>
            </a:r>
          </a:p>
          <a:p>
            <a:pPr marL="0" indent="0" algn="l">
              <a:buNone/>
            </a:pPr>
            <a:r>
              <a:rPr lang="en-US" b="1" i="0" dirty="0">
                <a:solidFill>
                  <a:srgbClr val="231F20"/>
                </a:solidFill>
                <a:effectLst/>
                <a:latin typeface="Bookman Old Style" panose="02050604050505020204" pitchFamily="18" charset="0"/>
              </a:rPr>
              <a:t>Method II: </a:t>
            </a:r>
          </a:p>
          <a:p>
            <a:pPr algn="l"/>
            <a:r>
              <a:rPr lang="en-US" b="0" i="0" dirty="0">
                <a:solidFill>
                  <a:srgbClr val="231F20"/>
                </a:solidFill>
                <a:effectLst/>
                <a:latin typeface="Bookman Old Style" panose="02050604050505020204" pitchFamily="18" charset="0"/>
              </a:rPr>
              <a:t>1. Siva is a worker in the company. </a:t>
            </a:r>
          </a:p>
          <a:p>
            <a:pPr algn="l"/>
            <a:r>
              <a:rPr lang="en-US" b="0" i="0" dirty="0">
                <a:solidFill>
                  <a:srgbClr val="231F20"/>
                </a:solidFill>
                <a:effectLst/>
                <a:latin typeface="Bookman Old Style" panose="02050604050505020204" pitchFamily="18" charset="0"/>
              </a:rPr>
              <a:t>2. All workers in the company died in 1952. </a:t>
            </a:r>
          </a:p>
          <a:p>
            <a:pPr algn="l"/>
            <a:r>
              <a:rPr lang="en-US" b="0" i="0" dirty="0">
                <a:solidFill>
                  <a:srgbClr val="231F20"/>
                </a:solidFill>
                <a:effectLst/>
                <a:latin typeface="Bookman Old Style" panose="02050604050505020204" pitchFamily="18" charset="0"/>
              </a:rPr>
              <a:t>Answer: So Siva is not alive. It is the answer from the above methods. </a:t>
            </a:r>
          </a:p>
          <a:p>
            <a:pPr algn="just"/>
            <a:endParaRPr lang="en-US" dirty="0">
              <a:latin typeface="Bookman Old Style" panose="02050604050505020204" pitchFamily="18" charset="0"/>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282810874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b="0" i="0" dirty="0">
                <a:solidFill>
                  <a:srgbClr val="000000"/>
                </a:solidFill>
                <a:effectLst/>
                <a:latin typeface="ff5"/>
              </a:rPr>
              <a:t>CHARACTERISTICS OF PRODUCTION SYSTEMS</a:t>
            </a:r>
            <a:endParaRPr lang="en-US" dirty="0"/>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963561" y="1398414"/>
            <a:ext cx="10855685" cy="5202502"/>
          </a:xfrm>
        </p:spPr>
        <p:txBody>
          <a:bodyPr>
            <a:normAutofit fontScale="92500" lnSpcReduction="20000"/>
          </a:bodyPr>
          <a:lstStyle/>
          <a:p>
            <a:pPr algn="l"/>
            <a:r>
              <a:rPr lang="en-US" b="0" i="0" dirty="0">
                <a:solidFill>
                  <a:srgbClr val="231F20"/>
                </a:solidFill>
                <a:effectLst/>
                <a:latin typeface="Bookman Old Style" panose="02050604050505020204" pitchFamily="18" charset="0"/>
              </a:rPr>
              <a:t>Production systems provide us with good ways of describing the operations that can be performed in a search for a solution to a problem. </a:t>
            </a:r>
          </a:p>
          <a:p>
            <a:pPr algn="l"/>
            <a:r>
              <a:rPr lang="en-US" b="0" i="0" dirty="0">
                <a:solidFill>
                  <a:srgbClr val="231F20"/>
                </a:solidFill>
                <a:effectLst/>
                <a:latin typeface="Bookman Old Style" panose="02050604050505020204" pitchFamily="18" charset="0"/>
              </a:rPr>
              <a:t>At this time, two questions may arise: </a:t>
            </a:r>
          </a:p>
          <a:p>
            <a:pPr marL="0" indent="0" algn="l">
              <a:buNone/>
            </a:pPr>
            <a:r>
              <a:rPr lang="en-US" b="0" i="0" dirty="0">
                <a:solidFill>
                  <a:srgbClr val="231F20"/>
                </a:solidFill>
                <a:effectLst/>
                <a:latin typeface="Bookman Old Style" panose="02050604050505020204" pitchFamily="18" charset="0"/>
              </a:rPr>
              <a:t>1. Can production systems be described by a set of characteristics? And how can they be easily implemented? </a:t>
            </a:r>
          </a:p>
          <a:p>
            <a:pPr marL="0" indent="0" algn="l">
              <a:buNone/>
            </a:pPr>
            <a:r>
              <a:rPr lang="en-US" b="0" i="0" dirty="0">
                <a:solidFill>
                  <a:srgbClr val="231F20"/>
                </a:solidFill>
                <a:effectLst/>
                <a:latin typeface="Bookman Old Style" panose="02050604050505020204" pitchFamily="18" charset="0"/>
              </a:rPr>
              <a:t>2. What relationships are there between the problem types and the types of production systems well suited for solving the problems?</a:t>
            </a:r>
          </a:p>
          <a:p>
            <a:pPr algn="l"/>
            <a:r>
              <a:rPr lang="en-US" dirty="0">
                <a:solidFill>
                  <a:srgbClr val="231F20"/>
                </a:solidFill>
                <a:latin typeface="Bookman Old Style" panose="02050604050505020204" pitchFamily="18" charset="0"/>
              </a:rPr>
              <a:t>To answer these questions, first consider the following definitions of classes of production systems: </a:t>
            </a:r>
          </a:p>
          <a:p>
            <a:pPr marL="0" indent="0" algn="l">
              <a:buNone/>
            </a:pPr>
            <a:r>
              <a:rPr lang="en-US" dirty="0">
                <a:solidFill>
                  <a:srgbClr val="231F20"/>
                </a:solidFill>
                <a:latin typeface="Bookman Old Style" panose="02050604050505020204" pitchFamily="18" charset="0"/>
              </a:rPr>
              <a:t>1. </a:t>
            </a:r>
            <a:r>
              <a:rPr lang="en-US" b="1" dirty="0">
                <a:solidFill>
                  <a:srgbClr val="231F20"/>
                </a:solidFill>
                <a:latin typeface="Bookman Old Style" panose="02050604050505020204" pitchFamily="18" charset="0"/>
              </a:rPr>
              <a:t>A monotonic production system </a:t>
            </a:r>
            <a:r>
              <a:rPr lang="en-US" dirty="0">
                <a:solidFill>
                  <a:srgbClr val="231F20"/>
                </a:solidFill>
                <a:latin typeface="Bookman Old Style" panose="02050604050505020204" pitchFamily="18" charset="0"/>
              </a:rPr>
              <a:t>is a production system in which the application of a rule never prevents the later application of another rule that could also have been applied at the time the first rule was selected. </a:t>
            </a:r>
          </a:p>
          <a:p>
            <a:pPr marL="0" indent="0" algn="l">
              <a:buNone/>
            </a:pPr>
            <a:r>
              <a:rPr lang="en-US" dirty="0">
                <a:solidFill>
                  <a:srgbClr val="231F20"/>
                </a:solidFill>
                <a:latin typeface="Bookman Old Style" panose="02050604050505020204" pitchFamily="18" charset="0"/>
              </a:rPr>
              <a:t>2. </a:t>
            </a:r>
            <a:r>
              <a:rPr lang="en-US" b="1" dirty="0">
                <a:solidFill>
                  <a:srgbClr val="231F20"/>
                </a:solidFill>
                <a:latin typeface="Bookman Old Style" panose="02050604050505020204" pitchFamily="18" charset="0"/>
              </a:rPr>
              <a:t>A non-monotonic production system </a:t>
            </a:r>
            <a:r>
              <a:rPr lang="en-US" dirty="0">
                <a:solidFill>
                  <a:srgbClr val="231F20"/>
                </a:solidFill>
                <a:latin typeface="Bookman Old Style" panose="02050604050505020204" pitchFamily="18" charset="0"/>
              </a:rPr>
              <a:t>is one in which this is not true. </a:t>
            </a:r>
          </a:p>
          <a:p>
            <a:pPr marL="0" indent="0" algn="l">
              <a:buNone/>
            </a:pPr>
            <a:r>
              <a:rPr lang="en-US" dirty="0">
                <a:solidFill>
                  <a:srgbClr val="231F20"/>
                </a:solidFill>
                <a:latin typeface="Bookman Old Style" panose="02050604050505020204" pitchFamily="18" charset="0"/>
              </a:rPr>
              <a:t>3. </a:t>
            </a:r>
            <a:r>
              <a:rPr lang="en-US" b="1" dirty="0">
                <a:solidFill>
                  <a:srgbClr val="231F20"/>
                </a:solidFill>
                <a:latin typeface="Bookman Old Style" panose="02050604050505020204" pitchFamily="18" charset="0"/>
              </a:rPr>
              <a:t>A partially communicative production system </a:t>
            </a:r>
            <a:r>
              <a:rPr lang="en-US" dirty="0">
                <a:solidFill>
                  <a:srgbClr val="231F20"/>
                </a:solidFill>
                <a:latin typeface="Bookman Old Style" panose="02050604050505020204" pitchFamily="18" charset="0"/>
              </a:rPr>
              <a:t>is a production system with the property that if the application of a particular sequence of rules transforms state P into state Q, then any combination of those rules that is allowable also transforms state P into state Q. </a:t>
            </a:r>
          </a:p>
          <a:p>
            <a:pPr marL="0" indent="0" algn="l">
              <a:buNone/>
            </a:pPr>
            <a:r>
              <a:rPr lang="en-US" dirty="0">
                <a:solidFill>
                  <a:srgbClr val="231F20"/>
                </a:solidFill>
                <a:latin typeface="Bookman Old Style" panose="02050604050505020204" pitchFamily="18" charset="0"/>
              </a:rPr>
              <a:t>4. </a:t>
            </a:r>
            <a:r>
              <a:rPr lang="en-US" b="1" dirty="0">
                <a:solidFill>
                  <a:srgbClr val="231F20"/>
                </a:solidFill>
                <a:latin typeface="Bookman Old Style" panose="02050604050505020204" pitchFamily="18" charset="0"/>
              </a:rPr>
              <a:t>A commutative production system </a:t>
            </a:r>
            <a:r>
              <a:rPr lang="en-US" dirty="0">
                <a:solidFill>
                  <a:srgbClr val="231F20"/>
                </a:solidFill>
                <a:latin typeface="Bookman Old Style" panose="02050604050505020204" pitchFamily="18" charset="0"/>
              </a:rPr>
              <a:t>is a production system that is both monotonic and partially commutative.</a:t>
            </a:r>
          </a:p>
          <a:p>
            <a:pPr marL="0" indent="0" algn="l">
              <a:buNone/>
            </a:pPr>
            <a:endParaRPr lang="en-US" dirty="0">
              <a:latin typeface="Bookman Old Style" panose="02050604050505020204" pitchFamily="18" charset="0"/>
            </a:endParaRP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221666217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7515F-4A58-DFA9-F4DC-FA2F57C2B8AC}"/>
              </a:ext>
            </a:extLst>
          </p:cNvPr>
          <p:cNvSpPr>
            <a:spLocks noGrp="1"/>
          </p:cNvSpPr>
          <p:nvPr>
            <p:ph type="title"/>
          </p:nvPr>
        </p:nvSpPr>
        <p:spPr>
          <a:xfrm>
            <a:off x="1568147" y="129612"/>
            <a:ext cx="8911687" cy="1280890"/>
          </a:xfrm>
        </p:spPr>
        <p:txBody>
          <a:bodyPr/>
          <a:lstStyle/>
          <a:p>
            <a:r>
              <a:rPr lang="en-US" dirty="0"/>
              <a:t>Reference</a:t>
            </a:r>
          </a:p>
        </p:txBody>
      </p:sp>
      <p:sp>
        <p:nvSpPr>
          <p:cNvPr id="3" name="Content Placeholder 2">
            <a:extLst>
              <a:ext uri="{FF2B5EF4-FFF2-40B4-BE49-F238E27FC236}">
                <a16:creationId xmlns:a16="http://schemas.microsoft.com/office/drawing/2014/main" id="{CD8527A1-EA1C-ABF8-E388-1F26941C7D64}"/>
              </a:ext>
            </a:extLst>
          </p:cNvPr>
          <p:cNvSpPr>
            <a:spLocks noGrp="1"/>
          </p:cNvSpPr>
          <p:nvPr>
            <p:ph idx="1"/>
          </p:nvPr>
        </p:nvSpPr>
        <p:spPr>
          <a:xfrm>
            <a:off x="963561" y="1398414"/>
            <a:ext cx="10855685" cy="5202502"/>
          </a:xfrm>
        </p:spPr>
        <p:txBody>
          <a:bodyPr>
            <a:normAutofit lnSpcReduction="10000"/>
          </a:bodyPr>
          <a:lstStyle/>
          <a:p>
            <a:pPr marL="0" lvl="0" indent="0">
              <a:lnSpc>
                <a:spcPct val="107000"/>
              </a:lnSpc>
              <a:buNone/>
            </a:pPr>
            <a:r>
              <a:rPr lang="en-US" dirty="0">
                <a:latin typeface="Bookman Old Style" panose="02050604050505020204" pitchFamily="18" charset="0"/>
              </a:rPr>
              <a:t>Text Book:</a:t>
            </a:r>
          </a:p>
          <a:p>
            <a:pPr marL="342900" lvl="0" indent="-342900">
              <a:lnSpc>
                <a:spcPct val="107000"/>
              </a:lnSpc>
              <a:buFont typeface="+mj-lt"/>
              <a:buAutoNum type="arabicPeriod"/>
            </a:pPr>
            <a:r>
              <a:rPr lang="en-US" dirty="0">
                <a:latin typeface="Bookman Old Style" panose="02050604050505020204" pitchFamily="18" charset="0"/>
              </a:rPr>
              <a:t>1. </a:t>
            </a: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Artificial Intelligence, George F Luger, Sixth Edition, Pearson Education Publications, 2014. </a:t>
            </a:r>
            <a:endParaRPr lang="en-US" sz="1800" dirty="0">
              <a:effectLst/>
              <a:latin typeface="Calibri" panose="020F0502020204030204" pitchFamily="34" charset="0"/>
              <a:ea typeface="Calibri" panose="020F0502020204030204" pitchFamily="34" charset="0"/>
            </a:endParaRPr>
          </a:p>
          <a:p>
            <a:pPr marL="342900" lvl="0" indent="-342900">
              <a:lnSpc>
                <a:spcPct val="107000"/>
              </a:lnSpc>
              <a:spcAft>
                <a:spcPts val="800"/>
              </a:spcAft>
              <a:buFont typeface="+mj-lt"/>
              <a:buAutoNum type="arabicPeriod"/>
            </a:pPr>
            <a:r>
              <a:rPr lang="en-IN" sz="18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Artificial Intelligence, Elaine Rich and Knight, McGraw-Hill Publications, 2010.</a:t>
            </a:r>
          </a:p>
          <a:p>
            <a:pPr marL="0" lvl="0" indent="0">
              <a:lnSpc>
                <a:spcPct val="107000"/>
              </a:lnSpc>
              <a:spcAft>
                <a:spcPts val="800"/>
              </a:spcAft>
              <a:buNone/>
            </a:pPr>
            <a:r>
              <a:rPr lang="en-IN" dirty="0">
                <a:solidFill>
                  <a:srgbClr val="000000"/>
                </a:solidFill>
                <a:latin typeface="Cambria" panose="02040503050406030204" pitchFamily="18" charset="0"/>
                <a:ea typeface="Cambria" panose="02040503050406030204" pitchFamily="18" charset="0"/>
              </a:rPr>
              <a:t>Online Source</a:t>
            </a:r>
            <a:endParaRPr lang="en-US" sz="1800" dirty="0">
              <a:effectLst/>
              <a:latin typeface="Calibri" panose="020F0502020204030204" pitchFamily="34" charset="0"/>
              <a:ea typeface="Calibri" panose="020F0502020204030204" pitchFamily="34" charset="0"/>
            </a:endParaRPr>
          </a:p>
          <a:p>
            <a:pPr marL="0" indent="0">
              <a:buNone/>
            </a:pPr>
            <a:r>
              <a:rPr lang="en-US" dirty="0">
                <a:latin typeface="Bookman Old Style" panose="02050604050505020204" pitchFamily="18" charset="0"/>
              </a:rPr>
              <a:t>1. https://www.geeksforgeeks.org/what-is-reinforcement-learning/</a:t>
            </a:r>
          </a:p>
          <a:p>
            <a:pPr marL="0" indent="0">
              <a:buNone/>
            </a:pPr>
            <a:r>
              <a:rPr lang="en-US" dirty="0">
                <a:latin typeface="Bookman Old Style" panose="02050604050505020204" pitchFamily="18" charset="0"/>
              </a:rPr>
              <a:t>2. https://www.geeksforgeeks.org/agents-artificial-intelligence/#:~:text=In%20artificial%20intelligence%2C%20an%20agent,goal%20or%20set%20of%20goals.</a:t>
            </a:r>
          </a:p>
          <a:p>
            <a:pPr marL="0" indent="0">
              <a:buNone/>
            </a:pPr>
            <a:r>
              <a:rPr lang="en-US" dirty="0">
                <a:latin typeface="Bookman Old Style" panose="02050604050505020204" pitchFamily="18" charset="0"/>
              </a:rPr>
              <a:t>3.</a:t>
            </a:r>
            <a:r>
              <a:rPr lang="en-US" sz="1800" dirty="0"/>
              <a:t>https://www.google.com/search?q=solve+the+water+jug+problem&amp;rlz=1C1UEAD_enIN1034IN1034&amp;oq=The+Water+Jug+Problem+&amp;gs_lcrp=EgZjaHJvbWUqCAgHEAAYFhgeMgYIABBFGDsyBggBEEUYOzIHCAIQABiABDIICAMQABgWGB4yCAgEEAAYFhgeMggIBRAAGBYYHjIICAYQABgWGB4yCAgHEAAYFhgeMggICBAAGBYYHjIICAkQABgWGB7SAQg3OTI3ajBqN6gCALACAA&amp;sourceid=chrome&amp;ie=UTF-8#fpstate=ive&amp;vld=cid:1fc2ef9b,vid:26YyD_K-gpA </a:t>
            </a:r>
          </a:p>
          <a:p>
            <a:pPr marL="0" indent="0" algn="l">
              <a:buNone/>
            </a:pPr>
            <a:r>
              <a:rPr lang="en-US" dirty="0">
                <a:latin typeface="Bookman Old Style" panose="02050604050505020204" pitchFamily="18" charset="0"/>
              </a:rPr>
              <a:t>4. https://www.studocu.com/in/document/vellore-institute-of-technology/refrigeration-and-air-conditioning/aritificial-intelligence/10820657</a:t>
            </a:r>
          </a:p>
        </p:txBody>
      </p:sp>
      <p:pic>
        <p:nvPicPr>
          <p:cNvPr id="4" name="Picture 3">
            <a:extLst>
              <a:ext uri="{FF2B5EF4-FFF2-40B4-BE49-F238E27FC236}">
                <a16:creationId xmlns:a16="http://schemas.microsoft.com/office/drawing/2014/main" id="{0A5EF682-BBC6-BC89-A815-2405B3BFA89F}"/>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1003168" y="6329803"/>
            <a:ext cx="1002890" cy="342928"/>
          </a:xfrm>
          <a:prstGeom prst="rect">
            <a:avLst/>
          </a:prstGeom>
        </p:spPr>
      </p:pic>
      <p:sp>
        <p:nvSpPr>
          <p:cNvPr id="5" name="TextBox 4">
            <a:extLst>
              <a:ext uri="{FF2B5EF4-FFF2-40B4-BE49-F238E27FC236}">
                <a16:creationId xmlns:a16="http://schemas.microsoft.com/office/drawing/2014/main" id="{CED2CCDC-C02F-B3A1-A3C5-707DECA064F1}"/>
              </a:ext>
            </a:extLst>
          </p:cNvPr>
          <p:cNvSpPr txBox="1"/>
          <p:nvPr/>
        </p:nvSpPr>
        <p:spPr>
          <a:xfrm>
            <a:off x="-30367" y="770057"/>
            <a:ext cx="1741230" cy="369332"/>
          </a:xfrm>
          <a:prstGeom prst="rect">
            <a:avLst/>
          </a:prstGeom>
          <a:noFill/>
        </p:spPr>
        <p:txBody>
          <a:bodyPr wrap="square" rtlCol="0">
            <a:spAutoFit/>
          </a:bodyPr>
          <a:lstStyle/>
          <a:p>
            <a:r>
              <a:rPr lang="en-US" sz="1800" dirty="0">
                <a:solidFill>
                  <a:schemeClr val="bg1"/>
                </a:solidFill>
                <a:effectLst/>
                <a:latin typeface="Bookman Old Style" panose="02050604050505020204" pitchFamily="18" charset="0"/>
                <a:ea typeface="Calibri" panose="020F0502020204030204" pitchFamily="34" charset="0"/>
              </a:rPr>
              <a:t>23AM2405</a:t>
            </a:r>
            <a:endParaRPr lang="en-IN"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B8E50AC5-8D2A-6A5D-796D-B6863CA3B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23180" y="89593"/>
            <a:ext cx="941000" cy="960203"/>
          </a:xfrm>
          <a:prstGeom prst="rect">
            <a:avLst/>
          </a:prstGeom>
        </p:spPr>
      </p:pic>
    </p:spTree>
    <p:extLst>
      <p:ext uri="{BB962C8B-B14F-4D97-AF65-F5344CB8AC3E}">
        <p14:creationId xmlns:p14="http://schemas.microsoft.com/office/powerpoint/2010/main" val="169634309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9511E96-7328-4CC5-9DB0-6C782798ECDE}"/>
              </a:ext>
            </a:extLst>
          </p:cNvPr>
          <p:cNvPicPr>
            <a:picLocks noChangeAspect="1"/>
          </p:cNvPicPr>
          <p:nvPr/>
        </p:nvPicPr>
        <p:blipFill rotWithShape="1">
          <a:blip r:embed="rId2">
            <a:extLst>
              <a:ext uri="{28A0092B-C50C-407E-A947-70E740481C1C}">
                <a14:useLocalDpi xmlns:a14="http://schemas.microsoft.com/office/drawing/2010/main" val="0"/>
              </a:ext>
            </a:extLst>
          </a:blip>
          <a:srcRect l="7632" t="6513" r="14801" b="12673"/>
          <a:stretch/>
        </p:blipFill>
        <p:spPr>
          <a:xfrm>
            <a:off x="10934342" y="177582"/>
            <a:ext cx="1002890" cy="342928"/>
          </a:xfrm>
          <a:prstGeom prst="rect">
            <a:avLst/>
          </a:prstGeom>
        </p:spPr>
      </p:pic>
      <p:pic>
        <p:nvPicPr>
          <p:cNvPr id="5122" name="Picture 2" descr="Thank You CAC Champagne Text Title Free Stock Photo - Public Domain Pictures">
            <a:extLst>
              <a:ext uri="{FF2B5EF4-FFF2-40B4-BE49-F238E27FC236}">
                <a16:creationId xmlns:a16="http://schemas.microsoft.com/office/drawing/2014/main" id="{FCC31321-EE2C-4E9C-8AD3-22EB8552B1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0101" y="1921208"/>
            <a:ext cx="5347635" cy="3015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5193551"/>
      </p:ext>
    </p:extLst>
  </p:cSld>
  <p:clrMapOvr>
    <a:masterClrMapping/>
  </p:clrMapOvr>
</p:sld>
</file>

<file path=ppt/theme/theme1.xml><?xml version="1.0" encoding="utf-8"?>
<a:theme xmlns:a="http://schemas.openxmlformats.org/drawingml/2006/main" name="Wisp">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7965</TotalTime>
  <Words>12089</Words>
  <Application>Microsoft Office PowerPoint</Application>
  <PresentationFormat>Widescreen</PresentationFormat>
  <Paragraphs>1283</Paragraphs>
  <Slides>131</Slides>
  <Notes>4</Notes>
  <HiddenSlides>0</HiddenSlides>
  <MMClips>0</MMClips>
  <ScaleCrop>false</ScaleCrop>
  <HeadingPairs>
    <vt:vector size="6" baseType="variant">
      <vt:variant>
        <vt:lpstr>Fonts Used</vt:lpstr>
      </vt:variant>
      <vt:variant>
        <vt:i4>29</vt:i4>
      </vt:variant>
      <vt:variant>
        <vt:lpstr>Theme</vt:lpstr>
      </vt:variant>
      <vt:variant>
        <vt:i4>1</vt:i4>
      </vt:variant>
      <vt:variant>
        <vt:lpstr>Slide Titles</vt:lpstr>
      </vt:variant>
      <vt:variant>
        <vt:i4>131</vt:i4>
      </vt:variant>
    </vt:vector>
  </HeadingPairs>
  <TitlesOfParts>
    <vt:vector size="161" baseType="lpstr">
      <vt:lpstr>AmazonEmber</vt:lpstr>
      <vt:lpstr>AmazonEmberBold</vt:lpstr>
      <vt:lpstr>-apple-system</vt:lpstr>
      <vt:lpstr>Arial Unicode MS</vt:lpstr>
      <vt:lpstr>ff2</vt:lpstr>
      <vt:lpstr>ff4</vt:lpstr>
      <vt:lpstr>ff5</vt:lpstr>
      <vt:lpstr>ff6</vt:lpstr>
      <vt:lpstr>ff7</vt:lpstr>
      <vt:lpstr>inter-bold</vt:lpstr>
      <vt:lpstr>inter-regular</vt:lpstr>
      <vt:lpstr>Vanguard CF</vt:lpstr>
      <vt:lpstr>arial</vt:lpstr>
      <vt:lpstr>arial</vt:lpstr>
      <vt:lpstr>Bookman Old Style</vt:lpstr>
      <vt:lpstr>Calibri</vt:lpstr>
      <vt:lpstr>Cambria</vt:lpstr>
      <vt:lpstr>Century Gothic</vt:lpstr>
      <vt:lpstr>Courier New</vt:lpstr>
      <vt:lpstr>Heebo</vt:lpstr>
      <vt:lpstr>IBM Plex Sans</vt:lpstr>
      <vt:lpstr>Nunito</vt:lpstr>
      <vt:lpstr>Rockwell</vt:lpstr>
      <vt:lpstr>Source Sans Pro</vt:lpstr>
      <vt:lpstr>Times New Roman</vt:lpstr>
      <vt:lpstr>Times New Roman</vt:lpstr>
      <vt:lpstr>Verdana</vt:lpstr>
      <vt:lpstr>Wingdings</vt:lpstr>
      <vt:lpstr>Wingdings 3</vt:lpstr>
      <vt:lpstr>Wisp</vt:lpstr>
      <vt:lpstr>ARTIFICIAL INTELLIGENCE </vt:lpstr>
      <vt:lpstr>SOE Vision-Mission</vt:lpstr>
      <vt:lpstr>AIML Vision-Mission</vt:lpstr>
      <vt:lpstr>Course Learning Objectives </vt:lpstr>
      <vt:lpstr>Course Outcome</vt:lpstr>
      <vt:lpstr>PowerPoint Presentation</vt:lpstr>
      <vt:lpstr>Teaching-Learning Process (General Instructions) </vt:lpstr>
      <vt:lpstr>PowerPoint Presentation</vt:lpstr>
      <vt:lpstr>PowerPoint Presentation</vt:lpstr>
      <vt:lpstr>PowerPoint Presentation</vt:lpstr>
      <vt:lpstr>PEO'S </vt:lpstr>
      <vt:lpstr>PO'S</vt:lpstr>
      <vt:lpstr>PSO'S</vt:lpstr>
      <vt:lpstr>PowerPoint Presentation</vt:lpstr>
      <vt:lpstr>PowerPoint Presentation</vt:lpstr>
      <vt:lpstr>PowerPoint Presentation</vt:lpstr>
      <vt:lpstr>Marks division</vt:lpstr>
      <vt:lpstr>CIA Marks Split Up – 60M</vt:lpstr>
      <vt:lpstr>SEE Marks Split Up – 40M</vt:lpstr>
      <vt:lpstr>Prerequisites – Brush up course</vt:lpstr>
      <vt:lpstr>Sample Programs</vt:lpstr>
      <vt:lpstr>Importing Function</vt:lpstr>
      <vt:lpstr>PowerPoint Presentation</vt:lpstr>
      <vt:lpstr>PowerPoint Presentation</vt:lpstr>
      <vt:lpstr>Unit 1: Introduction</vt:lpstr>
      <vt:lpstr>Artificial Intelligence</vt:lpstr>
      <vt:lpstr>What AI Can DO</vt:lpstr>
      <vt:lpstr>Acting humanly </vt:lpstr>
      <vt:lpstr>Thinking Humanly </vt:lpstr>
      <vt:lpstr>Thinking Rationally </vt:lpstr>
      <vt:lpstr>Acting Rationally: The rational agent approach </vt:lpstr>
      <vt:lpstr>AI Definition</vt:lpstr>
      <vt:lpstr>History of AI</vt:lpstr>
      <vt:lpstr>Types of Intelligence</vt:lpstr>
      <vt:lpstr>AI to Solve the Real World Problems</vt:lpstr>
      <vt:lpstr>What is machine learning?</vt:lpstr>
      <vt:lpstr>PowerPoint Presentation</vt:lpstr>
      <vt:lpstr>Supervised Learning</vt:lpstr>
      <vt:lpstr>Supervised Learning</vt:lpstr>
      <vt:lpstr>Supervised Learning</vt:lpstr>
      <vt:lpstr>PowerPoint Presentation</vt:lpstr>
      <vt:lpstr>Supervised Learning</vt:lpstr>
      <vt:lpstr>Supervised Learning</vt:lpstr>
      <vt:lpstr>Unsupervised Learning</vt:lpstr>
      <vt:lpstr>Unsupervised Learning</vt:lpstr>
      <vt:lpstr>Types Unsupervised Learning</vt:lpstr>
      <vt:lpstr>Supervised vs. Unsupervised Machine Learning:</vt:lpstr>
      <vt:lpstr>Unsupervised Learning</vt:lpstr>
      <vt:lpstr>Unsupervised Learning</vt:lpstr>
      <vt:lpstr>Unsupervised Learning</vt:lpstr>
      <vt:lpstr>Reinforcement Learning</vt:lpstr>
      <vt:lpstr>Reinforcement Learning</vt:lpstr>
      <vt:lpstr>Reinforcement Learning</vt:lpstr>
      <vt:lpstr>Reinforcement Learning</vt:lpstr>
      <vt:lpstr>Reinforcement Learning</vt:lpstr>
      <vt:lpstr>Types of Reinforcement Learning</vt:lpstr>
      <vt:lpstr>Reinforcement Learning</vt:lpstr>
      <vt:lpstr>Advantages of Reinforcement Learning</vt:lpstr>
      <vt:lpstr>Disadvantages of Reinforcement Learning</vt:lpstr>
      <vt:lpstr>Activity / Assignment </vt:lpstr>
      <vt:lpstr>Neural Network and its important </vt:lpstr>
      <vt:lpstr>PowerPoint Presentation</vt:lpstr>
      <vt:lpstr>Neural Networks used for</vt:lpstr>
      <vt:lpstr>Robotics </vt:lpstr>
      <vt:lpstr>Expert System</vt:lpstr>
      <vt:lpstr>Fuzzy logic</vt:lpstr>
      <vt:lpstr>Natural Language Processing</vt:lpstr>
      <vt:lpstr>Data science</vt:lpstr>
      <vt:lpstr>AI Techniques</vt:lpstr>
      <vt:lpstr>Fun program</vt:lpstr>
      <vt:lpstr>AI Agents</vt:lpstr>
      <vt:lpstr>PowerPoint Presentation</vt:lpstr>
      <vt:lpstr>PowerPoint Presentation</vt:lpstr>
      <vt:lpstr>PowerPoint Presentation</vt:lpstr>
      <vt:lpstr>Structure of an AI Agent</vt:lpstr>
      <vt:lpstr>Example of Agents with their PEAS representation</vt:lpstr>
      <vt:lpstr>Types of Agents </vt:lpstr>
      <vt:lpstr>Simple Reflex Agents</vt:lpstr>
      <vt:lpstr>PowerPoint Presentation</vt:lpstr>
      <vt:lpstr>Model-Based Reflex Agents</vt:lpstr>
      <vt:lpstr>Model-Based Reflex Agents</vt:lpstr>
      <vt:lpstr>Goal-Based Agents </vt:lpstr>
      <vt:lpstr>Goal-Based Agents </vt:lpstr>
      <vt:lpstr>Utility-Based Agents </vt:lpstr>
      <vt:lpstr>Utility-Based Agents </vt:lpstr>
      <vt:lpstr>Learning Agent</vt:lpstr>
      <vt:lpstr>Learning Agent</vt:lpstr>
      <vt:lpstr>Multi-agent Systems  </vt:lpstr>
      <vt:lpstr>Hierarchical Agents</vt:lpstr>
      <vt:lpstr>Uses of Agents</vt:lpstr>
      <vt:lpstr>Uses of Agents</vt:lpstr>
      <vt:lpstr>Agent Environment in AI</vt:lpstr>
      <vt:lpstr>Features of Environment</vt:lpstr>
      <vt:lpstr>Features of Environment</vt:lpstr>
      <vt:lpstr>Features of Environment</vt:lpstr>
      <vt:lpstr>Features of Environment</vt:lpstr>
      <vt:lpstr>Features of Environment</vt:lpstr>
      <vt:lpstr>Features of Environment</vt:lpstr>
      <vt:lpstr>Features of Environment</vt:lpstr>
      <vt:lpstr>Features of Environment</vt:lpstr>
      <vt:lpstr>Environment Types</vt:lpstr>
      <vt:lpstr>Agents and Environment</vt:lpstr>
      <vt:lpstr>A Windshield Wiper Agent</vt:lpstr>
      <vt:lpstr>PowerPoint Presentation</vt:lpstr>
      <vt:lpstr>Problem Space and Search </vt:lpstr>
      <vt:lpstr>Problem of building a system </vt:lpstr>
      <vt:lpstr>Problem-solving is a process of generating solutions from observed data.  </vt:lpstr>
      <vt:lpstr>AI - General Problem Solving</vt:lpstr>
      <vt:lpstr>PowerPoint Presentation</vt:lpstr>
      <vt:lpstr>Problem definitions</vt:lpstr>
      <vt:lpstr>Goal states</vt:lpstr>
      <vt:lpstr>Problem space</vt:lpstr>
      <vt:lpstr>PowerPoint Presentation</vt:lpstr>
      <vt:lpstr>DEFINING PROBLEM AS A STATE SPACE SEARCH</vt:lpstr>
      <vt:lpstr>State Space Search</vt:lpstr>
      <vt:lpstr>The Water Jug Problem</vt:lpstr>
      <vt:lpstr>PowerPoint Presentation</vt:lpstr>
      <vt:lpstr>Production Rules</vt:lpstr>
      <vt:lpstr>General Approach</vt:lpstr>
      <vt:lpstr>Method 1using Production Rules</vt:lpstr>
      <vt:lpstr>Method 2 using Production Rules</vt:lpstr>
      <vt:lpstr>Fun program</vt:lpstr>
      <vt:lpstr>PROBLEM CHARACTERISTICS</vt:lpstr>
      <vt:lpstr>PowerPoint Presentation</vt:lpstr>
      <vt:lpstr>Problem Decomposition </vt:lpstr>
      <vt:lpstr>Other examples to be solved – Assignment / craft work / YouTube explanation</vt:lpstr>
      <vt:lpstr>PowerPoint Presentation</vt:lpstr>
      <vt:lpstr>“ is Siva alive”?</vt:lpstr>
      <vt:lpstr>CHARACTERISTICS OF PRODUCTION SYSTEMS</vt:lpstr>
      <vt:lpstr>Reference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AND ENTREPRENEURSHIP FOR IT INDUSTRY</dc:title>
  <dc:creator>PRADEEP KUMAR K</dc:creator>
  <cp:lastModifiedBy>Nagarjuna Naik</cp:lastModifiedBy>
  <cp:revision>434</cp:revision>
  <dcterms:created xsi:type="dcterms:W3CDTF">2021-09-30T03:11:36Z</dcterms:created>
  <dcterms:modified xsi:type="dcterms:W3CDTF">2025-03-03T09:10:10Z</dcterms:modified>
</cp:coreProperties>
</file>