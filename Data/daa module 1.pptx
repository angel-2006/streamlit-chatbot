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75"/>
  </p:notesMasterIdLst>
  <p:handoutMasterIdLst>
    <p:handoutMasterId r:id="rId76"/>
  </p:handoutMasterIdLst>
  <p:sldIdLst>
    <p:sldId id="256" r:id="rId2"/>
    <p:sldId id="364" r:id="rId3"/>
    <p:sldId id="259" r:id="rId4"/>
    <p:sldId id="260" r:id="rId5"/>
    <p:sldId id="261" r:id="rId6"/>
    <p:sldId id="262" r:id="rId7"/>
    <p:sldId id="263" r:id="rId8"/>
    <p:sldId id="264" r:id="rId9"/>
    <p:sldId id="265" r:id="rId10"/>
    <p:sldId id="266" r:id="rId11"/>
    <p:sldId id="267" r:id="rId12"/>
    <p:sldId id="268" r:id="rId13"/>
    <p:sldId id="365" r:id="rId14"/>
    <p:sldId id="366" r:id="rId15"/>
    <p:sldId id="367" r:id="rId16"/>
    <p:sldId id="272" r:id="rId17"/>
    <p:sldId id="368" r:id="rId18"/>
    <p:sldId id="275" r:id="rId19"/>
    <p:sldId id="286" r:id="rId20"/>
    <p:sldId id="287" r:id="rId21"/>
    <p:sldId id="288" r:id="rId22"/>
    <p:sldId id="281" r:id="rId23"/>
    <p:sldId id="369" r:id="rId24"/>
    <p:sldId id="290" r:id="rId25"/>
    <p:sldId id="282" r:id="rId26"/>
    <p:sldId id="284" r:id="rId27"/>
    <p:sldId id="270" r:id="rId28"/>
    <p:sldId id="291" r:id="rId29"/>
    <p:sldId id="294" r:id="rId30"/>
    <p:sldId id="295" r:id="rId31"/>
    <p:sldId id="297" r:id="rId32"/>
    <p:sldId id="298" r:id="rId33"/>
    <p:sldId id="301" r:id="rId34"/>
    <p:sldId id="303" r:id="rId35"/>
    <p:sldId id="306" r:id="rId36"/>
    <p:sldId id="335" r:id="rId37"/>
    <p:sldId id="336" r:id="rId38"/>
    <p:sldId id="337" r:id="rId39"/>
    <p:sldId id="310" r:id="rId40"/>
    <p:sldId id="339" r:id="rId41"/>
    <p:sldId id="340" r:id="rId42"/>
    <p:sldId id="341" r:id="rId43"/>
    <p:sldId id="342" r:id="rId44"/>
    <p:sldId id="343" r:id="rId45"/>
    <p:sldId id="344" r:id="rId46"/>
    <p:sldId id="345" r:id="rId47"/>
    <p:sldId id="352" r:id="rId48"/>
    <p:sldId id="354" r:id="rId49"/>
    <p:sldId id="356" r:id="rId50"/>
    <p:sldId id="357" r:id="rId51"/>
    <p:sldId id="358" r:id="rId52"/>
    <p:sldId id="370" r:id="rId53"/>
    <p:sldId id="359" r:id="rId54"/>
    <p:sldId id="371" r:id="rId55"/>
    <p:sldId id="360" r:id="rId56"/>
    <p:sldId id="372" r:id="rId57"/>
    <p:sldId id="361" r:id="rId58"/>
    <p:sldId id="362" r:id="rId59"/>
    <p:sldId id="349" r:id="rId60"/>
    <p:sldId id="315" r:id="rId61"/>
    <p:sldId id="316" r:id="rId62"/>
    <p:sldId id="317" r:id="rId63"/>
    <p:sldId id="318" r:id="rId64"/>
    <p:sldId id="319" r:id="rId65"/>
    <p:sldId id="320" r:id="rId66"/>
    <p:sldId id="322" r:id="rId67"/>
    <p:sldId id="323" r:id="rId68"/>
    <p:sldId id="324" r:id="rId69"/>
    <p:sldId id="325" r:id="rId70"/>
    <p:sldId id="326" r:id="rId71"/>
    <p:sldId id="327" r:id="rId72"/>
    <p:sldId id="328" r:id="rId73"/>
    <p:sldId id="363" r:id="rId7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2997"/>
    <a:srgbClr val="166DAB"/>
    <a:srgbClr val="86141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979"/>
    <p:restoredTop sz="92887"/>
  </p:normalViewPr>
  <p:slideViewPr>
    <p:cSldViewPr snapToGrid="0" snapToObjects="1">
      <p:cViewPr varScale="1">
        <p:scale>
          <a:sx n="61" d="100"/>
          <a:sy n="61" d="100"/>
        </p:scale>
        <p:origin x="384" y="92"/>
      </p:cViewPr>
      <p:guideLst/>
    </p:cSldViewPr>
  </p:slideViewPr>
  <p:notesTextViewPr>
    <p:cViewPr>
      <p:scale>
        <a:sx n="1" d="1"/>
        <a:sy n="1" d="1"/>
      </p:scale>
      <p:origin x="0" y="0"/>
    </p:cViewPr>
  </p:notesTextViewPr>
  <p:notesViewPr>
    <p:cSldViewPr snapToGrid="0" snapToObjects="1">
      <p:cViewPr varScale="1">
        <p:scale>
          <a:sx n="96" d="100"/>
          <a:sy n="96" d="100"/>
        </p:scale>
        <p:origin x="3688" y="17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DE903B-9685-684C-9775-F82FE4D13DD4}" type="datetimeFigureOut">
              <a:rPr lang="en-US" smtClean="0"/>
              <a:t>3/12/2024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B77A463-4FD9-5B46-85E5-3E3331FD142E}"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11E1F4-1896-5142-99C4-D1F66331BF74}" type="datetimeFigureOut">
              <a:rPr lang="en-US" smtClean="0"/>
              <a:t>3/12/2024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3D6698-624B-8548-886E-A233B9892A3F}"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4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1" name="Google Shape;371;p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4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1" name="Google Shape;371;p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7" name="Google Shape;377;p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5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0" name="Google Shape;390;p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p5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6" name="Google Shape;426;p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5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2" name="Google Shape;432;p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p6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0" name="Google Shape;450;p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p7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4" name="Google Shape;524;p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p7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1" name="Google Shape;531;p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p7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8" name="Google Shape;538;p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p7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4" name="Google Shape;564;p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p7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1" name="Google Shape;571;p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p8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8" name="Google Shape;578;p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p8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5" name="Google Shape;585;p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p8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1" name="Google Shape;591;p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p8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8" name="Google Shape;598;p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p:cNvGrpSpPr/>
        <p:nvPr/>
      </p:nvGrpSpPr>
      <p:grpSpPr>
        <a:xfrm>
          <a:off x="0" y="0"/>
          <a:ext cx="0" cy="0"/>
          <a:chOff x="0" y="0"/>
          <a:chExt cx="0" cy="0"/>
        </a:xfrm>
      </p:grpSpPr>
      <p:sp>
        <p:nvSpPr>
          <p:cNvPr id="603" name="Google Shape;603;p8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4" name="Google Shape;604;p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p9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1" name="Google Shape;671;p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p9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6" name="Google Shape;686;p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p:cNvGrpSpPr/>
        <p:nvPr/>
      </p:nvGrpSpPr>
      <p:grpSpPr>
        <a:xfrm>
          <a:off x="0" y="0"/>
          <a:ext cx="0" cy="0"/>
          <a:chOff x="0" y="0"/>
          <a:chExt cx="0" cy="0"/>
        </a:xfrm>
      </p:grpSpPr>
      <p:sp>
        <p:nvSpPr>
          <p:cNvPr id="699" name="Google Shape;699;p9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0" name="Google Shape;700;p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p9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6" name="Google Shape;706;p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p10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3" name="Google Shape;713;p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p10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0" name="Google Shape;720;p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5"/>
        <p:cNvGrpSpPr/>
        <p:nvPr/>
      </p:nvGrpSpPr>
      <p:grpSpPr>
        <a:xfrm>
          <a:off x="0" y="0"/>
          <a:ext cx="0" cy="0"/>
          <a:chOff x="0" y="0"/>
          <a:chExt cx="0" cy="0"/>
        </a:xfrm>
      </p:grpSpPr>
      <p:sp>
        <p:nvSpPr>
          <p:cNvPr id="726" name="Google Shape;726;p10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7" name="Google Shape;727;p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2"/>
        <p:cNvGrpSpPr/>
        <p:nvPr/>
      </p:nvGrpSpPr>
      <p:grpSpPr>
        <a:xfrm>
          <a:off x="0" y="0"/>
          <a:ext cx="0" cy="0"/>
          <a:chOff x="0" y="0"/>
          <a:chExt cx="0" cy="0"/>
        </a:xfrm>
      </p:grpSpPr>
      <p:sp>
        <p:nvSpPr>
          <p:cNvPr id="733" name="Google Shape;733;p10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4" name="Google Shape;734;p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p10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2" name="Google Shape;752;p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1"/>
        <p:cNvGrpSpPr/>
        <p:nvPr/>
      </p:nvGrpSpPr>
      <p:grpSpPr>
        <a:xfrm>
          <a:off x="0" y="0"/>
          <a:ext cx="0" cy="0"/>
          <a:chOff x="0" y="0"/>
          <a:chExt cx="0" cy="0"/>
        </a:xfrm>
      </p:grpSpPr>
      <p:sp>
        <p:nvSpPr>
          <p:cNvPr id="632" name="Google Shape;632;p8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3" name="Google Shape;633;p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t"/>
          <a:lstStyle>
            <a:lvl1pPr algn="ctr">
              <a:defRPr sz="6000">
                <a:solidFill>
                  <a:srgbClr val="166DAB"/>
                </a:solidFill>
              </a:defRPr>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199" y="365125"/>
            <a:ext cx="10180899" cy="1325563"/>
          </a:xfrm>
        </p:spPr>
        <p:txBody>
          <a:bodyPr/>
          <a:lstStyle>
            <a:lvl1pPr>
              <a:defRPr>
                <a:solidFill>
                  <a:srgbClr val="166DAB"/>
                </a:solidFil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841A9CC-736F-EB49-B481-87A1D157571B}" type="datetime1">
              <a:rPr lang="en-IN" smtClean="0"/>
              <a:t>12-03-2024</a:t>
            </a:fld>
            <a:endParaRPr lang="en-US"/>
          </a:p>
        </p:txBody>
      </p:sp>
      <p:sp>
        <p:nvSpPr>
          <p:cNvPr id="5" name="Footer Placeholder 4"/>
          <p:cNvSpPr>
            <a:spLocks noGrp="1"/>
          </p:cNvSpPr>
          <p:nvPr>
            <p:ph type="ftr" sz="quarter" idx="11"/>
          </p:nvPr>
        </p:nvSpPr>
        <p:spPr/>
        <p:txBody>
          <a:bodyPr/>
          <a:lstStyle/>
          <a:p>
            <a:r>
              <a:rPr lang="en-US" dirty="0"/>
              <a:t>Slides prepared by: Prof.Nandini K, Assistant Professor, Department of CSE, </a:t>
            </a:r>
            <a:r>
              <a:rPr lang="en-US" dirty="0" err="1"/>
              <a:t>Dayananda</a:t>
            </a:r>
            <a:r>
              <a:rPr lang="en-US" dirty="0"/>
              <a:t> </a:t>
            </a:r>
            <a:r>
              <a:rPr lang="en-US" dirty="0" err="1"/>
              <a:t>Sagar</a:t>
            </a:r>
            <a:r>
              <a:rPr lang="en-US" dirty="0"/>
              <a:t> University, </a:t>
            </a:r>
            <a:r>
              <a:rPr lang="en-US" dirty="0" err="1"/>
              <a:t>Harohalli</a:t>
            </a:r>
            <a:r>
              <a:rPr lang="en-US" dirty="0"/>
              <a:t>, Karnataka.</a:t>
            </a:r>
          </a:p>
        </p:txBody>
      </p:sp>
      <p:sp>
        <p:nvSpPr>
          <p:cNvPr id="6" name="Slide Number Placeholder 5"/>
          <p:cNvSpPr>
            <a:spLocks noGrp="1"/>
          </p:cNvSpPr>
          <p:nvPr>
            <p:ph type="sldNum" sz="quarter" idx="12"/>
          </p:nvPr>
        </p:nvSpPr>
        <p:spPr/>
        <p:txBody>
          <a:bodyPr/>
          <a:lstStyle/>
          <a:p>
            <a:fld id="{5731DF9D-C219-B24D-9CD4-0503F6C036DC}" type="slidenum">
              <a:rPr lang="en-US" smtClean="0"/>
              <a:t>‹#›</a:t>
            </a:fld>
            <a:endParaRPr lang="en-US"/>
          </a:p>
        </p:txBody>
      </p:sp>
      <p:pic>
        <p:nvPicPr>
          <p:cNvPr id="8" name="Picture 7" descr="A logo of a university&#10;&#10;Description automatically generated"/>
          <p:cNvPicPr>
            <a:picLocks noChangeAspect="1"/>
          </p:cNvPicPr>
          <p:nvPr userDrawn="1"/>
        </p:nvPicPr>
        <p:blipFill>
          <a:blip r:embed="rId2"/>
          <a:stretch>
            <a:fillRect/>
          </a:stretch>
        </p:blipFill>
        <p:spPr>
          <a:xfrm>
            <a:off x="9163503" y="-234949"/>
            <a:ext cx="3270250" cy="156792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Comparis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166DAB"/>
                </a:solidFill>
              </a:defRPr>
            </a:lvl1p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F53D19EF-5D75-5744-9193-B8EC895A105D}" type="datetime1">
              <a:rPr lang="en-IN" smtClean="0"/>
              <a:t>12-03-2024</a:t>
            </a:fld>
            <a:endParaRPr lang="en-US"/>
          </a:p>
        </p:txBody>
      </p:sp>
      <p:sp>
        <p:nvSpPr>
          <p:cNvPr id="6" name="Footer Placeholder 5"/>
          <p:cNvSpPr>
            <a:spLocks noGrp="1"/>
          </p:cNvSpPr>
          <p:nvPr>
            <p:ph type="ftr" sz="quarter" idx="11"/>
          </p:nvPr>
        </p:nvSpPr>
        <p:spPr/>
        <p:txBody>
          <a:bodyPr/>
          <a:lstStyle/>
          <a:p>
            <a:r>
              <a:rPr lang="en-US" dirty="0"/>
              <a:t>Slides prepared by: Prof.Nandini K, Assistant </a:t>
            </a:r>
            <a:r>
              <a:rPr lang="en-US" dirty="0" err="1"/>
              <a:t>Professor,Department</a:t>
            </a:r>
            <a:r>
              <a:rPr lang="en-US" dirty="0"/>
              <a:t> of CSE, </a:t>
            </a:r>
            <a:r>
              <a:rPr lang="en-US" dirty="0" err="1"/>
              <a:t>Dayananda</a:t>
            </a:r>
            <a:r>
              <a:rPr lang="en-US" dirty="0"/>
              <a:t> </a:t>
            </a:r>
            <a:r>
              <a:rPr lang="en-US" dirty="0" err="1"/>
              <a:t>Sagar</a:t>
            </a:r>
            <a:r>
              <a:rPr lang="en-US" dirty="0"/>
              <a:t> University, </a:t>
            </a:r>
            <a:r>
              <a:rPr lang="en-US" dirty="0" err="1"/>
              <a:t>Harohalli</a:t>
            </a:r>
            <a:r>
              <a:rPr lang="en-US" dirty="0"/>
              <a:t>, Karnataka.</a:t>
            </a:r>
          </a:p>
        </p:txBody>
      </p:sp>
      <p:sp>
        <p:nvSpPr>
          <p:cNvPr id="7" name="Slide Number Placeholder 6"/>
          <p:cNvSpPr>
            <a:spLocks noGrp="1"/>
          </p:cNvSpPr>
          <p:nvPr>
            <p:ph type="sldNum" sz="quarter" idx="12"/>
          </p:nvPr>
        </p:nvSpPr>
        <p:spPr/>
        <p:txBody>
          <a:bodyPr/>
          <a:lstStyle/>
          <a:p>
            <a:fld id="{5731DF9D-C219-B24D-9CD4-0503F6C036DC}"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mage Explanation">
    <p:spTree>
      <p:nvGrpSpPr>
        <p:cNvPr id="1" name=""/>
        <p:cNvGrpSpPr/>
        <p:nvPr/>
      </p:nvGrpSpPr>
      <p:grpSpPr>
        <a:xfrm>
          <a:off x="0" y="0"/>
          <a:ext cx="0" cy="0"/>
          <a:chOff x="0" y="0"/>
          <a:chExt cx="0" cy="0"/>
        </a:xfrm>
      </p:grpSpPr>
      <p:sp>
        <p:nvSpPr>
          <p:cNvPr id="2" name="Title 1"/>
          <p:cNvSpPr>
            <a:spLocks noGrp="1"/>
          </p:cNvSpPr>
          <p:nvPr>
            <p:ph type="title"/>
          </p:nvPr>
        </p:nvSpPr>
        <p:spPr>
          <a:xfrm>
            <a:off x="836612" y="4701721"/>
            <a:ext cx="10517187" cy="1013279"/>
          </a:xfrm>
        </p:spPr>
        <p:txBody>
          <a:bodyPr anchor="ctr"/>
          <a:lstStyle>
            <a:lvl1pPr>
              <a:defRPr sz="3200"/>
            </a:lvl1pPr>
          </a:lstStyle>
          <a:p>
            <a:r>
              <a:rPr lang="en-US"/>
              <a:t>Click to edit Master title style</a:t>
            </a:r>
          </a:p>
        </p:txBody>
      </p:sp>
      <p:sp>
        <p:nvSpPr>
          <p:cNvPr id="3" name="Picture Placeholder 2"/>
          <p:cNvSpPr>
            <a:spLocks noGrp="1"/>
          </p:cNvSpPr>
          <p:nvPr>
            <p:ph type="pic" idx="1"/>
          </p:nvPr>
        </p:nvSpPr>
        <p:spPr>
          <a:xfrm>
            <a:off x="836612" y="402771"/>
            <a:ext cx="10517187" cy="42989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5" name="Date Placeholder 4"/>
          <p:cNvSpPr>
            <a:spLocks noGrp="1"/>
          </p:cNvSpPr>
          <p:nvPr>
            <p:ph type="dt" sz="half" idx="10"/>
          </p:nvPr>
        </p:nvSpPr>
        <p:spPr/>
        <p:txBody>
          <a:bodyPr/>
          <a:lstStyle/>
          <a:p>
            <a:fld id="{E0C1574E-24CD-564D-96F3-804B3115A959}" type="datetime1">
              <a:rPr lang="en-IN" smtClean="0"/>
              <a:t>12-03-2024</a:t>
            </a:fld>
            <a:endParaRPr lang="en-US"/>
          </a:p>
        </p:txBody>
      </p:sp>
      <p:sp>
        <p:nvSpPr>
          <p:cNvPr id="6" name="Footer Placeholder 5"/>
          <p:cNvSpPr>
            <a:spLocks noGrp="1"/>
          </p:cNvSpPr>
          <p:nvPr>
            <p:ph type="ftr" sz="quarter" idx="11"/>
          </p:nvPr>
        </p:nvSpPr>
        <p:spPr/>
        <p:txBody>
          <a:bodyPr/>
          <a:lstStyle/>
          <a:p>
            <a:r>
              <a:rPr lang="en-US" dirty="0"/>
              <a:t>Slides prepared by: Prof.Nandini K, Assistant Professor, Department of CSE, Dayananda Sagar University, Harohalli, Karnataka.</a:t>
            </a:r>
          </a:p>
        </p:txBody>
      </p:sp>
      <p:sp>
        <p:nvSpPr>
          <p:cNvPr id="7" name="Slide Number Placeholder 6"/>
          <p:cNvSpPr>
            <a:spLocks noGrp="1"/>
          </p:cNvSpPr>
          <p:nvPr>
            <p:ph type="sldNum" sz="quarter" idx="12"/>
          </p:nvPr>
        </p:nvSpPr>
        <p:spPr/>
        <p:txBody>
          <a:bodyPr/>
          <a:lstStyle/>
          <a:p>
            <a:fld id="{5731DF9D-C219-B24D-9CD4-0503F6C036D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b Topics">
    <p:spTree>
      <p:nvGrpSpPr>
        <p:cNvPr id="1" name=""/>
        <p:cNvGrpSpPr/>
        <p:nvPr/>
      </p:nvGrpSpPr>
      <p:grpSpPr>
        <a:xfrm>
          <a:off x="0" y="0"/>
          <a:ext cx="0" cy="0"/>
          <a:chOff x="0" y="0"/>
          <a:chExt cx="0" cy="0"/>
        </a:xfrm>
      </p:grpSpPr>
      <p:sp>
        <p:nvSpPr>
          <p:cNvPr id="2" name="Title 1"/>
          <p:cNvSpPr>
            <a:spLocks noGrp="1"/>
          </p:cNvSpPr>
          <p:nvPr>
            <p:ph type="title"/>
          </p:nvPr>
        </p:nvSpPr>
        <p:spPr>
          <a:xfrm>
            <a:off x="838200" y="4066268"/>
            <a:ext cx="10515600" cy="1325563"/>
          </a:xfrm>
        </p:spPr>
        <p:txBody>
          <a:bodyPr/>
          <a:lstStyle>
            <a:lvl1pPr algn="r">
              <a:defRPr/>
            </a:lvl1pPr>
          </a:lstStyle>
          <a:p>
            <a:r>
              <a:rPr lang="en-US" dirty="0"/>
              <a:t>Click to edit Master title style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3"/>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tx1"/>
                </a:solidFill>
                <a:latin typeface="Georgia" panose="02040502050405020303"/>
                <a:cs typeface="Georgia" panose="02040502050405020303"/>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3/12/2024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1_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3/12/2024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642257"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2A98118-C88F-2845-864A-8847A1C3625E}" type="datetime1">
              <a:rPr lang="en-IN" smtClean="0"/>
              <a:t>12-03-2024</a:t>
            </a:fld>
            <a:endParaRPr lang="en-US" dirty="0"/>
          </a:p>
        </p:txBody>
      </p:sp>
      <p:sp>
        <p:nvSpPr>
          <p:cNvPr id="5" name="Footer Placeholder 4"/>
          <p:cNvSpPr>
            <a:spLocks noGrp="1"/>
          </p:cNvSpPr>
          <p:nvPr>
            <p:ph type="ftr" sz="quarter" idx="3"/>
          </p:nvPr>
        </p:nvSpPr>
        <p:spPr>
          <a:xfrm>
            <a:off x="1698171" y="6356350"/>
            <a:ext cx="8871858"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Slides prepared by: Dr. </a:t>
            </a:r>
            <a:r>
              <a:rPr lang="en-US" dirty="0" err="1"/>
              <a:t>Arunkumar</a:t>
            </a:r>
            <a:r>
              <a:rPr lang="en-US" dirty="0"/>
              <a:t> </a:t>
            </a:r>
            <a:r>
              <a:rPr lang="en-US" dirty="0" err="1"/>
              <a:t>Gopu</a:t>
            </a:r>
            <a:r>
              <a:rPr lang="en-US" dirty="0"/>
              <a:t>, Senior Assistant Professor, VIT-AP University, Amaravati.</a:t>
            </a:r>
          </a:p>
        </p:txBody>
      </p:sp>
      <p:sp>
        <p:nvSpPr>
          <p:cNvPr id="6" name="Slide Number Placeholder 5"/>
          <p:cNvSpPr>
            <a:spLocks noGrp="1"/>
          </p:cNvSpPr>
          <p:nvPr>
            <p:ph type="sldNum" sz="quarter" idx="4"/>
          </p:nvPr>
        </p:nvSpPr>
        <p:spPr>
          <a:xfrm>
            <a:off x="10798628" y="6356350"/>
            <a:ext cx="555171"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31DF9D-C219-B24D-9CD4-0503F6C036DC}"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hdr="0" dt="0"/>
  <p:txStyles>
    <p:titleStyle>
      <a:lvl1pPr algn="l" defTabSz="914400" rtl="0" eaLnBrk="1" latinLnBrk="0" hangingPunct="1">
        <a:lnSpc>
          <a:spcPct val="90000"/>
        </a:lnSpc>
        <a:spcBef>
          <a:spcPct val="0"/>
        </a:spcBef>
        <a:buNone/>
        <a:defRPr sz="4400" b="0" i="0" kern="1200">
          <a:solidFill>
            <a:srgbClr val="166DAB"/>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000" b="0" i="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000" b="0" i="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b="0" i="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2000" b="0" i="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2000" b="0" i="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4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8.xml"/></Relationships>
</file>

<file path=ppt/slides/_rels/slide6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1575117"/>
          </a:xfrm>
        </p:spPr>
        <p:txBody>
          <a:bodyPr>
            <a:normAutofit fontScale="90000"/>
          </a:bodyPr>
          <a:lstStyle/>
          <a:p>
            <a:r>
              <a:rPr lang="en-IN" sz="5300" dirty="0"/>
              <a:t>Design and Analysis of Algorithms</a:t>
            </a:r>
            <a:br>
              <a:rPr lang="en-IN" sz="5300" dirty="0"/>
            </a:br>
            <a:r>
              <a:rPr lang="en-IN" sz="5300" dirty="0"/>
              <a:t>(22CS2402)</a:t>
            </a:r>
            <a:endParaRPr lang="en-US" dirty="0"/>
          </a:p>
        </p:txBody>
      </p:sp>
      <p:sp>
        <p:nvSpPr>
          <p:cNvPr id="3" name="Subtitle 2"/>
          <p:cNvSpPr>
            <a:spLocks noGrp="1"/>
          </p:cNvSpPr>
          <p:nvPr>
            <p:ph type="subTitle" idx="1"/>
          </p:nvPr>
        </p:nvSpPr>
        <p:spPr>
          <a:xfrm>
            <a:off x="1524000" y="3138646"/>
            <a:ext cx="9144000" cy="2944653"/>
          </a:xfrm>
        </p:spPr>
        <p:txBody>
          <a:bodyPr>
            <a:noAutofit/>
          </a:bodyPr>
          <a:lstStyle/>
          <a:p>
            <a:pPr algn="ctr"/>
            <a:r>
              <a:rPr lang="en-US" sz="2000" dirty="0"/>
              <a:t>Prof.Nandini K</a:t>
            </a:r>
          </a:p>
          <a:p>
            <a:pPr algn="ctr"/>
            <a:r>
              <a:rPr lang="en-US" sz="2000" dirty="0"/>
              <a:t>Assistant  Professor</a:t>
            </a:r>
          </a:p>
          <a:p>
            <a:pPr algn="ctr"/>
            <a:r>
              <a:rPr lang="en-US" sz="2000" dirty="0"/>
              <a:t>Department of Computer Science and Engineering</a:t>
            </a:r>
          </a:p>
          <a:p>
            <a:pPr algn="ctr"/>
            <a:r>
              <a:rPr lang="en-US" sz="2000" dirty="0"/>
              <a:t>Dayananda Sagar University, Harohalli, Karnataka.</a:t>
            </a:r>
          </a:p>
          <a:p>
            <a:pPr algn="ctr"/>
            <a:r>
              <a:rPr lang="en-US" sz="2000" dirty="0"/>
              <a:t>Email-id: nandini-cse@dsu.edu.in</a:t>
            </a:r>
          </a:p>
          <a:p>
            <a:pPr algn="ctr"/>
            <a:r>
              <a:rPr lang="en-US" sz="2000" dirty="0"/>
              <a:t>Faculty Cabin: A539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MODULE 1</a:t>
            </a:r>
          </a:p>
        </p:txBody>
      </p:sp>
      <p:sp>
        <p:nvSpPr>
          <p:cNvPr id="3" name="Content Placeholder 2"/>
          <p:cNvSpPr>
            <a:spLocks noGrp="1"/>
          </p:cNvSpPr>
          <p:nvPr>
            <p:ph idx="1"/>
          </p:nvPr>
        </p:nvSpPr>
        <p:spPr/>
        <p:txBody>
          <a:bodyPr>
            <a:normAutofit fontScale="92500"/>
          </a:bodyPr>
          <a:lstStyle/>
          <a:p>
            <a:pPr marL="0" indent="0" algn="just">
              <a:lnSpc>
                <a:spcPct val="150000"/>
              </a:lnSpc>
              <a:spcBef>
                <a:spcPts val="0"/>
              </a:spcBef>
              <a:buNone/>
            </a:pPr>
            <a:r>
              <a:rPr lang="en-US" sz="2400" b="1" dirty="0">
                <a:latin typeface="Times New Roman" panose="02020603050405020304"/>
                <a:ea typeface="Times New Roman" panose="02020603050405020304"/>
                <a:cs typeface="Times New Roman" panose="02020603050405020304"/>
                <a:sym typeface="Times New Roman" panose="02020603050405020304"/>
              </a:rPr>
              <a:t>Introduction: </a:t>
            </a:r>
            <a:r>
              <a:rPr lang="en-US" sz="2400" dirty="0">
                <a:latin typeface="Times New Roman" panose="02020603050405020304"/>
                <a:ea typeface="Times New Roman" panose="02020603050405020304"/>
                <a:cs typeface="Times New Roman" panose="02020603050405020304"/>
                <a:sym typeface="Times New Roman" panose="02020603050405020304"/>
              </a:rPr>
              <a:t>What is an Algorithm? Fundamentals of Algorithmic Problem Solving.</a:t>
            </a:r>
            <a:r>
              <a:rPr lang="en-US" sz="1800" b="1" i="1" kern="0" dirty="0">
                <a:effectLst/>
                <a:latin typeface="Arial" panose="020B0604020202020204" pitchFamily="34" charset="0"/>
                <a:ea typeface="Calibri" panose="020F0502020204030204" pitchFamily="34" charset="0"/>
                <a:cs typeface="Times New Roman" panose="02020603050405020304" pitchFamily="18" charset="0"/>
              </a:rPr>
              <a:t> Text Book-1: Chapter 1: 1.1 to 1.2</a:t>
            </a:r>
            <a:endParaRPr lang="en-US" sz="1800" kern="100" dirty="0">
              <a:effectLst/>
              <a:latin typeface="Calibri" panose="020F0502020204030204" pitchFamily="34" charset="0"/>
              <a:cs typeface="Times New Roman" panose="02020603050405020304" pitchFamily="18" charset="0"/>
            </a:endParaRPr>
          </a:p>
          <a:p>
            <a:pPr marL="0" indent="0" algn="just">
              <a:lnSpc>
                <a:spcPct val="150000"/>
              </a:lnSpc>
              <a:spcBef>
                <a:spcPts val="0"/>
              </a:spcBef>
              <a:buNone/>
            </a:pPr>
            <a:r>
              <a:rPr lang="en-US" sz="2400" b="1" dirty="0">
                <a:latin typeface="Times New Roman" panose="02020603050405020304"/>
                <a:ea typeface="Times New Roman" panose="02020603050405020304"/>
                <a:cs typeface="Times New Roman" panose="02020603050405020304"/>
                <a:sym typeface="Times New Roman" panose="02020603050405020304"/>
              </a:rPr>
              <a:t>Fundamentals of The Algorithms Efficiency: </a:t>
            </a:r>
            <a:r>
              <a:rPr lang="en-US" sz="2400" dirty="0">
                <a:latin typeface="Times New Roman" panose="02020603050405020304"/>
                <a:ea typeface="Times New Roman" panose="02020603050405020304"/>
                <a:cs typeface="Times New Roman" panose="02020603050405020304"/>
                <a:sym typeface="Times New Roman" panose="02020603050405020304"/>
              </a:rPr>
              <a:t>Analysis Framework, Asymptotic Notations and Standard notations and common functions. </a:t>
            </a:r>
          </a:p>
          <a:p>
            <a:pPr marL="0" indent="0" algn="just">
              <a:lnSpc>
                <a:spcPct val="150000"/>
              </a:lnSpc>
              <a:spcBef>
                <a:spcPts val="0"/>
              </a:spcBef>
              <a:buNone/>
            </a:pPr>
            <a:r>
              <a:rPr lang="en-US" sz="1800" b="1" i="1" kern="0" dirty="0">
                <a:effectLst/>
                <a:latin typeface="Arial" panose="020B0604020202020204" pitchFamily="34" charset="0"/>
                <a:ea typeface="Calibri" panose="020F0502020204030204" pitchFamily="34" charset="0"/>
                <a:cs typeface="Times New Roman" panose="02020603050405020304" pitchFamily="18" charset="0"/>
              </a:rPr>
              <a:t>Text Book-2: Chapter 3: 3.1, 3.2</a:t>
            </a:r>
            <a:endParaRPr lang="en-US" sz="1800" kern="100" dirty="0">
              <a:effectLst/>
              <a:latin typeface="Calibri" panose="020F0502020204030204" pitchFamily="34" charset="0"/>
              <a:cs typeface="Times New Roman" panose="02020603050405020304" pitchFamily="18" charset="0"/>
            </a:endParaRPr>
          </a:p>
          <a:p>
            <a:pPr marL="0" marR="0" lvl="0" indent="0" algn="just" rtl="0">
              <a:lnSpc>
                <a:spcPct val="150000"/>
              </a:lnSpc>
              <a:spcBef>
                <a:spcPts val="0"/>
              </a:spcBef>
              <a:spcAft>
                <a:spcPts val="0"/>
              </a:spcAft>
              <a:buNone/>
            </a:pPr>
            <a:r>
              <a:rPr lang="en-US" sz="2400" dirty="0">
                <a:latin typeface="Times New Roman" panose="02020603050405020304"/>
                <a:ea typeface="Times New Roman" panose="02020603050405020304"/>
                <a:cs typeface="Times New Roman" panose="02020603050405020304"/>
                <a:sym typeface="Times New Roman" panose="02020603050405020304"/>
              </a:rPr>
              <a:t>Mathematical Analysis of Non-recursive and Recursive Algorithms.</a:t>
            </a:r>
          </a:p>
          <a:p>
            <a:pPr marL="0" indent="0" algn="just">
              <a:lnSpc>
                <a:spcPct val="150000"/>
              </a:lnSpc>
              <a:spcBef>
                <a:spcPts val="0"/>
              </a:spcBef>
              <a:buNone/>
            </a:pPr>
            <a:r>
              <a:rPr lang="en-US" sz="1800" b="1" i="1" kern="0" dirty="0">
                <a:effectLst/>
                <a:latin typeface="Arial" panose="020B0604020202020204" pitchFamily="34" charset="0"/>
                <a:ea typeface="Calibri" panose="020F0502020204030204" pitchFamily="34" charset="0"/>
                <a:cs typeface="Times New Roman" panose="02020603050405020304" pitchFamily="18" charset="0"/>
              </a:rPr>
              <a:t>Text Book-1: Chapter 2: 2.1, 2.3, 2.4</a:t>
            </a:r>
          </a:p>
          <a:p>
            <a:pPr marL="0" lvl="0" indent="0" algn="l" rtl="0">
              <a:lnSpc>
                <a:spcPct val="100000"/>
              </a:lnSpc>
              <a:spcBef>
                <a:spcPts val="1000"/>
              </a:spcBef>
              <a:spcAft>
                <a:spcPts val="0"/>
              </a:spcAft>
              <a:buClr>
                <a:schemeClr val="dk1"/>
              </a:buClr>
              <a:buSzPts val="2000"/>
              <a:buNone/>
            </a:pPr>
            <a:r>
              <a:rPr lang="en-US" sz="1800" dirty="0"/>
              <a:t>1. </a:t>
            </a:r>
            <a:r>
              <a:rPr lang="en-US" sz="1800" dirty="0" err="1"/>
              <a:t>Anany</a:t>
            </a:r>
            <a:r>
              <a:rPr lang="en-US" sz="1800" dirty="0"/>
              <a:t> Levitin, “Introduction to the Design &amp; Analysis of Algorithms”, 2nd Edition, Pearson Education, 2011.</a:t>
            </a:r>
          </a:p>
          <a:p>
            <a:pPr marL="0" lvl="0" indent="0" algn="l" rtl="0">
              <a:lnSpc>
                <a:spcPct val="100000"/>
              </a:lnSpc>
              <a:spcBef>
                <a:spcPts val="1000"/>
              </a:spcBef>
              <a:spcAft>
                <a:spcPts val="0"/>
              </a:spcAft>
              <a:buClr>
                <a:schemeClr val="dk1"/>
              </a:buClr>
              <a:buSzPts val="2000"/>
              <a:buNone/>
            </a:pPr>
            <a:r>
              <a:rPr lang="en-US" sz="1800" dirty="0"/>
              <a:t>2. Thomas H. </a:t>
            </a:r>
            <a:r>
              <a:rPr lang="en-US" sz="1800" dirty="0" err="1"/>
              <a:t>Cormen</a:t>
            </a:r>
            <a:r>
              <a:rPr lang="en-US" sz="1800" dirty="0"/>
              <a:t>, Charles </a:t>
            </a:r>
            <a:r>
              <a:rPr lang="en-US" sz="1800" dirty="0" err="1"/>
              <a:t>E.Leiserson</a:t>
            </a:r>
            <a:r>
              <a:rPr lang="en-US" sz="1800" dirty="0"/>
              <a:t>, Ronald L. Rivest, Clifford Stein, “Introduction to Algorithms”, 3rd Edition, PHI, 2014.</a:t>
            </a:r>
          </a:p>
          <a:p>
            <a:pPr marL="0" indent="0" algn="just">
              <a:lnSpc>
                <a:spcPct val="150000"/>
              </a:lnSpc>
              <a:spcBef>
                <a:spcPts val="0"/>
              </a:spcBef>
              <a:buNone/>
            </a:pPr>
            <a:endParaRPr lang="en-US" sz="1800" kern="100" dirty="0">
              <a:effectLst/>
              <a:latin typeface="Calibri" panose="020F0502020204030204" pitchFamily="34" charset="0"/>
              <a:cs typeface="Times New Roman" panose="02020603050405020304" pitchFamily="18" charset="0"/>
            </a:endParaRPr>
          </a:p>
          <a:p>
            <a:pPr marL="0" marR="0" lvl="0" indent="0" algn="just" rtl="0">
              <a:lnSpc>
                <a:spcPct val="150000"/>
              </a:lnSpc>
              <a:spcBef>
                <a:spcPts val="0"/>
              </a:spcBef>
              <a:spcAft>
                <a:spcPts val="0"/>
              </a:spcAft>
              <a:buNone/>
            </a:pPr>
            <a:endParaRPr lang="en-US" sz="2400" dirty="0">
              <a:latin typeface="Times New Roman" panose="02020603050405020304"/>
              <a:ea typeface="Times New Roman" panose="02020603050405020304"/>
              <a:cs typeface="Times New Roman" panose="02020603050405020304"/>
              <a:sym typeface="Times New Roman" panose="02020603050405020304"/>
            </a:endParaRPr>
          </a:p>
          <a:p>
            <a:pPr marL="0" indent="0">
              <a:buNone/>
            </a:pPr>
            <a:endParaRPr lang="en-IN" dirty="0"/>
          </a:p>
        </p:txBody>
      </p:sp>
      <p:sp>
        <p:nvSpPr>
          <p:cNvPr id="4" name="Footer Placeholder 3"/>
          <p:cNvSpPr>
            <a:spLocks noGrp="1"/>
          </p:cNvSpPr>
          <p:nvPr>
            <p:ph type="ftr" sz="quarter" idx="11"/>
          </p:nvPr>
        </p:nvSpPr>
        <p:spPr/>
        <p:txBody>
          <a:bodyPr/>
          <a:lstStyle/>
          <a:p>
            <a:r>
              <a:rPr lang="en-US"/>
              <a:t>Slides prepared by: Prof.Nandini K, Assistant Professor, Department of CSE, Dayananda Sagar University, Harohalli, Karnataka.</a:t>
            </a:r>
            <a:endParaRPr lang="en-US" dirty="0"/>
          </a:p>
        </p:txBody>
      </p:sp>
      <p:sp>
        <p:nvSpPr>
          <p:cNvPr id="5" name="Slide Number Placeholder 4"/>
          <p:cNvSpPr>
            <a:spLocks noGrp="1"/>
          </p:cNvSpPr>
          <p:nvPr>
            <p:ph type="sldNum" sz="quarter" idx="12"/>
          </p:nvPr>
        </p:nvSpPr>
        <p:spPr/>
        <p:txBody>
          <a:bodyPr/>
          <a:lstStyle/>
          <a:p>
            <a:fld id="{5731DF9D-C219-B24D-9CD4-0503F6C036DC}"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ALGORITHM</a:t>
            </a:r>
          </a:p>
        </p:txBody>
      </p:sp>
      <p:sp>
        <p:nvSpPr>
          <p:cNvPr id="4" name="Footer Placeholder 3"/>
          <p:cNvSpPr>
            <a:spLocks noGrp="1"/>
          </p:cNvSpPr>
          <p:nvPr>
            <p:ph type="ftr" sz="quarter" idx="11"/>
          </p:nvPr>
        </p:nvSpPr>
        <p:spPr/>
        <p:txBody>
          <a:bodyPr/>
          <a:lstStyle/>
          <a:p>
            <a:r>
              <a:rPr lang="en-US"/>
              <a:t>Slides prepared by: Prof.Nandini K, Assistant Professor, Department of CSE, Dayananda Sagar University, Harohalli, Karnataka.</a:t>
            </a:r>
            <a:endParaRPr lang="en-US" dirty="0"/>
          </a:p>
        </p:txBody>
      </p:sp>
      <p:sp>
        <p:nvSpPr>
          <p:cNvPr id="5" name="Slide Number Placeholder 4"/>
          <p:cNvSpPr>
            <a:spLocks noGrp="1"/>
          </p:cNvSpPr>
          <p:nvPr>
            <p:ph type="sldNum" sz="quarter" idx="12"/>
          </p:nvPr>
        </p:nvSpPr>
        <p:spPr/>
        <p:txBody>
          <a:bodyPr/>
          <a:lstStyle/>
          <a:p>
            <a:fld id="{5731DF9D-C219-B24D-9CD4-0503F6C036DC}" type="slidenum">
              <a:rPr lang="en-US" smtClean="0"/>
              <a:t>3</a:t>
            </a:fld>
            <a:endParaRPr lang="en-US"/>
          </a:p>
        </p:txBody>
      </p:sp>
      <p:sp>
        <p:nvSpPr>
          <p:cNvPr id="7" name="Content Placeholder 6"/>
          <p:cNvSpPr>
            <a:spLocks noGrp="1"/>
          </p:cNvSpPr>
          <p:nvPr>
            <p:ph idx="1"/>
          </p:nvPr>
        </p:nvSpPr>
        <p:spPr>
          <a:xfrm>
            <a:off x="755073" y="1557770"/>
            <a:ext cx="10515600" cy="4351338"/>
          </a:xfrm>
        </p:spPr>
        <p:txBody>
          <a:bodyPr/>
          <a:lstStyle/>
          <a:p>
            <a:pPr algn="just">
              <a:lnSpc>
                <a:spcPct val="200000"/>
              </a:lnSpc>
            </a:pPr>
            <a:r>
              <a:rPr lang="en-US" sz="3200" dirty="0"/>
              <a:t>A </a:t>
            </a:r>
            <a:r>
              <a:rPr lang="en-US" sz="3200" dirty="0">
                <a:solidFill>
                  <a:srgbClr val="FF0000"/>
                </a:solidFill>
              </a:rPr>
              <a:t>sequence</a:t>
            </a:r>
            <a:r>
              <a:rPr lang="en-US" sz="3200" dirty="0"/>
              <a:t> of </a:t>
            </a:r>
            <a:r>
              <a:rPr lang="en-US" sz="3200" dirty="0">
                <a:solidFill>
                  <a:srgbClr val="FF0000"/>
                </a:solidFill>
              </a:rPr>
              <a:t>Unambiguous</a:t>
            </a:r>
            <a:r>
              <a:rPr lang="en-US" sz="3200" dirty="0"/>
              <a:t> instructions for solving a problem, </a:t>
            </a:r>
            <a:r>
              <a:rPr lang="en-US" sz="3200" dirty="0" err="1"/>
              <a:t>i.e</a:t>
            </a:r>
            <a:r>
              <a:rPr lang="en-US" sz="3200" dirty="0"/>
              <a:t> for obtaining the </a:t>
            </a:r>
            <a:r>
              <a:rPr lang="en-US" sz="3200" dirty="0">
                <a:solidFill>
                  <a:srgbClr val="FF0000"/>
                </a:solidFill>
              </a:rPr>
              <a:t>required output</a:t>
            </a:r>
            <a:r>
              <a:rPr lang="en-US" sz="3200" dirty="0"/>
              <a:t> for any </a:t>
            </a:r>
            <a:r>
              <a:rPr lang="en-US" sz="3200" dirty="0">
                <a:solidFill>
                  <a:srgbClr val="FF0000"/>
                </a:solidFill>
              </a:rPr>
              <a:t>legitimate input </a:t>
            </a:r>
            <a:r>
              <a:rPr lang="en-US" sz="3200" dirty="0"/>
              <a:t>in a </a:t>
            </a:r>
            <a:r>
              <a:rPr lang="en-US" sz="3200" dirty="0">
                <a:solidFill>
                  <a:srgbClr val="FF0000"/>
                </a:solidFill>
              </a:rPr>
              <a:t>finite</a:t>
            </a:r>
            <a:r>
              <a:rPr lang="en-US" sz="3200" dirty="0"/>
              <a:t> amount of time.</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NOTATION OF THE ALGORITHM</a:t>
            </a:r>
          </a:p>
        </p:txBody>
      </p:sp>
      <p:sp>
        <p:nvSpPr>
          <p:cNvPr id="4" name="Footer Placeholder 3"/>
          <p:cNvSpPr>
            <a:spLocks noGrp="1"/>
          </p:cNvSpPr>
          <p:nvPr>
            <p:ph type="ftr" sz="quarter" idx="11"/>
          </p:nvPr>
        </p:nvSpPr>
        <p:spPr/>
        <p:txBody>
          <a:bodyPr/>
          <a:lstStyle/>
          <a:p>
            <a:r>
              <a:rPr lang="en-US"/>
              <a:t>Slides prepared by: Prof.Nandini K, Assistant Professor, Department of CSE, Dayananda Sagar University, Harohalli, Karnataka.</a:t>
            </a:r>
            <a:endParaRPr lang="en-US" dirty="0"/>
          </a:p>
        </p:txBody>
      </p:sp>
      <p:sp>
        <p:nvSpPr>
          <p:cNvPr id="5" name="Slide Number Placeholder 4"/>
          <p:cNvSpPr>
            <a:spLocks noGrp="1"/>
          </p:cNvSpPr>
          <p:nvPr>
            <p:ph type="sldNum" sz="quarter" idx="12"/>
          </p:nvPr>
        </p:nvSpPr>
        <p:spPr/>
        <p:txBody>
          <a:bodyPr/>
          <a:lstStyle/>
          <a:p>
            <a:fld id="{5731DF9D-C219-B24D-9CD4-0503F6C036DC}" type="slidenum">
              <a:rPr lang="en-US" smtClean="0"/>
              <a:t>4</a:t>
            </a:fld>
            <a:endParaRPr lang="en-US"/>
          </a:p>
        </p:txBody>
      </p:sp>
      <p:pic>
        <p:nvPicPr>
          <p:cNvPr id="8" name="Content Placeholder 7"/>
          <p:cNvPicPr>
            <a:picLocks noGrp="1" noChangeAspect="1"/>
          </p:cNvPicPr>
          <p:nvPr>
            <p:ph idx="1"/>
          </p:nvPr>
        </p:nvPicPr>
        <p:blipFill>
          <a:blip r:embed="rId2"/>
          <a:stretch>
            <a:fillRect/>
          </a:stretch>
        </p:blipFill>
        <p:spPr>
          <a:xfrm>
            <a:off x="2401455" y="1942922"/>
            <a:ext cx="6871853" cy="384281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Special Features of Algorithms</a:t>
            </a:r>
          </a:p>
        </p:txBody>
      </p:sp>
      <p:sp>
        <p:nvSpPr>
          <p:cNvPr id="4" name="Footer Placeholder 3"/>
          <p:cNvSpPr>
            <a:spLocks noGrp="1"/>
          </p:cNvSpPr>
          <p:nvPr>
            <p:ph type="ftr" sz="quarter" idx="11"/>
          </p:nvPr>
        </p:nvSpPr>
        <p:spPr/>
        <p:txBody>
          <a:bodyPr/>
          <a:lstStyle/>
          <a:p>
            <a:r>
              <a:rPr lang="en-US"/>
              <a:t>Slides prepared by: Prof.Nandini K, Assistant Professor, Department of CSE, Dayananda Sagar University, Harohalli, Karnataka.</a:t>
            </a:r>
            <a:endParaRPr lang="en-US" dirty="0"/>
          </a:p>
        </p:txBody>
      </p:sp>
      <p:sp>
        <p:nvSpPr>
          <p:cNvPr id="5" name="Slide Number Placeholder 4"/>
          <p:cNvSpPr>
            <a:spLocks noGrp="1"/>
          </p:cNvSpPr>
          <p:nvPr>
            <p:ph type="sldNum" sz="quarter" idx="12"/>
          </p:nvPr>
        </p:nvSpPr>
        <p:spPr/>
        <p:txBody>
          <a:bodyPr/>
          <a:lstStyle/>
          <a:p>
            <a:fld id="{5731DF9D-C219-B24D-9CD4-0503F6C036DC}" type="slidenum">
              <a:rPr lang="en-US" smtClean="0"/>
              <a:t>5</a:t>
            </a:fld>
            <a:endParaRPr lang="en-US"/>
          </a:p>
        </p:txBody>
      </p:sp>
      <p:sp>
        <p:nvSpPr>
          <p:cNvPr id="9" name="Content Placeholder 8"/>
          <p:cNvSpPr>
            <a:spLocks noGrp="1"/>
          </p:cNvSpPr>
          <p:nvPr>
            <p:ph idx="1"/>
          </p:nvPr>
        </p:nvSpPr>
        <p:spPr/>
        <p:txBody>
          <a:bodyPr/>
          <a:lstStyle/>
          <a:p>
            <a:pPr>
              <a:lnSpc>
                <a:spcPct val="200000"/>
              </a:lnSpc>
              <a:buFont typeface="Wingdings" panose="05000000000000000000" pitchFamily="2" charset="2"/>
              <a:buChar char="q"/>
            </a:pPr>
            <a:r>
              <a:rPr lang="en-US" dirty="0">
                <a:solidFill>
                  <a:schemeClr val="tx1">
                    <a:lumMod val="95000"/>
                    <a:lumOff val="5000"/>
                  </a:schemeClr>
                </a:solidFill>
              </a:rPr>
              <a:t>Non-ambiguity.</a:t>
            </a:r>
          </a:p>
          <a:p>
            <a:pPr>
              <a:lnSpc>
                <a:spcPct val="200000"/>
              </a:lnSpc>
              <a:buFont typeface="Wingdings" panose="05000000000000000000" pitchFamily="2" charset="2"/>
              <a:buChar char="q"/>
            </a:pPr>
            <a:r>
              <a:rPr lang="en-US" dirty="0">
                <a:solidFill>
                  <a:schemeClr val="tx1">
                    <a:lumMod val="95000"/>
                    <a:lumOff val="5000"/>
                  </a:schemeClr>
                </a:solidFill>
              </a:rPr>
              <a:t>Range of Inputs</a:t>
            </a:r>
          </a:p>
          <a:p>
            <a:pPr>
              <a:lnSpc>
                <a:spcPct val="200000"/>
              </a:lnSpc>
              <a:buFont typeface="Wingdings" panose="05000000000000000000" pitchFamily="2" charset="2"/>
              <a:buChar char="q"/>
            </a:pPr>
            <a:r>
              <a:rPr lang="en-US" dirty="0">
                <a:solidFill>
                  <a:schemeClr val="tx1">
                    <a:lumMod val="95000"/>
                    <a:lumOff val="5000"/>
                  </a:schemeClr>
                </a:solidFill>
              </a:rPr>
              <a:t>The same algorithm can be represented in different ways.</a:t>
            </a:r>
          </a:p>
          <a:p>
            <a:pPr>
              <a:lnSpc>
                <a:spcPct val="200000"/>
              </a:lnSpc>
              <a:buFont typeface="Wingdings" panose="05000000000000000000" pitchFamily="2" charset="2"/>
              <a:buChar char="q"/>
            </a:pPr>
            <a:r>
              <a:rPr lang="en-US" dirty="0">
                <a:solidFill>
                  <a:schemeClr val="tx1">
                    <a:lumMod val="95000"/>
                    <a:lumOff val="5000"/>
                  </a:schemeClr>
                </a:solidFill>
              </a:rPr>
              <a:t>Several algorithms for solving the same problem.</a:t>
            </a:r>
          </a:p>
          <a:p>
            <a:pPr>
              <a:lnSpc>
                <a:spcPct val="200000"/>
              </a:lnSpc>
              <a:buFont typeface="Wingdings" panose="05000000000000000000" pitchFamily="2" charset="2"/>
              <a:buChar char="q"/>
            </a:pPr>
            <a:r>
              <a:rPr lang="en-US" dirty="0">
                <a:solidFill>
                  <a:schemeClr val="tx1">
                    <a:lumMod val="95000"/>
                    <a:lumOff val="5000"/>
                  </a:schemeClr>
                </a:solidFill>
              </a:rPr>
              <a:t>Different algorithms with different speeds.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7963" y="143163"/>
            <a:ext cx="10180899" cy="900257"/>
          </a:xfrm>
        </p:spPr>
        <p:txBody>
          <a:bodyPr/>
          <a:lstStyle/>
          <a:p>
            <a:pPr algn="ctr"/>
            <a:r>
              <a:rPr lang="en-US" dirty="0"/>
              <a:t>Find the GCD(m , n)</a:t>
            </a:r>
          </a:p>
        </p:txBody>
      </p:sp>
      <p:sp>
        <p:nvSpPr>
          <p:cNvPr id="4" name="Footer Placeholder 3"/>
          <p:cNvSpPr>
            <a:spLocks noGrp="1"/>
          </p:cNvSpPr>
          <p:nvPr>
            <p:ph type="ftr" sz="quarter" idx="11"/>
          </p:nvPr>
        </p:nvSpPr>
        <p:spPr/>
        <p:txBody>
          <a:bodyPr/>
          <a:lstStyle/>
          <a:p>
            <a:r>
              <a:rPr lang="en-US"/>
              <a:t>Slides prepared by: Prof.Nandini K, Assistant Professor, Department of CSE, Dayananda Sagar University, Harohalli, Karnataka.</a:t>
            </a:r>
            <a:endParaRPr lang="en-US" dirty="0"/>
          </a:p>
        </p:txBody>
      </p:sp>
      <p:sp>
        <p:nvSpPr>
          <p:cNvPr id="5" name="Slide Number Placeholder 4"/>
          <p:cNvSpPr>
            <a:spLocks noGrp="1"/>
          </p:cNvSpPr>
          <p:nvPr>
            <p:ph type="sldNum" sz="quarter" idx="12"/>
          </p:nvPr>
        </p:nvSpPr>
        <p:spPr/>
        <p:txBody>
          <a:bodyPr/>
          <a:lstStyle/>
          <a:p>
            <a:fld id="{5731DF9D-C219-B24D-9CD4-0503F6C036DC}" type="slidenum">
              <a:rPr lang="en-US" smtClean="0"/>
              <a:t>6</a:t>
            </a:fld>
            <a:endParaRPr lang="en-US"/>
          </a:p>
        </p:txBody>
      </p:sp>
      <p:sp>
        <p:nvSpPr>
          <p:cNvPr id="7" name="Content Placeholder 6"/>
          <p:cNvSpPr>
            <a:spLocks noGrp="1"/>
          </p:cNvSpPr>
          <p:nvPr>
            <p:ph idx="1"/>
          </p:nvPr>
        </p:nvSpPr>
        <p:spPr>
          <a:xfrm>
            <a:off x="560613" y="1299152"/>
            <a:ext cx="10515600" cy="5057198"/>
          </a:xfrm>
        </p:spPr>
        <p:txBody>
          <a:bodyPr>
            <a:normAutofit/>
          </a:bodyPr>
          <a:lstStyle/>
          <a:p>
            <a:pPr marL="0" indent="0">
              <a:lnSpc>
                <a:spcPct val="150000"/>
              </a:lnSpc>
              <a:buNone/>
            </a:pPr>
            <a:r>
              <a:rPr lang="en-US" b="1" dirty="0"/>
              <a:t>Method 1:Descriptive Algorithm</a:t>
            </a:r>
          </a:p>
          <a:p>
            <a:pPr marL="0" indent="0">
              <a:lnSpc>
                <a:spcPct val="150000"/>
              </a:lnSpc>
              <a:buNone/>
            </a:pPr>
            <a:r>
              <a:rPr lang="en-US" b="1" dirty="0"/>
              <a:t>Middle-school Procedure for computing </a:t>
            </a:r>
            <a:r>
              <a:rPr lang="en-US" b="1" dirty="0" err="1"/>
              <a:t>gcd</a:t>
            </a:r>
            <a:r>
              <a:rPr lang="en-US" b="1" dirty="0"/>
              <a:t>(m, n)</a:t>
            </a:r>
          </a:p>
          <a:p>
            <a:pPr marL="0" indent="0">
              <a:lnSpc>
                <a:spcPct val="150000"/>
              </a:lnSpc>
              <a:buNone/>
            </a:pPr>
            <a:r>
              <a:rPr lang="en-US" dirty="0"/>
              <a:t>	Step 1: Find the prime factors of m.</a:t>
            </a:r>
          </a:p>
          <a:p>
            <a:pPr marL="0" indent="0">
              <a:lnSpc>
                <a:spcPct val="150000"/>
              </a:lnSpc>
              <a:buNone/>
            </a:pPr>
            <a:r>
              <a:rPr lang="en-US" dirty="0"/>
              <a:t>	Step 2: Find the prime factors of n.</a:t>
            </a:r>
          </a:p>
          <a:p>
            <a:pPr marL="0" indent="0">
              <a:lnSpc>
                <a:spcPct val="150000"/>
              </a:lnSpc>
              <a:buNone/>
            </a:pPr>
            <a:r>
              <a:rPr lang="en-US" dirty="0"/>
              <a:t>	Step 3: Identify all the common factors in the two prime expansions found in step 1 and  			step2.(If p is a common factors  occurring Pm and </a:t>
            </a:r>
            <a:r>
              <a:rPr lang="en-US" dirty="0" err="1"/>
              <a:t>Pn</a:t>
            </a:r>
            <a:r>
              <a:rPr lang="en-US" dirty="0"/>
              <a:t> times in m and n, 				   respectively, it should be repeated min{Pm and </a:t>
            </a:r>
            <a:r>
              <a:rPr lang="en-US" dirty="0" err="1"/>
              <a:t>Pn</a:t>
            </a:r>
            <a:r>
              <a:rPr lang="en-US" dirty="0"/>
              <a:t>} times).</a:t>
            </a:r>
          </a:p>
          <a:p>
            <a:pPr marL="0" indent="0">
              <a:lnSpc>
                <a:spcPct val="150000"/>
              </a:lnSpc>
              <a:buNone/>
            </a:pPr>
            <a:r>
              <a:rPr lang="en-US" dirty="0"/>
              <a:t>	Step 4: Compute the product of all the common factors and return it as the greatest common 		divisor of the numbers given.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GCD using Euclid’s Method</a:t>
            </a:r>
          </a:p>
        </p:txBody>
      </p:sp>
      <p:sp>
        <p:nvSpPr>
          <p:cNvPr id="4" name="Footer Placeholder 3"/>
          <p:cNvSpPr>
            <a:spLocks noGrp="1"/>
          </p:cNvSpPr>
          <p:nvPr>
            <p:ph type="ftr" sz="quarter" idx="11"/>
          </p:nvPr>
        </p:nvSpPr>
        <p:spPr/>
        <p:txBody>
          <a:bodyPr/>
          <a:lstStyle/>
          <a:p>
            <a:r>
              <a:rPr lang="en-US"/>
              <a:t>Slides prepared by: Prof.Nandini K, Assistant Professor, Department of CSE, Dayananda Sagar University, Harohalli, Karnataka.</a:t>
            </a:r>
            <a:endParaRPr lang="en-US" dirty="0"/>
          </a:p>
        </p:txBody>
      </p:sp>
      <p:sp>
        <p:nvSpPr>
          <p:cNvPr id="5" name="Slide Number Placeholder 4"/>
          <p:cNvSpPr>
            <a:spLocks noGrp="1"/>
          </p:cNvSpPr>
          <p:nvPr>
            <p:ph type="sldNum" sz="quarter" idx="12"/>
          </p:nvPr>
        </p:nvSpPr>
        <p:spPr/>
        <p:txBody>
          <a:bodyPr/>
          <a:lstStyle/>
          <a:p>
            <a:fld id="{5731DF9D-C219-B24D-9CD4-0503F6C036DC}" type="slidenum">
              <a:rPr lang="en-US" smtClean="0"/>
              <a:t>7</a:t>
            </a:fld>
            <a:endParaRPr lang="en-US"/>
          </a:p>
        </p:txBody>
      </p:sp>
      <p:sp>
        <p:nvSpPr>
          <p:cNvPr id="7" name="Content Placeholder 6"/>
          <p:cNvSpPr>
            <a:spLocks noGrp="1"/>
          </p:cNvSpPr>
          <p:nvPr>
            <p:ph idx="1"/>
          </p:nvPr>
        </p:nvSpPr>
        <p:spPr/>
        <p:txBody>
          <a:bodyPr/>
          <a:lstStyle/>
          <a:p>
            <a:r>
              <a:rPr lang="en-US" dirty="0"/>
              <a:t>GCD using Euclid’s Method</a:t>
            </a:r>
          </a:p>
          <a:p>
            <a:pPr marL="0" indent="0">
              <a:buNone/>
            </a:pPr>
            <a:r>
              <a:rPr lang="en-US" dirty="0"/>
              <a:t>           gcd(m, n)=gcd(n, m mod n)</a:t>
            </a:r>
          </a:p>
          <a:p>
            <a:pPr marL="0" indent="0">
              <a:buNone/>
            </a:pPr>
            <a:endParaRPr lang="en-US" dirty="0"/>
          </a:p>
          <a:p>
            <a:pPr marL="0" indent="0">
              <a:buNone/>
            </a:pPr>
            <a:r>
              <a:rPr lang="en-US" dirty="0"/>
              <a:t>Find:</a:t>
            </a:r>
          </a:p>
          <a:p>
            <a:pPr marL="457200" indent="-457200">
              <a:buAutoNum type="arabicPeriod"/>
            </a:pPr>
            <a:r>
              <a:rPr lang="en-US" dirty="0"/>
              <a:t>GCD(124,12)</a:t>
            </a:r>
          </a:p>
          <a:p>
            <a:pPr marL="457200" indent="-457200">
              <a:buAutoNum type="arabicPeriod"/>
            </a:pPr>
            <a:r>
              <a:rPr lang="en-US" dirty="0"/>
              <a:t>GCD(160,15)</a:t>
            </a:r>
          </a:p>
          <a:p>
            <a:pPr marL="457200" indent="-457200">
              <a:buAutoNum type="arabicPeriod"/>
            </a:pPr>
            <a:r>
              <a:rPr lang="en-US" dirty="0"/>
              <a:t>GCD(338,22)</a:t>
            </a:r>
          </a:p>
          <a:p>
            <a:pPr marL="457200" indent="-457200">
              <a:buAutoNum type="arabicPeriod"/>
            </a:pPr>
            <a:r>
              <a:rPr lang="en-US" dirty="0"/>
              <a:t>GCD(150,8)</a:t>
            </a:r>
          </a:p>
          <a:p>
            <a:pPr marL="0" indent="0">
              <a:buNone/>
            </a:pP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5690" y="180398"/>
            <a:ext cx="10180899" cy="863311"/>
          </a:xfrm>
        </p:spPr>
        <p:txBody>
          <a:bodyPr/>
          <a:lstStyle/>
          <a:p>
            <a:pPr algn="ctr"/>
            <a:r>
              <a:rPr lang="en-US" dirty="0"/>
              <a:t>Find the GCD(m , n)</a:t>
            </a:r>
          </a:p>
        </p:txBody>
      </p:sp>
      <p:sp>
        <p:nvSpPr>
          <p:cNvPr id="4" name="Footer Placeholder 3"/>
          <p:cNvSpPr>
            <a:spLocks noGrp="1"/>
          </p:cNvSpPr>
          <p:nvPr>
            <p:ph type="ftr" sz="quarter" idx="11"/>
          </p:nvPr>
        </p:nvSpPr>
        <p:spPr/>
        <p:txBody>
          <a:bodyPr/>
          <a:lstStyle/>
          <a:p>
            <a:r>
              <a:rPr lang="en-US"/>
              <a:t>Slides prepared by: Prof.Nandini K, Assistant Professor, Department of CSE, Dayananda Sagar University, Harohalli, Karnataka.</a:t>
            </a:r>
            <a:endParaRPr lang="en-US" dirty="0"/>
          </a:p>
        </p:txBody>
      </p:sp>
      <p:sp>
        <p:nvSpPr>
          <p:cNvPr id="5" name="Slide Number Placeholder 4"/>
          <p:cNvSpPr>
            <a:spLocks noGrp="1"/>
          </p:cNvSpPr>
          <p:nvPr>
            <p:ph type="sldNum" sz="quarter" idx="12"/>
          </p:nvPr>
        </p:nvSpPr>
        <p:spPr/>
        <p:txBody>
          <a:bodyPr/>
          <a:lstStyle/>
          <a:p>
            <a:fld id="{5731DF9D-C219-B24D-9CD4-0503F6C036DC}" type="slidenum">
              <a:rPr lang="en-US" smtClean="0"/>
              <a:t>8</a:t>
            </a:fld>
            <a:endParaRPr lang="en-US"/>
          </a:p>
        </p:txBody>
      </p:sp>
      <p:sp>
        <p:nvSpPr>
          <p:cNvPr id="9" name="Content Placeholder 8"/>
          <p:cNvSpPr>
            <a:spLocks noGrp="1"/>
          </p:cNvSpPr>
          <p:nvPr>
            <p:ph idx="1"/>
          </p:nvPr>
        </p:nvSpPr>
        <p:spPr>
          <a:xfrm>
            <a:off x="764310" y="1317625"/>
            <a:ext cx="10515600" cy="4351338"/>
          </a:xfrm>
        </p:spPr>
        <p:txBody>
          <a:bodyPr/>
          <a:lstStyle/>
          <a:p>
            <a:pPr marL="0" indent="0">
              <a:lnSpc>
                <a:spcPct val="150000"/>
              </a:lnSpc>
              <a:buNone/>
            </a:pPr>
            <a:r>
              <a:rPr lang="en-US" dirty="0"/>
              <a:t>Method 2:  Descriptive Algorithm</a:t>
            </a:r>
          </a:p>
          <a:p>
            <a:pPr marL="0" indent="0">
              <a:lnSpc>
                <a:spcPct val="150000"/>
              </a:lnSpc>
              <a:buNone/>
            </a:pPr>
            <a:r>
              <a:rPr lang="en-US" b="1" dirty="0"/>
              <a:t>Euclid’s algorithm for computing gcd(m, n)</a:t>
            </a:r>
          </a:p>
          <a:p>
            <a:pPr marL="0" indent="0">
              <a:lnSpc>
                <a:spcPct val="150000"/>
              </a:lnSpc>
              <a:buNone/>
            </a:pPr>
            <a:r>
              <a:rPr lang="en-US" dirty="0"/>
              <a:t>	Step1: if n=0, return the value of m as the answer and stop; otherwise, Proceed to Step 2.</a:t>
            </a:r>
          </a:p>
          <a:p>
            <a:pPr marL="0" indent="0">
              <a:lnSpc>
                <a:spcPct val="150000"/>
              </a:lnSpc>
              <a:buNone/>
            </a:pPr>
            <a:r>
              <a:rPr lang="en-US" dirty="0"/>
              <a:t>	Step 2: Divide m by n and assign the value of the remainder to r.</a:t>
            </a:r>
          </a:p>
          <a:p>
            <a:pPr marL="0" indent="0">
              <a:lnSpc>
                <a:spcPct val="150000"/>
              </a:lnSpc>
              <a:buNone/>
            </a:pPr>
            <a:r>
              <a:rPr lang="en-US" dirty="0"/>
              <a:t>	Step 3: Assign the value of n to m and the value of r to n. Go to Step1.</a:t>
            </a:r>
          </a:p>
          <a:p>
            <a:endParaRPr lang="en-US" dirty="0"/>
          </a:p>
          <a:p>
            <a:endParaRPr lang="en-US" dirty="0"/>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7729" y="365125"/>
            <a:ext cx="10180899" cy="819295"/>
          </a:xfrm>
        </p:spPr>
        <p:txBody>
          <a:bodyPr/>
          <a:lstStyle/>
          <a:p>
            <a:pPr algn="ctr"/>
            <a:r>
              <a:rPr lang="en-US" dirty="0"/>
              <a:t>Find the GCD(m , n)</a:t>
            </a:r>
          </a:p>
        </p:txBody>
      </p:sp>
      <p:sp>
        <p:nvSpPr>
          <p:cNvPr id="4" name="Footer Placeholder 3"/>
          <p:cNvSpPr>
            <a:spLocks noGrp="1"/>
          </p:cNvSpPr>
          <p:nvPr>
            <p:ph type="ftr" sz="quarter" idx="11"/>
          </p:nvPr>
        </p:nvSpPr>
        <p:spPr/>
        <p:txBody>
          <a:bodyPr/>
          <a:lstStyle/>
          <a:p>
            <a:r>
              <a:rPr lang="en-US"/>
              <a:t>Slides prepared by: Prof.Nandini K, Assistant Professor, Department of CSE, Dayananda Sagar University, Harohalli, Karnataka.</a:t>
            </a:r>
            <a:endParaRPr lang="en-US" dirty="0"/>
          </a:p>
        </p:txBody>
      </p:sp>
      <p:sp>
        <p:nvSpPr>
          <p:cNvPr id="5" name="Slide Number Placeholder 4"/>
          <p:cNvSpPr>
            <a:spLocks noGrp="1"/>
          </p:cNvSpPr>
          <p:nvPr>
            <p:ph type="sldNum" sz="quarter" idx="12"/>
          </p:nvPr>
        </p:nvSpPr>
        <p:spPr/>
        <p:txBody>
          <a:bodyPr/>
          <a:lstStyle/>
          <a:p>
            <a:fld id="{5731DF9D-C219-B24D-9CD4-0503F6C036DC}" type="slidenum">
              <a:rPr lang="en-US" smtClean="0"/>
              <a:t>9</a:t>
            </a:fld>
            <a:endParaRPr lang="en-US"/>
          </a:p>
        </p:txBody>
      </p:sp>
      <p:sp>
        <p:nvSpPr>
          <p:cNvPr id="7" name="Content Placeholder 6"/>
          <p:cNvSpPr>
            <a:spLocks noGrp="1"/>
          </p:cNvSpPr>
          <p:nvPr>
            <p:ph idx="1"/>
          </p:nvPr>
        </p:nvSpPr>
        <p:spPr>
          <a:xfrm>
            <a:off x="670848" y="1594716"/>
            <a:ext cx="10515600" cy="4351338"/>
          </a:xfrm>
        </p:spPr>
        <p:txBody>
          <a:bodyPr/>
          <a:lstStyle/>
          <a:p>
            <a:r>
              <a:rPr lang="en-US" dirty="0"/>
              <a:t>Method 2: Pseudocode Representation</a:t>
            </a:r>
          </a:p>
          <a:p>
            <a:pPr marL="0" indent="0">
              <a:buNone/>
            </a:pPr>
            <a:r>
              <a:rPr lang="en-US" dirty="0"/>
              <a:t>ALGORITHM Euclid(m, n)</a:t>
            </a:r>
          </a:p>
          <a:p>
            <a:pPr marL="0" indent="0">
              <a:buNone/>
            </a:pPr>
            <a:r>
              <a:rPr lang="en-US" dirty="0"/>
              <a:t>// Computes gcd(m, n) by Euclid’s algorithm</a:t>
            </a:r>
          </a:p>
          <a:p>
            <a:pPr marL="0" indent="0">
              <a:buNone/>
            </a:pPr>
            <a:r>
              <a:rPr lang="en-US" dirty="0"/>
              <a:t>//Input: Two Non-negative, not-both-zero integers m and n.</a:t>
            </a:r>
          </a:p>
          <a:p>
            <a:pPr marL="0" indent="0">
              <a:buNone/>
            </a:pPr>
            <a:r>
              <a:rPr lang="en-US" dirty="0"/>
              <a:t>//Output: Greatest common divisor of m and n</a:t>
            </a:r>
          </a:p>
          <a:p>
            <a:pPr marL="0" indent="0">
              <a:buNone/>
            </a:pPr>
            <a:r>
              <a:rPr lang="en-US" b="1" dirty="0"/>
              <a:t>while</a:t>
            </a:r>
            <a:r>
              <a:rPr lang="en-US" dirty="0"/>
              <a:t> n ≠ 0 do</a:t>
            </a:r>
          </a:p>
          <a:p>
            <a:pPr marL="0" indent="0">
              <a:buNone/>
            </a:pPr>
            <a:r>
              <a:rPr lang="en-US" dirty="0"/>
              <a:t>	r </a:t>
            </a:r>
            <a:r>
              <a:rPr lang="en-US" dirty="0">
                <a:sym typeface="Wingdings" panose="05000000000000000000" pitchFamily="2" charset="2"/>
              </a:rPr>
              <a:t> m mod n</a:t>
            </a:r>
          </a:p>
          <a:p>
            <a:pPr marL="0" indent="0">
              <a:buNone/>
            </a:pPr>
            <a:r>
              <a:rPr lang="en-US" dirty="0">
                <a:sym typeface="Wingdings" panose="05000000000000000000" pitchFamily="2" charset="2"/>
              </a:rPr>
              <a:t>	m n</a:t>
            </a:r>
          </a:p>
          <a:p>
            <a:pPr marL="0" indent="0">
              <a:buNone/>
            </a:pPr>
            <a:r>
              <a:rPr lang="en-US" dirty="0">
                <a:sym typeface="Wingdings" panose="05000000000000000000" pitchFamily="2" charset="2"/>
              </a:rPr>
              <a:t>	n r</a:t>
            </a:r>
          </a:p>
          <a:p>
            <a:pPr marL="0" indent="0">
              <a:buNone/>
            </a:pPr>
            <a:r>
              <a:rPr lang="en-US" dirty="0">
                <a:sym typeface="Wingdings" panose="05000000000000000000" pitchFamily="2" charset="2"/>
              </a:rPr>
              <a:t>	return m</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Find the set of all Prime numbers</a:t>
            </a:r>
          </a:p>
        </p:txBody>
      </p:sp>
      <p:sp>
        <p:nvSpPr>
          <p:cNvPr id="4" name="Footer Placeholder 3"/>
          <p:cNvSpPr>
            <a:spLocks noGrp="1"/>
          </p:cNvSpPr>
          <p:nvPr>
            <p:ph type="ftr" sz="quarter" idx="11"/>
          </p:nvPr>
        </p:nvSpPr>
        <p:spPr/>
        <p:txBody>
          <a:bodyPr/>
          <a:lstStyle/>
          <a:p>
            <a:r>
              <a:rPr lang="en-US"/>
              <a:t>Slides prepared by: Prof.Nandini K, Assistant Professor, Department of CSE, Dayananda Sagar University, Harohalli, Karnataka.</a:t>
            </a:r>
            <a:endParaRPr lang="en-US" dirty="0"/>
          </a:p>
        </p:txBody>
      </p:sp>
      <p:sp>
        <p:nvSpPr>
          <p:cNvPr id="5" name="Slide Number Placeholder 4"/>
          <p:cNvSpPr>
            <a:spLocks noGrp="1"/>
          </p:cNvSpPr>
          <p:nvPr>
            <p:ph type="sldNum" sz="quarter" idx="12"/>
          </p:nvPr>
        </p:nvSpPr>
        <p:spPr/>
        <p:txBody>
          <a:bodyPr/>
          <a:lstStyle/>
          <a:p>
            <a:fld id="{5731DF9D-C219-B24D-9CD4-0503F6C036DC}" type="slidenum">
              <a:rPr lang="en-US" smtClean="0"/>
              <a:t>10</a:t>
            </a:fld>
            <a:endParaRPr lang="en-US"/>
          </a:p>
        </p:txBody>
      </p:sp>
      <p:sp>
        <p:nvSpPr>
          <p:cNvPr id="11" name="Content Placeholder 10"/>
          <p:cNvSpPr>
            <a:spLocks noGrp="1"/>
          </p:cNvSpPr>
          <p:nvPr>
            <p:ph idx="1"/>
          </p:nvPr>
        </p:nvSpPr>
        <p:spPr/>
        <p:txBody>
          <a:bodyPr/>
          <a:lstStyle/>
          <a:p>
            <a:pPr>
              <a:lnSpc>
                <a:spcPct val="200000"/>
              </a:lnSpc>
            </a:pPr>
            <a:r>
              <a:rPr lang="en-US" sz="2800" dirty="0"/>
              <a:t>Method 1: Middle school level</a:t>
            </a:r>
          </a:p>
          <a:p>
            <a:pPr marL="0" indent="0">
              <a:lnSpc>
                <a:spcPct val="200000"/>
              </a:lnSpc>
              <a:buNone/>
            </a:pPr>
            <a:r>
              <a:rPr lang="en-US" sz="2800" dirty="0"/>
              <a:t>Find Set of all Prime Numbers within 25. </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65126"/>
            <a:ext cx="10180899" cy="1020330"/>
          </a:xfrm>
        </p:spPr>
        <p:txBody>
          <a:bodyPr/>
          <a:lstStyle/>
          <a:p>
            <a:r>
              <a:rPr lang="en-US" dirty="0"/>
              <a:t>Find the set of all prime numbers</a:t>
            </a:r>
          </a:p>
        </p:txBody>
      </p:sp>
      <p:sp>
        <p:nvSpPr>
          <p:cNvPr id="4" name="Footer Placeholder 3"/>
          <p:cNvSpPr>
            <a:spLocks noGrp="1"/>
          </p:cNvSpPr>
          <p:nvPr>
            <p:ph type="ftr" sz="quarter" idx="11"/>
          </p:nvPr>
        </p:nvSpPr>
        <p:spPr/>
        <p:txBody>
          <a:bodyPr/>
          <a:lstStyle/>
          <a:p>
            <a:r>
              <a:rPr lang="en-US"/>
              <a:t>Slides prepared by: Prof.Nandini K, Assistant Professor, Department of CSE, Dayananda Sagar University, Harohalli, Karnataka.</a:t>
            </a:r>
            <a:endParaRPr lang="en-US" dirty="0"/>
          </a:p>
        </p:txBody>
      </p:sp>
      <p:sp>
        <p:nvSpPr>
          <p:cNvPr id="5" name="Slide Number Placeholder 4"/>
          <p:cNvSpPr>
            <a:spLocks noGrp="1"/>
          </p:cNvSpPr>
          <p:nvPr>
            <p:ph type="sldNum" sz="quarter" idx="12"/>
          </p:nvPr>
        </p:nvSpPr>
        <p:spPr/>
        <p:txBody>
          <a:bodyPr/>
          <a:lstStyle/>
          <a:p>
            <a:fld id="{5731DF9D-C219-B24D-9CD4-0503F6C036DC}" type="slidenum">
              <a:rPr lang="en-US" smtClean="0"/>
              <a:t>11</a:t>
            </a:fld>
            <a:endParaRPr lang="en-US"/>
          </a:p>
        </p:txBody>
      </p:sp>
      <p:sp>
        <p:nvSpPr>
          <p:cNvPr id="7" name="Content Placeholder 6"/>
          <p:cNvSpPr>
            <a:spLocks noGrp="1"/>
          </p:cNvSpPr>
          <p:nvPr>
            <p:ph idx="1"/>
          </p:nvPr>
        </p:nvSpPr>
        <p:spPr>
          <a:xfrm>
            <a:off x="838200" y="1385456"/>
            <a:ext cx="10515600" cy="4791507"/>
          </a:xfrm>
        </p:spPr>
        <p:txBody>
          <a:bodyPr/>
          <a:lstStyle/>
          <a:p>
            <a:r>
              <a:rPr lang="en-US" dirty="0"/>
              <a:t>Method 2: Sieve of Eratosthenes</a:t>
            </a:r>
          </a:p>
          <a:p>
            <a:pPr marL="0" indent="0">
              <a:buNone/>
            </a:pPr>
            <a:r>
              <a:rPr lang="en-US" dirty="0"/>
              <a:t>Find Set of ALL Prime Numbers within 25</a:t>
            </a:r>
          </a:p>
          <a:p>
            <a:pPr marL="0" indent="0">
              <a:buNone/>
            </a:pPr>
            <a:r>
              <a:rPr lang="en-US" dirty="0"/>
              <a:t> </a:t>
            </a:r>
          </a:p>
        </p:txBody>
      </p:sp>
      <p:pic>
        <p:nvPicPr>
          <p:cNvPr id="9" name="Picture 8"/>
          <p:cNvPicPr>
            <a:picLocks noChangeAspect="1"/>
          </p:cNvPicPr>
          <p:nvPr/>
        </p:nvPicPr>
        <p:blipFill>
          <a:blip r:embed="rId2"/>
          <a:stretch>
            <a:fillRect/>
          </a:stretch>
        </p:blipFill>
        <p:spPr>
          <a:xfrm>
            <a:off x="2466109" y="3009878"/>
            <a:ext cx="7887855" cy="189463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7981" y="0"/>
            <a:ext cx="9007764" cy="1325563"/>
          </a:xfrm>
        </p:spPr>
        <p:txBody>
          <a:bodyPr>
            <a:normAutofit/>
          </a:bodyPr>
          <a:lstStyle/>
          <a:p>
            <a:pPr algn="just"/>
            <a:r>
              <a:rPr lang="en-US" sz="3200" dirty="0"/>
              <a:t>Fundamentals of Algorithmic Problem Solving/ Algorithm Design &amp; Analysis Process</a:t>
            </a:r>
          </a:p>
        </p:txBody>
      </p:sp>
      <p:sp>
        <p:nvSpPr>
          <p:cNvPr id="4" name="Footer Placeholder 3"/>
          <p:cNvSpPr>
            <a:spLocks noGrp="1"/>
          </p:cNvSpPr>
          <p:nvPr>
            <p:ph type="ftr" sz="quarter" idx="11"/>
          </p:nvPr>
        </p:nvSpPr>
        <p:spPr/>
        <p:txBody>
          <a:bodyPr/>
          <a:lstStyle/>
          <a:p>
            <a:r>
              <a:rPr lang="en-US"/>
              <a:t>Slides prepared by: Prof.Nandini K, Assistant Professor, Department of CSE, Dayananda Sagar University, Harohalli, Karnataka.</a:t>
            </a:r>
            <a:endParaRPr lang="en-US" dirty="0"/>
          </a:p>
        </p:txBody>
      </p:sp>
      <p:sp>
        <p:nvSpPr>
          <p:cNvPr id="5" name="Slide Number Placeholder 4"/>
          <p:cNvSpPr>
            <a:spLocks noGrp="1"/>
          </p:cNvSpPr>
          <p:nvPr>
            <p:ph type="sldNum" sz="quarter" idx="12"/>
          </p:nvPr>
        </p:nvSpPr>
        <p:spPr/>
        <p:txBody>
          <a:bodyPr/>
          <a:lstStyle/>
          <a:p>
            <a:fld id="{5731DF9D-C219-B24D-9CD4-0503F6C036DC}" type="slidenum">
              <a:rPr lang="en-US" smtClean="0"/>
              <a:t>12</a:t>
            </a:fld>
            <a:endParaRPr lang="en-US"/>
          </a:p>
        </p:txBody>
      </p:sp>
      <p:pic>
        <p:nvPicPr>
          <p:cNvPr id="8" name="Content Placeholder 7"/>
          <p:cNvPicPr>
            <a:picLocks noGrp="1" noChangeAspect="1"/>
          </p:cNvPicPr>
          <p:nvPr>
            <p:ph idx="1"/>
          </p:nvPr>
        </p:nvPicPr>
        <p:blipFill>
          <a:blip r:embed="rId2"/>
          <a:stretch>
            <a:fillRect/>
          </a:stretch>
        </p:blipFill>
        <p:spPr>
          <a:xfrm>
            <a:off x="3140364" y="1325563"/>
            <a:ext cx="4659537" cy="487300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400" dirty="0"/>
              <a:t>Fundamentals of Algorithmic Problem Solving/ Algorithm Design &amp; Analysis Process</a:t>
            </a:r>
            <a:endParaRPr lang="en-IN" dirty="0"/>
          </a:p>
        </p:txBody>
      </p:sp>
      <p:sp>
        <p:nvSpPr>
          <p:cNvPr id="3" name="Content Placeholder 2"/>
          <p:cNvSpPr>
            <a:spLocks noGrp="1"/>
          </p:cNvSpPr>
          <p:nvPr>
            <p:ph idx="1"/>
          </p:nvPr>
        </p:nvSpPr>
        <p:spPr/>
        <p:txBody>
          <a:bodyPr/>
          <a:lstStyle/>
          <a:p>
            <a:pPr marL="457200" indent="-457200">
              <a:buAutoNum type="arabicPeriod"/>
            </a:pPr>
            <a:r>
              <a:rPr lang="en-IN" b="1" dirty="0"/>
              <a:t>Understanding the problem</a:t>
            </a:r>
          </a:p>
          <a:p>
            <a:pPr lvl="1"/>
            <a:r>
              <a:rPr lang="en-IN" dirty="0"/>
              <a:t>Read the problem’s description carefully</a:t>
            </a:r>
          </a:p>
          <a:p>
            <a:pPr lvl="1"/>
            <a:r>
              <a:rPr lang="en-IN" dirty="0"/>
              <a:t>Use already known algorithms</a:t>
            </a:r>
          </a:p>
          <a:p>
            <a:pPr lvl="1"/>
            <a:r>
              <a:rPr lang="en-IN" dirty="0"/>
              <a:t>All possible input instances</a:t>
            </a:r>
          </a:p>
          <a:p>
            <a:pPr marL="457200" indent="-457200">
              <a:buAutoNum type="arabicPeriod"/>
            </a:pPr>
            <a:r>
              <a:rPr lang="en-IN" b="1" dirty="0"/>
              <a:t>Ascertaining the capabilities of computational device</a:t>
            </a:r>
          </a:p>
          <a:p>
            <a:pPr lvl="1"/>
            <a:r>
              <a:rPr lang="en-IN" dirty="0"/>
              <a:t>Random Access Machine</a:t>
            </a:r>
          </a:p>
          <a:p>
            <a:pPr lvl="1"/>
            <a:r>
              <a:rPr lang="en-IN" dirty="0"/>
              <a:t>Sequential Algorithms</a:t>
            </a:r>
          </a:p>
          <a:p>
            <a:pPr lvl="1"/>
            <a:r>
              <a:rPr lang="en-IN" dirty="0"/>
              <a:t>Parallel Algorithms</a:t>
            </a:r>
          </a:p>
          <a:p>
            <a:pPr lvl="1"/>
            <a:r>
              <a:rPr lang="en-IN" dirty="0"/>
              <a:t>Dependent on the problems</a:t>
            </a:r>
          </a:p>
          <a:p>
            <a:pPr marL="457200" lvl="1" indent="0">
              <a:buNone/>
            </a:pPr>
            <a:endParaRPr lang="en-IN" dirty="0"/>
          </a:p>
        </p:txBody>
      </p:sp>
      <p:sp>
        <p:nvSpPr>
          <p:cNvPr id="4" name="Footer Placeholder 3"/>
          <p:cNvSpPr>
            <a:spLocks noGrp="1"/>
          </p:cNvSpPr>
          <p:nvPr>
            <p:ph type="ftr" sz="quarter" idx="11"/>
          </p:nvPr>
        </p:nvSpPr>
        <p:spPr/>
        <p:txBody>
          <a:bodyPr/>
          <a:lstStyle/>
          <a:p>
            <a:r>
              <a:rPr lang="en-US"/>
              <a:t>Slides prepared by: Prof.Nandini K, Assistant Professor, Department of CSE, Dayananda Sagar University, Harohalli, Karnataka.</a:t>
            </a:r>
            <a:endParaRPr lang="en-US" dirty="0"/>
          </a:p>
        </p:txBody>
      </p:sp>
      <p:sp>
        <p:nvSpPr>
          <p:cNvPr id="5" name="Slide Number Placeholder 4"/>
          <p:cNvSpPr>
            <a:spLocks noGrp="1"/>
          </p:cNvSpPr>
          <p:nvPr>
            <p:ph type="sldNum" sz="quarter" idx="12"/>
          </p:nvPr>
        </p:nvSpPr>
        <p:spPr/>
        <p:txBody>
          <a:bodyPr/>
          <a:lstStyle/>
          <a:p>
            <a:fld id="{5731DF9D-C219-B24D-9CD4-0503F6C036DC}" type="slidenum">
              <a:rPr lang="en-US" smtClean="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400" dirty="0"/>
              <a:t>Fundamentals of Algorithmic Problem Solving/ Algorithm Design &amp; Analysis Process</a:t>
            </a:r>
            <a:endParaRPr lang="en-IN" dirty="0"/>
          </a:p>
        </p:txBody>
      </p:sp>
      <p:sp>
        <p:nvSpPr>
          <p:cNvPr id="3" name="Content Placeholder 2"/>
          <p:cNvSpPr>
            <a:spLocks noGrp="1"/>
          </p:cNvSpPr>
          <p:nvPr>
            <p:ph idx="1"/>
          </p:nvPr>
        </p:nvSpPr>
        <p:spPr/>
        <p:txBody>
          <a:bodyPr/>
          <a:lstStyle/>
          <a:p>
            <a:pPr marL="0" indent="0">
              <a:buNone/>
            </a:pPr>
            <a:r>
              <a:rPr lang="en-IN" dirty="0"/>
              <a:t>3. </a:t>
            </a:r>
            <a:r>
              <a:rPr lang="en-IN" b="1" dirty="0"/>
              <a:t>Choosing between exact and approximate problem solving </a:t>
            </a:r>
          </a:p>
          <a:p>
            <a:pPr marL="0" indent="0">
              <a:buNone/>
            </a:pPr>
            <a:r>
              <a:rPr lang="en-IN" dirty="0"/>
              <a:t>		Exact Algorithms</a:t>
            </a:r>
          </a:p>
          <a:p>
            <a:pPr marL="0" indent="0">
              <a:buNone/>
            </a:pPr>
            <a:r>
              <a:rPr lang="en-IN" dirty="0"/>
              <a:t>		Approximation Algorithms</a:t>
            </a:r>
          </a:p>
          <a:p>
            <a:pPr marL="0" indent="0">
              <a:buNone/>
            </a:pPr>
            <a:r>
              <a:rPr lang="en-IN" dirty="0"/>
              <a:t>4. </a:t>
            </a:r>
            <a:r>
              <a:rPr lang="en-IN" b="1" dirty="0"/>
              <a:t>Algorithm design techniques</a:t>
            </a:r>
          </a:p>
          <a:p>
            <a:pPr marL="0" indent="0">
              <a:buNone/>
            </a:pPr>
            <a:r>
              <a:rPr lang="en-IN" b="1" dirty="0"/>
              <a:t>5. Designing an algorithm and Data structures</a:t>
            </a:r>
          </a:p>
          <a:p>
            <a:pPr marL="0" indent="0">
              <a:buNone/>
            </a:pPr>
            <a:r>
              <a:rPr lang="en-IN" dirty="0"/>
              <a:t>                             Algorithm + Data Structures = Programs</a:t>
            </a:r>
          </a:p>
          <a:p>
            <a:pPr marL="0" indent="0">
              <a:buNone/>
            </a:pPr>
            <a:r>
              <a:rPr lang="en-IN" dirty="0"/>
              <a:t>6. </a:t>
            </a:r>
            <a:r>
              <a:rPr lang="en-IN" b="1" dirty="0"/>
              <a:t>Methods of Specifying an algorithm</a:t>
            </a:r>
          </a:p>
          <a:p>
            <a:pPr marL="0" indent="0">
              <a:buNone/>
            </a:pPr>
            <a:r>
              <a:rPr lang="en-IN" dirty="0"/>
              <a:t>		Natural Language</a:t>
            </a:r>
          </a:p>
          <a:p>
            <a:pPr marL="0" indent="0">
              <a:buNone/>
            </a:pPr>
            <a:r>
              <a:rPr lang="en-IN" dirty="0"/>
              <a:t>		Pseudocode</a:t>
            </a:r>
          </a:p>
          <a:p>
            <a:pPr marL="0" indent="0">
              <a:buNone/>
            </a:pPr>
            <a:r>
              <a:rPr lang="en-IN" dirty="0"/>
              <a:t>7. </a:t>
            </a:r>
            <a:r>
              <a:rPr lang="en-IN" b="1" dirty="0"/>
              <a:t>Proving an algorithm’s Correctness</a:t>
            </a:r>
          </a:p>
        </p:txBody>
      </p:sp>
      <p:sp>
        <p:nvSpPr>
          <p:cNvPr id="4" name="Footer Placeholder 3"/>
          <p:cNvSpPr>
            <a:spLocks noGrp="1"/>
          </p:cNvSpPr>
          <p:nvPr>
            <p:ph type="ftr" sz="quarter" idx="11"/>
          </p:nvPr>
        </p:nvSpPr>
        <p:spPr/>
        <p:txBody>
          <a:bodyPr/>
          <a:lstStyle/>
          <a:p>
            <a:r>
              <a:rPr lang="en-US"/>
              <a:t>Slides prepared by: Prof.Nandini K, Assistant Professor, Department of CSE, Dayananda Sagar University, Harohalli, Karnataka.</a:t>
            </a:r>
            <a:endParaRPr lang="en-US" dirty="0"/>
          </a:p>
        </p:txBody>
      </p:sp>
      <p:sp>
        <p:nvSpPr>
          <p:cNvPr id="5" name="Slide Number Placeholder 4"/>
          <p:cNvSpPr>
            <a:spLocks noGrp="1"/>
          </p:cNvSpPr>
          <p:nvPr>
            <p:ph type="sldNum" sz="quarter" idx="12"/>
          </p:nvPr>
        </p:nvSpPr>
        <p:spPr/>
        <p:txBody>
          <a:bodyPr/>
          <a:lstStyle/>
          <a:p>
            <a:fld id="{5731DF9D-C219-B24D-9CD4-0503F6C036DC}" type="slidenum">
              <a:rPr lang="en-US" smtClean="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400" dirty="0"/>
              <a:t>Fundamentals of Algorithmic Problem Solving/ Algorithm Design &amp; Analysis Process</a:t>
            </a:r>
            <a:endParaRPr lang="en-IN" dirty="0"/>
          </a:p>
        </p:txBody>
      </p:sp>
      <p:sp>
        <p:nvSpPr>
          <p:cNvPr id="3" name="Content Placeholder 2"/>
          <p:cNvSpPr>
            <a:spLocks noGrp="1"/>
          </p:cNvSpPr>
          <p:nvPr>
            <p:ph idx="1"/>
          </p:nvPr>
        </p:nvSpPr>
        <p:spPr/>
        <p:txBody>
          <a:bodyPr/>
          <a:lstStyle/>
          <a:p>
            <a:pPr marL="0" indent="0">
              <a:buNone/>
            </a:pPr>
            <a:r>
              <a:rPr lang="en-IN" dirty="0"/>
              <a:t>8. </a:t>
            </a:r>
            <a:r>
              <a:rPr lang="en-IN" b="1" dirty="0"/>
              <a:t>Analysing an algorithm</a:t>
            </a:r>
          </a:p>
          <a:p>
            <a:pPr marL="0" indent="0">
              <a:buNone/>
            </a:pPr>
            <a:r>
              <a:rPr lang="en-IN" dirty="0"/>
              <a:t>	Time Efficiency</a:t>
            </a:r>
          </a:p>
          <a:p>
            <a:pPr marL="0" indent="0">
              <a:buNone/>
            </a:pPr>
            <a:r>
              <a:rPr lang="en-IN" dirty="0"/>
              <a:t>	Space Efficiency</a:t>
            </a:r>
          </a:p>
          <a:p>
            <a:pPr marL="0" indent="0">
              <a:buNone/>
            </a:pPr>
            <a:r>
              <a:rPr lang="en-IN" dirty="0"/>
              <a:t>	Simplicity</a:t>
            </a:r>
          </a:p>
          <a:p>
            <a:pPr marL="0" indent="0">
              <a:buNone/>
            </a:pPr>
            <a:r>
              <a:rPr lang="en-IN" dirty="0"/>
              <a:t>	Generality</a:t>
            </a:r>
          </a:p>
          <a:p>
            <a:pPr marL="0" indent="0">
              <a:buNone/>
            </a:pPr>
            <a:r>
              <a:rPr lang="en-IN" dirty="0"/>
              <a:t>9. </a:t>
            </a:r>
            <a:r>
              <a:rPr lang="en-IN" b="1" dirty="0"/>
              <a:t>Coding an Algorithm</a:t>
            </a:r>
          </a:p>
          <a:p>
            <a:pPr marL="0" indent="0">
              <a:buNone/>
            </a:pPr>
            <a:r>
              <a:rPr lang="en-IN" dirty="0"/>
              <a:t> </a:t>
            </a:r>
          </a:p>
        </p:txBody>
      </p:sp>
      <p:sp>
        <p:nvSpPr>
          <p:cNvPr id="4" name="Footer Placeholder 3"/>
          <p:cNvSpPr>
            <a:spLocks noGrp="1"/>
          </p:cNvSpPr>
          <p:nvPr>
            <p:ph type="ftr" sz="quarter" idx="11"/>
          </p:nvPr>
        </p:nvSpPr>
        <p:spPr/>
        <p:txBody>
          <a:bodyPr/>
          <a:lstStyle/>
          <a:p>
            <a:r>
              <a:rPr lang="en-US"/>
              <a:t>Slides prepared by: Prof.Nandini K, Assistant Professor, Department of CSE, Dayananda Sagar University, Harohalli, Karnataka.</a:t>
            </a:r>
            <a:endParaRPr lang="en-US" dirty="0"/>
          </a:p>
        </p:txBody>
      </p:sp>
      <p:sp>
        <p:nvSpPr>
          <p:cNvPr id="5" name="Slide Number Placeholder 4"/>
          <p:cNvSpPr>
            <a:spLocks noGrp="1"/>
          </p:cNvSpPr>
          <p:nvPr>
            <p:ph type="sldNum" sz="quarter" idx="12"/>
          </p:nvPr>
        </p:nvSpPr>
        <p:spPr/>
        <p:txBody>
          <a:bodyPr/>
          <a:lstStyle/>
          <a:p>
            <a:fld id="{5731DF9D-C219-B24D-9CD4-0503F6C036DC}" type="slidenum">
              <a:rPr lang="en-US" smtClean="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7363" y="124981"/>
            <a:ext cx="10180899" cy="780184"/>
          </a:xfrm>
        </p:spPr>
        <p:txBody>
          <a:bodyPr/>
          <a:lstStyle/>
          <a:p>
            <a:pPr algn="ctr"/>
            <a:r>
              <a:rPr lang="en-US" dirty="0">
                <a:latin typeface="Times New Roman" panose="02020603050405020304"/>
                <a:ea typeface="Times New Roman" panose="02020603050405020304"/>
                <a:cs typeface="Times New Roman" panose="02020603050405020304"/>
                <a:sym typeface="Times New Roman" panose="02020603050405020304"/>
              </a:rPr>
              <a:t>ALGORITHM ANALYSIS</a:t>
            </a:r>
            <a:endParaRPr lang="en-US" dirty="0"/>
          </a:p>
        </p:txBody>
      </p:sp>
      <p:sp>
        <p:nvSpPr>
          <p:cNvPr id="3" name="Content Placeholder 2"/>
          <p:cNvSpPr>
            <a:spLocks noGrp="1"/>
          </p:cNvSpPr>
          <p:nvPr>
            <p:ph idx="1"/>
          </p:nvPr>
        </p:nvSpPr>
        <p:spPr>
          <a:xfrm>
            <a:off x="443344" y="905165"/>
            <a:ext cx="11388437" cy="5523344"/>
          </a:xfrm>
        </p:spPr>
        <p:txBody>
          <a:bodyPr>
            <a:normAutofit fontScale="92500" lnSpcReduction="10000"/>
          </a:bodyPr>
          <a:lstStyle/>
          <a:p>
            <a:pPr algn="just">
              <a:lnSpc>
                <a:spcPct val="150000"/>
              </a:lnSpc>
            </a:pPr>
            <a:r>
              <a:rPr lang="en-US" sz="2800" dirty="0">
                <a:solidFill>
                  <a:srgbClr val="FF0000"/>
                </a:solidFill>
                <a:latin typeface="Times New Roman" panose="02020603050405020304"/>
                <a:ea typeface="Times New Roman" panose="02020603050405020304"/>
                <a:cs typeface="Times New Roman" panose="02020603050405020304"/>
                <a:sym typeface="Times New Roman" panose="02020603050405020304"/>
              </a:rPr>
              <a:t>Algorithm analysis </a:t>
            </a:r>
            <a:r>
              <a:rPr lang="en-US" sz="2800" dirty="0">
                <a:latin typeface="Times New Roman" panose="02020603050405020304"/>
                <a:ea typeface="Times New Roman" panose="02020603050405020304"/>
                <a:cs typeface="Times New Roman" panose="02020603050405020304"/>
                <a:sym typeface="Times New Roman" panose="02020603050405020304"/>
              </a:rPr>
              <a:t>is a study that provides </a:t>
            </a:r>
            <a:r>
              <a:rPr lang="en-US" sz="2800" dirty="0">
                <a:solidFill>
                  <a:srgbClr val="FF0000"/>
                </a:solidFill>
                <a:latin typeface="Times New Roman" panose="02020603050405020304"/>
                <a:ea typeface="Times New Roman" panose="02020603050405020304"/>
                <a:cs typeface="Times New Roman" panose="02020603050405020304"/>
                <a:sym typeface="Times New Roman" panose="02020603050405020304"/>
              </a:rPr>
              <a:t>theoretical estimation </a:t>
            </a:r>
            <a:r>
              <a:rPr lang="en-US" sz="2800" dirty="0">
                <a:latin typeface="Times New Roman" panose="02020603050405020304"/>
                <a:ea typeface="Times New Roman" panose="02020603050405020304"/>
                <a:cs typeface="Times New Roman" panose="02020603050405020304"/>
                <a:sym typeface="Times New Roman" panose="02020603050405020304"/>
              </a:rPr>
              <a:t>of the resources required by an algorithm to solve a </a:t>
            </a:r>
            <a:r>
              <a:rPr lang="en-US" sz="2800" dirty="0">
                <a:solidFill>
                  <a:srgbClr val="FF0000"/>
                </a:solidFill>
                <a:latin typeface="Times New Roman" panose="02020603050405020304"/>
                <a:ea typeface="Times New Roman" panose="02020603050405020304"/>
                <a:cs typeface="Times New Roman" panose="02020603050405020304"/>
                <a:sym typeface="Times New Roman" panose="02020603050405020304"/>
              </a:rPr>
              <a:t>specific</a:t>
            </a:r>
            <a:r>
              <a:rPr lang="en-US" sz="2800" dirty="0">
                <a:latin typeface="Times New Roman" panose="02020603050405020304"/>
                <a:ea typeface="Times New Roman" panose="02020603050405020304"/>
                <a:cs typeface="Times New Roman" panose="02020603050405020304"/>
                <a:sym typeface="Times New Roman" panose="02020603050405020304"/>
              </a:rPr>
              <a:t> computational problem.</a:t>
            </a:r>
          </a:p>
          <a:p>
            <a:pPr lvl="0" algn="just">
              <a:lnSpc>
                <a:spcPct val="150000"/>
              </a:lnSpc>
            </a:pPr>
            <a:r>
              <a:rPr lang="en-US" sz="2800" dirty="0">
                <a:solidFill>
                  <a:srgbClr val="FF0000"/>
                </a:solidFill>
                <a:latin typeface="Times New Roman" panose="02020603050405020304"/>
                <a:ea typeface="Times New Roman" panose="02020603050405020304"/>
                <a:cs typeface="Times New Roman" panose="02020603050405020304"/>
                <a:sym typeface="Times New Roman" panose="02020603050405020304"/>
              </a:rPr>
              <a:t>Efficiency</a:t>
            </a:r>
            <a:r>
              <a:rPr lang="en-US" sz="2800" dirty="0">
                <a:latin typeface="Times New Roman" panose="02020603050405020304"/>
                <a:ea typeface="Times New Roman" panose="02020603050405020304"/>
                <a:cs typeface="Times New Roman" panose="02020603050405020304"/>
                <a:sym typeface="Times New Roman" panose="02020603050405020304"/>
              </a:rPr>
              <a:t> of the algorithm is measured in terms of </a:t>
            </a:r>
            <a:r>
              <a:rPr lang="en-US" sz="2800" dirty="0">
                <a:solidFill>
                  <a:srgbClr val="FF0000"/>
                </a:solidFill>
                <a:latin typeface="Times New Roman" panose="02020603050405020304"/>
                <a:ea typeface="Times New Roman" panose="02020603050405020304"/>
                <a:cs typeface="Times New Roman" panose="02020603050405020304"/>
                <a:sym typeface="Times New Roman" panose="02020603050405020304"/>
              </a:rPr>
              <a:t>time</a:t>
            </a:r>
            <a:r>
              <a:rPr lang="en-US" sz="2800" dirty="0">
                <a:latin typeface="Times New Roman" panose="02020603050405020304"/>
                <a:ea typeface="Times New Roman" panose="02020603050405020304"/>
                <a:cs typeface="Times New Roman" panose="02020603050405020304"/>
                <a:sym typeface="Times New Roman" panose="02020603050405020304"/>
              </a:rPr>
              <a:t> and </a:t>
            </a:r>
            <a:r>
              <a:rPr lang="en-US" sz="2800" dirty="0">
                <a:solidFill>
                  <a:srgbClr val="FF0000"/>
                </a:solidFill>
                <a:latin typeface="Times New Roman" panose="02020603050405020304"/>
                <a:ea typeface="Times New Roman" panose="02020603050405020304"/>
                <a:cs typeface="Times New Roman" panose="02020603050405020304"/>
                <a:sym typeface="Times New Roman" panose="02020603050405020304"/>
              </a:rPr>
              <a:t>space</a:t>
            </a:r>
            <a:r>
              <a:rPr lang="en-US" sz="2800" dirty="0">
                <a:latin typeface="Times New Roman" panose="02020603050405020304"/>
                <a:ea typeface="Times New Roman" panose="02020603050405020304"/>
                <a:cs typeface="Times New Roman" panose="02020603050405020304"/>
                <a:sym typeface="Times New Roman" panose="02020603050405020304"/>
              </a:rPr>
              <a:t> complexity.</a:t>
            </a:r>
            <a:endParaRPr lang="en-US" sz="2800" dirty="0"/>
          </a:p>
          <a:p>
            <a:pPr algn="just">
              <a:lnSpc>
                <a:spcPct val="150000"/>
              </a:lnSpc>
            </a:pPr>
            <a:r>
              <a:rPr lang="en-US" sz="2800" dirty="0">
                <a:latin typeface="Times New Roman" panose="02020603050405020304"/>
                <a:ea typeface="Times New Roman" panose="02020603050405020304"/>
                <a:cs typeface="Times New Roman" panose="02020603050405020304"/>
                <a:sym typeface="Times New Roman" panose="02020603050405020304"/>
              </a:rPr>
              <a:t>Algorithm analysis does not give </a:t>
            </a:r>
            <a:r>
              <a:rPr lang="en-US" sz="2800" dirty="0">
                <a:solidFill>
                  <a:srgbClr val="FF0000"/>
                </a:solidFill>
                <a:latin typeface="Times New Roman" panose="02020603050405020304"/>
                <a:ea typeface="Times New Roman" panose="02020603050405020304"/>
                <a:cs typeface="Times New Roman" panose="02020603050405020304"/>
                <a:sym typeface="Times New Roman" panose="02020603050405020304"/>
              </a:rPr>
              <a:t>exact values</a:t>
            </a:r>
            <a:r>
              <a:rPr lang="en-US" sz="2800" dirty="0">
                <a:latin typeface="Times New Roman" panose="02020603050405020304"/>
                <a:ea typeface="Times New Roman" panose="02020603050405020304"/>
                <a:cs typeface="Times New Roman" panose="02020603050405020304"/>
                <a:sym typeface="Times New Roman" panose="02020603050405020304"/>
              </a:rPr>
              <a:t> for time and space complexity , Algorithm analysis </a:t>
            </a:r>
            <a:r>
              <a:rPr lang="en-US" sz="2800" dirty="0">
                <a:solidFill>
                  <a:srgbClr val="FF0000"/>
                </a:solidFill>
                <a:latin typeface="Times New Roman" panose="02020603050405020304"/>
                <a:ea typeface="Times New Roman" panose="02020603050405020304"/>
                <a:cs typeface="Times New Roman" panose="02020603050405020304"/>
                <a:sym typeface="Times New Roman" panose="02020603050405020304"/>
              </a:rPr>
              <a:t>does not give exact values</a:t>
            </a:r>
            <a:r>
              <a:rPr lang="en-US" sz="2800" dirty="0">
                <a:latin typeface="Times New Roman" panose="02020603050405020304"/>
                <a:ea typeface="Times New Roman" panose="02020603050405020304"/>
                <a:cs typeface="Times New Roman" panose="02020603050405020304"/>
                <a:sym typeface="Times New Roman" panose="02020603050405020304"/>
              </a:rPr>
              <a:t> for time and space complexity ,however it gives </a:t>
            </a:r>
            <a:r>
              <a:rPr lang="en-US" sz="2800" dirty="0">
                <a:solidFill>
                  <a:srgbClr val="FF0000"/>
                </a:solidFill>
                <a:latin typeface="Times New Roman" panose="02020603050405020304"/>
                <a:ea typeface="Times New Roman" panose="02020603050405020304"/>
                <a:cs typeface="Times New Roman" panose="02020603050405020304"/>
                <a:sym typeface="Times New Roman" panose="02020603050405020304"/>
              </a:rPr>
              <a:t>approximate estimate </a:t>
            </a:r>
            <a:r>
              <a:rPr lang="en-US" sz="2800" dirty="0">
                <a:latin typeface="Times New Roman" panose="02020603050405020304"/>
                <a:ea typeface="Times New Roman" panose="02020603050405020304"/>
                <a:cs typeface="Times New Roman" panose="02020603050405020304"/>
                <a:sym typeface="Times New Roman" panose="02020603050405020304"/>
              </a:rPr>
              <a:t>which can be used to study the behavior of algorithms.</a:t>
            </a:r>
          </a:p>
          <a:p>
            <a:pPr lvl="0" algn="just">
              <a:lnSpc>
                <a:spcPct val="150000"/>
              </a:lnSpc>
            </a:pPr>
            <a:r>
              <a:rPr lang="en-US" sz="2800" dirty="0">
                <a:latin typeface="Times New Roman" panose="02020603050405020304"/>
                <a:ea typeface="Times New Roman" panose="02020603050405020304"/>
                <a:cs typeface="Times New Roman" panose="02020603050405020304"/>
                <a:sym typeface="Times New Roman" panose="02020603050405020304"/>
              </a:rPr>
              <a:t>however it gives </a:t>
            </a:r>
            <a:r>
              <a:rPr lang="en-US" sz="2800" dirty="0">
                <a:solidFill>
                  <a:srgbClr val="FF0000"/>
                </a:solidFill>
                <a:latin typeface="Times New Roman" panose="02020603050405020304"/>
                <a:ea typeface="Times New Roman" panose="02020603050405020304"/>
                <a:cs typeface="Times New Roman" panose="02020603050405020304"/>
                <a:sym typeface="Times New Roman" panose="02020603050405020304"/>
              </a:rPr>
              <a:t>approximate estimate</a:t>
            </a:r>
            <a:r>
              <a:rPr lang="en-US" sz="2800" dirty="0">
                <a:latin typeface="Times New Roman" panose="02020603050405020304"/>
                <a:ea typeface="Times New Roman" panose="02020603050405020304"/>
                <a:cs typeface="Times New Roman" panose="02020603050405020304"/>
                <a:sym typeface="Times New Roman" panose="02020603050405020304"/>
              </a:rPr>
              <a:t> which can be used to study the </a:t>
            </a:r>
            <a:r>
              <a:rPr lang="en-US" sz="2800" dirty="0">
                <a:solidFill>
                  <a:srgbClr val="FF0000"/>
                </a:solidFill>
                <a:latin typeface="Times New Roman" panose="02020603050405020304"/>
                <a:ea typeface="Times New Roman" panose="02020603050405020304"/>
                <a:cs typeface="Times New Roman" panose="02020603050405020304"/>
                <a:sym typeface="Times New Roman" panose="02020603050405020304"/>
              </a:rPr>
              <a:t>behavior</a:t>
            </a:r>
            <a:r>
              <a:rPr lang="en-US" sz="2800" dirty="0">
                <a:latin typeface="Times New Roman" panose="02020603050405020304"/>
                <a:ea typeface="Times New Roman" panose="02020603050405020304"/>
                <a:cs typeface="Times New Roman" panose="02020603050405020304"/>
                <a:sym typeface="Times New Roman" panose="02020603050405020304"/>
              </a:rPr>
              <a:t> of algorithms.</a:t>
            </a:r>
          </a:p>
          <a:p>
            <a:endParaRPr lang="en-US" dirty="0"/>
          </a:p>
        </p:txBody>
      </p:sp>
      <p:sp>
        <p:nvSpPr>
          <p:cNvPr id="4" name="Footer Placeholder 3"/>
          <p:cNvSpPr>
            <a:spLocks noGrp="1"/>
          </p:cNvSpPr>
          <p:nvPr>
            <p:ph type="ftr" sz="quarter" idx="11"/>
          </p:nvPr>
        </p:nvSpPr>
        <p:spPr/>
        <p:txBody>
          <a:bodyPr/>
          <a:lstStyle/>
          <a:p>
            <a:r>
              <a:rPr lang="en-US"/>
              <a:t>Slides prepared by: Prof.Nandini K, Assistant Professor, Department of CSE, Dayananda Sagar University, Harohalli, Karnataka.</a:t>
            </a:r>
            <a:endParaRPr lang="en-US" dirty="0"/>
          </a:p>
        </p:txBody>
      </p:sp>
      <p:sp>
        <p:nvSpPr>
          <p:cNvPr id="5" name="Slide Number Placeholder 4"/>
          <p:cNvSpPr>
            <a:spLocks noGrp="1"/>
          </p:cNvSpPr>
          <p:nvPr>
            <p:ph type="sldNum" sz="quarter" idx="12"/>
          </p:nvPr>
        </p:nvSpPr>
        <p:spPr/>
        <p:txBody>
          <a:bodyPr/>
          <a:lstStyle/>
          <a:p>
            <a:fld id="{5731DF9D-C219-B24D-9CD4-0503F6C036DC}" type="slidenum">
              <a:rPr lang="en-US" smtClean="0"/>
              <a:t>16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pPr algn="ctr"/>
            <a:r>
              <a:rPr lang="en-IN" dirty="0"/>
              <a:t>Analysis Framework</a:t>
            </a:r>
          </a:p>
        </p:txBody>
      </p:sp>
      <p:sp>
        <p:nvSpPr>
          <p:cNvPr id="2" name="Content Placeholder 1">
            <a:extLst>
              <a:ext uri="{FF2B5EF4-FFF2-40B4-BE49-F238E27FC236}">
                <a16:creationId xmlns:a16="http://schemas.microsoft.com/office/drawing/2014/main" id="{B0CD70A6-7976-4290-1D75-77B40BF57791}"/>
              </a:ext>
            </a:extLst>
          </p:cNvPr>
          <p:cNvSpPr>
            <a:spLocks noGrp="1"/>
          </p:cNvSpPr>
          <p:nvPr>
            <p:ph idx="1"/>
          </p:nvPr>
        </p:nvSpPr>
        <p:spPr/>
        <p:txBody>
          <a:bodyPr/>
          <a:lstStyle/>
          <a:p>
            <a:pPr>
              <a:lnSpc>
                <a:spcPct val="150000"/>
              </a:lnSpc>
            </a:pPr>
            <a:r>
              <a:rPr lang="en-IN" dirty="0"/>
              <a:t>Need for Analysis</a:t>
            </a:r>
          </a:p>
          <a:p>
            <a:pPr>
              <a:lnSpc>
                <a:spcPct val="150000"/>
              </a:lnSpc>
            </a:pPr>
            <a:r>
              <a:rPr lang="en-IN" dirty="0"/>
              <a:t>Criteria to analyse an algorithm</a:t>
            </a:r>
          </a:p>
          <a:p>
            <a:pPr>
              <a:lnSpc>
                <a:spcPct val="150000"/>
              </a:lnSpc>
            </a:pPr>
            <a:r>
              <a:rPr lang="en-IN" dirty="0"/>
              <a:t>Time Complexity</a:t>
            </a:r>
          </a:p>
          <a:p>
            <a:pPr>
              <a:lnSpc>
                <a:spcPct val="150000"/>
              </a:lnSpc>
            </a:pPr>
            <a:r>
              <a:rPr lang="en-IN" dirty="0"/>
              <a:t>Space Complexity</a:t>
            </a:r>
          </a:p>
          <a:p>
            <a:pPr>
              <a:lnSpc>
                <a:spcPct val="150000"/>
              </a:lnSpc>
            </a:pPr>
            <a:r>
              <a:rPr lang="en-IN" dirty="0"/>
              <a:t>Orders of Growth</a:t>
            </a:r>
          </a:p>
          <a:p>
            <a:pPr>
              <a:lnSpc>
                <a:spcPct val="150000"/>
              </a:lnSpc>
            </a:pPr>
            <a:r>
              <a:rPr lang="en-IN" dirty="0"/>
              <a:t>Worst-case, Best-case and Average-case analysis</a:t>
            </a:r>
          </a:p>
          <a:p>
            <a:endParaRPr lang="en-IN" dirty="0"/>
          </a:p>
        </p:txBody>
      </p:sp>
      <p:sp>
        <p:nvSpPr>
          <p:cNvPr id="4" name="Footer Placeholder 3"/>
          <p:cNvSpPr>
            <a:spLocks noGrp="1"/>
          </p:cNvSpPr>
          <p:nvPr>
            <p:ph type="ftr" sz="quarter" idx="11"/>
          </p:nvPr>
        </p:nvSpPr>
        <p:spPr/>
        <p:txBody>
          <a:bodyPr/>
          <a:lstStyle/>
          <a:p>
            <a:r>
              <a:rPr lang="en-US"/>
              <a:t>Slides prepared by: Prof.Nandini K, Assistant Professor, Department of CSE, Dayananda Sagar University, Harohalli, Karnataka.</a:t>
            </a:r>
            <a:endParaRPr lang="en-US" dirty="0"/>
          </a:p>
        </p:txBody>
      </p:sp>
      <p:sp>
        <p:nvSpPr>
          <p:cNvPr id="5" name="Slide Number Placeholder 4"/>
          <p:cNvSpPr>
            <a:spLocks noGrp="1"/>
          </p:cNvSpPr>
          <p:nvPr>
            <p:ph type="sldNum" sz="quarter" idx="12"/>
          </p:nvPr>
        </p:nvSpPr>
        <p:spPr/>
        <p:txBody>
          <a:bodyPr/>
          <a:lstStyle/>
          <a:p>
            <a:fld id="{5731DF9D-C219-B24D-9CD4-0503F6C036DC}" type="slidenum">
              <a:rPr lang="en-US" smtClean="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8890" y="121157"/>
            <a:ext cx="10180899" cy="724766"/>
          </a:xfrm>
        </p:spPr>
        <p:txBody>
          <a:bodyPr>
            <a:normAutofit/>
          </a:bodyPr>
          <a:lstStyle/>
          <a:p>
            <a:pPr algn="ctr"/>
            <a:r>
              <a:rPr lang="en-US" sz="4000" dirty="0">
                <a:latin typeface="Times New Roman" panose="02020603050405020304"/>
                <a:ea typeface="Times New Roman" panose="02020603050405020304"/>
                <a:cs typeface="Times New Roman" panose="02020603050405020304"/>
                <a:sym typeface="Times New Roman" panose="02020603050405020304"/>
              </a:rPr>
              <a:t>NEED FOR ANALYSIS</a:t>
            </a:r>
            <a:endParaRPr lang="en-US" sz="4000" dirty="0"/>
          </a:p>
        </p:txBody>
      </p:sp>
      <p:sp>
        <p:nvSpPr>
          <p:cNvPr id="3" name="Content Placeholder 2"/>
          <p:cNvSpPr>
            <a:spLocks noGrp="1"/>
          </p:cNvSpPr>
          <p:nvPr>
            <p:ph idx="1"/>
          </p:nvPr>
        </p:nvSpPr>
        <p:spPr>
          <a:xfrm>
            <a:off x="838200" y="1274618"/>
            <a:ext cx="11141364" cy="4902345"/>
          </a:xfrm>
        </p:spPr>
        <p:txBody>
          <a:bodyPr/>
          <a:lstStyle/>
          <a:p>
            <a:pPr>
              <a:lnSpc>
                <a:spcPct val="150000"/>
              </a:lnSpc>
            </a:pPr>
            <a:r>
              <a:rPr lang="en-US" dirty="0">
                <a:latin typeface="Times New Roman" panose="02020603050405020304"/>
                <a:ea typeface="Times New Roman" panose="02020603050405020304"/>
                <a:cs typeface="Times New Roman" panose="02020603050405020304"/>
                <a:sym typeface="Times New Roman" panose="02020603050405020304"/>
              </a:rPr>
              <a:t>Software or any application especially those involving </a:t>
            </a:r>
            <a:r>
              <a:rPr lang="en-US" dirty="0">
                <a:solidFill>
                  <a:srgbClr val="FF0000"/>
                </a:solidFill>
                <a:latin typeface="Times New Roman" panose="02020603050405020304"/>
                <a:ea typeface="Times New Roman" panose="02020603050405020304"/>
                <a:cs typeface="Times New Roman" panose="02020603050405020304"/>
                <a:sym typeface="Times New Roman" panose="02020603050405020304"/>
              </a:rPr>
              <a:t>large dataset </a:t>
            </a:r>
            <a:r>
              <a:rPr lang="en-US" dirty="0">
                <a:latin typeface="Times New Roman" panose="02020603050405020304"/>
                <a:ea typeface="Times New Roman" panose="02020603050405020304"/>
                <a:cs typeface="Times New Roman" panose="02020603050405020304"/>
                <a:sym typeface="Times New Roman" panose="02020603050405020304"/>
              </a:rPr>
              <a:t>cannot be developed on </a:t>
            </a:r>
            <a:r>
              <a:rPr lang="en-US" u="sng" dirty="0">
                <a:solidFill>
                  <a:srgbClr val="FF0000"/>
                </a:solidFill>
                <a:latin typeface="Times New Roman" panose="02020603050405020304"/>
                <a:ea typeface="Times New Roman" panose="02020603050405020304"/>
                <a:cs typeface="Times New Roman" panose="02020603050405020304"/>
                <a:sym typeface="Times New Roman" panose="02020603050405020304"/>
              </a:rPr>
              <a:t>trail and error basis</a:t>
            </a:r>
            <a:r>
              <a:rPr lang="en-US" dirty="0">
                <a:solidFill>
                  <a:srgbClr val="FF0000"/>
                </a:solidFill>
                <a:latin typeface="Times New Roman" panose="02020603050405020304"/>
                <a:ea typeface="Times New Roman" panose="02020603050405020304"/>
                <a:cs typeface="Times New Roman" panose="02020603050405020304"/>
                <a:sym typeface="Times New Roman" panose="02020603050405020304"/>
              </a:rPr>
              <a:t>.</a:t>
            </a:r>
          </a:p>
          <a:p>
            <a:pPr lvl="0">
              <a:lnSpc>
                <a:spcPct val="150000"/>
              </a:lnSpc>
            </a:pPr>
            <a:r>
              <a:rPr lang="en-US" dirty="0">
                <a:latin typeface="Times New Roman" panose="02020603050405020304"/>
                <a:ea typeface="Times New Roman" panose="02020603050405020304"/>
                <a:cs typeface="Times New Roman" panose="02020603050405020304"/>
                <a:sym typeface="Times New Roman" panose="02020603050405020304"/>
              </a:rPr>
              <a:t>Programmers cannot </a:t>
            </a:r>
            <a:r>
              <a:rPr lang="en-US" dirty="0">
                <a:solidFill>
                  <a:srgbClr val="FF0000"/>
                </a:solidFill>
                <a:latin typeface="Times New Roman" panose="02020603050405020304"/>
                <a:ea typeface="Times New Roman" panose="02020603050405020304"/>
                <a:cs typeface="Times New Roman" panose="02020603050405020304"/>
                <a:sym typeface="Times New Roman" panose="02020603050405020304"/>
              </a:rPr>
              <a:t>waste time and resources</a:t>
            </a:r>
            <a:r>
              <a:rPr lang="en-US" dirty="0">
                <a:latin typeface="Times New Roman" panose="02020603050405020304"/>
                <a:ea typeface="Times New Roman" panose="02020603050405020304"/>
                <a:cs typeface="Times New Roman" panose="02020603050405020304"/>
                <a:sym typeface="Times New Roman" panose="02020603050405020304"/>
              </a:rPr>
              <a:t> in trying out all possible available </a:t>
            </a:r>
            <a:r>
              <a:rPr lang="en-US" dirty="0">
                <a:solidFill>
                  <a:srgbClr val="FF0000"/>
                </a:solidFill>
                <a:latin typeface="Times New Roman" panose="02020603050405020304"/>
                <a:ea typeface="Times New Roman" panose="02020603050405020304"/>
                <a:cs typeface="Times New Roman" panose="02020603050405020304"/>
                <a:sym typeface="Times New Roman" panose="02020603050405020304"/>
              </a:rPr>
              <a:t>alternatives</a:t>
            </a:r>
            <a:r>
              <a:rPr lang="en-US" dirty="0">
                <a:latin typeface="Times New Roman" panose="02020603050405020304"/>
                <a:ea typeface="Times New Roman" panose="02020603050405020304"/>
                <a:cs typeface="Times New Roman" panose="02020603050405020304"/>
                <a:sym typeface="Times New Roman" panose="02020603050405020304"/>
              </a:rPr>
              <a:t> to solve the problem at hand. </a:t>
            </a:r>
          </a:p>
          <a:p>
            <a:pPr>
              <a:lnSpc>
                <a:spcPct val="150000"/>
              </a:lnSpc>
            </a:pPr>
            <a:r>
              <a:rPr lang="en-US" dirty="0">
                <a:latin typeface="Times New Roman" panose="02020603050405020304"/>
                <a:ea typeface="Times New Roman" panose="02020603050405020304"/>
                <a:cs typeface="Times New Roman" panose="02020603050405020304"/>
                <a:sym typeface="Times New Roman" panose="02020603050405020304"/>
              </a:rPr>
              <a:t>Generally there are </a:t>
            </a:r>
            <a:r>
              <a:rPr lang="en-US" dirty="0">
                <a:solidFill>
                  <a:srgbClr val="FF0000"/>
                </a:solidFill>
                <a:latin typeface="Times New Roman" panose="02020603050405020304"/>
                <a:ea typeface="Times New Roman" panose="02020603050405020304"/>
                <a:cs typeface="Times New Roman" panose="02020603050405020304"/>
                <a:sym typeface="Times New Roman" panose="02020603050405020304"/>
              </a:rPr>
              <a:t>multiple</a:t>
            </a:r>
            <a:r>
              <a:rPr lang="en-US" dirty="0">
                <a:latin typeface="Times New Roman" panose="02020603050405020304"/>
                <a:ea typeface="Times New Roman" panose="02020603050405020304"/>
                <a:cs typeface="Times New Roman" panose="02020603050405020304"/>
                <a:sym typeface="Times New Roman" panose="02020603050405020304"/>
              </a:rPr>
              <a:t> approaches/methods/algorithms to solve a problem . Algorithm analysis filters out the </a:t>
            </a:r>
            <a:r>
              <a:rPr lang="en-US" dirty="0">
                <a:solidFill>
                  <a:srgbClr val="FF0000"/>
                </a:solidFill>
                <a:latin typeface="Times New Roman" panose="02020603050405020304"/>
                <a:ea typeface="Times New Roman" panose="02020603050405020304"/>
                <a:cs typeface="Times New Roman" panose="02020603050405020304"/>
                <a:sym typeface="Times New Roman" panose="02020603050405020304"/>
              </a:rPr>
              <a:t>best/optimal approach </a:t>
            </a:r>
            <a:r>
              <a:rPr lang="en-US" dirty="0">
                <a:latin typeface="Times New Roman" panose="02020603050405020304"/>
                <a:ea typeface="Times New Roman" panose="02020603050405020304"/>
                <a:cs typeface="Times New Roman" panose="02020603050405020304"/>
                <a:sym typeface="Times New Roman" panose="02020603050405020304"/>
              </a:rPr>
              <a:t>of all the available approaches.</a:t>
            </a:r>
          </a:p>
          <a:p>
            <a:pPr lvl="0">
              <a:lnSpc>
                <a:spcPct val="150000"/>
              </a:lnSpc>
            </a:pPr>
            <a:r>
              <a:rPr lang="en-US" dirty="0">
                <a:latin typeface="Times New Roman" panose="02020603050405020304"/>
                <a:ea typeface="Times New Roman" panose="02020603050405020304"/>
                <a:cs typeface="Times New Roman" panose="02020603050405020304"/>
                <a:sym typeface="Times New Roman" panose="02020603050405020304"/>
              </a:rPr>
              <a:t>Hence care must be taken at </a:t>
            </a:r>
            <a:r>
              <a:rPr lang="en-US" dirty="0">
                <a:solidFill>
                  <a:srgbClr val="FF0000"/>
                </a:solidFill>
                <a:latin typeface="Times New Roman" panose="02020603050405020304"/>
                <a:ea typeface="Times New Roman" panose="02020603050405020304"/>
                <a:cs typeface="Times New Roman" panose="02020603050405020304"/>
                <a:sym typeface="Times New Roman" panose="02020603050405020304"/>
              </a:rPr>
              <a:t>design phase </a:t>
            </a:r>
            <a:r>
              <a:rPr lang="en-US" dirty="0">
                <a:latin typeface="Times New Roman" panose="02020603050405020304"/>
                <a:ea typeface="Times New Roman" panose="02020603050405020304"/>
                <a:cs typeface="Times New Roman" panose="02020603050405020304"/>
                <a:sym typeface="Times New Roman" panose="02020603050405020304"/>
              </a:rPr>
              <a:t>in analyzing and filtering out the </a:t>
            </a:r>
            <a:r>
              <a:rPr lang="en-US" dirty="0">
                <a:solidFill>
                  <a:srgbClr val="FF0000"/>
                </a:solidFill>
                <a:latin typeface="Times New Roman" panose="02020603050405020304"/>
                <a:ea typeface="Times New Roman" panose="02020603050405020304"/>
                <a:cs typeface="Times New Roman" panose="02020603050405020304"/>
                <a:sym typeface="Times New Roman" panose="02020603050405020304"/>
              </a:rPr>
              <a:t>best suitable</a:t>
            </a:r>
            <a:r>
              <a:rPr lang="en-US" dirty="0">
                <a:latin typeface="Times New Roman" panose="02020603050405020304"/>
                <a:ea typeface="Times New Roman" panose="02020603050405020304"/>
                <a:cs typeface="Times New Roman" panose="02020603050405020304"/>
                <a:sym typeface="Times New Roman" panose="02020603050405020304"/>
              </a:rPr>
              <a:t> algorithm that solves the problem at  hand.</a:t>
            </a:r>
            <a:endParaRPr lang="en-US" dirty="0"/>
          </a:p>
        </p:txBody>
      </p:sp>
      <p:sp>
        <p:nvSpPr>
          <p:cNvPr id="4" name="Footer Placeholder 3"/>
          <p:cNvSpPr>
            <a:spLocks noGrp="1"/>
          </p:cNvSpPr>
          <p:nvPr>
            <p:ph type="ftr" sz="quarter" idx="11"/>
          </p:nvPr>
        </p:nvSpPr>
        <p:spPr/>
        <p:txBody>
          <a:bodyPr/>
          <a:lstStyle/>
          <a:p>
            <a:r>
              <a:rPr lang="en-US"/>
              <a:t>Slides prepared by: Prof.Nandini K, Assistant Professor, Department of CSE, Dayananda Sagar University, Harohalli, Karnataka.</a:t>
            </a:r>
            <a:endParaRPr lang="en-US" dirty="0"/>
          </a:p>
        </p:txBody>
      </p:sp>
      <p:sp>
        <p:nvSpPr>
          <p:cNvPr id="5" name="Slide Number Placeholder 4"/>
          <p:cNvSpPr>
            <a:spLocks noGrp="1"/>
          </p:cNvSpPr>
          <p:nvPr>
            <p:ph type="sldNum" sz="quarter" idx="12"/>
          </p:nvPr>
        </p:nvSpPr>
        <p:spPr/>
        <p:txBody>
          <a:bodyPr/>
          <a:lstStyle/>
          <a:p>
            <a:fld id="{5731DF9D-C219-B24D-9CD4-0503F6C036DC}" type="slidenum">
              <a:rPr lang="en-US" smtClean="0"/>
              <a:t>18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65125"/>
            <a:ext cx="10180899" cy="807893"/>
          </a:xfrm>
        </p:spPr>
        <p:txBody>
          <a:bodyPr>
            <a:normAutofit/>
          </a:bodyPr>
          <a:lstStyle/>
          <a:p>
            <a:r>
              <a:rPr lang="en-US" sz="3400" dirty="0">
                <a:latin typeface="Times New Roman" panose="02020603050405020304"/>
                <a:ea typeface="Times New Roman" panose="02020603050405020304"/>
                <a:cs typeface="Times New Roman" panose="02020603050405020304"/>
                <a:sym typeface="Times New Roman" panose="02020603050405020304"/>
              </a:rPr>
              <a:t>CRITERIA TO ANALYZE AN ALGORITHM</a:t>
            </a:r>
            <a:endParaRPr lang="en-US" sz="3400" dirty="0"/>
          </a:p>
        </p:txBody>
      </p:sp>
      <p:sp>
        <p:nvSpPr>
          <p:cNvPr id="3" name="Content Placeholder 2"/>
          <p:cNvSpPr>
            <a:spLocks noGrp="1"/>
          </p:cNvSpPr>
          <p:nvPr>
            <p:ph idx="1"/>
          </p:nvPr>
        </p:nvSpPr>
        <p:spPr>
          <a:xfrm>
            <a:off x="838200" y="1634836"/>
            <a:ext cx="11196782" cy="4542127"/>
          </a:xfrm>
        </p:spPr>
        <p:txBody>
          <a:bodyPr/>
          <a:lstStyle/>
          <a:p>
            <a:pPr marL="0" indent="0" algn="just">
              <a:lnSpc>
                <a:spcPct val="150000"/>
              </a:lnSpc>
              <a:spcBef>
                <a:spcPts val="0"/>
              </a:spcBef>
              <a:buClr>
                <a:schemeClr val="dk1"/>
              </a:buClr>
              <a:buSzPts val="2100"/>
              <a:buNone/>
            </a:pPr>
            <a:r>
              <a:rPr lang="en-US" dirty="0">
                <a:latin typeface="Times New Roman" panose="02020603050405020304"/>
                <a:ea typeface="Times New Roman" panose="02020603050405020304"/>
                <a:cs typeface="Times New Roman" panose="02020603050405020304"/>
                <a:sym typeface="Times New Roman" panose="02020603050405020304"/>
              </a:rPr>
              <a:t>1.</a:t>
            </a:r>
            <a:r>
              <a:rPr lang="en-US" b="1" dirty="0">
                <a:latin typeface="Times New Roman" panose="02020603050405020304"/>
                <a:ea typeface="Times New Roman" panose="02020603050405020304"/>
                <a:cs typeface="Times New Roman" panose="02020603050405020304"/>
                <a:sym typeface="Times New Roman" panose="02020603050405020304"/>
              </a:rPr>
              <a:t>TIME COMPLEXITY:  How fast an algorithm executes</a:t>
            </a:r>
          </a:p>
          <a:p>
            <a:pPr marL="0" indent="0" algn="just">
              <a:lnSpc>
                <a:spcPct val="150000"/>
              </a:lnSpc>
              <a:spcBef>
                <a:spcPts val="0"/>
              </a:spcBef>
              <a:buClr>
                <a:schemeClr val="dk1"/>
              </a:buClr>
              <a:buSzPts val="2100"/>
              <a:buNone/>
            </a:pPr>
            <a:r>
              <a:rPr lang="en-US" b="1" dirty="0">
                <a:latin typeface="Times New Roman" panose="02020603050405020304"/>
                <a:ea typeface="Times New Roman" panose="02020603050405020304"/>
                <a:cs typeface="Times New Roman" panose="02020603050405020304"/>
                <a:sym typeface="Times New Roman" panose="02020603050405020304"/>
              </a:rPr>
              <a:t>2.SPACE COMPLEXITY: Amount of memory space required by an algorithm to work</a:t>
            </a:r>
            <a:endParaRPr lang="en-US" dirty="0">
              <a:latin typeface="Times New Roman" panose="02020603050405020304"/>
              <a:ea typeface="Times New Roman" panose="02020603050405020304"/>
              <a:cs typeface="Times New Roman" panose="02020603050405020304"/>
              <a:sym typeface="Times New Roman" panose="02020603050405020304"/>
            </a:endParaRPr>
          </a:p>
          <a:p>
            <a:pPr marL="0" indent="0" algn="just">
              <a:lnSpc>
                <a:spcPct val="150000"/>
              </a:lnSpc>
              <a:spcBef>
                <a:spcPts val="0"/>
              </a:spcBef>
              <a:buClr>
                <a:schemeClr val="dk1"/>
              </a:buClr>
              <a:buSzPts val="2100"/>
              <a:buNone/>
            </a:pPr>
            <a:r>
              <a:rPr lang="en-US" b="1" dirty="0">
                <a:latin typeface="Times New Roman" panose="02020603050405020304"/>
                <a:ea typeface="Times New Roman" panose="02020603050405020304"/>
                <a:cs typeface="Times New Roman" panose="02020603050405020304"/>
                <a:sym typeface="Times New Roman" panose="02020603050405020304"/>
              </a:rPr>
              <a:t>3.NETWORK COMMUNICATION:</a:t>
            </a:r>
            <a:r>
              <a:rPr lang="en-US" dirty="0">
                <a:latin typeface="Times New Roman" panose="02020603050405020304"/>
                <a:ea typeface="Times New Roman" panose="02020603050405020304"/>
                <a:cs typeface="Times New Roman" panose="02020603050405020304"/>
                <a:sym typeface="Times New Roman" panose="02020603050405020304"/>
              </a:rPr>
              <a:t> The applications that are web based/internet based/cloud based then the amount of data transferred or network  also plays an important role.</a:t>
            </a:r>
            <a:endParaRPr lang="en-US" dirty="0"/>
          </a:p>
          <a:p>
            <a:pPr marL="0" indent="0" algn="just">
              <a:lnSpc>
                <a:spcPct val="150000"/>
              </a:lnSpc>
              <a:spcBef>
                <a:spcPts val="420"/>
              </a:spcBef>
              <a:buClr>
                <a:schemeClr val="dk1"/>
              </a:buClr>
              <a:buSzPts val="2100"/>
              <a:buNone/>
            </a:pPr>
            <a:r>
              <a:rPr lang="en-US" b="1" dirty="0">
                <a:latin typeface="Times New Roman" panose="02020603050405020304"/>
                <a:ea typeface="Times New Roman" panose="02020603050405020304"/>
                <a:cs typeface="Times New Roman" panose="02020603050405020304"/>
                <a:sym typeface="Times New Roman" panose="02020603050405020304"/>
              </a:rPr>
              <a:t>4.POWER CONSUMPTION</a:t>
            </a:r>
            <a:endParaRPr lang="en-US" dirty="0"/>
          </a:p>
          <a:p>
            <a:pPr marL="0" indent="0" algn="just">
              <a:lnSpc>
                <a:spcPct val="150000"/>
              </a:lnSpc>
              <a:spcBef>
                <a:spcPts val="420"/>
              </a:spcBef>
              <a:buClr>
                <a:schemeClr val="dk1"/>
              </a:buClr>
              <a:buSzPts val="2100"/>
              <a:buNone/>
            </a:pPr>
            <a:r>
              <a:rPr lang="en-US" b="1" dirty="0">
                <a:latin typeface="Times New Roman" panose="02020603050405020304"/>
                <a:ea typeface="Times New Roman" panose="02020603050405020304"/>
                <a:cs typeface="Times New Roman" panose="02020603050405020304"/>
                <a:sym typeface="Times New Roman" panose="02020603050405020304"/>
              </a:rPr>
              <a:t>5.CPU REGISTERS CONSUMED: </a:t>
            </a:r>
            <a:r>
              <a:rPr lang="en-US" dirty="0">
                <a:latin typeface="Times New Roman" panose="02020603050405020304"/>
                <a:ea typeface="Times New Roman" panose="02020603050405020304"/>
                <a:cs typeface="Times New Roman" panose="02020603050405020304"/>
                <a:sym typeface="Times New Roman" panose="02020603050405020304"/>
              </a:rPr>
              <a:t>if the algorithms are written for device drivers or system software.</a:t>
            </a:r>
          </a:p>
        </p:txBody>
      </p:sp>
      <p:sp>
        <p:nvSpPr>
          <p:cNvPr id="4" name="Footer Placeholder 3"/>
          <p:cNvSpPr>
            <a:spLocks noGrp="1"/>
          </p:cNvSpPr>
          <p:nvPr>
            <p:ph type="ftr" sz="quarter" idx="11"/>
          </p:nvPr>
        </p:nvSpPr>
        <p:spPr/>
        <p:txBody>
          <a:bodyPr/>
          <a:lstStyle/>
          <a:p>
            <a:r>
              <a:rPr lang="en-US"/>
              <a:t>Slides prepared by: Prof.Nandini K, Assistant Professor, Department of CSE, Dayananda Sagar University, Harohalli, Karnataka.</a:t>
            </a:r>
            <a:endParaRPr lang="en-US" dirty="0"/>
          </a:p>
        </p:txBody>
      </p:sp>
      <p:sp>
        <p:nvSpPr>
          <p:cNvPr id="5" name="Slide Number Placeholder 4"/>
          <p:cNvSpPr>
            <a:spLocks noGrp="1"/>
          </p:cNvSpPr>
          <p:nvPr>
            <p:ph type="sldNum" sz="quarter" idx="12"/>
          </p:nvPr>
        </p:nvSpPr>
        <p:spPr/>
        <p:txBody>
          <a:bodyPr/>
          <a:lstStyle/>
          <a:p>
            <a:fld id="{5731DF9D-C219-B24D-9CD4-0503F6C036DC}" type="slidenum">
              <a:rPr lang="en-US" smtClean="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65126"/>
            <a:ext cx="10180899" cy="715530"/>
          </a:xfrm>
        </p:spPr>
        <p:txBody>
          <a:bodyPr/>
          <a:lstStyle/>
          <a:p>
            <a:pPr algn="ctr"/>
            <a:r>
              <a:rPr lang="en-US" dirty="0">
                <a:latin typeface="Times New Roman" panose="02020603050405020304"/>
                <a:ea typeface="Times New Roman" panose="02020603050405020304"/>
                <a:cs typeface="Times New Roman" panose="02020603050405020304"/>
                <a:sym typeface="Times New Roman" panose="02020603050405020304"/>
              </a:rPr>
              <a:t>TIME COMPLEXITY</a:t>
            </a:r>
            <a:endParaRPr lang="en-US" dirty="0"/>
          </a:p>
        </p:txBody>
      </p:sp>
      <p:sp>
        <p:nvSpPr>
          <p:cNvPr id="4" name="Footer Placeholder 3"/>
          <p:cNvSpPr>
            <a:spLocks noGrp="1"/>
          </p:cNvSpPr>
          <p:nvPr>
            <p:ph type="ftr" sz="quarter" idx="11"/>
          </p:nvPr>
        </p:nvSpPr>
        <p:spPr/>
        <p:txBody>
          <a:bodyPr/>
          <a:lstStyle/>
          <a:p>
            <a:r>
              <a:rPr lang="en-US"/>
              <a:t>Slides prepared by: Prof.Nandini K, Assistant Professor, Department of CSE, Dayananda Sagar University, Harohalli, Karnataka.</a:t>
            </a:r>
            <a:endParaRPr lang="en-US" dirty="0"/>
          </a:p>
        </p:txBody>
      </p:sp>
      <p:sp>
        <p:nvSpPr>
          <p:cNvPr id="5" name="Slide Number Placeholder 4"/>
          <p:cNvSpPr>
            <a:spLocks noGrp="1"/>
          </p:cNvSpPr>
          <p:nvPr>
            <p:ph type="sldNum" sz="quarter" idx="12"/>
          </p:nvPr>
        </p:nvSpPr>
        <p:spPr/>
        <p:txBody>
          <a:bodyPr/>
          <a:lstStyle/>
          <a:p>
            <a:fld id="{5731DF9D-C219-B24D-9CD4-0503F6C036DC}" type="slidenum">
              <a:rPr lang="en-US" smtClean="0"/>
              <a:t>20</a:t>
            </a:fld>
            <a:endParaRPr lang="en-US"/>
          </a:p>
        </p:txBody>
      </p:sp>
      <p:pic>
        <p:nvPicPr>
          <p:cNvPr id="6" name="Google Shape;346;p55"/>
          <p:cNvPicPr preferRelativeResize="0"/>
          <p:nvPr/>
        </p:nvPicPr>
        <p:blipFill rotWithShape="1">
          <a:blip r:embed="rId2"/>
          <a:srcRect/>
          <a:stretch>
            <a:fillRect/>
          </a:stretch>
        </p:blipFill>
        <p:spPr>
          <a:xfrm>
            <a:off x="1145309" y="1295400"/>
            <a:ext cx="9938327" cy="477289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9130" y="23381"/>
            <a:ext cx="10180899" cy="900256"/>
          </a:xfrm>
        </p:spPr>
        <p:txBody>
          <a:bodyPr/>
          <a:lstStyle/>
          <a:p>
            <a:pPr algn="ctr"/>
            <a:r>
              <a:rPr lang="en-US" dirty="0">
                <a:latin typeface="Times New Roman" panose="02020603050405020304"/>
                <a:ea typeface="Times New Roman" panose="02020603050405020304"/>
                <a:cs typeface="Times New Roman" panose="02020603050405020304"/>
                <a:sym typeface="Times New Roman" panose="02020603050405020304"/>
              </a:rPr>
              <a:t>TIME COMPLEXITY</a:t>
            </a:r>
            <a:endParaRPr lang="en-US" dirty="0"/>
          </a:p>
        </p:txBody>
      </p:sp>
      <p:sp>
        <p:nvSpPr>
          <p:cNvPr id="3" name="Content Placeholder 2"/>
          <p:cNvSpPr>
            <a:spLocks noGrp="1"/>
          </p:cNvSpPr>
          <p:nvPr>
            <p:ph idx="1"/>
          </p:nvPr>
        </p:nvSpPr>
        <p:spPr>
          <a:xfrm>
            <a:off x="323273" y="1274618"/>
            <a:ext cx="11030527" cy="4902345"/>
          </a:xfrm>
        </p:spPr>
        <p:txBody>
          <a:bodyPr>
            <a:normAutofit/>
          </a:bodyPr>
          <a:lstStyle/>
          <a:p>
            <a:pPr marL="0" indent="0">
              <a:spcBef>
                <a:spcPts val="0"/>
              </a:spcBef>
              <a:buClr>
                <a:schemeClr val="dk1"/>
              </a:buClr>
              <a:buSzPts val="2100"/>
              <a:buNone/>
            </a:pPr>
            <a:r>
              <a:rPr lang="en-US" b="1" dirty="0">
                <a:latin typeface="Times New Roman" panose="02020603050405020304"/>
                <a:ea typeface="Times New Roman" panose="02020603050405020304"/>
                <a:cs typeface="Times New Roman" panose="02020603050405020304"/>
                <a:sym typeface="Times New Roman" panose="02020603050405020304"/>
              </a:rPr>
              <a:t>Note: Time complexity!=Time taken</a:t>
            </a:r>
            <a:endParaRPr lang="en-US" dirty="0"/>
          </a:p>
          <a:p>
            <a:pPr marL="0" indent="0">
              <a:spcBef>
                <a:spcPts val="420"/>
              </a:spcBef>
              <a:buClr>
                <a:schemeClr val="dk1"/>
              </a:buClr>
              <a:buSzPts val="2100"/>
              <a:buNone/>
            </a:pPr>
            <a:r>
              <a:rPr lang="en-US" dirty="0">
                <a:latin typeface="Times New Roman" panose="02020603050405020304"/>
                <a:ea typeface="Times New Roman" panose="02020603050405020304"/>
                <a:cs typeface="Times New Roman" panose="02020603050405020304"/>
                <a:sym typeface="Times New Roman" panose="02020603050405020304"/>
              </a:rPr>
              <a:t>Time complexity is a mathematical function that define the relationship about how time grows as the input grows.</a:t>
            </a:r>
          </a:p>
          <a:p>
            <a:pPr marL="0" indent="0">
              <a:spcBef>
                <a:spcPts val="420"/>
              </a:spcBef>
              <a:buClr>
                <a:schemeClr val="dk1"/>
              </a:buClr>
              <a:buSzPts val="2100"/>
              <a:buNone/>
            </a:pPr>
            <a:endParaRPr lang="en-US" dirty="0">
              <a:latin typeface="Times New Roman" panose="02020603050405020304"/>
              <a:ea typeface="Times New Roman" panose="02020603050405020304"/>
              <a:cs typeface="Times New Roman" panose="02020603050405020304"/>
              <a:sym typeface="Times New Roman" panose="02020603050405020304"/>
            </a:endParaRPr>
          </a:p>
          <a:p>
            <a:pPr marL="0" indent="0" algn="just">
              <a:lnSpc>
                <a:spcPct val="150000"/>
              </a:lnSpc>
              <a:spcBef>
                <a:spcPts val="0"/>
              </a:spcBef>
              <a:buClr>
                <a:schemeClr val="dk1"/>
              </a:buClr>
              <a:buSzPts val="2100"/>
              <a:buNone/>
            </a:pPr>
            <a:r>
              <a:rPr lang="en-US" sz="2000" dirty="0">
                <a:latin typeface="Times New Roman" panose="02020603050405020304"/>
                <a:ea typeface="Times New Roman" panose="02020603050405020304"/>
                <a:cs typeface="Times New Roman" panose="02020603050405020304"/>
                <a:sym typeface="Times New Roman" panose="02020603050405020304"/>
              </a:rPr>
              <a:t>Time </a:t>
            </a:r>
            <a:r>
              <a:rPr lang="en-US" sz="2000" dirty="0">
                <a:solidFill>
                  <a:srgbClr val="FF0000"/>
                </a:solidFill>
                <a:latin typeface="Times New Roman" panose="02020603050405020304"/>
                <a:ea typeface="Times New Roman" panose="02020603050405020304"/>
                <a:cs typeface="Times New Roman" panose="02020603050405020304"/>
                <a:sym typeface="Times New Roman" panose="02020603050405020304"/>
              </a:rPr>
              <a:t>efficiency</a:t>
            </a:r>
            <a:r>
              <a:rPr lang="en-US" sz="2000" dirty="0">
                <a:latin typeface="Times New Roman" panose="02020603050405020304"/>
                <a:ea typeface="Times New Roman" panose="02020603050405020304"/>
                <a:cs typeface="Times New Roman" panose="02020603050405020304"/>
                <a:sym typeface="Times New Roman" panose="02020603050405020304"/>
              </a:rPr>
              <a:t> is analyzed by determining the number of </a:t>
            </a:r>
            <a:r>
              <a:rPr lang="en-US" sz="2000" dirty="0">
                <a:solidFill>
                  <a:srgbClr val="FF0000"/>
                </a:solidFill>
                <a:latin typeface="Times New Roman" panose="02020603050405020304"/>
                <a:ea typeface="Times New Roman" panose="02020603050405020304"/>
                <a:cs typeface="Times New Roman" panose="02020603050405020304"/>
                <a:sym typeface="Times New Roman" panose="02020603050405020304"/>
              </a:rPr>
              <a:t>repetitions</a:t>
            </a:r>
            <a:r>
              <a:rPr lang="en-US" sz="2000" dirty="0">
                <a:latin typeface="Times New Roman" panose="02020603050405020304"/>
                <a:ea typeface="Times New Roman" panose="02020603050405020304"/>
                <a:cs typeface="Times New Roman" panose="02020603050405020304"/>
                <a:sym typeface="Times New Roman" panose="02020603050405020304"/>
              </a:rPr>
              <a:t> of the basic operation as a function of </a:t>
            </a:r>
            <a:r>
              <a:rPr lang="en-US" sz="2000" dirty="0">
                <a:solidFill>
                  <a:srgbClr val="FF0000"/>
                </a:solidFill>
                <a:latin typeface="Times New Roman" panose="02020603050405020304"/>
                <a:ea typeface="Times New Roman" panose="02020603050405020304"/>
                <a:cs typeface="Times New Roman" panose="02020603050405020304"/>
                <a:sym typeface="Times New Roman" panose="02020603050405020304"/>
              </a:rPr>
              <a:t>input size</a:t>
            </a:r>
            <a:r>
              <a:rPr lang="en-US" sz="2000" dirty="0">
                <a:latin typeface="Times New Roman" panose="02020603050405020304"/>
                <a:ea typeface="Times New Roman" panose="02020603050405020304"/>
                <a:cs typeface="Times New Roman" panose="02020603050405020304"/>
                <a:sym typeface="Times New Roman" panose="02020603050405020304"/>
              </a:rPr>
              <a:t>. </a:t>
            </a:r>
            <a:endParaRPr lang="en-US" sz="2000" dirty="0"/>
          </a:p>
          <a:p>
            <a:pPr marL="0" indent="0" algn="just">
              <a:lnSpc>
                <a:spcPct val="150000"/>
              </a:lnSpc>
              <a:spcBef>
                <a:spcPts val="420"/>
              </a:spcBef>
              <a:buClr>
                <a:schemeClr val="dk1"/>
              </a:buClr>
              <a:buSzPts val="2100"/>
              <a:buNone/>
            </a:pPr>
            <a:r>
              <a:rPr lang="en-US" sz="2000" b="1" dirty="0">
                <a:latin typeface="Times New Roman" panose="02020603050405020304"/>
                <a:ea typeface="Times New Roman" panose="02020603050405020304"/>
                <a:cs typeface="Times New Roman" panose="02020603050405020304"/>
                <a:sym typeface="Times New Roman" panose="02020603050405020304"/>
              </a:rPr>
              <a:t>Basic operation is the core operation like:</a:t>
            </a:r>
          </a:p>
          <a:p>
            <a:pPr marL="0" indent="0" algn="just">
              <a:lnSpc>
                <a:spcPct val="150000"/>
              </a:lnSpc>
              <a:spcBef>
                <a:spcPts val="420"/>
              </a:spcBef>
              <a:buClr>
                <a:schemeClr val="dk1"/>
              </a:buClr>
              <a:buSzPts val="2100"/>
              <a:buNone/>
            </a:pPr>
            <a:r>
              <a:rPr lang="en-US" sz="2000" dirty="0">
                <a:latin typeface="Times New Roman" panose="02020603050405020304"/>
                <a:ea typeface="Times New Roman" panose="02020603050405020304"/>
                <a:cs typeface="Times New Roman" panose="02020603050405020304"/>
                <a:sym typeface="Times New Roman" panose="02020603050405020304"/>
              </a:rPr>
              <a:t>assignment , comparing 2 values, swapping 2 numbers, performing arithmetic operation etc. Basic operation generally resides in a loop.</a:t>
            </a:r>
          </a:p>
          <a:p>
            <a:pPr marL="0" indent="0">
              <a:spcBef>
                <a:spcPts val="420"/>
              </a:spcBef>
              <a:buClr>
                <a:schemeClr val="dk1"/>
              </a:buClr>
              <a:buSzPts val="2100"/>
              <a:buNone/>
            </a:pPr>
            <a:endParaRPr lang="en-US" dirty="0">
              <a:latin typeface="Times New Roman" panose="02020603050405020304"/>
              <a:ea typeface="Times New Roman" panose="02020603050405020304"/>
              <a:cs typeface="Times New Roman" panose="02020603050405020304"/>
              <a:sym typeface="Times New Roman" panose="02020603050405020304"/>
            </a:endParaRPr>
          </a:p>
          <a:p>
            <a:pPr marL="0" indent="0">
              <a:spcBef>
                <a:spcPts val="420"/>
              </a:spcBef>
              <a:buClr>
                <a:schemeClr val="dk1"/>
              </a:buClr>
              <a:buSzPts val="2100"/>
              <a:buNone/>
            </a:pPr>
            <a:endParaRPr lang="en-US" dirty="0"/>
          </a:p>
        </p:txBody>
      </p:sp>
      <p:sp>
        <p:nvSpPr>
          <p:cNvPr id="4" name="Footer Placeholder 3"/>
          <p:cNvSpPr>
            <a:spLocks noGrp="1"/>
          </p:cNvSpPr>
          <p:nvPr>
            <p:ph type="ftr" sz="quarter" idx="11"/>
          </p:nvPr>
        </p:nvSpPr>
        <p:spPr/>
        <p:txBody>
          <a:bodyPr/>
          <a:lstStyle/>
          <a:p>
            <a:r>
              <a:rPr lang="en-US"/>
              <a:t>Slides prepared by: Prof.Nandini K, Assistant Professor, Department of CSE, Dayananda Sagar University, Harohalli, Karnataka.</a:t>
            </a:r>
            <a:endParaRPr lang="en-US" dirty="0"/>
          </a:p>
        </p:txBody>
      </p:sp>
      <p:sp>
        <p:nvSpPr>
          <p:cNvPr id="5" name="Slide Number Placeholder 4"/>
          <p:cNvSpPr>
            <a:spLocks noGrp="1"/>
          </p:cNvSpPr>
          <p:nvPr>
            <p:ph type="sldNum" sz="quarter" idx="12"/>
          </p:nvPr>
        </p:nvSpPr>
        <p:spPr/>
        <p:txBody>
          <a:bodyPr/>
          <a:lstStyle/>
          <a:p>
            <a:fld id="{5731DF9D-C219-B24D-9CD4-0503F6C036DC}" type="slidenum">
              <a:rPr lang="en-US" smtClean="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59"/>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fontScale="90000"/>
          </a:bodyPr>
          <a:lstStyle/>
          <a:p>
            <a:pPr algn="ctr">
              <a:spcBef>
                <a:spcPts val="0"/>
              </a:spcBef>
              <a:buClr>
                <a:schemeClr val="dk1"/>
              </a:buClr>
              <a:buSzPct val="100000"/>
            </a:pPr>
            <a:br>
              <a:rPr lang="en-US" sz="3600" dirty="0">
                <a:latin typeface="Times New Roman" panose="02020603050405020304"/>
                <a:ea typeface="Times New Roman" panose="02020603050405020304"/>
                <a:cs typeface="Times New Roman" panose="02020603050405020304"/>
                <a:sym typeface="Times New Roman" panose="02020603050405020304"/>
              </a:rPr>
            </a:br>
            <a:r>
              <a:rPr lang="en-US" sz="3600" dirty="0">
                <a:latin typeface="Times New Roman" panose="02020603050405020304"/>
                <a:ea typeface="Times New Roman" panose="02020603050405020304"/>
                <a:cs typeface="Times New Roman" panose="02020603050405020304"/>
                <a:sym typeface="Times New Roman" panose="02020603050405020304"/>
              </a:rPr>
              <a:t>METHODS TO COMPUTE THE STEP COUNT</a:t>
            </a:r>
            <a:br>
              <a:rPr lang="en-US" b="1" dirty="0"/>
            </a:br>
            <a:endParaRPr dirty="0"/>
          </a:p>
        </p:txBody>
      </p:sp>
      <p:sp>
        <p:nvSpPr>
          <p:cNvPr id="374" name="Google Shape;374;p59"/>
          <p:cNvSpPr txBox="1">
            <a:spLocks noGrp="1"/>
          </p:cNvSpPr>
          <p:nvPr>
            <p:ph type="body" idx="1"/>
          </p:nvPr>
        </p:nvSpPr>
        <p:spPr>
          <a:xfrm>
            <a:off x="387927" y="1330037"/>
            <a:ext cx="11286837" cy="4796128"/>
          </a:xfrm>
          <a:prstGeom prst="rect">
            <a:avLst/>
          </a:prstGeom>
          <a:noFill/>
          <a:ln>
            <a:noFill/>
          </a:ln>
        </p:spPr>
        <p:txBody>
          <a:bodyPr spcFirstLastPara="1" vert="horz" wrap="square" lIns="91425" tIns="45700" rIns="91425" bIns="45700" rtlCol="0" anchor="t" anchorCtr="0">
            <a:normAutofit/>
          </a:bodyPr>
          <a:lstStyle/>
          <a:p>
            <a:pPr marL="0" indent="0" algn="just">
              <a:lnSpc>
                <a:spcPct val="150000"/>
              </a:lnSpc>
              <a:spcBef>
                <a:spcPts val="0"/>
              </a:spcBef>
              <a:buClr>
                <a:schemeClr val="dk1"/>
              </a:buClr>
              <a:buSzPts val="2100"/>
              <a:buNone/>
            </a:pPr>
            <a:r>
              <a:rPr lang="en-US" sz="2400" dirty="0">
                <a:latin typeface="Times New Roman" panose="02020603050405020304"/>
                <a:ea typeface="Times New Roman" panose="02020603050405020304"/>
                <a:cs typeface="Times New Roman" panose="02020603050405020304"/>
                <a:sym typeface="Times New Roman" panose="02020603050405020304"/>
              </a:rPr>
              <a:t>Time </a:t>
            </a:r>
            <a:r>
              <a:rPr lang="en-US" sz="2400" dirty="0">
                <a:solidFill>
                  <a:srgbClr val="FF0000"/>
                </a:solidFill>
                <a:latin typeface="Times New Roman" panose="02020603050405020304"/>
                <a:ea typeface="Times New Roman" panose="02020603050405020304"/>
                <a:cs typeface="Times New Roman" panose="02020603050405020304"/>
                <a:sym typeface="Times New Roman" panose="02020603050405020304"/>
              </a:rPr>
              <a:t>efficiency</a:t>
            </a:r>
            <a:r>
              <a:rPr lang="en-US" sz="2400" dirty="0">
                <a:latin typeface="Times New Roman" panose="02020603050405020304"/>
                <a:ea typeface="Times New Roman" panose="02020603050405020304"/>
                <a:cs typeface="Times New Roman" panose="02020603050405020304"/>
                <a:sym typeface="Times New Roman" panose="02020603050405020304"/>
              </a:rPr>
              <a:t> is analyzed by determining the number of </a:t>
            </a:r>
            <a:r>
              <a:rPr lang="en-US" sz="2400" dirty="0">
                <a:solidFill>
                  <a:srgbClr val="FF0000"/>
                </a:solidFill>
                <a:latin typeface="Times New Roman" panose="02020603050405020304"/>
                <a:ea typeface="Times New Roman" panose="02020603050405020304"/>
                <a:cs typeface="Times New Roman" panose="02020603050405020304"/>
                <a:sym typeface="Times New Roman" panose="02020603050405020304"/>
              </a:rPr>
              <a:t>repetitions</a:t>
            </a:r>
            <a:r>
              <a:rPr lang="en-US" sz="2400" dirty="0">
                <a:latin typeface="Times New Roman" panose="02020603050405020304"/>
                <a:ea typeface="Times New Roman" panose="02020603050405020304"/>
                <a:cs typeface="Times New Roman" panose="02020603050405020304"/>
                <a:sym typeface="Times New Roman" panose="02020603050405020304"/>
              </a:rPr>
              <a:t> of the basic operation as a function of </a:t>
            </a:r>
            <a:r>
              <a:rPr lang="en-US" sz="2400" dirty="0">
                <a:solidFill>
                  <a:srgbClr val="FF0000"/>
                </a:solidFill>
                <a:latin typeface="Times New Roman" panose="02020603050405020304"/>
                <a:ea typeface="Times New Roman" panose="02020603050405020304"/>
                <a:cs typeface="Times New Roman" panose="02020603050405020304"/>
                <a:sym typeface="Times New Roman" panose="02020603050405020304"/>
              </a:rPr>
              <a:t>input size</a:t>
            </a:r>
            <a:r>
              <a:rPr lang="en-US" sz="2400" dirty="0">
                <a:latin typeface="Times New Roman" panose="02020603050405020304"/>
                <a:ea typeface="Times New Roman" panose="02020603050405020304"/>
                <a:cs typeface="Times New Roman" panose="02020603050405020304"/>
                <a:sym typeface="Times New Roman" panose="02020603050405020304"/>
              </a:rPr>
              <a:t>. </a:t>
            </a:r>
            <a:endParaRPr sz="2400" dirty="0"/>
          </a:p>
          <a:p>
            <a:pPr marL="0" indent="0" algn="just">
              <a:lnSpc>
                <a:spcPct val="150000"/>
              </a:lnSpc>
              <a:spcBef>
                <a:spcPts val="420"/>
              </a:spcBef>
              <a:buClr>
                <a:schemeClr val="dk1"/>
              </a:buClr>
              <a:buSzPts val="2100"/>
              <a:buNone/>
            </a:pPr>
            <a:r>
              <a:rPr lang="en-US" sz="2400" b="1" dirty="0">
                <a:latin typeface="Times New Roman" panose="02020603050405020304"/>
                <a:ea typeface="Times New Roman" panose="02020603050405020304"/>
                <a:cs typeface="Times New Roman" panose="02020603050405020304"/>
                <a:sym typeface="Times New Roman" panose="02020603050405020304"/>
              </a:rPr>
              <a:t>Basic operation is the core operation like:</a:t>
            </a:r>
          </a:p>
          <a:p>
            <a:pPr marL="0" indent="0" algn="just">
              <a:lnSpc>
                <a:spcPct val="150000"/>
              </a:lnSpc>
              <a:spcBef>
                <a:spcPts val="420"/>
              </a:spcBef>
              <a:buClr>
                <a:schemeClr val="dk1"/>
              </a:buClr>
              <a:buSzPts val="2100"/>
              <a:buNone/>
            </a:pPr>
            <a:r>
              <a:rPr lang="en-US" sz="2400" dirty="0">
                <a:latin typeface="Times New Roman" panose="02020603050405020304"/>
                <a:ea typeface="Times New Roman" panose="02020603050405020304"/>
                <a:cs typeface="Times New Roman" panose="02020603050405020304"/>
                <a:sym typeface="Times New Roman" panose="02020603050405020304"/>
              </a:rPr>
              <a:t>assignment , comparing 2 values, swapping 2 numbers, performing arithmetic operation etc. Basic operation generally resides in a loop.</a:t>
            </a:r>
            <a:endParaRPr sz="2400"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4" name="Footer Placeholder 3"/>
          <p:cNvSpPr>
            <a:spLocks noGrp="1"/>
          </p:cNvSpPr>
          <p:nvPr>
            <p:ph type="ftr" sz="quarter" idx="11"/>
          </p:nvPr>
        </p:nvSpPr>
        <p:spPr>
          <a:xfrm>
            <a:off x="1698171" y="6356350"/>
            <a:ext cx="8871858" cy="365125"/>
          </a:xfrm>
        </p:spPr>
        <p:txBody>
          <a:bodyPr/>
          <a:lstStyle/>
          <a:p>
            <a:r>
              <a:rPr lang="en-US" dirty="0"/>
              <a:t>Slides prepared by: Prof.Nandini K, Assistant Professor, Department of CSE, </a:t>
            </a:r>
            <a:r>
              <a:rPr lang="en-US" dirty="0" err="1"/>
              <a:t>Dayananda</a:t>
            </a:r>
            <a:r>
              <a:rPr lang="en-US" dirty="0"/>
              <a:t> </a:t>
            </a:r>
            <a:r>
              <a:rPr lang="en-US" dirty="0" err="1"/>
              <a:t>Sagar</a:t>
            </a:r>
            <a:r>
              <a:rPr lang="en-US" dirty="0"/>
              <a:t> University, </a:t>
            </a:r>
            <a:r>
              <a:rPr lang="en-US" dirty="0" err="1"/>
              <a:t>Harohalli</a:t>
            </a:r>
            <a:r>
              <a:rPr lang="en-US" dirty="0"/>
              <a:t>, Karnataka.</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980CE-3FF1-88A2-ED95-03486D258942}"/>
              </a:ext>
            </a:extLst>
          </p:cNvPr>
          <p:cNvSpPr>
            <a:spLocks noGrp="1"/>
          </p:cNvSpPr>
          <p:nvPr>
            <p:ph type="title"/>
          </p:nvPr>
        </p:nvSpPr>
        <p:spPr/>
        <p:txBody>
          <a:bodyPr/>
          <a:lstStyle/>
          <a:p>
            <a:pPr algn="ctr"/>
            <a:r>
              <a:rPr lang="en-IN" dirty="0"/>
              <a:t>Problems-Time Complexity</a:t>
            </a:r>
          </a:p>
        </p:txBody>
      </p:sp>
      <p:sp>
        <p:nvSpPr>
          <p:cNvPr id="3" name="Content Placeholder 2">
            <a:extLst>
              <a:ext uri="{FF2B5EF4-FFF2-40B4-BE49-F238E27FC236}">
                <a16:creationId xmlns:a16="http://schemas.microsoft.com/office/drawing/2014/main" id="{0C61D449-7C05-495F-58C4-6DBE091EFC64}"/>
              </a:ext>
            </a:extLst>
          </p:cNvPr>
          <p:cNvSpPr>
            <a:spLocks noGrp="1"/>
          </p:cNvSpPr>
          <p:nvPr>
            <p:ph idx="1"/>
          </p:nvPr>
        </p:nvSpPr>
        <p:spPr/>
        <p:txBody>
          <a:bodyPr/>
          <a:lstStyle/>
          <a:p>
            <a:pPr marL="0" indent="0">
              <a:buNone/>
            </a:pPr>
            <a:r>
              <a:rPr lang="en-IN" b="1" dirty="0"/>
              <a:t>Problem1:</a:t>
            </a:r>
          </a:p>
          <a:p>
            <a:pPr marL="0" indent="0">
              <a:buNone/>
            </a:pPr>
            <a:endParaRPr lang="en-IN" dirty="0"/>
          </a:p>
          <a:p>
            <a:pPr marL="0" indent="0">
              <a:buNone/>
            </a:pPr>
            <a:r>
              <a:rPr lang="en-IN" dirty="0"/>
              <a:t>For(</a:t>
            </a:r>
            <a:r>
              <a:rPr lang="en-IN" dirty="0" err="1"/>
              <a:t>i</a:t>
            </a:r>
            <a:r>
              <a:rPr lang="en-IN" dirty="0"/>
              <a:t>=0; </a:t>
            </a:r>
            <a:r>
              <a:rPr lang="en-IN" dirty="0" err="1"/>
              <a:t>i</a:t>
            </a:r>
            <a:r>
              <a:rPr lang="en-IN" dirty="0"/>
              <a:t>&lt;n; </a:t>
            </a:r>
            <a:r>
              <a:rPr lang="en-IN" dirty="0" err="1"/>
              <a:t>i</a:t>
            </a:r>
            <a:r>
              <a:rPr lang="en-IN" dirty="0"/>
              <a:t>++)</a:t>
            </a:r>
          </a:p>
          <a:p>
            <a:pPr marL="0" indent="0">
              <a:buNone/>
            </a:pPr>
            <a:r>
              <a:rPr lang="en-IN" dirty="0"/>
              <a:t>{</a:t>
            </a:r>
          </a:p>
          <a:p>
            <a:pPr marL="0" indent="0">
              <a:buNone/>
            </a:pPr>
            <a:r>
              <a:rPr lang="en-IN" dirty="0"/>
              <a:t>	</a:t>
            </a:r>
            <a:r>
              <a:rPr lang="en-IN" dirty="0" err="1"/>
              <a:t>printf</a:t>
            </a:r>
            <a:r>
              <a:rPr lang="en-IN" dirty="0"/>
              <a:t>(“Hello”);</a:t>
            </a:r>
          </a:p>
          <a:p>
            <a:pPr marL="0" indent="0">
              <a:buNone/>
            </a:pPr>
            <a:r>
              <a:rPr lang="en-IN" dirty="0"/>
              <a:t>}</a:t>
            </a:r>
          </a:p>
          <a:p>
            <a:pPr marL="0" indent="0">
              <a:buNone/>
            </a:pPr>
            <a:endParaRPr lang="en-IN" dirty="0"/>
          </a:p>
          <a:p>
            <a:pPr marL="0" indent="0">
              <a:buNone/>
            </a:pPr>
            <a:r>
              <a:rPr lang="en-IN" dirty="0"/>
              <a:t>F(n)=n+1+n=2n+1</a:t>
            </a:r>
          </a:p>
          <a:p>
            <a:pPr marL="0" indent="0">
              <a:buNone/>
            </a:pPr>
            <a:r>
              <a:rPr lang="en-IN" dirty="0"/>
              <a:t>F(n)=o(n)</a:t>
            </a:r>
          </a:p>
        </p:txBody>
      </p:sp>
      <p:sp>
        <p:nvSpPr>
          <p:cNvPr id="4" name="Footer Placeholder 3">
            <a:extLst>
              <a:ext uri="{FF2B5EF4-FFF2-40B4-BE49-F238E27FC236}">
                <a16:creationId xmlns:a16="http://schemas.microsoft.com/office/drawing/2014/main" id="{ECC72F48-3E64-FBB8-A62B-5F6D0C4043F0}"/>
              </a:ext>
            </a:extLst>
          </p:cNvPr>
          <p:cNvSpPr>
            <a:spLocks noGrp="1"/>
          </p:cNvSpPr>
          <p:nvPr>
            <p:ph type="ftr" sz="quarter" idx="11"/>
          </p:nvPr>
        </p:nvSpPr>
        <p:spPr/>
        <p:txBody>
          <a:bodyPr/>
          <a:lstStyle/>
          <a:p>
            <a:r>
              <a:rPr lang="en-US"/>
              <a:t>Slides prepared by: Prof.Nandini K, Assistant Professor, Department of CSE, Dayananda Sagar University, Harohalli, Karnataka.</a:t>
            </a:r>
            <a:endParaRPr lang="en-US" dirty="0"/>
          </a:p>
        </p:txBody>
      </p:sp>
      <p:sp>
        <p:nvSpPr>
          <p:cNvPr id="5" name="Slide Number Placeholder 4">
            <a:extLst>
              <a:ext uri="{FF2B5EF4-FFF2-40B4-BE49-F238E27FC236}">
                <a16:creationId xmlns:a16="http://schemas.microsoft.com/office/drawing/2014/main" id="{BF91E1D0-A564-0705-F8C8-1C174F1373F2}"/>
              </a:ext>
            </a:extLst>
          </p:cNvPr>
          <p:cNvSpPr>
            <a:spLocks noGrp="1"/>
          </p:cNvSpPr>
          <p:nvPr>
            <p:ph type="sldNum" sz="quarter" idx="12"/>
          </p:nvPr>
        </p:nvSpPr>
        <p:spPr/>
        <p:txBody>
          <a:bodyPr/>
          <a:lstStyle/>
          <a:p>
            <a:fld id="{5731DF9D-C219-B24D-9CD4-0503F6C036DC}" type="slidenum">
              <a:rPr lang="en-US" smtClean="0"/>
              <a:t>23</a:t>
            </a:fld>
            <a:endParaRPr lang="en-US"/>
          </a:p>
        </p:txBody>
      </p:sp>
    </p:spTree>
    <p:extLst>
      <p:ext uri="{BB962C8B-B14F-4D97-AF65-F5344CB8AC3E}">
        <p14:creationId xmlns:p14="http://schemas.microsoft.com/office/powerpoint/2010/main" val="19422330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59"/>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fontScale="90000"/>
          </a:bodyPr>
          <a:lstStyle/>
          <a:p>
            <a:pPr algn="ctr">
              <a:spcBef>
                <a:spcPts val="0"/>
              </a:spcBef>
              <a:buClr>
                <a:schemeClr val="dk1"/>
              </a:buClr>
              <a:buSzPct val="100000"/>
            </a:pPr>
            <a:br>
              <a:rPr lang="en-US" sz="3600" dirty="0">
                <a:latin typeface="Times New Roman" panose="02020603050405020304"/>
                <a:ea typeface="Times New Roman" panose="02020603050405020304"/>
                <a:cs typeface="Times New Roman" panose="02020603050405020304"/>
                <a:sym typeface="Times New Roman" panose="02020603050405020304"/>
              </a:rPr>
            </a:br>
            <a:r>
              <a:rPr lang="en-US" sz="3600" dirty="0">
                <a:latin typeface="Times New Roman" panose="02020603050405020304"/>
                <a:ea typeface="Times New Roman" panose="02020603050405020304"/>
                <a:cs typeface="Times New Roman" panose="02020603050405020304"/>
                <a:sym typeface="Times New Roman" panose="02020603050405020304"/>
              </a:rPr>
              <a:t>METHODS </a:t>
            </a:r>
            <a:br>
              <a:rPr lang="en-US" b="1" dirty="0"/>
            </a:br>
            <a:endParaRPr lang="en-US" b="1" dirty="0"/>
          </a:p>
        </p:txBody>
      </p:sp>
      <p:sp>
        <p:nvSpPr>
          <p:cNvPr id="374" name="Google Shape;374;p59"/>
          <p:cNvSpPr txBox="1">
            <a:spLocks noGrp="1"/>
          </p:cNvSpPr>
          <p:nvPr>
            <p:ph type="body" idx="1"/>
          </p:nvPr>
        </p:nvSpPr>
        <p:spPr>
          <a:xfrm>
            <a:off x="249382" y="1136073"/>
            <a:ext cx="11240654" cy="4990091"/>
          </a:xfrm>
          <a:prstGeom prst="rect">
            <a:avLst/>
          </a:prstGeom>
          <a:noFill/>
          <a:ln>
            <a:noFill/>
          </a:ln>
        </p:spPr>
        <p:txBody>
          <a:bodyPr spcFirstLastPara="1" vert="horz" wrap="square" lIns="91425" tIns="45700" rIns="91425" bIns="45700" rtlCol="0" anchor="t" anchorCtr="0">
            <a:normAutofit/>
          </a:bodyPr>
          <a:lstStyle/>
          <a:p>
            <a:pPr marL="342900" indent="-342900" algn="just">
              <a:lnSpc>
                <a:spcPct val="150000"/>
              </a:lnSpc>
              <a:spcBef>
                <a:spcPts val="420"/>
              </a:spcBef>
              <a:buClr>
                <a:schemeClr val="dk1"/>
              </a:buClr>
              <a:buSzPts val="2100"/>
              <a:buFont typeface="Noto Sans Symbols"/>
              <a:buChar char="▪"/>
            </a:pPr>
            <a:r>
              <a:rPr lang="en-US" sz="2100" b="1" dirty="0">
                <a:latin typeface="Times New Roman" panose="02020603050405020304"/>
                <a:ea typeface="Times New Roman" panose="02020603050405020304"/>
                <a:cs typeface="Times New Roman" panose="02020603050405020304"/>
                <a:sym typeface="Times New Roman" panose="02020603050405020304"/>
              </a:rPr>
              <a:t>Method 1: Introduce variable count into programs</a:t>
            </a:r>
          </a:p>
          <a:p>
            <a:pPr marL="742950" lvl="1" indent="-285750" algn="just">
              <a:lnSpc>
                <a:spcPct val="150000"/>
              </a:lnSpc>
              <a:spcBef>
                <a:spcPts val="420"/>
              </a:spcBef>
              <a:buClr>
                <a:schemeClr val="dk1"/>
              </a:buClr>
              <a:buSzPts val="2100"/>
              <a:buFont typeface="Noto Sans Symbols"/>
              <a:buChar char="▪"/>
            </a:pPr>
            <a:r>
              <a:rPr lang="en-US" sz="2100" dirty="0">
                <a:latin typeface="Times New Roman" panose="02020603050405020304"/>
                <a:ea typeface="Times New Roman" panose="02020603050405020304"/>
                <a:cs typeface="Times New Roman" panose="02020603050405020304"/>
                <a:sym typeface="Times New Roman" panose="02020603050405020304"/>
              </a:rPr>
              <a:t>Introduce a </a:t>
            </a:r>
            <a:r>
              <a:rPr lang="en-US" sz="2100" dirty="0">
                <a:solidFill>
                  <a:srgbClr val="FF0000"/>
                </a:solidFill>
                <a:latin typeface="Times New Roman" panose="02020603050405020304"/>
                <a:ea typeface="Times New Roman" panose="02020603050405020304"/>
                <a:cs typeface="Times New Roman" panose="02020603050405020304"/>
                <a:sym typeface="Times New Roman" panose="02020603050405020304"/>
              </a:rPr>
              <a:t>global variable </a:t>
            </a:r>
            <a:r>
              <a:rPr lang="en-US" sz="2100" dirty="0">
                <a:latin typeface="Times New Roman" panose="02020603050405020304"/>
                <a:ea typeface="Times New Roman" panose="02020603050405020304"/>
                <a:cs typeface="Times New Roman" panose="02020603050405020304"/>
                <a:sym typeface="Times New Roman" panose="02020603050405020304"/>
              </a:rPr>
              <a:t>“count”, which is initialized to zero. So each </a:t>
            </a:r>
            <a:r>
              <a:rPr lang="en-US" sz="2100" dirty="0">
                <a:solidFill>
                  <a:srgbClr val="FF0000"/>
                </a:solidFill>
                <a:latin typeface="Times New Roman" panose="02020603050405020304"/>
                <a:ea typeface="Times New Roman" panose="02020603050405020304"/>
                <a:cs typeface="Times New Roman" panose="02020603050405020304"/>
                <a:sym typeface="Times New Roman" panose="02020603050405020304"/>
              </a:rPr>
              <a:t>time a statement </a:t>
            </a:r>
            <a:r>
              <a:rPr lang="en-US" sz="2100" dirty="0">
                <a:latin typeface="Times New Roman" panose="02020603050405020304"/>
                <a:ea typeface="Times New Roman" panose="02020603050405020304"/>
                <a:cs typeface="Times New Roman" panose="02020603050405020304"/>
                <a:sym typeface="Times New Roman" panose="02020603050405020304"/>
              </a:rPr>
              <a:t>in the program is </a:t>
            </a:r>
            <a:r>
              <a:rPr lang="en-US" sz="2100" dirty="0">
                <a:solidFill>
                  <a:srgbClr val="FF0000"/>
                </a:solidFill>
                <a:latin typeface="Times New Roman" panose="02020603050405020304"/>
                <a:ea typeface="Times New Roman" panose="02020603050405020304"/>
                <a:cs typeface="Times New Roman" panose="02020603050405020304"/>
                <a:sym typeface="Times New Roman" panose="02020603050405020304"/>
              </a:rPr>
              <a:t>executed</a:t>
            </a:r>
            <a:r>
              <a:rPr lang="en-US" sz="2100" dirty="0">
                <a:latin typeface="Times New Roman" panose="02020603050405020304"/>
                <a:ea typeface="Times New Roman" panose="02020603050405020304"/>
                <a:cs typeface="Times New Roman" panose="02020603050405020304"/>
                <a:sym typeface="Times New Roman" panose="02020603050405020304"/>
              </a:rPr>
              <a:t>, count is incremented by the </a:t>
            </a:r>
            <a:r>
              <a:rPr lang="en-US" sz="2100" dirty="0">
                <a:solidFill>
                  <a:srgbClr val="FF0000"/>
                </a:solidFill>
                <a:latin typeface="Times New Roman" panose="02020603050405020304"/>
                <a:ea typeface="Times New Roman" panose="02020603050405020304"/>
                <a:cs typeface="Times New Roman" panose="02020603050405020304"/>
                <a:sym typeface="Times New Roman" panose="02020603050405020304"/>
              </a:rPr>
              <a:t>step count </a:t>
            </a:r>
            <a:r>
              <a:rPr lang="en-US" sz="2100" dirty="0">
                <a:latin typeface="Times New Roman" panose="02020603050405020304"/>
                <a:ea typeface="Times New Roman" panose="02020603050405020304"/>
                <a:cs typeface="Times New Roman" panose="02020603050405020304"/>
                <a:sym typeface="Times New Roman" panose="02020603050405020304"/>
              </a:rPr>
              <a:t>of that statement.</a:t>
            </a:r>
          </a:p>
          <a:p>
            <a:pPr marL="457200" lvl="1" indent="0" algn="just">
              <a:lnSpc>
                <a:spcPct val="150000"/>
              </a:lnSpc>
              <a:spcBef>
                <a:spcPts val="420"/>
              </a:spcBef>
              <a:buClr>
                <a:schemeClr val="dk1"/>
              </a:buClr>
              <a:buSzPts val="2100"/>
              <a:buNone/>
            </a:pPr>
            <a:endParaRPr lang="en-US" dirty="0"/>
          </a:p>
          <a:p>
            <a:pPr marL="342900" indent="-342900" algn="just">
              <a:lnSpc>
                <a:spcPct val="150000"/>
              </a:lnSpc>
              <a:spcBef>
                <a:spcPts val="420"/>
              </a:spcBef>
              <a:buClr>
                <a:schemeClr val="dk1"/>
              </a:buClr>
              <a:buSzPts val="2100"/>
              <a:buFont typeface="Noto Sans Symbols"/>
              <a:buChar char="▪"/>
            </a:pPr>
            <a:r>
              <a:rPr lang="en-US" sz="2100" b="1" dirty="0">
                <a:latin typeface="Times New Roman" panose="02020603050405020304"/>
                <a:ea typeface="Times New Roman" panose="02020603050405020304"/>
                <a:cs typeface="Times New Roman" panose="02020603050405020304"/>
                <a:sym typeface="Times New Roman" panose="02020603050405020304"/>
              </a:rPr>
              <a:t>Method 2: Tabular method/Frequency count method/Step count method.</a:t>
            </a:r>
          </a:p>
          <a:p>
            <a:pPr marL="742950" lvl="1" indent="-285750" algn="just">
              <a:lnSpc>
                <a:spcPct val="150000"/>
              </a:lnSpc>
              <a:spcBef>
                <a:spcPts val="420"/>
              </a:spcBef>
              <a:buClr>
                <a:schemeClr val="dk1"/>
              </a:buClr>
              <a:buSzPts val="2100"/>
              <a:buFont typeface="Noto Sans Symbols"/>
              <a:buChar char="▪"/>
            </a:pPr>
            <a:r>
              <a:rPr lang="en-US" sz="2100" dirty="0">
                <a:latin typeface="Times New Roman" panose="02020603050405020304"/>
                <a:ea typeface="Times New Roman" panose="02020603050405020304"/>
                <a:cs typeface="Times New Roman" panose="02020603050405020304"/>
                <a:sym typeface="Times New Roman" panose="02020603050405020304"/>
              </a:rPr>
              <a:t>Determine the total number of steps contributed by each statement</a:t>
            </a:r>
            <a:br>
              <a:rPr lang="en-US" sz="2100" dirty="0">
                <a:latin typeface="Times New Roman" panose="02020603050405020304"/>
                <a:ea typeface="Times New Roman" panose="02020603050405020304"/>
                <a:cs typeface="Times New Roman" panose="02020603050405020304"/>
                <a:sym typeface="Times New Roman" panose="02020603050405020304"/>
              </a:rPr>
            </a:br>
            <a:r>
              <a:rPr lang="en-US" sz="2100" dirty="0">
                <a:latin typeface="Times New Roman" panose="02020603050405020304"/>
                <a:ea typeface="Times New Roman" panose="02020603050405020304"/>
                <a:cs typeface="Times New Roman" panose="02020603050405020304"/>
                <a:sym typeface="Times New Roman" panose="02020603050405020304"/>
              </a:rPr>
              <a:t>step per </a:t>
            </a:r>
            <a:r>
              <a:rPr lang="en-US" sz="2100" dirty="0">
                <a:solidFill>
                  <a:srgbClr val="FF0000"/>
                </a:solidFill>
                <a:latin typeface="Times New Roman" panose="02020603050405020304"/>
                <a:ea typeface="Times New Roman" panose="02020603050405020304"/>
                <a:cs typeface="Times New Roman" panose="02020603050405020304"/>
                <a:sym typeface="Times New Roman" panose="02020603050405020304"/>
              </a:rPr>
              <a:t>execution × frequency</a:t>
            </a:r>
            <a:endParaRPr lang="en-US" dirty="0">
              <a:solidFill>
                <a:srgbClr val="FF0000"/>
              </a:solidFill>
            </a:endParaRPr>
          </a:p>
          <a:p>
            <a:pPr marL="742950" lvl="1" indent="-285750" algn="just">
              <a:lnSpc>
                <a:spcPct val="150000"/>
              </a:lnSpc>
              <a:spcBef>
                <a:spcPts val="420"/>
              </a:spcBef>
              <a:buClr>
                <a:schemeClr val="dk1"/>
              </a:buClr>
              <a:buSzPts val="2100"/>
              <a:buFont typeface="Noto Sans Symbols"/>
              <a:buChar char="▪"/>
            </a:pPr>
            <a:r>
              <a:rPr lang="en-US" sz="2100" dirty="0">
                <a:latin typeface="Times New Roman" panose="02020603050405020304"/>
                <a:ea typeface="Times New Roman" panose="02020603050405020304"/>
                <a:cs typeface="Times New Roman" panose="02020603050405020304"/>
                <a:sym typeface="Times New Roman" panose="02020603050405020304"/>
              </a:rPr>
              <a:t>add up the contribution of all statements.</a:t>
            </a:r>
          </a:p>
          <a:p>
            <a:pPr marL="0" indent="0">
              <a:spcBef>
                <a:spcPts val="640"/>
              </a:spcBef>
              <a:buClr>
                <a:schemeClr val="dk1"/>
              </a:buClr>
              <a:buSzPts val="3200"/>
              <a:buNone/>
            </a:pPr>
            <a:endParaRPr lang="en-US" dirty="0"/>
          </a:p>
          <a:p>
            <a:pPr marL="0" indent="0" algn="just">
              <a:spcBef>
                <a:spcPts val="0"/>
              </a:spcBef>
              <a:buClr>
                <a:schemeClr val="dk1"/>
              </a:buClr>
              <a:buSzPts val="2100"/>
              <a:buNone/>
            </a:pPr>
            <a:endParaRPr sz="2100"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4" name="Footer Placeholder 3"/>
          <p:cNvSpPr>
            <a:spLocks noGrp="1"/>
          </p:cNvSpPr>
          <p:nvPr>
            <p:ph type="ftr" sz="quarter" idx="11"/>
          </p:nvPr>
        </p:nvSpPr>
        <p:spPr>
          <a:xfrm>
            <a:off x="1698171" y="6365586"/>
            <a:ext cx="8871858" cy="365125"/>
          </a:xfrm>
        </p:spPr>
        <p:txBody>
          <a:bodyPr/>
          <a:lstStyle/>
          <a:p>
            <a:r>
              <a:rPr lang="en-US" dirty="0"/>
              <a:t>Slides prepared by: Prof.Nandini K, Assistant Professor, Department of CSE, </a:t>
            </a:r>
            <a:r>
              <a:rPr lang="en-US" dirty="0" err="1"/>
              <a:t>Dayananda</a:t>
            </a:r>
            <a:r>
              <a:rPr lang="en-US" dirty="0"/>
              <a:t> </a:t>
            </a:r>
            <a:r>
              <a:rPr lang="en-US" dirty="0" err="1"/>
              <a:t>Sagar</a:t>
            </a:r>
            <a:r>
              <a:rPr lang="en-US" dirty="0"/>
              <a:t> University, </a:t>
            </a:r>
            <a:r>
              <a:rPr lang="en-US" dirty="0" err="1"/>
              <a:t>Harohalli</a:t>
            </a:r>
            <a:r>
              <a:rPr lang="en-US" dirty="0"/>
              <a:t>, Karnataka.</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60"/>
          <p:cNvSpPr txBox="1">
            <a:spLocks noGrp="1"/>
          </p:cNvSpPr>
          <p:nvPr>
            <p:ph type="title"/>
          </p:nvPr>
        </p:nvSpPr>
        <p:spPr>
          <a:xfrm>
            <a:off x="2057400" y="0"/>
            <a:ext cx="8229600" cy="1143000"/>
          </a:xfrm>
          <a:prstGeom prst="rect">
            <a:avLst/>
          </a:prstGeom>
          <a:noFill/>
          <a:ln>
            <a:noFill/>
          </a:ln>
        </p:spPr>
        <p:txBody>
          <a:bodyPr spcFirstLastPara="1" vert="horz" wrap="square" lIns="91425" tIns="45700" rIns="91425" bIns="45700" rtlCol="0" anchor="ctr" anchorCtr="0">
            <a:normAutofit fontScale="90000"/>
          </a:bodyPr>
          <a:lstStyle/>
          <a:p>
            <a:pPr algn="ctr">
              <a:spcBef>
                <a:spcPts val="0"/>
              </a:spcBef>
              <a:buClr>
                <a:schemeClr val="dk1"/>
              </a:buClr>
              <a:buSzPct val="100000"/>
            </a:pPr>
            <a:br>
              <a:rPr lang="en-US" sz="3600">
                <a:latin typeface="Times New Roman" panose="02020603050405020304"/>
                <a:ea typeface="Times New Roman" panose="02020603050405020304"/>
                <a:cs typeface="Times New Roman" panose="02020603050405020304"/>
                <a:sym typeface="Times New Roman" panose="02020603050405020304"/>
              </a:rPr>
            </a:br>
            <a:r>
              <a:rPr lang="en-US" sz="3600">
                <a:latin typeface="Times New Roman" panose="02020603050405020304"/>
                <a:ea typeface="Times New Roman" panose="02020603050405020304"/>
                <a:cs typeface="Times New Roman" panose="02020603050405020304"/>
                <a:sym typeface="Times New Roman" panose="02020603050405020304"/>
              </a:rPr>
              <a:t>METHOD 1: INTRODUCE VARIABLE COUNT INTO PROGRAMS</a:t>
            </a:r>
            <a:br>
              <a:rPr lang="en-US">
                <a:solidFill>
                  <a:srgbClr val="FF0000"/>
                </a:solidFill>
              </a:rPr>
            </a:br>
            <a:endParaRPr lang="en-US">
              <a:solidFill>
                <a:srgbClr val="FF0000"/>
              </a:solidFill>
            </a:endParaRPr>
          </a:p>
        </p:txBody>
      </p:sp>
      <p:sp>
        <p:nvSpPr>
          <p:cNvPr id="380" name="Google Shape;380;p60"/>
          <p:cNvSpPr txBox="1">
            <a:spLocks noGrp="1"/>
          </p:cNvSpPr>
          <p:nvPr>
            <p:ph type="body" idx="1"/>
          </p:nvPr>
        </p:nvSpPr>
        <p:spPr>
          <a:xfrm>
            <a:off x="1905000" y="914401"/>
            <a:ext cx="8305800" cy="5211763"/>
          </a:xfrm>
          <a:prstGeom prst="rect">
            <a:avLst/>
          </a:prstGeom>
          <a:noFill/>
          <a:ln>
            <a:noFill/>
          </a:ln>
        </p:spPr>
        <p:txBody>
          <a:bodyPr spcFirstLastPara="1" vert="horz" wrap="square" lIns="91425" tIns="45700" rIns="91425" bIns="45700" rtlCol="0" anchor="t" anchorCtr="0">
            <a:normAutofit/>
          </a:bodyPr>
          <a:lstStyle/>
          <a:p>
            <a:pPr marL="0" indent="0">
              <a:spcBef>
                <a:spcPts val="0"/>
              </a:spcBef>
              <a:buClr>
                <a:schemeClr val="dk1"/>
              </a:buClr>
              <a:buSzPts val="2100"/>
              <a:buNone/>
            </a:pPr>
            <a:r>
              <a:rPr lang="en-US" sz="2100">
                <a:latin typeface="Times New Roman" panose="02020603050405020304"/>
                <a:ea typeface="Times New Roman" panose="02020603050405020304"/>
                <a:cs typeface="Times New Roman" panose="02020603050405020304"/>
                <a:sym typeface="Times New Roman" panose="02020603050405020304"/>
              </a:rPr>
              <a:t>Example 1: Find the time complexity for sum of n elements using count variable method.</a:t>
            </a:r>
          </a:p>
          <a:p>
            <a:pPr marL="0" indent="0">
              <a:spcBef>
                <a:spcPts val="420"/>
              </a:spcBef>
              <a:buClr>
                <a:schemeClr val="dk1"/>
              </a:buClr>
              <a:buSzPts val="2100"/>
              <a:buNone/>
            </a:pPr>
            <a:endParaRPr sz="2100">
              <a:latin typeface="Times New Roman" panose="02020603050405020304"/>
              <a:ea typeface="Times New Roman" panose="02020603050405020304"/>
              <a:cs typeface="Times New Roman" panose="02020603050405020304"/>
              <a:sym typeface="Times New Roman" panose="02020603050405020304"/>
            </a:endParaRPr>
          </a:p>
          <a:p>
            <a:pPr marL="0" indent="0">
              <a:spcBef>
                <a:spcPts val="640"/>
              </a:spcBef>
              <a:buClr>
                <a:schemeClr val="dk1"/>
              </a:buClr>
              <a:buSzPts val="3200"/>
              <a:buNone/>
            </a:pPr>
            <a:endParaRPr sz="2100">
              <a:latin typeface="Times New Roman" panose="02020603050405020304"/>
              <a:ea typeface="Times New Roman" panose="02020603050405020304"/>
              <a:cs typeface="Times New Roman" panose="02020603050405020304"/>
              <a:sym typeface="Times New Roman" panose="02020603050405020304"/>
            </a:endParaRPr>
          </a:p>
        </p:txBody>
      </p:sp>
      <p:pic>
        <p:nvPicPr>
          <p:cNvPr id="381" name="Google Shape;381;p60"/>
          <p:cNvPicPr preferRelativeResize="0"/>
          <p:nvPr/>
        </p:nvPicPr>
        <p:blipFill rotWithShape="1">
          <a:blip r:embed="rId3"/>
          <a:srcRect/>
          <a:stretch>
            <a:fillRect/>
          </a:stretch>
        </p:blipFill>
        <p:spPr>
          <a:xfrm>
            <a:off x="2057401" y="1609436"/>
            <a:ext cx="8179833" cy="4953000"/>
          </a:xfrm>
          <a:prstGeom prst="rect">
            <a:avLst/>
          </a:prstGeom>
          <a:noFill/>
          <a:ln>
            <a:noFill/>
          </a:ln>
        </p:spPr>
      </p:pic>
      <p:sp>
        <p:nvSpPr>
          <p:cNvPr id="5" name="Footer Placeholder 3"/>
          <p:cNvSpPr>
            <a:spLocks noGrp="1"/>
          </p:cNvSpPr>
          <p:nvPr>
            <p:ph type="ftr" sz="quarter" idx="11"/>
          </p:nvPr>
        </p:nvSpPr>
        <p:spPr>
          <a:xfrm>
            <a:off x="1698171" y="6356350"/>
            <a:ext cx="8871858" cy="365125"/>
          </a:xfrm>
        </p:spPr>
        <p:txBody>
          <a:bodyPr/>
          <a:lstStyle/>
          <a:p>
            <a:r>
              <a:rPr lang="en-US" dirty="0"/>
              <a:t>Slides prepared by: Prof.Nandini K, Assistant Professor, Department of CSE, </a:t>
            </a:r>
            <a:r>
              <a:rPr lang="en-US" dirty="0" err="1"/>
              <a:t>Dayananda</a:t>
            </a:r>
            <a:r>
              <a:rPr lang="en-US" dirty="0"/>
              <a:t> </a:t>
            </a:r>
            <a:r>
              <a:rPr lang="en-US" dirty="0" err="1"/>
              <a:t>Sagar</a:t>
            </a:r>
            <a:r>
              <a:rPr lang="en-US" dirty="0"/>
              <a:t> University, </a:t>
            </a:r>
            <a:r>
              <a:rPr lang="en-US" dirty="0" err="1"/>
              <a:t>Harohalli</a:t>
            </a:r>
            <a:r>
              <a:rPr lang="en-US" dirty="0"/>
              <a:t>, Karnataka.</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62"/>
          <p:cNvSpPr/>
          <p:nvPr/>
        </p:nvSpPr>
        <p:spPr>
          <a:xfrm>
            <a:off x="1752600" y="152401"/>
            <a:ext cx="8763000" cy="584775"/>
          </a:xfrm>
          <a:prstGeom prst="rect">
            <a:avLst/>
          </a:prstGeom>
          <a:noFill/>
          <a:ln>
            <a:noFill/>
          </a:ln>
        </p:spPr>
        <p:txBody>
          <a:bodyPr spcFirstLastPara="1" wrap="square" lIns="91425" tIns="45700" rIns="91425" bIns="45700" anchor="t" anchorCtr="0">
            <a:noAutofit/>
          </a:bodyPr>
          <a:lstStyle/>
          <a:p>
            <a:pPr algn="ctr"/>
            <a:r>
              <a:rPr lang="en-US" sz="3200">
                <a:solidFill>
                  <a:schemeClr val="dk1"/>
                </a:solidFill>
                <a:latin typeface="Times New Roman" panose="02020603050405020304"/>
                <a:ea typeface="Times New Roman" panose="02020603050405020304"/>
                <a:cs typeface="Times New Roman" panose="02020603050405020304"/>
                <a:sym typeface="Times New Roman" panose="02020603050405020304"/>
              </a:rPr>
              <a:t>Method 2: Tabular method</a:t>
            </a:r>
            <a:endParaRPr sz="32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393" name="Google Shape;393;p62"/>
          <p:cNvGraphicFramePr/>
          <p:nvPr/>
        </p:nvGraphicFramePr>
        <p:xfrm>
          <a:off x="1866900" y="1666919"/>
          <a:ext cx="8534400" cy="3926847"/>
        </p:xfrm>
        <a:graphic>
          <a:graphicData uri="http://schemas.openxmlformats.org/drawingml/2006/table">
            <a:tbl>
              <a:tblPr>
                <a:noFill/>
              </a:tblPr>
              <a:tblGrid>
                <a:gridCol w="3686100">
                  <a:extLst>
                    <a:ext uri="{9D8B030D-6E8A-4147-A177-3AD203B41FA5}">
                      <a16:colId xmlns:a16="http://schemas.microsoft.com/office/drawing/2014/main" val="20000"/>
                    </a:ext>
                  </a:extLst>
                </a:gridCol>
                <a:gridCol w="1565725">
                  <a:extLst>
                    <a:ext uri="{9D8B030D-6E8A-4147-A177-3AD203B41FA5}">
                      <a16:colId xmlns:a16="http://schemas.microsoft.com/office/drawing/2014/main" val="20001"/>
                    </a:ext>
                  </a:extLst>
                </a:gridCol>
                <a:gridCol w="1625875">
                  <a:extLst>
                    <a:ext uri="{9D8B030D-6E8A-4147-A177-3AD203B41FA5}">
                      <a16:colId xmlns:a16="http://schemas.microsoft.com/office/drawing/2014/main" val="20002"/>
                    </a:ext>
                  </a:extLst>
                </a:gridCol>
                <a:gridCol w="1656700">
                  <a:extLst>
                    <a:ext uri="{9D8B030D-6E8A-4147-A177-3AD203B41FA5}">
                      <a16:colId xmlns:a16="http://schemas.microsoft.com/office/drawing/2014/main" val="20003"/>
                    </a:ext>
                  </a:extLst>
                </a:gridCol>
              </a:tblGrid>
              <a:tr h="386125">
                <a:tc>
                  <a:txBody>
                    <a:bodyPr/>
                    <a:lstStyle/>
                    <a:p>
                      <a:pPr marL="555625" marR="0" lvl="0" indent="0" algn="l" rtl="0">
                        <a:lnSpc>
                          <a:spcPct val="115000"/>
                        </a:lnSpc>
                        <a:spcBef>
                          <a:spcPts val="0"/>
                        </a:spcBef>
                        <a:spcAft>
                          <a:spcPts val="0"/>
                        </a:spcAft>
                        <a:buNone/>
                      </a:pPr>
                      <a:r>
                        <a:rPr lang="en-US" sz="2400" b="1">
                          <a:latin typeface="Times New Roman" panose="02020603050405020304"/>
                          <a:ea typeface="Times New Roman" panose="02020603050405020304"/>
                          <a:cs typeface="Times New Roman" panose="02020603050405020304"/>
                          <a:sym typeface="Times New Roman" panose="02020603050405020304"/>
                        </a:rPr>
                        <a:t>Statement</a:t>
                      </a:r>
                      <a:endParaRPr sz="240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257175" marR="0" lvl="0" indent="0" algn="l" rtl="0">
                        <a:lnSpc>
                          <a:spcPct val="115000"/>
                        </a:lnSpc>
                        <a:spcBef>
                          <a:spcPts val="0"/>
                        </a:spcBef>
                        <a:spcAft>
                          <a:spcPts val="0"/>
                        </a:spcAft>
                        <a:buNone/>
                      </a:pPr>
                      <a:r>
                        <a:rPr lang="en-US" sz="2400" b="1">
                          <a:latin typeface="Times New Roman" panose="02020603050405020304"/>
                          <a:ea typeface="Times New Roman" panose="02020603050405020304"/>
                          <a:cs typeface="Times New Roman" panose="02020603050405020304"/>
                          <a:sym typeface="Times New Roman" panose="02020603050405020304"/>
                        </a:rPr>
                        <a:t>S/e</a:t>
                      </a:r>
                      <a:endParaRPr sz="240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65405" marR="0" lvl="0" indent="0" algn="l" rtl="0">
                        <a:lnSpc>
                          <a:spcPct val="115000"/>
                        </a:lnSpc>
                        <a:spcBef>
                          <a:spcPts val="0"/>
                        </a:spcBef>
                        <a:spcAft>
                          <a:spcPts val="0"/>
                        </a:spcAft>
                        <a:buNone/>
                      </a:pPr>
                      <a:r>
                        <a:rPr lang="en-US" sz="2400" b="1">
                          <a:latin typeface="Times New Roman" panose="02020603050405020304"/>
                          <a:ea typeface="Times New Roman" panose="02020603050405020304"/>
                          <a:cs typeface="Times New Roman" panose="02020603050405020304"/>
                          <a:sym typeface="Times New Roman" panose="02020603050405020304"/>
                        </a:rPr>
                        <a:t>Frequency</a:t>
                      </a:r>
                      <a:endParaRPr sz="240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53340" marR="0" lvl="0" indent="0" algn="l" rtl="0">
                        <a:lnSpc>
                          <a:spcPct val="115000"/>
                        </a:lnSpc>
                        <a:spcBef>
                          <a:spcPts val="0"/>
                        </a:spcBef>
                        <a:spcAft>
                          <a:spcPts val="0"/>
                        </a:spcAft>
                        <a:buNone/>
                      </a:pPr>
                      <a:r>
                        <a:rPr lang="en-US" sz="2400" b="1">
                          <a:latin typeface="Times New Roman" panose="02020603050405020304"/>
                          <a:ea typeface="Times New Roman" panose="02020603050405020304"/>
                          <a:cs typeface="Times New Roman" panose="02020603050405020304"/>
                          <a:sym typeface="Times New Roman" panose="02020603050405020304"/>
                        </a:rPr>
                        <a:t>Total steps</a:t>
                      </a:r>
                      <a:endParaRPr sz="240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772275">
                <a:tc>
                  <a:txBody>
                    <a:bodyPr/>
                    <a:lstStyle/>
                    <a:p>
                      <a:pPr marL="0" marR="0" lvl="0" indent="0" algn="l" rtl="0">
                        <a:lnSpc>
                          <a:spcPct val="115000"/>
                        </a:lnSpc>
                        <a:spcBef>
                          <a:spcPts val="0"/>
                        </a:spcBef>
                        <a:spcAft>
                          <a:spcPts val="0"/>
                        </a:spcAft>
                        <a:buNone/>
                      </a:pPr>
                      <a:r>
                        <a:rPr lang="en-US" sz="2400">
                          <a:latin typeface="Times New Roman" panose="02020603050405020304"/>
                          <a:ea typeface="Times New Roman" panose="02020603050405020304"/>
                          <a:cs typeface="Times New Roman" panose="02020603050405020304"/>
                          <a:sym typeface="Times New Roman" panose="02020603050405020304"/>
                        </a:rPr>
                        <a:t> </a:t>
                      </a:r>
                    </a:p>
                    <a:p>
                      <a:pPr marL="165100" marR="0" lvl="0" indent="0" algn="l" rtl="0">
                        <a:lnSpc>
                          <a:spcPct val="115000"/>
                        </a:lnSpc>
                        <a:spcBef>
                          <a:spcPts val="0"/>
                        </a:spcBef>
                        <a:spcAft>
                          <a:spcPts val="0"/>
                        </a:spcAft>
                        <a:buNone/>
                      </a:pPr>
                      <a:r>
                        <a:rPr lang="en-US" sz="2400" b="1">
                          <a:latin typeface="Times New Roman" panose="02020603050405020304"/>
                          <a:ea typeface="Times New Roman" panose="02020603050405020304"/>
                          <a:cs typeface="Times New Roman" panose="02020603050405020304"/>
                          <a:sym typeface="Times New Roman" panose="02020603050405020304"/>
                        </a:rPr>
                        <a:t>1. Algorithm Sum(a, n)</a:t>
                      </a:r>
                      <a:endParaRPr sz="240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15000"/>
                        </a:lnSpc>
                        <a:spcBef>
                          <a:spcPts val="0"/>
                        </a:spcBef>
                        <a:spcAft>
                          <a:spcPts val="0"/>
                        </a:spcAft>
                        <a:buNone/>
                      </a:pPr>
                      <a:r>
                        <a:rPr lang="en-US" sz="2400">
                          <a:latin typeface="Times New Roman" panose="02020603050405020304"/>
                          <a:ea typeface="Times New Roman" panose="02020603050405020304"/>
                          <a:cs typeface="Times New Roman" panose="02020603050405020304"/>
                          <a:sym typeface="Times New Roman" panose="02020603050405020304"/>
                        </a:rPr>
                        <a:t> </a:t>
                      </a:r>
                    </a:p>
                    <a:p>
                      <a:pPr marL="271145" marR="0" lvl="0" indent="0" algn="l" rtl="0">
                        <a:lnSpc>
                          <a:spcPct val="115000"/>
                        </a:lnSpc>
                        <a:spcBef>
                          <a:spcPts val="5"/>
                        </a:spcBef>
                        <a:spcAft>
                          <a:spcPts val="0"/>
                        </a:spcAft>
                        <a:buNone/>
                      </a:pPr>
                      <a:r>
                        <a:rPr lang="en-US" sz="2400" b="1">
                          <a:latin typeface="Times New Roman" panose="02020603050405020304"/>
                          <a:ea typeface="Times New Roman" panose="02020603050405020304"/>
                          <a:cs typeface="Times New Roman" panose="02020603050405020304"/>
                          <a:sym typeface="Times New Roman" panose="02020603050405020304"/>
                        </a:rPr>
                        <a:t>0</a:t>
                      </a:r>
                      <a:endParaRPr sz="240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15000"/>
                        </a:lnSpc>
                        <a:spcBef>
                          <a:spcPts val="0"/>
                        </a:spcBef>
                        <a:spcAft>
                          <a:spcPts val="0"/>
                        </a:spcAft>
                        <a:buNone/>
                      </a:pPr>
                      <a:r>
                        <a:rPr lang="en-US" sz="2400">
                          <a:latin typeface="Times New Roman" panose="02020603050405020304"/>
                          <a:ea typeface="Times New Roman" panose="02020603050405020304"/>
                          <a:cs typeface="Times New Roman" panose="02020603050405020304"/>
                          <a:sym typeface="Times New Roman" panose="02020603050405020304"/>
                        </a:rPr>
                        <a:t> </a:t>
                      </a:r>
                    </a:p>
                    <a:p>
                      <a:pPr marL="0" marR="178435" lvl="0" indent="0" algn="ctr" rtl="0">
                        <a:lnSpc>
                          <a:spcPct val="115000"/>
                        </a:lnSpc>
                        <a:spcBef>
                          <a:spcPts val="0"/>
                        </a:spcBef>
                        <a:spcAft>
                          <a:spcPts val="0"/>
                        </a:spcAft>
                        <a:buNone/>
                      </a:pPr>
                      <a:r>
                        <a:rPr lang="en-US" sz="2400" b="1">
                          <a:latin typeface="Times New Roman" panose="02020603050405020304"/>
                          <a:ea typeface="Times New Roman" panose="02020603050405020304"/>
                          <a:cs typeface="Times New Roman" panose="02020603050405020304"/>
                          <a:sym typeface="Times New Roman" panose="02020603050405020304"/>
                        </a:rPr>
                        <a:t>-</a:t>
                      </a:r>
                      <a:endParaRPr sz="240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15000"/>
                        </a:lnSpc>
                        <a:spcBef>
                          <a:spcPts val="0"/>
                        </a:spcBef>
                        <a:spcAft>
                          <a:spcPts val="0"/>
                        </a:spcAft>
                        <a:buNone/>
                      </a:pPr>
                      <a:r>
                        <a:rPr lang="en-US" sz="2400">
                          <a:latin typeface="Times New Roman" panose="02020603050405020304"/>
                          <a:ea typeface="Times New Roman" panose="02020603050405020304"/>
                          <a:cs typeface="Times New Roman" panose="02020603050405020304"/>
                          <a:sym typeface="Times New Roman" panose="02020603050405020304"/>
                        </a:rPr>
                        <a:t> </a:t>
                      </a:r>
                    </a:p>
                    <a:p>
                      <a:pPr marL="0" marR="90170" lvl="0" indent="0" algn="ctr" rtl="0">
                        <a:lnSpc>
                          <a:spcPct val="115000"/>
                        </a:lnSpc>
                        <a:spcBef>
                          <a:spcPts val="5"/>
                        </a:spcBef>
                        <a:spcAft>
                          <a:spcPts val="0"/>
                        </a:spcAft>
                        <a:buNone/>
                      </a:pPr>
                      <a:r>
                        <a:rPr lang="en-US" sz="2400" b="1">
                          <a:latin typeface="Times New Roman" panose="02020603050405020304"/>
                          <a:ea typeface="Times New Roman" panose="02020603050405020304"/>
                          <a:cs typeface="Times New Roman" panose="02020603050405020304"/>
                          <a:sym typeface="Times New Roman" panose="02020603050405020304"/>
                        </a:rPr>
                        <a:t>0</a:t>
                      </a:r>
                      <a:endParaRPr sz="240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86125">
                <a:tc>
                  <a:txBody>
                    <a:bodyPr/>
                    <a:lstStyle/>
                    <a:p>
                      <a:pPr marL="165100" marR="0" lvl="0" indent="0" algn="l" rtl="0">
                        <a:lnSpc>
                          <a:spcPct val="115000"/>
                        </a:lnSpc>
                        <a:spcBef>
                          <a:spcPts val="0"/>
                        </a:spcBef>
                        <a:spcAft>
                          <a:spcPts val="0"/>
                        </a:spcAft>
                        <a:buNone/>
                      </a:pPr>
                      <a:r>
                        <a:rPr lang="en-US" sz="2400" b="1">
                          <a:latin typeface="Times New Roman" panose="02020603050405020304"/>
                          <a:ea typeface="Times New Roman" panose="02020603050405020304"/>
                          <a:cs typeface="Times New Roman" panose="02020603050405020304"/>
                          <a:sym typeface="Times New Roman" panose="02020603050405020304"/>
                        </a:rPr>
                        <a:t>2. {</a:t>
                      </a:r>
                      <a:endParaRPr sz="240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271145" marR="0" lvl="0" indent="0" algn="l" rtl="0">
                        <a:lnSpc>
                          <a:spcPct val="115000"/>
                        </a:lnSpc>
                        <a:spcBef>
                          <a:spcPts val="0"/>
                        </a:spcBef>
                        <a:spcAft>
                          <a:spcPts val="0"/>
                        </a:spcAft>
                        <a:buNone/>
                      </a:pPr>
                      <a:r>
                        <a:rPr lang="en-US" sz="2400" b="1">
                          <a:latin typeface="Times New Roman" panose="02020603050405020304"/>
                          <a:ea typeface="Times New Roman" panose="02020603050405020304"/>
                          <a:cs typeface="Times New Roman" panose="02020603050405020304"/>
                          <a:sym typeface="Times New Roman" panose="02020603050405020304"/>
                        </a:rPr>
                        <a:t>0</a:t>
                      </a:r>
                      <a:endParaRPr sz="240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178435" lvl="0" indent="0" algn="ctr" rtl="0">
                        <a:lnSpc>
                          <a:spcPct val="115000"/>
                        </a:lnSpc>
                        <a:spcBef>
                          <a:spcPts val="0"/>
                        </a:spcBef>
                        <a:spcAft>
                          <a:spcPts val="0"/>
                        </a:spcAft>
                        <a:buNone/>
                      </a:pPr>
                      <a:r>
                        <a:rPr lang="en-US" sz="2400" b="1">
                          <a:latin typeface="Times New Roman" panose="02020603050405020304"/>
                          <a:ea typeface="Times New Roman" panose="02020603050405020304"/>
                          <a:cs typeface="Times New Roman" panose="02020603050405020304"/>
                          <a:sym typeface="Times New Roman" panose="02020603050405020304"/>
                        </a:rPr>
                        <a:t>-</a:t>
                      </a:r>
                      <a:endParaRPr sz="240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90170" lvl="0" indent="0" algn="ctr" rtl="0">
                        <a:lnSpc>
                          <a:spcPct val="115000"/>
                        </a:lnSpc>
                        <a:spcBef>
                          <a:spcPts val="0"/>
                        </a:spcBef>
                        <a:spcAft>
                          <a:spcPts val="0"/>
                        </a:spcAft>
                        <a:buNone/>
                      </a:pPr>
                      <a:r>
                        <a:rPr lang="en-US" sz="2400" b="1">
                          <a:latin typeface="Times New Roman" panose="02020603050405020304"/>
                          <a:ea typeface="Times New Roman" panose="02020603050405020304"/>
                          <a:cs typeface="Times New Roman" panose="02020603050405020304"/>
                          <a:sym typeface="Times New Roman" panose="02020603050405020304"/>
                        </a:rPr>
                        <a:t>0</a:t>
                      </a:r>
                      <a:endParaRPr sz="240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86125">
                <a:tc>
                  <a:txBody>
                    <a:bodyPr/>
                    <a:lstStyle/>
                    <a:p>
                      <a:pPr marL="165100" marR="0" lvl="0" indent="0" algn="l" rtl="0">
                        <a:lnSpc>
                          <a:spcPct val="115000"/>
                        </a:lnSpc>
                        <a:spcBef>
                          <a:spcPts val="0"/>
                        </a:spcBef>
                        <a:spcAft>
                          <a:spcPts val="0"/>
                        </a:spcAft>
                        <a:buNone/>
                      </a:pPr>
                      <a:r>
                        <a:rPr lang="en-US" sz="2400" b="1">
                          <a:latin typeface="Times New Roman" panose="02020603050405020304"/>
                          <a:ea typeface="Times New Roman" panose="02020603050405020304"/>
                          <a:cs typeface="Times New Roman" panose="02020603050405020304"/>
                          <a:sym typeface="Times New Roman" panose="02020603050405020304"/>
                        </a:rPr>
                        <a:t>3.	s:=0;</a:t>
                      </a:r>
                      <a:endParaRPr sz="240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271145" marR="0" lvl="0" indent="0" algn="l" rtl="0">
                        <a:lnSpc>
                          <a:spcPct val="115000"/>
                        </a:lnSpc>
                        <a:spcBef>
                          <a:spcPts val="0"/>
                        </a:spcBef>
                        <a:spcAft>
                          <a:spcPts val="0"/>
                        </a:spcAft>
                        <a:buNone/>
                      </a:pPr>
                      <a:r>
                        <a:rPr lang="en-US" sz="2400" b="1">
                          <a:latin typeface="Times New Roman" panose="02020603050405020304"/>
                          <a:ea typeface="Times New Roman" panose="02020603050405020304"/>
                          <a:cs typeface="Times New Roman" panose="02020603050405020304"/>
                          <a:sym typeface="Times New Roman" panose="02020603050405020304"/>
                        </a:rPr>
                        <a:t>1</a:t>
                      </a:r>
                      <a:endParaRPr sz="240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156845" lvl="0" indent="0" algn="ctr" rtl="0">
                        <a:lnSpc>
                          <a:spcPct val="115000"/>
                        </a:lnSpc>
                        <a:spcBef>
                          <a:spcPts val="0"/>
                        </a:spcBef>
                        <a:spcAft>
                          <a:spcPts val="0"/>
                        </a:spcAft>
                        <a:buNone/>
                      </a:pPr>
                      <a:r>
                        <a:rPr lang="en-US" sz="2400" b="1">
                          <a:latin typeface="Times New Roman" panose="02020603050405020304"/>
                          <a:ea typeface="Times New Roman" panose="02020603050405020304"/>
                          <a:cs typeface="Times New Roman" panose="02020603050405020304"/>
                          <a:sym typeface="Times New Roman" panose="02020603050405020304"/>
                        </a:rPr>
                        <a:t>1</a:t>
                      </a:r>
                      <a:endParaRPr sz="240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90170" lvl="0" indent="0" algn="ctr" rtl="0">
                        <a:lnSpc>
                          <a:spcPct val="115000"/>
                        </a:lnSpc>
                        <a:spcBef>
                          <a:spcPts val="0"/>
                        </a:spcBef>
                        <a:spcAft>
                          <a:spcPts val="0"/>
                        </a:spcAft>
                        <a:buNone/>
                      </a:pPr>
                      <a:r>
                        <a:rPr lang="en-US" sz="2400" b="1">
                          <a:latin typeface="Times New Roman" panose="02020603050405020304"/>
                          <a:ea typeface="Times New Roman" panose="02020603050405020304"/>
                          <a:cs typeface="Times New Roman" panose="02020603050405020304"/>
                          <a:sym typeface="Times New Roman" panose="02020603050405020304"/>
                        </a:rPr>
                        <a:t>1</a:t>
                      </a:r>
                      <a:endParaRPr sz="240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86125">
                <a:tc>
                  <a:txBody>
                    <a:bodyPr/>
                    <a:lstStyle/>
                    <a:p>
                      <a:pPr marL="165100" marR="0" lvl="0" indent="0" algn="l" rtl="0">
                        <a:lnSpc>
                          <a:spcPct val="115000"/>
                        </a:lnSpc>
                        <a:spcBef>
                          <a:spcPts val="0"/>
                        </a:spcBef>
                        <a:spcAft>
                          <a:spcPts val="0"/>
                        </a:spcAft>
                        <a:buNone/>
                      </a:pPr>
                      <a:r>
                        <a:rPr lang="en-US" sz="2400" b="1">
                          <a:latin typeface="Times New Roman" panose="02020603050405020304"/>
                          <a:ea typeface="Times New Roman" panose="02020603050405020304"/>
                          <a:cs typeface="Times New Roman" panose="02020603050405020304"/>
                          <a:sym typeface="Times New Roman" panose="02020603050405020304"/>
                        </a:rPr>
                        <a:t>4.	for i:=1 to n do</a:t>
                      </a:r>
                      <a:endParaRPr sz="240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271145" marR="0" lvl="0" indent="0" algn="l" rtl="0">
                        <a:lnSpc>
                          <a:spcPct val="115000"/>
                        </a:lnSpc>
                        <a:spcBef>
                          <a:spcPts val="0"/>
                        </a:spcBef>
                        <a:spcAft>
                          <a:spcPts val="0"/>
                        </a:spcAft>
                        <a:buNone/>
                      </a:pPr>
                      <a:r>
                        <a:rPr lang="en-US" sz="2400" b="1">
                          <a:latin typeface="Times New Roman" panose="02020603050405020304"/>
                          <a:ea typeface="Times New Roman" panose="02020603050405020304"/>
                          <a:cs typeface="Times New Roman" panose="02020603050405020304"/>
                          <a:sym typeface="Times New Roman" panose="02020603050405020304"/>
                        </a:rPr>
                        <a:t>1</a:t>
                      </a:r>
                      <a:endParaRPr sz="240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224155" marR="236855" lvl="0" indent="0" algn="ctr" rtl="0">
                        <a:lnSpc>
                          <a:spcPct val="115000"/>
                        </a:lnSpc>
                        <a:spcBef>
                          <a:spcPts val="0"/>
                        </a:spcBef>
                        <a:spcAft>
                          <a:spcPts val="0"/>
                        </a:spcAft>
                        <a:buNone/>
                      </a:pPr>
                      <a:r>
                        <a:rPr lang="en-US" sz="2400" b="1">
                          <a:latin typeface="Times New Roman" panose="02020603050405020304"/>
                          <a:ea typeface="Times New Roman" panose="02020603050405020304"/>
                          <a:cs typeface="Times New Roman" panose="02020603050405020304"/>
                          <a:sym typeface="Times New Roman" panose="02020603050405020304"/>
                        </a:rPr>
                        <a:t>n+1</a:t>
                      </a:r>
                      <a:endParaRPr sz="240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275590" marR="0" lvl="0" indent="0" algn="l" rtl="0">
                        <a:lnSpc>
                          <a:spcPct val="115000"/>
                        </a:lnSpc>
                        <a:spcBef>
                          <a:spcPts val="0"/>
                        </a:spcBef>
                        <a:spcAft>
                          <a:spcPts val="0"/>
                        </a:spcAft>
                        <a:buNone/>
                      </a:pPr>
                      <a:r>
                        <a:rPr lang="en-US" sz="2400" b="1">
                          <a:latin typeface="Times New Roman" panose="02020603050405020304"/>
                          <a:ea typeface="Times New Roman" panose="02020603050405020304"/>
                          <a:cs typeface="Times New Roman" panose="02020603050405020304"/>
                          <a:sym typeface="Times New Roman" panose="02020603050405020304"/>
                        </a:rPr>
                        <a:t>n+1</a:t>
                      </a:r>
                      <a:endParaRPr sz="240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86125">
                <a:tc>
                  <a:txBody>
                    <a:bodyPr/>
                    <a:lstStyle/>
                    <a:p>
                      <a:pPr marL="165100" marR="0" lvl="0" indent="0" algn="l" rtl="0">
                        <a:lnSpc>
                          <a:spcPct val="115000"/>
                        </a:lnSpc>
                        <a:spcBef>
                          <a:spcPts val="0"/>
                        </a:spcBef>
                        <a:spcAft>
                          <a:spcPts val="0"/>
                        </a:spcAft>
                        <a:buNone/>
                      </a:pPr>
                      <a:r>
                        <a:rPr lang="en-US" sz="2400" b="1">
                          <a:latin typeface="Times New Roman" panose="02020603050405020304"/>
                          <a:ea typeface="Times New Roman" panose="02020603050405020304"/>
                          <a:cs typeface="Times New Roman" panose="02020603050405020304"/>
                          <a:sym typeface="Times New Roman" panose="02020603050405020304"/>
                        </a:rPr>
                        <a:t>5.	s:=s+a[i];</a:t>
                      </a:r>
                      <a:endParaRPr sz="240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271145" marR="0" lvl="0" indent="0" algn="l" rtl="0">
                        <a:lnSpc>
                          <a:spcPct val="115000"/>
                        </a:lnSpc>
                        <a:spcBef>
                          <a:spcPts val="0"/>
                        </a:spcBef>
                        <a:spcAft>
                          <a:spcPts val="0"/>
                        </a:spcAft>
                        <a:buNone/>
                      </a:pPr>
                      <a:r>
                        <a:rPr lang="en-US" sz="2400" b="1">
                          <a:latin typeface="Times New Roman" panose="02020603050405020304"/>
                          <a:ea typeface="Times New Roman" panose="02020603050405020304"/>
                          <a:cs typeface="Times New Roman" panose="02020603050405020304"/>
                          <a:sym typeface="Times New Roman" panose="02020603050405020304"/>
                        </a:rPr>
                        <a:t>1</a:t>
                      </a:r>
                      <a:endParaRPr sz="240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149860" lvl="0" indent="0" algn="ctr" rtl="0">
                        <a:lnSpc>
                          <a:spcPct val="115000"/>
                        </a:lnSpc>
                        <a:spcBef>
                          <a:spcPts val="0"/>
                        </a:spcBef>
                        <a:spcAft>
                          <a:spcPts val="0"/>
                        </a:spcAft>
                        <a:buNone/>
                      </a:pPr>
                      <a:r>
                        <a:rPr lang="en-US" sz="2400" b="1">
                          <a:latin typeface="Times New Roman" panose="02020603050405020304"/>
                          <a:ea typeface="Times New Roman" panose="02020603050405020304"/>
                          <a:cs typeface="Times New Roman" panose="02020603050405020304"/>
                          <a:sym typeface="Times New Roman" panose="02020603050405020304"/>
                        </a:rPr>
                        <a:t>n</a:t>
                      </a:r>
                      <a:endParaRPr sz="240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83185" lvl="0" indent="0" algn="ctr" rtl="0">
                        <a:lnSpc>
                          <a:spcPct val="115000"/>
                        </a:lnSpc>
                        <a:spcBef>
                          <a:spcPts val="0"/>
                        </a:spcBef>
                        <a:spcAft>
                          <a:spcPts val="0"/>
                        </a:spcAft>
                        <a:buNone/>
                      </a:pPr>
                      <a:r>
                        <a:rPr lang="en-US" sz="2400" b="1">
                          <a:latin typeface="Times New Roman" panose="02020603050405020304"/>
                          <a:ea typeface="Times New Roman" panose="02020603050405020304"/>
                          <a:cs typeface="Times New Roman" panose="02020603050405020304"/>
                          <a:sym typeface="Times New Roman" panose="02020603050405020304"/>
                        </a:rPr>
                        <a:t>n</a:t>
                      </a:r>
                      <a:endParaRPr sz="240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386125">
                <a:tc>
                  <a:txBody>
                    <a:bodyPr/>
                    <a:lstStyle/>
                    <a:p>
                      <a:pPr marL="165100" marR="0" lvl="0" indent="0" algn="l" rtl="0">
                        <a:lnSpc>
                          <a:spcPct val="115000"/>
                        </a:lnSpc>
                        <a:spcBef>
                          <a:spcPts val="0"/>
                        </a:spcBef>
                        <a:spcAft>
                          <a:spcPts val="0"/>
                        </a:spcAft>
                        <a:buNone/>
                      </a:pPr>
                      <a:r>
                        <a:rPr lang="en-US" sz="2400" b="1">
                          <a:latin typeface="Times New Roman" panose="02020603050405020304"/>
                          <a:ea typeface="Times New Roman" panose="02020603050405020304"/>
                          <a:cs typeface="Times New Roman" panose="02020603050405020304"/>
                          <a:sym typeface="Times New Roman" panose="02020603050405020304"/>
                        </a:rPr>
                        <a:t>6.	return s;</a:t>
                      </a:r>
                      <a:endParaRPr sz="240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271145" marR="0" lvl="0" indent="0" algn="l" rtl="0">
                        <a:lnSpc>
                          <a:spcPct val="115000"/>
                        </a:lnSpc>
                        <a:spcBef>
                          <a:spcPts val="0"/>
                        </a:spcBef>
                        <a:spcAft>
                          <a:spcPts val="0"/>
                        </a:spcAft>
                        <a:buNone/>
                      </a:pPr>
                      <a:r>
                        <a:rPr lang="en-US" sz="2400" b="1">
                          <a:latin typeface="Times New Roman" panose="02020603050405020304"/>
                          <a:ea typeface="Times New Roman" panose="02020603050405020304"/>
                          <a:cs typeface="Times New Roman" panose="02020603050405020304"/>
                          <a:sym typeface="Times New Roman" panose="02020603050405020304"/>
                        </a:rPr>
                        <a:t>1</a:t>
                      </a:r>
                      <a:endParaRPr sz="240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156845" lvl="0" indent="0" algn="ctr" rtl="0">
                        <a:lnSpc>
                          <a:spcPct val="115000"/>
                        </a:lnSpc>
                        <a:spcBef>
                          <a:spcPts val="0"/>
                        </a:spcBef>
                        <a:spcAft>
                          <a:spcPts val="0"/>
                        </a:spcAft>
                        <a:buNone/>
                      </a:pPr>
                      <a:r>
                        <a:rPr lang="en-US" sz="2400" b="1">
                          <a:latin typeface="Times New Roman" panose="02020603050405020304"/>
                          <a:ea typeface="Times New Roman" panose="02020603050405020304"/>
                          <a:cs typeface="Times New Roman" panose="02020603050405020304"/>
                          <a:sym typeface="Times New Roman" panose="02020603050405020304"/>
                        </a:rPr>
                        <a:t>1</a:t>
                      </a:r>
                      <a:endParaRPr sz="240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90170" lvl="0" indent="0" algn="ctr" rtl="0">
                        <a:lnSpc>
                          <a:spcPct val="115000"/>
                        </a:lnSpc>
                        <a:spcBef>
                          <a:spcPts val="0"/>
                        </a:spcBef>
                        <a:spcAft>
                          <a:spcPts val="0"/>
                        </a:spcAft>
                        <a:buNone/>
                      </a:pPr>
                      <a:r>
                        <a:rPr lang="en-US" sz="2400" b="1">
                          <a:latin typeface="Times New Roman" panose="02020603050405020304"/>
                          <a:ea typeface="Times New Roman" panose="02020603050405020304"/>
                          <a:cs typeface="Times New Roman" panose="02020603050405020304"/>
                          <a:sym typeface="Times New Roman" panose="02020603050405020304"/>
                        </a:rPr>
                        <a:t>1</a:t>
                      </a:r>
                      <a:endParaRPr sz="240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6"/>
                  </a:ext>
                </a:extLst>
              </a:tr>
              <a:tr h="410975">
                <a:tc>
                  <a:txBody>
                    <a:bodyPr/>
                    <a:lstStyle/>
                    <a:p>
                      <a:pPr marL="165100" marR="0" lvl="0" indent="0" algn="l" rtl="0">
                        <a:lnSpc>
                          <a:spcPct val="115000"/>
                        </a:lnSpc>
                        <a:spcBef>
                          <a:spcPts val="0"/>
                        </a:spcBef>
                        <a:spcAft>
                          <a:spcPts val="0"/>
                        </a:spcAft>
                        <a:buNone/>
                      </a:pPr>
                      <a:r>
                        <a:rPr lang="en-US" sz="2400" b="1">
                          <a:latin typeface="Times New Roman" panose="02020603050405020304"/>
                          <a:ea typeface="Times New Roman" panose="02020603050405020304"/>
                          <a:cs typeface="Times New Roman" panose="02020603050405020304"/>
                          <a:sym typeface="Times New Roman" panose="02020603050405020304"/>
                        </a:rPr>
                        <a:t>7. }</a:t>
                      </a:r>
                      <a:endParaRPr sz="240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271145" marR="0" lvl="0" indent="0" algn="l" rtl="0">
                        <a:lnSpc>
                          <a:spcPct val="115000"/>
                        </a:lnSpc>
                        <a:spcBef>
                          <a:spcPts val="0"/>
                        </a:spcBef>
                        <a:spcAft>
                          <a:spcPts val="0"/>
                        </a:spcAft>
                        <a:buNone/>
                      </a:pPr>
                      <a:r>
                        <a:rPr lang="en-US" sz="2400" b="1">
                          <a:latin typeface="Times New Roman" panose="02020603050405020304"/>
                          <a:ea typeface="Times New Roman" panose="02020603050405020304"/>
                          <a:cs typeface="Times New Roman" panose="02020603050405020304"/>
                          <a:sym typeface="Times New Roman" panose="02020603050405020304"/>
                        </a:rPr>
                        <a:t>0</a:t>
                      </a:r>
                      <a:endParaRPr sz="240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178435" lvl="0" indent="0" algn="ctr" rtl="0">
                        <a:lnSpc>
                          <a:spcPct val="115000"/>
                        </a:lnSpc>
                        <a:spcBef>
                          <a:spcPts val="0"/>
                        </a:spcBef>
                        <a:spcAft>
                          <a:spcPts val="0"/>
                        </a:spcAft>
                        <a:buNone/>
                      </a:pPr>
                      <a:r>
                        <a:rPr lang="en-US" sz="2400" b="1">
                          <a:latin typeface="Times New Roman" panose="02020603050405020304"/>
                          <a:ea typeface="Times New Roman" panose="02020603050405020304"/>
                          <a:cs typeface="Times New Roman" panose="02020603050405020304"/>
                          <a:sym typeface="Times New Roman" panose="02020603050405020304"/>
                        </a:rPr>
                        <a:t>-</a:t>
                      </a:r>
                      <a:endParaRPr sz="240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90170" lvl="0" indent="0" algn="ctr" rtl="0">
                        <a:lnSpc>
                          <a:spcPct val="115000"/>
                        </a:lnSpc>
                        <a:spcBef>
                          <a:spcPts val="0"/>
                        </a:spcBef>
                        <a:spcAft>
                          <a:spcPts val="0"/>
                        </a:spcAft>
                        <a:buNone/>
                      </a:pPr>
                      <a:r>
                        <a:rPr lang="en-US" sz="2400" b="1">
                          <a:latin typeface="Times New Roman" panose="02020603050405020304"/>
                          <a:ea typeface="Times New Roman" panose="02020603050405020304"/>
                          <a:cs typeface="Times New Roman" panose="02020603050405020304"/>
                          <a:sym typeface="Times New Roman" panose="02020603050405020304"/>
                        </a:rPr>
                        <a:t>0</a:t>
                      </a:r>
                      <a:endParaRPr sz="240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386125">
                <a:tc>
                  <a:txBody>
                    <a:bodyPr/>
                    <a:lstStyle/>
                    <a:p>
                      <a:pPr marL="526415" marR="0" lvl="0" indent="0" algn="l" rtl="0">
                        <a:lnSpc>
                          <a:spcPct val="115000"/>
                        </a:lnSpc>
                        <a:spcBef>
                          <a:spcPts val="0"/>
                        </a:spcBef>
                        <a:spcAft>
                          <a:spcPts val="0"/>
                        </a:spcAft>
                        <a:buNone/>
                      </a:pPr>
                      <a:r>
                        <a:rPr lang="en-US" sz="2400" b="1">
                          <a:latin typeface="Times New Roman" panose="02020603050405020304"/>
                          <a:ea typeface="Times New Roman" panose="02020603050405020304"/>
                          <a:cs typeface="Times New Roman" panose="02020603050405020304"/>
                          <a:sym typeface="Times New Roman" panose="02020603050405020304"/>
                        </a:rPr>
                        <a:t>Total</a:t>
                      </a:r>
                      <a:endParaRPr sz="240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None/>
                      </a:pPr>
                      <a:r>
                        <a:rPr lang="en-US" sz="2400">
                          <a:latin typeface="Times New Roman" panose="02020603050405020304"/>
                          <a:ea typeface="Times New Roman" panose="02020603050405020304"/>
                          <a:cs typeface="Times New Roman" panose="02020603050405020304"/>
                          <a:sym typeface="Times New Roman" panose="02020603050405020304"/>
                        </a:rPr>
                        <a:t> </a:t>
                      </a: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None/>
                      </a:pPr>
                      <a:r>
                        <a:rPr lang="en-US" sz="2400">
                          <a:latin typeface="Times New Roman" panose="02020603050405020304"/>
                          <a:ea typeface="Times New Roman" panose="02020603050405020304"/>
                          <a:cs typeface="Times New Roman" panose="02020603050405020304"/>
                          <a:sym typeface="Times New Roman" panose="02020603050405020304"/>
                        </a:rPr>
                        <a:t> </a:t>
                      </a: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67945" marR="0" lvl="0" indent="0" algn="l" rtl="0">
                        <a:lnSpc>
                          <a:spcPct val="115000"/>
                        </a:lnSpc>
                        <a:spcBef>
                          <a:spcPts val="0"/>
                        </a:spcBef>
                        <a:spcAft>
                          <a:spcPts val="0"/>
                        </a:spcAft>
                        <a:buNone/>
                      </a:pPr>
                      <a:r>
                        <a:rPr lang="en-US" sz="2400" b="1">
                          <a:latin typeface="Times New Roman" panose="02020603050405020304"/>
                          <a:ea typeface="Times New Roman" panose="02020603050405020304"/>
                          <a:cs typeface="Times New Roman" panose="02020603050405020304"/>
                          <a:sym typeface="Times New Roman" panose="02020603050405020304"/>
                        </a:rPr>
                        <a:t>2n+3 steps</a:t>
                      </a:r>
                      <a:endParaRPr sz="240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
        <p:nvSpPr>
          <p:cNvPr id="394" name="Google Shape;394;p62"/>
          <p:cNvSpPr/>
          <p:nvPr/>
        </p:nvSpPr>
        <p:spPr>
          <a:xfrm>
            <a:off x="1752600" y="914400"/>
            <a:ext cx="8763000" cy="738664"/>
          </a:xfrm>
          <a:prstGeom prst="rect">
            <a:avLst/>
          </a:prstGeom>
          <a:noFill/>
          <a:ln>
            <a:noFill/>
          </a:ln>
        </p:spPr>
        <p:txBody>
          <a:bodyPr spcFirstLastPara="1" wrap="square" lIns="91425" tIns="45700" rIns="91425" bIns="45700" anchor="t" anchorCtr="0">
            <a:noAutofit/>
          </a:bodyPr>
          <a:lstStyle/>
          <a:p>
            <a:r>
              <a:rPr lang="en-US" sz="2100">
                <a:solidFill>
                  <a:schemeClr val="dk1"/>
                </a:solidFill>
                <a:latin typeface="Times New Roman" panose="02020603050405020304"/>
                <a:ea typeface="Times New Roman" panose="02020603050405020304"/>
                <a:cs typeface="Times New Roman" panose="02020603050405020304"/>
                <a:sym typeface="Times New Roman" panose="02020603050405020304"/>
              </a:rPr>
              <a:t>Example 1: Find the time complexity for sum of n elements using Tabular method</a:t>
            </a:r>
          </a:p>
        </p:txBody>
      </p:sp>
      <p:sp>
        <p:nvSpPr>
          <p:cNvPr id="395" name="Google Shape;395;p62"/>
          <p:cNvSpPr/>
          <p:nvPr/>
        </p:nvSpPr>
        <p:spPr>
          <a:xfrm>
            <a:off x="6134100" y="5943600"/>
            <a:ext cx="3924300" cy="446276"/>
          </a:xfrm>
          <a:prstGeom prst="rect">
            <a:avLst/>
          </a:prstGeom>
          <a:noFill/>
          <a:ln>
            <a:noFill/>
          </a:ln>
        </p:spPr>
        <p:txBody>
          <a:bodyPr spcFirstLastPara="1" wrap="square" lIns="91425" tIns="45700" rIns="91425" bIns="45700" anchor="t" anchorCtr="0">
            <a:noAutofit/>
          </a:bodyPr>
          <a:lstStyle/>
          <a:p>
            <a:pPr>
              <a:lnSpc>
                <a:spcPct val="115000"/>
              </a:lnSpc>
            </a:pPr>
            <a:r>
              <a:rPr lang="en-US" sz="2000" b="1">
                <a:solidFill>
                  <a:srgbClr val="FF0000"/>
                </a:solidFill>
                <a:latin typeface="Calibri" panose="020F0502020204030204"/>
                <a:ea typeface="Calibri" panose="020F0502020204030204"/>
                <a:cs typeface="Calibri" panose="020F0502020204030204"/>
                <a:sym typeface="Calibri" panose="020F0502020204030204"/>
              </a:rPr>
              <a:t>                    Time complexity = O(n)</a:t>
            </a:r>
            <a:endParaRPr sz="20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6" name="Footer Placeholder 3"/>
          <p:cNvSpPr>
            <a:spLocks noGrp="1"/>
          </p:cNvSpPr>
          <p:nvPr>
            <p:ph type="ftr" sz="quarter" idx="11"/>
          </p:nvPr>
        </p:nvSpPr>
        <p:spPr>
          <a:xfrm>
            <a:off x="1698171" y="6356350"/>
            <a:ext cx="8871858" cy="365125"/>
          </a:xfrm>
        </p:spPr>
        <p:txBody>
          <a:bodyPr/>
          <a:lstStyle/>
          <a:p>
            <a:r>
              <a:rPr lang="en-US" dirty="0"/>
              <a:t>Slides prepared by: Prof.Nandini K, Assistant Professor, Department of CSE, </a:t>
            </a:r>
            <a:r>
              <a:rPr lang="en-US" dirty="0" err="1"/>
              <a:t>Dayananda</a:t>
            </a:r>
            <a:r>
              <a:rPr lang="en-US" dirty="0"/>
              <a:t> </a:t>
            </a:r>
            <a:r>
              <a:rPr lang="en-US" dirty="0" err="1"/>
              <a:t>Sagar</a:t>
            </a:r>
            <a:r>
              <a:rPr lang="en-US" dirty="0"/>
              <a:t> University, </a:t>
            </a:r>
            <a:r>
              <a:rPr lang="en-US" dirty="0" err="1"/>
              <a:t>Harohalli</a:t>
            </a:r>
            <a:r>
              <a:rPr lang="en-US" dirty="0"/>
              <a:t>, Karnataka.</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36600" y="948171"/>
            <a:ext cx="10515600" cy="4351338"/>
          </a:xfrm>
        </p:spPr>
        <p:txBody>
          <a:bodyPr/>
          <a:lstStyle/>
          <a:p>
            <a:pPr lvl="0">
              <a:spcBef>
                <a:spcPts val="380"/>
              </a:spcBef>
              <a:buClr>
                <a:schemeClr val="dk1"/>
              </a:buClr>
              <a:buSzPts val="1900"/>
            </a:pPr>
            <a:r>
              <a:rPr lang="en-US" dirty="0">
                <a:latin typeface="Times New Roman" panose="02020603050405020304"/>
                <a:ea typeface="Times New Roman" panose="02020603050405020304"/>
                <a:cs typeface="Times New Roman" panose="02020603050405020304"/>
                <a:sym typeface="Times New Roman" panose="02020603050405020304"/>
              </a:rPr>
              <a:t> Link for more </a:t>
            </a:r>
            <a:r>
              <a:rPr lang="en-US" b="1" dirty="0">
                <a:latin typeface="Times New Roman" panose="02020603050405020304"/>
                <a:ea typeface="Times New Roman" panose="02020603050405020304"/>
                <a:cs typeface="Times New Roman" panose="02020603050405020304"/>
                <a:sym typeface="Times New Roman" panose="02020603050405020304"/>
              </a:rPr>
              <a:t>problems on time </a:t>
            </a:r>
            <a:r>
              <a:rPr lang="en-US" dirty="0">
                <a:latin typeface="Times New Roman" panose="02020603050405020304"/>
                <a:ea typeface="Times New Roman" panose="02020603050405020304"/>
                <a:cs typeface="Times New Roman" panose="02020603050405020304"/>
                <a:sym typeface="Times New Roman" panose="02020603050405020304"/>
              </a:rPr>
              <a:t>complexity</a:t>
            </a:r>
          </a:p>
          <a:p>
            <a:pPr marL="0" lvl="0" indent="0">
              <a:spcBef>
                <a:spcPts val="380"/>
              </a:spcBef>
              <a:buClr>
                <a:schemeClr val="dk1"/>
              </a:buClr>
              <a:buSzPts val="1900"/>
              <a:buNone/>
            </a:pPr>
            <a:endParaRPr lang="en-US" dirty="0"/>
          </a:p>
          <a:p>
            <a:pPr marL="0" lvl="0" indent="0">
              <a:spcBef>
                <a:spcPts val="380"/>
              </a:spcBef>
              <a:buClr>
                <a:schemeClr val="dk1"/>
              </a:buClr>
              <a:buSzPts val="1900"/>
              <a:buNone/>
            </a:pPr>
            <a:r>
              <a:rPr lang="en-US" u="sng" dirty="0">
                <a:solidFill>
                  <a:schemeClr val="accent1">
                    <a:lumMod val="75000"/>
                  </a:schemeClr>
                </a:solidFill>
              </a:rPr>
              <a:t>https://drive.google.com/file/d/1iztF4UFGIzp3Yo4O67eJlzORcgVip_3G/view?usp=sharing</a:t>
            </a:r>
          </a:p>
        </p:txBody>
      </p:sp>
      <p:sp>
        <p:nvSpPr>
          <p:cNvPr id="4" name="Footer Placeholder 3"/>
          <p:cNvSpPr>
            <a:spLocks noGrp="1"/>
          </p:cNvSpPr>
          <p:nvPr>
            <p:ph type="ftr" sz="quarter" idx="11"/>
          </p:nvPr>
        </p:nvSpPr>
        <p:spPr/>
        <p:txBody>
          <a:bodyPr/>
          <a:lstStyle/>
          <a:p>
            <a:r>
              <a:rPr lang="en-US"/>
              <a:t>Slides prepared by: Prof.Nandini K, Assistant Professor, Department of CSE, Dayananda Sagar University, Harohalli, Karnataka.</a:t>
            </a:r>
            <a:endParaRPr lang="en-US" dirty="0"/>
          </a:p>
        </p:txBody>
      </p:sp>
      <p:sp>
        <p:nvSpPr>
          <p:cNvPr id="5" name="Slide Number Placeholder 4"/>
          <p:cNvSpPr>
            <a:spLocks noGrp="1"/>
          </p:cNvSpPr>
          <p:nvPr>
            <p:ph type="sldNum" sz="quarter" idx="12"/>
          </p:nvPr>
        </p:nvSpPr>
        <p:spPr/>
        <p:txBody>
          <a:bodyPr/>
          <a:lstStyle/>
          <a:p>
            <a:fld id="{5731DF9D-C219-B24D-9CD4-0503F6C036DC}" type="slidenum">
              <a:rPr lang="en-US" smtClean="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65125"/>
            <a:ext cx="10180899" cy="798657"/>
          </a:xfrm>
        </p:spPr>
        <p:txBody>
          <a:bodyPr/>
          <a:lstStyle/>
          <a:p>
            <a:pPr algn="ctr"/>
            <a:r>
              <a:rPr lang="en-US" dirty="0"/>
              <a:t>Space Complexity</a:t>
            </a:r>
          </a:p>
        </p:txBody>
      </p:sp>
      <p:sp>
        <p:nvSpPr>
          <p:cNvPr id="4" name="Footer Placeholder 3"/>
          <p:cNvSpPr>
            <a:spLocks noGrp="1"/>
          </p:cNvSpPr>
          <p:nvPr>
            <p:ph type="ftr" sz="quarter" idx="11"/>
          </p:nvPr>
        </p:nvSpPr>
        <p:spPr/>
        <p:txBody>
          <a:bodyPr/>
          <a:lstStyle/>
          <a:p>
            <a:r>
              <a:rPr lang="en-US"/>
              <a:t>Slides prepared by: Prof.Nandini K, Assistant Professor, Department of CSE, Dayananda Sagar University, Harohalli, Karnataka.</a:t>
            </a:r>
            <a:endParaRPr lang="en-US" dirty="0"/>
          </a:p>
        </p:txBody>
      </p:sp>
      <p:sp>
        <p:nvSpPr>
          <p:cNvPr id="5" name="Slide Number Placeholder 4"/>
          <p:cNvSpPr>
            <a:spLocks noGrp="1"/>
          </p:cNvSpPr>
          <p:nvPr>
            <p:ph type="sldNum" sz="quarter" idx="12"/>
          </p:nvPr>
        </p:nvSpPr>
        <p:spPr/>
        <p:txBody>
          <a:bodyPr/>
          <a:lstStyle/>
          <a:p>
            <a:fld id="{5731DF9D-C219-B24D-9CD4-0503F6C036DC}" type="slidenum">
              <a:rPr lang="en-US" smtClean="0"/>
              <a:t>28</a:t>
            </a:fld>
            <a:endParaRPr lang="en-US"/>
          </a:p>
        </p:txBody>
      </p:sp>
      <p:sp>
        <p:nvSpPr>
          <p:cNvPr id="7" name="Content Placeholder 6"/>
          <p:cNvSpPr>
            <a:spLocks noGrp="1"/>
          </p:cNvSpPr>
          <p:nvPr>
            <p:ph idx="1"/>
          </p:nvPr>
        </p:nvSpPr>
        <p:spPr>
          <a:xfrm>
            <a:off x="838200" y="1163782"/>
            <a:ext cx="10515600" cy="5013181"/>
          </a:xfrm>
        </p:spPr>
        <p:txBody>
          <a:bodyPr/>
          <a:lstStyle/>
          <a:p>
            <a:pPr marL="0" indent="0">
              <a:lnSpc>
                <a:spcPct val="150000"/>
              </a:lnSpc>
              <a:buNone/>
            </a:pPr>
            <a:r>
              <a:rPr lang="en-US" b="1" dirty="0"/>
              <a:t>Space Efficiency</a:t>
            </a:r>
          </a:p>
          <a:p>
            <a:pPr>
              <a:lnSpc>
                <a:spcPct val="150000"/>
              </a:lnSpc>
            </a:pPr>
            <a:r>
              <a:rPr lang="en-US" dirty="0"/>
              <a:t>The amount of memory required to run the program completely and efficiently.</a:t>
            </a:r>
          </a:p>
          <a:p>
            <a:pPr>
              <a:lnSpc>
                <a:spcPct val="150000"/>
              </a:lnSpc>
            </a:pPr>
            <a:r>
              <a:rPr lang="en-US" dirty="0"/>
              <a:t>Components that affect space are:</a:t>
            </a:r>
          </a:p>
          <a:p>
            <a:pPr marL="457200" indent="-457200">
              <a:lnSpc>
                <a:spcPct val="150000"/>
              </a:lnSpc>
              <a:buAutoNum type="arabicPeriod"/>
            </a:pPr>
            <a:r>
              <a:rPr lang="en-US" dirty="0"/>
              <a:t>Program Space </a:t>
            </a:r>
            <a:r>
              <a:rPr lang="en-US" dirty="0">
                <a:sym typeface="Wingdings" panose="05000000000000000000" pitchFamily="2" charset="2"/>
              </a:rPr>
              <a:t> Storing machine program generated by compiler or assembler.</a:t>
            </a:r>
          </a:p>
          <a:p>
            <a:pPr marL="457200" indent="-457200">
              <a:lnSpc>
                <a:spcPct val="150000"/>
              </a:lnSpc>
              <a:buAutoNum type="arabicPeriod"/>
            </a:pPr>
            <a:r>
              <a:rPr lang="en-US" dirty="0">
                <a:sym typeface="Wingdings" panose="05000000000000000000" pitchFamily="2" charset="2"/>
              </a:rPr>
              <a:t>Data Space  Store constants, variables etc.</a:t>
            </a:r>
          </a:p>
          <a:p>
            <a:pPr marL="457200" indent="-457200">
              <a:lnSpc>
                <a:spcPct val="150000"/>
              </a:lnSpc>
              <a:buAutoNum type="arabicPeriod"/>
            </a:pPr>
            <a:r>
              <a:rPr lang="en-US" dirty="0">
                <a:sym typeface="Wingdings" panose="05000000000000000000" pitchFamily="2" charset="2"/>
              </a:rPr>
              <a:t>Stack Space  Store the return address along with parameters that are passed to function, local variables etc.</a:t>
            </a:r>
            <a:endParaRPr lang="en-US" dirty="0"/>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8" name="Google Shape;428;p68"/>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3200"/>
            </a:pPr>
            <a:r>
              <a:rPr lang="en-US" sz="3200">
                <a:latin typeface="Times New Roman" panose="02020603050405020304"/>
                <a:ea typeface="Times New Roman" panose="02020603050405020304"/>
                <a:cs typeface="Times New Roman" panose="02020603050405020304"/>
                <a:sym typeface="Times New Roman" panose="02020603050405020304"/>
              </a:rPr>
              <a:t>Space Complexity</a:t>
            </a:r>
            <a:br>
              <a:rPr lang="en-US" sz="3200">
                <a:latin typeface="Times New Roman" panose="02020603050405020304"/>
                <a:ea typeface="Times New Roman" panose="02020603050405020304"/>
                <a:cs typeface="Times New Roman" panose="02020603050405020304"/>
                <a:sym typeface="Times New Roman" panose="02020603050405020304"/>
              </a:rPr>
            </a:br>
            <a:r>
              <a:rPr lang="en-US" sz="3200">
                <a:latin typeface="Times New Roman" panose="02020603050405020304"/>
                <a:ea typeface="Times New Roman" panose="02020603050405020304"/>
                <a:cs typeface="Times New Roman" panose="02020603050405020304"/>
                <a:sym typeface="Times New Roman" panose="02020603050405020304"/>
              </a:rPr>
              <a:t>S(P)=C+S</a:t>
            </a:r>
            <a:r>
              <a:rPr lang="en-US" sz="3200" baseline="-25000">
                <a:latin typeface="Times New Roman" panose="02020603050405020304"/>
                <a:ea typeface="Times New Roman" panose="02020603050405020304"/>
                <a:cs typeface="Times New Roman" panose="02020603050405020304"/>
                <a:sym typeface="Times New Roman" panose="02020603050405020304"/>
              </a:rPr>
              <a:t>P</a:t>
            </a:r>
            <a:endParaRPr sz="3200">
              <a:latin typeface="Times New Roman" panose="02020603050405020304"/>
              <a:ea typeface="Times New Roman" panose="02020603050405020304"/>
              <a:cs typeface="Times New Roman" panose="02020603050405020304"/>
              <a:sym typeface="Times New Roman" panose="02020603050405020304"/>
            </a:endParaRPr>
          </a:p>
        </p:txBody>
      </p:sp>
      <p:sp>
        <p:nvSpPr>
          <p:cNvPr id="429" name="Google Shape;429;p68"/>
          <p:cNvSpPr txBox="1">
            <a:spLocks noGrp="1"/>
          </p:cNvSpPr>
          <p:nvPr>
            <p:ph type="body" idx="1"/>
          </p:nvPr>
        </p:nvSpPr>
        <p:spPr>
          <a:xfrm>
            <a:off x="1071418" y="1429184"/>
            <a:ext cx="10723418" cy="5091689"/>
          </a:xfrm>
          <a:prstGeom prst="rect">
            <a:avLst/>
          </a:prstGeom>
          <a:noFill/>
          <a:ln>
            <a:noFill/>
          </a:ln>
        </p:spPr>
        <p:txBody>
          <a:bodyPr spcFirstLastPara="1" vert="horz" wrap="square" lIns="91425" tIns="45700" rIns="91425" bIns="45700" rtlCol="0" anchor="t" anchorCtr="0">
            <a:normAutofit/>
          </a:bodyPr>
          <a:lstStyle/>
          <a:p>
            <a:pPr marL="0" indent="0">
              <a:lnSpc>
                <a:spcPct val="150000"/>
              </a:lnSpc>
              <a:spcBef>
                <a:spcPts val="0"/>
              </a:spcBef>
              <a:buClr>
                <a:schemeClr val="dk1"/>
              </a:buClr>
              <a:buSzPts val="2100"/>
              <a:buNone/>
            </a:pPr>
            <a:r>
              <a:rPr lang="en-US" sz="2100" b="1" dirty="0">
                <a:latin typeface="Times New Roman" panose="02020603050405020304"/>
                <a:ea typeface="Times New Roman" panose="02020603050405020304"/>
                <a:cs typeface="Times New Roman" panose="02020603050405020304"/>
                <a:sym typeface="Times New Roman" panose="02020603050405020304"/>
              </a:rPr>
              <a:t>FIXED SPACE REQUIREMENTS (C)</a:t>
            </a:r>
            <a:br>
              <a:rPr lang="en-US" sz="2100" dirty="0">
                <a:latin typeface="Times New Roman" panose="02020603050405020304"/>
                <a:ea typeface="Times New Roman" panose="02020603050405020304"/>
                <a:cs typeface="Times New Roman" panose="02020603050405020304"/>
                <a:sym typeface="Times New Roman" panose="02020603050405020304"/>
              </a:rPr>
            </a:br>
            <a:r>
              <a:rPr lang="en-US" sz="2100" dirty="0">
                <a:latin typeface="Times New Roman" panose="02020603050405020304"/>
                <a:ea typeface="Times New Roman" panose="02020603050405020304"/>
                <a:cs typeface="Times New Roman" panose="02020603050405020304"/>
                <a:sym typeface="Times New Roman" panose="02020603050405020304"/>
              </a:rPr>
              <a:t>Independent of the characteristics of the inputs and outputs</a:t>
            </a:r>
            <a:endParaRPr dirty="0"/>
          </a:p>
          <a:p>
            <a:pPr marL="742950" lvl="1" indent="-285750">
              <a:lnSpc>
                <a:spcPct val="150000"/>
              </a:lnSpc>
              <a:spcBef>
                <a:spcPts val="420"/>
              </a:spcBef>
              <a:buClr>
                <a:schemeClr val="dk1"/>
              </a:buClr>
              <a:buSzPts val="2100"/>
              <a:buFont typeface="Noto Sans Symbols"/>
              <a:buChar char="▪"/>
            </a:pPr>
            <a:r>
              <a:rPr lang="en-US" sz="2100" dirty="0">
                <a:latin typeface="Times New Roman" panose="02020603050405020304"/>
                <a:ea typeface="Times New Roman" panose="02020603050405020304"/>
                <a:cs typeface="Times New Roman" panose="02020603050405020304"/>
                <a:sym typeface="Times New Roman" panose="02020603050405020304"/>
              </a:rPr>
              <a:t>instruction space</a:t>
            </a:r>
            <a:endParaRPr dirty="0"/>
          </a:p>
          <a:p>
            <a:pPr marL="742950" lvl="1" indent="-285750">
              <a:lnSpc>
                <a:spcPct val="150000"/>
              </a:lnSpc>
              <a:spcBef>
                <a:spcPts val="420"/>
              </a:spcBef>
              <a:buClr>
                <a:schemeClr val="dk1"/>
              </a:buClr>
              <a:buSzPts val="2100"/>
              <a:buFont typeface="Noto Sans Symbols"/>
              <a:buChar char="▪"/>
            </a:pPr>
            <a:r>
              <a:rPr lang="en-US" sz="2100" dirty="0">
                <a:latin typeface="Times New Roman" panose="02020603050405020304"/>
                <a:ea typeface="Times New Roman" panose="02020603050405020304"/>
                <a:cs typeface="Times New Roman" panose="02020603050405020304"/>
                <a:sym typeface="Times New Roman" panose="02020603050405020304"/>
              </a:rPr>
              <a:t>space for simple variables, fixed-size structured variable, constants</a:t>
            </a:r>
            <a:endParaRPr dirty="0"/>
          </a:p>
          <a:p>
            <a:pPr marL="342900" indent="-342900">
              <a:lnSpc>
                <a:spcPct val="150000"/>
              </a:lnSpc>
              <a:spcBef>
                <a:spcPts val="420"/>
              </a:spcBef>
              <a:buClr>
                <a:schemeClr val="dk1"/>
              </a:buClr>
              <a:buSzPts val="2100"/>
              <a:buFont typeface="Noto Sans Symbols"/>
              <a:buChar char="▪"/>
            </a:pPr>
            <a:r>
              <a:rPr lang="en-US" sz="2100" b="1" dirty="0">
                <a:latin typeface="Times New Roman" panose="02020603050405020304"/>
                <a:ea typeface="Times New Roman" panose="02020603050405020304"/>
                <a:cs typeface="Times New Roman" panose="02020603050405020304"/>
                <a:sym typeface="Times New Roman" panose="02020603050405020304"/>
              </a:rPr>
              <a:t>VARIABLE SPACE REQUIREMENTS (SP(I))</a:t>
            </a:r>
            <a:endParaRPr dirty="0"/>
          </a:p>
          <a:p>
            <a:pPr marL="0" indent="0">
              <a:lnSpc>
                <a:spcPct val="150000"/>
              </a:lnSpc>
              <a:spcBef>
                <a:spcPts val="420"/>
              </a:spcBef>
              <a:buClr>
                <a:schemeClr val="dk1"/>
              </a:buClr>
              <a:buSzPts val="2100"/>
              <a:buNone/>
            </a:pPr>
            <a:r>
              <a:rPr lang="en-US" sz="2100" dirty="0">
                <a:latin typeface="Times New Roman" panose="02020603050405020304"/>
                <a:ea typeface="Times New Roman" panose="02020603050405020304"/>
                <a:cs typeface="Times New Roman" panose="02020603050405020304"/>
                <a:sym typeface="Times New Roman" panose="02020603050405020304"/>
              </a:rPr>
              <a:t>depend on the instance characteristic I</a:t>
            </a:r>
            <a:endParaRPr dirty="0"/>
          </a:p>
          <a:p>
            <a:pPr marL="742950" lvl="1" indent="-285750">
              <a:lnSpc>
                <a:spcPct val="150000"/>
              </a:lnSpc>
              <a:spcBef>
                <a:spcPts val="420"/>
              </a:spcBef>
              <a:buClr>
                <a:schemeClr val="dk1"/>
              </a:buClr>
              <a:buSzPts val="2100"/>
              <a:buFont typeface="Noto Sans Symbols"/>
              <a:buChar char="▪"/>
            </a:pPr>
            <a:r>
              <a:rPr lang="en-US" sz="2100" dirty="0">
                <a:latin typeface="Times New Roman" panose="02020603050405020304"/>
                <a:ea typeface="Times New Roman" panose="02020603050405020304"/>
                <a:cs typeface="Times New Roman" panose="02020603050405020304"/>
                <a:sym typeface="Times New Roman" panose="02020603050405020304"/>
              </a:rPr>
              <a:t>number, size, values of inputs and outputs associated with I.</a:t>
            </a:r>
            <a:endParaRPr dirty="0"/>
          </a:p>
          <a:p>
            <a:pPr marL="742950" lvl="1" indent="-285750">
              <a:lnSpc>
                <a:spcPct val="150000"/>
              </a:lnSpc>
              <a:spcBef>
                <a:spcPts val="420"/>
              </a:spcBef>
              <a:buClr>
                <a:schemeClr val="dk1"/>
              </a:buClr>
              <a:buSzPts val="2100"/>
              <a:buFont typeface="Noto Sans Symbols"/>
              <a:buChar char="▪"/>
            </a:pPr>
            <a:r>
              <a:rPr lang="en-US" sz="2100" dirty="0">
                <a:latin typeface="Times New Roman" panose="02020603050405020304"/>
                <a:ea typeface="Times New Roman" panose="02020603050405020304"/>
                <a:cs typeface="Times New Roman" panose="02020603050405020304"/>
                <a:sym typeface="Times New Roman" panose="02020603050405020304"/>
              </a:rPr>
              <a:t>recursive stack space, formal parameters, local variables, return address.</a:t>
            </a:r>
            <a:endParaRPr sz="2100"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4" name="Footer Placeholder 3"/>
          <p:cNvSpPr>
            <a:spLocks noGrp="1"/>
          </p:cNvSpPr>
          <p:nvPr>
            <p:ph type="ftr" sz="quarter" idx="11"/>
          </p:nvPr>
        </p:nvSpPr>
        <p:spPr>
          <a:xfrm>
            <a:off x="1698171" y="6356350"/>
            <a:ext cx="8871858" cy="365125"/>
          </a:xfrm>
        </p:spPr>
        <p:txBody>
          <a:bodyPr/>
          <a:lstStyle/>
          <a:p>
            <a:r>
              <a:rPr lang="en-US" dirty="0"/>
              <a:t>Slides prepared by: Prof.Nandini K, Assistant Professor, Department of CSE, </a:t>
            </a:r>
            <a:r>
              <a:rPr lang="en-US" dirty="0" err="1"/>
              <a:t>Dayananda</a:t>
            </a:r>
            <a:r>
              <a:rPr lang="en-US" dirty="0"/>
              <a:t> </a:t>
            </a:r>
            <a:r>
              <a:rPr lang="en-US" dirty="0" err="1"/>
              <a:t>Sagar</a:t>
            </a:r>
            <a:r>
              <a:rPr lang="en-US" dirty="0"/>
              <a:t> University, </a:t>
            </a:r>
            <a:r>
              <a:rPr lang="en-US" dirty="0" err="1"/>
              <a:t>Harohalli</a:t>
            </a:r>
            <a:r>
              <a:rPr lang="en-US" dirty="0"/>
              <a:t>, Karnataka.</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69"/>
          <p:cNvSpPr txBox="1">
            <a:spLocks noGrp="1"/>
          </p:cNvSpPr>
          <p:nvPr>
            <p:ph type="title"/>
          </p:nvPr>
        </p:nvSpPr>
        <p:spPr>
          <a:xfrm>
            <a:off x="1179922" y="161516"/>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3200"/>
            </a:pPr>
            <a:r>
              <a:rPr lang="en-US" sz="3200" dirty="0">
                <a:latin typeface="Times New Roman" panose="02020603050405020304"/>
                <a:ea typeface="Times New Roman" panose="02020603050405020304"/>
                <a:cs typeface="Times New Roman" panose="02020603050405020304"/>
                <a:sym typeface="Times New Roman" panose="02020603050405020304"/>
              </a:rPr>
              <a:t>REASONS FOR STUDYING SPACE COMPLEXITY</a:t>
            </a:r>
            <a:endParaRPr dirty="0"/>
          </a:p>
        </p:txBody>
      </p:sp>
      <p:sp>
        <p:nvSpPr>
          <p:cNvPr id="435" name="Google Shape;435;p69"/>
          <p:cNvSpPr txBox="1">
            <a:spLocks noGrp="1"/>
          </p:cNvSpPr>
          <p:nvPr>
            <p:ph type="body" idx="1"/>
          </p:nvPr>
        </p:nvSpPr>
        <p:spPr>
          <a:xfrm>
            <a:off x="593890" y="1225484"/>
            <a:ext cx="11246176" cy="5382705"/>
          </a:xfrm>
          <a:prstGeom prst="rect">
            <a:avLst/>
          </a:prstGeom>
          <a:noFill/>
          <a:ln>
            <a:noFill/>
          </a:ln>
        </p:spPr>
        <p:txBody>
          <a:bodyPr spcFirstLastPara="1" vert="horz" wrap="square" lIns="91425" tIns="45700" rIns="91425" bIns="45700" rtlCol="0" anchor="t" anchorCtr="0">
            <a:normAutofit/>
          </a:bodyPr>
          <a:lstStyle/>
          <a:p>
            <a:pPr marL="0" lvl="1" indent="0" algn="just">
              <a:lnSpc>
                <a:spcPct val="200000"/>
              </a:lnSpc>
              <a:spcBef>
                <a:spcPts val="0"/>
              </a:spcBef>
              <a:buClr>
                <a:schemeClr val="dk1"/>
              </a:buClr>
              <a:buSzPts val="2100"/>
              <a:buNone/>
            </a:pPr>
            <a:r>
              <a:rPr lang="en-US" sz="2100" dirty="0">
                <a:latin typeface="Times New Roman" panose="02020603050405020304"/>
                <a:ea typeface="Times New Roman" panose="02020603050405020304"/>
                <a:cs typeface="Times New Roman" panose="02020603050405020304"/>
                <a:sym typeface="Times New Roman" panose="02020603050405020304"/>
              </a:rPr>
              <a:t>1.If the program is to run on multi-user system , it may be required to specify the amount of memory to be allowed to the program.</a:t>
            </a:r>
            <a:endParaRPr dirty="0"/>
          </a:p>
          <a:p>
            <a:pPr marL="0" lvl="1" indent="0" algn="just">
              <a:lnSpc>
                <a:spcPct val="200000"/>
              </a:lnSpc>
              <a:spcBef>
                <a:spcPts val="420"/>
              </a:spcBef>
              <a:buClr>
                <a:schemeClr val="dk1"/>
              </a:buClr>
              <a:buSzPts val="2100"/>
              <a:buNone/>
            </a:pPr>
            <a:r>
              <a:rPr lang="en-US" sz="2100" dirty="0">
                <a:latin typeface="Times New Roman" panose="02020603050405020304"/>
                <a:ea typeface="Times New Roman" panose="02020603050405020304"/>
                <a:cs typeface="Times New Roman" panose="02020603050405020304"/>
                <a:sym typeface="Times New Roman" panose="02020603050405020304"/>
              </a:rPr>
              <a:t>2.To know in advance that whether sufficient memory is available to run the program.</a:t>
            </a:r>
            <a:endParaRPr dirty="0"/>
          </a:p>
          <a:p>
            <a:pPr marL="0" lvl="1" indent="0" algn="just">
              <a:lnSpc>
                <a:spcPct val="200000"/>
              </a:lnSpc>
              <a:spcBef>
                <a:spcPts val="420"/>
              </a:spcBef>
              <a:buClr>
                <a:schemeClr val="dk1"/>
              </a:buClr>
              <a:buSzPts val="2100"/>
              <a:buNone/>
            </a:pPr>
            <a:r>
              <a:rPr lang="en-US" sz="2100" dirty="0">
                <a:latin typeface="Times New Roman" panose="02020603050405020304"/>
                <a:ea typeface="Times New Roman" panose="02020603050405020304"/>
                <a:cs typeface="Times New Roman" panose="02020603050405020304"/>
                <a:sym typeface="Times New Roman" panose="02020603050405020304"/>
              </a:rPr>
              <a:t>3.There may be several possible solutions with different space requirements.</a:t>
            </a:r>
            <a:endParaRPr dirty="0"/>
          </a:p>
          <a:p>
            <a:pPr marL="0" lvl="1" indent="0" algn="just">
              <a:lnSpc>
                <a:spcPct val="200000"/>
              </a:lnSpc>
              <a:spcBef>
                <a:spcPts val="420"/>
              </a:spcBef>
              <a:buClr>
                <a:schemeClr val="dk1"/>
              </a:buClr>
              <a:buSzPts val="2100"/>
              <a:buNone/>
            </a:pPr>
            <a:r>
              <a:rPr lang="en-US" sz="2100" dirty="0">
                <a:latin typeface="Times New Roman" panose="02020603050405020304"/>
                <a:ea typeface="Times New Roman" panose="02020603050405020304"/>
                <a:cs typeface="Times New Roman" panose="02020603050405020304"/>
                <a:sym typeface="Times New Roman" panose="02020603050405020304"/>
              </a:rPr>
              <a:t>NOTE: Instance characteristics (</a:t>
            </a:r>
            <a:r>
              <a:rPr lang="en-US" sz="2100" dirty="0" err="1">
                <a:latin typeface="Times New Roman" panose="02020603050405020304"/>
                <a:ea typeface="Times New Roman" panose="02020603050405020304"/>
                <a:cs typeface="Times New Roman" panose="02020603050405020304"/>
                <a:sym typeface="Times New Roman" panose="02020603050405020304"/>
              </a:rPr>
              <a:t>S</a:t>
            </a:r>
            <a:r>
              <a:rPr lang="en-US" sz="2100" baseline="-25000" dirty="0" err="1">
                <a:latin typeface="Times New Roman" panose="02020603050405020304"/>
                <a:ea typeface="Times New Roman" panose="02020603050405020304"/>
                <a:cs typeface="Times New Roman" panose="02020603050405020304"/>
                <a:sym typeface="Times New Roman" panose="02020603050405020304"/>
              </a:rPr>
              <a:t>p</a:t>
            </a:r>
            <a:r>
              <a:rPr lang="en-US" sz="2100" dirty="0">
                <a:latin typeface="Times New Roman" panose="02020603050405020304"/>
                <a:ea typeface="Times New Roman" panose="02020603050405020304"/>
                <a:cs typeface="Times New Roman" panose="02020603050405020304"/>
                <a:sym typeface="Times New Roman" panose="02020603050405020304"/>
              </a:rPr>
              <a:t>) varies from problem to problem , so during analyzing the space complexity the sole concentration is on analyzing S</a:t>
            </a:r>
            <a:r>
              <a:rPr lang="en-US" sz="2100" baseline="-25000" dirty="0">
                <a:latin typeface="Times New Roman" panose="02020603050405020304"/>
                <a:ea typeface="Times New Roman" panose="02020603050405020304"/>
                <a:cs typeface="Times New Roman" panose="02020603050405020304"/>
                <a:sym typeface="Times New Roman" panose="02020603050405020304"/>
              </a:rPr>
              <a:t>p.</a:t>
            </a:r>
            <a:endParaRPr sz="2100" baseline="-25000"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4" name="Footer Placeholder 3"/>
          <p:cNvSpPr>
            <a:spLocks noGrp="1"/>
          </p:cNvSpPr>
          <p:nvPr>
            <p:ph type="ftr" sz="quarter" idx="11"/>
          </p:nvPr>
        </p:nvSpPr>
        <p:spPr>
          <a:xfrm>
            <a:off x="1698171" y="6365586"/>
            <a:ext cx="8871858" cy="365125"/>
          </a:xfrm>
        </p:spPr>
        <p:txBody>
          <a:bodyPr/>
          <a:lstStyle/>
          <a:p>
            <a:r>
              <a:rPr lang="en-US" dirty="0"/>
              <a:t>Slides prepared by: Prof.Nandini K, Assistant Professor, Department of CSE, </a:t>
            </a:r>
            <a:r>
              <a:rPr lang="en-US" dirty="0" err="1"/>
              <a:t>Dayananda</a:t>
            </a:r>
            <a:r>
              <a:rPr lang="en-US" dirty="0"/>
              <a:t> </a:t>
            </a:r>
            <a:r>
              <a:rPr lang="en-US" dirty="0" err="1"/>
              <a:t>Sagar</a:t>
            </a:r>
            <a:r>
              <a:rPr lang="en-US" dirty="0"/>
              <a:t> University, </a:t>
            </a:r>
            <a:r>
              <a:rPr lang="en-US" dirty="0" err="1"/>
              <a:t>Harohalli</a:t>
            </a:r>
            <a:r>
              <a:rPr lang="en-US" dirty="0"/>
              <a:t>, Karnataka.</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71"/>
          <p:cNvSpPr txBox="1">
            <a:spLocks noGrp="1"/>
          </p:cNvSpPr>
          <p:nvPr>
            <p:ph type="title"/>
          </p:nvPr>
        </p:nvSpPr>
        <p:spPr>
          <a:xfrm>
            <a:off x="1538140" y="95529"/>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3200"/>
            </a:pPr>
            <a:r>
              <a:rPr lang="en-US" sz="3200" dirty="0">
                <a:latin typeface="Times New Roman" panose="02020603050405020304"/>
                <a:ea typeface="Times New Roman" panose="02020603050405020304"/>
                <a:cs typeface="Times New Roman" panose="02020603050405020304"/>
                <a:sym typeface="Times New Roman" panose="02020603050405020304"/>
              </a:rPr>
              <a:t>PROBLEMS ON SPACE COMPLEXITY </a:t>
            </a:r>
            <a:endParaRPr dirty="0"/>
          </a:p>
        </p:txBody>
      </p:sp>
      <p:sp>
        <p:nvSpPr>
          <p:cNvPr id="447" name="Google Shape;447;p71"/>
          <p:cNvSpPr txBox="1">
            <a:spLocks noGrp="1"/>
          </p:cNvSpPr>
          <p:nvPr>
            <p:ph type="body" idx="1"/>
          </p:nvPr>
        </p:nvSpPr>
        <p:spPr>
          <a:xfrm>
            <a:off x="518474" y="1150071"/>
            <a:ext cx="10955518" cy="5222450"/>
          </a:xfrm>
          <a:prstGeom prst="rect">
            <a:avLst/>
          </a:prstGeom>
          <a:noFill/>
          <a:ln>
            <a:noFill/>
          </a:ln>
        </p:spPr>
        <p:txBody>
          <a:bodyPr spcFirstLastPara="1" vert="horz" wrap="square" lIns="91425" tIns="45700" rIns="91425" bIns="45700" rtlCol="0" anchor="t" anchorCtr="0">
            <a:normAutofit fontScale="55000" lnSpcReduction="20000"/>
          </a:bodyPr>
          <a:lstStyle/>
          <a:p>
            <a:pPr marL="0" indent="0">
              <a:spcBef>
                <a:spcPts val="0"/>
              </a:spcBef>
              <a:buClr>
                <a:schemeClr val="dk1"/>
              </a:buClr>
              <a:buSzPct val="100000"/>
              <a:buNone/>
            </a:pPr>
            <a:r>
              <a:rPr lang="en-US" sz="3400" dirty="0">
                <a:latin typeface="Times New Roman" panose="02020603050405020304"/>
                <a:ea typeface="Times New Roman" panose="02020603050405020304"/>
                <a:cs typeface="Times New Roman" panose="02020603050405020304"/>
                <a:sym typeface="Times New Roman" panose="02020603050405020304"/>
              </a:rPr>
              <a:t>Example: 1</a:t>
            </a:r>
            <a:endParaRPr dirty="0"/>
          </a:p>
          <a:p>
            <a:pPr marL="0" indent="0">
              <a:spcBef>
                <a:spcPts val="375"/>
              </a:spcBef>
              <a:buClr>
                <a:schemeClr val="dk1"/>
              </a:buClr>
              <a:buSzPct val="100000"/>
              <a:buNone/>
            </a:pPr>
            <a:r>
              <a:rPr lang="en-US" sz="3400" dirty="0">
                <a:latin typeface="Times New Roman" panose="02020603050405020304"/>
                <a:ea typeface="Times New Roman" panose="02020603050405020304"/>
                <a:cs typeface="Times New Roman" panose="02020603050405020304"/>
                <a:sym typeface="Times New Roman" panose="02020603050405020304"/>
              </a:rPr>
              <a:t>Algorithm ADD ( float [], int n)</a:t>
            </a:r>
            <a:endParaRPr dirty="0"/>
          </a:p>
          <a:p>
            <a:pPr marL="0" indent="0">
              <a:spcBef>
                <a:spcPts val="375"/>
              </a:spcBef>
              <a:buClr>
                <a:schemeClr val="dk1"/>
              </a:buClr>
              <a:buSzPct val="100000"/>
              <a:buNone/>
            </a:pPr>
            <a:r>
              <a:rPr lang="en-US" sz="3400" dirty="0">
                <a:latin typeface="Times New Roman" panose="02020603050405020304"/>
                <a:ea typeface="Times New Roman" panose="02020603050405020304"/>
                <a:cs typeface="Times New Roman" panose="02020603050405020304"/>
                <a:sym typeface="Times New Roman" panose="02020603050405020304"/>
              </a:rPr>
              <a:t>{</a:t>
            </a:r>
            <a:endParaRPr dirty="0"/>
          </a:p>
          <a:p>
            <a:pPr marL="0" indent="0">
              <a:spcBef>
                <a:spcPts val="375"/>
              </a:spcBef>
              <a:buClr>
                <a:schemeClr val="dk1"/>
              </a:buClr>
              <a:buSzPct val="100000"/>
              <a:buNone/>
            </a:pPr>
            <a:r>
              <a:rPr lang="en-US" sz="3400" dirty="0">
                <a:latin typeface="Times New Roman" panose="02020603050405020304"/>
                <a:ea typeface="Times New Roman" panose="02020603050405020304"/>
                <a:cs typeface="Times New Roman" panose="02020603050405020304"/>
                <a:sym typeface="Times New Roman" panose="02020603050405020304"/>
              </a:rPr>
              <a:t>sum = 0.0;</a:t>
            </a:r>
            <a:endParaRPr dirty="0"/>
          </a:p>
          <a:p>
            <a:pPr marL="0" indent="0">
              <a:spcBef>
                <a:spcPts val="375"/>
              </a:spcBef>
              <a:buClr>
                <a:schemeClr val="dk1"/>
              </a:buClr>
              <a:buSzPct val="100000"/>
              <a:buNone/>
            </a:pPr>
            <a:r>
              <a:rPr lang="en-US" sz="3400" dirty="0">
                <a:latin typeface="Times New Roman" panose="02020603050405020304"/>
                <a:ea typeface="Times New Roman" panose="02020603050405020304"/>
                <a:cs typeface="Times New Roman" panose="02020603050405020304"/>
                <a:sym typeface="Times New Roman" panose="02020603050405020304"/>
              </a:rPr>
              <a:t>for </a:t>
            </a:r>
            <a:r>
              <a:rPr lang="en-US" sz="3400" dirty="0" err="1">
                <a:latin typeface="Times New Roman" panose="02020603050405020304"/>
                <a:ea typeface="Times New Roman" panose="02020603050405020304"/>
                <a:cs typeface="Times New Roman" panose="02020603050405020304"/>
                <a:sym typeface="Times New Roman" panose="02020603050405020304"/>
              </a:rPr>
              <a:t>i</a:t>
            </a:r>
            <a:r>
              <a:rPr lang="en-US" sz="3400" dirty="0">
                <a:latin typeface="Times New Roman" panose="02020603050405020304"/>
                <a:ea typeface="Times New Roman" panose="02020603050405020304"/>
                <a:cs typeface="Times New Roman" panose="02020603050405020304"/>
                <a:sym typeface="Times New Roman" panose="02020603050405020304"/>
              </a:rPr>
              <a:t>=1 to n do </a:t>
            </a:r>
            <a:endParaRPr dirty="0"/>
          </a:p>
          <a:p>
            <a:pPr marL="0" indent="0">
              <a:spcBef>
                <a:spcPts val="375"/>
              </a:spcBef>
              <a:buClr>
                <a:schemeClr val="dk1"/>
              </a:buClr>
              <a:buSzPct val="100000"/>
              <a:buNone/>
            </a:pPr>
            <a:r>
              <a:rPr lang="en-US" sz="3400" dirty="0">
                <a:latin typeface="Times New Roman" panose="02020603050405020304"/>
                <a:ea typeface="Times New Roman" panose="02020603050405020304"/>
                <a:cs typeface="Times New Roman" panose="02020603050405020304"/>
                <a:sym typeface="Times New Roman" panose="02020603050405020304"/>
              </a:rPr>
              <a:t>sum=</a:t>
            </a:r>
            <a:r>
              <a:rPr lang="en-US" sz="3400" dirty="0" err="1">
                <a:latin typeface="Times New Roman" panose="02020603050405020304"/>
                <a:ea typeface="Times New Roman" panose="02020603050405020304"/>
                <a:cs typeface="Times New Roman" panose="02020603050405020304"/>
                <a:sym typeface="Times New Roman" panose="02020603050405020304"/>
              </a:rPr>
              <a:t>sum+X</a:t>
            </a:r>
            <a:r>
              <a:rPr lang="en-US" sz="3400" dirty="0">
                <a:latin typeface="Times New Roman" panose="02020603050405020304"/>
                <a:ea typeface="Times New Roman" panose="02020603050405020304"/>
                <a:cs typeface="Times New Roman" panose="02020603050405020304"/>
                <a:sym typeface="Times New Roman" panose="02020603050405020304"/>
              </a:rPr>
              <a:t>[</a:t>
            </a:r>
            <a:r>
              <a:rPr lang="en-US" sz="3400" dirty="0" err="1">
                <a:latin typeface="Times New Roman" panose="02020603050405020304"/>
                <a:ea typeface="Times New Roman" panose="02020603050405020304"/>
                <a:cs typeface="Times New Roman" panose="02020603050405020304"/>
                <a:sym typeface="Times New Roman" panose="02020603050405020304"/>
              </a:rPr>
              <a:t>i</a:t>
            </a:r>
            <a:r>
              <a:rPr lang="en-US" sz="3400" dirty="0">
                <a:latin typeface="Times New Roman" panose="02020603050405020304"/>
                <a:ea typeface="Times New Roman" panose="02020603050405020304"/>
                <a:cs typeface="Times New Roman" panose="02020603050405020304"/>
                <a:sym typeface="Times New Roman" panose="02020603050405020304"/>
              </a:rPr>
              <a:t>]; </a:t>
            </a:r>
            <a:endParaRPr dirty="0"/>
          </a:p>
          <a:p>
            <a:pPr marL="0" indent="0">
              <a:spcBef>
                <a:spcPts val="375"/>
              </a:spcBef>
              <a:buClr>
                <a:schemeClr val="dk1"/>
              </a:buClr>
              <a:buSzPct val="100000"/>
              <a:buNone/>
            </a:pPr>
            <a:r>
              <a:rPr lang="en-US" sz="3400" dirty="0">
                <a:latin typeface="Times New Roman" panose="02020603050405020304"/>
                <a:ea typeface="Times New Roman" panose="02020603050405020304"/>
                <a:cs typeface="Times New Roman" panose="02020603050405020304"/>
                <a:sym typeface="Times New Roman" panose="02020603050405020304"/>
              </a:rPr>
              <a:t>return sum; </a:t>
            </a:r>
            <a:endParaRPr dirty="0"/>
          </a:p>
          <a:p>
            <a:pPr marL="0" indent="0">
              <a:spcBef>
                <a:spcPts val="375"/>
              </a:spcBef>
              <a:buClr>
                <a:schemeClr val="dk1"/>
              </a:buClr>
              <a:buSzPct val="100000"/>
              <a:buNone/>
            </a:pPr>
            <a:r>
              <a:rPr lang="en-US" sz="3400" dirty="0">
                <a:latin typeface="Times New Roman" panose="02020603050405020304"/>
                <a:ea typeface="Times New Roman" panose="02020603050405020304"/>
                <a:cs typeface="Times New Roman" panose="02020603050405020304"/>
                <a:sym typeface="Times New Roman" panose="02020603050405020304"/>
              </a:rPr>
              <a:t>}</a:t>
            </a:r>
            <a:endParaRPr dirty="0"/>
          </a:p>
          <a:p>
            <a:pPr marL="0" indent="0">
              <a:lnSpc>
                <a:spcPct val="170000"/>
              </a:lnSpc>
              <a:spcBef>
                <a:spcPts val="375"/>
              </a:spcBef>
              <a:buClr>
                <a:schemeClr val="dk1"/>
              </a:buClr>
              <a:buSzPct val="100000"/>
              <a:buNone/>
            </a:pPr>
            <a:r>
              <a:rPr lang="en-US" sz="3400" dirty="0">
                <a:latin typeface="Times New Roman" panose="02020603050405020304"/>
                <a:ea typeface="Times New Roman" panose="02020603050405020304"/>
                <a:cs typeface="Times New Roman" panose="02020603050405020304"/>
                <a:sym typeface="Times New Roman" panose="02020603050405020304"/>
              </a:rPr>
              <a:t>Here, at least n words since X must be large enough to hold the n elements to be summed. Here the problem instances are characterized by n, the number of elements to be summed. So, </a:t>
            </a:r>
            <a:endParaRPr dirty="0"/>
          </a:p>
          <a:p>
            <a:pPr marL="0" indent="0">
              <a:lnSpc>
                <a:spcPct val="170000"/>
              </a:lnSpc>
              <a:spcBef>
                <a:spcPts val="375"/>
              </a:spcBef>
              <a:buClr>
                <a:schemeClr val="dk1"/>
              </a:buClr>
              <a:buSzPct val="100000"/>
              <a:buNone/>
            </a:pPr>
            <a:r>
              <a:rPr lang="en-US" sz="3400" dirty="0">
                <a:latin typeface="Times New Roman" panose="02020603050405020304"/>
                <a:ea typeface="Times New Roman" panose="02020603050405020304"/>
                <a:cs typeface="Times New Roman" panose="02020603050405020304"/>
                <a:sym typeface="Times New Roman" panose="02020603050405020304"/>
              </a:rPr>
              <a:t>S(ADD) =3+n</a:t>
            </a:r>
            <a:endParaRPr dirty="0"/>
          </a:p>
          <a:p>
            <a:pPr>
              <a:lnSpc>
                <a:spcPct val="170000"/>
              </a:lnSpc>
              <a:spcBef>
                <a:spcPts val="375"/>
              </a:spcBef>
              <a:buClr>
                <a:schemeClr val="dk1"/>
              </a:buClr>
              <a:buSzPct val="100000"/>
            </a:pPr>
            <a:r>
              <a:rPr lang="en-US" sz="3400" dirty="0">
                <a:latin typeface="Times New Roman" panose="02020603050405020304"/>
                <a:ea typeface="Times New Roman" panose="02020603050405020304"/>
                <a:cs typeface="Times New Roman" panose="02020603050405020304"/>
                <a:sym typeface="Times New Roman" panose="02020603050405020304"/>
              </a:rPr>
              <a:t>3-one each for n, I and sum </a:t>
            </a:r>
            <a:r>
              <a:rPr lang="en-US" dirty="0">
                <a:sym typeface="Times New Roman" panose="02020603050405020304"/>
              </a:rPr>
              <a:t>.</a:t>
            </a:r>
          </a:p>
          <a:p>
            <a:pPr>
              <a:lnSpc>
                <a:spcPct val="170000"/>
              </a:lnSpc>
              <a:spcBef>
                <a:spcPts val="375"/>
              </a:spcBef>
              <a:buClr>
                <a:schemeClr val="dk1"/>
              </a:buClr>
              <a:buSzPct val="100000"/>
            </a:pPr>
            <a:r>
              <a:rPr lang="en-US" sz="3400" dirty="0">
                <a:latin typeface="Times New Roman" panose="02020603050405020304"/>
                <a:ea typeface="Times New Roman" panose="02020603050405020304"/>
                <a:cs typeface="Times New Roman" panose="02020603050405020304"/>
                <a:sym typeface="Times New Roman" panose="02020603050405020304"/>
              </a:rPr>
              <a:t>Where n- is for array X[].</a:t>
            </a:r>
            <a:endParaRPr lang="en-US" dirty="0">
              <a:sym typeface="Times New Roman" panose="02020603050405020304"/>
            </a:endParaRPr>
          </a:p>
          <a:p>
            <a:pPr>
              <a:lnSpc>
                <a:spcPct val="170000"/>
              </a:lnSpc>
              <a:spcBef>
                <a:spcPts val="375"/>
              </a:spcBef>
              <a:buClr>
                <a:schemeClr val="dk1"/>
              </a:buClr>
              <a:buSzPct val="100000"/>
            </a:pPr>
            <a:r>
              <a:rPr lang="en-US" sz="3400" dirty="0">
                <a:latin typeface="Times New Roman" panose="02020603050405020304"/>
                <a:ea typeface="Times New Roman" panose="02020603050405020304"/>
                <a:cs typeface="Times New Roman" panose="02020603050405020304"/>
                <a:sym typeface="Times New Roman" panose="02020603050405020304"/>
              </a:rPr>
              <a:t>Space complexity is O(n).</a:t>
            </a:r>
            <a:endParaRPr dirty="0"/>
          </a:p>
          <a:p>
            <a:pPr marL="0" indent="0">
              <a:spcBef>
                <a:spcPts val="350"/>
              </a:spcBef>
              <a:buClr>
                <a:schemeClr val="dk1"/>
              </a:buClr>
              <a:buSzPct val="100000"/>
              <a:buNone/>
            </a:pPr>
            <a:endParaRPr dirty="0"/>
          </a:p>
        </p:txBody>
      </p:sp>
      <p:sp>
        <p:nvSpPr>
          <p:cNvPr id="4" name="Footer Placeholder 3"/>
          <p:cNvSpPr>
            <a:spLocks noGrp="1"/>
          </p:cNvSpPr>
          <p:nvPr>
            <p:ph type="ftr" sz="quarter" idx="11"/>
          </p:nvPr>
        </p:nvSpPr>
        <p:spPr>
          <a:xfrm>
            <a:off x="1698171" y="6365586"/>
            <a:ext cx="8871858" cy="365125"/>
          </a:xfrm>
        </p:spPr>
        <p:txBody>
          <a:bodyPr/>
          <a:lstStyle/>
          <a:p>
            <a:r>
              <a:rPr lang="en-US" dirty="0"/>
              <a:t>Slides prepared by: Prof.Nandini K, Assistant Professor, Department of CSE, </a:t>
            </a:r>
            <a:r>
              <a:rPr lang="en-US" dirty="0" err="1"/>
              <a:t>Dayananda</a:t>
            </a:r>
            <a:r>
              <a:rPr lang="en-US" dirty="0"/>
              <a:t> </a:t>
            </a:r>
            <a:r>
              <a:rPr lang="en-US" dirty="0" err="1"/>
              <a:t>Sagar</a:t>
            </a:r>
            <a:r>
              <a:rPr lang="en-US" dirty="0"/>
              <a:t> University, </a:t>
            </a:r>
            <a:r>
              <a:rPr lang="en-US" dirty="0" err="1"/>
              <a:t>Harohalli</a:t>
            </a:r>
            <a:r>
              <a:rPr lang="en-US" dirty="0"/>
              <a:t>, Karnataka.</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72"/>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3200"/>
            </a:pPr>
            <a:r>
              <a:rPr lang="en-US" sz="3200">
                <a:latin typeface="Times New Roman" panose="02020603050405020304"/>
                <a:ea typeface="Times New Roman" panose="02020603050405020304"/>
                <a:cs typeface="Times New Roman" panose="02020603050405020304"/>
                <a:sym typeface="Times New Roman" panose="02020603050405020304"/>
              </a:rPr>
              <a:t>PROBLEMS ON SPACE COMPLEXITY </a:t>
            </a:r>
          </a:p>
        </p:txBody>
      </p:sp>
      <p:sp>
        <p:nvSpPr>
          <p:cNvPr id="453" name="Google Shape;453;p72"/>
          <p:cNvSpPr txBox="1">
            <a:spLocks noGrp="1"/>
          </p:cNvSpPr>
          <p:nvPr>
            <p:ph type="body" idx="1"/>
          </p:nvPr>
        </p:nvSpPr>
        <p:spPr>
          <a:xfrm>
            <a:off x="1981200" y="1600201"/>
            <a:ext cx="8229600" cy="4525963"/>
          </a:xfrm>
          <a:prstGeom prst="rect">
            <a:avLst/>
          </a:prstGeom>
          <a:noFill/>
          <a:ln>
            <a:noFill/>
          </a:ln>
        </p:spPr>
        <p:txBody>
          <a:bodyPr spcFirstLastPara="1" vert="horz" wrap="square" lIns="91425" tIns="45700" rIns="91425" bIns="45700" rtlCol="0" anchor="t" anchorCtr="0">
            <a:noAutofit/>
          </a:bodyPr>
          <a:lstStyle/>
          <a:p>
            <a:pPr marL="0" indent="0">
              <a:spcBef>
                <a:spcPts val="0"/>
              </a:spcBef>
              <a:buClr>
                <a:schemeClr val="dk1"/>
              </a:buClr>
              <a:buSzPts val="2100"/>
              <a:buNone/>
            </a:pPr>
            <a:r>
              <a:rPr lang="en-US" sz="2100" dirty="0">
                <a:latin typeface="Times New Roman" panose="02020603050405020304"/>
                <a:ea typeface="Times New Roman" panose="02020603050405020304"/>
                <a:cs typeface="Times New Roman" panose="02020603050405020304"/>
                <a:sym typeface="Times New Roman" panose="02020603050405020304"/>
              </a:rPr>
              <a:t>Example 2</a:t>
            </a:r>
          </a:p>
          <a:p>
            <a:pPr marL="0" indent="0">
              <a:spcBef>
                <a:spcPts val="420"/>
              </a:spcBef>
              <a:buClr>
                <a:schemeClr val="dk1"/>
              </a:buClr>
              <a:buSzPts val="2100"/>
              <a:buNone/>
            </a:pPr>
            <a:r>
              <a:rPr lang="en-US" sz="2100" dirty="0">
                <a:latin typeface="Times New Roman" panose="02020603050405020304"/>
                <a:ea typeface="Times New Roman" panose="02020603050405020304"/>
                <a:cs typeface="Times New Roman" panose="02020603050405020304"/>
                <a:sym typeface="Times New Roman" panose="02020603050405020304"/>
              </a:rPr>
              <a:t>Algorithm factorial (int n)</a:t>
            </a:r>
          </a:p>
          <a:p>
            <a:pPr marL="0" indent="0">
              <a:spcBef>
                <a:spcPts val="420"/>
              </a:spcBef>
              <a:buClr>
                <a:schemeClr val="dk1"/>
              </a:buClr>
              <a:buSzPts val="2100"/>
              <a:buNone/>
            </a:pPr>
            <a:r>
              <a:rPr lang="en-US" sz="2100" dirty="0">
                <a:latin typeface="Times New Roman" panose="02020603050405020304"/>
                <a:ea typeface="Times New Roman" panose="02020603050405020304"/>
                <a:cs typeface="Times New Roman" panose="02020603050405020304"/>
                <a:sym typeface="Times New Roman" panose="02020603050405020304"/>
              </a:rPr>
              <a:t>{</a:t>
            </a:r>
          </a:p>
          <a:p>
            <a:pPr marL="0" indent="0">
              <a:spcBef>
                <a:spcPts val="420"/>
              </a:spcBef>
              <a:buClr>
                <a:schemeClr val="dk1"/>
              </a:buClr>
              <a:buSzPts val="2100"/>
              <a:buNone/>
            </a:pPr>
            <a:r>
              <a:rPr lang="en-US" sz="2100" dirty="0">
                <a:latin typeface="Times New Roman" panose="02020603050405020304"/>
                <a:ea typeface="Times New Roman" panose="02020603050405020304"/>
                <a:cs typeface="Times New Roman" panose="02020603050405020304"/>
                <a:sym typeface="Times New Roman" panose="02020603050405020304"/>
              </a:rPr>
              <a:t>if (n == 0)				</a:t>
            </a:r>
            <a:endParaRPr sz="2100" dirty="0">
              <a:latin typeface="Times New Roman" panose="02020603050405020304"/>
              <a:ea typeface="Times New Roman" panose="02020603050405020304"/>
              <a:cs typeface="Times New Roman" panose="02020603050405020304"/>
              <a:sym typeface="Times New Roman" panose="02020603050405020304"/>
            </a:endParaRPr>
          </a:p>
          <a:p>
            <a:pPr marL="0" indent="0">
              <a:spcBef>
                <a:spcPts val="420"/>
              </a:spcBef>
              <a:buClr>
                <a:schemeClr val="dk1"/>
              </a:buClr>
              <a:buSzPts val="2100"/>
              <a:buNone/>
            </a:pPr>
            <a:r>
              <a:rPr lang="en-US" sz="2100" dirty="0">
                <a:latin typeface="Times New Roman" panose="02020603050405020304"/>
                <a:ea typeface="Times New Roman" panose="02020603050405020304"/>
                <a:cs typeface="Times New Roman" panose="02020603050405020304"/>
                <a:sym typeface="Times New Roman" panose="02020603050405020304"/>
              </a:rPr>
              <a:t>return 1;</a:t>
            </a:r>
          </a:p>
          <a:p>
            <a:pPr marL="0" indent="0">
              <a:spcBef>
                <a:spcPts val="420"/>
              </a:spcBef>
              <a:buClr>
                <a:schemeClr val="dk1"/>
              </a:buClr>
              <a:buSzPts val="2100"/>
              <a:buNone/>
            </a:pPr>
            <a:r>
              <a:rPr lang="en-US" sz="2100" dirty="0">
                <a:latin typeface="Times New Roman" panose="02020603050405020304"/>
                <a:ea typeface="Times New Roman" panose="02020603050405020304"/>
                <a:cs typeface="Times New Roman" panose="02020603050405020304"/>
                <a:sym typeface="Times New Roman" panose="02020603050405020304"/>
              </a:rPr>
              <a:t>else.</a:t>
            </a:r>
          </a:p>
          <a:p>
            <a:pPr marL="0" indent="0">
              <a:spcBef>
                <a:spcPts val="420"/>
              </a:spcBef>
              <a:buClr>
                <a:schemeClr val="dk1"/>
              </a:buClr>
              <a:buSzPts val="2100"/>
              <a:buNone/>
            </a:pPr>
            <a:r>
              <a:rPr lang="en-US" sz="2100" dirty="0">
                <a:latin typeface="Times New Roman" panose="02020603050405020304"/>
                <a:ea typeface="Times New Roman" panose="02020603050405020304"/>
                <a:cs typeface="Times New Roman" panose="02020603050405020304"/>
                <a:sym typeface="Times New Roman" panose="02020603050405020304"/>
              </a:rPr>
              <a:t>return(n * factorial(n-1));</a:t>
            </a:r>
          </a:p>
          <a:p>
            <a:pPr marL="0" indent="0">
              <a:spcBef>
                <a:spcPts val="420"/>
              </a:spcBef>
              <a:buClr>
                <a:schemeClr val="dk1"/>
              </a:buClr>
              <a:buSzPts val="2100"/>
              <a:buNone/>
            </a:pPr>
            <a:r>
              <a:rPr lang="en-US" sz="2100" dirty="0">
                <a:latin typeface="Times New Roman" panose="02020603050405020304"/>
                <a:ea typeface="Times New Roman" panose="02020603050405020304"/>
                <a:cs typeface="Times New Roman" panose="02020603050405020304"/>
                <a:sym typeface="Times New Roman" panose="02020603050405020304"/>
              </a:rPr>
              <a:t>}</a:t>
            </a:r>
          </a:p>
          <a:p>
            <a:pPr marL="0" indent="0">
              <a:spcBef>
                <a:spcPts val="420"/>
              </a:spcBef>
              <a:buClr>
                <a:schemeClr val="dk1"/>
              </a:buClr>
              <a:buSzPts val="2100"/>
              <a:buNone/>
            </a:pPr>
            <a:endParaRPr sz="2100" dirty="0">
              <a:latin typeface="Times New Roman" panose="02020603050405020304"/>
              <a:ea typeface="Times New Roman" panose="02020603050405020304"/>
              <a:cs typeface="Times New Roman" panose="02020603050405020304"/>
              <a:sym typeface="Times New Roman" panose="02020603050405020304"/>
            </a:endParaRPr>
          </a:p>
          <a:p>
            <a:pPr marL="0" indent="0">
              <a:spcBef>
                <a:spcPts val="420"/>
              </a:spcBef>
              <a:buClr>
                <a:schemeClr val="dk1"/>
              </a:buClr>
              <a:buSzPts val="2100"/>
              <a:buNone/>
            </a:pPr>
            <a:r>
              <a:rPr lang="en-US" sz="2100" dirty="0">
                <a:latin typeface="Times New Roman" panose="02020603050405020304"/>
                <a:ea typeface="Times New Roman" panose="02020603050405020304"/>
                <a:cs typeface="Times New Roman" panose="02020603050405020304"/>
                <a:sym typeface="Times New Roman" panose="02020603050405020304"/>
              </a:rPr>
              <a:t>Space complexity is O(n).</a:t>
            </a:r>
          </a:p>
          <a:p>
            <a:pPr marL="0" indent="0">
              <a:spcBef>
                <a:spcPts val="420"/>
              </a:spcBef>
              <a:buClr>
                <a:schemeClr val="dk1"/>
              </a:buClr>
              <a:buSzPts val="2100"/>
              <a:buNone/>
            </a:pPr>
            <a:endParaRPr sz="2100"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4" name="Footer Placeholder 3"/>
          <p:cNvSpPr>
            <a:spLocks noGrp="1"/>
          </p:cNvSpPr>
          <p:nvPr>
            <p:ph type="ftr" sz="quarter" idx="11"/>
          </p:nvPr>
        </p:nvSpPr>
        <p:spPr>
          <a:xfrm>
            <a:off x="1698171" y="6356350"/>
            <a:ext cx="8871858" cy="365125"/>
          </a:xfrm>
        </p:spPr>
        <p:txBody>
          <a:bodyPr/>
          <a:lstStyle/>
          <a:p>
            <a:r>
              <a:rPr lang="en-US" dirty="0"/>
              <a:t>Slides prepared by: Prof.Nandini K, Assistant Professor, Department of CSE, </a:t>
            </a:r>
            <a:r>
              <a:rPr lang="en-US" dirty="0" err="1"/>
              <a:t>Dayananda</a:t>
            </a:r>
            <a:r>
              <a:rPr lang="en-US" dirty="0"/>
              <a:t> </a:t>
            </a:r>
            <a:r>
              <a:rPr lang="en-US" dirty="0" err="1"/>
              <a:t>Sagar</a:t>
            </a:r>
            <a:r>
              <a:rPr lang="en-US" dirty="0"/>
              <a:t> University, </a:t>
            </a:r>
            <a:r>
              <a:rPr lang="en-US" dirty="0" err="1"/>
              <a:t>Harohalli</a:t>
            </a:r>
            <a:r>
              <a:rPr lang="en-US" dirty="0"/>
              <a:t>, Karnataka.</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5690" y="198872"/>
            <a:ext cx="10180899" cy="678584"/>
          </a:xfrm>
        </p:spPr>
        <p:txBody>
          <a:bodyPr>
            <a:normAutofit fontScale="90000"/>
          </a:bodyPr>
          <a:lstStyle/>
          <a:p>
            <a:pPr algn="ctr"/>
            <a:r>
              <a:rPr lang="en-US" dirty="0"/>
              <a:t>Order</a:t>
            </a:r>
            <a:r>
              <a:rPr lang="en-US" spc="-55" dirty="0"/>
              <a:t> </a:t>
            </a:r>
            <a:r>
              <a:rPr lang="en-US" dirty="0"/>
              <a:t>of</a:t>
            </a:r>
            <a:r>
              <a:rPr lang="en-US" spc="-30" dirty="0"/>
              <a:t> </a:t>
            </a:r>
            <a:r>
              <a:rPr lang="en-US" spc="-10" dirty="0"/>
              <a:t>Growth</a:t>
            </a:r>
            <a:endParaRPr lang="en-US" dirty="0"/>
          </a:p>
        </p:txBody>
      </p:sp>
      <p:sp>
        <p:nvSpPr>
          <p:cNvPr id="3" name="Content Placeholder 2"/>
          <p:cNvSpPr>
            <a:spLocks noGrp="1"/>
          </p:cNvSpPr>
          <p:nvPr>
            <p:ph idx="1"/>
          </p:nvPr>
        </p:nvSpPr>
        <p:spPr>
          <a:xfrm>
            <a:off x="838200" y="960582"/>
            <a:ext cx="10515600" cy="5216381"/>
          </a:xfrm>
        </p:spPr>
        <p:txBody>
          <a:bodyPr/>
          <a:lstStyle/>
          <a:p>
            <a:pPr marL="355600" indent="-342900">
              <a:lnSpc>
                <a:spcPct val="150000"/>
              </a:lnSpc>
              <a:spcBef>
                <a:spcPts val="1300"/>
              </a:spcBef>
              <a:buFont typeface="Wingdings" panose="05000000000000000000"/>
              <a:buChar char=""/>
              <a:tabLst>
                <a:tab pos="355600" algn="l"/>
              </a:tabLst>
            </a:pPr>
            <a:r>
              <a:rPr lang="en-US" dirty="0">
                <a:latin typeface="Times New Roman" panose="02020603050405020304"/>
                <a:cs typeface="Times New Roman" panose="02020603050405020304"/>
              </a:rPr>
              <a:t>The</a:t>
            </a:r>
            <a:r>
              <a:rPr lang="en-US" spc="-15" dirty="0">
                <a:latin typeface="Times New Roman" panose="02020603050405020304"/>
                <a:cs typeface="Times New Roman" panose="02020603050405020304"/>
              </a:rPr>
              <a:t> </a:t>
            </a:r>
            <a:r>
              <a:rPr lang="en-US" dirty="0">
                <a:latin typeface="Times New Roman" panose="02020603050405020304"/>
                <a:cs typeface="Times New Roman" panose="02020603050405020304"/>
              </a:rPr>
              <a:t>relative</a:t>
            </a:r>
            <a:r>
              <a:rPr lang="en-US" spc="-5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performance</a:t>
            </a:r>
            <a:r>
              <a:rPr lang="en-US" spc="-6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of</a:t>
            </a:r>
            <a:r>
              <a:rPr lang="en-US" spc="-45" dirty="0">
                <a:latin typeface="Times New Roman" panose="02020603050405020304"/>
                <a:cs typeface="Times New Roman" panose="02020603050405020304"/>
              </a:rPr>
              <a:t> </a:t>
            </a:r>
            <a:r>
              <a:rPr lang="en-US" dirty="0">
                <a:latin typeface="Times New Roman" panose="02020603050405020304"/>
                <a:cs typeface="Times New Roman" panose="02020603050405020304"/>
              </a:rPr>
              <a:t>an</a:t>
            </a:r>
            <a:r>
              <a:rPr lang="en-US" spc="-2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algorithms</a:t>
            </a:r>
            <a:r>
              <a:rPr lang="en-US" spc="425" dirty="0">
                <a:latin typeface="Times New Roman" panose="02020603050405020304"/>
                <a:cs typeface="Times New Roman" panose="02020603050405020304"/>
              </a:rPr>
              <a:t> </a:t>
            </a:r>
            <a:r>
              <a:rPr lang="en-US" dirty="0">
                <a:latin typeface="Times New Roman" panose="02020603050405020304"/>
                <a:cs typeface="Times New Roman" panose="02020603050405020304"/>
              </a:rPr>
              <a:t>depends</a:t>
            </a:r>
            <a:r>
              <a:rPr lang="en-US" spc="-8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on</a:t>
            </a:r>
            <a:r>
              <a:rPr lang="en-US" spc="-2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input</a:t>
            </a:r>
            <a:r>
              <a:rPr lang="en-US" spc="-7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data</a:t>
            </a:r>
            <a:r>
              <a:rPr lang="en-US" spc="-25" dirty="0">
                <a:latin typeface="Times New Roman" panose="02020603050405020304"/>
                <a:cs typeface="Times New Roman" panose="02020603050405020304"/>
              </a:rPr>
              <a:t> </a:t>
            </a:r>
            <a:r>
              <a:rPr lang="en-US" dirty="0">
                <a:latin typeface="Times New Roman" panose="02020603050405020304"/>
                <a:cs typeface="Times New Roman" panose="02020603050405020304"/>
              </a:rPr>
              <a:t>size</a:t>
            </a:r>
            <a:r>
              <a:rPr lang="en-US" spc="-45" dirty="0">
                <a:latin typeface="Times New Roman" panose="02020603050405020304"/>
                <a:cs typeface="Times New Roman" panose="02020603050405020304"/>
              </a:rPr>
              <a:t> </a:t>
            </a:r>
            <a:r>
              <a:rPr lang="en-US" spc="-25" dirty="0">
                <a:latin typeface="Times New Roman" panose="02020603050405020304"/>
                <a:cs typeface="Times New Roman" panose="02020603050405020304"/>
              </a:rPr>
              <a:t>N.</a:t>
            </a:r>
            <a:endParaRPr lang="en-US" dirty="0">
              <a:latin typeface="Times New Roman" panose="02020603050405020304"/>
              <a:cs typeface="Times New Roman" panose="02020603050405020304"/>
            </a:endParaRPr>
          </a:p>
          <a:p>
            <a:pPr marL="355600" indent="-342900">
              <a:lnSpc>
                <a:spcPct val="150000"/>
              </a:lnSpc>
              <a:spcBef>
                <a:spcPts val="1205"/>
              </a:spcBef>
              <a:buFont typeface="Wingdings" panose="05000000000000000000"/>
              <a:buChar char=""/>
              <a:tabLst>
                <a:tab pos="355600" algn="l"/>
              </a:tabLst>
            </a:pPr>
            <a:r>
              <a:rPr lang="en-US" dirty="0">
                <a:latin typeface="Times New Roman" panose="02020603050405020304"/>
                <a:cs typeface="Times New Roman" panose="02020603050405020304"/>
              </a:rPr>
              <a:t>The</a:t>
            </a:r>
            <a:r>
              <a:rPr lang="en-US" spc="-2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order</a:t>
            </a:r>
            <a:r>
              <a:rPr lang="en-US" spc="-5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of</a:t>
            </a:r>
            <a:r>
              <a:rPr lang="en-US" spc="-4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growth</a:t>
            </a:r>
            <a:r>
              <a:rPr lang="en-US" spc="-65" dirty="0">
                <a:latin typeface="Times New Roman" panose="02020603050405020304"/>
                <a:cs typeface="Times New Roman" panose="02020603050405020304"/>
              </a:rPr>
              <a:t> </a:t>
            </a:r>
            <a:r>
              <a:rPr lang="en-US" dirty="0">
                <a:latin typeface="Times New Roman" panose="02020603050405020304"/>
                <a:cs typeface="Times New Roman" panose="02020603050405020304"/>
              </a:rPr>
              <a:t>is</a:t>
            </a:r>
            <a:r>
              <a:rPr lang="en-US" spc="-3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normally</a:t>
            </a:r>
            <a:r>
              <a:rPr lang="en-US" spc="-9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determined</a:t>
            </a:r>
            <a:r>
              <a:rPr lang="en-US" spc="-6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for</a:t>
            </a:r>
            <a:r>
              <a:rPr lang="en-US" spc="-6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larger</a:t>
            </a:r>
            <a:r>
              <a:rPr lang="en-US" spc="-7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values</a:t>
            </a:r>
            <a:r>
              <a:rPr lang="en-US" spc="-5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of</a:t>
            </a:r>
            <a:r>
              <a:rPr lang="en-US" spc="-5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n for</a:t>
            </a:r>
            <a:r>
              <a:rPr lang="en-US" spc="-45" dirty="0">
                <a:latin typeface="Times New Roman" panose="02020603050405020304"/>
                <a:cs typeface="Times New Roman" panose="02020603050405020304"/>
              </a:rPr>
              <a:t> </a:t>
            </a:r>
            <a:r>
              <a:rPr lang="en-US" dirty="0">
                <a:latin typeface="Times New Roman" panose="02020603050405020304"/>
                <a:cs typeface="Times New Roman" panose="02020603050405020304"/>
              </a:rPr>
              <a:t>the</a:t>
            </a:r>
            <a:r>
              <a:rPr lang="en-US" spc="-35" dirty="0">
                <a:latin typeface="Times New Roman" panose="02020603050405020304"/>
                <a:cs typeface="Times New Roman" panose="02020603050405020304"/>
              </a:rPr>
              <a:t> </a:t>
            </a:r>
            <a:r>
              <a:rPr lang="en-US" dirty="0">
                <a:latin typeface="Times New Roman" panose="02020603050405020304"/>
                <a:cs typeface="Times New Roman" panose="02020603050405020304"/>
              </a:rPr>
              <a:t>following</a:t>
            </a:r>
            <a:r>
              <a:rPr lang="en-US" spc="-80" dirty="0">
                <a:latin typeface="Times New Roman" panose="02020603050405020304"/>
                <a:cs typeface="Times New Roman" panose="02020603050405020304"/>
              </a:rPr>
              <a:t> </a:t>
            </a:r>
            <a:r>
              <a:rPr lang="en-US" spc="-10" dirty="0">
                <a:latin typeface="Times New Roman" panose="02020603050405020304"/>
                <a:cs typeface="Times New Roman" panose="02020603050405020304"/>
              </a:rPr>
              <a:t>reasons:</a:t>
            </a:r>
            <a:endParaRPr lang="en-US" dirty="0">
              <a:latin typeface="Times New Roman" panose="02020603050405020304"/>
              <a:cs typeface="Times New Roman" panose="02020603050405020304"/>
            </a:endParaRPr>
          </a:p>
          <a:p>
            <a:pPr marL="469900" indent="-457200">
              <a:lnSpc>
                <a:spcPct val="150000"/>
              </a:lnSpc>
              <a:spcBef>
                <a:spcPts val="1200"/>
              </a:spcBef>
              <a:buAutoNum type="arabicPeriod"/>
              <a:tabLst>
                <a:tab pos="469900" algn="l"/>
              </a:tabLst>
            </a:pPr>
            <a:r>
              <a:rPr lang="en-US" dirty="0">
                <a:latin typeface="Times New Roman" panose="02020603050405020304"/>
                <a:cs typeface="Times New Roman" panose="02020603050405020304"/>
              </a:rPr>
              <a:t>The</a:t>
            </a:r>
            <a:r>
              <a:rPr lang="en-US" spc="-5" dirty="0">
                <a:latin typeface="Times New Roman" panose="02020603050405020304"/>
                <a:cs typeface="Times New Roman" panose="02020603050405020304"/>
              </a:rPr>
              <a:t> </a:t>
            </a:r>
            <a:r>
              <a:rPr lang="en-US" dirty="0">
                <a:latin typeface="Times New Roman" panose="02020603050405020304"/>
                <a:cs typeface="Times New Roman" panose="02020603050405020304"/>
              </a:rPr>
              <a:t>behavior</a:t>
            </a:r>
            <a:r>
              <a:rPr lang="en-US" spc="-10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of</a:t>
            </a:r>
            <a:r>
              <a:rPr lang="en-US" spc="-2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an</a:t>
            </a:r>
            <a:r>
              <a:rPr lang="en-US" spc="-1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algorithm</a:t>
            </a:r>
            <a:r>
              <a:rPr lang="en-US" spc="-9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changes</a:t>
            </a:r>
            <a:r>
              <a:rPr lang="en-US" spc="-5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as</a:t>
            </a:r>
            <a:r>
              <a:rPr lang="en-US" spc="-25" dirty="0">
                <a:latin typeface="Times New Roman" panose="02020603050405020304"/>
                <a:cs typeface="Times New Roman" panose="02020603050405020304"/>
              </a:rPr>
              <a:t> </a:t>
            </a:r>
            <a:r>
              <a:rPr lang="en-US" dirty="0">
                <a:latin typeface="Times New Roman" panose="02020603050405020304"/>
                <a:cs typeface="Times New Roman" panose="02020603050405020304"/>
              </a:rPr>
              <a:t>the</a:t>
            </a:r>
            <a:r>
              <a:rPr lang="en-US" spc="-15" dirty="0">
                <a:latin typeface="Times New Roman" panose="02020603050405020304"/>
                <a:cs typeface="Times New Roman" panose="02020603050405020304"/>
              </a:rPr>
              <a:t> </a:t>
            </a:r>
            <a:r>
              <a:rPr lang="en-US" dirty="0">
                <a:latin typeface="Times New Roman" panose="02020603050405020304"/>
                <a:cs typeface="Times New Roman" panose="02020603050405020304"/>
              </a:rPr>
              <a:t>value</a:t>
            </a:r>
            <a:r>
              <a:rPr lang="en-US" spc="-3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of</a:t>
            </a:r>
            <a:r>
              <a:rPr lang="en-US" spc="-3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n</a:t>
            </a:r>
            <a:r>
              <a:rPr lang="en-US" spc="5" dirty="0">
                <a:latin typeface="Times New Roman" panose="02020603050405020304"/>
                <a:cs typeface="Times New Roman" panose="02020603050405020304"/>
              </a:rPr>
              <a:t> </a:t>
            </a:r>
            <a:r>
              <a:rPr lang="en-US" spc="-10" dirty="0">
                <a:latin typeface="Times New Roman" panose="02020603050405020304"/>
                <a:cs typeface="Times New Roman" panose="02020603050405020304"/>
              </a:rPr>
              <a:t>increases.</a:t>
            </a:r>
            <a:endParaRPr lang="en-US" dirty="0">
              <a:latin typeface="Times New Roman" panose="02020603050405020304"/>
              <a:cs typeface="Times New Roman" panose="02020603050405020304"/>
            </a:endParaRPr>
          </a:p>
          <a:p>
            <a:pPr marL="469900" indent="-457200">
              <a:lnSpc>
                <a:spcPct val="150000"/>
              </a:lnSpc>
              <a:spcBef>
                <a:spcPts val="1200"/>
              </a:spcBef>
              <a:buAutoNum type="arabicPeriod"/>
              <a:tabLst>
                <a:tab pos="469900" algn="l"/>
              </a:tabLst>
            </a:pPr>
            <a:r>
              <a:rPr lang="en-US" dirty="0">
                <a:latin typeface="Times New Roman" panose="02020603050405020304"/>
                <a:cs typeface="Times New Roman" panose="02020603050405020304"/>
              </a:rPr>
              <a:t>In</a:t>
            </a:r>
            <a:r>
              <a:rPr lang="en-US" spc="-5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real</a:t>
            </a:r>
            <a:r>
              <a:rPr lang="en-US" spc="-5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time</a:t>
            </a:r>
            <a:r>
              <a:rPr lang="en-US" spc="-15" dirty="0">
                <a:latin typeface="Times New Roman" panose="02020603050405020304"/>
                <a:cs typeface="Times New Roman" panose="02020603050405020304"/>
              </a:rPr>
              <a:t> </a:t>
            </a:r>
            <a:r>
              <a:rPr lang="en-US" dirty="0">
                <a:latin typeface="Times New Roman" panose="02020603050405020304"/>
                <a:cs typeface="Times New Roman" panose="02020603050405020304"/>
              </a:rPr>
              <a:t>applications</a:t>
            </a:r>
            <a:r>
              <a:rPr lang="en-US" spc="-9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large</a:t>
            </a:r>
            <a:r>
              <a:rPr lang="en-US" spc="-65" dirty="0">
                <a:latin typeface="Times New Roman" panose="02020603050405020304"/>
                <a:cs typeface="Times New Roman" panose="02020603050405020304"/>
              </a:rPr>
              <a:t> </a:t>
            </a:r>
            <a:r>
              <a:rPr lang="en-US" dirty="0">
                <a:latin typeface="Times New Roman" panose="02020603050405020304"/>
                <a:cs typeface="Times New Roman" panose="02020603050405020304"/>
              </a:rPr>
              <a:t>values</a:t>
            </a:r>
            <a:r>
              <a:rPr lang="en-US" spc="-6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of</a:t>
            </a:r>
            <a:r>
              <a:rPr lang="en-US" spc="-45" dirty="0">
                <a:latin typeface="Times New Roman" panose="02020603050405020304"/>
                <a:cs typeface="Times New Roman" panose="02020603050405020304"/>
              </a:rPr>
              <a:t> </a:t>
            </a:r>
            <a:r>
              <a:rPr lang="en-US" dirty="0">
                <a:latin typeface="Times New Roman" panose="02020603050405020304"/>
                <a:cs typeface="Times New Roman" panose="02020603050405020304"/>
              </a:rPr>
              <a:t>n</a:t>
            </a:r>
            <a:r>
              <a:rPr lang="en-US" spc="-35" dirty="0">
                <a:latin typeface="Times New Roman" panose="02020603050405020304"/>
                <a:cs typeface="Times New Roman" panose="02020603050405020304"/>
              </a:rPr>
              <a:t> </a:t>
            </a:r>
            <a:r>
              <a:rPr lang="en-US" dirty="0">
                <a:latin typeface="Times New Roman" panose="02020603050405020304"/>
                <a:cs typeface="Times New Roman" panose="02020603050405020304"/>
              </a:rPr>
              <a:t>is</a:t>
            </a:r>
            <a:r>
              <a:rPr lang="en-US" spc="-35" dirty="0">
                <a:latin typeface="Times New Roman" panose="02020603050405020304"/>
                <a:cs typeface="Times New Roman" panose="02020603050405020304"/>
              </a:rPr>
              <a:t> </a:t>
            </a:r>
            <a:r>
              <a:rPr lang="en-US" spc="-10" dirty="0">
                <a:latin typeface="Times New Roman" panose="02020603050405020304"/>
                <a:cs typeface="Times New Roman" panose="02020603050405020304"/>
              </a:rPr>
              <a:t>encountered.</a:t>
            </a:r>
            <a:endParaRPr lang="en-US" dirty="0">
              <a:latin typeface="Times New Roman" panose="02020603050405020304"/>
              <a:cs typeface="Times New Roman" panose="02020603050405020304"/>
            </a:endParaRPr>
          </a:p>
          <a:p>
            <a:pPr marL="355600" lvl="1" indent="-342900">
              <a:lnSpc>
                <a:spcPct val="150000"/>
              </a:lnSpc>
              <a:spcBef>
                <a:spcPts val="1200"/>
              </a:spcBef>
              <a:buFont typeface="Wingdings" panose="05000000000000000000"/>
              <a:buChar char=""/>
              <a:tabLst>
                <a:tab pos="355600" algn="l"/>
              </a:tabLst>
            </a:pPr>
            <a:r>
              <a:rPr lang="en-US" dirty="0">
                <a:latin typeface="Times New Roman" panose="02020603050405020304"/>
                <a:cs typeface="Times New Roman" panose="02020603050405020304"/>
              </a:rPr>
              <a:t>If</a:t>
            </a:r>
            <a:r>
              <a:rPr lang="en-US" spc="25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there</a:t>
            </a:r>
            <a:r>
              <a:rPr lang="en-US" spc="22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are</a:t>
            </a:r>
            <a:r>
              <a:rPr lang="en-US" spc="275" dirty="0">
                <a:latin typeface="Times New Roman" panose="02020603050405020304"/>
                <a:cs typeface="Times New Roman" panose="02020603050405020304"/>
              </a:rPr>
              <a:t> </a:t>
            </a:r>
            <a:r>
              <a:rPr lang="en-US" dirty="0">
                <a:latin typeface="Times New Roman" panose="02020603050405020304"/>
                <a:cs typeface="Times New Roman" panose="02020603050405020304"/>
              </a:rPr>
              <a:t>multiple</a:t>
            </a:r>
            <a:r>
              <a:rPr lang="en-US" spc="235" dirty="0">
                <a:latin typeface="Times New Roman" panose="02020603050405020304"/>
                <a:cs typeface="Times New Roman" panose="02020603050405020304"/>
              </a:rPr>
              <a:t> </a:t>
            </a:r>
            <a:r>
              <a:rPr lang="en-US" dirty="0">
                <a:latin typeface="Times New Roman" panose="02020603050405020304"/>
                <a:cs typeface="Times New Roman" panose="02020603050405020304"/>
              </a:rPr>
              <a:t>input</a:t>
            </a:r>
            <a:r>
              <a:rPr lang="en-US" spc="22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parameters,</a:t>
            </a:r>
            <a:r>
              <a:rPr lang="en-US" spc="24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we</a:t>
            </a:r>
            <a:r>
              <a:rPr lang="en-US" spc="254" dirty="0">
                <a:latin typeface="Times New Roman" panose="02020603050405020304"/>
                <a:cs typeface="Times New Roman" panose="02020603050405020304"/>
              </a:rPr>
              <a:t> </a:t>
            </a:r>
            <a:r>
              <a:rPr lang="en-US" dirty="0">
                <a:latin typeface="Times New Roman" panose="02020603050405020304"/>
                <a:cs typeface="Times New Roman" panose="02020603050405020304"/>
              </a:rPr>
              <a:t>will</a:t>
            </a:r>
            <a:r>
              <a:rPr lang="en-US" spc="24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try</a:t>
            </a:r>
            <a:r>
              <a:rPr lang="en-US" spc="24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to</a:t>
            </a:r>
            <a:r>
              <a:rPr lang="en-US" spc="265" dirty="0">
                <a:latin typeface="Times New Roman" panose="02020603050405020304"/>
                <a:cs typeface="Times New Roman" panose="02020603050405020304"/>
              </a:rPr>
              <a:t> </a:t>
            </a:r>
            <a:r>
              <a:rPr lang="en-US" dirty="0">
                <a:latin typeface="Times New Roman" panose="02020603050405020304"/>
                <a:cs typeface="Times New Roman" panose="02020603050405020304"/>
              </a:rPr>
              <a:t>reduce</a:t>
            </a:r>
            <a:r>
              <a:rPr lang="en-US" spc="24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them</a:t>
            </a:r>
            <a:r>
              <a:rPr lang="en-US" spc="225" dirty="0">
                <a:latin typeface="Times New Roman" panose="02020603050405020304"/>
                <a:cs typeface="Times New Roman" panose="02020603050405020304"/>
              </a:rPr>
              <a:t> </a:t>
            </a:r>
            <a:r>
              <a:rPr lang="en-US" dirty="0">
                <a:latin typeface="Times New Roman" panose="02020603050405020304"/>
                <a:cs typeface="Times New Roman" panose="02020603050405020304"/>
              </a:rPr>
              <a:t>to</a:t>
            </a:r>
            <a:r>
              <a:rPr lang="en-US" spc="27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a</a:t>
            </a:r>
            <a:r>
              <a:rPr lang="en-US" spc="27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single</a:t>
            </a:r>
            <a:r>
              <a:rPr lang="en-US" spc="22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parameter,</a:t>
            </a:r>
            <a:r>
              <a:rPr lang="en-US" spc="229" dirty="0">
                <a:latin typeface="Times New Roman" panose="02020603050405020304"/>
                <a:cs typeface="Times New Roman" panose="02020603050405020304"/>
              </a:rPr>
              <a:t> </a:t>
            </a:r>
            <a:r>
              <a:rPr lang="en-US" dirty="0">
                <a:latin typeface="Times New Roman" panose="02020603050405020304"/>
                <a:cs typeface="Times New Roman" panose="02020603050405020304"/>
              </a:rPr>
              <a:t>expressing</a:t>
            </a:r>
            <a:r>
              <a:rPr lang="en-US" spc="235" dirty="0">
                <a:latin typeface="Times New Roman" panose="02020603050405020304"/>
                <a:cs typeface="Times New Roman" panose="02020603050405020304"/>
              </a:rPr>
              <a:t> </a:t>
            </a:r>
            <a:r>
              <a:rPr lang="en-US" spc="-20" dirty="0">
                <a:latin typeface="Times New Roman" panose="02020603050405020304"/>
                <a:cs typeface="Times New Roman" panose="02020603050405020304"/>
              </a:rPr>
              <a:t>some</a:t>
            </a:r>
            <a:r>
              <a:rPr lang="en-US" dirty="0">
                <a:latin typeface="Times New Roman" panose="02020603050405020304"/>
                <a:cs typeface="Times New Roman" panose="02020603050405020304"/>
              </a:rPr>
              <a:t> parameters</a:t>
            </a:r>
            <a:r>
              <a:rPr lang="en-US" spc="-95" dirty="0">
                <a:latin typeface="Times New Roman" panose="02020603050405020304"/>
                <a:cs typeface="Times New Roman" panose="02020603050405020304"/>
              </a:rPr>
              <a:t> </a:t>
            </a:r>
            <a:r>
              <a:rPr lang="en-US" dirty="0">
                <a:latin typeface="Times New Roman" panose="02020603050405020304"/>
                <a:cs typeface="Times New Roman" panose="02020603050405020304"/>
              </a:rPr>
              <a:t>in</a:t>
            </a:r>
            <a:r>
              <a:rPr lang="en-US" spc="-35" dirty="0">
                <a:latin typeface="Times New Roman" panose="02020603050405020304"/>
                <a:cs typeface="Times New Roman" panose="02020603050405020304"/>
              </a:rPr>
              <a:t> </a:t>
            </a:r>
            <a:r>
              <a:rPr lang="en-US" dirty="0">
                <a:latin typeface="Times New Roman" panose="02020603050405020304"/>
                <a:cs typeface="Times New Roman" panose="02020603050405020304"/>
              </a:rPr>
              <a:t>terms</a:t>
            </a:r>
            <a:r>
              <a:rPr lang="en-US" spc="-55" dirty="0">
                <a:latin typeface="Times New Roman" panose="02020603050405020304"/>
                <a:cs typeface="Times New Roman" panose="02020603050405020304"/>
              </a:rPr>
              <a:t> </a:t>
            </a:r>
            <a:r>
              <a:rPr lang="en-US" dirty="0">
                <a:latin typeface="Times New Roman" panose="02020603050405020304"/>
                <a:cs typeface="Times New Roman" panose="02020603050405020304"/>
              </a:rPr>
              <a:t>of</a:t>
            </a:r>
            <a:r>
              <a:rPr lang="en-US" spc="-55" dirty="0">
                <a:latin typeface="Times New Roman" panose="02020603050405020304"/>
                <a:cs typeface="Times New Roman" panose="02020603050405020304"/>
              </a:rPr>
              <a:t> </a:t>
            </a:r>
            <a:r>
              <a:rPr lang="en-US" dirty="0">
                <a:latin typeface="Times New Roman" panose="02020603050405020304"/>
                <a:cs typeface="Times New Roman" panose="02020603050405020304"/>
              </a:rPr>
              <a:t>the</a:t>
            </a:r>
            <a:r>
              <a:rPr lang="en-US" spc="-45" dirty="0">
                <a:latin typeface="Times New Roman" panose="02020603050405020304"/>
                <a:cs typeface="Times New Roman" panose="02020603050405020304"/>
              </a:rPr>
              <a:t> </a:t>
            </a:r>
            <a:r>
              <a:rPr lang="en-US" dirty="0">
                <a:latin typeface="Times New Roman" panose="02020603050405020304"/>
                <a:cs typeface="Times New Roman" panose="02020603050405020304"/>
              </a:rPr>
              <a:t>selected</a:t>
            </a:r>
            <a:r>
              <a:rPr lang="en-US" spc="-65" dirty="0">
                <a:latin typeface="Times New Roman" panose="02020603050405020304"/>
                <a:cs typeface="Times New Roman" panose="02020603050405020304"/>
              </a:rPr>
              <a:t> </a:t>
            </a:r>
            <a:r>
              <a:rPr lang="en-US" spc="-10" dirty="0">
                <a:latin typeface="Times New Roman" panose="02020603050405020304"/>
                <a:cs typeface="Times New Roman" panose="02020603050405020304"/>
              </a:rPr>
              <a:t>parameter.</a:t>
            </a:r>
            <a:endParaRPr lang="en-US" dirty="0">
              <a:latin typeface="Times New Roman" panose="02020603050405020304"/>
              <a:cs typeface="Times New Roman" panose="02020603050405020304"/>
            </a:endParaRPr>
          </a:p>
          <a:p>
            <a:pPr marL="367665" lvl="1" indent="-342900">
              <a:lnSpc>
                <a:spcPct val="150000"/>
              </a:lnSpc>
              <a:spcBef>
                <a:spcPts val="1295"/>
              </a:spcBef>
              <a:buFont typeface="Wingdings" panose="05000000000000000000"/>
              <a:buChar char=""/>
              <a:tabLst>
                <a:tab pos="367665" algn="l"/>
              </a:tabLst>
            </a:pPr>
            <a:r>
              <a:rPr lang="en-US" dirty="0">
                <a:latin typeface="Times New Roman" panose="02020603050405020304"/>
                <a:cs typeface="Times New Roman" panose="02020603050405020304"/>
              </a:rPr>
              <a:t>Between</a:t>
            </a:r>
            <a:r>
              <a:rPr lang="en-US" spc="-55" dirty="0">
                <a:latin typeface="Times New Roman" panose="02020603050405020304"/>
                <a:cs typeface="Times New Roman" panose="02020603050405020304"/>
              </a:rPr>
              <a:t> </a:t>
            </a:r>
            <a:r>
              <a:rPr lang="en-US" dirty="0">
                <a:latin typeface="Times New Roman" panose="02020603050405020304"/>
                <a:cs typeface="Times New Roman" panose="02020603050405020304"/>
              </a:rPr>
              <a:t>two</a:t>
            </a:r>
            <a:r>
              <a:rPr lang="en-US" spc="-35" dirty="0">
                <a:latin typeface="Times New Roman" panose="02020603050405020304"/>
                <a:cs typeface="Times New Roman" panose="02020603050405020304"/>
              </a:rPr>
              <a:t> </a:t>
            </a:r>
            <a:r>
              <a:rPr lang="en-US" spc="-10" dirty="0">
                <a:latin typeface="Times New Roman" panose="02020603050405020304"/>
                <a:cs typeface="Times New Roman" panose="02020603050405020304"/>
              </a:rPr>
              <a:t>algorithms</a:t>
            </a:r>
            <a:r>
              <a:rPr lang="en-US" spc="-6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it</a:t>
            </a:r>
            <a:r>
              <a:rPr lang="en-US" spc="-45" dirty="0">
                <a:latin typeface="Times New Roman" panose="02020603050405020304"/>
                <a:cs typeface="Times New Roman" panose="02020603050405020304"/>
              </a:rPr>
              <a:t> </a:t>
            </a:r>
            <a:r>
              <a:rPr lang="en-US" dirty="0">
                <a:latin typeface="Times New Roman" panose="02020603050405020304"/>
                <a:cs typeface="Times New Roman" panose="02020603050405020304"/>
              </a:rPr>
              <a:t>is</a:t>
            </a:r>
            <a:r>
              <a:rPr lang="en-US" spc="-45" dirty="0">
                <a:latin typeface="Times New Roman" panose="02020603050405020304"/>
                <a:cs typeface="Times New Roman" panose="02020603050405020304"/>
              </a:rPr>
              <a:t> </a:t>
            </a:r>
            <a:r>
              <a:rPr lang="en-US" spc="-10" dirty="0">
                <a:latin typeface="Times New Roman" panose="02020603050405020304"/>
                <a:cs typeface="Times New Roman" panose="02020603050405020304"/>
              </a:rPr>
              <a:t>considered</a:t>
            </a:r>
            <a:r>
              <a:rPr lang="en-US" spc="-9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that</a:t>
            </a:r>
            <a:r>
              <a:rPr lang="en-US" spc="-6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the</a:t>
            </a:r>
            <a:r>
              <a:rPr lang="en-US" spc="-25" dirty="0">
                <a:latin typeface="Times New Roman" panose="02020603050405020304"/>
                <a:cs typeface="Times New Roman" panose="02020603050405020304"/>
              </a:rPr>
              <a:t> </a:t>
            </a:r>
            <a:r>
              <a:rPr lang="en-US" dirty="0">
                <a:latin typeface="Times New Roman" panose="02020603050405020304"/>
                <a:cs typeface="Times New Roman" panose="02020603050405020304"/>
              </a:rPr>
              <a:t>one</a:t>
            </a:r>
            <a:r>
              <a:rPr lang="en-US" spc="44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having</a:t>
            </a:r>
            <a:r>
              <a:rPr lang="en-US" spc="-85" dirty="0">
                <a:latin typeface="Times New Roman" panose="02020603050405020304"/>
                <a:cs typeface="Times New Roman" panose="02020603050405020304"/>
              </a:rPr>
              <a:t> </a:t>
            </a:r>
            <a:r>
              <a:rPr lang="en-US" dirty="0">
                <a:latin typeface="Times New Roman" panose="02020603050405020304"/>
                <a:cs typeface="Times New Roman" panose="02020603050405020304"/>
              </a:rPr>
              <a:t>a</a:t>
            </a:r>
            <a:r>
              <a:rPr lang="en-US" spc="-2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smaller</a:t>
            </a:r>
            <a:r>
              <a:rPr lang="en-US" spc="-8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order</a:t>
            </a:r>
            <a:r>
              <a:rPr lang="en-US" spc="-8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of</a:t>
            </a:r>
            <a:r>
              <a:rPr lang="en-US" spc="-2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growth</a:t>
            </a:r>
            <a:r>
              <a:rPr lang="en-US" spc="-85" dirty="0">
                <a:latin typeface="Times New Roman" panose="02020603050405020304"/>
                <a:cs typeface="Times New Roman" panose="02020603050405020304"/>
              </a:rPr>
              <a:t> </a:t>
            </a:r>
            <a:r>
              <a:rPr lang="en-US" dirty="0">
                <a:latin typeface="Times New Roman" panose="02020603050405020304"/>
                <a:cs typeface="Times New Roman" panose="02020603050405020304"/>
              </a:rPr>
              <a:t>is</a:t>
            </a:r>
            <a:r>
              <a:rPr lang="en-US" spc="-4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more</a:t>
            </a:r>
            <a:r>
              <a:rPr lang="en-US" spc="10" dirty="0">
                <a:latin typeface="Times New Roman" panose="02020603050405020304"/>
                <a:cs typeface="Times New Roman" panose="02020603050405020304"/>
              </a:rPr>
              <a:t> </a:t>
            </a:r>
            <a:r>
              <a:rPr lang="en-US" spc="-10" dirty="0">
                <a:latin typeface="Times New Roman" panose="02020603050405020304"/>
                <a:cs typeface="Times New Roman" panose="02020603050405020304"/>
              </a:rPr>
              <a:t>efficient.</a:t>
            </a:r>
            <a:endParaRPr lang="en-US" dirty="0">
              <a:latin typeface="Times New Roman" panose="02020603050405020304"/>
              <a:cs typeface="Times New Roman" panose="02020603050405020304"/>
            </a:endParaRPr>
          </a:p>
          <a:p>
            <a:pPr marL="367665" lvl="1" indent="-342900">
              <a:lnSpc>
                <a:spcPct val="150000"/>
              </a:lnSpc>
              <a:spcBef>
                <a:spcPts val="1705"/>
              </a:spcBef>
              <a:buFont typeface="Wingdings" panose="05000000000000000000"/>
              <a:buChar char=""/>
              <a:tabLst>
                <a:tab pos="367665" algn="l"/>
              </a:tabLst>
            </a:pPr>
            <a:r>
              <a:rPr lang="en-US" spc="-50" dirty="0">
                <a:latin typeface="Times New Roman" panose="02020603050405020304"/>
                <a:cs typeface="Times New Roman" panose="02020603050405020304"/>
              </a:rPr>
              <a:t>However,</a:t>
            </a:r>
            <a:r>
              <a:rPr lang="en-US" spc="-105" dirty="0">
                <a:latin typeface="Times New Roman" panose="02020603050405020304"/>
                <a:cs typeface="Times New Roman" panose="02020603050405020304"/>
              </a:rPr>
              <a:t> </a:t>
            </a:r>
            <a:r>
              <a:rPr lang="en-US" dirty="0">
                <a:latin typeface="Times New Roman" panose="02020603050405020304"/>
                <a:cs typeface="Times New Roman" panose="02020603050405020304"/>
              </a:rPr>
              <a:t>this</a:t>
            </a:r>
            <a:r>
              <a:rPr lang="en-US" spc="-6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is</a:t>
            </a:r>
            <a:r>
              <a:rPr lang="en-US" spc="-45" dirty="0">
                <a:latin typeface="Times New Roman" panose="02020603050405020304"/>
                <a:cs typeface="Times New Roman" panose="02020603050405020304"/>
              </a:rPr>
              <a:t> </a:t>
            </a:r>
            <a:r>
              <a:rPr lang="en-US" dirty="0">
                <a:latin typeface="Times New Roman" panose="02020603050405020304"/>
                <a:cs typeface="Times New Roman" panose="02020603050405020304"/>
              </a:rPr>
              <a:t>true</a:t>
            </a:r>
            <a:r>
              <a:rPr lang="en-US" spc="-7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only</a:t>
            </a:r>
            <a:r>
              <a:rPr lang="en-US" spc="-45" dirty="0">
                <a:latin typeface="Times New Roman" panose="02020603050405020304"/>
                <a:cs typeface="Times New Roman" panose="02020603050405020304"/>
              </a:rPr>
              <a:t> </a:t>
            </a:r>
            <a:r>
              <a:rPr lang="en-US" dirty="0">
                <a:latin typeface="Times New Roman" panose="02020603050405020304"/>
                <a:cs typeface="Times New Roman" panose="02020603050405020304"/>
              </a:rPr>
              <a:t>for</a:t>
            </a:r>
            <a:r>
              <a:rPr lang="en-US" spc="-55" dirty="0">
                <a:latin typeface="Times New Roman" panose="02020603050405020304"/>
                <a:cs typeface="Times New Roman" panose="02020603050405020304"/>
              </a:rPr>
              <a:t> </a:t>
            </a:r>
            <a:r>
              <a:rPr lang="en-US" spc="-10" dirty="0">
                <a:latin typeface="Times New Roman" panose="02020603050405020304"/>
                <a:cs typeface="Times New Roman" panose="02020603050405020304"/>
              </a:rPr>
              <a:t>large</a:t>
            </a:r>
            <a:r>
              <a:rPr lang="en-US" spc="-90" dirty="0">
                <a:latin typeface="Times New Roman" panose="02020603050405020304"/>
                <a:cs typeface="Times New Roman" panose="02020603050405020304"/>
              </a:rPr>
              <a:t> </a:t>
            </a:r>
            <a:r>
              <a:rPr lang="en-US" spc="-10" dirty="0">
                <a:latin typeface="Times New Roman" panose="02020603050405020304"/>
                <a:cs typeface="Times New Roman" panose="02020603050405020304"/>
              </a:rPr>
              <a:t>enough</a:t>
            </a:r>
            <a:r>
              <a:rPr lang="en-US" spc="-85" dirty="0">
                <a:latin typeface="Times New Roman" panose="02020603050405020304"/>
                <a:cs typeface="Times New Roman" panose="02020603050405020304"/>
              </a:rPr>
              <a:t> </a:t>
            </a:r>
            <a:r>
              <a:rPr lang="en-US" dirty="0">
                <a:latin typeface="Times New Roman" panose="02020603050405020304"/>
                <a:cs typeface="Times New Roman" panose="02020603050405020304"/>
              </a:rPr>
              <a:t>input</a:t>
            </a:r>
            <a:r>
              <a:rPr lang="en-US" spc="40" dirty="0">
                <a:latin typeface="Times New Roman" panose="02020603050405020304"/>
                <a:cs typeface="Times New Roman" panose="02020603050405020304"/>
              </a:rPr>
              <a:t> </a:t>
            </a:r>
            <a:r>
              <a:rPr lang="en-US" spc="-10" dirty="0">
                <a:latin typeface="Times New Roman" panose="02020603050405020304"/>
                <a:cs typeface="Times New Roman" panose="02020603050405020304"/>
              </a:rPr>
              <a:t>sizes</a:t>
            </a:r>
            <a:endParaRPr lang="en-US" dirty="0">
              <a:latin typeface="Times New Roman" panose="02020603050405020304"/>
              <a:cs typeface="Times New Roman" panose="02020603050405020304"/>
            </a:endParaRPr>
          </a:p>
        </p:txBody>
      </p:sp>
      <p:sp>
        <p:nvSpPr>
          <p:cNvPr id="4" name="Footer Placeholder 3"/>
          <p:cNvSpPr>
            <a:spLocks noGrp="1"/>
          </p:cNvSpPr>
          <p:nvPr>
            <p:ph type="ftr" sz="quarter" idx="11"/>
          </p:nvPr>
        </p:nvSpPr>
        <p:spPr/>
        <p:txBody>
          <a:bodyPr/>
          <a:lstStyle/>
          <a:p>
            <a:r>
              <a:rPr lang="en-US" dirty="0"/>
              <a:t>Slides prepared by: Prof.Nandini K, Assistant Professor, Department of CSE, </a:t>
            </a:r>
            <a:r>
              <a:rPr lang="en-US" dirty="0" err="1"/>
              <a:t>Dayananda</a:t>
            </a:r>
            <a:r>
              <a:rPr lang="en-US" dirty="0"/>
              <a:t> </a:t>
            </a:r>
            <a:r>
              <a:rPr lang="en-US" dirty="0" err="1"/>
              <a:t>Sagar</a:t>
            </a:r>
            <a:r>
              <a:rPr lang="en-US" dirty="0"/>
              <a:t> University, </a:t>
            </a:r>
            <a:r>
              <a:rPr lang="en-US" dirty="0" err="1"/>
              <a:t>Harohalli</a:t>
            </a:r>
            <a:r>
              <a:rPr lang="en-US" dirty="0"/>
              <a:t>, Karnataka.</a:t>
            </a:r>
          </a:p>
        </p:txBody>
      </p:sp>
      <p:sp>
        <p:nvSpPr>
          <p:cNvPr id="5" name="Slide Number Placeholder 4"/>
          <p:cNvSpPr>
            <a:spLocks noGrp="1"/>
          </p:cNvSpPr>
          <p:nvPr>
            <p:ph type="sldNum" sz="quarter" idx="12"/>
          </p:nvPr>
        </p:nvSpPr>
        <p:spPr/>
        <p:txBody>
          <a:bodyPr/>
          <a:lstStyle/>
          <a:p>
            <a:fld id="{5731DF9D-C219-B24D-9CD4-0503F6C036DC}" type="slidenum">
              <a:rPr lang="en-US" smtClean="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7018" y="-80900"/>
            <a:ext cx="10515600" cy="689932"/>
          </a:xfrm>
          <a:prstGeom prst="rect">
            <a:avLst/>
          </a:prstGeom>
        </p:spPr>
        <p:txBody>
          <a:bodyPr vert="horz" wrap="square" lIns="0" tIns="12700" rIns="0" bIns="0" rtlCol="0">
            <a:spAutoFit/>
          </a:bodyPr>
          <a:lstStyle/>
          <a:p>
            <a:pPr marL="12700" algn="ctr">
              <a:lnSpc>
                <a:spcPct val="100000"/>
              </a:lnSpc>
              <a:spcBef>
                <a:spcPts val="100"/>
              </a:spcBef>
            </a:pPr>
            <a:r>
              <a:rPr sz="4400" b="0" dirty="0">
                <a:solidFill>
                  <a:srgbClr val="166DAB"/>
                </a:solidFill>
                <a:latin typeface="Times New Roman" panose="02020603050405020304" pitchFamily="18" charset="0"/>
                <a:cs typeface="Times New Roman" panose="02020603050405020304" pitchFamily="18" charset="0"/>
              </a:rPr>
              <a:t>Rate of growth of function</a:t>
            </a:r>
          </a:p>
        </p:txBody>
      </p:sp>
      <p:pic>
        <p:nvPicPr>
          <p:cNvPr id="3" name="object 3"/>
          <p:cNvPicPr/>
          <p:nvPr/>
        </p:nvPicPr>
        <p:blipFill>
          <a:blip r:embed="rId2" cstate="print"/>
          <a:stretch>
            <a:fillRect/>
          </a:stretch>
        </p:blipFill>
        <p:spPr>
          <a:xfrm>
            <a:off x="157018" y="988075"/>
            <a:ext cx="6677891" cy="5368276"/>
          </a:xfrm>
          <a:prstGeom prst="rect">
            <a:avLst/>
          </a:prstGeom>
        </p:spPr>
      </p:pic>
      <p:sp>
        <p:nvSpPr>
          <p:cNvPr id="5" name="Footer Placeholder 3"/>
          <p:cNvSpPr>
            <a:spLocks noGrp="1"/>
          </p:cNvSpPr>
          <p:nvPr>
            <p:ph type="ftr" sz="quarter" idx="4294967295"/>
          </p:nvPr>
        </p:nvSpPr>
        <p:spPr>
          <a:xfrm>
            <a:off x="729673" y="6356351"/>
            <a:ext cx="9840356" cy="136814"/>
          </a:xfrm>
          <a:prstGeom prst="rect">
            <a:avLst/>
          </a:prstGeom>
        </p:spPr>
        <p:txBody>
          <a:bodyPr/>
          <a:lstStyle/>
          <a:p>
            <a:pPr algn="ctr"/>
            <a:r>
              <a:rPr lang="en-US" sz="1200" dirty="0">
                <a:solidFill>
                  <a:schemeClr val="tx1">
                    <a:tint val="75000"/>
                  </a:schemeClr>
                </a:solidFill>
              </a:rPr>
              <a:t>Slides prepared by: Prof.Nandini K, Assistant Professor, Department of CSE, </a:t>
            </a:r>
            <a:r>
              <a:rPr lang="en-US" sz="1200" dirty="0" err="1">
                <a:solidFill>
                  <a:schemeClr val="tx1">
                    <a:tint val="75000"/>
                  </a:schemeClr>
                </a:solidFill>
              </a:rPr>
              <a:t>Dayananda</a:t>
            </a:r>
            <a:r>
              <a:rPr lang="en-US" sz="1200" dirty="0">
                <a:solidFill>
                  <a:schemeClr val="tx1">
                    <a:tint val="75000"/>
                  </a:schemeClr>
                </a:solidFill>
              </a:rPr>
              <a:t> </a:t>
            </a:r>
            <a:r>
              <a:rPr lang="en-US" sz="1200" dirty="0" err="1">
                <a:solidFill>
                  <a:schemeClr val="tx1">
                    <a:tint val="75000"/>
                  </a:schemeClr>
                </a:solidFill>
              </a:rPr>
              <a:t>Sagar</a:t>
            </a:r>
            <a:r>
              <a:rPr lang="en-US" sz="1200" dirty="0">
                <a:solidFill>
                  <a:schemeClr val="tx1">
                    <a:tint val="75000"/>
                  </a:schemeClr>
                </a:solidFill>
              </a:rPr>
              <a:t> University, </a:t>
            </a:r>
            <a:r>
              <a:rPr lang="en-US" sz="1200" dirty="0" err="1">
                <a:solidFill>
                  <a:schemeClr val="tx1">
                    <a:tint val="75000"/>
                  </a:schemeClr>
                </a:solidFill>
              </a:rPr>
              <a:t>Harohalli</a:t>
            </a:r>
            <a:r>
              <a:rPr lang="en-US" sz="1200" dirty="0">
                <a:solidFill>
                  <a:schemeClr val="tx1">
                    <a:tint val="75000"/>
                  </a:schemeClr>
                </a:solidFill>
              </a:rPr>
              <a:t>, Karnataka.</a:t>
            </a:r>
          </a:p>
        </p:txBody>
      </p:sp>
      <p:pic>
        <p:nvPicPr>
          <p:cNvPr id="6" name="Google Shape;496;p79"/>
          <p:cNvPicPr preferRelativeResize="0"/>
          <p:nvPr/>
        </p:nvPicPr>
        <p:blipFill rotWithShape="1">
          <a:blip r:embed="rId3"/>
          <a:srcRect/>
          <a:stretch>
            <a:fillRect/>
          </a:stretch>
        </p:blipFill>
        <p:spPr>
          <a:xfrm>
            <a:off x="6567054" y="1505527"/>
            <a:ext cx="5082309" cy="3486367"/>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Sequential</a:t>
            </a:r>
            <a:r>
              <a:rPr spc="-114" dirty="0"/>
              <a:t> </a:t>
            </a:r>
            <a:r>
              <a:rPr dirty="0"/>
              <a:t>Search</a:t>
            </a:r>
            <a:r>
              <a:rPr spc="-80" dirty="0"/>
              <a:t> </a:t>
            </a:r>
            <a:r>
              <a:rPr spc="-10" dirty="0"/>
              <a:t>Algorithm</a:t>
            </a:r>
          </a:p>
        </p:txBody>
      </p:sp>
      <p:sp>
        <p:nvSpPr>
          <p:cNvPr id="3" name="object 3"/>
          <p:cNvSpPr txBox="1"/>
          <p:nvPr/>
        </p:nvSpPr>
        <p:spPr>
          <a:xfrm>
            <a:off x="319227" y="1410462"/>
            <a:ext cx="3881754" cy="4146550"/>
          </a:xfrm>
          <a:prstGeom prst="rect">
            <a:avLst/>
          </a:prstGeom>
        </p:spPr>
        <p:txBody>
          <a:bodyPr vert="horz" wrap="square" lIns="0" tIns="13335" rIns="0" bIns="0" rtlCol="0">
            <a:spAutoFit/>
          </a:bodyPr>
          <a:lstStyle/>
          <a:p>
            <a:pPr marL="12700">
              <a:lnSpc>
                <a:spcPct val="100000"/>
              </a:lnSpc>
              <a:spcBef>
                <a:spcPts val="105"/>
              </a:spcBef>
            </a:pPr>
            <a:r>
              <a:rPr sz="2000" dirty="0">
                <a:latin typeface="Times New Roman" panose="02020603050405020304"/>
                <a:cs typeface="Times New Roman" panose="02020603050405020304"/>
              </a:rPr>
              <a:t>Algorithm</a:t>
            </a:r>
            <a:r>
              <a:rPr sz="2000" spc="-110"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sequential_search(A,n,key)</a:t>
            </a:r>
            <a:endParaRPr sz="2000">
              <a:latin typeface="Times New Roman" panose="02020603050405020304"/>
              <a:cs typeface="Times New Roman" panose="02020603050405020304"/>
            </a:endParaRPr>
          </a:p>
          <a:p>
            <a:pPr>
              <a:lnSpc>
                <a:spcPct val="100000"/>
              </a:lnSpc>
              <a:spcBef>
                <a:spcPts val="1840"/>
              </a:spcBef>
            </a:pPr>
            <a:endParaRPr sz="2000">
              <a:latin typeface="Times New Roman" panose="02020603050405020304"/>
              <a:cs typeface="Times New Roman" panose="02020603050405020304"/>
            </a:endParaRPr>
          </a:p>
          <a:p>
            <a:pPr marL="12700">
              <a:lnSpc>
                <a:spcPct val="100000"/>
              </a:lnSpc>
            </a:pPr>
            <a:r>
              <a:rPr sz="2000" spc="-25" dirty="0">
                <a:latin typeface="Times New Roman" panose="02020603050405020304"/>
                <a:cs typeface="Times New Roman" panose="02020603050405020304"/>
              </a:rPr>
              <a:t>i=0</a:t>
            </a:r>
            <a:endParaRPr sz="2000">
              <a:latin typeface="Times New Roman" panose="02020603050405020304"/>
              <a:cs typeface="Times New Roman" panose="02020603050405020304"/>
            </a:endParaRPr>
          </a:p>
          <a:p>
            <a:pPr marL="469900" marR="1421765" indent="-457200">
              <a:lnSpc>
                <a:spcPts val="3900"/>
              </a:lnSpc>
              <a:spcBef>
                <a:spcPts val="270"/>
              </a:spcBef>
            </a:pPr>
            <a:r>
              <a:rPr sz="2000" dirty="0">
                <a:latin typeface="Times New Roman" panose="02020603050405020304"/>
                <a:cs typeface="Times New Roman" panose="02020603050405020304"/>
              </a:rPr>
              <a:t>while</a:t>
            </a:r>
            <a:r>
              <a:rPr sz="2000" spc="-75" dirty="0">
                <a:latin typeface="Times New Roman" panose="02020603050405020304"/>
                <a:cs typeface="Times New Roman" panose="02020603050405020304"/>
              </a:rPr>
              <a:t> </a:t>
            </a:r>
            <a:r>
              <a:rPr sz="2000" dirty="0">
                <a:latin typeface="Times New Roman" panose="02020603050405020304"/>
                <a:cs typeface="Times New Roman" panose="02020603050405020304"/>
              </a:rPr>
              <a:t>i&lt;n</a:t>
            </a:r>
            <a:r>
              <a:rPr sz="2000" spc="-65" dirty="0">
                <a:latin typeface="Times New Roman" panose="02020603050405020304"/>
                <a:cs typeface="Times New Roman" panose="02020603050405020304"/>
              </a:rPr>
              <a:t> </a:t>
            </a:r>
            <a:r>
              <a:rPr sz="2000" dirty="0">
                <a:latin typeface="Times New Roman" panose="02020603050405020304"/>
                <a:cs typeface="Times New Roman" panose="02020603050405020304"/>
              </a:rPr>
              <a:t>&amp;&amp;</a:t>
            </a:r>
            <a:r>
              <a:rPr sz="2000" spc="-70"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a[i]!=key i=i+1</a:t>
            </a:r>
            <a:endParaRPr sz="2000">
              <a:latin typeface="Times New Roman" panose="02020603050405020304"/>
              <a:cs typeface="Times New Roman" panose="02020603050405020304"/>
            </a:endParaRPr>
          </a:p>
          <a:p>
            <a:pPr marL="462280">
              <a:lnSpc>
                <a:spcPct val="100000"/>
              </a:lnSpc>
              <a:spcBef>
                <a:spcPts val="1330"/>
              </a:spcBef>
            </a:pPr>
            <a:r>
              <a:rPr sz="2000" dirty="0">
                <a:latin typeface="Times New Roman" panose="02020603050405020304"/>
                <a:cs typeface="Times New Roman" panose="02020603050405020304"/>
              </a:rPr>
              <a:t>if</a:t>
            </a:r>
            <a:r>
              <a:rPr sz="2000" spc="-50" dirty="0">
                <a:latin typeface="Times New Roman" panose="02020603050405020304"/>
                <a:cs typeface="Times New Roman" panose="02020603050405020304"/>
              </a:rPr>
              <a:t> </a:t>
            </a:r>
            <a:r>
              <a:rPr sz="2000" spc="-25" dirty="0">
                <a:latin typeface="Times New Roman" panose="02020603050405020304"/>
                <a:cs typeface="Times New Roman" panose="02020603050405020304"/>
              </a:rPr>
              <a:t>i&lt;n</a:t>
            </a:r>
            <a:endParaRPr sz="2000">
              <a:latin typeface="Times New Roman" panose="02020603050405020304"/>
              <a:cs typeface="Times New Roman" panose="02020603050405020304"/>
            </a:endParaRPr>
          </a:p>
          <a:p>
            <a:pPr marL="914400">
              <a:lnSpc>
                <a:spcPct val="100000"/>
              </a:lnSpc>
              <a:spcBef>
                <a:spcPts val="1500"/>
              </a:spcBef>
            </a:pPr>
            <a:r>
              <a:rPr sz="2000" spc="-10" dirty="0">
                <a:latin typeface="Times New Roman" panose="02020603050405020304"/>
                <a:cs typeface="Times New Roman" panose="02020603050405020304"/>
              </a:rPr>
              <a:t>return</a:t>
            </a:r>
            <a:r>
              <a:rPr sz="2000" spc="-70" dirty="0">
                <a:latin typeface="Times New Roman" panose="02020603050405020304"/>
                <a:cs typeface="Times New Roman" panose="02020603050405020304"/>
              </a:rPr>
              <a:t> </a:t>
            </a:r>
            <a:r>
              <a:rPr sz="2000" spc="-50" dirty="0">
                <a:latin typeface="Times New Roman" panose="02020603050405020304"/>
                <a:cs typeface="Times New Roman" panose="02020603050405020304"/>
              </a:rPr>
              <a:t>i</a:t>
            </a:r>
            <a:endParaRPr sz="2000">
              <a:latin typeface="Times New Roman" panose="02020603050405020304"/>
              <a:cs typeface="Times New Roman" panose="02020603050405020304"/>
            </a:endParaRPr>
          </a:p>
          <a:p>
            <a:pPr marL="469900">
              <a:lnSpc>
                <a:spcPct val="100000"/>
              </a:lnSpc>
              <a:spcBef>
                <a:spcPts val="1500"/>
              </a:spcBef>
            </a:pPr>
            <a:r>
              <a:rPr sz="2000" spc="-20" dirty="0">
                <a:latin typeface="Times New Roman" panose="02020603050405020304"/>
                <a:cs typeface="Times New Roman" panose="02020603050405020304"/>
              </a:rPr>
              <a:t>else</a:t>
            </a:r>
            <a:endParaRPr sz="2000">
              <a:latin typeface="Times New Roman" panose="02020603050405020304"/>
              <a:cs typeface="Times New Roman" panose="02020603050405020304"/>
            </a:endParaRPr>
          </a:p>
          <a:p>
            <a:pPr marL="914400">
              <a:lnSpc>
                <a:spcPct val="100000"/>
              </a:lnSpc>
              <a:spcBef>
                <a:spcPts val="1500"/>
              </a:spcBef>
            </a:pPr>
            <a:r>
              <a:rPr sz="2000" spc="-10" dirty="0">
                <a:latin typeface="Times New Roman" panose="02020603050405020304"/>
                <a:cs typeface="Times New Roman" panose="02020603050405020304"/>
              </a:rPr>
              <a:t>return</a:t>
            </a:r>
            <a:r>
              <a:rPr sz="2000" spc="-80" dirty="0">
                <a:latin typeface="Times New Roman" panose="02020603050405020304"/>
                <a:cs typeface="Times New Roman" panose="02020603050405020304"/>
              </a:rPr>
              <a:t> </a:t>
            </a:r>
            <a:r>
              <a:rPr sz="2000" dirty="0">
                <a:latin typeface="Times New Roman" panose="02020603050405020304"/>
                <a:cs typeface="Times New Roman" panose="02020603050405020304"/>
              </a:rPr>
              <a:t>-</a:t>
            </a:r>
            <a:r>
              <a:rPr sz="2000" spc="-50" dirty="0">
                <a:latin typeface="Times New Roman" panose="02020603050405020304"/>
                <a:cs typeface="Times New Roman" panose="02020603050405020304"/>
              </a:rPr>
              <a:t>1</a:t>
            </a:r>
            <a:endParaRPr sz="2000">
              <a:latin typeface="Times New Roman" panose="02020603050405020304"/>
              <a:cs typeface="Times New Roman" panose="02020603050405020304"/>
            </a:endParaRPr>
          </a:p>
        </p:txBody>
      </p:sp>
      <p:sp>
        <p:nvSpPr>
          <p:cNvPr id="4" name="Footer Placeholder 3"/>
          <p:cNvSpPr>
            <a:spLocks noGrp="1"/>
          </p:cNvSpPr>
          <p:nvPr>
            <p:ph type="ftr" sz="quarter" idx="11"/>
          </p:nvPr>
        </p:nvSpPr>
        <p:spPr>
          <a:xfrm>
            <a:off x="1698171" y="6356350"/>
            <a:ext cx="8871858" cy="365125"/>
          </a:xfrm>
        </p:spPr>
        <p:txBody>
          <a:bodyPr/>
          <a:lstStyle/>
          <a:p>
            <a:r>
              <a:rPr lang="en-US" dirty="0"/>
              <a:t>Slides prepared by: Prof.Nandini K, Assistant Professor, Department of CSE, </a:t>
            </a:r>
            <a:r>
              <a:rPr lang="en-US" dirty="0" err="1"/>
              <a:t>Dayananda</a:t>
            </a:r>
            <a:r>
              <a:rPr lang="en-US" dirty="0"/>
              <a:t> </a:t>
            </a:r>
            <a:r>
              <a:rPr lang="en-US" dirty="0" err="1"/>
              <a:t>Sagar</a:t>
            </a:r>
            <a:r>
              <a:rPr lang="en-US" dirty="0"/>
              <a:t> University, </a:t>
            </a:r>
            <a:r>
              <a:rPr lang="en-US" dirty="0" err="1"/>
              <a:t>Harohalli</a:t>
            </a:r>
            <a:r>
              <a:rPr lang="en-US" dirty="0"/>
              <a:t>, Karnataka.</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p84"/>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3200"/>
            </a:pPr>
            <a:r>
              <a:rPr lang="en-US" sz="3200">
                <a:latin typeface="Times New Roman" panose="02020603050405020304"/>
                <a:ea typeface="Times New Roman" panose="02020603050405020304"/>
                <a:cs typeface="Times New Roman" panose="02020603050405020304"/>
                <a:sym typeface="Times New Roman" panose="02020603050405020304"/>
              </a:rPr>
              <a:t>LINEAR SEARCH</a:t>
            </a:r>
          </a:p>
        </p:txBody>
      </p:sp>
      <p:sp>
        <p:nvSpPr>
          <p:cNvPr id="527" name="Google Shape;527;p84"/>
          <p:cNvSpPr txBox="1">
            <a:spLocks noGrp="1"/>
          </p:cNvSpPr>
          <p:nvPr>
            <p:ph type="body" idx="1"/>
          </p:nvPr>
        </p:nvSpPr>
        <p:spPr>
          <a:xfrm>
            <a:off x="609600" y="1600202"/>
            <a:ext cx="3962400" cy="4267199"/>
          </a:xfrm>
          <a:prstGeom prst="rect">
            <a:avLst/>
          </a:prstGeom>
          <a:noFill/>
          <a:ln>
            <a:noFill/>
          </a:ln>
        </p:spPr>
        <p:txBody>
          <a:bodyPr spcFirstLastPara="1" vert="horz" wrap="square" lIns="91425" tIns="45700" rIns="91425" bIns="45700" rtlCol="0" anchor="t" anchorCtr="0">
            <a:normAutofit/>
          </a:bodyPr>
          <a:lstStyle/>
          <a:p>
            <a:pPr marL="0" indent="0" algn="just">
              <a:spcBef>
                <a:spcPts val="0"/>
              </a:spcBef>
              <a:buClr>
                <a:schemeClr val="dk1"/>
              </a:buClr>
              <a:buSzPts val="2200"/>
              <a:buNone/>
            </a:pPr>
            <a:r>
              <a:rPr lang="en-US" sz="2200" dirty="0">
                <a:latin typeface="Times New Roman" panose="02020603050405020304"/>
                <a:ea typeface="Times New Roman" panose="02020603050405020304"/>
                <a:cs typeface="Times New Roman" panose="02020603050405020304"/>
                <a:sym typeface="Times New Roman" panose="02020603050405020304"/>
              </a:rPr>
              <a:t>Linear search is a sequential searching algorithm where we start from one end and check every element of the list until the desired element is found. It is the simplest searching algorithm.</a:t>
            </a:r>
            <a:endParaRPr dirty="0"/>
          </a:p>
        </p:txBody>
      </p:sp>
      <p:pic>
        <p:nvPicPr>
          <p:cNvPr id="528" name="Google Shape;528;p84"/>
          <p:cNvPicPr preferRelativeResize="0"/>
          <p:nvPr/>
        </p:nvPicPr>
        <p:blipFill rotWithShape="1">
          <a:blip r:embed="rId3"/>
          <a:srcRect/>
          <a:stretch>
            <a:fillRect/>
          </a:stretch>
        </p:blipFill>
        <p:spPr>
          <a:xfrm>
            <a:off x="4724401" y="1600201"/>
            <a:ext cx="5332413" cy="3842933"/>
          </a:xfrm>
          <a:prstGeom prst="rect">
            <a:avLst/>
          </a:prstGeom>
          <a:noFill/>
          <a:ln w="9525" cap="flat" cmpd="sng">
            <a:solidFill>
              <a:schemeClr val="dk1"/>
            </a:solidFill>
            <a:prstDash val="solid"/>
            <a:miter lim="800000"/>
            <a:headEnd type="none" w="sm" len="sm"/>
            <a:tailEnd type="none" w="sm" len="sm"/>
          </a:ln>
        </p:spPr>
      </p:pic>
      <p:sp>
        <p:nvSpPr>
          <p:cNvPr id="5" name="Footer Placeholder 3"/>
          <p:cNvSpPr>
            <a:spLocks noGrp="1"/>
          </p:cNvSpPr>
          <p:nvPr>
            <p:ph type="ftr" sz="quarter" idx="11"/>
          </p:nvPr>
        </p:nvSpPr>
        <p:spPr>
          <a:xfrm>
            <a:off x="1698171" y="6365586"/>
            <a:ext cx="8871858" cy="365125"/>
          </a:xfrm>
        </p:spPr>
        <p:txBody>
          <a:bodyPr/>
          <a:lstStyle/>
          <a:p>
            <a:r>
              <a:rPr lang="en-US" dirty="0"/>
              <a:t>Slides prepared by: Prof.Nandini K, Assistant Professor, Department of CSE, </a:t>
            </a:r>
            <a:r>
              <a:rPr lang="en-US" dirty="0" err="1"/>
              <a:t>Dayananda</a:t>
            </a:r>
            <a:r>
              <a:rPr lang="en-US" dirty="0"/>
              <a:t> </a:t>
            </a:r>
            <a:r>
              <a:rPr lang="en-US" dirty="0" err="1"/>
              <a:t>Sagar</a:t>
            </a:r>
            <a:r>
              <a:rPr lang="en-US" dirty="0"/>
              <a:t> University, </a:t>
            </a:r>
            <a:r>
              <a:rPr lang="en-US" dirty="0" err="1"/>
              <a:t>Harohalli</a:t>
            </a:r>
            <a:r>
              <a:rPr lang="en-US" dirty="0"/>
              <a:t>, Karnataka.</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85"/>
          <p:cNvSpPr txBox="1">
            <a:spLocks noGrp="1"/>
          </p:cNvSpPr>
          <p:nvPr>
            <p:ph type="title"/>
          </p:nvPr>
        </p:nvSpPr>
        <p:spPr>
          <a:xfrm>
            <a:off x="1981200" y="34636"/>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3200"/>
            </a:pPr>
            <a:r>
              <a:rPr lang="en-US" sz="3200">
                <a:latin typeface="Times New Roman" panose="02020603050405020304"/>
                <a:ea typeface="Times New Roman" panose="02020603050405020304"/>
                <a:cs typeface="Times New Roman" panose="02020603050405020304"/>
                <a:sym typeface="Times New Roman" panose="02020603050405020304"/>
              </a:rPr>
              <a:t>LINEAR SEARCH</a:t>
            </a:r>
          </a:p>
        </p:txBody>
      </p:sp>
      <p:pic>
        <p:nvPicPr>
          <p:cNvPr id="534" name="Google Shape;534;p85"/>
          <p:cNvPicPr preferRelativeResize="0">
            <a:picLocks noGrp="1"/>
          </p:cNvPicPr>
          <p:nvPr>
            <p:ph type="body" idx="1"/>
          </p:nvPr>
        </p:nvPicPr>
        <p:blipFill rotWithShape="1">
          <a:blip r:embed="rId3"/>
          <a:srcRect/>
          <a:stretch>
            <a:fillRect/>
          </a:stretch>
        </p:blipFill>
        <p:spPr>
          <a:xfrm>
            <a:off x="3276600" y="1295401"/>
            <a:ext cx="6023370" cy="890093"/>
          </a:xfrm>
          <a:prstGeom prst="rect">
            <a:avLst/>
          </a:prstGeom>
          <a:noFill/>
          <a:ln>
            <a:noFill/>
          </a:ln>
        </p:spPr>
      </p:pic>
      <p:sp>
        <p:nvSpPr>
          <p:cNvPr id="535" name="Google Shape;535;p85"/>
          <p:cNvSpPr/>
          <p:nvPr/>
        </p:nvSpPr>
        <p:spPr>
          <a:xfrm>
            <a:off x="822036" y="2289054"/>
            <a:ext cx="10704946" cy="4247317"/>
          </a:xfrm>
          <a:prstGeom prst="rect">
            <a:avLst/>
          </a:prstGeom>
          <a:noFill/>
          <a:ln>
            <a:noFill/>
          </a:ln>
        </p:spPr>
        <p:txBody>
          <a:bodyPr spcFirstLastPara="1" wrap="square" lIns="91425" tIns="45700" rIns="91425" bIns="45700" anchor="t" anchorCtr="0">
            <a:noAutofit/>
          </a:bodyPr>
          <a:lstStyle/>
          <a:p>
            <a:pPr marL="285750" indent="-285750">
              <a:lnSpc>
                <a:spcPct val="150000"/>
              </a:lnSpc>
              <a:buClr>
                <a:schemeClr val="dk1"/>
              </a:buClr>
              <a:buSzPts val="1800"/>
              <a:buFont typeface="Noto Sans Symbols"/>
              <a:buChar char="⮚"/>
            </a:pPr>
            <a:r>
              <a:rPr lang="en-US"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BEST CASE: </a:t>
            </a:r>
            <a:r>
              <a:rPr lang="en-US" dirty="0">
                <a:solidFill>
                  <a:schemeClr val="dk1"/>
                </a:solidFill>
                <a:latin typeface="Times New Roman" panose="02020603050405020304"/>
                <a:ea typeface="Times New Roman" panose="02020603050405020304"/>
                <a:cs typeface="Times New Roman" panose="02020603050405020304"/>
                <a:sym typeface="Times New Roman" panose="02020603050405020304"/>
              </a:rPr>
              <a:t>If we want to search an element 3, whether it is present in the array or not. First, A(1) is compared with 3, match occurs. So the number of comparisons is only one. Time complexity is O(1) </a:t>
            </a:r>
            <a:endParaRPr dirty="0"/>
          </a:p>
          <a:p>
            <a:pPr marL="285750" indent="-285750">
              <a:lnSpc>
                <a:spcPct val="150000"/>
              </a:lnSpc>
              <a:buClr>
                <a:schemeClr val="dk1"/>
              </a:buClr>
              <a:buSzPts val="1800"/>
              <a:buFont typeface="Noto Sans Symbols"/>
              <a:buChar char="⮚"/>
            </a:pPr>
            <a:r>
              <a:rPr lang="en-US"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AVERAGE CASE: </a:t>
            </a:r>
            <a:r>
              <a:rPr lang="en-US" dirty="0">
                <a:solidFill>
                  <a:schemeClr val="dk1"/>
                </a:solidFill>
                <a:latin typeface="Times New Roman" panose="02020603050405020304"/>
                <a:ea typeface="Times New Roman" panose="02020603050405020304"/>
                <a:cs typeface="Times New Roman" panose="02020603050405020304"/>
                <a:sym typeface="Times New Roman" panose="02020603050405020304"/>
              </a:rPr>
              <a:t>If we want to search an element 7, whether it is present in the array or not.</a:t>
            </a:r>
            <a:endParaRPr dirty="0"/>
          </a:p>
          <a:p>
            <a:pPr marL="742950" lvl="1" indent="-285750">
              <a:lnSpc>
                <a:spcPct val="150000"/>
              </a:lnSpc>
              <a:buClr>
                <a:schemeClr val="dk1"/>
              </a:buClr>
              <a:buSzPts val="1800"/>
              <a:buFont typeface="Arial" panose="020B0604020202020204"/>
              <a:buChar char="•"/>
            </a:pPr>
            <a:r>
              <a:rPr lang="en-US" dirty="0">
                <a:solidFill>
                  <a:schemeClr val="dk1"/>
                </a:solidFill>
                <a:latin typeface="Times New Roman" panose="02020603050405020304"/>
                <a:ea typeface="Times New Roman" panose="02020603050405020304"/>
                <a:cs typeface="Times New Roman" panose="02020603050405020304"/>
                <a:sym typeface="Times New Roman" panose="02020603050405020304"/>
              </a:rPr>
              <a:t>First, A(1) is compared with 7 i.e., (3=7), no match occurs. </a:t>
            </a:r>
            <a:endParaRPr dirty="0"/>
          </a:p>
          <a:p>
            <a:pPr marL="742950" lvl="1" indent="-285750">
              <a:lnSpc>
                <a:spcPct val="150000"/>
              </a:lnSpc>
              <a:buClr>
                <a:schemeClr val="dk1"/>
              </a:buClr>
              <a:buSzPts val="1800"/>
              <a:buFont typeface="Arial" panose="020B0604020202020204"/>
              <a:buChar char="•"/>
            </a:pPr>
            <a:r>
              <a:rPr lang="en-US" dirty="0">
                <a:solidFill>
                  <a:schemeClr val="dk1"/>
                </a:solidFill>
                <a:latin typeface="Times New Roman" panose="02020603050405020304"/>
                <a:ea typeface="Times New Roman" panose="02020603050405020304"/>
                <a:cs typeface="Times New Roman" panose="02020603050405020304"/>
                <a:sym typeface="Times New Roman" panose="02020603050405020304"/>
              </a:rPr>
              <a:t>Next, compare A(2) and 7, no match occurs. Compare A(3) and A(4) with 7, no match occurs. Up to now 4 comparisons takes place. </a:t>
            </a:r>
            <a:endParaRPr dirty="0"/>
          </a:p>
          <a:p>
            <a:pPr marL="742950" lvl="1" indent="-285750">
              <a:lnSpc>
                <a:spcPct val="150000"/>
              </a:lnSpc>
              <a:buClr>
                <a:schemeClr val="dk1"/>
              </a:buClr>
              <a:buSzPts val="1800"/>
              <a:buFont typeface="Arial" panose="020B0604020202020204"/>
              <a:buChar char="•"/>
            </a:pPr>
            <a:r>
              <a:rPr lang="en-US" dirty="0">
                <a:solidFill>
                  <a:schemeClr val="dk1"/>
                </a:solidFill>
                <a:latin typeface="Times New Roman" panose="02020603050405020304"/>
                <a:ea typeface="Times New Roman" panose="02020603050405020304"/>
                <a:cs typeface="Times New Roman" panose="02020603050405020304"/>
                <a:sym typeface="Times New Roman" panose="02020603050405020304"/>
              </a:rPr>
              <a:t>Now compare A(5) and 7 (i.e., 7=7), so match occurs. The number of comparisons is 5</a:t>
            </a:r>
            <a:endParaRPr dirty="0"/>
          </a:p>
          <a:p>
            <a:pPr marL="742950" lvl="1" indent="-285750">
              <a:lnSpc>
                <a:spcPct val="150000"/>
              </a:lnSpc>
              <a:buClr>
                <a:schemeClr val="dk1"/>
              </a:buClr>
              <a:buSzPts val="1800"/>
              <a:buFont typeface="Arial" panose="020B0604020202020204"/>
              <a:buChar char="•"/>
            </a:pPr>
            <a:r>
              <a:rPr lang="en-US" dirty="0">
                <a:solidFill>
                  <a:schemeClr val="dk1"/>
                </a:solidFill>
                <a:latin typeface="Times New Roman" panose="02020603050405020304"/>
                <a:ea typeface="Times New Roman" panose="02020603050405020304"/>
                <a:cs typeface="Times New Roman" panose="02020603050405020304"/>
                <a:sym typeface="Times New Roman" panose="02020603050405020304"/>
              </a:rPr>
              <a:t>Note: If there are n elements, then we require n/2 comparisons.</a:t>
            </a:r>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a:lnSpc>
                <a:spcPct val="150000"/>
              </a:lnSpc>
            </a:pPr>
            <a:r>
              <a:rPr lang="en-US"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 Time complexity is O (n/2) = O(n) (we neglect constant)</a:t>
            </a:r>
            <a:endParaRPr dirty="0"/>
          </a:p>
        </p:txBody>
      </p:sp>
      <p:sp>
        <p:nvSpPr>
          <p:cNvPr id="5" name="Footer Placeholder 3"/>
          <p:cNvSpPr>
            <a:spLocks noGrp="1"/>
          </p:cNvSpPr>
          <p:nvPr>
            <p:ph type="ftr" sz="quarter" idx="11"/>
          </p:nvPr>
        </p:nvSpPr>
        <p:spPr>
          <a:xfrm>
            <a:off x="1698171" y="6356350"/>
            <a:ext cx="8871858" cy="365125"/>
          </a:xfrm>
        </p:spPr>
        <p:txBody>
          <a:bodyPr/>
          <a:lstStyle/>
          <a:p>
            <a:r>
              <a:rPr lang="en-US" dirty="0"/>
              <a:t>Slides prepared by: Prof.Nandini K, Assistant Professor, Department of CSE, </a:t>
            </a:r>
            <a:r>
              <a:rPr lang="en-US" dirty="0" err="1"/>
              <a:t>Dayananda</a:t>
            </a:r>
            <a:r>
              <a:rPr lang="en-US" dirty="0"/>
              <a:t> </a:t>
            </a:r>
            <a:r>
              <a:rPr lang="en-US" dirty="0" err="1"/>
              <a:t>Sagar</a:t>
            </a:r>
            <a:r>
              <a:rPr lang="en-US" dirty="0"/>
              <a:t> University, </a:t>
            </a:r>
            <a:r>
              <a:rPr lang="en-US" dirty="0" err="1"/>
              <a:t>Harohalli</a:t>
            </a:r>
            <a:r>
              <a:rPr lang="en-US" dirty="0"/>
              <a:t>, Karnataka.</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sp>
        <p:nvSpPr>
          <p:cNvPr id="540" name="Google Shape;540;p86"/>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3200"/>
            </a:pPr>
            <a:r>
              <a:rPr lang="en-US" sz="3200">
                <a:latin typeface="Times New Roman" panose="02020603050405020304"/>
                <a:ea typeface="Times New Roman" panose="02020603050405020304"/>
                <a:cs typeface="Times New Roman" panose="02020603050405020304"/>
                <a:sym typeface="Times New Roman" panose="02020603050405020304"/>
              </a:rPr>
              <a:t>LINEAR SEARCH</a:t>
            </a:r>
          </a:p>
        </p:txBody>
      </p:sp>
      <p:sp>
        <p:nvSpPr>
          <p:cNvPr id="541" name="Google Shape;541;p86"/>
          <p:cNvSpPr txBox="1">
            <a:spLocks noGrp="1"/>
          </p:cNvSpPr>
          <p:nvPr>
            <p:ph type="body" idx="1"/>
          </p:nvPr>
        </p:nvSpPr>
        <p:spPr>
          <a:xfrm>
            <a:off x="886691" y="1600201"/>
            <a:ext cx="10797309" cy="4525963"/>
          </a:xfrm>
          <a:prstGeom prst="rect">
            <a:avLst/>
          </a:prstGeom>
          <a:noFill/>
          <a:ln>
            <a:noFill/>
          </a:ln>
        </p:spPr>
        <p:txBody>
          <a:bodyPr spcFirstLastPara="1" vert="horz" wrap="square" lIns="91425" tIns="45700" rIns="91425" bIns="45700" rtlCol="0" anchor="t" anchorCtr="0">
            <a:normAutofit/>
          </a:bodyPr>
          <a:lstStyle/>
          <a:p>
            <a:pPr marL="285750" indent="-285750">
              <a:spcBef>
                <a:spcPts val="0"/>
              </a:spcBef>
              <a:buClr>
                <a:schemeClr val="dk1"/>
              </a:buClr>
              <a:buSzPts val="2100"/>
              <a:buFont typeface="Noto Sans Symbols"/>
              <a:buChar char="⮚"/>
            </a:pPr>
            <a:r>
              <a:rPr lang="en-US" sz="2100" b="1" dirty="0">
                <a:latin typeface="Times New Roman" panose="02020603050405020304"/>
                <a:ea typeface="Times New Roman" panose="02020603050405020304"/>
                <a:cs typeface="Times New Roman" panose="02020603050405020304"/>
                <a:sym typeface="Times New Roman" panose="02020603050405020304"/>
              </a:rPr>
              <a:t>WORST CASE: </a:t>
            </a:r>
            <a:r>
              <a:rPr lang="en-US" sz="2100" dirty="0">
                <a:latin typeface="Times New Roman" panose="02020603050405020304"/>
                <a:ea typeface="Times New Roman" panose="02020603050405020304"/>
                <a:cs typeface="Times New Roman" panose="02020603050405020304"/>
                <a:sym typeface="Times New Roman" panose="02020603050405020304"/>
              </a:rPr>
              <a:t>If we want to search an element 15, whether it is present in the array or not.</a:t>
            </a:r>
            <a:endParaRPr dirty="0"/>
          </a:p>
          <a:p>
            <a:pPr marL="742950" lvl="1" indent="-285750">
              <a:spcBef>
                <a:spcPts val="420"/>
              </a:spcBef>
              <a:buClr>
                <a:schemeClr val="dk1"/>
              </a:buClr>
              <a:buSzPts val="2100"/>
              <a:buFont typeface="Arial" panose="020B0604020202020204"/>
              <a:buChar char="•"/>
            </a:pPr>
            <a:r>
              <a:rPr lang="en-US" sz="2100" dirty="0">
                <a:latin typeface="Times New Roman" panose="02020603050405020304"/>
                <a:ea typeface="Times New Roman" panose="02020603050405020304"/>
                <a:cs typeface="Times New Roman" panose="02020603050405020304"/>
                <a:sym typeface="Times New Roman" panose="02020603050405020304"/>
              </a:rPr>
              <a:t>First, A(1) is compared with 15 (i.e., 3=15), no match occurs. </a:t>
            </a:r>
            <a:endParaRPr dirty="0"/>
          </a:p>
          <a:p>
            <a:pPr marL="742950" lvl="1" indent="-285750">
              <a:spcBef>
                <a:spcPts val="420"/>
              </a:spcBef>
              <a:buClr>
                <a:schemeClr val="dk1"/>
              </a:buClr>
              <a:buSzPts val="2100"/>
              <a:buFont typeface="Arial" panose="020B0604020202020204"/>
              <a:buChar char="•"/>
            </a:pPr>
            <a:r>
              <a:rPr lang="en-US" sz="2100" dirty="0">
                <a:latin typeface="Times New Roman" panose="02020603050405020304"/>
                <a:ea typeface="Times New Roman" panose="02020603050405020304"/>
                <a:cs typeface="Times New Roman" panose="02020603050405020304"/>
                <a:sym typeface="Times New Roman" panose="02020603050405020304"/>
              </a:rPr>
              <a:t>Continue this process until either element is found or the list is exhausted. </a:t>
            </a:r>
            <a:endParaRPr dirty="0"/>
          </a:p>
          <a:p>
            <a:pPr marL="742950" lvl="1" indent="-285750">
              <a:spcBef>
                <a:spcPts val="420"/>
              </a:spcBef>
              <a:buClr>
                <a:schemeClr val="dk1"/>
              </a:buClr>
              <a:buSzPts val="2100"/>
              <a:buFont typeface="Arial" panose="020B0604020202020204"/>
              <a:buChar char="•"/>
            </a:pPr>
            <a:r>
              <a:rPr lang="en-US" sz="2100" dirty="0">
                <a:latin typeface="Times New Roman" panose="02020603050405020304"/>
                <a:ea typeface="Times New Roman" panose="02020603050405020304"/>
                <a:cs typeface="Times New Roman" panose="02020603050405020304"/>
                <a:sym typeface="Times New Roman" panose="02020603050405020304"/>
              </a:rPr>
              <a:t>The element is found at 9th comparison. </a:t>
            </a:r>
            <a:endParaRPr dirty="0"/>
          </a:p>
          <a:p>
            <a:pPr marL="742950" lvl="1" indent="-285750">
              <a:spcBef>
                <a:spcPts val="420"/>
              </a:spcBef>
              <a:buClr>
                <a:schemeClr val="dk1"/>
              </a:buClr>
              <a:buSzPts val="2100"/>
              <a:buFont typeface="Arial" panose="020B0604020202020204"/>
              <a:buChar char="•"/>
            </a:pPr>
            <a:r>
              <a:rPr lang="en-US" sz="2100" dirty="0">
                <a:latin typeface="Times New Roman" panose="02020603050405020304"/>
                <a:ea typeface="Times New Roman" panose="02020603050405020304"/>
                <a:cs typeface="Times New Roman" panose="02020603050405020304"/>
                <a:sym typeface="Times New Roman" panose="02020603050405020304"/>
              </a:rPr>
              <a:t>So number of comparisons are 9.</a:t>
            </a:r>
            <a:endParaRPr dirty="0"/>
          </a:p>
          <a:p>
            <a:pPr marL="342900" indent="-342900">
              <a:spcBef>
                <a:spcPts val="420"/>
              </a:spcBef>
              <a:buClr>
                <a:schemeClr val="dk1"/>
              </a:buClr>
              <a:buSzPts val="2100"/>
            </a:pPr>
            <a:r>
              <a:rPr lang="en-US" sz="2100" dirty="0">
                <a:latin typeface="Times New Roman" panose="02020603050405020304"/>
                <a:ea typeface="Times New Roman" panose="02020603050405020304"/>
                <a:cs typeface="Times New Roman" panose="02020603050405020304"/>
                <a:sym typeface="Times New Roman" panose="02020603050405020304"/>
              </a:rPr>
              <a:t>			Time complexity is O(n)</a:t>
            </a:r>
            <a:endParaRPr dirty="0"/>
          </a:p>
          <a:p>
            <a:pPr marL="342900" indent="-209550">
              <a:spcBef>
                <a:spcPts val="420"/>
              </a:spcBef>
              <a:buClr>
                <a:schemeClr val="dk1"/>
              </a:buClr>
              <a:buSzPts val="2100"/>
              <a:buNone/>
            </a:pPr>
            <a:endParaRPr sz="2100" dirty="0">
              <a:latin typeface="Times New Roman" panose="02020603050405020304"/>
              <a:ea typeface="Times New Roman" panose="02020603050405020304"/>
              <a:cs typeface="Times New Roman" panose="02020603050405020304"/>
              <a:sym typeface="Times New Roman" panose="02020603050405020304"/>
            </a:endParaRPr>
          </a:p>
          <a:p>
            <a:pPr marL="342900" indent="-342900">
              <a:spcBef>
                <a:spcPts val="420"/>
              </a:spcBef>
              <a:buClr>
                <a:schemeClr val="dk1"/>
              </a:buClr>
              <a:buSzPts val="2100"/>
            </a:pPr>
            <a:r>
              <a:rPr lang="en-US" sz="2100" dirty="0">
                <a:latin typeface="Times New Roman" panose="02020603050405020304"/>
                <a:ea typeface="Times New Roman" panose="02020603050405020304"/>
                <a:cs typeface="Times New Roman" panose="02020603050405020304"/>
                <a:sym typeface="Times New Roman" panose="02020603050405020304"/>
              </a:rPr>
              <a:t>If the element is not found in array, then we have to search entire array, so it comes under worst case.</a:t>
            </a:r>
            <a:endParaRPr dirty="0"/>
          </a:p>
          <a:p>
            <a:pPr marL="342900" indent="-139700">
              <a:spcBef>
                <a:spcPts val="640"/>
              </a:spcBef>
              <a:buClr>
                <a:schemeClr val="dk1"/>
              </a:buClr>
              <a:buSzPts val="3200"/>
              <a:buNone/>
            </a:pPr>
            <a:endParaRPr dirty="0"/>
          </a:p>
          <a:p>
            <a:pPr marL="0" indent="0">
              <a:spcBef>
                <a:spcPts val="640"/>
              </a:spcBef>
              <a:buClr>
                <a:schemeClr val="dk1"/>
              </a:buClr>
              <a:buSzPts val="3200"/>
              <a:buNone/>
            </a:pPr>
            <a:endParaRPr dirty="0"/>
          </a:p>
        </p:txBody>
      </p:sp>
      <p:sp>
        <p:nvSpPr>
          <p:cNvPr id="4" name="Footer Placeholder 3"/>
          <p:cNvSpPr>
            <a:spLocks noGrp="1"/>
          </p:cNvSpPr>
          <p:nvPr>
            <p:ph type="ftr" sz="quarter" idx="11"/>
          </p:nvPr>
        </p:nvSpPr>
        <p:spPr>
          <a:xfrm>
            <a:off x="1698171" y="6356350"/>
            <a:ext cx="8871858" cy="365125"/>
          </a:xfrm>
        </p:spPr>
        <p:txBody>
          <a:bodyPr/>
          <a:lstStyle/>
          <a:p>
            <a:r>
              <a:rPr lang="en-US" dirty="0"/>
              <a:t>Slides prepared by: Prof.Nandini K, Assistant Professor, Department of CSE, </a:t>
            </a:r>
            <a:r>
              <a:rPr lang="en-US" dirty="0" err="1"/>
              <a:t>Dayananda</a:t>
            </a:r>
            <a:r>
              <a:rPr lang="en-US" dirty="0"/>
              <a:t> </a:t>
            </a:r>
            <a:r>
              <a:rPr lang="en-US" dirty="0" err="1"/>
              <a:t>Sagar</a:t>
            </a:r>
            <a:r>
              <a:rPr lang="en-US" dirty="0"/>
              <a:t> University, </a:t>
            </a:r>
            <a:r>
              <a:rPr lang="en-US" dirty="0" err="1"/>
              <a:t>Harohalli</a:t>
            </a:r>
            <a:r>
              <a:rPr lang="en-US" dirty="0"/>
              <a:t>, Karnataka.</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56159" y="137994"/>
            <a:ext cx="10180899" cy="689932"/>
          </a:xfrm>
          <a:prstGeom prst="rect">
            <a:avLst/>
          </a:prstGeom>
        </p:spPr>
        <p:txBody>
          <a:bodyPr vert="horz" wrap="square" lIns="0" tIns="12700" rIns="0" bIns="0" rtlCol="0">
            <a:spAutoFit/>
          </a:bodyPr>
          <a:lstStyle/>
          <a:p>
            <a:pPr marL="12700" algn="ctr">
              <a:lnSpc>
                <a:spcPct val="100000"/>
              </a:lnSpc>
              <a:spcBef>
                <a:spcPts val="100"/>
              </a:spcBef>
            </a:pPr>
            <a:r>
              <a:rPr spc="-65" dirty="0"/>
              <a:t> </a:t>
            </a:r>
            <a:r>
              <a:rPr dirty="0"/>
              <a:t>Asymptotic</a:t>
            </a:r>
            <a:r>
              <a:rPr spc="-120" dirty="0"/>
              <a:t> </a:t>
            </a:r>
            <a:r>
              <a:rPr spc="-10" dirty="0"/>
              <a:t>Notations</a:t>
            </a:r>
          </a:p>
        </p:txBody>
      </p:sp>
      <p:sp>
        <p:nvSpPr>
          <p:cNvPr id="3" name="object 3"/>
          <p:cNvSpPr txBox="1"/>
          <p:nvPr/>
        </p:nvSpPr>
        <p:spPr>
          <a:xfrm>
            <a:off x="166522" y="1015974"/>
            <a:ext cx="11560175" cy="4712970"/>
          </a:xfrm>
          <a:prstGeom prst="rect">
            <a:avLst/>
          </a:prstGeom>
        </p:spPr>
        <p:txBody>
          <a:bodyPr vert="horz" wrap="square" lIns="0" tIns="177165" rIns="0" bIns="0" rtlCol="0">
            <a:spAutoFit/>
          </a:bodyPr>
          <a:lstStyle/>
          <a:p>
            <a:pPr marL="355600" indent="-342900">
              <a:lnSpc>
                <a:spcPct val="100000"/>
              </a:lnSpc>
              <a:spcBef>
                <a:spcPts val="1395"/>
              </a:spcBef>
              <a:buFont typeface="Wingdings" panose="05000000000000000000"/>
              <a:buChar char=""/>
              <a:tabLst>
                <a:tab pos="355600" algn="l"/>
              </a:tabLst>
            </a:pPr>
            <a:r>
              <a:rPr sz="2000" dirty="0">
                <a:latin typeface="Times New Roman" panose="02020603050405020304"/>
                <a:cs typeface="Times New Roman" panose="02020603050405020304"/>
              </a:rPr>
              <a:t>The</a:t>
            </a:r>
            <a:r>
              <a:rPr sz="2000" spc="-5" dirty="0">
                <a:latin typeface="Times New Roman" panose="02020603050405020304"/>
                <a:cs typeface="Times New Roman" panose="02020603050405020304"/>
              </a:rPr>
              <a:t> </a:t>
            </a:r>
            <a:r>
              <a:rPr sz="2000" dirty="0">
                <a:latin typeface="Times New Roman" panose="02020603050405020304"/>
                <a:cs typeface="Times New Roman" panose="02020603050405020304"/>
              </a:rPr>
              <a:t>order</a:t>
            </a:r>
            <a:r>
              <a:rPr sz="2000" spc="-45" dirty="0">
                <a:latin typeface="Times New Roman" panose="02020603050405020304"/>
                <a:cs typeface="Times New Roman" panose="02020603050405020304"/>
              </a:rPr>
              <a:t> </a:t>
            </a:r>
            <a:r>
              <a:rPr sz="2000" dirty="0">
                <a:latin typeface="Times New Roman" panose="02020603050405020304"/>
                <a:cs typeface="Times New Roman" panose="02020603050405020304"/>
              </a:rPr>
              <a:t>of</a:t>
            </a:r>
            <a:r>
              <a:rPr sz="2000" spc="-30" dirty="0">
                <a:latin typeface="Times New Roman" panose="02020603050405020304"/>
                <a:cs typeface="Times New Roman" panose="02020603050405020304"/>
              </a:rPr>
              <a:t> </a:t>
            </a:r>
            <a:r>
              <a:rPr sz="2000" dirty="0">
                <a:latin typeface="Times New Roman" panose="02020603050405020304"/>
                <a:cs typeface="Times New Roman" panose="02020603050405020304"/>
              </a:rPr>
              <a:t>growth</a:t>
            </a:r>
            <a:r>
              <a:rPr sz="2000" spc="-55" dirty="0">
                <a:latin typeface="Times New Roman" panose="02020603050405020304"/>
                <a:cs typeface="Times New Roman" panose="02020603050405020304"/>
              </a:rPr>
              <a:t> </a:t>
            </a:r>
            <a:r>
              <a:rPr sz="2000" dirty="0">
                <a:latin typeface="Times New Roman" panose="02020603050405020304"/>
                <a:cs typeface="Times New Roman" panose="02020603050405020304"/>
              </a:rPr>
              <a:t>can</a:t>
            </a:r>
            <a:r>
              <a:rPr sz="2000" spc="-40" dirty="0">
                <a:latin typeface="Times New Roman" panose="02020603050405020304"/>
                <a:cs typeface="Times New Roman" panose="02020603050405020304"/>
              </a:rPr>
              <a:t> </a:t>
            </a:r>
            <a:r>
              <a:rPr sz="2000" dirty="0">
                <a:latin typeface="Times New Roman" panose="02020603050405020304"/>
                <a:cs typeface="Times New Roman" panose="02020603050405020304"/>
              </a:rPr>
              <a:t>be</a:t>
            </a:r>
            <a:r>
              <a:rPr sz="2000" spc="-10" dirty="0">
                <a:latin typeface="Times New Roman" panose="02020603050405020304"/>
                <a:cs typeface="Times New Roman" panose="02020603050405020304"/>
              </a:rPr>
              <a:t> </a:t>
            </a:r>
            <a:r>
              <a:rPr sz="2000" dirty="0">
                <a:latin typeface="Times New Roman" panose="02020603050405020304"/>
                <a:cs typeface="Times New Roman" panose="02020603050405020304"/>
              </a:rPr>
              <a:t>expressed</a:t>
            </a:r>
            <a:r>
              <a:rPr sz="2000" spc="-70" dirty="0">
                <a:latin typeface="Times New Roman" panose="02020603050405020304"/>
                <a:cs typeface="Times New Roman" panose="02020603050405020304"/>
              </a:rPr>
              <a:t> </a:t>
            </a:r>
            <a:r>
              <a:rPr sz="2000" dirty="0">
                <a:latin typeface="Times New Roman" panose="02020603050405020304"/>
                <a:cs typeface="Times New Roman" panose="02020603050405020304"/>
              </a:rPr>
              <a:t>using</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two</a:t>
            </a:r>
            <a:r>
              <a:rPr sz="2000" spc="-15"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methods:</a:t>
            </a:r>
            <a:endParaRPr sz="2000" dirty="0">
              <a:latin typeface="Times New Roman" panose="02020603050405020304"/>
              <a:cs typeface="Times New Roman" panose="02020603050405020304"/>
            </a:endParaRPr>
          </a:p>
          <a:p>
            <a:pPr marL="469900" indent="-457200">
              <a:lnSpc>
                <a:spcPct val="100000"/>
              </a:lnSpc>
              <a:spcBef>
                <a:spcPts val="1295"/>
              </a:spcBef>
              <a:buAutoNum type="arabicPeriod"/>
              <a:tabLst>
                <a:tab pos="469900" algn="l"/>
              </a:tabLst>
            </a:pPr>
            <a:r>
              <a:rPr sz="2000" dirty="0">
                <a:latin typeface="Times New Roman" panose="02020603050405020304"/>
                <a:cs typeface="Times New Roman" panose="02020603050405020304"/>
              </a:rPr>
              <a:t>Order</a:t>
            </a:r>
            <a:r>
              <a:rPr sz="2000" spc="-55" dirty="0">
                <a:latin typeface="Times New Roman" panose="02020603050405020304"/>
                <a:cs typeface="Times New Roman" panose="02020603050405020304"/>
              </a:rPr>
              <a:t> </a:t>
            </a:r>
            <a:r>
              <a:rPr sz="2000" dirty="0">
                <a:latin typeface="Times New Roman" panose="02020603050405020304"/>
                <a:cs typeface="Times New Roman" panose="02020603050405020304"/>
              </a:rPr>
              <a:t>of</a:t>
            </a:r>
            <a:r>
              <a:rPr sz="2000" spc="-50" dirty="0">
                <a:latin typeface="Times New Roman" panose="02020603050405020304"/>
                <a:cs typeface="Times New Roman" panose="02020603050405020304"/>
              </a:rPr>
              <a:t> </a:t>
            </a:r>
            <a:r>
              <a:rPr sz="2000" dirty="0">
                <a:latin typeface="Times New Roman" panose="02020603050405020304"/>
                <a:cs typeface="Times New Roman" panose="02020603050405020304"/>
              </a:rPr>
              <a:t>growth</a:t>
            </a:r>
            <a:r>
              <a:rPr sz="2000" spc="-75" dirty="0">
                <a:latin typeface="Times New Roman" panose="02020603050405020304"/>
                <a:cs typeface="Times New Roman" panose="02020603050405020304"/>
              </a:rPr>
              <a:t> </a:t>
            </a:r>
            <a:r>
              <a:rPr sz="2000" dirty="0">
                <a:latin typeface="Times New Roman" panose="02020603050405020304"/>
                <a:cs typeface="Times New Roman" panose="02020603050405020304"/>
              </a:rPr>
              <a:t>using</a:t>
            </a:r>
            <a:r>
              <a:rPr sz="2000" spc="-55" dirty="0">
                <a:latin typeface="Times New Roman" panose="02020603050405020304"/>
                <a:cs typeface="Times New Roman" panose="02020603050405020304"/>
              </a:rPr>
              <a:t> </a:t>
            </a:r>
            <a:r>
              <a:rPr sz="2000" dirty="0">
                <a:latin typeface="Times New Roman" panose="02020603050405020304"/>
                <a:cs typeface="Times New Roman" panose="02020603050405020304"/>
              </a:rPr>
              <a:t>asymptotic</a:t>
            </a:r>
            <a:r>
              <a:rPr sz="2000" spc="-70"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notations.</a:t>
            </a:r>
            <a:endParaRPr sz="2000" dirty="0">
              <a:latin typeface="Times New Roman" panose="02020603050405020304"/>
              <a:cs typeface="Times New Roman" panose="02020603050405020304"/>
            </a:endParaRPr>
          </a:p>
          <a:p>
            <a:pPr marL="469900" indent="-457200">
              <a:lnSpc>
                <a:spcPct val="100000"/>
              </a:lnSpc>
              <a:spcBef>
                <a:spcPts val="1310"/>
              </a:spcBef>
              <a:buAutoNum type="arabicPeriod"/>
              <a:tabLst>
                <a:tab pos="469900" algn="l"/>
              </a:tabLst>
            </a:pPr>
            <a:r>
              <a:rPr sz="2000" dirty="0">
                <a:latin typeface="Times New Roman" panose="02020603050405020304"/>
                <a:cs typeface="Times New Roman" panose="02020603050405020304"/>
              </a:rPr>
              <a:t>Order</a:t>
            </a:r>
            <a:r>
              <a:rPr sz="2000" spc="-45" dirty="0">
                <a:latin typeface="Times New Roman" panose="02020603050405020304"/>
                <a:cs typeface="Times New Roman" panose="02020603050405020304"/>
              </a:rPr>
              <a:t> </a:t>
            </a:r>
            <a:r>
              <a:rPr sz="2000" dirty="0">
                <a:latin typeface="Times New Roman" panose="02020603050405020304"/>
                <a:cs typeface="Times New Roman" panose="02020603050405020304"/>
              </a:rPr>
              <a:t>of</a:t>
            </a:r>
            <a:r>
              <a:rPr sz="2000" spc="-55" dirty="0">
                <a:latin typeface="Times New Roman" panose="02020603050405020304"/>
                <a:cs typeface="Times New Roman" panose="02020603050405020304"/>
              </a:rPr>
              <a:t> </a:t>
            </a:r>
            <a:r>
              <a:rPr sz="2000" dirty="0">
                <a:latin typeface="Times New Roman" panose="02020603050405020304"/>
                <a:cs typeface="Times New Roman" panose="02020603050405020304"/>
              </a:rPr>
              <a:t>growth</a:t>
            </a:r>
            <a:r>
              <a:rPr sz="2000" spc="-65" dirty="0">
                <a:latin typeface="Times New Roman" panose="02020603050405020304"/>
                <a:cs typeface="Times New Roman" panose="02020603050405020304"/>
              </a:rPr>
              <a:t> </a:t>
            </a:r>
            <a:r>
              <a:rPr sz="2000" dirty="0">
                <a:latin typeface="Times New Roman" panose="02020603050405020304"/>
                <a:cs typeface="Times New Roman" panose="02020603050405020304"/>
              </a:rPr>
              <a:t>using</a:t>
            </a:r>
            <a:r>
              <a:rPr sz="2000" spc="-60"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limits.</a:t>
            </a:r>
            <a:endParaRPr sz="2000" dirty="0">
              <a:latin typeface="Times New Roman" panose="02020603050405020304"/>
              <a:cs typeface="Times New Roman" panose="02020603050405020304"/>
            </a:endParaRPr>
          </a:p>
          <a:p>
            <a:pPr marL="12700">
              <a:lnSpc>
                <a:spcPct val="100000"/>
              </a:lnSpc>
              <a:spcBef>
                <a:spcPts val="1295"/>
              </a:spcBef>
            </a:pPr>
            <a:r>
              <a:rPr sz="2000" b="1" i="1" u="heavy" dirty="0">
                <a:uFill>
                  <a:solidFill>
                    <a:srgbClr val="000000"/>
                  </a:solidFill>
                </a:uFill>
                <a:latin typeface="Times New Roman" panose="02020603050405020304"/>
                <a:cs typeface="Times New Roman" panose="02020603050405020304"/>
              </a:rPr>
              <a:t>Asymptotic</a:t>
            </a:r>
            <a:r>
              <a:rPr sz="2000" b="1" i="1" u="heavy" spc="-95" dirty="0">
                <a:uFill>
                  <a:solidFill>
                    <a:srgbClr val="000000"/>
                  </a:solidFill>
                </a:uFill>
                <a:latin typeface="Times New Roman" panose="02020603050405020304"/>
                <a:cs typeface="Times New Roman" panose="02020603050405020304"/>
              </a:rPr>
              <a:t> </a:t>
            </a:r>
            <a:r>
              <a:rPr sz="2000" b="1" i="1" u="heavy" dirty="0">
                <a:uFill>
                  <a:solidFill>
                    <a:srgbClr val="000000"/>
                  </a:solidFill>
                </a:uFill>
                <a:latin typeface="Times New Roman" panose="02020603050405020304"/>
                <a:cs typeface="Times New Roman" panose="02020603050405020304"/>
              </a:rPr>
              <a:t>Behavior</a:t>
            </a:r>
            <a:r>
              <a:rPr sz="2000" b="1" i="1" u="heavy" spc="-80" dirty="0">
                <a:uFill>
                  <a:solidFill>
                    <a:srgbClr val="000000"/>
                  </a:solidFill>
                </a:uFill>
                <a:latin typeface="Times New Roman" panose="02020603050405020304"/>
                <a:cs typeface="Times New Roman" panose="02020603050405020304"/>
              </a:rPr>
              <a:t> </a:t>
            </a:r>
            <a:r>
              <a:rPr sz="2000" b="1" i="1" u="heavy" dirty="0">
                <a:uFill>
                  <a:solidFill>
                    <a:srgbClr val="000000"/>
                  </a:solidFill>
                </a:uFill>
                <a:latin typeface="Times New Roman" panose="02020603050405020304"/>
                <a:cs typeface="Times New Roman" panose="02020603050405020304"/>
              </a:rPr>
              <a:t>of</a:t>
            </a:r>
            <a:r>
              <a:rPr sz="2000" b="1" i="1" u="heavy" spc="-45" dirty="0">
                <a:uFill>
                  <a:solidFill>
                    <a:srgbClr val="000000"/>
                  </a:solidFill>
                </a:uFill>
                <a:latin typeface="Times New Roman" panose="02020603050405020304"/>
                <a:cs typeface="Times New Roman" panose="02020603050405020304"/>
              </a:rPr>
              <a:t> </a:t>
            </a:r>
            <a:r>
              <a:rPr sz="2000" b="1" i="1" u="heavy" dirty="0">
                <a:uFill>
                  <a:solidFill>
                    <a:srgbClr val="000000"/>
                  </a:solidFill>
                </a:uFill>
                <a:latin typeface="Times New Roman" panose="02020603050405020304"/>
                <a:cs typeface="Times New Roman" panose="02020603050405020304"/>
              </a:rPr>
              <a:t>a</a:t>
            </a:r>
            <a:r>
              <a:rPr sz="2000" b="1" i="1" u="heavy" spc="-20" dirty="0">
                <a:uFill>
                  <a:solidFill>
                    <a:srgbClr val="000000"/>
                  </a:solidFill>
                </a:uFill>
                <a:latin typeface="Times New Roman" panose="02020603050405020304"/>
                <a:cs typeface="Times New Roman" panose="02020603050405020304"/>
              </a:rPr>
              <a:t> </a:t>
            </a:r>
            <a:r>
              <a:rPr sz="2000" b="1" i="1" u="heavy" spc="-10" dirty="0">
                <a:uFill>
                  <a:solidFill>
                    <a:srgbClr val="000000"/>
                  </a:solidFill>
                </a:uFill>
                <a:latin typeface="Times New Roman" panose="02020603050405020304"/>
                <a:cs typeface="Times New Roman" panose="02020603050405020304"/>
              </a:rPr>
              <a:t>Function</a:t>
            </a:r>
            <a:endParaRPr sz="2000" dirty="0">
              <a:latin typeface="Times New Roman" panose="02020603050405020304"/>
              <a:cs typeface="Times New Roman" panose="02020603050405020304"/>
            </a:endParaRPr>
          </a:p>
          <a:p>
            <a:pPr marL="355600" lvl="1" indent="-342900">
              <a:lnSpc>
                <a:spcPct val="100000"/>
              </a:lnSpc>
              <a:spcBef>
                <a:spcPts val="865"/>
              </a:spcBef>
              <a:buFont typeface="Wingdings" panose="05000000000000000000"/>
              <a:buChar char=""/>
              <a:tabLst>
                <a:tab pos="355600" algn="l"/>
                <a:tab pos="1667510" algn="l"/>
                <a:tab pos="2727325" algn="l"/>
                <a:tab pos="3166110" algn="l"/>
                <a:tab pos="3604895" algn="l"/>
                <a:tab pos="4790440" algn="l"/>
                <a:tab pos="5472430" algn="l"/>
                <a:tab pos="6221730" algn="l"/>
                <a:tab pos="6732270" algn="l"/>
                <a:tab pos="7943215" algn="l"/>
                <a:tab pos="8424545" algn="l"/>
                <a:tab pos="8794750" algn="l"/>
                <a:tab pos="9924415" algn="l"/>
                <a:tab pos="10503535" algn="l"/>
                <a:tab pos="11352530" algn="l"/>
              </a:tabLst>
            </a:pPr>
            <a:r>
              <a:rPr sz="2000" spc="-10" dirty="0">
                <a:latin typeface="Times New Roman" panose="02020603050405020304"/>
                <a:cs typeface="Times New Roman" panose="02020603050405020304"/>
              </a:rPr>
              <a:t>Asymptotic</a:t>
            </a:r>
            <a:r>
              <a:rPr sz="2000"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notations</a:t>
            </a:r>
            <a:r>
              <a:rPr sz="2000" dirty="0">
                <a:latin typeface="Times New Roman" panose="02020603050405020304"/>
                <a:cs typeface="Times New Roman" panose="02020603050405020304"/>
              </a:rPr>
              <a:t>	</a:t>
            </a:r>
            <a:r>
              <a:rPr sz="2000" spc="-25" dirty="0">
                <a:latin typeface="Times New Roman" panose="02020603050405020304"/>
                <a:cs typeface="Times New Roman" panose="02020603050405020304"/>
              </a:rPr>
              <a:t>are</a:t>
            </a:r>
            <a:r>
              <a:rPr sz="2000" dirty="0">
                <a:latin typeface="Times New Roman" panose="02020603050405020304"/>
                <a:cs typeface="Times New Roman" panose="02020603050405020304"/>
              </a:rPr>
              <a:t>	</a:t>
            </a:r>
            <a:r>
              <a:rPr sz="2000" spc="-25" dirty="0">
                <a:latin typeface="Times New Roman" panose="02020603050405020304"/>
                <a:cs typeface="Times New Roman" panose="02020603050405020304"/>
              </a:rPr>
              <a:t>the</a:t>
            </a:r>
            <a:r>
              <a:rPr sz="2000"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notations</a:t>
            </a:r>
            <a:r>
              <a:rPr sz="2000"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using</a:t>
            </a:r>
            <a:r>
              <a:rPr sz="2000"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which</a:t>
            </a:r>
            <a:r>
              <a:rPr sz="2000" dirty="0">
                <a:latin typeface="Times New Roman" panose="02020603050405020304"/>
                <a:cs typeface="Times New Roman" panose="02020603050405020304"/>
              </a:rPr>
              <a:t>	</a:t>
            </a:r>
            <a:r>
              <a:rPr sz="2000" spc="-25" dirty="0">
                <a:latin typeface="Times New Roman" panose="02020603050405020304"/>
                <a:cs typeface="Times New Roman" panose="02020603050405020304"/>
              </a:rPr>
              <a:t>two</a:t>
            </a:r>
            <a:r>
              <a:rPr sz="2000"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algorithms</a:t>
            </a:r>
            <a:r>
              <a:rPr sz="2000" dirty="0">
                <a:latin typeface="Times New Roman" panose="02020603050405020304"/>
                <a:cs typeface="Times New Roman" panose="02020603050405020304"/>
              </a:rPr>
              <a:t>	</a:t>
            </a:r>
            <a:r>
              <a:rPr sz="2000" spc="-25" dirty="0">
                <a:latin typeface="Times New Roman" panose="02020603050405020304"/>
                <a:cs typeface="Times New Roman" panose="02020603050405020304"/>
              </a:rPr>
              <a:t>can</a:t>
            </a:r>
            <a:r>
              <a:rPr sz="2000" dirty="0">
                <a:latin typeface="Times New Roman" panose="02020603050405020304"/>
                <a:cs typeface="Times New Roman" panose="02020603050405020304"/>
              </a:rPr>
              <a:t>	</a:t>
            </a:r>
            <a:r>
              <a:rPr sz="2000" spc="-25" dirty="0">
                <a:latin typeface="Times New Roman" panose="02020603050405020304"/>
                <a:cs typeface="Times New Roman" panose="02020603050405020304"/>
              </a:rPr>
              <a:t>be</a:t>
            </a:r>
            <a:r>
              <a:rPr sz="2000"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compared</a:t>
            </a:r>
            <a:r>
              <a:rPr sz="2000" dirty="0">
                <a:latin typeface="Times New Roman" panose="02020603050405020304"/>
                <a:cs typeface="Times New Roman" panose="02020603050405020304"/>
              </a:rPr>
              <a:t>	</a:t>
            </a:r>
            <a:r>
              <a:rPr sz="2000" spc="-20" dirty="0">
                <a:latin typeface="Times New Roman" panose="02020603050405020304"/>
                <a:cs typeface="Times New Roman" panose="02020603050405020304"/>
              </a:rPr>
              <a:t>with</a:t>
            </a:r>
            <a:r>
              <a:rPr sz="2000"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respect</a:t>
            </a:r>
            <a:r>
              <a:rPr sz="2000" dirty="0">
                <a:latin typeface="Times New Roman" panose="02020603050405020304"/>
                <a:cs typeface="Times New Roman" panose="02020603050405020304"/>
              </a:rPr>
              <a:t>	</a:t>
            </a:r>
            <a:r>
              <a:rPr sz="2000" spc="-25" dirty="0">
                <a:latin typeface="Times New Roman" panose="02020603050405020304"/>
                <a:cs typeface="Times New Roman" panose="02020603050405020304"/>
              </a:rPr>
              <a:t>to</a:t>
            </a:r>
            <a:endParaRPr sz="2000" dirty="0">
              <a:latin typeface="Times New Roman" panose="02020603050405020304"/>
              <a:cs typeface="Times New Roman" panose="02020603050405020304"/>
            </a:endParaRPr>
          </a:p>
          <a:p>
            <a:pPr marL="355600">
              <a:lnSpc>
                <a:spcPct val="100000"/>
              </a:lnSpc>
              <a:spcBef>
                <a:spcPts val="1200"/>
              </a:spcBef>
            </a:pPr>
            <a:r>
              <a:rPr sz="2000" spc="-10" dirty="0">
                <a:latin typeface="Times New Roman" panose="02020603050405020304"/>
                <a:cs typeface="Times New Roman" panose="02020603050405020304"/>
              </a:rPr>
              <a:t>efficiency</a:t>
            </a:r>
            <a:r>
              <a:rPr sz="2000" spc="-75" dirty="0">
                <a:latin typeface="Times New Roman" panose="02020603050405020304"/>
                <a:cs typeface="Times New Roman" panose="02020603050405020304"/>
              </a:rPr>
              <a:t> </a:t>
            </a:r>
            <a:r>
              <a:rPr sz="2000" dirty="0">
                <a:latin typeface="Times New Roman" panose="02020603050405020304"/>
                <a:cs typeface="Times New Roman" panose="02020603050405020304"/>
              </a:rPr>
              <a:t>based</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on</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the</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order</a:t>
            </a:r>
            <a:r>
              <a:rPr sz="2000" spc="-45" dirty="0">
                <a:latin typeface="Times New Roman" panose="02020603050405020304"/>
                <a:cs typeface="Times New Roman" panose="02020603050405020304"/>
              </a:rPr>
              <a:t> </a:t>
            </a:r>
            <a:r>
              <a:rPr sz="2000" dirty="0">
                <a:latin typeface="Times New Roman" panose="02020603050405020304"/>
                <a:cs typeface="Times New Roman" panose="02020603050405020304"/>
              </a:rPr>
              <a:t>of</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growth</a:t>
            </a:r>
            <a:r>
              <a:rPr sz="2000" spc="-60" dirty="0">
                <a:latin typeface="Times New Roman" panose="02020603050405020304"/>
                <a:cs typeface="Times New Roman" panose="02020603050405020304"/>
              </a:rPr>
              <a:t> </a:t>
            </a:r>
            <a:r>
              <a:rPr sz="2000" dirty="0">
                <a:latin typeface="Times New Roman" panose="02020603050405020304"/>
                <a:cs typeface="Times New Roman" panose="02020603050405020304"/>
              </a:rPr>
              <a:t>of</a:t>
            </a:r>
            <a:r>
              <a:rPr sz="2000" spc="-45" dirty="0">
                <a:latin typeface="Times New Roman" panose="02020603050405020304"/>
                <a:cs typeface="Times New Roman" panose="02020603050405020304"/>
              </a:rPr>
              <a:t> </a:t>
            </a:r>
            <a:r>
              <a:rPr sz="2000" dirty="0">
                <a:latin typeface="Times New Roman" panose="02020603050405020304"/>
                <a:cs typeface="Times New Roman" panose="02020603050405020304"/>
              </a:rPr>
              <a:t>an </a:t>
            </a:r>
            <a:r>
              <a:rPr sz="2000" spc="-30" dirty="0">
                <a:latin typeface="Times New Roman" panose="02020603050405020304"/>
                <a:cs typeface="Times New Roman" panose="02020603050405020304"/>
              </a:rPr>
              <a:t>algorithm’s</a:t>
            </a:r>
            <a:r>
              <a:rPr sz="2000" spc="-90" dirty="0">
                <a:latin typeface="Times New Roman" panose="02020603050405020304"/>
                <a:cs typeface="Times New Roman" panose="02020603050405020304"/>
              </a:rPr>
              <a:t> </a:t>
            </a:r>
            <a:r>
              <a:rPr sz="2000" dirty="0">
                <a:latin typeface="Times New Roman" panose="02020603050405020304"/>
                <a:cs typeface="Times New Roman" panose="02020603050405020304"/>
              </a:rPr>
              <a:t>basic</a:t>
            </a:r>
            <a:r>
              <a:rPr sz="2000" spc="-50"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operation.</a:t>
            </a:r>
            <a:endParaRPr sz="2000" dirty="0">
              <a:latin typeface="Times New Roman" panose="02020603050405020304"/>
              <a:cs typeface="Times New Roman" panose="02020603050405020304"/>
            </a:endParaRPr>
          </a:p>
          <a:p>
            <a:pPr marL="355600" lvl="1" indent="-342900">
              <a:lnSpc>
                <a:spcPct val="100000"/>
              </a:lnSpc>
              <a:spcBef>
                <a:spcPts val="1745"/>
              </a:spcBef>
              <a:buFont typeface="Wingdings" panose="05000000000000000000"/>
              <a:buChar char=""/>
              <a:tabLst>
                <a:tab pos="355600" algn="l"/>
              </a:tabLst>
            </a:pPr>
            <a:r>
              <a:rPr sz="2000" dirty="0">
                <a:latin typeface="Times New Roman" panose="02020603050405020304"/>
                <a:cs typeface="Times New Roman" panose="02020603050405020304"/>
              </a:rPr>
              <a:t>The</a:t>
            </a:r>
            <a:r>
              <a:rPr sz="2000" spc="-30"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different</a:t>
            </a:r>
            <a:r>
              <a:rPr sz="2000" spc="-90" dirty="0">
                <a:latin typeface="Times New Roman" panose="02020603050405020304"/>
                <a:cs typeface="Times New Roman" panose="02020603050405020304"/>
              </a:rPr>
              <a:t> </a:t>
            </a:r>
            <a:r>
              <a:rPr sz="2000" dirty="0">
                <a:latin typeface="Times New Roman" panose="02020603050405020304"/>
                <a:cs typeface="Times New Roman" panose="02020603050405020304"/>
              </a:rPr>
              <a:t>types</a:t>
            </a:r>
            <a:r>
              <a:rPr sz="2000" spc="-65" dirty="0">
                <a:latin typeface="Times New Roman" panose="02020603050405020304"/>
                <a:cs typeface="Times New Roman" panose="02020603050405020304"/>
              </a:rPr>
              <a:t> </a:t>
            </a:r>
            <a:r>
              <a:rPr sz="2000" dirty="0">
                <a:latin typeface="Times New Roman" panose="02020603050405020304"/>
                <a:cs typeface="Times New Roman" panose="02020603050405020304"/>
              </a:rPr>
              <a:t>of</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asymptotic</a:t>
            </a:r>
            <a:r>
              <a:rPr sz="2000" spc="-70" dirty="0">
                <a:latin typeface="Times New Roman" panose="02020603050405020304"/>
                <a:cs typeface="Times New Roman" panose="02020603050405020304"/>
              </a:rPr>
              <a:t> </a:t>
            </a:r>
            <a:r>
              <a:rPr sz="2000" dirty="0">
                <a:latin typeface="Times New Roman" panose="02020603050405020304"/>
                <a:cs typeface="Times New Roman" panose="02020603050405020304"/>
              </a:rPr>
              <a:t>notations</a:t>
            </a:r>
            <a:r>
              <a:rPr sz="2000" spc="-85" dirty="0">
                <a:latin typeface="Times New Roman" panose="02020603050405020304"/>
                <a:cs typeface="Times New Roman" panose="02020603050405020304"/>
              </a:rPr>
              <a:t> </a:t>
            </a:r>
            <a:r>
              <a:rPr sz="2000" spc="-20" dirty="0">
                <a:latin typeface="Times New Roman" panose="02020603050405020304"/>
                <a:cs typeface="Times New Roman" panose="02020603050405020304"/>
              </a:rPr>
              <a:t>are:</a:t>
            </a:r>
            <a:endParaRPr sz="2000" dirty="0">
              <a:latin typeface="Times New Roman" panose="02020603050405020304"/>
              <a:cs typeface="Times New Roman" panose="02020603050405020304"/>
            </a:endParaRPr>
          </a:p>
          <a:p>
            <a:pPr marL="469900" indent="-457200">
              <a:lnSpc>
                <a:spcPct val="100000"/>
              </a:lnSpc>
              <a:spcBef>
                <a:spcPts val="1295"/>
              </a:spcBef>
              <a:buAutoNum type="arabicPeriod"/>
              <a:tabLst>
                <a:tab pos="469900" algn="l"/>
              </a:tabLst>
            </a:pPr>
            <a:r>
              <a:rPr sz="2000" dirty="0">
                <a:latin typeface="Times New Roman" panose="02020603050405020304"/>
                <a:cs typeface="Times New Roman" panose="02020603050405020304"/>
              </a:rPr>
              <a:t>O</a:t>
            </a:r>
            <a:r>
              <a:rPr sz="2000" spc="-40" dirty="0">
                <a:latin typeface="Times New Roman" panose="02020603050405020304"/>
                <a:cs typeface="Times New Roman" panose="02020603050405020304"/>
              </a:rPr>
              <a:t> </a:t>
            </a:r>
            <a:r>
              <a:rPr sz="2000" dirty="0">
                <a:latin typeface="Times New Roman" panose="02020603050405020304"/>
                <a:cs typeface="Times New Roman" panose="02020603050405020304"/>
              </a:rPr>
              <a:t>(Big</a:t>
            </a:r>
            <a:r>
              <a:rPr sz="2000" spc="-50" dirty="0">
                <a:latin typeface="Times New Roman" panose="02020603050405020304"/>
                <a:cs typeface="Times New Roman" panose="02020603050405020304"/>
              </a:rPr>
              <a:t> </a:t>
            </a:r>
            <a:r>
              <a:rPr sz="2000" spc="-25" dirty="0">
                <a:latin typeface="Times New Roman" panose="02020603050405020304"/>
                <a:cs typeface="Times New Roman" panose="02020603050405020304"/>
              </a:rPr>
              <a:t>Oh)</a:t>
            </a:r>
            <a:endParaRPr sz="2000" dirty="0">
              <a:latin typeface="Times New Roman" panose="02020603050405020304"/>
              <a:cs typeface="Times New Roman" panose="02020603050405020304"/>
            </a:endParaRPr>
          </a:p>
          <a:p>
            <a:pPr marL="469900" indent="-457200">
              <a:lnSpc>
                <a:spcPct val="100000"/>
              </a:lnSpc>
              <a:spcBef>
                <a:spcPts val="1305"/>
              </a:spcBef>
              <a:buAutoNum type="arabicPeriod"/>
              <a:tabLst>
                <a:tab pos="469900" algn="l"/>
              </a:tabLst>
            </a:pPr>
            <a:r>
              <a:rPr sz="2000" dirty="0">
                <a:solidFill>
                  <a:srgbClr val="111111"/>
                </a:solidFill>
                <a:latin typeface="Arial" panose="020B0604020202020204"/>
                <a:cs typeface="Arial" panose="020B0604020202020204"/>
              </a:rPr>
              <a:t>Ω</a:t>
            </a:r>
            <a:r>
              <a:rPr sz="2000" spc="-45" dirty="0">
                <a:solidFill>
                  <a:srgbClr val="111111"/>
                </a:solidFill>
                <a:latin typeface="Arial" panose="020B0604020202020204"/>
                <a:cs typeface="Arial" panose="020B0604020202020204"/>
              </a:rPr>
              <a:t> </a:t>
            </a:r>
            <a:r>
              <a:rPr sz="2000" dirty="0">
                <a:solidFill>
                  <a:srgbClr val="111111"/>
                </a:solidFill>
                <a:latin typeface="Times New Roman" panose="02020603050405020304"/>
                <a:cs typeface="Times New Roman" panose="02020603050405020304"/>
              </a:rPr>
              <a:t>(Big</a:t>
            </a:r>
            <a:r>
              <a:rPr sz="2000" spc="-45" dirty="0">
                <a:solidFill>
                  <a:srgbClr val="111111"/>
                </a:solidFill>
                <a:latin typeface="Times New Roman" panose="02020603050405020304"/>
                <a:cs typeface="Times New Roman" panose="02020603050405020304"/>
              </a:rPr>
              <a:t> </a:t>
            </a:r>
            <a:r>
              <a:rPr sz="2000" spc="-10" dirty="0">
                <a:solidFill>
                  <a:srgbClr val="111111"/>
                </a:solidFill>
                <a:latin typeface="Times New Roman" panose="02020603050405020304"/>
                <a:cs typeface="Times New Roman" panose="02020603050405020304"/>
              </a:rPr>
              <a:t>Omega)</a:t>
            </a:r>
            <a:endParaRPr sz="2000" dirty="0">
              <a:latin typeface="Times New Roman" panose="02020603050405020304"/>
              <a:cs typeface="Times New Roman" panose="02020603050405020304"/>
            </a:endParaRPr>
          </a:p>
          <a:p>
            <a:pPr marL="469900" indent="-457200">
              <a:lnSpc>
                <a:spcPct val="100000"/>
              </a:lnSpc>
              <a:spcBef>
                <a:spcPts val="1300"/>
              </a:spcBef>
              <a:buAutoNum type="arabicPeriod"/>
              <a:tabLst>
                <a:tab pos="469900" algn="l"/>
              </a:tabLst>
            </a:pPr>
            <a:r>
              <a:rPr sz="2000" dirty="0">
                <a:solidFill>
                  <a:srgbClr val="111111"/>
                </a:solidFill>
                <a:latin typeface="Arial" panose="020B0604020202020204"/>
                <a:cs typeface="Arial" panose="020B0604020202020204"/>
              </a:rPr>
              <a:t>Θ</a:t>
            </a:r>
            <a:r>
              <a:rPr sz="2000" spc="-65" dirty="0">
                <a:solidFill>
                  <a:srgbClr val="111111"/>
                </a:solidFill>
                <a:latin typeface="Arial" panose="020B0604020202020204"/>
                <a:cs typeface="Arial" panose="020B0604020202020204"/>
              </a:rPr>
              <a:t> </a:t>
            </a:r>
            <a:r>
              <a:rPr sz="2000" dirty="0">
                <a:solidFill>
                  <a:srgbClr val="111111"/>
                </a:solidFill>
                <a:latin typeface="Times New Roman" panose="02020603050405020304"/>
                <a:cs typeface="Times New Roman" panose="02020603050405020304"/>
              </a:rPr>
              <a:t>(Big</a:t>
            </a:r>
            <a:r>
              <a:rPr sz="2000" spc="-114" dirty="0">
                <a:solidFill>
                  <a:srgbClr val="111111"/>
                </a:solidFill>
                <a:latin typeface="Times New Roman" panose="02020603050405020304"/>
                <a:cs typeface="Times New Roman" panose="02020603050405020304"/>
              </a:rPr>
              <a:t> </a:t>
            </a:r>
            <a:r>
              <a:rPr sz="2000" spc="-10" dirty="0">
                <a:solidFill>
                  <a:srgbClr val="111111"/>
                </a:solidFill>
                <a:latin typeface="Times New Roman" panose="02020603050405020304"/>
                <a:cs typeface="Times New Roman" panose="02020603050405020304"/>
              </a:rPr>
              <a:t>Theta)</a:t>
            </a:r>
            <a:endParaRPr sz="2000" dirty="0">
              <a:latin typeface="Times New Roman" panose="02020603050405020304"/>
              <a:cs typeface="Times New Roman" panose="02020603050405020304"/>
            </a:endParaRPr>
          </a:p>
        </p:txBody>
      </p:sp>
      <p:sp>
        <p:nvSpPr>
          <p:cNvPr id="4" name="Footer Placeholder 3"/>
          <p:cNvSpPr>
            <a:spLocks noGrp="1"/>
          </p:cNvSpPr>
          <p:nvPr>
            <p:ph type="ftr" sz="quarter" idx="11"/>
          </p:nvPr>
        </p:nvSpPr>
        <p:spPr>
          <a:xfrm>
            <a:off x="1698171" y="6356350"/>
            <a:ext cx="8871858" cy="365125"/>
          </a:xfrm>
        </p:spPr>
        <p:txBody>
          <a:bodyPr/>
          <a:lstStyle/>
          <a:p>
            <a:r>
              <a:rPr lang="en-US" dirty="0"/>
              <a:t>Slides prepared by: Prof.Nandini K, Assistant Professor, Department of CSE, </a:t>
            </a:r>
            <a:r>
              <a:rPr lang="en-US" dirty="0" err="1"/>
              <a:t>Dayananda</a:t>
            </a:r>
            <a:r>
              <a:rPr lang="en-US" dirty="0"/>
              <a:t> </a:t>
            </a:r>
            <a:r>
              <a:rPr lang="en-US" dirty="0" err="1"/>
              <a:t>Sagar</a:t>
            </a:r>
            <a:r>
              <a:rPr lang="en-US" dirty="0"/>
              <a:t> University, </a:t>
            </a:r>
            <a:r>
              <a:rPr lang="en-US" dirty="0" err="1"/>
              <a:t>Harohalli</a:t>
            </a:r>
            <a:r>
              <a:rPr lang="en-US" dirty="0"/>
              <a:t>, Karnataka.</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sp>
        <p:nvSpPr>
          <p:cNvPr id="566" name="Google Shape;566;p90"/>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3200"/>
            </a:pPr>
            <a:r>
              <a:rPr lang="en-US" sz="3200">
                <a:latin typeface="Times New Roman" panose="02020603050405020304"/>
                <a:ea typeface="Times New Roman" panose="02020603050405020304"/>
                <a:cs typeface="Times New Roman" panose="02020603050405020304"/>
                <a:sym typeface="Times New Roman" panose="02020603050405020304"/>
              </a:rPr>
              <a:t>BIG-OH(O)</a:t>
            </a:r>
          </a:p>
        </p:txBody>
      </p:sp>
      <p:sp>
        <p:nvSpPr>
          <p:cNvPr id="567" name="Google Shape;567;p90"/>
          <p:cNvSpPr txBox="1">
            <a:spLocks noGrp="1"/>
          </p:cNvSpPr>
          <p:nvPr>
            <p:ph type="body" idx="1"/>
          </p:nvPr>
        </p:nvSpPr>
        <p:spPr>
          <a:xfrm>
            <a:off x="212436" y="1600200"/>
            <a:ext cx="7435273" cy="4572000"/>
          </a:xfrm>
          <a:prstGeom prst="rect">
            <a:avLst/>
          </a:prstGeom>
          <a:noFill/>
          <a:ln>
            <a:noFill/>
          </a:ln>
        </p:spPr>
        <p:txBody>
          <a:bodyPr spcFirstLastPara="1" vert="horz" wrap="square" lIns="91425" tIns="45700" rIns="91425" bIns="45700" rtlCol="0" anchor="t" anchorCtr="0">
            <a:normAutofit/>
          </a:bodyPr>
          <a:lstStyle/>
          <a:p>
            <a:pPr marL="342900" indent="-342900">
              <a:spcBef>
                <a:spcPts val="0"/>
              </a:spcBef>
              <a:buClr>
                <a:schemeClr val="dk1"/>
              </a:buClr>
              <a:buSzPts val="2100"/>
              <a:buFont typeface="Noto Sans Symbols"/>
              <a:buChar char="▪"/>
            </a:pPr>
            <a:r>
              <a:rPr lang="en-US" sz="2100" dirty="0">
                <a:latin typeface="Times New Roman" panose="02020603050405020304"/>
                <a:ea typeface="Times New Roman" panose="02020603050405020304"/>
                <a:cs typeface="Times New Roman" panose="02020603050405020304"/>
                <a:sym typeface="Times New Roman" panose="02020603050405020304"/>
              </a:rPr>
              <a:t>Big O specifically describes the worst case scenario.</a:t>
            </a:r>
            <a:endParaRPr dirty="0"/>
          </a:p>
          <a:p>
            <a:pPr marL="342900" indent="-342900">
              <a:spcBef>
                <a:spcPts val="420"/>
              </a:spcBef>
              <a:buClr>
                <a:schemeClr val="dk1"/>
              </a:buClr>
              <a:buSzPts val="2100"/>
              <a:buFont typeface="Noto Sans Symbols"/>
              <a:buChar char="▪"/>
            </a:pPr>
            <a:r>
              <a:rPr lang="en-US" sz="2100" dirty="0">
                <a:latin typeface="Times New Roman" panose="02020603050405020304"/>
                <a:ea typeface="Times New Roman" panose="02020603050405020304"/>
                <a:cs typeface="Times New Roman" panose="02020603050405020304"/>
                <a:sym typeface="Times New Roman" panose="02020603050405020304"/>
              </a:rPr>
              <a:t>It represents the upper bound running time complexity of an algorithm.</a:t>
            </a:r>
            <a:endParaRPr dirty="0"/>
          </a:p>
          <a:p>
            <a:pPr marL="342900" indent="-342900" algn="just">
              <a:spcBef>
                <a:spcPts val="420"/>
              </a:spcBef>
              <a:buClr>
                <a:schemeClr val="dk1"/>
              </a:buClr>
              <a:buSzPts val="2100"/>
              <a:buFont typeface="Noto Sans Symbols"/>
              <a:buChar char="▪"/>
            </a:pPr>
            <a:r>
              <a:rPr lang="en-US" sz="2100" dirty="0">
                <a:latin typeface="Times New Roman" panose="02020603050405020304"/>
                <a:ea typeface="Times New Roman" panose="02020603050405020304"/>
                <a:cs typeface="Times New Roman" panose="02020603050405020304"/>
                <a:sym typeface="Times New Roman" panose="02020603050405020304"/>
              </a:rPr>
              <a:t>Big-oh is the formal method of expressing the upper bound of an algorithm's running time. It is the measure of the longest amount of time. </a:t>
            </a:r>
            <a:endParaRPr dirty="0"/>
          </a:p>
          <a:p>
            <a:pPr marL="342900" indent="-342900" algn="just">
              <a:spcBef>
                <a:spcPts val="420"/>
              </a:spcBef>
              <a:buClr>
                <a:schemeClr val="dk1"/>
              </a:buClr>
              <a:buSzPts val="2100"/>
              <a:buFont typeface="Noto Sans Symbols"/>
              <a:buChar char="▪"/>
            </a:pPr>
            <a:r>
              <a:rPr lang="en-US" sz="2100" dirty="0">
                <a:latin typeface="Times New Roman" panose="02020603050405020304"/>
                <a:ea typeface="Times New Roman" panose="02020603050405020304"/>
                <a:cs typeface="Times New Roman" panose="02020603050405020304"/>
                <a:sym typeface="Times New Roman" panose="02020603050405020304"/>
              </a:rPr>
              <a:t>The function f (n) = O (g (n)) if and only if there exist positive constant c &gt; 0and n</a:t>
            </a:r>
            <a:r>
              <a:rPr lang="en-US" sz="2100" baseline="-25000" dirty="0">
                <a:latin typeface="Times New Roman" panose="02020603050405020304"/>
                <a:ea typeface="Times New Roman" panose="02020603050405020304"/>
                <a:cs typeface="Times New Roman" panose="02020603050405020304"/>
                <a:sym typeface="Times New Roman" panose="02020603050405020304"/>
              </a:rPr>
              <a:t>0</a:t>
            </a:r>
            <a:r>
              <a:rPr lang="en-US" sz="2100" dirty="0">
                <a:latin typeface="Times New Roman" panose="02020603050405020304"/>
                <a:ea typeface="Times New Roman" panose="02020603050405020304"/>
                <a:cs typeface="Times New Roman" panose="02020603050405020304"/>
                <a:sym typeface="Times New Roman" panose="02020603050405020304"/>
              </a:rPr>
              <a:t> such that</a:t>
            </a:r>
            <a:endParaRPr dirty="0"/>
          </a:p>
          <a:p>
            <a:pPr marL="342900" indent="-342900" algn="just">
              <a:spcBef>
                <a:spcPts val="420"/>
              </a:spcBef>
              <a:buClr>
                <a:schemeClr val="dk1"/>
              </a:buClr>
              <a:buSzPts val="2100"/>
              <a:buFont typeface="Noto Sans Symbols"/>
              <a:buChar char="▪"/>
            </a:pPr>
            <a:r>
              <a:rPr lang="en-US" sz="2100" b="1" dirty="0">
                <a:latin typeface="Times New Roman" panose="02020603050405020304"/>
                <a:ea typeface="Times New Roman" panose="02020603050405020304"/>
                <a:cs typeface="Times New Roman" panose="02020603050405020304"/>
                <a:sym typeface="Times New Roman" panose="02020603050405020304"/>
              </a:rPr>
              <a:t>   f(n) ≤ c*g(n) ∀n ≥  n</a:t>
            </a:r>
            <a:r>
              <a:rPr lang="en-US" sz="2100" b="1" baseline="-25000" dirty="0">
                <a:latin typeface="Times New Roman" panose="02020603050405020304"/>
                <a:ea typeface="Times New Roman" panose="02020603050405020304"/>
                <a:cs typeface="Times New Roman" panose="02020603050405020304"/>
                <a:sym typeface="Times New Roman" panose="02020603050405020304"/>
              </a:rPr>
              <a:t>0</a:t>
            </a:r>
            <a:r>
              <a:rPr lang="en-US" sz="2100" b="1" dirty="0">
                <a:latin typeface="Times New Roman" panose="02020603050405020304"/>
                <a:ea typeface="Times New Roman" panose="02020603050405020304"/>
                <a:cs typeface="Times New Roman" panose="02020603050405020304"/>
                <a:sym typeface="Times New Roman" panose="02020603050405020304"/>
              </a:rPr>
              <a:t> and n</a:t>
            </a:r>
            <a:r>
              <a:rPr lang="en-US" sz="2100" b="1" baseline="-25000" dirty="0">
                <a:latin typeface="Times New Roman" panose="02020603050405020304"/>
                <a:ea typeface="Times New Roman" panose="02020603050405020304"/>
                <a:cs typeface="Times New Roman" panose="02020603050405020304"/>
                <a:sym typeface="Times New Roman" panose="02020603050405020304"/>
              </a:rPr>
              <a:t>0</a:t>
            </a:r>
            <a:r>
              <a:rPr lang="en-US" sz="2100" b="1" dirty="0">
                <a:latin typeface="Times New Roman" panose="02020603050405020304"/>
                <a:ea typeface="Times New Roman" panose="02020603050405020304"/>
                <a:cs typeface="Times New Roman" panose="02020603050405020304"/>
                <a:sym typeface="Times New Roman" panose="02020603050405020304"/>
              </a:rPr>
              <a:t>&gt;=1       </a:t>
            </a:r>
            <a:endParaRPr dirty="0"/>
          </a:p>
          <a:p>
            <a:pPr marL="342900" indent="-209550">
              <a:spcBef>
                <a:spcPts val="420"/>
              </a:spcBef>
              <a:buClr>
                <a:schemeClr val="dk1"/>
              </a:buClr>
              <a:buSzPts val="2100"/>
              <a:buNone/>
            </a:pPr>
            <a:endParaRPr sz="2100" dirty="0">
              <a:latin typeface="Times New Roman" panose="02020603050405020304"/>
              <a:ea typeface="Times New Roman" panose="02020603050405020304"/>
              <a:cs typeface="Times New Roman" panose="02020603050405020304"/>
              <a:sym typeface="Times New Roman" panose="02020603050405020304"/>
            </a:endParaRPr>
          </a:p>
        </p:txBody>
      </p:sp>
      <p:pic>
        <p:nvPicPr>
          <p:cNvPr id="568" name="Google Shape;568;p90"/>
          <p:cNvPicPr preferRelativeResize="0"/>
          <p:nvPr/>
        </p:nvPicPr>
        <p:blipFill rotWithShape="1">
          <a:blip r:embed="rId3"/>
          <a:srcRect/>
          <a:stretch>
            <a:fillRect/>
          </a:stretch>
        </p:blipFill>
        <p:spPr>
          <a:xfrm>
            <a:off x="7825509" y="1780309"/>
            <a:ext cx="3265432" cy="3382055"/>
          </a:xfrm>
          <a:prstGeom prst="rect">
            <a:avLst/>
          </a:prstGeom>
          <a:noFill/>
          <a:ln>
            <a:noFill/>
          </a:ln>
        </p:spPr>
      </p:pic>
      <p:sp>
        <p:nvSpPr>
          <p:cNvPr id="5" name="Footer Placeholder 3"/>
          <p:cNvSpPr>
            <a:spLocks noGrp="1"/>
          </p:cNvSpPr>
          <p:nvPr>
            <p:ph type="ftr" sz="quarter" idx="11"/>
          </p:nvPr>
        </p:nvSpPr>
        <p:spPr>
          <a:xfrm>
            <a:off x="1698171" y="6365586"/>
            <a:ext cx="8871858" cy="365125"/>
          </a:xfrm>
        </p:spPr>
        <p:txBody>
          <a:bodyPr/>
          <a:lstStyle/>
          <a:p>
            <a:r>
              <a:rPr lang="en-US" dirty="0"/>
              <a:t>Slides prepared by: Prof.Nandini K, Assistant Professor, Department of CSE, </a:t>
            </a:r>
            <a:r>
              <a:rPr lang="en-US" dirty="0" err="1"/>
              <a:t>Dayananda</a:t>
            </a:r>
            <a:r>
              <a:rPr lang="en-US" dirty="0"/>
              <a:t> </a:t>
            </a:r>
            <a:r>
              <a:rPr lang="en-US" dirty="0" err="1"/>
              <a:t>Sagar</a:t>
            </a:r>
            <a:r>
              <a:rPr lang="en-US" dirty="0"/>
              <a:t> University, </a:t>
            </a:r>
            <a:r>
              <a:rPr lang="en-US" dirty="0" err="1"/>
              <a:t>Harohalli</a:t>
            </a:r>
            <a:r>
              <a:rPr lang="en-US" dirty="0"/>
              <a:t>, Karnataka.</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91"/>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3200"/>
            </a:pPr>
            <a:r>
              <a:rPr lang="en-US" sz="3200">
                <a:latin typeface="Times New Roman" panose="02020603050405020304"/>
                <a:ea typeface="Times New Roman" panose="02020603050405020304"/>
                <a:cs typeface="Times New Roman" panose="02020603050405020304"/>
                <a:sym typeface="Times New Roman" panose="02020603050405020304"/>
              </a:rPr>
              <a:t>EXAMPLE</a:t>
            </a:r>
          </a:p>
        </p:txBody>
      </p:sp>
      <p:sp>
        <p:nvSpPr>
          <p:cNvPr id="574" name="Google Shape;574;p91"/>
          <p:cNvSpPr txBox="1">
            <a:spLocks noGrp="1"/>
          </p:cNvSpPr>
          <p:nvPr>
            <p:ph type="body" idx="1"/>
          </p:nvPr>
        </p:nvSpPr>
        <p:spPr>
          <a:xfrm>
            <a:off x="1981200" y="1600201"/>
            <a:ext cx="8229600" cy="830997"/>
          </a:xfrm>
          <a:prstGeom prst="rect">
            <a:avLst/>
          </a:prstGeom>
          <a:noFill/>
          <a:ln w="19050" cap="sq" cmpd="sng">
            <a:solidFill>
              <a:schemeClr val="dk1"/>
            </a:solidFill>
            <a:prstDash val="solid"/>
            <a:miter lim="800000"/>
            <a:headEnd type="none" w="sm" len="sm"/>
            <a:tailEnd type="none" w="sm" len="sm"/>
          </a:ln>
        </p:spPr>
        <p:txBody>
          <a:bodyPr spcFirstLastPara="1" vert="horz" wrap="square" lIns="91425" tIns="45700" rIns="91425" bIns="45700" rtlCol="0" anchor="t" anchorCtr="0">
            <a:spAutoFit/>
          </a:bodyPr>
          <a:lstStyle/>
          <a:p>
            <a:pPr marL="342900" indent="-342900">
              <a:spcBef>
                <a:spcPts val="0"/>
              </a:spcBef>
              <a:buClr>
                <a:schemeClr val="dk1"/>
              </a:buClr>
              <a:buSzPts val="2400"/>
              <a:buNone/>
            </a:pPr>
            <a:r>
              <a:rPr lang="en-US" sz="2400" i="1">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400" i="1">
                <a:solidFill>
                  <a:schemeClr val="dk1"/>
                </a:solidFill>
                <a:latin typeface="Times New Roman" panose="02020603050405020304"/>
                <a:ea typeface="Times New Roman" panose="02020603050405020304"/>
                <a:cs typeface="Times New Roman" panose="02020603050405020304"/>
                <a:sym typeface="Times New Roman" panose="02020603050405020304"/>
              </a:rPr>
              <a:t>g</a:t>
            </a: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400" i="1">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 = {</a:t>
            </a:r>
            <a:r>
              <a:rPr lang="en-US" sz="2400" i="1">
                <a:solidFill>
                  <a:schemeClr val="dk1"/>
                </a:solidFill>
                <a:latin typeface="Times New Roman" panose="02020603050405020304"/>
                <a:ea typeface="Times New Roman" panose="02020603050405020304"/>
                <a:cs typeface="Times New Roman" panose="02020603050405020304"/>
                <a:sym typeface="Times New Roman" panose="02020603050405020304"/>
              </a:rPr>
              <a:t>f</a:t>
            </a: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400" i="1">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 : ∃ positive constants </a:t>
            </a:r>
            <a:r>
              <a:rPr lang="en-US" sz="2400" i="1">
                <a:solidFill>
                  <a:schemeClr val="dk1"/>
                </a:solidFill>
                <a:latin typeface="Times New Roman" panose="02020603050405020304"/>
                <a:ea typeface="Times New Roman" panose="02020603050405020304"/>
                <a:cs typeface="Times New Roman" panose="02020603050405020304"/>
                <a:sym typeface="Times New Roman" panose="02020603050405020304"/>
              </a:rPr>
              <a:t>c</a:t>
            </a: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 and </a:t>
            </a:r>
            <a:r>
              <a:rPr lang="en-US" sz="2400" i="1">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0</a:t>
            </a: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 such that ∀</a:t>
            </a:r>
            <a:r>
              <a:rPr lang="en-US" sz="2400" i="1">
                <a:solidFill>
                  <a:schemeClr val="dk1"/>
                </a:solidFill>
                <a:latin typeface="Times New Roman" panose="02020603050405020304"/>
                <a:ea typeface="Times New Roman" panose="02020603050405020304"/>
                <a:cs typeface="Times New Roman" panose="02020603050405020304"/>
                <a:sym typeface="Times New Roman" panose="02020603050405020304"/>
              </a:rPr>
              <a:t>n </a:t>
            </a: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400" i="1">
                <a:solidFill>
                  <a:schemeClr val="dk1"/>
                </a:solidFill>
                <a:latin typeface="Times New Roman" panose="02020603050405020304"/>
                <a:ea typeface="Times New Roman" panose="02020603050405020304"/>
                <a:cs typeface="Times New Roman" panose="02020603050405020304"/>
                <a:sym typeface="Times New Roman" panose="02020603050405020304"/>
              </a:rPr>
              <a:t>  n</a:t>
            </a:r>
            <a:r>
              <a:rPr lang="en-US" sz="2400"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0</a:t>
            </a: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 we have </a:t>
            </a:r>
            <a:r>
              <a:rPr lang="en-US" sz="2400" i="1">
                <a:solidFill>
                  <a:schemeClr val="dk1"/>
                </a:solidFill>
                <a:latin typeface="Times New Roman" panose="02020603050405020304"/>
                <a:ea typeface="Times New Roman" panose="02020603050405020304"/>
                <a:cs typeface="Times New Roman" panose="02020603050405020304"/>
                <a:sym typeface="Times New Roman" panose="02020603050405020304"/>
              </a:rPr>
              <a:t>f</a:t>
            </a: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400" i="1">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400" i="1">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 c</a:t>
            </a:r>
            <a:r>
              <a:rPr lang="en-US" sz="2400" i="1">
                <a:solidFill>
                  <a:schemeClr val="dk1"/>
                </a:solidFill>
                <a:latin typeface="Times New Roman" panose="02020603050405020304"/>
                <a:ea typeface="Times New Roman" panose="02020603050405020304"/>
                <a:cs typeface="Times New Roman" panose="02020603050405020304"/>
                <a:sym typeface="Times New Roman" panose="02020603050405020304"/>
              </a:rPr>
              <a:t>g</a:t>
            </a: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400" i="1">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sz="2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75" name="Google Shape;575;p91"/>
          <p:cNvSpPr/>
          <p:nvPr/>
        </p:nvSpPr>
        <p:spPr>
          <a:xfrm>
            <a:off x="1490518" y="3048490"/>
            <a:ext cx="9287164" cy="1938992"/>
          </a:xfrm>
          <a:prstGeom prst="rect">
            <a:avLst/>
          </a:prstGeom>
          <a:noFill/>
          <a:ln>
            <a:noFill/>
          </a:ln>
        </p:spPr>
        <p:txBody>
          <a:bodyPr spcFirstLastPara="1" wrap="square" lIns="91425" tIns="45700" rIns="91425" bIns="45700" anchor="t" anchorCtr="0">
            <a:noAutofit/>
          </a:bodyPr>
          <a:lstStyle/>
          <a:p>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Ex: f(n) = 2n+3, g(n)=2n+3</a:t>
            </a:r>
            <a:endParaRPr dirty="0"/>
          </a:p>
          <a:p>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2n+3 ≤ 2n+3n        ∀n ≥  n0</a:t>
            </a:r>
            <a:endParaRPr dirty="0"/>
          </a:p>
          <a:p>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 5n       n ≥ 1</a:t>
            </a:r>
            <a:endParaRPr dirty="0"/>
          </a:p>
          <a:p>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f(n) = O(n)</a:t>
            </a:r>
            <a:endParaRPr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c = 5, n0=1, g(n) = n</a:t>
            </a:r>
            <a:endParaRPr dirty="0"/>
          </a:p>
        </p:txBody>
      </p:sp>
      <p:sp>
        <p:nvSpPr>
          <p:cNvPr id="5" name="Footer Placeholder 3"/>
          <p:cNvSpPr>
            <a:spLocks noGrp="1"/>
          </p:cNvSpPr>
          <p:nvPr>
            <p:ph type="ftr" sz="quarter" idx="11"/>
          </p:nvPr>
        </p:nvSpPr>
        <p:spPr>
          <a:xfrm>
            <a:off x="1698171" y="6356350"/>
            <a:ext cx="8871858" cy="365125"/>
          </a:xfrm>
        </p:spPr>
        <p:txBody>
          <a:bodyPr/>
          <a:lstStyle/>
          <a:p>
            <a:r>
              <a:rPr lang="en-US" dirty="0"/>
              <a:t>Slides prepared by: Prof.Nandini K, Assistant Professor, Department of CSE, </a:t>
            </a:r>
            <a:r>
              <a:rPr lang="en-US" dirty="0" err="1"/>
              <a:t>Dayananda</a:t>
            </a:r>
            <a:r>
              <a:rPr lang="en-US" dirty="0"/>
              <a:t> </a:t>
            </a:r>
            <a:r>
              <a:rPr lang="en-US" dirty="0" err="1"/>
              <a:t>Sagar</a:t>
            </a:r>
            <a:r>
              <a:rPr lang="en-US" dirty="0"/>
              <a:t> University, </a:t>
            </a:r>
            <a:r>
              <a:rPr lang="en-US" dirty="0" err="1"/>
              <a:t>Harohalli</a:t>
            </a:r>
            <a:r>
              <a:rPr lang="en-US" dirty="0"/>
              <a:t>, Karnataka.</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92"/>
          <p:cNvSpPr txBox="1">
            <a:spLocks noGrp="1"/>
          </p:cNvSpPr>
          <p:nvPr>
            <p:ph type="title"/>
          </p:nvPr>
        </p:nvSpPr>
        <p:spPr>
          <a:xfrm>
            <a:off x="1641835" y="152089"/>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3200"/>
            </a:pPr>
            <a:r>
              <a:rPr lang="en-US" sz="3200">
                <a:latin typeface="Times New Roman" panose="02020603050405020304"/>
                <a:ea typeface="Times New Roman" panose="02020603050405020304"/>
                <a:cs typeface="Times New Roman" panose="02020603050405020304"/>
                <a:sym typeface="Times New Roman" panose="02020603050405020304"/>
              </a:rPr>
              <a:t>BIG-OMEGA(Ω)</a:t>
            </a:r>
            <a:endParaRPr sz="3200">
              <a:latin typeface="Times New Roman" panose="02020603050405020304"/>
              <a:ea typeface="Times New Roman" panose="02020603050405020304"/>
              <a:cs typeface="Times New Roman" panose="02020603050405020304"/>
              <a:sym typeface="Times New Roman" panose="02020603050405020304"/>
            </a:endParaRPr>
          </a:p>
        </p:txBody>
      </p:sp>
      <p:sp>
        <p:nvSpPr>
          <p:cNvPr id="581" name="Google Shape;581;p92"/>
          <p:cNvSpPr txBox="1">
            <a:spLocks noGrp="1"/>
          </p:cNvSpPr>
          <p:nvPr>
            <p:ph type="body" idx="1"/>
          </p:nvPr>
        </p:nvSpPr>
        <p:spPr>
          <a:xfrm>
            <a:off x="238907" y="1600200"/>
            <a:ext cx="7167418" cy="4800600"/>
          </a:xfrm>
          <a:prstGeom prst="rect">
            <a:avLst/>
          </a:prstGeom>
          <a:noFill/>
          <a:ln>
            <a:noFill/>
          </a:ln>
        </p:spPr>
        <p:txBody>
          <a:bodyPr spcFirstLastPara="1" vert="horz" wrap="square" lIns="91425" tIns="45700" rIns="91425" bIns="45700" rtlCol="0" anchor="t" anchorCtr="0">
            <a:normAutofit/>
          </a:bodyPr>
          <a:lstStyle/>
          <a:p>
            <a:pPr marL="342900" indent="-342900" algn="just">
              <a:lnSpc>
                <a:spcPct val="200000"/>
              </a:lnSpc>
              <a:spcBef>
                <a:spcPts val="0"/>
              </a:spcBef>
              <a:buClr>
                <a:schemeClr val="dk1"/>
              </a:buClr>
              <a:buSzPts val="2100"/>
            </a:pPr>
            <a:r>
              <a:rPr lang="en-US" sz="2100" dirty="0">
                <a:latin typeface="Times New Roman" panose="02020603050405020304"/>
                <a:ea typeface="Times New Roman" panose="02020603050405020304"/>
                <a:cs typeface="Times New Roman" panose="02020603050405020304"/>
                <a:sym typeface="Times New Roman" panose="02020603050405020304"/>
              </a:rPr>
              <a:t>Omega is the formal method of expressing the lower bound of an algorithm's running time. </a:t>
            </a:r>
            <a:endParaRPr sz="2100" dirty="0">
              <a:latin typeface="Times New Roman" panose="02020603050405020304"/>
              <a:ea typeface="Times New Roman" panose="02020603050405020304"/>
              <a:cs typeface="Times New Roman" panose="02020603050405020304"/>
              <a:sym typeface="Times New Roman" panose="02020603050405020304"/>
            </a:endParaRPr>
          </a:p>
          <a:p>
            <a:pPr marL="342900" indent="-342900" algn="just">
              <a:lnSpc>
                <a:spcPct val="200000"/>
              </a:lnSpc>
              <a:spcBef>
                <a:spcPts val="420"/>
              </a:spcBef>
              <a:buClr>
                <a:schemeClr val="dk1"/>
              </a:buClr>
              <a:buSzPts val="2100"/>
            </a:pPr>
            <a:r>
              <a:rPr lang="en-US" sz="2100" dirty="0">
                <a:latin typeface="Times New Roman" panose="02020603050405020304"/>
                <a:ea typeface="Times New Roman" panose="02020603050405020304"/>
                <a:cs typeface="Times New Roman" panose="02020603050405020304"/>
                <a:sym typeface="Times New Roman" panose="02020603050405020304"/>
              </a:rPr>
              <a:t>It is the measure of the smallest amount of time. </a:t>
            </a:r>
            <a:endParaRPr dirty="0"/>
          </a:p>
          <a:p>
            <a:pPr marL="342900" indent="-342900" algn="just">
              <a:lnSpc>
                <a:spcPct val="200000"/>
              </a:lnSpc>
              <a:spcBef>
                <a:spcPts val="420"/>
              </a:spcBef>
              <a:buClr>
                <a:schemeClr val="dk1"/>
              </a:buClr>
              <a:buSzPts val="2100"/>
            </a:pPr>
            <a:r>
              <a:rPr lang="en-US" sz="2100" dirty="0">
                <a:latin typeface="Times New Roman" panose="02020603050405020304"/>
                <a:ea typeface="Times New Roman" panose="02020603050405020304"/>
                <a:cs typeface="Times New Roman" panose="02020603050405020304"/>
                <a:sym typeface="Times New Roman" panose="02020603050405020304"/>
              </a:rPr>
              <a:t>The function f(n) = Ω(g (n)) if and only if there exist positive constant c&gt;=1 and n</a:t>
            </a:r>
            <a:r>
              <a:rPr lang="en-US" sz="2100" baseline="-25000" dirty="0">
                <a:latin typeface="Times New Roman" panose="02020603050405020304"/>
                <a:ea typeface="Times New Roman" panose="02020603050405020304"/>
                <a:cs typeface="Times New Roman" panose="02020603050405020304"/>
                <a:sym typeface="Times New Roman" panose="02020603050405020304"/>
              </a:rPr>
              <a:t>0</a:t>
            </a:r>
            <a:r>
              <a:rPr lang="en-US" sz="2100" dirty="0">
                <a:latin typeface="Times New Roman" panose="02020603050405020304"/>
                <a:ea typeface="Times New Roman" panose="02020603050405020304"/>
                <a:cs typeface="Times New Roman" panose="02020603050405020304"/>
                <a:sym typeface="Times New Roman" panose="02020603050405020304"/>
              </a:rPr>
              <a:t> &gt;1such that</a:t>
            </a:r>
            <a:r>
              <a:rPr lang="en-US" dirty="0">
                <a:sym typeface="Times New Roman" panose="02020603050405020304"/>
              </a:rPr>
              <a:t> </a:t>
            </a:r>
            <a:r>
              <a:rPr lang="en-US" sz="2100" b="1" dirty="0">
                <a:latin typeface="Times New Roman" panose="02020603050405020304"/>
                <a:ea typeface="Times New Roman" panose="02020603050405020304"/>
                <a:cs typeface="Times New Roman" panose="02020603050405020304"/>
                <a:sym typeface="Times New Roman" panose="02020603050405020304"/>
              </a:rPr>
              <a:t>f(n) ≥ c*g(n) ∀n ≥  n0         </a:t>
            </a:r>
            <a:endParaRPr dirty="0"/>
          </a:p>
          <a:p>
            <a:pPr marL="0" indent="0">
              <a:spcBef>
                <a:spcPts val="640"/>
              </a:spcBef>
              <a:buClr>
                <a:schemeClr val="dk1"/>
              </a:buClr>
              <a:buSzPts val="3200"/>
              <a:buNone/>
            </a:pPr>
            <a:endParaRPr dirty="0"/>
          </a:p>
        </p:txBody>
      </p:sp>
      <p:pic>
        <p:nvPicPr>
          <p:cNvPr id="582" name="Google Shape;582;p92"/>
          <p:cNvPicPr preferRelativeResize="0"/>
          <p:nvPr/>
        </p:nvPicPr>
        <p:blipFill rotWithShape="1">
          <a:blip r:embed="rId3"/>
          <a:srcRect/>
          <a:stretch>
            <a:fillRect/>
          </a:stretch>
        </p:blipFill>
        <p:spPr>
          <a:xfrm>
            <a:off x="8349792" y="1527928"/>
            <a:ext cx="3304920" cy="3048000"/>
          </a:xfrm>
          <a:prstGeom prst="rect">
            <a:avLst/>
          </a:prstGeom>
          <a:noFill/>
          <a:ln>
            <a:noFill/>
          </a:ln>
        </p:spPr>
      </p:pic>
      <p:sp>
        <p:nvSpPr>
          <p:cNvPr id="5" name="Footer Placeholder 3"/>
          <p:cNvSpPr>
            <a:spLocks noGrp="1"/>
          </p:cNvSpPr>
          <p:nvPr>
            <p:ph type="ftr" sz="quarter" idx="11"/>
          </p:nvPr>
        </p:nvSpPr>
        <p:spPr>
          <a:xfrm>
            <a:off x="1698171" y="6356350"/>
            <a:ext cx="8871858" cy="365125"/>
          </a:xfrm>
        </p:spPr>
        <p:txBody>
          <a:bodyPr/>
          <a:lstStyle/>
          <a:p>
            <a:r>
              <a:rPr lang="en-US" dirty="0"/>
              <a:t>Slides prepared by: Prof.Nandini K, Assistant Professor, Department of CSE, </a:t>
            </a:r>
            <a:r>
              <a:rPr lang="en-US" dirty="0" err="1"/>
              <a:t>Dayananda</a:t>
            </a:r>
            <a:r>
              <a:rPr lang="en-US" dirty="0"/>
              <a:t> </a:t>
            </a:r>
            <a:r>
              <a:rPr lang="en-US" dirty="0" err="1"/>
              <a:t>Sagar</a:t>
            </a:r>
            <a:r>
              <a:rPr lang="en-US" dirty="0"/>
              <a:t> University, </a:t>
            </a:r>
            <a:r>
              <a:rPr lang="en-US" dirty="0" err="1"/>
              <a:t>Harohalli</a:t>
            </a:r>
            <a:r>
              <a:rPr lang="en-US" dirty="0"/>
              <a:t>, Karnataka.</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7" name="Google Shape;587;p93"/>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3200"/>
            </a:pPr>
            <a:r>
              <a:rPr lang="en-US" sz="3200">
                <a:latin typeface="Times New Roman" panose="02020603050405020304"/>
                <a:ea typeface="Times New Roman" panose="02020603050405020304"/>
                <a:cs typeface="Times New Roman" panose="02020603050405020304"/>
                <a:sym typeface="Times New Roman" panose="02020603050405020304"/>
              </a:rPr>
              <a:t>EXAMPLE</a:t>
            </a:r>
          </a:p>
        </p:txBody>
      </p:sp>
      <p:sp>
        <p:nvSpPr>
          <p:cNvPr id="588" name="Google Shape;588;p93"/>
          <p:cNvSpPr txBox="1">
            <a:spLocks noGrp="1"/>
          </p:cNvSpPr>
          <p:nvPr>
            <p:ph type="body" idx="1"/>
          </p:nvPr>
        </p:nvSpPr>
        <p:spPr>
          <a:xfrm>
            <a:off x="838985" y="1600201"/>
            <a:ext cx="10821971" cy="4525963"/>
          </a:xfrm>
          <a:prstGeom prst="rect">
            <a:avLst/>
          </a:prstGeom>
          <a:noFill/>
          <a:ln>
            <a:noFill/>
          </a:ln>
        </p:spPr>
        <p:txBody>
          <a:bodyPr spcFirstLastPara="1" vert="horz" wrap="square" lIns="91425" tIns="45700" rIns="91425" bIns="45700" rtlCol="0" anchor="t" anchorCtr="0">
            <a:normAutofit/>
          </a:bodyPr>
          <a:lstStyle/>
          <a:p>
            <a:pPr marL="0" indent="0" algn="just">
              <a:spcBef>
                <a:spcPts val="0"/>
              </a:spcBef>
              <a:buClr>
                <a:schemeClr val="dk1"/>
              </a:buClr>
              <a:buSzPts val="2400"/>
              <a:buNone/>
            </a:pPr>
            <a:r>
              <a:rPr lang="en-US" sz="2400" dirty="0">
                <a:latin typeface="Times New Roman" panose="02020603050405020304"/>
                <a:ea typeface="Times New Roman" panose="02020603050405020304"/>
                <a:cs typeface="Times New Roman" panose="02020603050405020304"/>
                <a:sym typeface="Times New Roman" panose="02020603050405020304"/>
              </a:rPr>
              <a:t>Ω(g(n)) = {f(n) : ∃ positive constants c and n</a:t>
            </a:r>
            <a:r>
              <a:rPr lang="en-US" sz="2400" baseline="-25000" dirty="0">
                <a:latin typeface="Times New Roman" panose="02020603050405020304"/>
                <a:ea typeface="Times New Roman" panose="02020603050405020304"/>
                <a:cs typeface="Times New Roman" panose="02020603050405020304"/>
                <a:sym typeface="Times New Roman" panose="02020603050405020304"/>
              </a:rPr>
              <a:t>0</a:t>
            </a:r>
            <a:r>
              <a:rPr lang="en-US" sz="2400" dirty="0">
                <a:latin typeface="Times New Roman" panose="02020603050405020304"/>
                <a:ea typeface="Times New Roman" panose="02020603050405020304"/>
                <a:cs typeface="Times New Roman" panose="02020603050405020304"/>
                <a:sym typeface="Times New Roman" panose="02020603050405020304"/>
              </a:rPr>
              <a:t>, such that ∀n ≥  n</a:t>
            </a:r>
            <a:r>
              <a:rPr lang="en-US" sz="2400" baseline="-25000" dirty="0">
                <a:latin typeface="Times New Roman" panose="02020603050405020304"/>
                <a:ea typeface="Times New Roman" panose="02020603050405020304"/>
                <a:cs typeface="Times New Roman" panose="02020603050405020304"/>
                <a:sym typeface="Times New Roman" panose="02020603050405020304"/>
              </a:rPr>
              <a:t>0</a:t>
            </a:r>
            <a:r>
              <a:rPr lang="en-US" sz="2400" dirty="0">
                <a:latin typeface="Times New Roman" panose="02020603050405020304"/>
                <a:ea typeface="Times New Roman" panose="02020603050405020304"/>
                <a:cs typeface="Times New Roman" panose="02020603050405020304"/>
                <a:sym typeface="Times New Roman" panose="02020603050405020304"/>
              </a:rPr>
              <a:t>, we have f(n) ≥ cg(n) }</a:t>
            </a:r>
            <a:endParaRPr dirty="0"/>
          </a:p>
          <a:p>
            <a:pPr marL="0" indent="0" algn="just">
              <a:spcBef>
                <a:spcPts val="480"/>
              </a:spcBef>
              <a:buClr>
                <a:schemeClr val="dk1"/>
              </a:buClr>
              <a:buSzPts val="2400"/>
              <a:buNone/>
            </a:pPr>
            <a:r>
              <a:rPr lang="en-US" sz="2400" dirty="0">
                <a:latin typeface="Times New Roman" panose="02020603050405020304"/>
                <a:ea typeface="Times New Roman" panose="02020603050405020304"/>
                <a:cs typeface="Times New Roman" panose="02020603050405020304"/>
                <a:sym typeface="Times New Roman" panose="02020603050405020304"/>
              </a:rPr>
              <a:t>Ex: f(n) = 2n+3, g(n)=1n</a:t>
            </a:r>
            <a:endParaRPr dirty="0"/>
          </a:p>
          <a:p>
            <a:pPr marL="0" indent="0" algn="just">
              <a:spcBef>
                <a:spcPts val="480"/>
              </a:spcBef>
              <a:buClr>
                <a:schemeClr val="dk1"/>
              </a:buClr>
              <a:buSzPts val="2400"/>
              <a:buNone/>
            </a:pPr>
            <a:r>
              <a:rPr lang="en-US" sz="2400" dirty="0">
                <a:latin typeface="Times New Roman" panose="02020603050405020304"/>
                <a:ea typeface="Times New Roman" panose="02020603050405020304"/>
                <a:cs typeface="Times New Roman" panose="02020603050405020304"/>
                <a:sym typeface="Times New Roman" panose="02020603050405020304"/>
              </a:rPr>
              <a:t>2n+3 ≥ 1*n        ∀n ≥  n0</a:t>
            </a:r>
            <a:endParaRPr dirty="0"/>
          </a:p>
          <a:p>
            <a:pPr marL="0" indent="0" algn="just">
              <a:spcBef>
                <a:spcPts val="480"/>
              </a:spcBef>
              <a:buClr>
                <a:schemeClr val="dk1"/>
              </a:buClr>
              <a:buSzPts val="2400"/>
              <a:buNone/>
            </a:pPr>
            <a:r>
              <a:rPr lang="en-US" sz="2400" dirty="0">
                <a:latin typeface="Times New Roman" panose="02020603050405020304"/>
                <a:ea typeface="Times New Roman" panose="02020603050405020304"/>
                <a:cs typeface="Times New Roman" panose="02020603050405020304"/>
                <a:sym typeface="Times New Roman" panose="02020603050405020304"/>
              </a:rPr>
              <a:t>          ≥ 1n          ∀ n ≥ 1</a:t>
            </a:r>
            <a:endParaRPr dirty="0"/>
          </a:p>
          <a:p>
            <a:pPr marL="0" indent="0" algn="just">
              <a:spcBef>
                <a:spcPts val="480"/>
              </a:spcBef>
              <a:buClr>
                <a:schemeClr val="dk1"/>
              </a:buClr>
              <a:buSzPts val="2400"/>
              <a:buNone/>
            </a:pPr>
            <a:r>
              <a:rPr lang="en-US" sz="2400" dirty="0">
                <a:latin typeface="Times New Roman" panose="02020603050405020304"/>
                <a:ea typeface="Times New Roman" panose="02020603050405020304"/>
                <a:cs typeface="Times New Roman" panose="02020603050405020304"/>
                <a:sym typeface="Times New Roman" panose="02020603050405020304"/>
              </a:rPr>
              <a:t>∴ f(n) = Ω(g(n))</a:t>
            </a:r>
            <a:endParaRPr sz="2400" dirty="0">
              <a:latin typeface="Times New Roman" panose="02020603050405020304"/>
              <a:ea typeface="Times New Roman" panose="02020603050405020304"/>
              <a:cs typeface="Times New Roman" panose="02020603050405020304"/>
              <a:sym typeface="Times New Roman" panose="02020603050405020304"/>
            </a:endParaRPr>
          </a:p>
          <a:p>
            <a:pPr marL="0" indent="0" algn="just">
              <a:spcBef>
                <a:spcPts val="480"/>
              </a:spcBef>
              <a:buClr>
                <a:schemeClr val="dk1"/>
              </a:buClr>
              <a:buSzPts val="2400"/>
              <a:buNone/>
            </a:pPr>
            <a:r>
              <a:rPr lang="en-US" sz="2400" dirty="0">
                <a:latin typeface="Times New Roman" panose="02020603050405020304"/>
                <a:ea typeface="Times New Roman" panose="02020603050405020304"/>
                <a:cs typeface="Times New Roman" panose="02020603050405020304"/>
                <a:sym typeface="Times New Roman" panose="02020603050405020304"/>
              </a:rPr>
              <a:t>c = 1, n0=1, g(n) = n</a:t>
            </a:r>
            <a:endParaRPr dirty="0"/>
          </a:p>
          <a:p>
            <a:pPr marL="0" indent="0">
              <a:spcBef>
                <a:spcPts val="640"/>
              </a:spcBef>
              <a:buClr>
                <a:schemeClr val="dk1"/>
              </a:buClr>
              <a:buSzPts val="3200"/>
              <a:buNone/>
            </a:pPr>
            <a:endParaRPr dirty="0"/>
          </a:p>
        </p:txBody>
      </p:sp>
      <p:sp>
        <p:nvSpPr>
          <p:cNvPr id="4" name="Footer Placeholder 3"/>
          <p:cNvSpPr>
            <a:spLocks noGrp="1"/>
          </p:cNvSpPr>
          <p:nvPr>
            <p:ph type="ftr" sz="quarter" idx="11"/>
          </p:nvPr>
        </p:nvSpPr>
        <p:spPr>
          <a:xfrm>
            <a:off x="1698171" y="6365586"/>
            <a:ext cx="8871858" cy="365125"/>
          </a:xfrm>
        </p:spPr>
        <p:txBody>
          <a:bodyPr/>
          <a:lstStyle/>
          <a:p>
            <a:r>
              <a:rPr lang="en-US" dirty="0"/>
              <a:t>Slides prepared by: Prof.Nandini K, Assistant Professor, Department of CSE, </a:t>
            </a:r>
            <a:r>
              <a:rPr lang="en-US" dirty="0" err="1"/>
              <a:t>Dayananda</a:t>
            </a:r>
            <a:r>
              <a:rPr lang="en-US" dirty="0"/>
              <a:t> </a:t>
            </a:r>
            <a:r>
              <a:rPr lang="en-US" dirty="0" err="1"/>
              <a:t>Sagar</a:t>
            </a:r>
            <a:r>
              <a:rPr lang="en-US" dirty="0"/>
              <a:t> University, </a:t>
            </a:r>
            <a:r>
              <a:rPr lang="en-US" dirty="0" err="1"/>
              <a:t>Harohalli</a:t>
            </a:r>
            <a:r>
              <a:rPr lang="en-US" dirty="0"/>
              <a:t>, Karnataka.</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92"/>
        <p:cNvGrpSpPr/>
        <p:nvPr/>
      </p:nvGrpSpPr>
      <p:grpSpPr>
        <a:xfrm>
          <a:off x="0" y="0"/>
          <a:ext cx="0" cy="0"/>
          <a:chOff x="0" y="0"/>
          <a:chExt cx="0" cy="0"/>
        </a:xfrm>
      </p:grpSpPr>
      <p:sp>
        <p:nvSpPr>
          <p:cNvPr id="593" name="Google Shape;593;p94"/>
          <p:cNvSpPr txBox="1">
            <a:spLocks noGrp="1"/>
          </p:cNvSpPr>
          <p:nvPr>
            <p:ph type="title"/>
          </p:nvPr>
        </p:nvSpPr>
        <p:spPr>
          <a:xfrm>
            <a:off x="1868079"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3200"/>
            </a:pPr>
            <a:r>
              <a:rPr lang="en-US" sz="3200">
                <a:latin typeface="Times New Roman" panose="02020603050405020304"/>
                <a:ea typeface="Times New Roman" panose="02020603050405020304"/>
                <a:cs typeface="Times New Roman" panose="02020603050405020304"/>
                <a:sym typeface="Times New Roman" panose="02020603050405020304"/>
              </a:rPr>
              <a:t>BIG THETA(Θ -notation)</a:t>
            </a:r>
            <a:endParaRPr sz="3200">
              <a:latin typeface="Times New Roman" panose="02020603050405020304"/>
              <a:ea typeface="Times New Roman" panose="02020603050405020304"/>
              <a:cs typeface="Times New Roman" panose="02020603050405020304"/>
              <a:sym typeface="Times New Roman" panose="02020603050405020304"/>
            </a:endParaRPr>
          </a:p>
        </p:txBody>
      </p:sp>
      <p:sp>
        <p:nvSpPr>
          <p:cNvPr id="594" name="Google Shape;594;p94"/>
          <p:cNvSpPr txBox="1">
            <a:spLocks noGrp="1"/>
          </p:cNvSpPr>
          <p:nvPr>
            <p:ph type="body" idx="1"/>
          </p:nvPr>
        </p:nvSpPr>
        <p:spPr>
          <a:xfrm>
            <a:off x="0" y="1600200"/>
            <a:ext cx="6961695" cy="4572000"/>
          </a:xfrm>
          <a:prstGeom prst="rect">
            <a:avLst/>
          </a:prstGeom>
          <a:noFill/>
          <a:ln>
            <a:noFill/>
          </a:ln>
        </p:spPr>
        <p:txBody>
          <a:bodyPr spcFirstLastPara="1" vert="horz" wrap="square" lIns="91425" tIns="45700" rIns="91425" bIns="45700" rtlCol="0" anchor="t" anchorCtr="0">
            <a:normAutofit/>
          </a:bodyPr>
          <a:lstStyle/>
          <a:p>
            <a:pPr marL="342900" indent="-342900" algn="just">
              <a:lnSpc>
                <a:spcPct val="150000"/>
              </a:lnSpc>
              <a:spcBef>
                <a:spcPts val="0"/>
              </a:spcBef>
              <a:buClr>
                <a:schemeClr val="dk1"/>
              </a:buClr>
              <a:buSzPts val="2100"/>
              <a:buFont typeface="Noto Sans Symbols"/>
              <a:buChar char="▪"/>
            </a:pPr>
            <a:r>
              <a:rPr lang="en-US" sz="2100" dirty="0">
                <a:latin typeface="Times New Roman" panose="02020603050405020304"/>
                <a:ea typeface="Times New Roman" panose="02020603050405020304"/>
                <a:cs typeface="Times New Roman" panose="02020603050405020304"/>
                <a:sym typeface="Times New Roman" panose="02020603050405020304"/>
              </a:rPr>
              <a:t>Theta is the formal method of expressing the average bound of an algorithm's running time. </a:t>
            </a:r>
            <a:endParaRPr sz="2100" dirty="0">
              <a:latin typeface="Times New Roman" panose="02020603050405020304"/>
              <a:ea typeface="Times New Roman" panose="02020603050405020304"/>
              <a:cs typeface="Times New Roman" panose="02020603050405020304"/>
              <a:sym typeface="Times New Roman" panose="02020603050405020304"/>
            </a:endParaRPr>
          </a:p>
          <a:p>
            <a:pPr marL="342900" indent="-342900" algn="just">
              <a:lnSpc>
                <a:spcPct val="150000"/>
              </a:lnSpc>
              <a:spcBef>
                <a:spcPts val="420"/>
              </a:spcBef>
              <a:buClr>
                <a:schemeClr val="dk1"/>
              </a:buClr>
              <a:buSzPts val="2100"/>
              <a:buFont typeface="Noto Sans Symbols"/>
              <a:buChar char="▪"/>
            </a:pPr>
            <a:r>
              <a:rPr lang="en-US" sz="2100" dirty="0">
                <a:latin typeface="Times New Roman" panose="02020603050405020304"/>
                <a:ea typeface="Times New Roman" panose="02020603050405020304"/>
                <a:cs typeface="Times New Roman" panose="02020603050405020304"/>
                <a:sym typeface="Times New Roman" panose="02020603050405020304"/>
              </a:rPr>
              <a:t>It is the measure of the average amount of time. </a:t>
            </a:r>
            <a:endParaRPr dirty="0"/>
          </a:p>
          <a:p>
            <a:pPr marL="342900" indent="-342900" algn="just">
              <a:lnSpc>
                <a:spcPct val="150000"/>
              </a:lnSpc>
              <a:spcBef>
                <a:spcPts val="420"/>
              </a:spcBef>
              <a:buClr>
                <a:schemeClr val="dk1"/>
              </a:buClr>
              <a:buSzPts val="2100"/>
              <a:buFont typeface="Noto Sans Symbols"/>
              <a:buChar char="▪"/>
            </a:pPr>
            <a:r>
              <a:rPr lang="en-US" sz="2100" dirty="0">
                <a:latin typeface="Times New Roman" panose="02020603050405020304"/>
                <a:ea typeface="Times New Roman" panose="02020603050405020304"/>
                <a:cs typeface="Times New Roman" panose="02020603050405020304"/>
                <a:sym typeface="Times New Roman" panose="02020603050405020304"/>
              </a:rPr>
              <a:t>The function f (n) = Θ(g (n)) if and only if there exist positive constants c1, c2 and n</a:t>
            </a:r>
            <a:r>
              <a:rPr lang="en-US" sz="2100" baseline="-25000" dirty="0">
                <a:latin typeface="Times New Roman" panose="02020603050405020304"/>
                <a:ea typeface="Times New Roman" panose="02020603050405020304"/>
                <a:cs typeface="Times New Roman" panose="02020603050405020304"/>
                <a:sym typeface="Times New Roman" panose="02020603050405020304"/>
              </a:rPr>
              <a:t>0</a:t>
            </a:r>
            <a:r>
              <a:rPr lang="en-US" sz="2100" dirty="0">
                <a:latin typeface="Times New Roman" panose="02020603050405020304"/>
                <a:ea typeface="Times New Roman" panose="02020603050405020304"/>
                <a:cs typeface="Times New Roman" panose="02020603050405020304"/>
                <a:sym typeface="Times New Roman" panose="02020603050405020304"/>
              </a:rPr>
              <a:t>  such that c1* g(n) ≤  f(n) ≤ c2 *g(n)  ∀n ≥  n</a:t>
            </a:r>
            <a:r>
              <a:rPr lang="en-US" sz="2100" baseline="-25000" dirty="0">
                <a:latin typeface="Times New Roman" panose="02020603050405020304"/>
                <a:ea typeface="Times New Roman" panose="02020603050405020304"/>
                <a:cs typeface="Times New Roman" panose="02020603050405020304"/>
                <a:sym typeface="Times New Roman" panose="02020603050405020304"/>
              </a:rPr>
              <a:t>0</a:t>
            </a:r>
            <a:r>
              <a:rPr lang="en-US" sz="2100" dirty="0">
                <a:latin typeface="Times New Roman" panose="02020603050405020304"/>
                <a:ea typeface="Times New Roman" panose="02020603050405020304"/>
                <a:cs typeface="Times New Roman" panose="02020603050405020304"/>
                <a:sym typeface="Times New Roman" panose="02020603050405020304"/>
              </a:rPr>
              <a:t>         </a:t>
            </a:r>
            <a:endParaRPr dirty="0"/>
          </a:p>
          <a:p>
            <a:pPr marL="342900" indent="-139700" algn="just">
              <a:spcBef>
                <a:spcPts val="640"/>
              </a:spcBef>
              <a:buClr>
                <a:schemeClr val="dk1"/>
              </a:buClr>
              <a:buSzPts val="3200"/>
              <a:buNone/>
            </a:pPr>
            <a:endParaRPr dirty="0"/>
          </a:p>
          <a:p>
            <a:pPr marL="0" indent="0">
              <a:spcBef>
                <a:spcPts val="640"/>
              </a:spcBef>
              <a:buClr>
                <a:schemeClr val="dk1"/>
              </a:buClr>
              <a:buSzPts val="3200"/>
              <a:buNone/>
            </a:pPr>
            <a:endParaRPr dirty="0"/>
          </a:p>
        </p:txBody>
      </p:sp>
      <p:pic>
        <p:nvPicPr>
          <p:cNvPr id="595" name="Google Shape;595;p94"/>
          <p:cNvPicPr preferRelativeResize="0"/>
          <p:nvPr/>
        </p:nvPicPr>
        <p:blipFill rotWithShape="1">
          <a:blip r:embed="rId3"/>
          <a:srcRect/>
          <a:stretch>
            <a:fillRect/>
          </a:stretch>
        </p:blipFill>
        <p:spPr>
          <a:xfrm>
            <a:off x="6939524" y="1828800"/>
            <a:ext cx="3493886" cy="2667000"/>
          </a:xfrm>
          <a:prstGeom prst="rect">
            <a:avLst/>
          </a:prstGeom>
          <a:noFill/>
          <a:ln>
            <a:noFill/>
          </a:ln>
        </p:spPr>
      </p:pic>
      <p:sp>
        <p:nvSpPr>
          <p:cNvPr id="5" name="Footer Placeholder 3"/>
          <p:cNvSpPr>
            <a:spLocks noGrp="1"/>
          </p:cNvSpPr>
          <p:nvPr>
            <p:ph type="ftr" sz="quarter" idx="11"/>
          </p:nvPr>
        </p:nvSpPr>
        <p:spPr>
          <a:xfrm>
            <a:off x="1698171" y="6356350"/>
            <a:ext cx="8871858" cy="365125"/>
          </a:xfrm>
        </p:spPr>
        <p:txBody>
          <a:bodyPr/>
          <a:lstStyle/>
          <a:p>
            <a:r>
              <a:rPr lang="en-US" dirty="0"/>
              <a:t>Slides prepared by: Prof.Nandini K, Assistant Professor, Department of CSE, </a:t>
            </a:r>
            <a:r>
              <a:rPr lang="en-US" dirty="0" err="1"/>
              <a:t>Dayananda</a:t>
            </a:r>
            <a:r>
              <a:rPr lang="en-US" dirty="0"/>
              <a:t> </a:t>
            </a:r>
            <a:r>
              <a:rPr lang="en-US" dirty="0" err="1"/>
              <a:t>Sagar</a:t>
            </a:r>
            <a:r>
              <a:rPr lang="en-US" dirty="0"/>
              <a:t> University, </a:t>
            </a:r>
            <a:r>
              <a:rPr lang="en-US" dirty="0" err="1"/>
              <a:t>Harohalli</a:t>
            </a:r>
            <a:r>
              <a:rPr lang="en-US" dirty="0"/>
              <a:t>, Karnataka.</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600" name="Google Shape;600;p95"/>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3200"/>
            </a:pPr>
            <a:r>
              <a:rPr lang="en-US" sz="3200">
                <a:latin typeface="Times New Roman" panose="02020603050405020304"/>
                <a:ea typeface="Times New Roman" panose="02020603050405020304"/>
                <a:cs typeface="Times New Roman" panose="02020603050405020304"/>
                <a:sym typeface="Times New Roman" panose="02020603050405020304"/>
              </a:rPr>
              <a:t>EXAMPLE</a:t>
            </a:r>
          </a:p>
        </p:txBody>
      </p:sp>
      <p:sp>
        <p:nvSpPr>
          <p:cNvPr id="601" name="Google Shape;601;p95"/>
          <p:cNvSpPr txBox="1">
            <a:spLocks noGrp="1"/>
          </p:cNvSpPr>
          <p:nvPr>
            <p:ph type="body" idx="1"/>
          </p:nvPr>
        </p:nvSpPr>
        <p:spPr>
          <a:xfrm>
            <a:off x="2378364" y="1526310"/>
            <a:ext cx="8229600" cy="4525963"/>
          </a:xfrm>
          <a:prstGeom prst="rect">
            <a:avLst/>
          </a:prstGeom>
          <a:noFill/>
          <a:ln>
            <a:noFill/>
          </a:ln>
        </p:spPr>
        <p:txBody>
          <a:bodyPr spcFirstLastPara="1" vert="horz" wrap="square" lIns="91425" tIns="45700" rIns="91425" bIns="45700" rtlCol="0" anchor="t" anchorCtr="0">
            <a:normAutofit/>
          </a:bodyPr>
          <a:lstStyle/>
          <a:p>
            <a:pPr marL="0" indent="0">
              <a:spcBef>
                <a:spcPts val="0"/>
              </a:spcBef>
              <a:buClr>
                <a:schemeClr val="dk1"/>
              </a:buClr>
              <a:buSzPts val="2400"/>
              <a:buNone/>
            </a:pPr>
            <a:r>
              <a:rPr lang="en-US" sz="2400" dirty="0">
                <a:latin typeface="Times New Roman" panose="02020603050405020304"/>
                <a:ea typeface="Times New Roman" panose="02020603050405020304"/>
                <a:cs typeface="Times New Roman" panose="02020603050405020304"/>
                <a:sym typeface="Times New Roman" panose="02020603050405020304"/>
              </a:rPr>
              <a:t>Θ(g(n)) = {f(n) : ∃ positive constants c1, c2, and n0, such that ∀n ≥  n</a:t>
            </a:r>
            <a:r>
              <a:rPr lang="en-US" sz="2400" baseline="-25000" dirty="0">
                <a:latin typeface="Times New Roman" panose="02020603050405020304"/>
                <a:ea typeface="Times New Roman" panose="02020603050405020304"/>
                <a:cs typeface="Times New Roman" panose="02020603050405020304"/>
                <a:sym typeface="Times New Roman" panose="02020603050405020304"/>
              </a:rPr>
              <a:t>0</a:t>
            </a:r>
            <a:r>
              <a:rPr lang="en-US" sz="2400" dirty="0">
                <a:latin typeface="Times New Roman" panose="02020603050405020304"/>
                <a:ea typeface="Times New Roman" panose="02020603050405020304"/>
                <a:cs typeface="Times New Roman" panose="02020603050405020304"/>
                <a:sym typeface="Times New Roman" panose="02020603050405020304"/>
              </a:rPr>
              <a:t>,    c1g(n) ≤  f(n) ≤ c2g(n)}</a:t>
            </a:r>
            <a:endParaRPr dirty="0"/>
          </a:p>
          <a:p>
            <a:pPr marL="342900" indent="-342900">
              <a:lnSpc>
                <a:spcPct val="90000"/>
              </a:lnSpc>
              <a:spcBef>
                <a:spcPts val="480"/>
              </a:spcBef>
              <a:buClr>
                <a:schemeClr val="dk1"/>
              </a:buClr>
              <a:buSzPts val="2400"/>
              <a:buNone/>
            </a:pPr>
            <a:r>
              <a:rPr lang="en-US" sz="2400" dirty="0">
                <a:latin typeface="Times New Roman" panose="02020603050405020304"/>
                <a:ea typeface="Times New Roman" panose="02020603050405020304"/>
                <a:cs typeface="Times New Roman" panose="02020603050405020304"/>
                <a:sym typeface="Times New Roman" panose="02020603050405020304"/>
              </a:rPr>
              <a:t>Ex: f(n) = 2n+3</a:t>
            </a:r>
            <a:endParaRPr dirty="0"/>
          </a:p>
          <a:p>
            <a:pPr marL="342900" indent="-342900">
              <a:lnSpc>
                <a:spcPct val="90000"/>
              </a:lnSpc>
              <a:spcBef>
                <a:spcPts val="480"/>
              </a:spcBef>
              <a:buClr>
                <a:schemeClr val="dk1"/>
              </a:buClr>
              <a:buSzPts val="2400"/>
              <a:buNone/>
            </a:pPr>
            <a:r>
              <a:rPr lang="en-US" sz="2400" dirty="0">
                <a:latin typeface="Times New Roman" panose="02020603050405020304"/>
                <a:ea typeface="Times New Roman" panose="02020603050405020304"/>
                <a:cs typeface="Times New Roman" panose="02020603050405020304"/>
                <a:sym typeface="Times New Roman" panose="02020603050405020304"/>
              </a:rPr>
              <a:t>        1n ≤ 2n+3 ≤ 5n</a:t>
            </a:r>
            <a:endParaRPr sz="2400" dirty="0">
              <a:latin typeface="Times New Roman" panose="02020603050405020304"/>
              <a:ea typeface="Times New Roman" panose="02020603050405020304"/>
              <a:cs typeface="Times New Roman" panose="02020603050405020304"/>
              <a:sym typeface="Times New Roman" panose="02020603050405020304"/>
            </a:endParaRPr>
          </a:p>
          <a:p>
            <a:pPr marL="342900" indent="-342900">
              <a:lnSpc>
                <a:spcPct val="90000"/>
              </a:lnSpc>
              <a:spcBef>
                <a:spcPts val="480"/>
              </a:spcBef>
              <a:buClr>
                <a:schemeClr val="dk1"/>
              </a:buClr>
              <a:buSzPts val="2400"/>
              <a:buNone/>
            </a:pPr>
            <a:endParaRPr sz="2400" b="1" i="1" dirty="0">
              <a:solidFill>
                <a:srgbClr val="CC0000"/>
              </a:solidFill>
            </a:endParaRPr>
          </a:p>
          <a:p>
            <a:pPr marL="0" indent="0">
              <a:spcBef>
                <a:spcPts val="480"/>
              </a:spcBef>
              <a:buClr>
                <a:schemeClr val="dk1"/>
              </a:buClr>
              <a:buSzPts val="2400"/>
              <a:buNone/>
            </a:pPr>
            <a:endParaRPr sz="2400" dirty="0">
              <a:latin typeface="Times New Roman" panose="02020603050405020304"/>
              <a:ea typeface="Times New Roman" panose="02020603050405020304"/>
              <a:cs typeface="Times New Roman" panose="02020603050405020304"/>
              <a:sym typeface="Times New Roman" panose="02020603050405020304"/>
            </a:endParaRPr>
          </a:p>
          <a:p>
            <a:pPr marL="0" indent="0">
              <a:spcBef>
                <a:spcPts val="640"/>
              </a:spcBef>
              <a:buClr>
                <a:schemeClr val="dk1"/>
              </a:buClr>
              <a:buSzPts val="3200"/>
              <a:buNone/>
            </a:pPr>
            <a:endParaRPr dirty="0"/>
          </a:p>
        </p:txBody>
      </p:sp>
      <p:sp>
        <p:nvSpPr>
          <p:cNvPr id="4" name="Footer Placeholder 3"/>
          <p:cNvSpPr>
            <a:spLocks noGrp="1"/>
          </p:cNvSpPr>
          <p:nvPr>
            <p:ph type="ftr" sz="quarter" idx="11"/>
          </p:nvPr>
        </p:nvSpPr>
        <p:spPr>
          <a:xfrm>
            <a:off x="1698171" y="6356350"/>
            <a:ext cx="8871858" cy="365125"/>
          </a:xfrm>
        </p:spPr>
        <p:txBody>
          <a:bodyPr/>
          <a:lstStyle/>
          <a:p>
            <a:r>
              <a:rPr lang="en-US" dirty="0"/>
              <a:t>Slides prepared by: Prof.Nandini K, Assistant Professor, Department of CSE, </a:t>
            </a:r>
            <a:r>
              <a:rPr lang="en-US" dirty="0" err="1"/>
              <a:t>Dayananda</a:t>
            </a:r>
            <a:r>
              <a:rPr lang="en-US" dirty="0"/>
              <a:t> </a:t>
            </a:r>
            <a:r>
              <a:rPr lang="en-US" dirty="0" err="1"/>
              <a:t>Sagar</a:t>
            </a:r>
            <a:r>
              <a:rPr lang="en-US" dirty="0"/>
              <a:t> University, </a:t>
            </a:r>
            <a:r>
              <a:rPr lang="en-US" dirty="0" err="1"/>
              <a:t>Harohalli</a:t>
            </a:r>
            <a:r>
              <a:rPr lang="en-US" dirty="0"/>
              <a:t>, Karnataka.</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05"/>
        <p:cNvGrpSpPr/>
        <p:nvPr/>
      </p:nvGrpSpPr>
      <p:grpSpPr>
        <a:xfrm>
          <a:off x="0" y="0"/>
          <a:ext cx="0" cy="0"/>
          <a:chOff x="0" y="0"/>
          <a:chExt cx="0" cy="0"/>
        </a:xfrm>
      </p:grpSpPr>
      <p:sp>
        <p:nvSpPr>
          <p:cNvPr id="606" name="Google Shape;606;p96"/>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3200"/>
            </a:pPr>
            <a:r>
              <a:rPr lang="en-US" sz="3200">
                <a:latin typeface="Times New Roman" panose="02020603050405020304"/>
                <a:ea typeface="Times New Roman" panose="02020603050405020304"/>
                <a:cs typeface="Times New Roman" panose="02020603050405020304"/>
                <a:sym typeface="Times New Roman" panose="02020603050405020304"/>
              </a:rPr>
              <a:t>RELATIONS BETWEEN Θ, Ω, O</a:t>
            </a:r>
            <a:endParaRPr sz="3200">
              <a:latin typeface="Times New Roman" panose="02020603050405020304"/>
              <a:ea typeface="Times New Roman" panose="02020603050405020304"/>
              <a:cs typeface="Times New Roman" panose="02020603050405020304"/>
              <a:sym typeface="Times New Roman" panose="02020603050405020304"/>
            </a:endParaRPr>
          </a:p>
        </p:txBody>
      </p:sp>
      <p:sp>
        <p:nvSpPr>
          <p:cNvPr id="607" name="Google Shape;607;p96"/>
          <p:cNvSpPr txBox="1">
            <a:spLocks noGrp="1"/>
          </p:cNvSpPr>
          <p:nvPr>
            <p:ph type="body" idx="1"/>
          </p:nvPr>
        </p:nvSpPr>
        <p:spPr>
          <a:xfrm>
            <a:off x="1981200" y="1600201"/>
            <a:ext cx="8229600" cy="4525963"/>
          </a:xfrm>
          <a:prstGeom prst="rect">
            <a:avLst/>
          </a:prstGeom>
          <a:noFill/>
          <a:ln>
            <a:noFill/>
          </a:ln>
        </p:spPr>
        <p:txBody>
          <a:bodyPr spcFirstLastPara="1" vert="horz" wrap="square" lIns="91425" tIns="45700" rIns="91425" bIns="45700" rtlCol="0" anchor="t" anchorCtr="0">
            <a:normAutofit/>
          </a:bodyPr>
          <a:lstStyle/>
          <a:p>
            <a:pPr marL="0" indent="0">
              <a:spcBef>
                <a:spcPts val="0"/>
              </a:spcBef>
              <a:buClr>
                <a:schemeClr val="dk1"/>
              </a:buClr>
              <a:buSzPts val="2000"/>
              <a:buNone/>
            </a:pPr>
            <a:r>
              <a:rPr lang="en-US">
                <a:latin typeface="Times New Roman" panose="02020603050405020304"/>
                <a:ea typeface="Times New Roman" panose="02020603050405020304"/>
                <a:cs typeface="Times New Roman" panose="02020603050405020304"/>
                <a:sym typeface="Times New Roman" panose="02020603050405020304"/>
              </a:rPr>
              <a:t>Theorem : </a:t>
            </a:r>
          </a:p>
          <a:p>
            <a:pPr marL="0" indent="0">
              <a:spcBef>
                <a:spcPts val="400"/>
              </a:spcBef>
              <a:buClr>
                <a:schemeClr val="dk1"/>
              </a:buClr>
              <a:buSzPts val="2000"/>
              <a:buNone/>
            </a:pPr>
            <a:r>
              <a:rPr lang="en-US">
                <a:latin typeface="Times New Roman" panose="02020603050405020304"/>
                <a:ea typeface="Times New Roman" panose="02020603050405020304"/>
                <a:cs typeface="Times New Roman" panose="02020603050405020304"/>
                <a:sym typeface="Times New Roman" panose="02020603050405020304"/>
              </a:rPr>
              <a:t>For any two functions g(n) and f(n), f(n) = Θ(g(n)) iff f(n) = O(g(n)) and f(n) = Ω(g(n)).</a:t>
            </a:r>
          </a:p>
          <a:p>
            <a:pPr marL="0" indent="0">
              <a:spcBef>
                <a:spcPts val="400"/>
              </a:spcBef>
              <a:buClr>
                <a:schemeClr val="dk1"/>
              </a:buClr>
              <a:buSzPts val="2000"/>
              <a:buNone/>
            </a:pPr>
            <a:endParaRPr>
              <a:latin typeface="Times New Roman" panose="02020603050405020304"/>
              <a:ea typeface="Times New Roman" panose="02020603050405020304"/>
              <a:cs typeface="Times New Roman" panose="02020603050405020304"/>
              <a:sym typeface="Times New Roman" panose="02020603050405020304"/>
            </a:endParaRPr>
          </a:p>
          <a:p>
            <a:pPr marL="0" indent="0">
              <a:spcBef>
                <a:spcPts val="400"/>
              </a:spcBef>
              <a:buClr>
                <a:schemeClr val="dk1"/>
              </a:buClr>
              <a:buSzPts val="2000"/>
              <a:buNone/>
            </a:pPr>
            <a:r>
              <a:rPr lang="en-US">
                <a:latin typeface="Times New Roman" panose="02020603050405020304"/>
                <a:ea typeface="Times New Roman" panose="02020603050405020304"/>
                <a:cs typeface="Times New Roman" panose="02020603050405020304"/>
                <a:sym typeface="Times New Roman" panose="02020603050405020304"/>
              </a:rPr>
              <a:t>I.e., Θ(g(n)) = O(g(n)) ∩ Ω(g(n))</a:t>
            </a:r>
          </a:p>
          <a:p>
            <a:pPr marL="0" indent="0">
              <a:spcBef>
                <a:spcPts val="400"/>
              </a:spcBef>
              <a:buClr>
                <a:schemeClr val="dk1"/>
              </a:buClr>
              <a:buSzPts val="2000"/>
              <a:buNone/>
            </a:pPr>
            <a:endParaRPr>
              <a:latin typeface="Times New Roman" panose="02020603050405020304"/>
              <a:ea typeface="Times New Roman" panose="02020603050405020304"/>
              <a:cs typeface="Times New Roman" panose="02020603050405020304"/>
              <a:sym typeface="Times New Roman" panose="02020603050405020304"/>
            </a:endParaRPr>
          </a:p>
          <a:p>
            <a:pPr marL="0" indent="0">
              <a:spcBef>
                <a:spcPts val="400"/>
              </a:spcBef>
              <a:buClr>
                <a:schemeClr val="dk1"/>
              </a:buClr>
              <a:buSzPts val="2000"/>
              <a:buNone/>
            </a:pPr>
            <a:r>
              <a:rPr lang="en-US">
                <a:latin typeface="Times New Roman" panose="02020603050405020304"/>
                <a:ea typeface="Times New Roman" panose="02020603050405020304"/>
                <a:cs typeface="Times New Roman" panose="02020603050405020304"/>
                <a:sym typeface="Times New Roman" panose="02020603050405020304"/>
              </a:rPr>
              <a:t>In practice, asymptotically tight bounds are obtained from asymptotic upper and lower bounds.</a:t>
            </a:r>
          </a:p>
        </p:txBody>
      </p:sp>
      <p:sp>
        <p:nvSpPr>
          <p:cNvPr id="4" name="Footer Placeholder 3"/>
          <p:cNvSpPr>
            <a:spLocks noGrp="1"/>
          </p:cNvSpPr>
          <p:nvPr>
            <p:ph type="ftr" sz="quarter" idx="11"/>
          </p:nvPr>
        </p:nvSpPr>
        <p:spPr>
          <a:xfrm>
            <a:off x="1698171" y="6356350"/>
            <a:ext cx="8871858" cy="365125"/>
          </a:xfrm>
        </p:spPr>
        <p:txBody>
          <a:bodyPr/>
          <a:lstStyle/>
          <a:p>
            <a:r>
              <a:rPr lang="en-US" dirty="0"/>
              <a:t>Slides prepared by: Prof.Nandini K, Assistant Professor, Department of CSE, </a:t>
            </a:r>
            <a:r>
              <a:rPr lang="en-US" dirty="0" err="1"/>
              <a:t>Dayananda</a:t>
            </a:r>
            <a:r>
              <a:rPr lang="en-US" dirty="0"/>
              <a:t> </a:t>
            </a:r>
            <a:r>
              <a:rPr lang="en-US" dirty="0" err="1"/>
              <a:t>Sagar</a:t>
            </a:r>
            <a:r>
              <a:rPr lang="en-US" dirty="0"/>
              <a:t> University, </a:t>
            </a:r>
            <a:r>
              <a:rPr lang="en-US" dirty="0" err="1"/>
              <a:t>Harohalli</a:t>
            </a:r>
            <a:r>
              <a:rPr lang="en-US" dirty="0"/>
              <a:t>, Karnataka.</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72"/>
        <p:cNvGrpSpPr/>
        <p:nvPr/>
      </p:nvGrpSpPr>
      <p:grpSpPr>
        <a:xfrm>
          <a:off x="0" y="0"/>
          <a:ext cx="0" cy="0"/>
          <a:chOff x="0" y="0"/>
          <a:chExt cx="0" cy="0"/>
        </a:xfrm>
      </p:grpSpPr>
      <p:sp>
        <p:nvSpPr>
          <p:cNvPr id="673" name="Google Shape;673;p106"/>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3600"/>
            </a:pPr>
            <a:r>
              <a:rPr lang="en-US" sz="3600">
                <a:latin typeface="Times New Roman" panose="02020603050405020304"/>
                <a:ea typeface="Times New Roman" panose="02020603050405020304"/>
                <a:cs typeface="Times New Roman" panose="02020603050405020304"/>
                <a:sym typeface="Times New Roman" panose="02020603050405020304"/>
              </a:rPr>
              <a:t>LITTLE OH NOTATION</a:t>
            </a:r>
          </a:p>
        </p:txBody>
      </p:sp>
      <p:sp>
        <p:nvSpPr>
          <p:cNvPr id="674" name="Google Shape;674;p106"/>
          <p:cNvSpPr txBox="1">
            <a:spLocks noGrp="1"/>
          </p:cNvSpPr>
          <p:nvPr>
            <p:ph type="body" idx="1"/>
          </p:nvPr>
        </p:nvSpPr>
        <p:spPr>
          <a:xfrm>
            <a:off x="1981200" y="1600201"/>
            <a:ext cx="8229600" cy="4525963"/>
          </a:xfrm>
          <a:prstGeom prst="rect">
            <a:avLst/>
          </a:prstGeom>
          <a:noFill/>
          <a:ln>
            <a:noFill/>
          </a:ln>
        </p:spPr>
        <p:txBody>
          <a:bodyPr spcFirstLastPara="1" vert="horz" wrap="square" lIns="91425" tIns="45700" rIns="91425" bIns="45700" rtlCol="0" anchor="t" anchorCtr="0">
            <a:normAutofit/>
          </a:bodyPr>
          <a:lstStyle/>
          <a:p>
            <a:pPr marL="0" indent="0">
              <a:spcBef>
                <a:spcPts val="0"/>
              </a:spcBef>
              <a:buClr>
                <a:schemeClr val="dk1"/>
              </a:buClr>
              <a:buSzPts val="2000"/>
              <a:buNone/>
            </a:pPr>
            <a:r>
              <a:rPr lang="en-US">
                <a:latin typeface="Times New Roman" panose="02020603050405020304"/>
                <a:ea typeface="Times New Roman" panose="02020603050405020304"/>
                <a:cs typeface="Times New Roman" panose="02020603050405020304"/>
                <a:sym typeface="Times New Roman" panose="02020603050405020304"/>
              </a:rPr>
              <a:t>1.If f(n) = n</a:t>
            </a:r>
            <a:r>
              <a:rPr lang="en-US" baseline="30000">
                <a:latin typeface="Times New Roman" panose="02020603050405020304"/>
                <a:ea typeface="Times New Roman" panose="02020603050405020304"/>
                <a:cs typeface="Times New Roman" panose="02020603050405020304"/>
                <a:sym typeface="Times New Roman" panose="02020603050405020304"/>
              </a:rPr>
              <a:t>2</a:t>
            </a:r>
            <a:r>
              <a:rPr lang="en-US">
                <a:latin typeface="Times New Roman" panose="02020603050405020304"/>
                <a:ea typeface="Times New Roman" panose="02020603050405020304"/>
                <a:cs typeface="Times New Roman" panose="02020603050405020304"/>
                <a:sym typeface="Times New Roman" panose="02020603050405020304"/>
              </a:rPr>
              <a:t> and g(n) = n</a:t>
            </a:r>
            <a:r>
              <a:rPr lang="en-US" baseline="30000">
                <a:latin typeface="Times New Roman" panose="02020603050405020304"/>
                <a:ea typeface="Times New Roman" panose="02020603050405020304"/>
                <a:cs typeface="Times New Roman" panose="02020603050405020304"/>
                <a:sym typeface="Times New Roman" panose="02020603050405020304"/>
              </a:rPr>
              <a:t>3</a:t>
            </a:r>
            <a:r>
              <a:rPr lang="en-US">
                <a:latin typeface="Times New Roman" panose="02020603050405020304"/>
                <a:ea typeface="Times New Roman" panose="02020603050405020304"/>
                <a:cs typeface="Times New Roman" panose="02020603050405020304"/>
                <a:sym typeface="Times New Roman" panose="02020603050405020304"/>
              </a:rPr>
              <a:t> then check whether f(n) = o(g(n)) or not.</a:t>
            </a:r>
          </a:p>
          <a:p>
            <a:pPr marL="0" indent="0">
              <a:spcBef>
                <a:spcPts val="400"/>
              </a:spcBef>
              <a:buClr>
                <a:schemeClr val="dk1"/>
              </a:buClr>
              <a:buSzPts val="2000"/>
              <a:buNone/>
            </a:pPr>
            <a:r>
              <a:rPr lang="en-US">
                <a:latin typeface="Times New Roman" panose="02020603050405020304"/>
                <a:ea typeface="Times New Roman" panose="02020603050405020304"/>
                <a:cs typeface="Times New Roman" panose="02020603050405020304"/>
                <a:sym typeface="Times New Roman" panose="02020603050405020304"/>
              </a:rPr>
              <a:t>Solution:</a:t>
            </a:r>
          </a:p>
          <a:p>
            <a:pPr marL="0" indent="0">
              <a:spcBef>
                <a:spcPts val="400"/>
              </a:spcBef>
              <a:buClr>
                <a:schemeClr val="dk1"/>
              </a:buClr>
              <a:buSzPts val="2000"/>
              <a:buNone/>
            </a:pPr>
            <a:r>
              <a:rPr lang="en-US">
                <a:latin typeface="Times New Roman" panose="02020603050405020304"/>
                <a:ea typeface="Times New Roman" panose="02020603050405020304"/>
                <a:cs typeface="Times New Roman" panose="02020603050405020304"/>
                <a:sym typeface="Times New Roman" panose="02020603050405020304"/>
              </a:rPr>
              <a:t>For f(n)=o(g(n))</a:t>
            </a:r>
          </a:p>
          <a:p>
            <a:pPr marL="0" indent="0">
              <a:spcBef>
                <a:spcPts val="400"/>
              </a:spcBef>
              <a:buClr>
                <a:schemeClr val="dk1"/>
              </a:buClr>
              <a:buSzPts val="2000"/>
              <a:buNone/>
            </a:pPr>
            <a:endParaRPr>
              <a:latin typeface="Times New Roman" panose="02020603050405020304"/>
              <a:ea typeface="Times New Roman" panose="02020603050405020304"/>
              <a:cs typeface="Times New Roman" panose="02020603050405020304"/>
              <a:sym typeface="Times New Roman" panose="02020603050405020304"/>
            </a:endParaRPr>
          </a:p>
        </p:txBody>
      </p:sp>
      <p:pic>
        <p:nvPicPr>
          <p:cNvPr id="675" name="Google Shape;675;p106"/>
          <p:cNvPicPr preferRelativeResize="0"/>
          <p:nvPr/>
        </p:nvPicPr>
        <p:blipFill rotWithShape="1">
          <a:blip r:embed="rId3"/>
          <a:srcRect/>
          <a:stretch>
            <a:fillRect/>
          </a:stretch>
        </p:blipFill>
        <p:spPr>
          <a:xfrm>
            <a:off x="1849582" y="2906976"/>
            <a:ext cx="3261368" cy="826825"/>
          </a:xfrm>
          <a:prstGeom prst="rect">
            <a:avLst/>
          </a:prstGeom>
          <a:noFill/>
          <a:ln>
            <a:noFill/>
          </a:ln>
        </p:spPr>
      </p:pic>
      <p:pic>
        <p:nvPicPr>
          <p:cNvPr id="676" name="Google Shape;676;p106"/>
          <p:cNvPicPr preferRelativeResize="0"/>
          <p:nvPr/>
        </p:nvPicPr>
        <p:blipFill rotWithShape="1">
          <a:blip r:embed="rId4"/>
          <a:srcRect/>
          <a:stretch>
            <a:fillRect/>
          </a:stretch>
        </p:blipFill>
        <p:spPr>
          <a:xfrm>
            <a:off x="3310726" y="3733801"/>
            <a:ext cx="1800225" cy="2283507"/>
          </a:xfrm>
          <a:prstGeom prst="rect">
            <a:avLst/>
          </a:prstGeom>
          <a:noFill/>
          <a:ln>
            <a:noFill/>
          </a:ln>
        </p:spPr>
      </p:pic>
      <p:sp>
        <p:nvSpPr>
          <p:cNvPr id="677" name="Google Shape;677;p106"/>
          <p:cNvSpPr/>
          <p:nvPr/>
        </p:nvSpPr>
        <p:spPr>
          <a:xfrm>
            <a:off x="5334000" y="5110295"/>
            <a:ext cx="4572000" cy="1015663"/>
          </a:xfrm>
          <a:prstGeom prst="rect">
            <a:avLst/>
          </a:prstGeom>
          <a:noFill/>
          <a:ln>
            <a:noFill/>
          </a:ln>
        </p:spPr>
        <p:txBody>
          <a:bodyPr spcFirstLastPara="1" wrap="square" lIns="91425" tIns="45700" rIns="91425" bIns="45700" anchor="t" anchorCtr="0">
            <a:noAutofit/>
          </a:bodyPr>
          <a:lstStyle/>
          <a:p>
            <a:r>
              <a:rPr lang="en-US" sz="2000">
                <a:solidFill>
                  <a:schemeClr val="dk1"/>
                </a:solidFill>
                <a:latin typeface="Times New Roman" panose="02020603050405020304"/>
                <a:ea typeface="Times New Roman" panose="02020603050405020304"/>
                <a:cs typeface="Times New Roman" panose="02020603050405020304"/>
                <a:sym typeface="Times New Roman" panose="02020603050405020304"/>
              </a:rPr>
              <a:t>The result is 0, and it satisfies the equation mentioned above.</a:t>
            </a:r>
          </a:p>
          <a:p>
            <a:r>
              <a:rPr lang="en-US" sz="2000">
                <a:solidFill>
                  <a:schemeClr val="dk1"/>
                </a:solidFill>
                <a:latin typeface="Times New Roman" panose="02020603050405020304"/>
                <a:ea typeface="Times New Roman" panose="02020603050405020304"/>
                <a:cs typeface="Times New Roman" panose="02020603050405020304"/>
                <a:sym typeface="Times New Roman" panose="02020603050405020304"/>
              </a:rPr>
              <a:t>So we can say that f(n) = o(g(n)).</a:t>
            </a:r>
          </a:p>
        </p:txBody>
      </p:sp>
      <p:sp>
        <p:nvSpPr>
          <p:cNvPr id="7" name="Footer Placeholder 3"/>
          <p:cNvSpPr>
            <a:spLocks noGrp="1"/>
          </p:cNvSpPr>
          <p:nvPr>
            <p:ph type="ftr" sz="quarter" idx="11"/>
          </p:nvPr>
        </p:nvSpPr>
        <p:spPr>
          <a:xfrm>
            <a:off x="1698171" y="6365586"/>
            <a:ext cx="8871858" cy="365125"/>
          </a:xfrm>
        </p:spPr>
        <p:txBody>
          <a:bodyPr/>
          <a:lstStyle/>
          <a:p>
            <a:r>
              <a:rPr lang="en-US" dirty="0"/>
              <a:t>Slides prepared by: Prof.Nandini K, Assistant Professor, Department of CSE, </a:t>
            </a:r>
            <a:r>
              <a:rPr lang="en-US" dirty="0" err="1"/>
              <a:t>Dayananda</a:t>
            </a:r>
            <a:r>
              <a:rPr lang="en-US" dirty="0"/>
              <a:t> </a:t>
            </a:r>
            <a:r>
              <a:rPr lang="en-US" dirty="0" err="1"/>
              <a:t>Sagar</a:t>
            </a:r>
            <a:r>
              <a:rPr lang="en-US" dirty="0"/>
              <a:t> University, </a:t>
            </a:r>
            <a:r>
              <a:rPr lang="en-US" dirty="0" err="1"/>
              <a:t>Harohalli</a:t>
            </a:r>
            <a:r>
              <a:rPr lang="en-US" dirty="0"/>
              <a:t>, Karnataka.</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8" name="Google Shape;688;p108"/>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dirty="0"/>
              <a:t>LITTLE ω NOTATIONS</a:t>
            </a:r>
          </a:p>
        </p:txBody>
      </p:sp>
      <p:pic>
        <p:nvPicPr>
          <p:cNvPr id="689" name="Google Shape;689;p108"/>
          <p:cNvPicPr preferRelativeResize="0">
            <a:picLocks noGrp="1"/>
          </p:cNvPicPr>
          <p:nvPr>
            <p:ph type="body" idx="1"/>
          </p:nvPr>
        </p:nvPicPr>
        <p:blipFill rotWithShape="1">
          <a:blip r:embed="rId3"/>
          <a:srcRect/>
          <a:stretch>
            <a:fillRect/>
          </a:stretch>
        </p:blipFill>
        <p:spPr>
          <a:xfrm>
            <a:off x="1963096" y="2057400"/>
            <a:ext cx="5489320" cy="2266950"/>
          </a:xfrm>
          <a:prstGeom prst="rect">
            <a:avLst/>
          </a:prstGeom>
          <a:noFill/>
          <a:ln>
            <a:noFill/>
          </a:ln>
        </p:spPr>
      </p:pic>
      <p:pic>
        <p:nvPicPr>
          <p:cNvPr id="690" name="Google Shape;690;p108"/>
          <p:cNvPicPr preferRelativeResize="0"/>
          <p:nvPr/>
        </p:nvPicPr>
        <p:blipFill rotWithShape="1">
          <a:blip r:embed="rId4"/>
          <a:srcRect/>
          <a:stretch>
            <a:fillRect/>
          </a:stretch>
        </p:blipFill>
        <p:spPr>
          <a:xfrm>
            <a:off x="7467600" y="1905000"/>
            <a:ext cx="2743200" cy="2915367"/>
          </a:xfrm>
          <a:prstGeom prst="rect">
            <a:avLst/>
          </a:prstGeom>
          <a:noFill/>
          <a:ln>
            <a:noFill/>
          </a:ln>
        </p:spPr>
      </p:pic>
      <p:sp>
        <p:nvSpPr>
          <p:cNvPr id="5" name="Footer Placeholder 3"/>
          <p:cNvSpPr>
            <a:spLocks noGrp="1"/>
          </p:cNvSpPr>
          <p:nvPr>
            <p:ph type="ftr" sz="quarter" idx="11"/>
          </p:nvPr>
        </p:nvSpPr>
        <p:spPr>
          <a:xfrm>
            <a:off x="1698171" y="6356350"/>
            <a:ext cx="8871858" cy="365125"/>
          </a:xfrm>
        </p:spPr>
        <p:txBody>
          <a:bodyPr/>
          <a:lstStyle/>
          <a:p>
            <a:r>
              <a:rPr lang="en-US" dirty="0"/>
              <a:t>Slides prepared by: Prof.Nandini K, Assistant Professor, Department of CSE, </a:t>
            </a:r>
            <a:r>
              <a:rPr lang="en-US" dirty="0" err="1"/>
              <a:t>Dayananda</a:t>
            </a:r>
            <a:r>
              <a:rPr lang="en-US" dirty="0"/>
              <a:t> </a:t>
            </a:r>
            <a:r>
              <a:rPr lang="en-US" dirty="0" err="1"/>
              <a:t>Sagar</a:t>
            </a:r>
            <a:r>
              <a:rPr lang="en-US" dirty="0"/>
              <a:t> University, </a:t>
            </a:r>
            <a:r>
              <a:rPr lang="en-US" dirty="0" err="1"/>
              <a:t>Harohalli</a:t>
            </a:r>
            <a:r>
              <a:rPr lang="en-US" dirty="0"/>
              <a:t>, Karnataka.</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701"/>
        <p:cNvGrpSpPr/>
        <p:nvPr/>
      </p:nvGrpSpPr>
      <p:grpSpPr>
        <a:xfrm>
          <a:off x="0" y="0"/>
          <a:ext cx="0" cy="0"/>
          <a:chOff x="0" y="0"/>
          <a:chExt cx="0" cy="0"/>
        </a:xfrm>
      </p:grpSpPr>
      <p:sp>
        <p:nvSpPr>
          <p:cNvPr id="702" name="Google Shape;702;p110"/>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fontScale="90000"/>
          </a:bodyPr>
          <a:lstStyle/>
          <a:p>
            <a:pPr algn="ctr">
              <a:spcBef>
                <a:spcPts val="0"/>
              </a:spcBef>
              <a:buClr>
                <a:schemeClr val="dk1"/>
              </a:buClr>
              <a:buSzPts val="3200"/>
            </a:pPr>
            <a:br>
              <a:rPr lang="en-US" sz="3200" dirty="0">
                <a:latin typeface="Times New Roman" panose="02020603050405020304"/>
                <a:ea typeface="Times New Roman" panose="02020603050405020304"/>
                <a:cs typeface="Times New Roman" panose="02020603050405020304"/>
                <a:sym typeface="Times New Roman" panose="02020603050405020304"/>
              </a:rPr>
            </a:br>
            <a:r>
              <a:rPr lang="en-US" sz="3200" dirty="0">
                <a:latin typeface="Times New Roman" panose="02020603050405020304"/>
                <a:ea typeface="Times New Roman" panose="02020603050405020304"/>
                <a:cs typeface="Times New Roman" panose="02020603050405020304"/>
                <a:sym typeface="Times New Roman" panose="02020603050405020304"/>
              </a:rPr>
              <a:t>USING THE ORDER TO ESTIMATE RUN - TIME</a:t>
            </a:r>
          </a:p>
        </p:txBody>
      </p:sp>
      <p:sp>
        <p:nvSpPr>
          <p:cNvPr id="703" name="Google Shape;703;p110"/>
          <p:cNvSpPr txBox="1">
            <a:spLocks noGrp="1"/>
          </p:cNvSpPr>
          <p:nvPr>
            <p:ph type="body" idx="1"/>
          </p:nvPr>
        </p:nvSpPr>
        <p:spPr>
          <a:xfrm>
            <a:off x="1981200" y="1600201"/>
            <a:ext cx="8229600" cy="4525963"/>
          </a:xfrm>
          <a:prstGeom prst="rect">
            <a:avLst/>
          </a:prstGeom>
          <a:noFill/>
          <a:ln>
            <a:noFill/>
          </a:ln>
        </p:spPr>
        <p:txBody>
          <a:bodyPr spcFirstLastPara="1" vert="horz" wrap="square" lIns="91425" tIns="45700" rIns="91425" bIns="45700" rtlCol="0" anchor="t" anchorCtr="0">
            <a:noAutofit/>
          </a:bodyPr>
          <a:lstStyle/>
          <a:p>
            <a:pPr marL="0" indent="0" algn="just">
              <a:spcBef>
                <a:spcPts val="0"/>
              </a:spcBef>
              <a:buClr>
                <a:schemeClr val="dk1"/>
              </a:buClr>
              <a:buSzPts val="2000"/>
              <a:buNone/>
            </a:pPr>
            <a:r>
              <a:rPr lang="en-US" b="1">
                <a:latin typeface="Times New Roman" panose="02020603050405020304"/>
                <a:ea typeface="Times New Roman" panose="02020603050405020304"/>
                <a:cs typeface="Times New Roman" panose="02020603050405020304"/>
                <a:sym typeface="Times New Roman" panose="02020603050405020304"/>
              </a:rPr>
              <a:t>Efficiency: </a:t>
            </a:r>
            <a:r>
              <a:rPr lang="en-US">
                <a:latin typeface="Times New Roman" panose="02020603050405020304"/>
                <a:ea typeface="Times New Roman" panose="02020603050405020304"/>
                <a:cs typeface="Times New Roman" panose="02020603050405020304"/>
                <a:sym typeface="Times New Roman" panose="02020603050405020304"/>
              </a:rPr>
              <a:t>The efficiency of an algorithm is a measure of its run time. This is proportional to operation.</a:t>
            </a:r>
          </a:p>
          <a:p>
            <a:pPr marL="0" indent="0" algn="just">
              <a:spcBef>
                <a:spcPts val="400"/>
              </a:spcBef>
              <a:buClr>
                <a:schemeClr val="dk1"/>
              </a:buClr>
              <a:buSzPts val="2000"/>
              <a:buNone/>
            </a:pPr>
            <a:endParaRPr>
              <a:latin typeface="Times New Roman" panose="02020603050405020304"/>
              <a:ea typeface="Times New Roman" panose="02020603050405020304"/>
              <a:cs typeface="Times New Roman" panose="02020603050405020304"/>
              <a:sym typeface="Times New Roman" panose="02020603050405020304"/>
            </a:endParaRPr>
          </a:p>
          <a:p>
            <a:pPr marL="0" indent="0" algn="just">
              <a:spcBef>
                <a:spcPts val="400"/>
              </a:spcBef>
              <a:buClr>
                <a:schemeClr val="dk1"/>
              </a:buClr>
              <a:buSzPts val="2000"/>
              <a:buNone/>
            </a:pPr>
            <a:r>
              <a:rPr lang="en-US" b="1">
                <a:latin typeface="Times New Roman" panose="02020603050405020304"/>
                <a:ea typeface="Times New Roman" panose="02020603050405020304"/>
                <a:cs typeface="Times New Roman" panose="02020603050405020304"/>
                <a:sym typeface="Times New Roman" panose="02020603050405020304"/>
              </a:rPr>
              <a:t>Size: </a:t>
            </a:r>
            <a:r>
              <a:rPr lang="en-US">
                <a:latin typeface="Times New Roman" panose="02020603050405020304"/>
                <a:ea typeface="Times New Roman" panose="02020603050405020304"/>
                <a:cs typeface="Times New Roman" panose="02020603050405020304"/>
                <a:sym typeface="Times New Roman" panose="02020603050405020304"/>
              </a:rPr>
              <a:t>The size is a measure of the complexity.(Usually the no of items in the list or input size)</a:t>
            </a:r>
          </a:p>
          <a:p>
            <a:pPr marL="0" indent="0" algn="just">
              <a:spcBef>
                <a:spcPts val="400"/>
              </a:spcBef>
              <a:buClr>
                <a:schemeClr val="dk1"/>
              </a:buClr>
              <a:buSzPts val="2000"/>
              <a:buNone/>
            </a:pPr>
            <a:endParaRPr>
              <a:latin typeface="Times New Roman" panose="02020603050405020304"/>
              <a:ea typeface="Times New Roman" panose="02020603050405020304"/>
              <a:cs typeface="Times New Roman" panose="02020603050405020304"/>
              <a:sym typeface="Times New Roman" panose="02020603050405020304"/>
            </a:endParaRPr>
          </a:p>
          <a:p>
            <a:pPr marL="0" indent="0" algn="just">
              <a:spcBef>
                <a:spcPts val="400"/>
              </a:spcBef>
              <a:buClr>
                <a:schemeClr val="dk1"/>
              </a:buClr>
              <a:buSzPts val="2000"/>
              <a:buNone/>
            </a:pPr>
            <a:r>
              <a:rPr lang="en-US" b="1">
                <a:latin typeface="Times New Roman" panose="02020603050405020304"/>
                <a:ea typeface="Times New Roman" panose="02020603050405020304"/>
                <a:cs typeface="Times New Roman" panose="02020603050405020304"/>
                <a:sym typeface="Times New Roman" panose="02020603050405020304"/>
              </a:rPr>
              <a:t>Order: </a:t>
            </a:r>
            <a:r>
              <a:rPr lang="en-US">
                <a:latin typeface="Times New Roman" panose="02020603050405020304"/>
                <a:ea typeface="Times New Roman" panose="02020603050405020304"/>
                <a:cs typeface="Times New Roman" panose="02020603050405020304"/>
                <a:sym typeface="Times New Roman" panose="02020603050405020304"/>
              </a:rPr>
              <a:t>The order of an algorithm is a measure of the efficiency as a function of the size.</a:t>
            </a:r>
          </a:p>
        </p:txBody>
      </p:sp>
      <p:sp>
        <p:nvSpPr>
          <p:cNvPr id="4" name="Footer Placeholder 3"/>
          <p:cNvSpPr>
            <a:spLocks noGrp="1"/>
          </p:cNvSpPr>
          <p:nvPr>
            <p:ph type="ftr" sz="quarter" idx="11"/>
          </p:nvPr>
        </p:nvSpPr>
        <p:spPr>
          <a:xfrm>
            <a:off x="1698171" y="6356350"/>
            <a:ext cx="8871858" cy="365125"/>
          </a:xfrm>
        </p:spPr>
        <p:txBody>
          <a:bodyPr/>
          <a:lstStyle/>
          <a:p>
            <a:r>
              <a:rPr lang="en-US" dirty="0"/>
              <a:t>Slides prepared by: Prof.Nandini K, Assistant Professor, Department of CSE, </a:t>
            </a:r>
            <a:r>
              <a:rPr lang="en-US" dirty="0" err="1"/>
              <a:t>Dayananda</a:t>
            </a:r>
            <a:r>
              <a:rPr lang="en-US" dirty="0"/>
              <a:t> </a:t>
            </a:r>
            <a:r>
              <a:rPr lang="en-US" dirty="0" err="1"/>
              <a:t>Sagar</a:t>
            </a:r>
            <a:r>
              <a:rPr lang="en-US" dirty="0"/>
              <a:t> University, </a:t>
            </a:r>
            <a:r>
              <a:rPr lang="en-US" dirty="0" err="1"/>
              <a:t>Harohalli</a:t>
            </a:r>
            <a:r>
              <a:rPr lang="en-US" dirty="0"/>
              <a:t>, Karnataka.</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sp>
        <p:nvSpPr>
          <p:cNvPr id="708" name="Google Shape;708;p111"/>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3200"/>
            </a:pPr>
            <a:r>
              <a:rPr lang="en-US" sz="3200">
                <a:latin typeface="Times New Roman" panose="02020603050405020304"/>
                <a:ea typeface="Times New Roman" panose="02020603050405020304"/>
                <a:cs typeface="Times New Roman" panose="02020603050405020304"/>
                <a:sym typeface="Times New Roman" panose="02020603050405020304"/>
              </a:rPr>
              <a:t>PROBLEMS ON EFFICIENCY </a:t>
            </a:r>
          </a:p>
        </p:txBody>
      </p:sp>
      <p:sp>
        <p:nvSpPr>
          <p:cNvPr id="709" name="Google Shape;709;p111"/>
          <p:cNvSpPr txBox="1">
            <a:spLocks noGrp="1"/>
          </p:cNvSpPr>
          <p:nvPr>
            <p:ph type="body" idx="1"/>
          </p:nvPr>
        </p:nvSpPr>
        <p:spPr>
          <a:xfrm>
            <a:off x="1981200" y="1600200"/>
            <a:ext cx="3810000" cy="4648200"/>
          </a:xfrm>
          <a:prstGeom prst="rect">
            <a:avLst/>
          </a:prstGeom>
          <a:noFill/>
          <a:ln>
            <a:noFill/>
          </a:ln>
        </p:spPr>
        <p:txBody>
          <a:bodyPr spcFirstLastPara="1" vert="horz" wrap="square" lIns="91425" tIns="45700" rIns="91425" bIns="45700" rtlCol="0" anchor="t" anchorCtr="0">
            <a:normAutofit/>
          </a:bodyPr>
          <a:lstStyle/>
          <a:p>
            <a:pPr marL="0" indent="0">
              <a:spcBef>
                <a:spcPts val="0"/>
              </a:spcBef>
              <a:buClr>
                <a:schemeClr val="dk1"/>
              </a:buClr>
              <a:buSzPts val="2000"/>
              <a:buNone/>
            </a:pPr>
            <a:r>
              <a:rPr lang="en-US" b="1" dirty="0">
                <a:latin typeface="Times New Roman" panose="02020603050405020304"/>
                <a:ea typeface="Times New Roman" panose="02020603050405020304"/>
                <a:cs typeface="Times New Roman" panose="02020603050405020304"/>
                <a:sym typeface="Times New Roman" panose="02020603050405020304"/>
              </a:rPr>
              <a:t>Problem 1:</a:t>
            </a:r>
          </a:p>
          <a:p>
            <a:pPr marL="0" indent="0" algn="just">
              <a:spcBef>
                <a:spcPts val="400"/>
              </a:spcBef>
              <a:buClr>
                <a:schemeClr val="dk1"/>
              </a:buClr>
              <a:buSzPts val="2000"/>
              <a:buNone/>
            </a:pPr>
            <a:r>
              <a:rPr lang="en-US" dirty="0">
                <a:latin typeface="Times New Roman" panose="02020603050405020304"/>
                <a:ea typeface="Times New Roman" panose="02020603050405020304"/>
                <a:cs typeface="Times New Roman" panose="02020603050405020304"/>
                <a:sym typeface="Times New Roman" panose="02020603050405020304"/>
              </a:rPr>
              <a:t>A computer is programmed with an algorithm of Quadratic order, it takes 2 seconds to solve a problem of size 15. Estimate how long would it take to solve a problem of size 150.</a:t>
            </a:r>
          </a:p>
        </p:txBody>
      </p:sp>
      <p:sp>
        <p:nvSpPr>
          <p:cNvPr id="710" name="Google Shape;710;p111"/>
          <p:cNvSpPr txBox="1"/>
          <p:nvPr/>
        </p:nvSpPr>
        <p:spPr>
          <a:xfrm>
            <a:off x="5943600" y="1253400"/>
            <a:ext cx="4343400" cy="5078313"/>
          </a:xfrm>
          <a:prstGeom prst="rect">
            <a:avLst/>
          </a:prstGeom>
          <a:noFill/>
          <a:ln>
            <a:noFill/>
          </a:ln>
        </p:spPr>
        <p:txBody>
          <a:bodyPr spcFirstLastPara="1" wrap="square" lIns="91425" tIns="45700" rIns="91425" bIns="45700" anchor="t" anchorCtr="0">
            <a:spAutoFit/>
          </a:bodyPr>
          <a:lstStyle/>
          <a:p>
            <a:pPr algn="just"/>
            <a:r>
              <a:rPr lang="en-US" b="1">
                <a:solidFill>
                  <a:schemeClr val="dk1"/>
                </a:solidFill>
                <a:latin typeface="Times New Roman" panose="02020603050405020304"/>
                <a:ea typeface="Times New Roman" panose="02020603050405020304"/>
                <a:cs typeface="Times New Roman" panose="02020603050405020304"/>
                <a:sym typeface="Times New Roman" panose="02020603050405020304"/>
              </a:rPr>
              <a:t>Solution:</a:t>
            </a:r>
          </a:p>
          <a:p>
            <a:pPr algn="just"/>
            <a:r>
              <a:rPr lang="en-US">
                <a:solidFill>
                  <a:schemeClr val="dk1"/>
                </a:solidFill>
                <a:latin typeface="Times New Roman" panose="02020603050405020304"/>
                <a:ea typeface="Times New Roman" panose="02020603050405020304"/>
                <a:cs typeface="Times New Roman" panose="02020603050405020304"/>
                <a:sym typeface="Times New Roman" panose="02020603050405020304"/>
              </a:rPr>
              <a:t>E ∝n</a:t>
            </a:r>
            <a:r>
              <a:rPr lang="en-US" baseline="30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a:solidFill>
                  <a:schemeClr val="dk1"/>
                </a:solidFill>
                <a:latin typeface="Times New Roman" panose="02020603050405020304"/>
                <a:ea typeface="Times New Roman" panose="02020603050405020304"/>
                <a:cs typeface="Times New Roman" panose="02020603050405020304"/>
                <a:sym typeface="Times New Roman" panose="02020603050405020304"/>
              </a:rPr>
              <a:t> (E is proportional to n</a:t>
            </a:r>
            <a:r>
              <a:rPr lang="en-US" baseline="30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algn="just"/>
            <a:r>
              <a:rPr lang="en-US">
                <a:solidFill>
                  <a:schemeClr val="dk1"/>
                </a:solidFill>
                <a:latin typeface="Times New Roman" panose="02020603050405020304"/>
                <a:ea typeface="Times New Roman" panose="02020603050405020304"/>
                <a:cs typeface="Times New Roman" panose="02020603050405020304"/>
                <a:sym typeface="Times New Roman" panose="02020603050405020304"/>
              </a:rPr>
              <a:t>To remove proportionality use a constant K, so</a:t>
            </a:r>
            <a:endParaRPr>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algn="just"/>
            <a:r>
              <a:rPr lang="en-US">
                <a:solidFill>
                  <a:schemeClr val="dk1"/>
                </a:solidFill>
                <a:latin typeface="Times New Roman" panose="02020603050405020304"/>
                <a:ea typeface="Times New Roman" panose="02020603050405020304"/>
                <a:cs typeface="Times New Roman" panose="02020603050405020304"/>
                <a:sym typeface="Times New Roman" panose="02020603050405020304"/>
              </a:rPr>
              <a:t>E=K.n</a:t>
            </a:r>
            <a:r>
              <a:rPr lang="en-US" baseline="30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a:solidFill>
                  <a:schemeClr val="dk1"/>
                </a:solidFill>
                <a:latin typeface="Times New Roman" panose="02020603050405020304"/>
                <a:ea typeface="Times New Roman" panose="02020603050405020304"/>
                <a:cs typeface="Times New Roman" panose="02020603050405020304"/>
                <a:sym typeface="Times New Roman" panose="02020603050405020304"/>
              </a:rPr>
              <a:t> (E=2, n=15)</a:t>
            </a:r>
          </a:p>
          <a:p>
            <a:pPr algn="just"/>
            <a:endParaRPr>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algn="just"/>
            <a:r>
              <a:rPr lang="en-US">
                <a:solidFill>
                  <a:schemeClr val="dk1"/>
                </a:solidFill>
                <a:latin typeface="Times New Roman" panose="02020603050405020304"/>
                <a:ea typeface="Times New Roman" panose="02020603050405020304"/>
                <a:cs typeface="Times New Roman" panose="02020603050405020304"/>
                <a:sym typeface="Times New Roman" panose="02020603050405020304"/>
              </a:rPr>
              <a:t>2=K(15)</a:t>
            </a:r>
            <a:r>
              <a:rPr lang="en-US" baseline="30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endParaRPr baseline="30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algn="just"/>
            <a:endParaRPr>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algn="just"/>
            <a:r>
              <a:rPr lang="en-US">
                <a:solidFill>
                  <a:schemeClr val="dk1"/>
                </a:solidFill>
                <a:latin typeface="Times New Roman" panose="02020603050405020304"/>
                <a:ea typeface="Times New Roman" panose="02020603050405020304"/>
                <a:cs typeface="Times New Roman" panose="02020603050405020304"/>
                <a:sym typeface="Times New Roman" panose="02020603050405020304"/>
              </a:rPr>
              <a:t>2=K(225)</a:t>
            </a:r>
          </a:p>
          <a:p>
            <a:pPr algn="just"/>
            <a:endParaRPr>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algn="just"/>
            <a:r>
              <a:rPr lang="en-US">
                <a:solidFill>
                  <a:schemeClr val="dk1"/>
                </a:solidFill>
                <a:latin typeface="Times New Roman" panose="02020603050405020304"/>
                <a:ea typeface="Times New Roman" panose="02020603050405020304"/>
                <a:cs typeface="Times New Roman" panose="02020603050405020304"/>
                <a:sym typeface="Times New Roman" panose="02020603050405020304"/>
              </a:rPr>
              <a:t>K=2/225</a:t>
            </a:r>
          </a:p>
          <a:p>
            <a:pPr algn="just"/>
            <a:endParaRPr>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algn="just"/>
            <a:r>
              <a:rPr lang="en-US">
                <a:solidFill>
                  <a:schemeClr val="dk1"/>
                </a:solidFill>
                <a:latin typeface="Times New Roman" panose="02020603050405020304"/>
                <a:ea typeface="Times New Roman" panose="02020603050405020304"/>
                <a:cs typeface="Times New Roman" panose="02020603050405020304"/>
                <a:sym typeface="Times New Roman" panose="02020603050405020304"/>
              </a:rPr>
              <a:t>If n=150</a:t>
            </a:r>
          </a:p>
          <a:p>
            <a:pPr algn="just"/>
            <a:endParaRPr>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algn="just"/>
            <a:r>
              <a:rPr lang="en-US">
                <a:solidFill>
                  <a:schemeClr val="dk1"/>
                </a:solidFill>
                <a:latin typeface="Times New Roman" panose="02020603050405020304"/>
                <a:ea typeface="Times New Roman" panose="02020603050405020304"/>
                <a:cs typeface="Times New Roman" panose="02020603050405020304"/>
                <a:sym typeface="Times New Roman" panose="02020603050405020304"/>
              </a:rPr>
              <a:t>E=(2/225)(1502)</a:t>
            </a:r>
          </a:p>
          <a:p>
            <a:pPr algn="just"/>
            <a:endParaRPr>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algn="just"/>
            <a:r>
              <a:rPr lang="en-US">
                <a:solidFill>
                  <a:schemeClr val="dk1"/>
                </a:solidFill>
                <a:latin typeface="Times New Roman" panose="02020603050405020304"/>
                <a:ea typeface="Times New Roman" panose="02020603050405020304"/>
                <a:cs typeface="Times New Roman" panose="02020603050405020304"/>
                <a:sym typeface="Times New Roman" panose="02020603050405020304"/>
              </a:rPr>
              <a:t>E =200 sec</a:t>
            </a:r>
            <a:endParaRPr>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endParaRPr>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5" name="Footer Placeholder 3"/>
          <p:cNvSpPr>
            <a:spLocks noGrp="1"/>
          </p:cNvSpPr>
          <p:nvPr>
            <p:ph type="ftr" sz="quarter" idx="11"/>
          </p:nvPr>
        </p:nvSpPr>
        <p:spPr>
          <a:xfrm>
            <a:off x="1698171" y="6365586"/>
            <a:ext cx="8871858" cy="365125"/>
          </a:xfrm>
        </p:spPr>
        <p:txBody>
          <a:bodyPr/>
          <a:lstStyle/>
          <a:p>
            <a:r>
              <a:rPr lang="en-US" dirty="0"/>
              <a:t>Slides prepared by: Prof.Nandini K, Assistant Professor, Department of CSE, </a:t>
            </a:r>
            <a:r>
              <a:rPr lang="en-US" dirty="0" err="1"/>
              <a:t>Dayananda</a:t>
            </a:r>
            <a:r>
              <a:rPr lang="en-US" dirty="0"/>
              <a:t> </a:t>
            </a:r>
            <a:r>
              <a:rPr lang="en-US" dirty="0" err="1"/>
              <a:t>Sagar</a:t>
            </a:r>
            <a:r>
              <a:rPr lang="en-US" dirty="0"/>
              <a:t> University, </a:t>
            </a:r>
            <a:r>
              <a:rPr lang="en-US" dirty="0" err="1"/>
              <a:t>Harohalli</a:t>
            </a:r>
            <a:r>
              <a:rPr lang="en-US" dirty="0"/>
              <a:t>, Karnataka.</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sp>
        <p:nvSpPr>
          <p:cNvPr id="715" name="Google Shape;715;p112"/>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3200"/>
            </a:pPr>
            <a:r>
              <a:rPr lang="en-US" sz="3200">
                <a:latin typeface="Times New Roman" panose="02020603050405020304"/>
                <a:ea typeface="Times New Roman" panose="02020603050405020304"/>
                <a:cs typeface="Times New Roman" panose="02020603050405020304"/>
                <a:sym typeface="Times New Roman" panose="02020603050405020304"/>
              </a:rPr>
              <a:t>PROBLEMS ON EFFICIENCY </a:t>
            </a:r>
          </a:p>
        </p:txBody>
      </p:sp>
      <p:sp>
        <p:nvSpPr>
          <p:cNvPr id="716" name="Google Shape;716;p112"/>
          <p:cNvSpPr txBox="1">
            <a:spLocks noGrp="1"/>
          </p:cNvSpPr>
          <p:nvPr>
            <p:ph type="body" idx="1"/>
          </p:nvPr>
        </p:nvSpPr>
        <p:spPr>
          <a:xfrm>
            <a:off x="1981200" y="1600200"/>
            <a:ext cx="4191000" cy="4800600"/>
          </a:xfrm>
          <a:prstGeom prst="rect">
            <a:avLst/>
          </a:prstGeom>
          <a:noFill/>
          <a:ln>
            <a:noFill/>
          </a:ln>
        </p:spPr>
        <p:txBody>
          <a:bodyPr spcFirstLastPara="1" vert="horz" wrap="square" lIns="91425" tIns="45700" rIns="91425" bIns="45700" rtlCol="0" anchor="t" anchorCtr="0">
            <a:normAutofit/>
          </a:bodyPr>
          <a:lstStyle/>
          <a:p>
            <a:pPr marL="0" indent="0">
              <a:spcBef>
                <a:spcPts val="0"/>
              </a:spcBef>
              <a:buClr>
                <a:schemeClr val="dk1"/>
              </a:buClr>
              <a:buSzPts val="2000"/>
              <a:buNone/>
            </a:pPr>
            <a:r>
              <a:rPr lang="en-US" b="1">
                <a:latin typeface="Times New Roman" panose="02020603050405020304"/>
                <a:ea typeface="Times New Roman" panose="02020603050405020304"/>
                <a:cs typeface="Times New Roman" panose="02020603050405020304"/>
                <a:sym typeface="Times New Roman" panose="02020603050405020304"/>
              </a:rPr>
              <a:t>Problem 2:</a:t>
            </a:r>
          </a:p>
          <a:p>
            <a:pPr marL="0" indent="0" algn="just">
              <a:spcBef>
                <a:spcPts val="400"/>
              </a:spcBef>
              <a:buClr>
                <a:schemeClr val="dk1"/>
              </a:buClr>
              <a:buSzPts val="2000"/>
              <a:buNone/>
            </a:pPr>
            <a:r>
              <a:rPr lang="en-US">
                <a:latin typeface="Times New Roman" panose="02020603050405020304"/>
                <a:ea typeface="Times New Roman" panose="02020603050405020304"/>
                <a:cs typeface="Times New Roman" panose="02020603050405020304"/>
                <a:sym typeface="Times New Roman" panose="02020603050405020304"/>
              </a:rPr>
              <a:t>A computer is programmed with an algorithm of 2</a:t>
            </a:r>
            <a:r>
              <a:rPr lang="en-US" baseline="30000">
                <a:latin typeface="Times New Roman" panose="02020603050405020304"/>
                <a:ea typeface="Times New Roman" panose="02020603050405020304"/>
                <a:cs typeface="Times New Roman" panose="02020603050405020304"/>
                <a:sym typeface="Times New Roman" panose="02020603050405020304"/>
              </a:rPr>
              <a:t>n</a:t>
            </a:r>
            <a:r>
              <a:rPr lang="en-US">
                <a:latin typeface="Times New Roman" panose="02020603050405020304"/>
                <a:ea typeface="Times New Roman" panose="02020603050405020304"/>
                <a:cs typeface="Times New Roman" panose="02020603050405020304"/>
                <a:sym typeface="Times New Roman" panose="02020603050405020304"/>
              </a:rPr>
              <a:t> order, it takes 2 seconds to solve a problem of size 15. Estimate how long would it take to solve a problem of size 150.</a:t>
            </a:r>
          </a:p>
        </p:txBody>
      </p:sp>
      <p:sp>
        <p:nvSpPr>
          <p:cNvPr id="5" name="Footer Placeholder 3"/>
          <p:cNvSpPr>
            <a:spLocks noGrp="1"/>
          </p:cNvSpPr>
          <p:nvPr>
            <p:ph type="ftr" sz="quarter" idx="11"/>
          </p:nvPr>
        </p:nvSpPr>
        <p:spPr>
          <a:xfrm>
            <a:off x="1698171" y="6356350"/>
            <a:ext cx="8871858" cy="365125"/>
          </a:xfrm>
        </p:spPr>
        <p:txBody>
          <a:bodyPr/>
          <a:lstStyle/>
          <a:p>
            <a:r>
              <a:rPr lang="en-US" dirty="0"/>
              <a:t>Slides prepared by: Prof.Nandini K, Assistant Professor, Department of CSE, </a:t>
            </a:r>
            <a:r>
              <a:rPr lang="en-US" dirty="0" err="1"/>
              <a:t>Dayananda</a:t>
            </a:r>
            <a:r>
              <a:rPr lang="en-US" dirty="0"/>
              <a:t> </a:t>
            </a:r>
            <a:r>
              <a:rPr lang="en-US" dirty="0" err="1"/>
              <a:t>Sagar</a:t>
            </a:r>
            <a:r>
              <a:rPr lang="en-US" dirty="0"/>
              <a:t> University, </a:t>
            </a:r>
            <a:r>
              <a:rPr lang="en-US" dirty="0" err="1"/>
              <a:t>Harohalli</a:t>
            </a:r>
            <a:r>
              <a:rPr lang="en-US" dirty="0"/>
              <a:t>, Karnataka.</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FF513-EBD9-A695-A858-50D307B6AAF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E0B694B-D12F-CFDE-F0D4-7179B403D941}"/>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C5FBBF80-AF2B-9508-4644-A239227ABD58}"/>
              </a:ext>
            </a:extLst>
          </p:cNvPr>
          <p:cNvSpPr>
            <a:spLocks noGrp="1"/>
          </p:cNvSpPr>
          <p:nvPr>
            <p:ph type="ftr" sz="quarter" idx="11"/>
          </p:nvPr>
        </p:nvSpPr>
        <p:spPr/>
        <p:txBody>
          <a:bodyPr/>
          <a:lstStyle/>
          <a:p>
            <a:r>
              <a:rPr lang="en-US"/>
              <a:t>Slides prepared by: Prof.Nandini K, Assistant Professor, Department of CSE, Dayananda Sagar University, Harohalli, Karnataka.</a:t>
            </a:r>
            <a:endParaRPr lang="en-US" dirty="0"/>
          </a:p>
        </p:txBody>
      </p:sp>
      <p:sp>
        <p:nvSpPr>
          <p:cNvPr id="5" name="Slide Number Placeholder 4">
            <a:extLst>
              <a:ext uri="{FF2B5EF4-FFF2-40B4-BE49-F238E27FC236}">
                <a16:creationId xmlns:a16="http://schemas.microsoft.com/office/drawing/2014/main" id="{69C1F62E-59A2-CC0A-E406-9881639F6C88}"/>
              </a:ext>
            </a:extLst>
          </p:cNvPr>
          <p:cNvSpPr>
            <a:spLocks noGrp="1"/>
          </p:cNvSpPr>
          <p:nvPr>
            <p:ph type="sldNum" sz="quarter" idx="12"/>
          </p:nvPr>
        </p:nvSpPr>
        <p:spPr/>
        <p:txBody>
          <a:bodyPr/>
          <a:lstStyle/>
          <a:p>
            <a:fld id="{5731DF9D-C219-B24D-9CD4-0503F6C036DC}" type="slidenum">
              <a:rPr lang="en-US" smtClean="0"/>
              <a:t>52</a:t>
            </a:fld>
            <a:endParaRPr lang="en-US"/>
          </a:p>
        </p:txBody>
      </p:sp>
      <p:sp>
        <p:nvSpPr>
          <p:cNvPr id="717" name="Google Shape;717;p112"/>
          <p:cNvSpPr txBox="1"/>
          <p:nvPr/>
        </p:nvSpPr>
        <p:spPr>
          <a:xfrm>
            <a:off x="6400800" y="1371600"/>
            <a:ext cx="3886200" cy="4678204"/>
          </a:xfrm>
          <a:prstGeom prst="rect">
            <a:avLst/>
          </a:prstGeom>
          <a:noFill/>
          <a:ln>
            <a:noFill/>
          </a:ln>
        </p:spPr>
        <p:txBody>
          <a:bodyPr spcFirstLastPara="1" wrap="square" lIns="91425" tIns="45700" rIns="91425" bIns="45700" anchor="t" anchorCtr="0">
            <a:spAutoFit/>
          </a:bodyPr>
          <a:lstStyle/>
          <a:p>
            <a:pPr algn="just"/>
            <a:r>
              <a:rPr lang="en-US"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Solution:</a:t>
            </a:r>
          </a:p>
          <a:p>
            <a:pPr algn="just"/>
            <a:r>
              <a:rPr lang="en-US"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E ∝2n (E is proportional to 2n)</a:t>
            </a:r>
            <a:endParaRP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algn="just"/>
            <a:r>
              <a:rPr lang="en-US"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To remove proportionality use a constant K, so</a:t>
            </a:r>
            <a:endParaRP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algn="just"/>
            <a:r>
              <a:rPr lang="en-US"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E=K2</a:t>
            </a:r>
            <a:r>
              <a:rPr lang="en-US" sz="2000" baseline="30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(E=2, n=15)</a:t>
            </a:r>
          </a:p>
          <a:p>
            <a:pPr algn="just"/>
            <a:endParaRP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algn="just"/>
            <a:r>
              <a:rPr lang="en-US"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2=K(2</a:t>
            </a:r>
            <a:r>
              <a:rPr lang="en-US" sz="2000" baseline="30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15</a:t>
            </a:r>
            <a:r>
              <a:rPr lang="en-US"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p>
          <a:p>
            <a:pPr algn="just"/>
            <a:endParaRP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algn="just"/>
            <a:r>
              <a:rPr lang="en-US"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K=1/2</a:t>
            </a:r>
            <a:r>
              <a:rPr lang="en-US" sz="2000" baseline="30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14</a:t>
            </a:r>
          </a:p>
          <a:p>
            <a:pPr algn="just"/>
            <a:endParaRP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algn="just"/>
            <a:r>
              <a:rPr lang="en-US"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If n=150</a:t>
            </a:r>
          </a:p>
          <a:p>
            <a:pPr algn="just"/>
            <a:endParaRP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algn="just"/>
            <a:r>
              <a:rPr lang="en-US"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E=(1/2</a:t>
            </a:r>
            <a:r>
              <a:rPr lang="en-US" sz="2000" baseline="30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14</a:t>
            </a:r>
            <a:r>
              <a:rPr lang="en-US"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000" baseline="30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150</a:t>
            </a:r>
            <a:r>
              <a:rPr lang="en-US"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p>
          <a:p>
            <a:pPr algn="just"/>
            <a:endParaRP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algn="just"/>
            <a:r>
              <a:rPr lang="en-US"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E =2</a:t>
            </a:r>
            <a:r>
              <a:rPr lang="en-US" sz="2000" baseline="30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136</a:t>
            </a:r>
            <a:r>
              <a:rPr lang="en-US"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seconds</a:t>
            </a:r>
            <a:endParaRP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extLst>
      <p:ext uri="{BB962C8B-B14F-4D97-AF65-F5344CB8AC3E}">
        <p14:creationId xmlns:p14="http://schemas.microsoft.com/office/powerpoint/2010/main" val="9555575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721"/>
        <p:cNvGrpSpPr/>
        <p:nvPr/>
      </p:nvGrpSpPr>
      <p:grpSpPr>
        <a:xfrm>
          <a:off x="0" y="0"/>
          <a:ext cx="0" cy="0"/>
          <a:chOff x="0" y="0"/>
          <a:chExt cx="0" cy="0"/>
        </a:xfrm>
      </p:grpSpPr>
      <p:sp>
        <p:nvSpPr>
          <p:cNvPr id="722" name="Google Shape;722;p113"/>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3200"/>
            </a:pPr>
            <a:r>
              <a:rPr lang="en-US" sz="3200" dirty="0">
                <a:latin typeface="Times New Roman" panose="02020603050405020304"/>
                <a:ea typeface="Times New Roman" panose="02020603050405020304"/>
                <a:cs typeface="Times New Roman" panose="02020603050405020304"/>
                <a:sym typeface="Times New Roman" panose="02020603050405020304"/>
              </a:rPr>
              <a:t>PROBLEMS ON EFFICIENCY </a:t>
            </a:r>
          </a:p>
        </p:txBody>
      </p:sp>
      <p:sp>
        <p:nvSpPr>
          <p:cNvPr id="723" name="Google Shape;723;p113"/>
          <p:cNvSpPr txBox="1">
            <a:spLocks noGrp="1"/>
          </p:cNvSpPr>
          <p:nvPr>
            <p:ph type="body" idx="1"/>
          </p:nvPr>
        </p:nvSpPr>
        <p:spPr>
          <a:xfrm>
            <a:off x="1981200" y="1600200"/>
            <a:ext cx="3886200" cy="4572000"/>
          </a:xfrm>
          <a:prstGeom prst="rect">
            <a:avLst/>
          </a:prstGeom>
          <a:noFill/>
          <a:ln>
            <a:noFill/>
          </a:ln>
        </p:spPr>
        <p:txBody>
          <a:bodyPr spcFirstLastPara="1" vert="horz" wrap="square" lIns="91425" tIns="45700" rIns="91425" bIns="45700" rtlCol="0" anchor="t" anchorCtr="0">
            <a:normAutofit/>
          </a:bodyPr>
          <a:lstStyle/>
          <a:p>
            <a:pPr marL="0" indent="0">
              <a:spcBef>
                <a:spcPts val="0"/>
              </a:spcBef>
              <a:buClr>
                <a:schemeClr val="dk1"/>
              </a:buClr>
              <a:buSzPts val="2000"/>
              <a:buNone/>
            </a:pPr>
            <a:r>
              <a:rPr lang="en-US" b="1" dirty="0">
                <a:latin typeface="Times New Roman" panose="02020603050405020304"/>
                <a:ea typeface="Times New Roman" panose="02020603050405020304"/>
                <a:cs typeface="Times New Roman" panose="02020603050405020304"/>
                <a:sym typeface="Times New Roman" panose="02020603050405020304"/>
              </a:rPr>
              <a:t>Problem 3:</a:t>
            </a:r>
            <a:endParaRPr dirty="0"/>
          </a:p>
          <a:p>
            <a:pPr marL="0" indent="0" algn="just">
              <a:spcBef>
                <a:spcPts val="400"/>
              </a:spcBef>
              <a:buClr>
                <a:schemeClr val="dk1"/>
              </a:buClr>
              <a:buSzPts val="2000"/>
              <a:buNone/>
            </a:pPr>
            <a:r>
              <a:rPr lang="en-US" dirty="0">
                <a:latin typeface="Times New Roman" panose="02020603050405020304"/>
                <a:ea typeface="Times New Roman" panose="02020603050405020304"/>
                <a:cs typeface="Times New Roman" panose="02020603050405020304"/>
                <a:sym typeface="Times New Roman" panose="02020603050405020304"/>
              </a:rPr>
              <a:t>An algorithm has an order of n</a:t>
            </a:r>
            <a:r>
              <a:rPr lang="en-US" baseline="30000" dirty="0">
                <a:latin typeface="Times New Roman" panose="02020603050405020304"/>
                <a:ea typeface="Times New Roman" panose="02020603050405020304"/>
                <a:cs typeface="Times New Roman" panose="02020603050405020304"/>
                <a:sym typeface="Times New Roman" panose="02020603050405020304"/>
              </a:rPr>
              <a:t>4</a:t>
            </a:r>
            <a:r>
              <a:rPr lang="en-US" dirty="0">
                <a:latin typeface="Times New Roman" panose="02020603050405020304"/>
                <a:ea typeface="Times New Roman" panose="02020603050405020304"/>
                <a:cs typeface="Times New Roman" panose="02020603050405020304"/>
                <a:sym typeface="Times New Roman" panose="02020603050405020304"/>
              </a:rPr>
              <a:t> and it takes 3750 seconds to solve a problem of size 5.</a:t>
            </a:r>
            <a:endParaRPr dirty="0"/>
          </a:p>
          <a:p>
            <a:pPr marL="0" indent="0" algn="just">
              <a:spcBef>
                <a:spcPts val="400"/>
              </a:spcBef>
              <a:buClr>
                <a:schemeClr val="dk1"/>
              </a:buClr>
              <a:buSzPts val="2000"/>
              <a:buNone/>
            </a:pPr>
            <a:r>
              <a:rPr lang="en-US" dirty="0">
                <a:latin typeface="Times New Roman" panose="02020603050405020304"/>
                <a:ea typeface="Times New Roman" panose="02020603050405020304"/>
                <a:cs typeface="Times New Roman" panose="02020603050405020304"/>
                <a:sym typeface="Times New Roman" panose="02020603050405020304"/>
              </a:rPr>
              <a:t>Estimate time taken to solve a problem of size 8.</a:t>
            </a:r>
            <a:endParaRPr dirty="0"/>
          </a:p>
        </p:txBody>
      </p:sp>
      <p:sp>
        <p:nvSpPr>
          <p:cNvPr id="5" name="Footer Placeholder 3"/>
          <p:cNvSpPr>
            <a:spLocks noGrp="1"/>
          </p:cNvSpPr>
          <p:nvPr>
            <p:ph type="ftr" sz="quarter" idx="11"/>
          </p:nvPr>
        </p:nvSpPr>
        <p:spPr>
          <a:xfrm>
            <a:off x="1698171" y="6356350"/>
            <a:ext cx="8871858" cy="365125"/>
          </a:xfrm>
        </p:spPr>
        <p:txBody>
          <a:bodyPr/>
          <a:lstStyle/>
          <a:p>
            <a:r>
              <a:rPr lang="en-US" dirty="0"/>
              <a:t>Slides prepared by: Prof.Nandini K, Assistant Professor, Department of CSE, </a:t>
            </a:r>
            <a:r>
              <a:rPr lang="en-US" dirty="0" err="1"/>
              <a:t>Dayananda</a:t>
            </a:r>
            <a:r>
              <a:rPr lang="en-US" dirty="0"/>
              <a:t> </a:t>
            </a:r>
            <a:r>
              <a:rPr lang="en-US" dirty="0" err="1"/>
              <a:t>Sagar</a:t>
            </a:r>
            <a:r>
              <a:rPr lang="en-US" dirty="0"/>
              <a:t> University, </a:t>
            </a:r>
            <a:r>
              <a:rPr lang="en-US" dirty="0" err="1"/>
              <a:t>Harohalli</a:t>
            </a:r>
            <a:r>
              <a:rPr lang="en-US" dirty="0"/>
              <a:t>, Karnataka.</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D199A-AED2-8BA2-AB0D-6196EAC4ACCA}"/>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F8333E9F-3290-89C9-467B-1B5B59B6A4F3}"/>
              </a:ext>
            </a:extLst>
          </p:cNvPr>
          <p:cNvSpPr>
            <a:spLocks noGrp="1"/>
          </p:cNvSpPr>
          <p:nvPr>
            <p:ph idx="1"/>
          </p:nvPr>
        </p:nvSpPr>
        <p:spPr/>
        <p:txBody>
          <a:bodyPr/>
          <a:lstStyle/>
          <a:p>
            <a:endParaRPr lang="en-IN" dirty="0"/>
          </a:p>
        </p:txBody>
      </p:sp>
      <p:sp>
        <p:nvSpPr>
          <p:cNvPr id="4" name="Footer Placeholder 3">
            <a:extLst>
              <a:ext uri="{FF2B5EF4-FFF2-40B4-BE49-F238E27FC236}">
                <a16:creationId xmlns:a16="http://schemas.microsoft.com/office/drawing/2014/main" id="{3DC22140-CD2A-70DA-D119-046BCF38BE65}"/>
              </a:ext>
            </a:extLst>
          </p:cNvPr>
          <p:cNvSpPr>
            <a:spLocks noGrp="1"/>
          </p:cNvSpPr>
          <p:nvPr>
            <p:ph type="ftr" sz="quarter" idx="11"/>
          </p:nvPr>
        </p:nvSpPr>
        <p:spPr/>
        <p:txBody>
          <a:bodyPr/>
          <a:lstStyle/>
          <a:p>
            <a:r>
              <a:rPr lang="en-US"/>
              <a:t>Slides prepared by: Prof.Nandini K, Assistant Professor, Department of CSE, Dayananda Sagar University, Harohalli, Karnataka.</a:t>
            </a:r>
            <a:endParaRPr lang="en-US" dirty="0"/>
          </a:p>
        </p:txBody>
      </p:sp>
      <p:sp>
        <p:nvSpPr>
          <p:cNvPr id="5" name="Slide Number Placeholder 4">
            <a:extLst>
              <a:ext uri="{FF2B5EF4-FFF2-40B4-BE49-F238E27FC236}">
                <a16:creationId xmlns:a16="http://schemas.microsoft.com/office/drawing/2014/main" id="{88DF5D54-F69D-405E-FF99-C54C9C106DF2}"/>
              </a:ext>
            </a:extLst>
          </p:cNvPr>
          <p:cNvSpPr>
            <a:spLocks noGrp="1"/>
          </p:cNvSpPr>
          <p:nvPr>
            <p:ph type="sldNum" sz="quarter" idx="12"/>
          </p:nvPr>
        </p:nvSpPr>
        <p:spPr/>
        <p:txBody>
          <a:bodyPr/>
          <a:lstStyle/>
          <a:p>
            <a:fld id="{5731DF9D-C219-B24D-9CD4-0503F6C036DC}" type="slidenum">
              <a:rPr lang="en-US" smtClean="0"/>
              <a:t>54</a:t>
            </a:fld>
            <a:endParaRPr lang="en-US"/>
          </a:p>
        </p:txBody>
      </p:sp>
      <p:sp>
        <p:nvSpPr>
          <p:cNvPr id="8" name="Google Shape;724;p113">
            <a:extLst>
              <a:ext uri="{FF2B5EF4-FFF2-40B4-BE49-F238E27FC236}">
                <a16:creationId xmlns:a16="http://schemas.microsoft.com/office/drawing/2014/main" id="{D5ECD45D-F1A5-95E1-AA51-2DC230390827}"/>
              </a:ext>
            </a:extLst>
          </p:cNvPr>
          <p:cNvSpPr txBox="1"/>
          <p:nvPr/>
        </p:nvSpPr>
        <p:spPr>
          <a:xfrm>
            <a:off x="6400800" y="1371601"/>
            <a:ext cx="3886200" cy="4247317"/>
          </a:xfrm>
          <a:prstGeom prst="rect">
            <a:avLst/>
          </a:prstGeom>
          <a:noFill/>
          <a:ln>
            <a:noFill/>
          </a:ln>
        </p:spPr>
        <p:txBody>
          <a:bodyPr spcFirstLastPara="1" wrap="square" lIns="91425" tIns="45700" rIns="91425" bIns="45700" anchor="t" anchorCtr="0">
            <a:spAutoFit/>
          </a:bodyPr>
          <a:lstStyle/>
          <a:p>
            <a:pPr algn="just"/>
            <a:r>
              <a:rPr lang="en-US"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Solution:</a:t>
            </a:r>
          </a:p>
          <a:p>
            <a:pPr algn="just"/>
            <a:r>
              <a:rPr lang="en-US" dirty="0">
                <a:solidFill>
                  <a:schemeClr val="dk1"/>
                </a:solidFill>
                <a:latin typeface="Times New Roman" panose="02020603050405020304"/>
                <a:ea typeface="Times New Roman" panose="02020603050405020304"/>
                <a:cs typeface="Times New Roman" panose="02020603050405020304"/>
                <a:sym typeface="Times New Roman" panose="02020603050405020304"/>
              </a:rPr>
              <a:t>E ∝n</a:t>
            </a:r>
            <a:r>
              <a:rPr lang="en-US" baseline="30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4</a:t>
            </a:r>
            <a:r>
              <a:rPr lang="en-US"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(E is proportional to n</a:t>
            </a:r>
            <a:r>
              <a:rPr lang="en-US" baseline="30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4</a:t>
            </a:r>
            <a:r>
              <a:rPr lang="en-US" dirty="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algn="just"/>
            <a:r>
              <a:rPr lang="en-US" dirty="0">
                <a:solidFill>
                  <a:schemeClr val="dk1"/>
                </a:solidFill>
                <a:latin typeface="Times New Roman" panose="02020603050405020304"/>
                <a:ea typeface="Times New Roman" panose="02020603050405020304"/>
                <a:cs typeface="Times New Roman" panose="02020603050405020304"/>
                <a:sym typeface="Times New Roman" panose="02020603050405020304"/>
              </a:rPr>
              <a:t>To remove proportionality use a constant K, so</a:t>
            </a:r>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algn="just"/>
            <a:r>
              <a:rPr lang="en-US" dirty="0">
                <a:solidFill>
                  <a:schemeClr val="dk1"/>
                </a:solidFill>
                <a:latin typeface="Times New Roman" panose="02020603050405020304"/>
                <a:ea typeface="Times New Roman" panose="02020603050405020304"/>
                <a:cs typeface="Times New Roman" panose="02020603050405020304"/>
                <a:sym typeface="Times New Roman" panose="02020603050405020304"/>
              </a:rPr>
              <a:t>E=Kn</a:t>
            </a:r>
            <a:r>
              <a:rPr lang="en-US" baseline="30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4</a:t>
            </a:r>
            <a:r>
              <a:rPr lang="en-US"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(E=3750, n=5)</a:t>
            </a:r>
          </a:p>
          <a:p>
            <a:pPr algn="just"/>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algn="just"/>
            <a:r>
              <a:rPr lang="en-US" dirty="0">
                <a:solidFill>
                  <a:schemeClr val="dk1"/>
                </a:solidFill>
                <a:latin typeface="Times New Roman" panose="02020603050405020304"/>
                <a:ea typeface="Times New Roman" panose="02020603050405020304"/>
                <a:cs typeface="Times New Roman" panose="02020603050405020304"/>
                <a:sym typeface="Times New Roman" panose="02020603050405020304"/>
              </a:rPr>
              <a:t>3750=K(5</a:t>
            </a:r>
            <a:r>
              <a:rPr lang="en-US" baseline="30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4</a:t>
            </a:r>
            <a:r>
              <a:rPr lang="en-US" dirty="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p>
          <a:p>
            <a:pPr algn="just"/>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algn="just"/>
            <a:r>
              <a:rPr lang="en-US" dirty="0">
                <a:solidFill>
                  <a:schemeClr val="dk1"/>
                </a:solidFill>
                <a:latin typeface="Times New Roman" panose="02020603050405020304"/>
                <a:ea typeface="Times New Roman" panose="02020603050405020304"/>
                <a:cs typeface="Times New Roman" panose="02020603050405020304"/>
                <a:sym typeface="Times New Roman" panose="02020603050405020304"/>
              </a:rPr>
              <a:t>K=6</a:t>
            </a:r>
          </a:p>
          <a:p>
            <a:pPr algn="just"/>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algn="just"/>
            <a:r>
              <a:rPr lang="en-US" dirty="0">
                <a:solidFill>
                  <a:schemeClr val="dk1"/>
                </a:solidFill>
                <a:latin typeface="Times New Roman" panose="02020603050405020304"/>
                <a:ea typeface="Times New Roman" panose="02020603050405020304"/>
                <a:cs typeface="Times New Roman" panose="02020603050405020304"/>
                <a:sym typeface="Times New Roman" panose="02020603050405020304"/>
              </a:rPr>
              <a:t>If n=8</a:t>
            </a:r>
          </a:p>
          <a:p>
            <a:pPr algn="just"/>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algn="just"/>
            <a:r>
              <a:rPr lang="en-US" dirty="0">
                <a:solidFill>
                  <a:schemeClr val="dk1"/>
                </a:solidFill>
                <a:latin typeface="Times New Roman" panose="02020603050405020304"/>
                <a:ea typeface="Times New Roman" panose="02020603050405020304"/>
                <a:cs typeface="Times New Roman" panose="02020603050405020304"/>
                <a:sym typeface="Times New Roman" panose="02020603050405020304"/>
              </a:rPr>
              <a:t>E=6(8</a:t>
            </a:r>
            <a:r>
              <a:rPr lang="en-US" baseline="30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4</a:t>
            </a:r>
            <a:r>
              <a:rPr lang="en-US" dirty="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p>
          <a:p>
            <a:pPr algn="just"/>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algn="just"/>
            <a:r>
              <a:rPr lang="en-US" dirty="0">
                <a:solidFill>
                  <a:schemeClr val="dk1"/>
                </a:solidFill>
                <a:latin typeface="Times New Roman" panose="02020603050405020304"/>
                <a:ea typeface="Times New Roman" panose="02020603050405020304"/>
                <a:cs typeface="Times New Roman" panose="02020603050405020304"/>
                <a:sym typeface="Times New Roman" panose="02020603050405020304"/>
              </a:rPr>
              <a:t>E =24576 seconds</a:t>
            </a:r>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extLst>
      <p:ext uri="{BB962C8B-B14F-4D97-AF65-F5344CB8AC3E}">
        <p14:creationId xmlns:p14="http://schemas.microsoft.com/office/powerpoint/2010/main" val="31063555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728"/>
        <p:cNvGrpSpPr/>
        <p:nvPr/>
      </p:nvGrpSpPr>
      <p:grpSpPr>
        <a:xfrm>
          <a:off x="0" y="0"/>
          <a:ext cx="0" cy="0"/>
          <a:chOff x="0" y="0"/>
          <a:chExt cx="0" cy="0"/>
        </a:xfrm>
      </p:grpSpPr>
      <p:sp>
        <p:nvSpPr>
          <p:cNvPr id="729" name="Google Shape;729;p114"/>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3200"/>
            </a:pPr>
            <a:r>
              <a:rPr lang="en-US" sz="3200">
                <a:latin typeface="Times New Roman" panose="02020603050405020304"/>
                <a:ea typeface="Times New Roman" panose="02020603050405020304"/>
                <a:cs typeface="Times New Roman" panose="02020603050405020304"/>
                <a:sym typeface="Times New Roman" panose="02020603050405020304"/>
              </a:rPr>
              <a:t>PROBLEMS ON EFFICIENCY </a:t>
            </a:r>
          </a:p>
        </p:txBody>
      </p:sp>
      <p:sp>
        <p:nvSpPr>
          <p:cNvPr id="730" name="Google Shape;730;p114"/>
          <p:cNvSpPr txBox="1">
            <a:spLocks noGrp="1"/>
          </p:cNvSpPr>
          <p:nvPr>
            <p:ph type="body" idx="1"/>
          </p:nvPr>
        </p:nvSpPr>
        <p:spPr>
          <a:xfrm>
            <a:off x="508000" y="1600200"/>
            <a:ext cx="5283200" cy="4572000"/>
          </a:xfrm>
          <a:prstGeom prst="rect">
            <a:avLst/>
          </a:prstGeom>
          <a:noFill/>
          <a:ln>
            <a:noFill/>
          </a:ln>
        </p:spPr>
        <p:txBody>
          <a:bodyPr spcFirstLastPara="1" vert="horz" wrap="square" lIns="91425" tIns="45700" rIns="91425" bIns="45700" rtlCol="0" anchor="t" anchorCtr="0">
            <a:normAutofit/>
          </a:bodyPr>
          <a:lstStyle/>
          <a:p>
            <a:pPr marL="0" indent="0" algn="just">
              <a:spcBef>
                <a:spcPts val="0"/>
              </a:spcBef>
              <a:buClr>
                <a:schemeClr val="dk1"/>
              </a:buClr>
              <a:buSzPts val="2000"/>
              <a:buNone/>
            </a:pPr>
            <a:r>
              <a:rPr lang="en-US" b="1" dirty="0">
                <a:latin typeface="Times New Roman" panose="02020603050405020304"/>
                <a:ea typeface="Times New Roman" panose="02020603050405020304"/>
                <a:cs typeface="Times New Roman" panose="02020603050405020304"/>
                <a:sym typeface="Times New Roman" panose="02020603050405020304"/>
              </a:rPr>
              <a:t>Problem 4:</a:t>
            </a:r>
            <a:endParaRPr dirty="0"/>
          </a:p>
          <a:p>
            <a:pPr marL="0" indent="0" algn="just">
              <a:spcBef>
                <a:spcPts val="400"/>
              </a:spcBef>
              <a:buClr>
                <a:schemeClr val="dk1"/>
              </a:buClr>
              <a:buSzPts val="2000"/>
              <a:buNone/>
            </a:pPr>
            <a:r>
              <a:rPr lang="en-US" dirty="0">
                <a:latin typeface="Times New Roman" panose="02020603050405020304"/>
                <a:ea typeface="Times New Roman" panose="02020603050405020304"/>
                <a:cs typeface="Times New Roman" panose="02020603050405020304"/>
                <a:sym typeface="Times New Roman" panose="02020603050405020304"/>
              </a:rPr>
              <a:t>An algorithm has an order n and it takes 30 seconds to solve a problem of size 3. Estimate time taken to solve a problem of size 6.</a:t>
            </a:r>
            <a:endParaRPr dirty="0"/>
          </a:p>
        </p:txBody>
      </p:sp>
      <p:sp>
        <p:nvSpPr>
          <p:cNvPr id="5" name="Footer Placeholder 3"/>
          <p:cNvSpPr>
            <a:spLocks noGrp="1"/>
          </p:cNvSpPr>
          <p:nvPr>
            <p:ph type="ftr" sz="quarter" idx="11"/>
          </p:nvPr>
        </p:nvSpPr>
        <p:spPr>
          <a:xfrm>
            <a:off x="1698171" y="6356350"/>
            <a:ext cx="8871858" cy="365125"/>
          </a:xfrm>
        </p:spPr>
        <p:txBody>
          <a:bodyPr/>
          <a:lstStyle/>
          <a:p>
            <a:r>
              <a:rPr lang="en-US" dirty="0"/>
              <a:t>Slides prepared by: Prof.Nandini K, Assistant Professor, Department of CSE, </a:t>
            </a:r>
            <a:r>
              <a:rPr lang="en-US" dirty="0" err="1"/>
              <a:t>Dayananda</a:t>
            </a:r>
            <a:r>
              <a:rPr lang="en-US" dirty="0"/>
              <a:t> </a:t>
            </a:r>
            <a:r>
              <a:rPr lang="en-US" dirty="0" err="1"/>
              <a:t>Sagar</a:t>
            </a:r>
            <a:r>
              <a:rPr lang="en-US" dirty="0"/>
              <a:t> University, </a:t>
            </a:r>
            <a:r>
              <a:rPr lang="en-US" dirty="0" err="1"/>
              <a:t>Harohalli</a:t>
            </a:r>
            <a:r>
              <a:rPr lang="en-US" dirty="0"/>
              <a:t>, Karnataka.</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0FEA8-7972-CAC8-74E5-87DC3C4E01E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D9E2AF9-1AF5-C424-E632-098C3608D5C2}"/>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E463FBC1-DA90-DEA7-5048-CB1633A8DD1A}"/>
              </a:ext>
            </a:extLst>
          </p:cNvPr>
          <p:cNvSpPr>
            <a:spLocks noGrp="1"/>
          </p:cNvSpPr>
          <p:nvPr>
            <p:ph type="ftr" sz="quarter" idx="11"/>
          </p:nvPr>
        </p:nvSpPr>
        <p:spPr/>
        <p:txBody>
          <a:bodyPr/>
          <a:lstStyle/>
          <a:p>
            <a:r>
              <a:rPr lang="en-US"/>
              <a:t>Slides prepared by: Prof.Nandini K, Assistant Professor, Department of CSE, Dayananda Sagar University, Harohalli, Karnataka.</a:t>
            </a:r>
            <a:endParaRPr lang="en-US" dirty="0"/>
          </a:p>
        </p:txBody>
      </p:sp>
      <p:sp>
        <p:nvSpPr>
          <p:cNvPr id="5" name="Slide Number Placeholder 4">
            <a:extLst>
              <a:ext uri="{FF2B5EF4-FFF2-40B4-BE49-F238E27FC236}">
                <a16:creationId xmlns:a16="http://schemas.microsoft.com/office/drawing/2014/main" id="{AE3E747B-06BE-50A2-3C49-385CDA5E24A5}"/>
              </a:ext>
            </a:extLst>
          </p:cNvPr>
          <p:cNvSpPr>
            <a:spLocks noGrp="1"/>
          </p:cNvSpPr>
          <p:nvPr>
            <p:ph type="sldNum" sz="quarter" idx="12"/>
          </p:nvPr>
        </p:nvSpPr>
        <p:spPr/>
        <p:txBody>
          <a:bodyPr/>
          <a:lstStyle/>
          <a:p>
            <a:fld id="{5731DF9D-C219-B24D-9CD4-0503F6C036DC}" type="slidenum">
              <a:rPr lang="en-US" smtClean="0"/>
              <a:t>56</a:t>
            </a:fld>
            <a:endParaRPr lang="en-US"/>
          </a:p>
        </p:txBody>
      </p:sp>
      <p:sp>
        <p:nvSpPr>
          <p:cNvPr id="731" name="Google Shape;731;p114"/>
          <p:cNvSpPr/>
          <p:nvPr/>
        </p:nvSpPr>
        <p:spPr>
          <a:xfrm>
            <a:off x="6134100" y="1690257"/>
            <a:ext cx="5234709" cy="3170099"/>
          </a:xfrm>
          <a:prstGeom prst="rect">
            <a:avLst/>
          </a:prstGeom>
          <a:noFill/>
          <a:ln>
            <a:noFill/>
          </a:ln>
        </p:spPr>
        <p:txBody>
          <a:bodyPr spcFirstLastPara="1" wrap="square" lIns="91425" tIns="45700" rIns="91425" bIns="45700" anchor="t" anchorCtr="0">
            <a:noAutofit/>
          </a:bodyPr>
          <a:lstStyle/>
          <a:p>
            <a:r>
              <a:rPr lang="en-US" sz="20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Solution:</a:t>
            </a:r>
            <a:endParaRPr dirty="0"/>
          </a:p>
          <a:p>
            <a:r>
              <a:rPr lang="en-US"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E ∝n (E is proportional to n)</a:t>
            </a:r>
            <a:endParaRP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r>
              <a:rPr lang="en-US"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To remove proportionality use a constant K, so</a:t>
            </a:r>
            <a:endParaRP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r>
              <a:rPr lang="en-US"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E=</a:t>
            </a:r>
            <a:r>
              <a:rPr lang="en-US" sz="2000"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Kn</a:t>
            </a:r>
            <a:r>
              <a:rPr lang="en-US"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(E=30, n=3)</a:t>
            </a:r>
            <a:endParaRP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r>
              <a:rPr lang="en-US"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30=K(3)</a:t>
            </a:r>
            <a:endParaRP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r>
              <a:rPr lang="en-US"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K=10</a:t>
            </a:r>
            <a:endParaRP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r>
              <a:rPr lang="en-US"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If n=6</a:t>
            </a:r>
            <a:endParaRP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r>
              <a:rPr lang="en-US"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E=10(6)</a:t>
            </a:r>
            <a:endParaRP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r>
              <a:rPr lang="en-US"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E =60 seconds</a:t>
            </a:r>
            <a:endParaRPr dirty="0"/>
          </a:p>
        </p:txBody>
      </p:sp>
    </p:spTree>
    <p:extLst>
      <p:ext uri="{BB962C8B-B14F-4D97-AF65-F5344CB8AC3E}">
        <p14:creationId xmlns:p14="http://schemas.microsoft.com/office/powerpoint/2010/main" val="216838493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735"/>
        <p:cNvGrpSpPr/>
        <p:nvPr/>
      </p:nvGrpSpPr>
      <p:grpSpPr>
        <a:xfrm>
          <a:off x="0" y="0"/>
          <a:ext cx="0" cy="0"/>
          <a:chOff x="0" y="0"/>
          <a:chExt cx="0" cy="0"/>
        </a:xfrm>
      </p:grpSpPr>
      <p:sp>
        <p:nvSpPr>
          <p:cNvPr id="736" name="Google Shape;736;p115"/>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3200"/>
            </a:pPr>
            <a:r>
              <a:rPr lang="en-US" sz="3200">
                <a:latin typeface="Times New Roman" panose="02020603050405020304"/>
                <a:ea typeface="Times New Roman" panose="02020603050405020304"/>
                <a:cs typeface="Times New Roman" panose="02020603050405020304"/>
                <a:sym typeface="Times New Roman" panose="02020603050405020304"/>
              </a:rPr>
              <a:t>PROBLEMS ON EFFICIENCY </a:t>
            </a:r>
          </a:p>
        </p:txBody>
      </p:sp>
      <p:sp>
        <p:nvSpPr>
          <p:cNvPr id="737" name="Google Shape;737;p115"/>
          <p:cNvSpPr txBox="1">
            <a:spLocks noGrp="1"/>
          </p:cNvSpPr>
          <p:nvPr>
            <p:ph type="body" idx="1"/>
          </p:nvPr>
        </p:nvSpPr>
        <p:spPr>
          <a:xfrm>
            <a:off x="443345" y="1600201"/>
            <a:ext cx="11674764" cy="4525963"/>
          </a:xfrm>
          <a:prstGeom prst="rect">
            <a:avLst/>
          </a:prstGeom>
          <a:noFill/>
          <a:ln>
            <a:noFill/>
          </a:ln>
        </p:spPr>
        <p:txBody>
          <a:bodyPr spcFirstLastPara="1" vert="horz" wrap="square" lIns="91425" tIns="45700" rIns="91425" bIns="45700" rtlCol="0" anchor="t" anchorCtr="0">
            <a:normAutofit/>
          </a:bodyPr>
          <a:lstStyle/>
          <a:p>
            <a:pPr marL="0" indent="0" algn="just">
              <a:spcBef>
                <a:spcPts val="0"/>
              </a:spcBef>
              <a:buClr>
                <a:schemeClr val="dk1"/>
              </a:buClr>
              <a:buSzPts val="2000"/>
              <a:buNone/>
            </a:pPr>
            <a:r>
              <a:rPr lang="en-US" b="1" dirty="0">
                <a:latin typeface="Times New Roman" panose="02020603050405020304"/>
                <a:ea typeface="Times New Roman" panose="02020603050405020304"/>
                <a:cs typeface="Times New Roman" panose="02020603050405020304"/>
                <a:sym typeface="Times New Roman" panose="02020603050405020304"/>
              </a:rPr>
              <a:t>Problem 5: </a:t>
            </a:r>
            <a:r>
              <a:rPr lang="en-US" dirty="0">
                <a:latin typeface="Times New Roman" panose="02020603050405020304"/>
                <a:ea typeface="Times New Roman" panose="02020603050405020304"/>
                <a:cs typeface="Times New Roman" panose="02020603050405020304"/>
                <a:sym typeface="Times New Roman" panose="02020603050405020304"/>
              </a:rPr>
              <a:t>An algorithm has order 3n and it takes 324seconds to solve a problem of size 4. Estimate the time taken to solve a problem of size 11.</a:t>
            </a:r>
            <a:endParaRPr dirty="0"/>
          </a:p>
          <a:p>
            <a:pPr marL="0" indent="0">
              <a:spcBef>
                <a:spcPts val="400"/>
              </a:spcBef>
              <a:buClr>
                <a:schemeClr val="dk1"/>
              </a:buClr>
              <a:buSzPts val="2000"/>
              <a:buNone/>
            </a:pPr>
            <a:r>
              <a:rPr lang="en-US" b="1" dirty="0">
                <a:latin typeface="Times New Roman" panose="02020603050405020304"/>
                <a:ea typeface="Times New Roman" panose="02020603050405020304"/>
                <a:cs typeface="Times New Roman" panose="02020603050405020304"/>
                <a:sym typeface="Times New Roman" panose="02020603050405020304"/>
              </a:rPr>
              <a:t>Solution:708588 Seconds</a:t>
            </a:r>
            <a:endParaRPr dirty="0"/>
          </a:p>
          <a:p>
            <a:pPr marL="0" indent="0">
              <a:spcBef>
                <a:spcPts val="420"/>
              </a:spcBef>
              <a:buClr>
                <a:schemeClr val="dk1"/>
              </a:buClr>
              <a:buSzPts val="2100"/>
              <a:buNone/>
            </a:pPr>
            <a:r>
              <a:rPr lang="en-US" sz="2100" b="1" dirty="0">
                <a:latin typeface="Times New Roman" panose="02020603050405020304"/>
                <a:ea typeface="Times New Roman" panose="02020603050405020304"/>
                <a:cs typeface="Times New Roman" panose="02020603050405020304"/>
                <a:sym typeface="Times New Roman" panose="02020603050405020304"/>
              </a:rPr>
              <a:t>Example 6: </a:t>
            </a:r>
            <a:r>
              <a:rPr lang="en-US" sz="2100" dirty="0">
                <a:latin typeface="Times New Roman" panose="02020603050405020304"/>
                <a:ea typeface="Times New Roman" panose="02020603050405020304"/>
                <a:cs typeface="Times New Roman" panose="02020603050405020304"/>
                <a:sym typeface="Times New Roman" panose="02020603050405020304"/>
              </a:rPr>
              <a:t>An algorithm has order 5n and it takes 200seconds to solve a problem of size 2. Estimate the time taken to solve a problem of size 7.</a:t>
            </a:r>
            <a:endParaRPr b="1" dirty="0">
              <a:latin typeface="Times New Roman" panose="02020603050405020304"/>
              <a:ea typeface="Times New Roman" panose="02020603050405020304"/>
              <a:cs typeface="Times New Roman" panose="02020603050405020304"/>
              <a:sym typeface="Times New Roman" panose="02020603050405020304"/>
            </a:endParaRPr>
          </a:p>
          <a:p>
            <a:pPr marL="0" indent="0">
              <a:spcBef>
                <a:spcPts val="400"/>
              </a:spcBef>
              <a:buClr>
                <a:schemeClr val="dk1"/>
              </a:buClr>
              <a:buSzPts val="2000"/>
              <a:buNone/>
            </a:pPr>
            <a:r>
              <a:rPr lang="en-US" b="1" dirty="0">
                <a:latin typeface="Times New Roman" panose="02020603050405020304"/>
                <a:ea typeface="Times New Roman" panose="02020603050405020304"/>
                <a:cs typeface="Times New Roman" panose="02020603050405020304"/>
                <a:sym typeface="Times New Roman" panose="02020603050405020304"/>
              </a:rPr>
              <a:t>Solution: 625000 Seconds</a:t>
            </a:r>
            <a:endParaRPr b="1" dirty="0">
              <a:latin typeface="Times New Roman" panose="02020603050405020304"/>
              <a:ea typeface="Times New Roman" panose="02020603050405020304"/>
              <a:cs typeface="Times New Roman" panose="02020603050405020304"/>
              <a:sym typeface="Times New Roman" panose="02020603050405020304"/>
            </a:endParaRPr>
          </a:p>
          <a:p>
            <a:pPr marL="0" indent="0">
              <a:spcBef>
                <a:spcPts val="420"/>
              </a:spcBef>
              <a:buClr>
                <a:schemeClr val="dk1"/>
              </a:buClr>
              <a:buSzPts val="2000"/>
              <a:buNone/>
            </a:pPr>
            <a:r>
              <a:rPr lang="en-US" b="1" dirty="0">
                <a:latin typeface="Times New Roman" panose="02020603050405020304"/>
                <a:ea typeface="Times New Roman" panose="02020603050405020304"/>
                <a:cs typeface="Times New Roman" panose="02020603050405020304"/>
                <a:sym typeface="Times New Roman" panose="02020603050405020304"/>
              </a:rPr>
              <a:t>Example 7: </a:t>
            </a:r>
            <a:r>
              <a:rPr lang="en-US" sz="2100" dirty="0">
                <a:latin typeface="Times New Roman" panose="02020603050405020304"/>
                <a:ea typeface="Times New Roman" panose="02020603050405020304"/>
                <a:cs typeface="Times New Roman" panose="02020603050405020304"/>
                <a:sym typeface="Times New Roman" panose="02020603050405020304"/>
              </a:rPr>
              <a:t>An algorithm has order 7n and it takes 14seconds to solve a problem of size 1. Estimate the time taken to solve a problem of size 9.</a:t>
            </a:r>
            <a:endParaRPr dirty="0"/>
          </a:p>
          <a:p>
            <a:pPr marL="0" indent="0">
              <a:spcBef>
                <a:spcPts val="400"/>
              </a:spcBef>
              <a:buClr>
                <a:schemeClr val="dk1"/>
              </a:buClr>
              <a:buSzPts val="2000"/>
              <a:buNone/>
            </a:pPr>
            <a:r>
              <a:rPr lang="en-US" b="1" dirty="0">
                <a:latin typeface="Times New Roman" panose="02020603050405020304"/>
                <a:ea typeface="Times New Roman" panose="02020603050405020304"/>
                <a:cs typeface="Times New Roman" panose="02020603050405020304"/>
                <a:sym typeface="Times New Roman" panose="02020603050405020304"/>
              </a:rPr>
              <a:t>Solution: 80707214 Seconds</a:t>
            </a:r>
            <a:endParaRPr dirty="0"/>
          </a:p>
        </p:txBody>
      </p:sp>
      <p:sp>
        <p:nvSpPr>
          <p:cNvPr id="4" name="Footer Placeholder 3"/>
          <p:cNvSpPr>
            <a:spLocks noGrp="1"/>
          </p:cNvSpPr>
          <p:nvPr>
            <p:ph type="ftr" sz="quarter" idx="11"/>
          </p:nvPr>
        </p:nvSpPr>
        <p:spPr>
          <a:xfrm>
            <a:off x="1698171" y="6356350"/>
            <a:ext cx="8871858" cy="365125"/>
          </a:xfrm>
        </p:spPr>
        <p:txBody>
          <a:bodyPr/>
          <a:lstStyle/>
          <a:p>
            <a:r>
              <a:rPr lang="en-US" dirty="0"/>
              <a:t>Slides prepared by: Prof.Nandini K, Assistant Professor, Department of CSE, </a:t>
            </a:r>
            <a:r>
              <a:rPr lang="en-US" dirty="0" err="1"/>
              <a:t>Dayananda</a:t>
            </a:r>
            <a:r>
              <a:rPr lang="en-US" dirty="0"/>
              <a:t> </a:t>
            </a:r>
            <a:r>
              <a:rPr lang="en-US" dirty="0" err="1"/>
              <a:t>Sagar</a:t>
            </a:r>
            <a:r>
              <a:rPr lang="en-US" dirty="0"/>
              <a:t> University, </a:t>
            </a:r>
            <a:r>
              <a:rPr lang="en-US" dirty="0" err="1"/>
              <a:t>Harohalli</a:t>
            </a:r>
            <a:r>
              <a:rPr lang="en-US" dirty="0"/>
              <a:t>, Karnataka.</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753"/>
        <p:cNvGrpSpPr/>
        <p:nvPr/>
      </p:nvGrpSpPr>
      <p:grpSpPr>
        <a:xfrm>
          <a:off x="0" y="0"/>
          <a:ext cx="0" cy="0"/>
          <a:chOff x="0" y="0"/>
          <a:chExt cx="0" cy="0"/>
        </a:xfrm>
      </p:grpSpPr>
      <p:sp>
        <p:nvSpPr>
          <p:cNvPr id="754" name="Google Shape;754;p118"/>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3200"/>
            </a:pPr>
            <a:r>
              <a:rPr lang="en-US" sz="3200">
                <a:latin typeface="Times New Roman" panose="02020603050405020304"/>
                <a:ea typeface="Times New Roman" panose="02020603050405020304"/>
                <a:cs typeface="Times New Roman" panose="02020603050405020304"/>
                <a:sym typeface="Times New Roman" panose="02020603050405020304"/>
              </a:rPr>
              <a:t>SUMMARY OF ASYMPTOTIC NOTATIONS </a:t>
            </a:r>
          </a:p>
        </p:txBody>
      </p:sp>
      <p:pic>
        <p:nvPicPr>
          <p:cNvPr id="755" name="Google Shape;755;p118"/>
          <p:cNvPicPr preferRelativeResize="0">
            <a:picLocks noGrp="1"/>
          </p:cNvPicPr>
          <p:nvPr>
            <p:ph type="body" idx="1"/>
          </p:nvPr>
        </p:nvPicPr>
        <p:blipFill rotWithShape="1">
          <a:blip r:embed="rId3"/>
          <a:srcRect/>
          <a:stretch>
            <a:fillRect/>
          </a:stretch>
        </p:blipFill>
        <p:spPr>
          <a:xfrm>
            <a:off x="2590801" y="1752600"/>
            <a:ext cx="7602853" cy="3925094"/>
          </a:xfrm>
          <a:prstGeom prst="rect">
            <a:avLst/>
          </a:prstGeom>
          <a:noFill/>
          <a:ln w="9525" cap="flat" cmpd="sng">
            <a:solidFill>
              <a:schemeClr val="dk1"/>
            </a:solidFill>
            <a:prstDash val="solid"/>
            <a:miter lim="800000"/>
            <a:headEnd type="none" w="sm" len="sm"/>
            <a:tailEnd type="none" w="sm" len="sm"/>
          </a:ln>
        </p:spPr>
      </p:pic>
      <p:sp>
        <p:nvSpPr>
          <p:cNvPr id="4" name="Footer Placeholder 3"/>
          <p:cNvSpPr>
            <a:spLocks noGrp="1"/>
          </p:cNvSpPr>
          <p:nvPr>
            <p:ph type="ftr" sz="quarter" idx="11"/>
          </p:nvPr>
        </p:nvSpPr>
        <p:spPr>
          <a:xfrm>
            <a:off x="1698171" y="6356350"/>
            <a:ext cx="8871858" cy="365125"/>
          </a:xfrm>
        </p:spPr>
        <p:txBody>
          <a:bodyPr/>
          <a:lstStyle/>
          <a:p>
            <a:r>
              <a:rPr lang="en-US" dirty="0"/>
              <a:t>Slides prepared by: Prof.Nandini K, Assistant Professor, Department of CSE, </a:t>
            </a:r>
            <a:r>
              <a:rPr lang="en-US" dirty="0" err="1"/>
              <a:t>Dayananda</a:t>
            </a:r>
            <a:r>
              <a:rPr lang="en-US" dirty="0"/>
              <a:t> </a:t>
            </a:r>
            <a:r>
              <a:rPr lang="en-US" dirty="0" err="1"/>
              <a:t>Sagar</a:t>
            </a:r>
            <a:r>
              <a:rPr lang="en-US" dirty="0"/>
              <a:t> University, </a:t>
            </a:r>
            <a:r>
              <a:rPr lang="en-US" dirty="0" err="1"/>
              <a:t>Harohalli</a:t>
            </a:r>
            <a:r>
              <a:rPr lang="en-US" dirty="0"/>
              <a:t>, Karnataka.</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634"/>
        <p:cNvGrpSpPr/>
        <p:nvPr/>
      </p:nvGrpSpPr>
      <p:grpSpPr>
        <a:xfrm>
          <a:off x="0" y="0"/>
          <a:ext cx="0" cy="0"/>
          <a:chOff x="0" y="0"/>
          <a:chExt cx="0" cy="0"/>
        </a:xfrm>
      </p:grpSpPr>
      <p:sp>
        <p:nvSpPr>
          <p:cNvPr id="635" name="Google Shape;635;p100"/>
          <p:cNvSpPr txBox="1">
            <a:spLocks noGrp="1"/>
          </p:cNvSpPr>
          <p:nvPr>
            <p:ph type="body" idx="1"/>
          </p:nvPr>
        </p:nvSpPr>
        <p:spPr>
          <a:xfrm>
            <a:off x="1981200" y="1600201"/>
            <a:ext cx="8229600" cy="4525963"/>
          </a:xfrm>
          <a:prstGeom prst="rect">
            <a:avLst/>
          </a:prstGeom>
          <a:noFill/>
          <a:ln>
            <a:noFill/>
          </a:ln>
        </p:spPr>
        <p:txBody>
          <a:bodyPr spcFirstLastPara="1" vert="horz" wrap="square" lIns="91425" tIns="45700" rIns="91425" bIns="45700" rtlCol="0" anchor="t" anchorCtr="0">
            <a:normAutofit/>
          </a:bodyPr>
          <a:lstStyle/>
          <a:p>
            <a:pPr marL="0" indent="0" algn="ctr">
              <a:spcBef>
                <a:spcPts val="0"/>
              </a:spcBef>
              <a:buClr>
                <a:schemeClr val="dk1"/>
              </a:buClr>
              <a:buSzPts val="2800"/>
              <a:buNone/>
            </a:pPr>
            <a:endParaRPr sz="2800" dirty="0">
              <a:latin typeface="Times New Roman" panose="02020603050405020304"/>
              <a:ea typeface="Times New Roman" panose="02020603050405020304"/>
              <a:cs typeface="Times New Roman" panose="02020603050405020304"/>
              <a:sym typeface="Times New Roman" panose="02020603050405020304"/>
            </a:endParaRPr>
          </a:p>
          <a:p>
            <a:pPr marL="0" indent="0" algn="ctr">
              <a:spcBef>
                <a:spcPts val="560"/>
              </a:spcBef>
              <a:buClr>
                <a:schemeClr val="dk1"/>
              </a:buClr>
              <a:buSzPts val="2800"/>
              <a:buNone/>
            </a:pPr>
            <a:endParaRPr sz="2800" dirty="0">
              <a:latin typeface="Times New Roman" panose="02020603050405020304"/>
              <a:ea typeface="Times New Roman" panose="02020603050405020304"/>
              <a:cs typeface="Times New Roman" panose="02020603050405020304"/>
              <a:sym typeface="Times New Roman" panose="02020603050405020304"/>
            </a:endParaRPr>
          </a:p>
          <a:p>
            <a:pPr marL="0" indent="0" algn="ctr">
              <a:spcBef>
                <a:spcPts val="560"/>
              </a:spcBef>
              <a:buClr>
                <a:schemeClr val="dk1"/>
              </a:buClr>
              <a:buSzPts val="2800"/>
              <a:buNone/>
            </a:pPr>
            <a:endParaRPr sz="2800" dirty="0">
              <a:latin typeface="Times New Roman" panose="02020603050405020304"/>
              <a:ea typeface="Times New Roman" panose="02020603050405020304"/>
              <a:cs typeface="Times New Roman" panose="02020603050405020304"/>
              <a:sym typeface="Times New Roman" panose="02020603050405020304"/>
            </a:endParaRPr>
          </a:p>
          <a:p>
            <a:pPr marL="0" indent="0" algn="ctr">
              <a:spcBef>
                <a:spcPts val="400"/>
              </a:spcBef>
              <a:buClr>
                <a:schemeClr val="dk1"/>
              </a:buClr>
              <a:buSzPts val="2000"/>
              <a:buNone/>
            </a:pPr>
            <a:r>
              <a:rPr lang="en-US" dirty="0">
                <a:latin typeface="Times New Roman" panose="02020603050405020304"/>
                <a:ea typeface="Times New Roman" panose="02020603050405020304"/>
                <a:cs typeface="Times New Roman" panose="02020603050405020304"/>
                <a:sym typeface="Times New Roman" panose="02020603050405020304"/>
              </a:rPr>
              <a:t>PROBLEMS ON ASYMPTOTIC NOTATIONS REFER CLASS NOTES. </a:t>
            </a:r>
            <a:endParaRPr dirty="0">
              <a:latin typeface="Times New Roman" panose="02020603050405020304"/>
              <a:ea typeface="Times New Roman" panose="02020603050405020304"/>
              <a:cs typeface="Times New Roman" panose="02020603050405020304"/>
              <a:sym typeface="Times New Roman" panose="02020603050405020304"/>
            </a:endParaRPr>
          </a:p>
          <a:p>
            <a:pPr marL="0" indent="0" algn="ctr">
              <a:spcBef>
                <a:spcPts val="400"/>
              </a:spcBef>
              <a:buClr>
                <a:schemeClr val="dk1"/>
              </a:buClr>
              <a:buSzPts val="2000"/>
              <a:buNone/>
            </a:pPr>
            <a:r>
              <a:rPr lang="en-US" dirty="0">
                <a:latin typeface="Times New Roman" panose="02020603050405020304"/>
                <a:ea typeface="Times New Roman" panose="02020603050405020304"/>
                <a:cs typeface="Times New Roman" panose="02020603050405020304"/>
                <a:sym typeface="Times New Roman" panose="02020603050405020304"/>
              </a:rPr>
              <a:t>Link for scanned notes:</a:t>
            </a:r>
          </a:p>
          <a:p>
            <a:pPr marL="0" indent="0" algn="ctr">
              <a:spcBef>
                <a:spcPts val="400"/>
              </a:spcBef>
              <a:buClr>
                <a:schemeClr val="dk1"/>
              </a:buClr>
              <a:buSzPts val="2000"/>
              <a:buNone/>
            </a:pPr>
            <a:r>
              <a:rPr lang="en-US" u="sng" dirty="0">
                <a:solidFill>
                  <a:schemeClr val="accent1">
                    <a:lumMod val="75000"/>
                  </a:schemeClr>
                </a:solidFill>
              </a:rPr>
              <a:t>https://drive.google.com/file/d/1Z_lPs_bJC7aTGdjgCGEXPvkUANAzb10R/view?usp=sharing</a:t>
            </a:r>
            <a:endParaRPr u="sng" dirty="0">
              <a:solidFill>
                <a:schemeClr val="accent1">
                  <a:lumMod val="75000"/>
                </a:schemeClr>
              </a:solidFill>
            </a:endParaRPr>
          </a:p>
        </p:txBody>
      </p:sp>
      <p:sp>
        <p:nvSpPr>
          <p:cNvPr id="3" name="Footer Placeholder 3"/>
          <p:cNvSpPr>
            <a:spLocks noGrp="1"/>
          </p:cNvSpPr>
          <p:nvPr>
            <p:ph type="ftr" sz="quarter" idx="11"/>
          </p:nvPr>
        </p:nvSpPr>
        <p:spPr>
          <a:xfrm>
            <a:off x="1698171" y="6356350"/>
            <a:ext cx="8871858" cy="365125"/>
          </a:xfrm>
        </p:spPr>
        <p:txBody>
          <a:bodyPr/>
          <a:lstStyle/>
          <a:p>
            <a:r>
              <a:rPr lang="en-US" dirty="0"/>
              <a:t>Slides prepared by: Prof.Nandini K, Assistant Professor, Department of CSE, </a:t>
            </a:r>
            <a:r>
              <a:rPr lang="en-US" dirty="0" err="1"/>
              <a:t>Dayananda</a:t>
            </a:r>
            <a:r>
              <a:rPr lang="en-US" dirty="0"/>
              <a:t> </a:t>
            </a:r>
            <a:r>
              <a:rPr lang="en-US" dirty="0" err="1"/>
              <a:t>Sagar</a:t>
            </a:r>
            <a:r>
              <a:rPr lang="en-US" dirty="0"/>
              <a:t> University, </a:t>
            </a:r>
            <a:r>
              <a:rPr lang="en-US" dirty="0" err="1"/>
              <a:t>Harohalli</a:t>
            </a:r>
            <a:r>
              <a:rPr lang="en-US" dirty="0"/>
              <a:t>, Karnataka.</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3201" y="344386"/>
            <a:ext cx="10815898" cy="1367041"/>
          </a:xfrm>
          <a:prstGeom prst="rect">
            <a:avLst/>
          </a:prstGeom>
        </p:spPr>
        <p:txBody>
          <a:bodyPr vert="horz" wrap="square" lIns="0" tIns="12700" rIns="0" bIns="0" rtlCol="0">
            <a:spAutoFit/>
          </a:bodyPr>
          <a:lstStyle/>
          <a:p>
            <a:pPr marL="12700">
              <a:lnSpc>
                <a:spcPct val="100000"/>
              </a:lnSpc>
              <a:spcBef>
                <a:spcPts val="100"/>
              </a:spcBef>
            </a:pPr>
            <a:r>
              <a:rPr spc="-65" dirty="0"/>
              <a:t> </a:t>
            </a:r>
            <a:r>
              <a:rPr dirty="0"/>
              <a:t>Mathematical</a:t>
            </a:r>
            <a:r>
              <a:rPr spc="-70" dirty="0"/>
              <a:t> </a:t>
            </a:r>
            <a:r>
              <a:rPr dirty="0"/>
              <a:t>Analysis</a:t>
            </a:r>
            <a:r>
              <a:rPr spc="-110" dirty="0"/>
              <a:t> </a:t>
            </a:r>
            <a:r>
              <a:rPr dirty="0"/>
              <a:t>for</a:t>
            </a:r>
            <a:r>
              <a:rPr spc="-65" dirty="0"/>
              <a:t> </a:t>
            </a:r>
            <a:r>
              <a:rPr spc="-10" dirty="0"/>
              <a:t>Non-</a:t>
            </a:r>
            <a:r>
              <a:rPr dirty="0"/>
              <a:t>Recursive</a:t>
            </a:r>
            <a:r>
              <a:rPr spc="-80" dirty="0"/>
              <a:t> </a:t>
            </a:r>
            <a:r>
              <a:rPr spc="-10" dirty="0"/>
              <a:t>Algorithms</a:t>
            </a:r>
          </a:p>
        </p:txBody>
      </p:sp>
      <p:sp>
        <p:nvSpPr>
          <p:cNvPr id="3" name="object 3"/>
          <p:cNvSpPr txBox="1">
            <a:spLocks noGrp="1"/>
          </p:cNvSpPr>
          <p:nvPr>
            <p:ph type="body" idx="1"/>
          </p:nvPr>
        </p:nvSpPr>
        <p:spPr>
          <a:xfrm>
            <a:off x="838200" y="1825625"/>
            <a:ext cx="10515600" cy="4065857"/>
          </a:xfrm>
          <a:prstGeom prst="rect">
            <a:avLst/>
          </a:prstGeom>
        </p:spPr>
        <p:txBody>
          <a:bodyPr vert="horz" wrap="square" lIns="0" tIns="13335" rIns="0" bIns="0" rtlCol="0">
            <a:spAutoFit/>
          </a:bodyPr>
          <a:lstStyle/>
          <a:p>
            <a:pPr marL="251460" indent="-238760">
              <a:lnSpc>
                <a:spcPct val="100000"/>
              </a:lnSpc>
              <a:spcBef>
                <a:spcPts val="105"/>
              </a:spcBef>
              <a:buAutoNum type="arabicPeriod"/>
              <a:tabLst>
                <a:tab pos="251460" algn="l"/>
              </a:tabLst>
            </a:pPr>
            <a:r>
              <a:rPr dirty="0"/>
              <a:t>Decide</a:t>
            </a:r>
            <a:r>
              <a:rPr spc="-55" dirty="0"/>
              <a:t> </a:t>
            </a:r>
            <a:r>
              <a:rPr dirty="0"/>
              <a:t>on</a:t>
            </a:r>
            <a:r>
              <a:rPr spc="-50" dirty="0"/>
              <a:t> </a:t>
            </a:r>
            <a:r>
              <a:rPr dirty="0"/>
              <a:t>a</a:t>
            </a:r>
            <a:r>
              <a:rPr spc="-25" dirty="0"/>
              <a:t> </a:t>
            </a:r>
            <a:r>
              <a:rPr dirty="0"/>
              <a:t>parameter</a:t>
            </a:r>
            <a:r>
              <a:rPr spc="-60" dirty="0"/>
              <a:t> </a:t>
            </a:r>
            <a:r>
              <a:rPr dirty="0"/>
              <a:t>indicating</a:t>
            </a:r>
            <a:r>
              <a:rPr spc="-40" dirty="0"/>
              <a:t> </a:t>
            </a:r>
            <a:r>
              <a:rPr dirty="0"/>
              <a:t>an</a:t>
            </a:r>
            <a:r>
              <a:rPr spc="-20" dirty="0"/>
              <a:t> </a:t>
            </a:r>
            <a:r>
              <a:rPr b="1" dirty="0">
                <a:latin typeface="Georgia" panose="02040502050405020303"/>
                <a:cs typeface="Georgia" panose="02040502050405020303"/>
              </a:rPr>
              <a:t>input’s</a:t>
            </a:r>
            <a:r>
              <a:rPr b="1" spc="-50" dirty="0">
                <a:latin typeface="Georgia" panose="02040502050405020303"/>
                <a:cs typeface="Georgia" panose="02040502050405020303"/>
              </a:rPr>
              <a:t> </a:t>
            </a:r>
            <a:r>
              <a:rPr b="1" spc="-20" dirty="0">
                <a:latin typeface="Georgia" panose="02040502050405020303"/>
                <a:cs typeface="Georgia" panose="02040502050405020303"/>
              </a:rPr>
              <a:t>size</a:t>
            </a:r>
            <a:r>
              <a:rPr lang="en-US" b="1" spc="-20" dirty="0">
                <a:latin typeface="Georgia" panose="02040502050405020303"/>
                <a:cs typeface="Georgia" panose="02040502050405020303"/>
              </a:rPr>
              <a:t>.</a:t>
            </a:r>
            <a:endParaRPr b="1" spc="-20" dirty="0">
              <a:latin typeface="Georgia" panose="02040502050405020303"/>
              <a:cs typeface="Georgia" panose="02040502050405020303"/>
            </a:endParaRPr>
          </a:p>
          <a:p>
            <a:pPr>
              <a:lnSpc>
                <a:spcPct val="100000"/>
              </a:lnSpc>
              <a:spcBef>
                <a:spcPts val="1505"/>
              </a:spcBef>
              <a:buAutoNum type="arabicPeriod"/>
            </a:pPr>
            <a:endParaRPr b="1" spc="-20" dirty="0">
              <a:latin typeface="Georgia" panose="02040502050405020303"/>
              <a:cs typeface="Georgia" panose="02040502050405020303"/>
            </a:endParaRPr>
          </a:p>
          <a:p>
            <a:pPr marL="283845" indent="-271145">
              <a:lnSpc>
                <a:spcPct val="100000"/>
              </a:lnSpc>
              <a:buAutoNum type="arabicPeriod"/>
              <a:tabLst>
                <a:tab pos="283845" algn="l"/>
              </a:tabLst>
            </a:pPr>
            <a:r>
              <a:rPr dirty="0"/>
              <a:t>Identify</a:t>
            </a:r>
            <a:r>
              <a:rPr spc="-65" dirty="0"/>
              <a:t> </a:t>
            </a:r>
            <a:r>
              <a:rPr dirty="0"/>
              <a:t>the</a:t>
            </a:r>
            <a:r>
              <a:rPr spc="-60" dirty="0"/>
              <a:t> </a:t>
            </a:r>
            <a:r>
              <a:rPr b="1" dirty="0">
                <a:latin typeface="Georgia" panose="02040502050405020303"/>
                <a:cs typeface="Georgia" panose="02040502050405020303"/>
              </a:rPr>
              <a:t>basic</a:t>
            </a:r>
            <a:r>
              <a:rPr b="1" spc="-60" dirty="0">
                <a:latin typeface="Georgia" panose="02040502050405020303"/>
                <a:cs typeface="Georgia" panose="02040502050405020303"/>
              </a:rPr>
              <a:t> </a:t>
            </a:r>
            <a:r>
              <a:rPr b="1" spc="-10" dirty="0">
                <a:latin typeface="Georgia" panose="02040502050405020303"/>
                <a:cs typeface="Georgia" panose="02040502050405020303"/>
              </a:rPr>
              <a:t>operation</a:t>
            </a:r>
            <a:r>
              <a:rPr lang="en-US" b="1" spc="-10" dirty="0">
                <a:latin typeface="Georgia" panose="02040502050405020303"/>
                <a:cs typeface="Georgia" panose="02040502050405020303"/>
              </a:rPr>
              <a:t>.</a:t>
            </a:r>
            <a:endParaRPr b="1" spc="-10" dirty="0">
              <a:latin typeface="Georgia" panose="02040502050405020303"/>
              <a:cs typeface="Georgia" panose="02040502050405020303"/>
            </a:endParaRPr>
          </a:p>
          <a:p>
            <a:pPr>
              <a:lnSpc>
                <a:spcPct val="100000"/>
              </a:lnSpc>
              <a:spcBef>
                <a:spcPts val="1510"/>
              </a:spcBef>
              <a:buAutoNum type="arabicPeriod"/>
            </a:pPr>
            <a:endParaRPr b="1" spc="-10" dirty="0">
              <a:latin typeface="Georgia" panose="02040502050405020303"/>
              <a:cs typeface="Georgia" panose="02040502050405020303"/>
            </a:endParaRPr>
          </a:p>
          <a:p>
            <a:pPr marL="281940" indent="-269240">
              <a:lnSpc>
                <a:spcPct val="100000"/>
              </a:lnSpc>
              <a:buAutoNum type="arabicPeriod"/>
              <a:tabLst>
                <a:tab pos="281940" algn="l"/>
              </a:tabLst>
            </a:pPr>
            <a:r>
              <a:rPr dirty="0"/>
              <a:t>Does</a:t>
            </a:r>
            <a:r>
              <a:rPr spc="-45" dirty="0"/>
              <a:t> </a:t>
            </a:r>
            <a:r>
              <a:rPr dirty="0"/>
              <a:t>C(n)</a:t>
            </a:r>
            <a:r>
              <a:rPr spc="-15" dirty="0"/>
              <a:t> </a:t>
            </a:r>
            <a:r>
              <a:rPr dirty="0"/>
              <a:t>depends</a:t>
            </a:r>
            <a:r>
              <a:rPr spc="-45" dirty="0"/>
              <a:t> </a:t>
            </a:r>
            <a:r>
              <a:rPr b="1" dirty="0">
                <a:latin typeface="Georgia" panose="02040502050405020303"/>
                <a:cs typeface="Georgia" panose="02040502050405020303"/>
              </a:rPr>
              <a:t>only</a:t>
            </a:r>
            <a:r>
              <a:rPr b="1" spc="-35" dirty="0">
                <a:latin typeface="Georgia" panose="02040502050405020303"/>
                <a:cs typeface="Georgia" panose="02040502050405020303"/>
              </a:rPr>
              <a:t> </a:t>
            </a:r>
            <a:r>
              <a:rPr b="1" dirty="0">
                <a:latin typeface="Georgia" panose="02040502050405020303"/>
                <a:cs typeface="Georgia" panose="02040502050405020303"/>
              </a:rPr>
              <a:t>on</a:t>
            </a:r>
            <a:r>
              <a:rPr b="1" spc="-30" dirty="0">
                <a:latin typeface="Georgia" panose="02040502050405020303"/>
                <a:cs typeface="Georgia" panose="02040502050405020303"/>
              </a:rPr>
              <a:t> </a:t>
            </a:r>
            <a:r>
              <a:rPr b="1" dirty="0">
                <a:latin typeface="Georgia" panose="02040502050405020303"/>
                <a:cs typeface="Georgia" panose="02040502050405020303"/>
              </a:rPr>
              <a:t>n</a:t>
            </a:r>
            <a:r>
              <a:rPr b="1" spc="-25" dirty="0">
                <a:latin typeface="Georgia" panose="02040502050405020303"/>
                <a:cs typeface="Georgia" panose="02040502050405020303"/>
              </a:rPr>
              <a:t> </a:t>
            </a:r>
            <a:r>
              <a:rPr dirty="0"/>
              <a:t>or</a:t>
            </a:r>
            <a:r>
              <a:rPr spc="5" dirty="0"/>
              <a:t> </a:t>
            </a:r>
            <a:r>
              <a:rPr dirty="0"/>
              <a:t>does</a:t>
            </a:r>
            <a:r>
              <a:rPr spc="-35" dirty="0"/>
              <a:t> </a:t>
            </a:r>
            <a:r>
              <a:rPr dirty="0"/>
              <a:t>it</a:t>
            </a:r>
            <a:r>
              <a:rPr spc="-35" dirty="0"/>
              <a:t> </a:t>
            </a:r>
            <a:r>
              <a:rPr dirty="0"/>
              <a:t>also</a:t>
            </a:r>
            <a:r>
              <a:rPr spc="-20" dirty="0"/>
              <a:t> </a:t>
            </a:r>
            <a:r>
              <a:rPr b="1" dirty="0">
                <a:latin typeface="Georgia" panose="02040502050405020303"/>
                <a:cs typeface="Georgia" panose="02040502050405020303"/>
              </a:rPr>
              <a:t>depend</a:t>
            </a:r>
            <a:r>
              <a:rPr b="1" spc="-50" dirty="0">
                <a:latin typeface="Georgia" panose="02040502050405020303"/>
                <a:cs typeface="Georgia" panose="02040502050405020303"/>
              </a:rPr>
              <a:t> </a:t>
            </a:r>
            <a:r>
              <a:rPr b="1" dirty="0">
                <a:latin typeface="Georgia" panose="02040502050405020303"/>
                <a:cs typeface="Georgia" panose="02040502050405020303"/>
              </a:rPr>
              <a:t>on</a:t>
            </a:r>
            <a:r>
              <a:rPr b="1" spc="-30" dirty="0">
                <a:latin typeface="Georgia" panose="02040502050405020303"/>
                <a:cs typeface="Georgia" panose="02040502050405020303"/>
              </a:rPr>
              <a:t> </a:t>
            </a:r>
            <a:r>
              <a:rPr b="1" dirty="0">
                <a:latin typeface="Georgia" panose="02040502050405020303"/>
                <a:cs typeface="Georgia" panose="02040502050405020303"/>
              </a:rPr>
              <a:t>type</a:t>
            </a:r>
            <a:r>
              <a:rPr b="1" spc="-80" dirty="0">
                <a:latin typeface="Georgia" panose="02040502050405020303"/>
                <a:cs typeface="Georgia" panose="02040502050405020303"/>
              </a:rPr>
              <a:t> </a:t>
            </a:r>
            <a:r>
              <a:rPr dirty="0"/>
              <a:t>of</a:t>
            </a:r>
            <a:r>
              <a:rPr spc="-5" dirty="0"/>
              <a:t> </a:t>
            </a:r>
            <a:r>
              <a:rPr spc="-10" dirty="0"/>
              <a:t>input?</a:t>
            </a:r>
          </a:p>
          <a:p>
            <a:pPr>
              <a:lnSpc>
                <a:spcPct val="100000"/>
              </a:lnSpc>
              <a:spcBef>
                <a:spcPts val="1510"/>
              </a:spcBef>
              <a:buAutoNum type="arabicPeriod"/>
            </a:pPr>
            <a:endParaRPr spc="-10" dirty="0"/>
          </a:p>
          <a:p>
            <a:pPr marL="327025" indent="-314325">
              <a:lnSpc>
                <a:spcPct val="100000"/>
              </a:lnSpc>
              <a:buAutoNum type="arabicPeriod"/>
              <a:tabLst>
                <a:tab pos="327025" algn="l"/>
              </a:tabLst>
            </a:pPr>
            <a:r>
              <a:rPr b="1" dirty="0">
                <a:latin typeface="Georgia" panose="02040502050405020303"/>
                <a:cs typeface="Georgia" panose="02040502050405020303"/>
              </a:rPr>
              <a:t>Set</a:t>
            </a:r>
            <a:r>
              <a:rPr b="1" spc="-25" dirty="0">
                <a:latin typeface="Georgia" panose="02040502050405020303"/>
                <a:cs typeface="Georgia" panose="02040502050405020303"/>
              </a:rPr>
              <a:t> </a:t>
            </a:r>
            <a:r>
              <a:rPr b="1" dirty="0">
                <a:latin typeface="Georgia" panose="02040502050405020303"/>
                <a:cs typeface="Georgia" panose="02040502050405020303"/>
              </a:rPr>
              <a:t>up</a:t>
            </a:r>
            <a:r>
              <a:rPr b="1" spc="-35" dirty="0">
                <a:latin typeface="Georgia" panose="02040502050405020303"/>
                <a:cs typeface="Georgia" panose="02040502050405020303"/>
              </a:rPr>
              <a:t> </a:t>
            </a:r>
            <a:r>
              <a:rPr b="1" dirty="0">
                <a:latin typeface="Georgia" panose="02040502050405020303"/>
                <a:cs typeface="Georgia" panose="02040502050405020303"/>
              </a:rPr>
              <a:t>sum</a:t>
            </a:r>
            <a:r>
              <a:rPr b="1" spc="-20" dirty="0">
                <a:latin typeface="Georgia" panose="02040502050405020303"/>
                <a:cs typeface="Georgia" panose="02040502050405020303"/>
              </a:rPr>
              <a:t> </a:t>
            </a:r>
            <a:r>
              <a:rPr dirty="0"/>
              <a:t>expressing</a:t>
            </a:r>
            <a:r>
              <a:rPr spc="-35" dirty="0"/>
              <a:t> </a:t>
            </a:r>
            <a:r>
              <a:rPr dirty="0"/>
              <a:t>the</a:t>
            </a:r>
            <a:r>
              <a:rPr spc="-70" dirty="0"/>
              <a:t> </a:t>
            </a:r>
            <a:r>
              <a:rPr dirty="0"/>
              <a:t>#</a:t>
            </a:r>
            <a:r>
              <a:rPr spc="-20" dirty="0"/>
              <a:t> </a:t>
            </a:r>
            <a:r>
              <a:rPr dirty="0"/>
              <a:t>of</a:t>
            </a:r>
            <a:r>
              <a:rPr spc="-40" dirty="0"/>
              <a:t> </a:t>
            </a:r>
            <a:r>
              <a:rPr dirty="0"/>
              <a:t>times</a:t>
            </a:r>
            <a:r>
              <a:rPr spc="-80" dirty="0"/>
              <a:t> </a:t>
            </a:r>
            <a:r>
              <a:rPr dirty="0"/>
              <a:t>basic</a:t>
            </a:r>
            <a:r>
              <a:rPr spc="-20" dirty="0"/>
              <a:t> </a:t>
            </a:r>
            <a:r>
              <a:rPr dirty="0"/>
              <a:t>operation</a:t>
            </a:r>
            <a:r>
              <a:rPr spc="-55" dirty="0"/>
              <a:t> </a:t>
            </a:r>
            <a:r>
              <a:rPr dirty="0"/>
              <a:t>is</a:t>
            </a:r>
            <a:r>
              <a:rPr spc="-20" dirty="0"/>
              <a:t> </a:t>
            </a:r>
            <a:r>
              <a:rPr spc="-10" dirty="0"/>
              <a:t>executed.</a:t>
            </a:r>
          </a:p>
          <a:p>
            <a:pPr>
              <a:lnSpc>
                <a:spcPct val="100000"/>
              </a:lnSpc>
              <a:spcBef>
                <a:spcPts val="1505"/>
              </a:spcBef>
              <a:buAutoNum type="arabicPeriod"/>
            </a:pPr>
            <a:endParaRPr spc="-10" dirty="0"/>
          </a:p>
          <a:p>
            <a:pPr marL="278130" indent="-265430">
              <a:lnSpc>
                <a:spcPct val="100000"/>
              </a:lnSpc>
              <a:buAutoNum type="arabicPeriod"/>
              <a:tabLst>
                <a:tab pos="278130" algn="l"/>
              </a:tabLst>
            </a:pPr>
            <a:r>
              <a:rPr dirty="0"/>
              <a:t>Find</a:t>
            </a:r>
            <a:r>
              <a:rPr spc="-25" dirty="0"/>
              <a:t> </a:t>
            </a:r>
            <a:r>
              <a:rPr dirty="0"/>
              <a:t>closed</a:t>
            </a:r>
            <a:r>
              <a:rPr spc="-50" dirty="0"/>
              <a:t> </a:t>
            </a:r>
            <a:r>
              <a:rPr dirty="0"/>
              <a:t>form</a:t>
            </a:r>
            <a:r>
              <a:rPr spc="-20" dirty="0"/>
              <a:t> </a:t>
            </a:r>
            <a:r>
              <a:rPr dirty="0"/>
              <a:t>for</a:t>
            </a:r>
            <a:r>
              <a:rPr spc="-15" dirty="0"/>
              <a:t> </a:t>
            </a:r>
            <a:r>
              <a:rPr dirty="0"/>
              <a:t>the</a:t>
            </a:r>
            <a:r>
              <a:rPr spc="-50" dirty="0"/>
              <a:t> </a:t>
            </a:r>
            <a:r>
              <a:rPr dirty="0"/>
              <a:t>sum</a:t>
            </a:r>
            <a:r>
              <a:rPr spc="-30" dirty="0"/>
              <a:t> </a:t>
            </a:r>
            <a:r>
              <a:rPr dirty="0"/>
              <a:t>or</a:t>
            </a:r>
            <a:r>
              <a:rPr spc="-25" dirty="0"/>
              <a:t> </a:t>
            </a:r>
            <a:r>
              <a:rPr dirty="0"/>
              <a:t>at</a:t>
            </a:r>
            <a:r>
              <a:rPr spc="-25" dirty="0"/>
              <a:t> </a:t>
            </a:r>
            <a:r>
              <a:rPr dirty="0"/>
              <a:t>least</a:t>
            </a:r>
            <a:r>
              <a:rPr spc="-25" dirty="0"/>
              <a:t> </a:t>
            </a:r>
            <a:r>
              <a:rPr dirty="0"/>
              <a:t>establish</a:t>
            </a:r>
            <a:r>
              <a:rPr spc="-50" dirty="0"/>
              <a:t> </a:t>
            </a:r>
            <a:r>
              <a:rPr dirty="0"/>
              <a:t>its</a:t>
            </a:r>
            <a:r>
              <a:rPr spc="-15" dirty="0"/>
              <a:t> </a:t>
            </a:r>
            <a:r>
              <a:rPr dirty="0"/>
              <a:t>order</a:t>
            </a:r>
            <a:r>
              <a:rPr spc="-35" dirty="0"/>
              <a:t> </a:t>
            </a:r>
            <a:r>
              <a:rPr dirty="0"/>
              <a:t>of</a:t>
            </a:r>
            <a:r>
              <a:rPr spc="-35" dirty="0"/>
              <a:t> </a:t>
            </a:r>
            <a:r>
              <a:rPr spc="-10" dirty="0"/>
              <a:t>growth</a:t>
            </a:r>
          </a:p>
        </p:txBody>
      </p:sp>
      <p:sp>
        <p:nvSpPr>
          <p:cNvPr id="4" name="Footer Placeholder 3"/>
          <p:cNvSpPr>
            <a:spLocks noGrp="1"/>
          </p:cNvSpPr>
          <p:nvPr>
            <p:ph type="ftr" sz="quarter" idx="11"/>
          </p:nvPr>
        </p:nvSpPr>
        <p:spPr>
          <a:xfrm>
            <a:off x="1698171" y="6356350"/>
            <a:ext cx="8871858" cy="365125"/>
          </a:xfrm>
        </p:spPr>
        <p:txBody>
          <a:bodyPr/>
          <a:lstStyle/>
          <a:p>
            <a:r>
              <a:rPr lang="en-US" dirty="0"/>
              <a:t>Slides prepared by: Prof.Nandini K, Assistant Professor, Department of CSE, </a:t>
            </a:r>
            <a:r>
              <a:rPr lang="en-US" dirty="0" err="1"/>
              <a:t>Dayananda</a:t>
            </a:r>
            <a:r>
              <a:rPr lang="en-US" dirty="0"/>
              <a:t> </a:t>
            </a:r>
            <a:r>
              <a:rPr lang="en-US" dirty="0" err="1"/>
              <a:t>Sagar</a:t>
            </a:r>
            <a:r>
              <a:rPr lang="en-US" dirty="0"/>
              <a:t> University, </a:t>
            </a:r>
            <a:r>
              <a:rPr lang="en-US" dirty="0" err="1"/>
              <a:t>Harohalli</a:t>
            </a:r>
            <a:r>
              <a:rPr lang="en-US" dirty="0"/>
              <a:t>, Karnataka.</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Problems</a:t>
            </a:r>
          </a:p>
        </p:txBody>
      </p:sp>
      <p:sp>
        <p:nvSpPr>
          <p:cNvPr id="3" name="object 3"/>
          <p:cNvSpPr txBox="1"/>
          <p:nvPr/>
        </p:nvSpPr>
        <p:spPr>
          <a:xfrm>
            <a:off x="154330" y="1408938"/>
            <a:ext cx="3819525" cy="2686050"/>
          </a:xfrm>
          <a:prstGeom prst="rect">
            <a:avLst/>
          </a:prstGeom>
        </p:spPr>
        <p:txBody>
          <a:bodyPr vert="horz" wrap="square" lIns="0" tIns="13335" rIns="0" bIns="0" rtlCol="0">
            <a:spAutoFit/>
          </a:bodyPr>
          <a:lstStyle/>
          <a:p>
            <a:pPr marL="469900" indent="-457200">
              <a:lnSpc>
                <a:spcPct val="100000"/>
              </a:lnSpc>
              <a:spcBef>
                <a:spcPts val="105"/>
              </a:spcBef>
              <a:buAutoNum type="arabicPeriod"/>
              <a:tabLst>
                <a:tab pos="469900" algn="l"/>
              </a:tabLst>
            </a:pPr>
            <a:r>
              <a:rPr sz="2000" dirty="0">
                <a:latin typeface="Georgia" panose="02040502050405020303"/>
                <a:cs typeface="Georgia" panose="02040502050405020303"/>
              </a:rPr>
              <a:t>Maximum</a:t>
            </a:r>
            <a:r>
              <a:rPr sz="2000" spc="-80" dirty="0">
                <a:latin typeface="Georgia" panose="02040502050405020303"/>
                <a:cs typeface="Georgia" panose="02040502050405020303"/>
              </a:rPr>
              <a:t> </a:t>
            </a:r>
            <a:r>
              <a:rPr sz="2000" dirty="0">
                <a:latin typeface="Georgia" panose="02040502050405020303"/>
                <a:cs typeface="Georgia" panose="02040502050405020303"/>
              </a:rPr>
              <a:t>of</a:t>
            </a:r>
            <a:r>
              <a:rPr sz="2000" spc="-35" dirty="0">
                <a:latin typeface="Georgia" panose="02040502050405020303"/>
                <a:cs typeface="Georgia" panose="02040502050405020303"/>
              </a:rPr>
              <a:t> </a:t>
            </a:r>
            <a:r>
              <a:rPr sz="2000" dirty="0">
                <a:latin typeface="Georgia" panose="02040502050405020303"/>
                <a:cs typeface="Georgia" panose="02040502050405020303"/>
              </a:rPr>
              <a:t>n</a:t>
            </a:r>
            <a:r>
              <a:rPr sz="2000" spc="-5" dirty="0">
                <a:latin typeface="Georgia" panose="02040502050405020303"/>
                <a:cs typeface="Georgia" panose="02040502050405020303"/>
              </a:rPr>
              <a:t> </a:t>
            </a:r>
            <a:r>
              <a:rPr sz="2000" spc="-10" dirty="0">
                <a:latin typeface="Georgia" panose="02040502050405020303"/>
                <a:cs typeface="Georgia" panose="02040502050405020303"/>
              </a:rPr>
              <a:t>elements</a:t>
            </a:r>
            <a:endParaRPr sz="2000">
              <a:latin typeface="Georgia" panose="02040502050405020303"/>
              <a:cs typeface="Georgia" panose="02040502050405020303"/>
            </a:endParaRPr>
          </a:p>
          <a:p>
            <a:pPr>
              <a:lnSpc>
                <a:spcPct val="100000"/>
              </a:lnSpc>
              <a:spcBef>
                <a:spcPts val="1505"/>
              </a:spcBef>
              <a:buFont typeface="Georgia" panose="02040502050405020303"/>
              <a:buAutoNum type="arabicPeriod"/>
            </a:pPr>
            <a:endParaRPr sz="2000">
              <a:latin typeface="Georgia" panose="02040502050405020303"/>
              <a:cs typeface="Georgia" panose="02040502050405020303"/>
            </a:endParaRPr>
          </a:p>
          <a:p>
            <a:pPr marL="527685" indent="-514985">
              <a:lnSpc>
                <a:spcPct val="100000"/>
              </a:lnSpc>
              <a:buAutoNum type="arabicPeriod"/>
              <a:tabLst>
                <a:tab pos="527685" algn="l"/>
              </a:tabLst>
            </a:pPr>
            <a:r>
              <a:rPr sz="2000" dirty="0">
                <a:latin typeface="Georgia" panose="02040502050405020303"/>
                <a:cs typeface="Georgia" panose="02040502050405020303"/>
              </a:rPr>
              <a:t>Element</a:t>
            </a:r>
            <a:r>
              <a:rPr sz="2000" spc="-90" dirty="0">
                <a:latin typeface="Georgia" panose="02040502050405020303"/>
                <a:cs typeface="Georgia" panose="02040502050405020303"/>
              </a:rPr>
              <a:t> </a:t>
            </a:r>
            <a:r>
              <a:rPr sz="2000" dirty="0">
                <a:latin typeface="Georgia" panose="02040502050405020303"/>
                <a:cs typeface="Georgia" panose="02040502050405020303"/>
              </a:rPr>
              <a:t>uniqueness</a:t>
            </a:r>
            <a:r>
              <a:rPr sz="2000" spc="-75" dirty="0">
                <a:latin typeface="Georgia" panose="02040502050405020303"/>
                <a:cs typeface="Georgia" panose="02040502050405020303"/>
              </a:rPr>
              <a:t> </a:t>
            </a:r>
            <a:r>
              <a:rPr sz="2000" spc="-10" dirty="0">
                <a:latin typeface="Georgia" panose="02040502050405020303"/>
                <a:cs typeface="Georgia" panose="02040502050405020303"/>
              </a:rPr>
              <a:t>problem</a:t>
            </a:r>
            <a:endParaRPr sz="2000">
              <a:latin typeface="Georgia" panose="02040502050405020303"/>
              <a:cs typeface="Georgia" panose="02040502050405020303"/>
            </a:endParaRPr>
          </a:p>
          <a:p>
            <a:pPr>
              <a:lnSpc>
                <a:spcPct val="100000"/>
              </a:lnSpc>
              <a:spcBef>
                <a:spcPts val="1510"/>
              </a:spcBef>
              <a:buFont typeface="Georgia" panose="02040502050405020303"/>
              <a:buAutoNum type="arabicPeriod"/>
            </a:pPr>
            <a:endParaRPr sz="2000">
              <a:latin typeface="Georgia" panose="02040502050405020303"/>
              <a:cs typeface="Georgia" panose="02040502050405020303"/>
            </a:endParaRPr>
          </a:p>
          <a:p>
            <a:pPr marL="527685" indent="-514985">
              <a:lnSpc>
                <a:spcPct val="100000"/>
              </a:lnSpc>
              <a:buAutoNum type="arabicPeriod"/>
              <a:tabLst>
                <a:tab pos="527685" algn="l"/>
              </a:tabLst>
            </a:pPr>
            <a:r>
              <a:rPr sz="2000" dirty="0">
                <a:latin typeface="Georgia" panose="02040502050405020303"/>
                <a:cs typeface="Georgia" panose="02040502050405020303"/>
              </a:rPr>
              <a:t>Matrix</a:t>
            </a:r>
            <a:r>
              <a:rPr sz="2000" spc="-55" dirty="0">
                <a:latin typeface="Georgia" panose="02040502050405020303"/>
                <a:cs typeface="Georgia" panose="02040502050405020303"/>
              </a:rPr>
              <a:t> </a:t>
            </a:r>
            <a:r>
              <a:rPr sz="2000" spc="-10" dirty="0">
                <a:latin typeface="Georgia" panose="02040502050405020303"/>
                <a:cs typeface="Georgia" panose="02040502050405020303"/>
              </a:rPr>
              <a:t>multiplication</a:t>
            </a:r>
            <a:endParaRPr sz="2000">
              <a:latin typeface="Georgia" panose="02040502050405020303"/>
              <a:cs typeface="Georgia" panose="02040502050405020303"/>
            </a:endParaRPr>
          </a:p>
          <a:p>
            <a:pPr>
              <a:lnSpc>
                <a:spcPct val="100000"/>
              </a:lnSpc>
              <a:spcBef>
                <a:spcPts val="1510"/>
              </a:spcBef>
              <a:buFont typeface="Georgia" panose="02040502050405020303"/>
              <a:buAutoNum type="arabicPeriod"/>
            </a:pPr>
            <a:endParaRPr sz="2000">
              <a:latin typeface="Georgia" panose="02040502050405020303"/>
              <a:cs typeface="Georgia" panose="02040502050405020303"/>
            </a:endParaRPr>
          </a:p>
          <a:p>
            <a:pPr marL="527685" indent="-514985">
              <a:lnSpc>
                <a:spcPct val="100000"/>
              </a:lnSpc>
              <a:buAutoNum type="arabicPeriod"/>
              <a:tabLst>
                <a:tab pos="527685" algn="l"/>
              </a:tabLst>
            </a:pPr>
            <a:r>
              <a:rPr sz="2000" dirty="0">
                <a:latin typeface="Georgia" panose="02040502050405020303"/>
                <a:cs typeface="Georgia" panose="02040502050405020303"/>
              </a:rPr>
              <a:t>Linear</a:t>
            </a:r>
            <a:r>
              <a:rPr sz="2000" spc="-80" dirty="0">
                <a:latin typeface="Georgia" panose="02040502050405020303"/>
                <a:cs typeface="Georgia" panose="02040502050405020303"/>
              </a:rPr>
              <a:t> </a:t>
            </a:r>
            <a:r>
              <a:rPr sz="2000" spc="-10" dirty="0">
                <a:latin typeface="Georgia" panose="02040502050405020303"/>
                <a:cs typeface="Georgia" panose="02040502050405020303"/>
              </a:rPr>
              <a:t>Search</a:t>
            </a:r>
            <a:endParaRPr sz="2000">
              <a:latin typeface="Georgia" panose="02040502050405020303"/>
              <a:cs typeface="Georgia" panose="02040502050405020303"/>
            </a:endParaRPr>
          </a:p>
        </p:txBody>
      </p:sp>
      <p:sp>
        <p:nvSpPr>
          <p:cNvPr id="4" name="Footer Placeholder 3"/>
          <p:cNvSpPr>
            <a:spLocks noGrp="1"/>
          </p:cNvSpPr>
          <p:nvPr>
            <p:ph type="ftr" sz="quarter" idx="11"/>
          </p:nvPr>
        </p:nvSpPr>
        <p:spPr>
          <a:xfrm>
            <a:off x="1698171" y="6365777"/>
            <a:ext cx="8871858" cy="365125"/>
          </a:xfrm>
        </p:spPr>
        <p:txBody>
          <a:bodyPr/>
          <a:lstStyle/>
          <a:p>
            <a:r>
              <a:rPr lang="en-US" dirty="0"/>
              <a:t>Slides prepared by: Prof.Nandini K, Assistant Professor, Department of CSE, </a:t>
            </a:r>
            <a:r>
              <a:rPr lang="en-US" dirty="0" err="1"/>
              <a:t>Dayananda</a:t>
            </a:r>
            <a:r>
              <a:rPr lang="en-US" dirty="0"/>
              <a:t> </a:t>
            </a:r>
            <a:r>
              <a:rPr lang="en-US" dirty="0" err="1"/>
              <a:t>Sagar</a:t>
            </a:r>
            <a:r>
              <a:rPr lang="en-US" dirty="0"/>
              <a:t> University, </a:t>
            </a:r>
            <a:r>
              <a:rPr lang="en-US" dirty="0" err="1"/>
              <a:t>Harohalli</a:t>
            </a:r>
            <a:r>
              <a:rPr lang="en-US" dirty="0"/>
              <a:t>, Karnataka.</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4330" y="471881"/>
            <a:ext cx="4287520" cy="942340"/>
          </a:xfrm>
          <a:prstGeom prst="rect">
            <a:avLst/>
          </a:prstGeom>
        </p:spPr>
        <p:txBody>
          <a:bodyPr vert="horz" wrap="square" lIns="0" tIns="12700" rIns="0" bIns="0" rtlCol="0">
            <a:spAutoFit/>
          </a:bodyPr>
          <a:lstStyle/>
          <a:p>
            <a:pPr marL="12700">
              <a:lnSpc>
                <a:spcPct val="100000"/>
              </a:lnSpc>
              <a:spcBef>
                <a:spcPts val="100"/>
              </a:spcBef>
            </a:pPr>
            <a:r>
              <a:rPr sz="2400" b="1" dirty="0">
                <a:latin typeface="Georgia" panose="02040502050405020303"/>
                <a:cs typeface="Georgia" panose="02040502050405020303"/>
              </a:rPr>
              <a:t>1.</a:t>
            </a:r>
            <a:r>
              <a:rPr sz="2400" b="1" spc="-35" dirty="0">
                <a:latin typeface="Georgia" panose="02040502050405020303"/>
                <a:cs typeface="Georgia" panose="02040502050405020303"/>
              </a:rPr>
              <a:t> </a:t>
            </a:r>
            <a:r>
              <a:rPr sz="2400" b="1" dirty="0">
                <a:latin typeface="Georgia" panose="02040502050405020303"/>
                <a:cs typeface="Georgia" panose="02040502050405020303"/>
              </a:rPr>
              <a:t>Maximum</a:t>
            </a:r>
            <a:r>
              <a:rPr sz="2400" b="1" spc="-65" dirty="0">
                <a:latin typeface="Georgia" panose="02040502050405020303"/>
                <a:cs typeface="Georgia" panose="02040502050405020303"/>
              </a:rPr>
              <a:t> </a:t>
            </a:r>
            <a:r>
              <a:rPr sz="2400" b="1" dirty="0">
                <a:latin typeface="Georgia" panose="02040502050405020303"/>
                <a:cs typeface="Georgia" panose="02040502050405020303"/>
              </a:rPr>
              <a:t>of</a:t>
            </a:r>
            <a:r>
              <a:rPr sz="2400" b="1" spc="-25" dirty="0">
                <a:latin typeface="Georgia" panose="02040502050405020303"/>
                <a:cs typeface="Georgia" panose="02040502050405020303"/>
              </a:rPr>
              <a:t> </a:t>
            </a:r>
            <a:r>
              <a:rPr sz="2400" b="1" dirty="0">
                <a:latin typeface="Georgia" panose="02040502050405020303"/>
                <a:cs typeface="Georgia" panose="02040502050405020303"/>
              </a:rPr>
              <a:t>n</a:t>
            </a:r>
            <a:r>
              <a:rPr sz="2400" b="1" spc="-30" dirty="0">
                <a:latin typeface="Georgia" panose="02040502050405020303"/>
                <a:cs typeface="Georgia" panose="02040502050405020303"/>
              </a:rPr>
              <a:t> </a:t>
            </a:r>
            <a:r>
              <a:rPr sz="2400" b="1" spc="-10" dirty="0">
                <a:latin typeface="Georgia" panose="02040502050405020303"/>
                <a:cs typeface="Georgia" panose="02040502050405020303"/>
              </a:rPr>
              <a:t>elements</a:t>
            </a:r>
            <a:endParaRPr sz="2400">
              <a:latin typeface="Georgia" panose="02040502050405020303"/>
              <a:cs typeface="Georgia" panose="02040502050405020303"/>
            </a:endParaRPr>
          </a:p>
          <a:p>
            <a:pPr marL="12700">
              <a:lnSpc>
                <a:spcPct val="100000"/>
              </a:lnSpc>
              <a:spcBef>
                <a:spcPts val="1935"/>
              </a:spcBef>
            </a:pPr>
            <a:r>
              <a:rPr sz="2000" dirty="0">
                <a:latin typeface="Georgia" panose="02040502050405020303"/>
                <a:cs typeface="Georgia" panose="02040502050405020303"/>
              </a:rPr>
              <a:t>ALGORITHM</a:t>
            </a:r>
            <a:r>
              <a:rPr sz="2000" spc="-25" dirty="0">
                <a:latin typeface="Georgia" panose="02040502050405020303"/>
                <a:cs typeface="Georgia" panose="02040502050405020303"/>
              </a:rPr>
              <a:t> </a:t>
            </a:r>
            <a:r>
              <a:rPr sz="2000" spc="-10" dirty="0">
                <a:latin typeface="Georgia" panose="02040502050405020303"/>
                <a:cs typeface="Georgia" panose="02040502050405020303"/>
              </a:rPr>
              <a:t>MaxElement(A[0..n-</a:t>
            </a:r>
            <a:r>
              <a:rPr sz="2000" spc="-25" dirty="0">
                <a:latin typeface="Georgia" panose="02040502050405020303"/>
                <a:cs typeface="Georgia" panose="02040502050405020303"/>
              </a:rPr>
              <a:t>1])</a:t>
            </a:r>
            <a:endParaRPr sz="2000">
              <a:latin typeface="Georgia" panose="02040502050405020303"/>
              <a:cs typeface="Georgia" panose="02040502050405020303"/>
            </a:endParaRPr>
          </a:p>
        </p:txBody>
      </p:sp>
      <p:sp>
        <p:nvSpPr>
          <p:cNvPr id="3" name="object 3"/>
          <p:cNvSpPr txBox="1"/>
          <p:nvPr/>
        </p:nvSpPr>
        <p:spPr>
          <a:xfrm>
            <a:off x="154330" y="1692020"/>
            <a:ext cx="3462020" cy="1550670"/>
          </a:xfrm>
          <a:prstGeom prst="rect">
            <a:avLst/>
          </a:prstGeom>
        </p:spPr>
        <p:txBody>
          <a:bodyPr vert="horz" wrap="square" lIns="0" tIns="13335" rIns="0" bIns="0" rtlCol="0">
            <a:spAutoFit/>
          </a:bodyPr>
          <a:lstStyle/>
          <a:p>
            <a:pPr marL="12700">
              <a:lnSpc>
                <a:spcPct val="100000"/>
              </a:lnSpc>
              <a:spcBef>
                <a:spcPts val="105"/>
              </a:spcBef>
            </a:pPr>
            <a:r>
              <a:rPr sz="2000" dirty="0">
                <a:latin typeface="Georgia" panose="02040502050405020303"/>
                <a:cs typeface="Georgia" panose="02040502050405020303"/>
              </a:rPr>
              <a:t>maxval</a:t>
            </a:r>
            <a:r>
              <a:rPr sz="2000" spc="-50" dirty="0">
                <a:latin typeface="Georgia" panose="02040502050405020303"/>
                <a:cs typeface="Georgia" panose="02040502050405020303"/>
              </a:rPr>
              <a:t> </a:t>
            </a:r>
            <a:r>
              <a:rPr sz="2000" dirty="0">
                <a:latin typeface="Georgia" panose="02040502050405020303"/>
                <a:cs typeface="Georgia" panose="02040502050405020303"/>
              </a:rPr>
              <a:t>&lt;-</a:t>
            </a:r>
            <a:r>
              <a:rPr sz="2000" spc="-55" dirty="0">
                <a:latin typeface="Georgia" panose="02040502050405020303"/>
                <a:cs typeface="Georgia" panose="02040502050405020303"/>
              </a:rPr>
              <a:t> </a:t>
            </a:r>
            <a:r>
              <a:rPr sz="2000" spc="-20" dirty="0">
                <a:latin typeface="Georgia" panose="02040502050405020303"/>
                <a:cs typeface="Georgia" panose="02040502050405020303"/>
              </a:rPr>
              <a:t>A[0]</a:t>
            </a:r>
            <a:endParaRPr sz="2000">
              <a:latin typeface="Georgia" panose="02040502050405020303"/>
              <a:cs typeface="Georgia" panose="02040502050405020303"/>
            </a:endParaRPr>
          </a:p>
          <a:p>
            <a:pPr marL="12700">
              <a:lnSpc>
                <a:spcPts val="2395"/>
              </a:lnSpc>
              <a:spcBef>
                <a:spcPts val="10"/>
              </a:spcBef>
            </a:pPr>
            <a:r>
              <a:rPr sz="2000" b="1" dirty="0">
                <a:latin typeface="Georgia" panose="02040502050405020303"/>
                <a:cs typeface="Georgia" panose="02040502050405020303"/>
              </a:rPr>
              <a:t>for</a:t>
            </a:r>
            <a:r>
              <a:rPr sz="2000" b="1" spc="-55" dirty="0">
                <a:latin typeface="Georgia" panose="02040502050405020303"/>
                <a:cs typeface="Georgia" panose="02040502050405020303"/>
              </a:rPr>
              <a:t> </a:t>
            </a:r>
            <a:r>
              <a:rPr sz="2000" dirty="0">
                <a:latin typeface="Georgia" panose="02040502050405020303"/>
                <a:cs typeface="Georgia" panose="02040502050405020303"/>
              </a:rPr>
              <a:t>i</a:t>
            </a:r>
            <a:r>
              <a:rPr sz="2000" spc="-10" dirty="0">
                <a:latin typeface="Georgia" panose="02040502050405020303"/>
                <a:cs typeface="Georgia" panose="02040502050405020303"/>
              </a:rPr>
              <a:t> </a:t>
            </a:r>
            <a:r>
              <a:rPr sz="2000" dirty="0">
                <a:latin typeface="Wingdings" panose="05000000000000000000"/>
                <a:cs typeface="Wingdings" panose="05000000000000000000"/>
              </a:rPr>
              <a:t></a:t>
            </a:r>
            <a:r>
              <a:rPr sz="2000" dirty="0">
                <a:latin typeface="Georgia" panose="02040502050405020303"/>
                <a:cs typeface="Georgia" panose="02040502050405020303"/>
              </a:rPr>
              <a:t>1</a:t>
            </a:r>
            <a:r>
              <a:rPr sz="2000" spc="-10" dirty="0">
                <a:latin typeface="Georgia" panose="02040502050405020303"/>
                <a:cs typeface="Georgia" panose="02040502050405020303"/>
              </a:rPr>
              <a:t> </a:t>
            </a:r>
            <a:r>
              <a:rPr sz="2000" b="1" dirty="0">
                <a:latin typeface="Georgia" panose="02040502050405020303"/>
                <a:cs typeface="Georgia" panose="02040502050405020303"/>
              </a:rPr>
              <a:t>to</a:t>
            </a:r>
            <a:r>
              <a:rPr sz="2000" b="1" spc="-30" dirty="0">
                <a:latin typeface="Georgia" panose="02040502050405020303"/>
                <a:cs typeface="Georgia" panose="02040502050405020303"/>
              </a:rPr>
              <a:t> </a:t>
            </a:r>
            <a:r>
              <a:rPr sz="2000" spc="-20" dirty="0">
                <a:latin typeface="Georgia" panose="02040502050405020303"/>
                <a:cs typeface="Georgia" panose="02040502050405020303"/>
              </a:rPr>
              <a:t>n-</a:t>
            </a:r>
            <a:r>
              <a:rPr sz="2000" dirty="0">
                <a:latin typeface="Georgia" panose="02040502050405020303"/>
                <a:cs typeface="Georgia" panose="02040502050405020303"/>
              </a:rPr>
              <a:t>1</a:t>
            </a:r>
            <a:r>
              <a:rPr sz="2000" spc="-10" dirty="0">
                <a:latin typeface="Georgia" panose="02040502050405020303"/>
                <a:cs typeface="Georgia" panose="02040502050405020303"/>
              </a:rPr>
              <a:t> </a:t>
            </a:r>
            <a:r>
              <a:rPr sz="2000" b="1" spc="-25" dirty="0">
                <a:latin typeface="Georgia" panose="02040502050405020303"/>
                <a:cs typeface="Georgia" panose="02040502050405020303"/>
              </a:rPr>
              <a:t>do</a:t>
            </a:r>
            <a:endParaRPr sz="2000">
              <a:latin typeface="Georgia" panose="02040502050405020303"/>
              <a:cs typeface="Georgia" panose="02040502050405020303"/>
            </a:endParaRPr>
          </a:p>
          <a:p>
            <a:pPr marL="927100">
              <a:lnSpc>
                <a:spcPts val="2395"/>
              </a:lnSpc>
            </a:pPr>
            <a:r>
              <a:rPr sz="2000" b="1" dirty="0">
                <a:latin typeface="Georgia" panose="02040502050405020303"/>
                <a:cs typeface="Georgia" panose="02040502050405020303"/>
              </a:rPr>
              <a:t>if</a:t>
            </a:r>
            <a:r>
              <a:rPr sz="2000" b="1" spc="-45" dirty="0">
                <a:latin typeface="Georgia" panose="02040502050405020303"/>
                <a:cs typeface="Georgia" panose="02040502050405020303"/>
              </a:rPr>
              <a:t> </a:t>
            </a:r>
            <a:r>
              <a:rPr sz="2000" dirty="0">
                <a:latin typeface="Georgia" panose="02040502050405020303"/>
                <a:cs typeface="Georgia" panose="02040502050405020303"/>
              </a:rPr>
              <a:t>A[i]</a:t>
            </a:r>
            <a:r>
              <a:rPr sz="2000" spc="-35" dirty="0">
                <a:latin typeface="Georgia" panose="02040502050405020303"/>
                <a:cs typeface="Georgia" panose="02040502050405020303"/>
              </a:rPr>
              <a:t> </a:t>
            </a:r>
            <a:r>
              <a:rPr sz="2000" dirty="0">
                <a:latin typeface="Georgia" panose="02040502050405020303"/>
                <a:cs typeface="Georgia" panose="02040502050405020303"/>
              </a:rPr>
              <a:t>&gt;</a:t>
            </a:r>
            <a:r>
              <a:rPr sz="2000" spc="-25" dirty="0">
                <a:latin typeface="Georgia" panose="02040502050405020303"/>
                <a:cs typeface="Georgia" panose="02040502050405020303"/>
              </a:rPr>
              <a:t> </a:t>
            </a:r>
            <a:r>
              <a:rPr sz="2000" spc="-10" dirty="0">
                <a:latin typeface="Georgia" panose="02040502050405020303"/>
                <a:cs typeface="Georgia" panose="02040502050405020303"/>
              </a:rPr>
              <a:t>maxval</a:t>
            </a:r>
            <a:endParaRPr sz="2000">
              <a:latin typeface="Georgia" panose="02040502050405020303"/>
              <a:cs typeface="Georgia" panose="02040502050405020303"/>
            </a:endParaRPr>
          </a:p>
          <a:p>
            <a:pPr marL="1841500">
              <a:lnSpc>
                <a:spcPct val="100000"/>
              </a:lnSpc>
            </a:pPr>
            <a:r>
              <a:rPr sz="2000" dirty="0">
                <a:latin typeface="Georgia" panose="02040502050405020303"/>
                <a:cs typeface="Georgia" panose="02040502050405020303"/>
              </a:rPr>
              <a:t>maxval</a:t>
            </a:r>
            <a:r>
              <a:rPr sz="2000" spc="-65" dirty="0">
                <a:latin typeface="Georgia" panose="02040502050405020303"/>
                <a:cs typeface="Georgia" panose="02040502050405020303"/>
              </a:rPr>
              <a:t> </a:t>
            </a:r>
            <a:r>
              <a:rPr sz="2000" dirty="0">
                <a:latin typeface="Wingdings" panose="05000000000000000000"/>
                <a:cs typeface="Wingdings" panose="05000000000000000000"/>
              </a:rPr>
              <a:t></a:t>
            </a:r>
            <a:r>
              <a:rPr sz="2000" spc="-85" dirty="0">
                <a:latin typeface="Times New Roman" panose="02020603050405020304"/>
                <a:cs typeface="Times New Roman" panose="02020603050405020304"/>
              </a:rPr>
              <a:t> </a:t>
            </a:r>
            <a:r>
              <a:rPr sz="2000" spc="-20" dirty="0">
                <a:latin typeface="Georgia" panose="02040502050405020303"/>
                <a:cs typeface="Georgia" panose="02040502050405020303"/>
              </a:rPr>
              <a:t>A[i]</a:t>
            </a:r>
            <a:endParaRPr sz="2000">
              <a:latin typeface="Georgia" panose="02040502050405020303"/>
              <a:cs typeface="Georgia" panose="02040502050405020303"/>
            </a:endParaRPr>
          </a:p>
          <a:p>
            <a:pPr marL="12700">
              <a:lnSpc>
                <a:spcPct val="100000"/>
              </a:lnSpc>
            </a:pPr>
            <a:r>
              <a:rPr sz="2000" b="1" dirty="0">
                <a:latin typeface="Georgia" panose="02040502050405020303"/>
                <a:cs typeface="Georgia" panose="02040502050405020303"/>
              </a:rPr>
              <a:t>return</a:t>
            </a:r>
            <a:r>
              <a:rPr sz="2000" b="1" spc="-105" dirty="0">
                <a:latin typeface="Georgia" panose="02040502050405020303"/>
                <a:cs typeface="Georgia" panose="02040502050405020303"/>
              </a:rPr>
              <a:t> </a:t>
            </a:r>
            <a:r>
              <a:rPr sz="2000" spc="-10" dirty="0">
                <a:latin typeface="Georgia" panose="02040502050405020303"/>
                <a:cs typeface="Georgia" panose="02040502050405020303"/>
              </a:rPr>
              <a:t>maxval</a:t>
            </a:r>
            <a:endParaRPr sz="2000">
              <a:latin typeface="Georgia" panose="02040502050405020303"/>
              <a:cs typeface="Georgia" panose="02040502050405020303"/>
            </a:endParaRPr>
          </a:p>
        </p:txBody>
      </p:sp>
      <p:sp>
        <p:nvSpPr>
          <p:cNvPr id="4" name="object 4"/>
          <p:cNvSpPr txBox="1"/>
          <p:nvPr/>
        </p:nvSpPr>
        <p:spPr>
          <a:xfrm>
            <a:off x="6480809" y="1979498"/>
            <a:ext cx="5144770" cy="878840"/>
          </a:xfrm>
          <a:prstGeom prst="rect">
            <a:avLst/>
          </a:prstGeom>
        </p:spPr>
        <p:txBody>
          <a:bodyPr vert="horz" wrap="square" lIns="0" tIns="12065" rIns="0" bIns="0" rtlCol="0">
            <a:spAutoFit/>
          </a:bodyPr>
          <a:lstStyle/>
          <a:p>
            <a:pPr marL="12700">
              <a:lnSpc>
                <a:spcPct val="100000"/>
              </a:lnSpc>
              <a:spcBef>
                <a:spcPts val="95"/>
              </a:spcBef>
            </a:pPr>
            <a:r>
              <a:rPr sz="2800" dirty="0">
                <a:solidFill>
                  <a:srgbClr val="FF0000"/>
                </a:solidFill>
                <a:latin typeface="Georgia" panose="02040502050405020303"/>
                <a:cs typeface="Georgia" panose="02040502050405020303"/>
              </a:rPr>
              <a:t>Input</a:t>
            </a:r>
            <a:r>
              <a:rPr sz="2800" spc="-90" dirty="0">
                <a:solidFill>
                  <a:srgbClr val="FF0000"/>
                </a:solidFill>
                <a:latin typeface="Georgia" panose="02040502050405020303"/>
                <a:cs typeface="Georgia" panose="02040502050405020303"/>
              </a:rPr>
              <a:t> </a:t>
            </a:r>
            <a:r>
              <a:rPr sz="2800" dirty="0">
                <a:solidFill>
                  <a:srgbClr val="FF0000"/>
                </a:solidFill>
                <a:latin typeface="Georgia" panose="02040502050405020303"/>
                <a:cs typeface="Georgia" panose="02040502050405020303"/>
              </a:rPr>
              <a:t>size:</a:t>
            </a:r>
            <a:r>
              <a:rPr sz="2800" spc="-75" dirty="0">
                <a:solidFill>
                  <a:srgbClr val="FF0000"/>
                </a:solidFill>
                <a:latin typeface="Georgia" panose="02040502050405020303"/>
                <a:cs typeface="Georgia" panose="02040502050405020303"/>
              </a:rPr>
              <a:t> </a:t>
            </a:r>
            <a:r>
              <a:rPr sz="2800" spc="-50" dirty="0">
                <a:solidFill>
                  <a:srgbClr val="FF0000"/>
                </a:solidFill>
                <a:latin typeface="Georgia" panose="02040502050405020303"/>
                <a:cs typeface="Georgia" panose="02040502050405020303"/>
              </a:rPr>
              <a:t>n</a:t>
            </a:r>
            <a:endParaRPr sz="2800">
              <a:latin typeface="Georgia" panose="02040502050405020303"/>
              <a:cs typeface="Georgia" panose="02040502050405020303"/>
            </a:endParaRPr>
          </a:p>
          <a:p>
            <a:pPr marL="12700">
              <a:lnSpc>
                <a:spcPct val="100000"/>
              </a:lnSpc>
              <a:spcBef>
                <a:spcPts val="5"/>
              </a:spcBef>
            </a:pPr>
            <a:r>
              <a:rPr sz="2800" dirty="0">
                <a:solidFill>
                  <a:srgbClr val="FF0000"/>
                </a:solidFill>
                <a:latin typeface="Georgia" panose="02040502050405020303"/>
                <a:cs typeface="Georgia" panose="02040502050405020303"/>
              </a:rPr>
              <a:t>Basic</a:t>
            </a:r>
            <a:r>
              <a:rPr sz="2800" spc="-110" dirty="0">
                <a:solidFill>
                  <a:srgbClr val="FF0000"/>
                </a:solidFill>
                <a:latin typeface="Georgia" panose="02040502050405020303"/>
                <a:cs typeface="Georgia" panose="02040502050405020303"/>
              </a:rPr>
              <a:t> </a:t>
            </a:r>
            <a:r>
              <a:rPr sz="2800" spc="-10" dirty="0">
                <a:solidFill>
                  <a:srgbClr val="FF0000"/>
                </a:solidFill>
                <a:latin typeface="Georgia" panose="02040502050405020303"/>
                <a:cs typeface="Georgia" panose="02040502050405020303"/>
              </a:rPr>
              <a:t>operation:</a:t>
            </a:r>
            <a:r>
              <a:rPr sz="2800" spc="-110" dirty="0">
                <a:solidFill>
                  <a:srgbClr val="FF0000"/>
                </a:solidFill>
                <a:latin typeface="Georgia" panose="02040502050405020303"/>
                <a:cs typeface="Georgia" panose="02040502050405020303"/>
              </a:rPr>
              <a:t> </a:t>
            </a:r>
            <a:r>
              <a:rPr sz="2800" dirty="0">
                <a:solidFill>
                  <a:srgbClr val="FF0000"/>
                </a:solidFill>
                <a:latin typeface="Georgia" panose="02040502050405020303"/>
                <a:cs typeface="Georgia" panose="02040502050405020303"/>
              </a:rPr>
              <a:t>Comparison</a:t>
            </a:r>
            <a:r>
              <a:rPr sz="2800" spc="-125" dirty="0">
                <a:solidFill>
                  <a:srgbClr val="FF0000"/>
                </a:solidFill>
                <a:latin typeface="Georgia" panose="02040502050405020303"/>
                <a:cs typeface="Georgia" panose="02040502050405020303"/>
              </a:rPr>
              <a:t> </a:t>
            </a:r>
            <a:r>
              <a:rPr sz="2800" spc="-25" dirty="0">
                <a:solidFill>
                  <a:srgbClr val="FF0000"/>
                </a:solidFill>
                <a:latin typeface="Georgia" panose="02040502050405020303"/>
                <a:cs typeface="Georgia" panose="02040502050405020303"/>
              </a:rPr>
              <a:t>(&gt;)</a:t>
            </a:r>
            <a:endParaRPr sz="2800">
              <a:latin typeface="Georgia" panose="02040502050405020303"/>
              <a:cs typeface="Georgia" panose="02040502050405020303"/>
            </a:endParaRPr>
          </a:p>
        </p:txBody>
      </p:sp>
      <p:pic>
        <p:nvPicPr>
          <p:cNvPr id="5" name="object 5"/>
          <p:cNvPicPr/>
          <p:nvPr/>
        </p:nvPicPr>
        <p:blipFill>
          <a:blip r:embed="rId2" cstate="print"/>
          <a:stretch>
            <a:fillRect/>
          </a:stretch>
        </p:blipFill>
        <p:spPr>
          <a:xfrm>
            <a:off x="6432803" y="3657600"/>
            <a:ext cx="4332732" cy="2487168"/>
          </a:xfrm>
          <a:prstGeom prst="rect">
            <a:avLst/>
          </a:prstGeom>
        </p:spPr>
      </p:pic>
      <p:sp>
        <p:nvSpPr>
          <p:cNvPr id="7" name="Footer Placeholder 3"/>
          <p:cNvSpPr>
            <a:spLocks noGrp="1"/>
          </p:cNvSpPr>
          <p:nvPr>
            <p:ph type="ftr" sz="quarter" idx="4294967295"/>
          </p:nvPr>
        </p:nvSpPr>
        <p:spPr>
          <a:xfrm>
            <a:off x="1698171" y="6365777"/>
            <a:ext cx="8871858" cy="365125"/>
          </a:xfrm>
          <a:prstGeom prst="rect">
            <a:avLst/>
          </a:prstGeom>
        </p:spPr>
        <p:txBody>
          <a:bodyPr/>
          <a:lstStyle/>
          <a:p>
            <a:pPr algn="ctr"/>
            <a:r>
              <a:rPr lang="en-US" sz="1200" dirty="0">
                <a:solidFill>
                  <a:schemeClr val="tx1">
                    <a:tint val="75000"/>
                  </a:schemeClr>
                </a:solidFill>
              </a:rPr>
              <a:t>Slides prepared by: Prof.Nandini K, Assistant Professor, Department of CSE, </a:t>
            </a:r>
            <a:r>
              <a:rPr lang="en-US" sz="1200" dirty="0" err="1">
                <a:solidFill>
                  <a:schemeClr val="tx1">
                    <a:tint val="75000"/>
                  </a:schemeClr>
                </a:solidFill>
              </a:rPr>
              <a:t>Dayananda</a:t>
            </a:r>
            <a:r>
              <a:rPr lang="en-US" sz="1200" dirty="0">
                <a:solidFill>
                  <a:schemeClr val="tx1">
                    <a:tint val="75000"/>
                  </a:schemeClr>
                </a:solidFill>
              </a:rPr>
              <a:t> </a:t>
            </a:r>
            <a:r>
              <a:rPr lang="en-US" sz="1200" dirty="0" err="1">
                <a:solidFill>
                  <a:schemeClr val="tx1">
                    <a:tint val="75000"/>
                  </a:schemeClr>
                </a:solidFill>
              </a:rPr>
              <a:t>Sagar</a:t>
            </a:r>
            <a:r>
              <a:rPr lang="en-US" sz="1200" dirty="0">
                <a:solidFill>
                  <a:schemeClr val="tx1">
                    <a:tint val="75000"/>
                  </a:schemeClr>
                </a:solidFill>
              </a:rPr>
              <a:t> University, </a:t>
            </a:r>
            <a:r>
              <a:rPr lang="en-US" sz="1200" dirty="0" err="1">
                <a:solidFill>
                  <a:schemeClr val="tx1">
                    <a:tint val="75000"/>
                  </a:schemeClr>
                </a:solidFill>
              </a:rPr>
              <a:t>Harohalli</a:t>
            </a:r>
            <a:r>
              <a:rPr lang="en-US" sz="1200" dirty="0">
                <a:solidFill>
                  <a:schemeClr val="tx1">
                    <a:tint val="75000"/>
                  </a:schemeClr>
                </a:solidFill>
              </a:rPr>
              <a:t>, Karnataka.</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2350" y="59404"/>
            <a:ext cx="7990429" cy="689932"/>
          </a:xfrm>
          <a:prstGeom prst="rect">
            <a:avLst/>
          </a:prstGeom>
        </p:spPr>
        <p:txBody>
          <a:bodyPr vert="horz" wrap="square" lIns="0" tIns="12700" rIns="0" bIns="0" rtlCol="0">
            <a:spAutoFit/>
          </a:bodyPr>
          <a:lstStyle/>
          <a:p>
            <a:pPr marL="12700">
              <a:lnSpc>
                <a:spcPct val="100000"/>
              </a:lnSpc>
              <a:spcBef>
                <a:spcPts val="100"/>
              </a:spcBef>
            </a:pPr>
            <a:r>
              <a:rPr dirty="0"/>
              <a:t>2.</a:t>
            </a:r>
            <a:r>
              <a:rPr spc="-45" dirty="0"/>
              <a:t> </a:t>
            </a:r>
            <a:r>
              <a:rPr dirty="0"/>
              <a:t>Element</a:t>
            </a:r>
            <a:r>
              <a:rPr spc="-70" dirty="0"/>
              <a:t> </a:t>
            </a:r>
            <a:r>
              <a:rPr spc="-10" dirty="0"/>
              <a:t>uniqueness</a:t>
            </a:r>
            <a:r>
              <a:rPr spc="-75" dirty="0"/>
              <a:t> </a:t>
            </a:r>
            <a:r>
              <a:rPr spc="-10" dirty="0"/>
              <a:t>problem</a:t>
            </a:r>
          </a:p>
        </p:txBody>
      </p:sp>
      <p:sp>
        <p:nvSpPr>
          <p:cNvPr id="3" name="object 3"/>
          <p:cNvSpPr txBox="1"/>
          <p:nvPr/>
        </p:nvSpPr>
        <p:spPr>
          <a:xfrm>
            <a:off x="154330" y="1082801"/>
            <a:ext cx="4730750" cy="330835"/>
          </a:xfrm>
          <a:prstGeom prst="rect">
            <a:avLst/>
          </a:prstGeom>
        </p:spPr>
        <p:txBody>
          <a:bodyPr vert="horz" wrap="square" lIns="0" tIns="13335" rIns="0" bIns="0" rtlCol="0">
            <a:spAutoFit/>
          </a:bodyPr>
          <a:lstStyle/>
          <a:p>
            <a:pPr marL="12700">
              <a:lnSpc>
                <a:spcPct val="100000"/>
              </a:lnSpc>
              <a:spcBef>
                <a:spcPts val="105"/>
              </a:spcBef>
            </a:pPr>
            <a:r>
              <a:rPr sz="2000" dirty="0">
                <a:latin typeface="Georgia" panose="02040502050405020303"/>
                <a:cs typeface="Georgia" panose="02040502050405020303"/>
              </a:rPr>
              <a:t>ALGORITHM</a:t>
            </a:r>
            <a:r>
              <a:rPr sz="2000" spc="-60" dirty="0">
                <a:latin typeface="Georgia" panose="02040502050405020303"/>
                <a:cs typeface="Georgia" panose="02040502050405020303"/>
              </a:rPr>
              <a:t> </a:t>
            </a:r>
            <a:r>
              <a:rPr sz="2000" spc="-10" dirty="0">
                <a:latin typeface="Georgia" panose="02040502050405020303"/>
                <a:cs typeface="Georgia" panose="02040502050405020303"/>
              </a:rPr>
              <a:t>UniqueElements(A[0..n-</a:t>
            </a:r>
            <a:r>
              <a:rPr sz="2000" spc="-25" dirty="0">
                <a:latin typeface="Georgia" panose="02040502050405020303"/>
                <a:cs typeface="Georgia" panose="02040502050405020303"/>
              </a:rPr>
              <a:t>1])</a:t>
            </a:r>
            <a:endParaRPr sz="2000">
              <a:latin typeface="Georgia" panose="02040502050405020303"/>
              <a:cs typeface="Georgia" panose="02040502050405020303"/>
            </a:endParaRPr>
          </a:p>
        </p:txBody>
      </p:sp>
      <p:sp>
        <p:nvSpPr>
          <p:cNvPr id="4" name="object 4"/>
          <p:cNvSpPr txBox="1"/>
          <p:nvPr/>
        </p:nvSpPr>
        <p:spPr>
          <a:xfrm>
            <a:off x="154330" y="1693545"/>
            <a:ext cx="4293235" cy="1550670"/>
          </a:xfrm>
          <a:prstGeom prst="rect">
            <a:avLst/>
          </a:prstGeom>
        </p:spPr>
        <p:txBody>
          <a:bodyPr vert="horz" wrap="square" lIns="0" tIns="13335" rIns="0" bIns="0" rtlCol="0">
            <a:spAutoFit/>
          </a:bodyPr>
          <a:lstStyle/>
          <a:p>
            <a:pPr marL="12700">
              <a:lnSpc>
                <a:spcPct val="100000"/>
              </a:lnSpc>
              <a:spcBef>
                <a:spcPts val="105"/>
              </a:spcBef>
            </a:pPr>
            <a:r>
              <a:rPr sz="2000" b="1" dirty="0">
                <a:latin typeface="Georgia" panose="02040502050405020303"/>
                <a:cs typeface="Georgia" panose="02040502050405020303"/>
              </a:rPr>
              <a:t>for</a:t>
            </a:r>
            <a:r>
              <a:rPr sz="2000" b="1" spc="-40" dirty="0">
                <a:latin typeface="Georgia" panose="02040502050405020303"/>
                <a:cs typeface="Georgia" panose="02040502050405020303"/>
              </a:rPr>
              <a:t> </a:t>
            </a:r>
            <a:r>
              <a:rPr sz="2000" dirty="0">
                <a:latin typeface="Georgia" panose="02040502050405020303"/>
                <a:cs typeface="Georgia" panose="02040502050405020303"/>
              </a:rPr>
              <a:t>i</a:t>
            </a:r>
            <a:r>
              <a:rPr sz="2000" spc="-10" dirty="0">
                <a:latin typeface="Georgia" panose="02040502050405020303"/>
                <a:cs typeface="Georgia" panose="02040502050405020303"/>
              </a:rPr>
              <a:t> </a:t>
            </a:r>
            <a:r>
              <a:rPr sz="2000" dirty="0">
                <a:latin typeface="Wingdings" panose="05000000000000000000"/>
                <a:cs typeface="Wingdings" panose="05000000000000000000"/>
              </a:rPr>
              <a:t></a:t>
            </a:r>
            <a:r>
              <a:rPr sz="2000" spc="-35" dirty="0">
                <a:latin typeface="Times New Roman" panose="02020603050405020304"/>
                <a:cs typeface="Times New Roman" panose="02020603050405020304"/>
              </a:rPr>
              <a:t> </a:t>
            </a:r>
            <a:r>
              <a:rPr sz="2000" dirty="0">
                <a:latin typeface="Georgia" panose="02040502050405020303"/>
                <a:cs typeface="Georgia" panose="02040502050405020303"/>
              </a:rPr>
              <a:t>0</a:t>
            </a:r>
            <a:r>
              <a:rPr sz="2000" spc="-20" dirty="0">
                <a:latin typeface="Georgia" panose="02040502050405020303"/>
                <a:cs typeface="Georgia" panose="02040502050405020303"/>
              </a:rPr>
              <a:t> </a:t>
            </a:r>
            <a:r>
              <a:rPr sz="2000" b="1" dirty="0">
                <a:latin typeface="Georgia" panose="02040502050405020303"/>
                <a:cs typeface="Georgia" panose="02040502050405020303"/>
              </a:rPr>
              <a:t>to</a:t>
            </a:r>
            <a:r>
              <a:rPr sz="2000" b="1" spc="-15" dirty="0">
                <a:latin typeface="Georgia" panose="02040502050405020303"/>
                <a:cs typeface="Georgia" panose="02040502050405020303"/>
              </a:rPr>
              <a:t> </a:t>
            </a:r>
            <a:r>
              <a:rPr sz="2000" spc="-20" dirty="0">
                <a:latin typeface="Georgia" panose="02040502050405020303"/>
                <a:cs typeface="Georgia" panose="02040502050405020303"/>
              </a:rPr>
              <a:t>n-</a:t>
            </a:r>
            <a:r>
              <a:rPr sz="2000" dirty="0">
                <a:latin typeface="Georgia" panose="02040502050405020303"/>
                <a:cs typeface="Georgia" panose="02040502050405020303"/>
              </a:rPr>
              <a:t>2</a:t>
            </a:r>
            <a:r>
              <a:rPr sz="2000" spc="-35" dirty="0">
                <a:latin typeface="Georgia" panose="02040502050405020303"/>
                <a:cs typeface="Georgia" panose="02040502050405020303"/>
              </a:rPr>
              <a:t> </a:t>
            </a:r>
            <a:r>
              <a:rPr sz="2000" b="1" spc="-25" dirty="0">
                <a:latin typeface="Georgia" panose="02040502050405020303"/>
                <a:cs typeface="Georgia" panose="02040502050405020303"/>
              </a:rPr>
              <a:t>do</a:t>
            </a:r>
            <a:endParaRPr sz="2000">
              <a:latin typeface="Georgia" panose="02040502050405020303"/>
              <a:cs typeface="Georgia" panose="02040502050405020303"/>
            </a:endParaRPr>
          </a:p>
          <a:p>
            <a:pPr marR="960755" algn="r">
              <a:lnSpc>
                <a:spcPct val="100000"/>
              </a:lnSpc>
            </a:pPr>
            <a:r>
              <a:rPr sz="2000" b="1" dirty="0">
                <a:latin typeface="Georgia" panose="02040502050405020303"/>
                <a:cs typeface="Georgia" panose="02040502050405020303"/>
              </a:rPr>
              <a:t>for</a:t>
            </a:r>
            <a:r>
              <a:rPr sz="2000" b="1" spc="-45" dirty="0">
                <a:latin typeface="Georgia" panose="02040502050405020303"/>
                <a:cs typeface="Georgia" panose="02040502050405020303"/>
              </a:rPr>
              <a:t> </a:t>
            </a:r>
            <a:r>
              <a:rPr sz="2000" dirty="0">
                <a:latin typeface="Georgia" panose="02040502050405020303"/>
                <a:cs typeface="Georgia" panose="02040502050405020303"/>
              </a:rPr>
              <a:t>j</a:t>
            </a:r>
            <a:r>
              <a:rPr sz="2000" spc="-10" dirty="0">
                <a:latin typeface="Georgia" panose="02040502050405020303"/>
                <a:cs typeface="Georgia" panose="02040502050405020303"/>
              </a:rPr>
              <a:t> </a:t>
            </a:r>
            <a:r>
              <a:rPr sz="2000" dirty="0">
                <a:latin typeface="Wingdings" panose="05000000000000000000"/>
                <a:cs typeface="Wingdings" panose="05000000000000000000"/>
              </a:rPr>
              <a:t></a:t>
            </a:r>
            <a:r>
              <a:rPr sz="2000" spc="-25" dirty="0">
                <a:latin typeface="Times New Roman" panose="02020603050405020304"/>
                <a:cs typeface="Times New Roman" panose="02020603050405020304"/>
              </a:rPr>
              <a:t> </a:t>
            </a:r>
            <a:r>
              <a:rPr sz="2000" dirty="0">
                <a:latin typeface="Georgia" panose="02040502050405020303"/>
                <a:cs typeface="Georgia" panose="02040502050405020303"/>
              </a:rPr>
              <a:t>i+1</a:t>
            </a:r>
            <a:r>
              <a:rPr sz="2000" spc="-20" dirty="0">
                <a:latin typeface="Georgia" panose="02040502050405020303"/>
                <a:cs typeface="Georgia" panose="02040502050405020303"/>
              </a:rPr>
              <a:t> </a:t>
            </a:r>
            <a:r>
              <a:rPr sz="2000" b="1" dirty="0">
                <a:latin typeface="Georgia" panose="02040502050405020303"/>
                <a:cs typeface="Georgia" panose="02040502050405020303"/>
              </a:rPr>
              <a:t>to</a:t>
            </a:r>
            <a:r>
              <a:rPr sz="2000" b="1" spc="-15" dirty="0">
                <a:latin typeface="Georgia" panose="02040502050405020303"/>
                <a:cs typeface="Georgia" panose="02040502050405020303"/>
              </a:rPr>
              <a:t> </a:t>
            </a:r>
            <a:r>
              <a:rPr sz="2000" spc="-20" dirty="0">
                <a:latin typeface="Georgia" panose="02040502050405020303"/>
                <a:cs typeface="Georgia" panose="02040502050405020303"/>
              </a:rPr>
              <a:t>n-</a:t>
            </a:r>
            <a:r>
              <a:rPr sz="2000" dirty="0">
                <a:latin typeface="Georgia" panose="02040502050405020303"/>
                <a:cs typeface="Georgia" panose="02040502050405020303"/>
              </a:rPr>
              <a:t>1</a:t>
            </a:r>
            <a:r>
              <a:rPr sz="2000" spc="-10" dirty="0">
                <a:latin typeface="Georgia" panose="02040502050405020303"/>
                <a:cs typeface="Georgia" panose="02040502050405020303"/>
              </a:rPr>
              <a:t> </a:t>
            </a:r>
            <a:r>
              <a:rPr sz="2000" b="1" spc="-25" dirty="0">
                <a:latin typeface="Georgia" panose="02040502050405020303"/>
                <a:cs typeface="Georgia" panose="02040502050405020303"/>
              </a:rPr>
              <a:t>do</a:t>
            </a:r>
            <a:endParaRPr sz="2000">
              <a:latin typeface="Georgia" panose="02040502050405020303"/>
              <a:cs typeface="Georgia" panose="02040502050405020303"/>
            </a:endParaRPr>
          </a:p>
          <a:p>
            <a:pPr marR="1023620" algn="r">
              <a:lnSpc>
                <a:spcPct val="100000"/>
              </a:lnSpc>
            </a:pPr>
            <a:r>
              <a:rPr sz="2000" b="1" dirty="0">
                <a:latin typeface="Georgia" panose="02040502050405020303"/>
                <a:cs typeface="Georgia" panose="02040502050405020303"/>
              </a:rPr>
              <a:t>if</a:t>
            </a:r>
            <a:r>
              <a:rPr sz="2000" b="1" spc="-45" dirty="0">
                <a:latin typeface="Georgia" panose="02040502050405020303"/>
                <a:cs typeface="Georgia" panose="02040502050405020303"/>
              </a:rPr>
              <a:t> </a:t>
            </a:r>
            <a:r>
              <a:rPr sz="2000" dirty="0">
                <a:latin typeface="Georgia" panose="02040502050405020303"/>
                <a:cs typeface="Georgia" panose="02040502050405020303"/>
              </a:rPr>
              <a:t>A[i]</a:t>
            </a:r>
            <a:r>
              <a:rPr sz="2000" spc="-35" dirty="0">
                <a:latin typeface="Georgia" panose="02040502050405020303"/>
                <a:cs typeface="Georgia" panose="02040502050405020303"/>
              </a:rPr>
              <a:t> </a:t>
            </a:r>
            <a:r>
              <a:rPr sz="2000" dirty="0">
                <a:latin typeface="Georgia" panose="02040502050405020303"/>
                <a:cs typeface="Georgia" panose="02040502050405020303"/>
              </a:rPr>
              <a:t>=</a:t>
            </a:r>
            <a:r>
              <a:rPr sz="2000" spc="-25" dirty="0">
                <a:latin typeface="Georgia" panose="02040502050405020303"/>
                <a:cs typeface="Georgia" panose="02040502050405020303"/>
              </a:rPr>
              <a:t> </a:t>
            </a:r>
            <a:r>
              <a:rPr sz="2000" spc="-20" dirty="0">
                <a:latin typeface="Georgia" panose="02040502050405020303"/>
                <a:cs typeface="Georgia" panose="02040502050405020303"/>
              </a:rPr>
              <a:t>A[j]</a:t>
            </a:r>
            <a:endParaRPr sz="2000">
              <a:latin typeface="Georgia" panose="02040502050405020303"/>
              <a:cs typeface="Georgia" panose="02040502050405020303"/>
            </a:endParaRPr>
          </a:p>
          <a:p>
            <a:pPr marL="2755900">
              <a:lnSpc>
                <a:spcPct val="100000"/>
              </a:lnSpc>
            </a:pPr>
            <a:r>
              <a:rPr sz="2000" b="1" dirty="0">
                <a:latin typeface="Georgia" panose="02040502050405020303"/>
                <a:cs typeface="Georgia" panose="02040502050405020303"/>
              </a:rPr>
              <a:t>return</a:t>
            </a:r>
            <a:r>
              <a:rPr sz="2000" b="1" spc="-120" dirty="0">
                <a:latin typeface="Georgia" panose="02040502050405020303"/>
                <a:cs typeface="Georgia" panose="02040502050405020303"/>
              </a:rPr>
              <a:t> </a:t>
            </a:r>
            <a:r>
              <a:rPr sz="2000" b="1" spc="-10" dirty="0">
                <a:latin typeface="Georgia" panose="02040502050405020303"/>
                <a:cs typeface="Georgia" panose="02040502050405020303"/>
              </a:rPr>
              <a:t>false</a:t>
            </a:r>
            <a:endParaRPr sz="2000">
              <a:latin typeface="Georgia" panose="02040502050405020303"/>
              <a:cs typeface="Georgia" panose="02040502050405020303"/>
            </a:endParaRPr>
          </a:p>
          <a:p>
            <a:pPr marL="12700">
              <a:lnSpc>
                <a:spcPct val="100000"/>
              </a:lnSpc>
            </a:pPr>
            <a:r>
              <a:rPr sz="2000" b="1" dirty="0">
                <a:latin typeface="Georgia" panose="02040502050405020303"/>
                <a:cs typeface="Georgia" panose="02040502050405020303"/>
              </a:rPr>
              <a:t>return</a:t>
            </a:r>
            <a:r>
              <a:rPr sz="2000" b="1" spc="-105" dirty="0">
                <a:latin typeface="Georgia" panose="02040502050405020303"/>
                <a:cs typeface="Georgia" panose="02040502050405020303"/>
              </a:rPr>
              <a:t> </a:t>
            </a:r>
            <a:r>
              <a:rPr sz="2000" b="1" spc="-20" dirty="0">
                <a:latin typeface="Georgia" panose="02040502050405020303"/>
                <a:cs typeface="Georgia" panose="02040502050405020303"/>
              </a:rPr>
              <a:t>true</a:t>
            </a:r>
            <a:endParaRPr sz="2000">
              <a:latin typeface="Georgia" panose="02040502050405020303"/>
              <a:cs typeface="Georgia" panose="02040502050405020303"/>
            </a:endParaRPr>
          </a:p>
        </p:txBody>
      </p:sp>
      <p:sp>
        <p:nvSpPr>
          <p:cNvPr id="5" name="object 5"/>
          <p:cNvSpPr txBox="1"/>
          <p:nvPr/>
        </p:nvSpPr>
        <p:spPr>
          <a:xfrm>
            <a:off x="6404609" y="761746"/>
            <a:ext cx="5146040" cy="878840"/>
          </a:xfrm>
          <a:prstGeom prst="rect">
            <a:avLst/>
          </a:prstGeom>
        </p:spPr>
        <p:txBody>
          <a:bodyPr vert="horz" wrap="square" lIns="0" tIns="12065" rIns="0" bIns="0" rtlCol="0">
            <a:spAutoFit/>
          </a:bodyPr>
          <a:lstStyle/>
          <a:p>
            <a:pPr marL="12700">
              <a:lnSpc>
                <a:spcPct val="100000"/>
              </a:lnSpc>
              <a:spcBef>
                <a:spcPts val="95"/>
              </a:spcBef>
            </a:pPr>
            <a:r>
              <a:rPr sz="2800" dirty="0">
                <a:solidFill>
                  <a:srgbClr val="FF0000"/>
                </a:solidFill>
                <a:latin typeface="Georgia" panose="02040502050405020303"/>
                <a:cs typeface="Georgia" panose="02040502050405020303"/>
              </a:rPr>
              <a:t>Input</a:t>
            </a:r>
            <a:r>
              <a:rPr sz="2800" spc="-125" dirty="0">
                <a:solidFill>
                  <a:srgbClr val="FF0000"/>
                </a:solidFill>
                <a:latin typeface="Georgia" panose="02040502050405020303"/>
                <a:cs typeface="Georgia" panose="02040502050405020303"/>
              </a:rPr>
              <a:t> </a:t>
            </a:r>
            <a:r>
              <a:rPr sz="2800" dirty="0">
                <a:solidFill>
                  <a:srgbClr val="FF0000"/>
                </a:solidFill>
                <a:latin typeface="Georgia" panose="02040502050405020303"/>
                <a:cs typeface="Georgia" panose="02040502050405020303"/>
              </a:rPr>
              <a:t>size:</a:t>
            </a:r>
            <a:r>
              <a:rPr sz="2800" spc="-105" dirty="0">
                <a:solidFill>
                  <a:srgbClr val="FF0000"/>
                </a:solidFill>
                <a:latin typeface="Georgia" panose="02040502050405020303"/>
                <a:cs typeface="Georgia" panose="02040502050405020303"/>
              </a:rPr>
              <a:t> </a:t>
            </a:r>
            <a:r>
              <a:rPr sz="2800" spc="-50" dirty="0">
                <a:solidFill>
                  <a:srgbClr val="FF0000"/>
                </a:solidFill>
                <a:latin typeface="Georgia" panose="02040502050405020303"/>
                <a:cs typeface="Georgia" panose="02040502050405020303"/>
              </a:rPr>
              <a:t>n</a:t>
            </a:r>
            <a:endParaRPr sz="2800">
              <a:latin typeface="Georgia" panose="02040502050405020303"/>
              <a:cs typeface="Georgia" panose="02040502050405020303"/>
            </a:endParaRPr>
          </a:p>
          <a:p>
            <a:pPr marL="12700">
              <a:lnSpc>
                <a:spcPct val="100000"/>
              </a:lnSpc>
            </a:pPr>
            <a:r>
              <a:rPr sz="2800" dirty="0">
                <a:solidFill>
                  <a:srgbClr val="FF0000"/>
                </a:solidFill>
                <a:latin typeface="Georgia" panose="02040502050405020303"/>
                <a:cs typeface="Georgia" panose="02040502050405020303"/>
              </a:rPr>
              <a:t>Basic</a:t>
            </a:r>
            <a:r>
              <a:rPr sz="2800" spc="-105" dirty="0">
                <a:solidFill>
                  <a:srgbClr val="FF0000"/>
                </a:solidFill>
                <a:latin typeface="Georgia" panose="02040502050405020303"/>
                <a:cs typeface="Georgia" panose="02040502050405020303"/>
              </a:rPr>
              <a:t> </a:t>
            </a:r>
            <a:r>
              <a:rPr sz="2800" spc="-10" dirty="0">
                <a:solidFill>
                  <a:srgbClr val="FF0000"/>
                </a:solidFill>
                <a:latin typeface="Georgia" panose="02040502050405020303"/>
                <a:cs typeface="Georgia" panose="02040502050405020303"/>
              </a:rPr>
              <a:t>operation:</a:t>
            </a:r>
            <a:r>
              <a:rPr sz="2800" spc="-130" dirty="0">
                <a:solidFill>
                  <a:srgbClr val="FF0000"/>
                </a:solidFill>
                <a:latin typeface="Georgia" panose="02040502050405020303"/>
                <a:cs typeface="Georgia" panose="02040502050405020303"/>
              </a:rPr>
              <a:t> </a:t>
            </a:r>
            <a:r>
              <a:rPr sz="2800" dirty="0">
                <a:solidFill>
                  <a:srgbClr val="FF0000"/>
                </a:solidFill>
                <a:latin typeface="Georgia" panose="02040502050405020303"/>
                <a:cs typeface="Georgia" panose="02040502050405020303"/>
              </a:rPr>
              <a:t>Comparison</a:t>
            </a:r>
            <a:r>
              <a:rPr sz="2800" spc="-105" dirty="0">
                <a:solidFill>
                  <a:srgbClr val="FF0000"/>
                </a:solidFill>
                <a:latin typeface="Georgia" panose="02040502050405020303"/>
                <a:cs typeface="Georgia" panose="02040502050405020303"/>
              </a:rPr>
              <a:t> </a:t>
            </a:r>
            <a:r>
              <a:rPr sz="2800" spc="-25" dirty="0">
                <a:solidFill>
                  <a:srgbClr val="FF0000"/>
                </a:solidFill>
                <a:latin typeface="Georgia" panose="02040502050405020303"/>
                <a:cs typeface="Georgia" panose="02040502050405020303"/>
              </a:rPr>
              <a:t>(=)</a:t>
            </a:r>
            <a:endParaRPr sz="2800">
              <a:latin typeface="Georgia" panose="02040502050405020303"/>
              <a:cs typeface="Georgia" panose="02040502050405020303"/>
            </a:endParaRPr>
          </a:p>
        </p:txBody>
      </p:sp>
      <p:pic>
        <p:nvPicPr>
          <p:cNvPr id="6" name="object 6"/>
          <p:cNvPicPr/>
          <p:nvPr/>
        </p:nvPicPr>
        <p:blipFill>
          <a:blip r:embed="rId2" cstate="print"/>
          <a:stretch>
            <a:fillRect/>
          </a:stretch>
        </p:blipFill>
        <p:spPr>
          <a:xfrm>
            <a:off x="6315132" y="1640586"/>
            <a:ext cx="5462016" cy="4674620"/>
          </a:xfrm>
          <a:prstGeom prst="rect">
            <a:avLst/>
          </a:prstGeom>
        </p:spPr>
      </p:pic>
      <p:sp>
        <p:nvSpPr>
          <p:cNvPr id="7" name="Footer Placeholder 3"/>
          <p:cNvSpPr>
            <a:spLocks noGrp="1"/>
          </p:cNvSpPr>
          <p:nvPr>
            <p:ph type="ftr" sz="quarter" idx="4294967295"/>
          </p:nvPr>
        </p:nvSpPr>
        <p:spPr>
          <a:xfrm>
            <a:off x="1698171" y="6365777"/>
            <a:ext cx="8871858" cy="365125"/>
          </a:xfrm>
          <a:prstGeom prst="rect">
            <a:avLst/>
          </a:prstGeom>
        </p:spPr>
        <p:txBody>
          <a:bodyPr/>
          <a:lstStyle/>
          <a:p>
            <a:pPr algn="ctr"/>
            <a:r>
              <a:rPr lang="en-US" sz="1200" dirty="0">
                <a:solidFill>
                  <a:schemeClr val="tx1">
                    <a:tint val="75000"/>
                  </a:schemeClr>
                </a:solidFill>
              </a:rPr>
              <a:t>Slides prepared by: Prof.Nandini K, Assistant Professor, Department of CSE, </a:t>
            </a:r>
            <a:r>
              <a:rPr lang="en-US" sz="1200" dirty="0" err="1">
                <a:solidFill>
                  <a:schemeClr val="tx1">
                    <a:tint val="75000"/>
                  </a:schemeClr>
                </a:solidFill>
              </a:rPr>
              <a:t>Dayananda</a:t>
            </a:r>
            <a:r>
              <a:rPr lang="en-US" sz="1200" dirty="0">
                <a:solidFill>
                  <a:schemeClr val="tx1">
                    <a:tint val="75000"/>
                  </a:schemeClr>
                </a:solidFill>
              </a:rPr>
              <a:t> </a:t>
            </a:r>
            <a:r>
              <a:rPr lang="en-US" sz="1200" dirty="0" err="1">
                <a:solidFill>
                  <a:schemeClr val="tx1">
                    <a:tint val="75000"/>
                  </a:schemeClr>
                </a:solidFill>
              </a:rPr>
              <a:t>Sagar</a:t>
            </a:r>
            <a:r>
              <a:rPr lang="en-US" sz="1200" dirty="0">
                <a:solidFill>
                  <a:schemeClr val="tx1">
                    <a:tint val="75000"/>
                  </a:schemeClr>
                </a:solidFill>
              </a:rPr>
              <a:t> University, </a:t>
            </a:r>
            <a:r>
              <a:rPr lang="en-US" sz="1200" dirty="0" err="1">
                <a:solidFill>
                  <a:schemeClr val="tx1">
                    <a:tint val="75000"/>
                  </a:schemeClr>
                </a:solidFill>
              </a:rPr>
              <a:t>Harohalli</a:t>
            </a:r>
            <a:r>
              <a:rPr lang="en-US" sz="1200" dirty="0">
                <a:solidFill>
                  <a:schemeClr val="tx1">
                    <a:tint val="75000"/>
                  </a:schemeClr>
                </a:solidFill>
              </a:rPr>
              <a:t>, Karnataka.</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4330" y="471881"/>
            <a:ext cx="7887970" cy="2878455"/>
          </a:xfrm>
          <a:prstGeom prst="rect">
            <a:avLst/>
          </a:prstGeom>
        </p:spPr>
        <p:txBody>
          <a:bodyPr vert="horz" wrap="square" lIns="0" tIns="12700" rIns="0" bIns="0" rtlCol="0">
            <a:spAutoFit/>
          </a:bodyPr>
          <a:lstStyle/>
          <a:p>
            <a:pPr marL="12700">
              <a:lnSpc>
                <a:spcPct val="100000"/>
              </a:lnSpc>
              <a:spcBef>
                <a:spcPts val="100"/>
              </a:spcBef>
            </a:pPr>
            <a:r>
              <a:rPr sz="2400" b="1" dirty="0">
                <a:latin typeface="Georgia" panose="02040502050405020303"/>
                <a:cs typeface="Georgia" panose="02040502050405020303"/>
              </a:rPr>
              <a:t>3.</a:t>
            </a:r>
            <a:r>
              <a:rPr sz="2400" b="1" spc="-65" dirty="0">
                <a:latin typeface="Georgia" panose="02040502050405020303"/>
                <a:cs typeface="Georgia" panose="02040502050405020303"/>
              </a:rPr>
              <a:t> </a:t>
            </a:r>
            <a:r>
              <a:rPr sz="2400" b="1" dirty="0">
                <a:latin typeface="Georgia" panose="02040502050405020303"/>
                <a:cs typeface="Georgia" panose="02040502050405020303"/>
              </a:rPr>
              <a:t>Matrix</a:t>
            </a:r>
            <a:r>
              <a:rPr sz="2400" b="1" spc="-95" dirty="0">
                <a:latin typeface="Georgia" panose="02040502050405020303"/>
                <a:cs typeface="Georgia" panose="02040502050405020303"/>
              </a:rPr>
              <a:t> </a:t>
            </a:r>
            <a:r>
              <a:rPr sz="2400" b="1" spc="-10" dirty="0">
                <a:latin typeface="Georgia" panose="02040502050405020303"/>
                <a:cs typeface="Georgia" panose="02040502050405020303"/>
              </a:rPr>
              <a:t>Multiplication</a:t>
            </a:r>
            <a:endParaRPr sz="2400">
              <a:latin typeface="Georgia" panose="02040502050405020303"/>
              <a:cs typeface="Georgia" panose="02040502050405020303"/>
            </a:endParaRPr>
          </a:p>
          <a:p>
            <a:pPr marL="12700">
              <a:lnSpc>
                <a:spcPct val="100000"/>
              </a:lnSpc>
              <a:spcBef>
                <a:spcPts val="1935"/>
              </a:spcBef>
            </a:pPr>
            <a:r>
              <a:rPr sz="2000" dirty="0">
                <a:latin typeface="Georgia" panose="02040502050405020303"/>
                <a:cs typeface="Georgia" panose="02040502050405020303"/>
              </a:rPr>
              <a:t>ALGORITHM</a:t>
            </a:r>
            <a:r>
              <a:rPr sz="2000" spc="-35" dirty="0">
                <a:latin typeface="Georgia" panose="02040502050405020303"/>
                <a:cs typeface="Georgia" panose="02040502050405020303"/>
              </a:rPr>
              <a:t> </a:t>
            </a:r>
            <a:r>
              <a:rPr sz="2000" spc="-10" dirty="0">
                <a:latin typeface="Georgia" panose="02040502050405020303"/>
                <a:cs typeface="Georgia" panose="02040502050405020303"/>
              </a:rPr>
              <a:t>MatrixMultiplication(A[0..n-</a:t>
            </a:r>
            <a:r>
              <a:rPr sz="2000" dirty="0">
                <a:latin typeface="Georgia" panose="02040502050405020303"/>
                <a:cs typeface="Georgia" panose="02040502050405020303"/>
              </a:rPr>
              <a:t>1,</a:t>
            </a:r>
            <a:r>
              <a:rPr sz="2000" spc="-30" dirty="0">
                <a:latin typeface="Georgia" panose="02040502050405020303"/>
                <a:cs typeface="Georgia" panose="02040502050405020303"/>
              </a:rPr>
              <a:t> </a:t>
            </a:r>
            <a:r>
              <a:rPr sz="2000" spc="-10" dirty="0">
                <a:latin typeface="Georgia" panose="02040502050405020303"/>
                <a:cs typeface="Georgia" panose="02040502050405020303"/>
              </a:rPr>
              <a:t>0..n-</a:t>
            </a:r>
            <a:r>
              <a:rPr sz="2000" dirty="0">
                <a:latin typeface="Georgia" panose="02040502050405020303"/>
                <a:cs typeface="Georgia" panose="02040502050405020303"/>
              </a:rPr>
              <a:t>1],</a:t>
            </a:r>
            <a:r>
              <a:rPr sz="2000" spc="-5" dirty="0">
                <a:latin typeface="Georgia" panose="02040502050405020303"/>
                <a:cs typeface="Georgia" panose="02040502050405020303"/>
              </a:rPr>
              <a:t> </a:t>
            </a:r>
            <a:r>
              <a:rPr sz="2000" spc="-10" dirty="0">
                <a:latin typeface="Georgia" panose="02040502050405020303"/>
                <a:cs typeface="Georgia" panose="02040502050405020303"/>
              </a:rPr>
              <a:t>B[0..n-</a:t>
            </a:r>
            <a:r>
              <a:rPr sz="2000" dirty="0">
                <a:latin typeface="Georgia" panose="02040502050405020303"/>
                <a:cs typeface="Georgia" panose="02040502050405020303"/>
              </a:rPr>
              <a:t>1,</a:t>
            </a:r>
            <a:r>
              <a:rPr sz="2000" spc="20" dirty="0">
                <a:latin typeface="Georgia" panose="02040502050405020303"/>
                <a:cs typeface="Georgia" panose="02040502050405020303"/>
              </a:rPr>
              <a:t> </a:t>
            </a:r>
            <a:r>
              <a:rPr sz="2000" spc="-10" dirty="0">
                <a:latin typeface="Georgia" panose="02040502050405020303"/>
                <a:cs typeface="Georgia" panose="02040502050405020303"/>
              </a:rPr>
              <a:t>0..n-</a:t>
            </a:r>
            <a:r>
              <a:rPr sz="2000" spc="-25" dirty="0">
                <a:latin typeface="Georgia" panose="02040502050405020303"/>
                <a:cs typeface="Georgia" panose="02040502050405020303"/>
              </a:rPr>
              <a:t>1])</a:t>
            </a:r>
            <a:endParaRPr sz="2000">
              <a:latin typeface="Georgia" panose="02040502050405020303"/>
              <a:cs typeface="Georgia" panose="02040502050405020303"/>
            </a:endParaRPr>
          </a:p>
          <a:p>
            <a:pPr>
              <a:lnSpc>
                <a:spcPct val="100000"/>
              </a:lnSpc>
              <a:spcBef>
                <a:spcPts val="10"/>
              </a:spcBef>
            </a:pPr>
            <a:endParaRPr sz="2000">
              <a:latin typeface="Georgia" panose="02040502050405020303"/>
              <a:cs typeface="Georgia" panose="02040502050405020303"/>
            </a:endParaRPr>
          </a:p>
          <a:p>
            <a:pPr marL="12700">
              <a:lnSpc>
                <a:spcPct val="100000"/>
              </a:lnSpc>
              <a:spcBef>
                <a:spcPts val="5"/>
              </a:spcBef>
            </a:pPr>
            <a:r>
              <a:rPr sz="1800" b="1" dirty="0">
                <a:latin typeface="Georgia" panose="02040502050405020303"/>
                <a:cs typeface="Georgia" panose="02040502050405020303"/>
              </a:rPr>
              <a:t>for</a:t>
            </a:r>
            <a:r>
              <a:rPr sz="1800" b="1" spc="-25" dirty="0">
                <a:latin typeface="Georgia" panose="02040502050405020303"/>
                <a:cs typeface="Georgia" panose="02040502050405020303"/>
              </a:rPr>
              <a:t> </a:t>
            </a:r>
            <a:r>
              <a:rPr sz="1800" dirty="0">
                <a:latin typeface="Georgia" panose="02040502050405020303"/>
                <a:cs typeface="Georgia" panose="02040502050405020303"/>
              </a:rPr>
              <a:t>i</a:t>
            </a:r>
            <a:r>
              <a:rPr sz="1800" spc="-20" dirty="0">
                <a:latin typeface="Georgia" panose="02040502050405020303"/>
                <a:cs typeface="Georgia" panose="02040502050405020303"/>
              </a:rPr>
              <a:t> </a:t>
            </a:r>
            <a:r>
              <a:rPr sz="1800" dirty="0">
                <a:latin typeface="Wingdings" panose="05000000000000000000"/>
                <a:cs typeface="Wingdings" panose="05000000000000000000"/>
              </a:rPr>
              <a:t></a:t>
            </a:r>
            <a:r>
              <a:rPr sz="1800" spc="-40" dirty="0">
                <a:latin typeface="Times New Roman" panose="02020603050405020304"/>
                <a:cs typeface="Times New Roman" panose="02020603050405020304"/>
              </a:rPr>
              <a:t> </a:t>
            </a:r>
            <a:r>
              <a:rPr sz="1800" dirty="0">
                <a:latin typeface="Georgia" panose="02040502050405020303"/>
                <a:cs typeface="Georgia" panose="02040502050405020303"/>
              </a:rPr>
              <a:t>0</a:t>
            </a:r>
            <a:r>
              <a:rPr sz="1800" spc="-20" dirty="0">
                <a:latin typeface="Georgia" panose="02040502050405020303"/>
                <a:cs typeface="Georgia" panose="02040502050405020303"/>
              </a:rPr>
              <a:t> </a:t>
            </a:r>
            <a:r>
              <a:rPr sz="1800" b="1" dirty="0">
                <a:latin typeface="Georgia" panose="02040502050405020303"/>
                <a:cs typeface="Georgia" panose="02040502050405020303"/>
              </a:rPr>
              <a:t>to</a:t>
            </a:r>
            <a:r>
              <a:rPr sz="1800" b="1" spc="-40" dirty="0">
                <a:latin typeface="Georgia" panose="02040502050405020303"/>
                <a:cs typeface="Georgia" panose="02040502050405020303"/>
              </a:rPr>
              <a:t> </a:t>
            </a:r>
            <a:r>
              <a:rPr sz="1800" spc="-10" dirty="0">
                <a:latin typeface="Georgia" panose="02040502050405020303"/>
                <a:cs typeface="Georgia" panose="02040502050405020303"/>
              </a:rPr>
              <a:t>n-</a:t>
            </a:r>
            <a:r>
              <a:rPr sz="1800" dirty="0">
                <a:latin typeface="Georgia" panose="02040502050405020303"/>
                <a:cs typeface="Georgia" panose="02040502050405020303"/>
              </a:rPr>
              <a:t>1</a:t>
            </a:r>
            <a:r>
              <a:rPr sz="1800" spc="-30" dirty="0">
                <a:latin typeface="Georgia" panose="02040502050405020303"/>
                <a:cs typeface="Georgia" panose="02040502050405020303"/>
              </a:rPr>
              <a:t> </a:t>
            </a:r>
            <a:r>
              <a:rPr sz="1800" b="1" spc="-25" dirty="0">
                <a:latin typeface="Georgia" panose="02040502050405020303"/>
                <a:cs typeface="Georgia" panose="02040502050405020303"/>
              </a:rPr>
              <a:t>do</a:t>
            </a:r>
            <a:endParaRPr sz="1800">
              <a:latin typeface="Georgia" panose="02040502050405020303"/>
              <a:cs typeface="Georgia" panose="02040502050405020303"/>
            </a:endParaRPr>
          </a:p>
          <a:p>
            <a:pPr marL="927100">
              <a:lnSpc>
                <a:spcPct val="100000"/>
              </a:lnSpc>
            </a:pPr>
            <a:r>
              <a:rPr sz="1800" b="1" dirty="0">
                <a:latin typeface="Georgia" panose="02040502050405020303"/>
                <a:cs typeface="Georgia" panose="02040502050405020303"/>
              </a:rPr>
              <a:t>for</a:t>
            </a:r>
            <a:r>
              <a:rPr sz="1800" b="1" spc="-30" dirty="0">
                <a:latin typeface="Georgia" panose="02040502050405020303"/>
                <a:cs typeface="Georgia" panose="02040502050405020303"/>
              </a:rPr>
              <a:t> </a:t>
            </a:r>
            <a:r>
              <a:rPr sz="1800" dirty="0">
                <a:latin typeface="Georgia" panose="02040502050405020303"/>
                <a:cs typeface="Georgia" panose="02040502050405020303"/>
              </a:rPr>
              <a:t>j</a:t>
            </a:r>
            <a:r>
              <a:rPr sz="1800" spc="-20" dirty="0">
                <a:latin typeface="Georgia" panose="02040502050405020303"/>
                <a:cs typeface="Georgia" panose="02040502050405020303"/>
              </a:rPr>
              <a:t> </a:t>
            </a:r>
            <a:r>
              <a:rPr sz="1800" dirty="0">
                <a:latin typeface="Wingdings" panose="05000000000000000000"/>
                <a:cs typeface="Wingdings" panose="05000000000000000000"/>
              </a:rPr>
              <a:t></a:t>
            </a:r>
            <a:r>
              <a:rPr sz="1800" spc="-40" dirty="0">
                <a:latin typeface="Times New Roman" panose="02020603050405020304"/>
                <a:cs typeface="Times New Roman" panose="02020603050405020304"/>
              </a:rPr>
              <a:t> </a:t>
            </a:r>
            <a:r>
              <a:rPr sz="1800" dirty="0">
                <a:latin typeface="Georgia" panose="02040502050405020303"/>
                <a:cs typeface="Georgia" panose="02040502050405020303"/>
              </a:rPr>
              <a:t>0</a:t>
            </a:r>
            <a:r>
              <a:rPr sz="1800" spc="-20" dirty="0">
                <a:latin typeface="Georgia" panose="02040502050405020303"/>
                <a:cs typeface="Georgia" panose="02040502050405020303"/>
              </a:rPr>
              <a:t> </a:t>
            </a:r>
            <a:r>
              <a:rPr sz="1800" b="1" dirty="0">
                <a:latin typeface="Georgia" panose="02040502050405020303"/>
                <a:cs typeface="Georgia" panose="02040502050405020303"/>
              </a:rPr>
              <a:t>to</a:t>
            </a:r>
            <a:r>
              <a:rPr sz="1800" b="1" spc="-40" dirty="0">
                <a:latin typeface="Georgia" panose="02040502050405020303"/>
                <a:cs typeface="Georgia" panose="02040502050405020303"/>
              </a:rPr>
              <a:t> </a:t>
            </a:r>
            <a:r>
              <a:rPr sz="1800" spc="-10" dirty="0">
                <a:latin typeface="Georgia" panose="02040502050405020303"/>
                <a:cs typeface="Georgia" panose="02040502050405020303"/>
              </a:rPr>
              <a:t>n-</a:t>
            </a:r>
            <a:r>
              <a:rPr sz="1800" dirty="0">
                <a:latin typeface="Georgia" panose="02040502050405020303"/>
                <a:cs typeface="Georgia" panose="02040502050405020303"/>
              </a:rPr>
              <a:t>1</a:t>
            </a:r>
            <a:r>
              <a:rPr sz="1800" spc="-30" dirty="0">
                <a:latin typeface="Georgia" panose="02040502050405020303"/>
                <a:cs typeface="Georgia" panose="02040502050405020303"/>
              </a:rPr>
              <a:t> </a:t>
            </a:r>
            <a:r>
              <a:rPr sz="1800" b="1" spc="-25" dirty="0">
                <a:latin typeface="Georgia" panose="02040502050405020303"/>
                <a:cs typeface="Georgia" panose="02040502050405020303"/>
              </a:rPr>
              <a:t>do</a:t>
            </a:r>
            <a:endParaRPr sz="1800">
              <a:latin typeface="Georgia" panose="02040502050405020303"/>
              <a:cs typeface="Georgia" panose="02040502050405020303"/>
            </a:endParaRPr>
          </a:p>
          <a:p>
            <a:pPr marL="1841500">
              <a:lnSpc>
                <a:spcPct val="100000"/>
              </a:lnSpc>
            </a:pPr>
            <a:r>
              <a:rPr sz="1800" dirty="0">
                <a:latin typeface="Georgia" panose="02040502050405020303"/>
                <a:cs typeface="Georgia" panose="02040502050405020303"/>
              </a:rPr>
              <a:t>C[i,</a:t>
            </a:r>
            <a:r>
              <a:rPr sz="1800" spc="-45" dirty="0">
                <a:latin typeface="Georgia" panose="02040502050405020303"/>
                <a:cs typeface="Georgia" panose="02040502050405020303"/>
              </a:rPr>
              <a:t> </a:t>
            </a:r>
            <a:r>
              <a:rPr sz="1800" dirty="0">
                <a:latin typeface="Georgia" panose="02040502050405020303"/>
                <a:cs typeface="Georgia" panose="02040502050405020303"/>
              </a:rPr>
              <a:t>j]</a:t>
            </a:r>
            <a:r>
              <a:rPr sz="1800" spc="-35" dirty="0">
                <a:latin typeface="Georgia" panose="02040502050405020303"/>
                <a:cs typeface="Georgia" panose="02040502050405020303"/>
              </a:rPr>
              <a:t> </a:t>
            </a:r>
            <a:r>
              <a:rPr sz="1800" dirty="0">
                <a:latin typeface="Georgia" panose="02040502050405020303"/>
                <a:cs typeface="Georgia" panose="02040502050405020303"/>
              </a:rPr>
              <a:t>=</a:t>
            </a:r>
            <a:r>
              <a:rPr sz="1800" spc="-20" dirty="0">
                <a:latin typeface="Georgia" panose="02040502050405020303"/>
                <a:cs typeface="Georgia" panose="02040502050405020303"/>
              </a:rPr>
              <a:t> </a:t>
            </a:r>
            <a:r>
              <a:rPr sz="1800" spc="-25" dirty="0">
                <a:latin typeface="Georgia" panose="02040502050405020303"/>
                <a:cs typeface="Georgia" panose="02040502050405020303"/>
              </a:rPr>
              <a:t>0.0</a:t>
            </a:r>
            <a:endParaRPr sz="1800">
              <a:latin typeface="Georgia" panose="02040502050405020303"/>
              <a:cs typeface="Georgia" panose="02040502050405020303"/>
            </a:endParaRPr>
          </a:p>
          <a:p>
            <a:pPr marL="1841500">
              <a:lnSpc>
                <a:spcPct val="100000"/>
              </a:lnSpc>
            </a:pPr>
            <a:r>
              <a:rPr sz="1800" b="1" dirty="0">
                <a:latin typeface="Georgia" panose="02040502050405020303"/>
                <a:cs typeface="Georgia" panose="02040502050405020303"/>
              </a:rPr>
              <a:t>for</a:t>
            </a:r>
            <a:r>
              <a:rPr sz="1800" b="1" spc="-30" dirty="0">
                <a:latin typeface="Georgia" panose="02040502050405020303"/>
                <a:cs typeface="Georgia" panose="02040502050405020303"/>
              </a:rPr>
              <a:t> </a:t>
            </a:r>
            <a:r>
              <a:rPr sz="1800" dirty="0">
                <a:latin typeface="Georgia" panose="02040502050405020303"/>
                <a:cs typeface="Georgia" panose="02040502050405020303"/>
              </a:rPr>
              <a:t>k</a:t>
            </a:r>
            <a:r>
              <a:rPr sz="1800" spc="-25" dirty="0">
                <a:latin typeface="Georgia" panose="02040502050405020303"/>
                <a:cs typeface="Georgia" panose="02040502050405020303"/>
              </a:rPr>
              <a:t> </a:t>
            </a:r>
            <a:r>
              <a:rPr sz="1800" dirty="0">
                <a:latin typeface="Wingdings" panose="05000000000000000000"/>
                <a:cs typeface="Wingdings" panose="05000000000000000000"/>
              </a:rPr>
              <a:t></a:t>
            </a:r>
            <a:r>
              <a:rPr sz="1800" spc="-30" dirty="0">
                <a:latin typeface="Times New Roman" panose="02020603050405020304"/>
                <a:cs typeface="Times New Roman" panose="02020603050405020304"/>
              </a:rPr>
              <a:t> </a:t>
            </a:r>
            <a:r>
              <a:rPr sz="1800" dirty="0">
                <a:latin typeface="Georgia" panose="02040502050405020303"/>
                <a:cs typeface="Georgia" panose="02040502050405020303"/>
              </a:rPr>
              <a:t>0</a:t>
            </a:r>
            <a:r>
              <a:rPr sz="1800" spc="-35" dirty="0">
                <a:latin typeface="Georgia" panose="02040502050405020303"/>
                <a:cs typeface="Georgia" panose="02040502050405020303"/>
              </a:rPr>
              <a:t> </a:t>
            </a:r>
            <a:r>
              <a:rPr sz="1800" b="1" dirty="0">
                <a:latin typeface="Georgia" panose="02040502050405020303"/>
                <a:cs typeface="Georgia" panose="02040502050405020303"/>
              </a:rPr>
              <a:t>to</a:t>
            </a:r>
            <a:r>
              <a:rPr sz="1800" b="1" spc="-40" dirty="0">
                <a:latin typeface="Georgia" panose="02040502050405020303"/>
                <a:cs typeface="Georgia" panose="02040502050405020303"/>
              </a:rPr>
              <a:t> </a:t>
            </a:r>
            <a:r>
              <a:rPr sz="1800" spc="-10" dirty="0">
                <a:latin typeface="Georgia" panose="02040502050405020303"/>
                <a:cs typeface="Georgia" panose="02040502050405020303"/>
              </a:rPr>
              <a:t>n-</a:t>
            </a:r>
            <a:r>
              <a:rPr sz="1800" dirty="0">
                <a:latin typeface="Georgia" panose="02040502050405020303"/>
                <a:cs typeface="Georgia" panose="02040502050405020303"/>
              </a:rPr>
              <a:t>1</a:t>
            </a:r>
            <a:r>
              <a:rPr sz="1800" spc="-30" dirty="0">
                <a:latin typeface="Georgia" panose="02040502050405020303"/>
                <a:cs typeface="Georgia" panose="02040502050405020303"/>
              </a:rPr>
              <a:t> </a:t>
            </a:r>
            <a:r>
              <a:rPr sz="1800" b="1" spc="-25" dirty="0">
                <a:latin typeface="Georgia" panose="02040502050405020303"/>
                <a:cs typeface="Georgia" panose="02040502050405020303"/>
              </a:rPr>
              <a:t>do</a:t>
            </a:r>
            <a:endParaRPr sz="1800">
              <a:latin typeface="Georgia" panose="02040502050405020303"/>
              <a:cs typeface="Georgia" panose="02040502050405020303"/>
            </a:endParaRPr>
          </a:p>
          <a:p>
            <a:pPr marL="2755900">
              <a:lnSpc>
                <a:spcPct val="100000"/>
              </a:lnSpc>
            </a:pPr>
            <a:r>
              <a:rPr sz="1800" dirty="0">
                <a:latin typeface="Georgia" panose="02040502050405020303"/>
                <a:cs typeface="Georgia" panose="02040502050405020303"/>
              </a:rPr>
              <a:t>C[i,</a:t>
            </a:r>
            <a:r>
              <a:rPr sz="1800" spc="-50" dirty="0">
                <a:latin typeface="Georgia" panose="02040502050405020303"/>
                <a:cs typeface="Georgia" panose="02040502050405020303"/>
              </a:rPr>
              <a:t> </a:t>
            </a:r>
            <a:r>
              <a:rPr sz="1800" dirty="0">
                <a:latin typeface="Georgia" panose="02040502050405020303"/>
                <a:cs typeface="Georgia" panose="02040502050405020303"/>
              </a:rPr>
              <a:t>j]</a:t>
            </a:r>
            <a:r>
              <a:rPr sz="1800" spc="-25" dirty="0">
                <a:latin typeface="Georgia" panose="02040502050405020303"/>
                <a:cs typeface="Georgia" panose="02040502050405020303"/>
              </a:rPr>
              <a:t> </a:t>
            </a:r>
            <a:r>
              <a:rPr sz="1800" dirty="0">
                <a:latin typeface="Georgia" panose="02040502050405020303"/>
                <a:cs typeface="Georgia" panose="02040502050405020303"/>
              </a:rPr>
              <a:t>=</a:t>
            </a:r>
            <a:r>
              <a:rPr sz="1800" spc="-15" dirty="0">
                <a:latin typeface="Georgia" panose="02040502050405020303"/>
                <a:cs typeface="Georgia" panose="02040502050405020303"/>
              </a:rPr>
              <a:t> </a:t>
            </a:r>
            <a:r>
              <a:rPr sz="1800" dirty="0">
                <a:latin typeface="Georgia" panose="02040502050405020303"/>
                <a:cs typeface="Georgia" panose="02040502050405020303"/>
              </a:rPr>
              <a:t>C[i,</a:t>
            </a:r>
            <a:r>
              <a:rPr sz="1800" spc="-35" dirty="0">
                <a:latin typeface="Georgia" panose="02040502050405020303"/>
                <a:cs typeface="Georgia" panose="02040502050405020303"/>
              </a:rPr>
              <a:t> </a:t>
            </a:r>
            <a:r>
              <a:rPr sz="1800" dirty="0">
                <a:latin typeface="Georgia" panose="02040502050405020303"/>
                <a:cs typeface="Georgia" panose="02040502050405020303"/>
              </a:rPr>
              <a:t>j]</a:t>
            </a:r>
            <a:r>
              <a:rPr sz="1800" spc="-35" dirty="0">
                <a:latin typeface="Georgia" panose="02040502050405020303"/>
                <a:cs typeface="Georgia" panose="02040502050405020303"/>
              </a:rPr>
              <a:t> </a:t>
            </a:r>
            <a:r>
              <a:rPr sz="1800" dirty="0">
                <a:latin typeface="Georgia" panose="02040502050405020303"/>
                <a:cs typeface="Georgia" panose="02040502050405020303"/>
              </a:rPr>
              <a:t>+</a:t>
            </a:r>
            <a:r>
              <a:rPr sz="1800" spc="-15" dirty="0">
                <a:latin typeface="Georgia" panose="02040502050405020303"/>
                <a:cs typeface="Georgia" panose="02040502050405020303"/>
              </a:rPr>
              <a:t> </a:t>
            </a:r>
            <a:r>
              <a:rPr sz="1800" dirty="0">
                <a:latin typeface="Georgia" panose="02040502050405020303"/>
                <a:cs typeface="Georgia" panose="02040502050405020303"/>
              </a:rPr>
              <a:t>A[i,</a:t>
            </a:r>
            <a:r>
              <a:rPr sz="1800" spc="-15" dirty="0">
                <a:latin typeface="Georgia" panose="02040502050405020303"/>
                <a:cs typeface="Georgia" panose="02040502050405020303"/>
              </a:rPr>
              <a:t> </a:t>
            </a:r>
            <a:r>
              <a:rPr sz="1800" dirty="0">
                <a:latin typeface="Georgia" panose="02040502050405020303"/>
                <a:cs typeface="Georgia" panose="02040502050405020303"/>
              </a:rPr>
              <a:t>k]×B[k,</a:t>
            </a:r>
            <a:r>
              <a:rPr sz="1800" spc="-25" dirty="0">
                <a:latin typeface="Georgia" panose="02040502050405020303"/>
                <a:cs typeface="Georgia" panose="02040502050405020303"/>
              </a:rPr>
              <a:t> j]</a:t>
            </a:r>
            <a:endParaRPr sz="1800">
              <a:latin typeface="Georgia" panose="02040502050405020303"/>
              <a:cs typeface="Georgia" panose="02040502050405020303"/>
            </a:endParaRPr>
          </a:p>
          <a:p>
            <a:pPr marL="12700">
              <a:lnSpc>
                <a:spcPct val="100000"/>
              </a:lnSpc>
            </a:pPr>
            <a:r>
              <a:rPr sz="1800" b="1" dirty="0">
                <a:latin typeface="Georgia" panose="02040502050405020303"/>
                <a:cs typeface="Georgia" panose="02040502050405020303"/>
              </a:rPr>
              <a:t>return</a:t>
            </a:r>
            <a:r>
              <a:rPr sz="1800" b="1" spc="-105" dirty="0">
                <a:latin typeface="Georgia" panose="02040502050405020303"/>
                <a:cs typeface="Georgia" panose="02040502050405020303"/>
              </a:rPr>
              <a:t> </a:t>
            </a:r>
            <a:r>
              <a:rPr sz="1800" spc="-50" dirty="0">
                <a:latin typeface="Georgia" panose="02040502050405020303"/>
                <a:cs typeface="Georgia" panose="02040502050405020303"/>
              </a:rPr>
              <a:t>C</a:t>
            </a:r>
            <a:endParaRPr sz="1800">
              <a:latin typeface="Georgia" panose="02040502050405020303"/>
              <a:cs typeface="Georgia" panose="02040502050405020303"/>
            </a:endParaRPr>
          </a:p>
        </p:txBody>
      </p:sp>
      <p:sp>
        <p:nvSpPr>
          <p:cNvPr id="3" name="object 3"/>
          <p:cNvSpPr txBox="1"/>
          <p:nvPr/>
        </p:nvSpPr>
        <p:spPr>
          <a:xfrm>
            <a:off x="189992" y="4356608"/>
            <a:ext cx="5400040" cy="878840"/>
          </a:xfrm>
          <a:prstGeom prst="rect">
            <a:avLst/>
          </a:prstGeom>
        </p:spPr>
        <p:txBody>
          <a:bodyPr vert="horz" wrap="square" lIns="0" tIns="12065" rIns="0" bIns="0" rtlCol="0">
            <a:spAutoFit/>
          </a:bodyPr>
          <a:lstStyle/>
          <a:p>
            <a:pPr marL="12700">
              <a:lnSpc>
                <a:spcPct val="100000"/>
              </a:lnSpc>
              <a:spcBef>
                <a:spcPts val="95"/>
              </a:spcBef>
            </a:pPr>
            <a:r>
              <a:rPr sz="2800" dirty="0">
                <a:solidFill>
                  <a:srgbClr val="FF0000"/>
                </a:solidFill>
                <a:latin typeface="Georgia" panose="02040502050405020303"/>
                <a:cs typeface="Georgia" panose="02040502050405020303"/>
              </a:rPr>
              <a:t>Input</a:t>
            </a:r>
            <a:r>
              <a:rPr sz="2800" spc="-95" dirty="0">
                <a:solidFill>
                  <a:srgbClr val="FF0000"/>
                </a:solidFill>
                <a:latin typeface="Georgia" panose="02040502050405020303"/>
                <a:cs typeface="Georgia" panose="02040502050405020303"/>
              </a:rPr>
              <a:t> </a:t>
            </a:r>
            <a:r>
              <a:rPr sz="2800" dirty="0">
                <a:solidFill>
                  <a:srgbClr val="FF0000"/>
                </a:solidFill>
                <a:latin typeface="Georgia" panose="02040502050405020303"/>
                <a:cs typeface="Georgia" panose="02040502050405020303"/>
              </a:rPr>
              <a:t>size:</a:t>
            </a:r>
            <a:r>
              <a:rPr sz="2800" spc="-80" dirty="0">
                <a:solidFill>
                  <a:srgbClr val="FF0000"/>
                </a:solidFill>
                <a:latin typeface="Georgia" panose="02040502050405020303"/>
                <a:cs typeface="Georgia" panose="02040502050405020303"/>
              </a:rPr>
              <a:t> </a:t>
            </a:r>
            <a:r>
              <a:rPr sz="2800" spc="-50" dirty="0">
                <a:solidFill>
                  <a:srgbClr val="FF0000"/>
                </a:solidFill>
                <a:latin typeface="Georgia" panose="02040502050405020303"/>
                <a:cs typeface="Georgia" panose="02040502050405020303"/>
              </a:rPr>
              <a:t>n</a:t>
            </a:r>
            <a:endParaRPr sz="2800">
              <a:latin typeface="Georgia" panose="02040502050405020303"/>
              <a:cs typeface="Georgia" panose="02040502050405020303"/>
            </a:endParaRPr>
          </a:p>
          <a:p>
            <a:pPr marL="12700">
              <a:lnSpc>
                <a:spcPct val="100000"/>
              </a:lnSpc>
            </a:pPr>
            <a:r>
              <a:rPr sz="2800" dirty="0">
                <a:solidFill>
                  <a:srgbClr val="FF0000"/>
                </a:solidFill>
                <a:latin typeface="Georgia" panose="02040502050405020303"/>
                <a:cs typeface="Georgia" panose="02040502050405020303"/>
              </a:rPr>
              <a:t>Basic</a:t>
            </a:r>
            <a:r>
              <a:rPr sz="2800" spc="-114" dirty="0">
                <a:solidFill>
                  <a:srgbClr val="FF0000"/>
                </a:solidFill>
                <a:latin typeface="Georgia" panose="02040502050405020303"/>
                <a:cs typeface="Georgia" panose="02040502050405020303"/>
              </a:rPr>
              <a:t> </a:t>
            </a:r>
            <a:r>
              <a:rPr sz="2800" spc="-10" dirty="0">
                <a:solidFill>
                  <a:srgbClr val="FF0000"/>
                </a:solidFill>
                <a:latin typeface="Georgia" panose="02040502050405020303"/>
                <a:cs typeface="Georgia" panose="02040502050405020303"/>
              </a:rPr>
              <a:t>operation:</a:t>
            </a:r>
            <a:r>
              <a:rPr sz="2800" spc="-100" dirty="0">
                <a:solidFill>
                  <a:srgbClr val="FF0000"/>
                </a:solidFill>
                <a:latin typeface="Georgia" panose="02040502050405020303"/>
                <a:cs typeface="Georgia" panose="02040502050405020303"/>
              </a:rPr>
              <a:t> </a:t>
            </a:r>
            <a:r>
              <a:rPr sz="2800" spc="-10" dirty="0">
                <a:solidFill>
                  <a:srgbClr val="FF0000"/>
                </a:solidFill>
                <a:latin typeface="Georgia" panose="02040502050405020303"/>
                <a:cs typeface="Georgia" panose="02040502050405020303"/>
              </a:rPr>
              <a:t>Multiplication</a:t>
            </a:r>
            <a:r>
              <a:rPr sz="2800" spc="-80" dirty="0">
                <a:solidFill>
                  <a:srgbClr val="FF0000"/>
                </a:solidFill>
                <a:latin typeface="Georgia" panose="02040502050405020303"/>
                <a:cs typeface="Georgia" panose="02040502050405020303"/>
              </a:rPr>
              <a:t> </a:t>
            </a:r>
            <a:r>
              <a:rPr sz="2800" spc="-25" dirty="0">
                <a:solidFill>
                  <a:srgbClr val="FF0000"/>
                </a:solidFill>
                <a:latin typeface="Georgia" panose="02040502050405020303"/>
                <a:cs typeface="Georgia" panose="02040502050405020303"/>
              </a:rPr>
              <a:t>(*)</a:t>
            </a:r>
            <a:endParaRPr sz="2800">
              <a:latin typeface="Georgia" panose="02040502050405020303"/>
              <a:cs typeface="Georgia" panose="02040502050405020303"/>
            </a:endParaRPr>
          </a:p>
        </p:txBody>
      </p:sp>
      <p:pic>
        <p:nvPicPr>
          <p:cNvPr id="4" name="object 4"/>
          <p:cNvPicPr/>
          <p:nvPr/>
        </p:nvPicPr>
        <p:blipFill>
          <a:blip r:embed="rId2" cstate="print"/>
          <a:stretch>
            <a:fillRect/>
          </a:stretch>
        </p:blipFill>
        <p:spPr>
          <a:xfrm>
            <a:off x="7499604" y="2127504"/>
            <a:ext cx="4021836" cy="4197096"/>
          </a:xfrm>
          <a:prstGeom prst="rect">
            <a:avLst/>
          </a:prstGeom>
        </p:spPr>
      </p:pic>
      <p:sp>
        <p:nvSpPr>
          <p:cNvPr id="5" name="Footer Placeholder 3"/>
          <p:cNvSpPr>
            <a:spLocks noGrp="1"/>
          </p:cNvSpPr>
          <p:nvPr>
            <p:ph type="ftr" sz="quarter" idx="4294967295"/>
          </p:nvPr>
        </p:nvSpPr>
        <p:spPr>
          <a:xfrm>
            <a:off x="1698171" y="6365777"/>
            <a:ext cx="8871858" cy="365125"/>
          </a:xfrm>
          <a:prstGeom prst="rect">
            <a:avLst/>
          </a:prstGeom>
        </p:spPr>
        <p:txBody>
          <a:bodyPr/>
          <a:lstStyle/>
          <a:p>
            <a:pPr algn="ctr"/>
            <a:r>
              <a:rPr lang="en-US" sz="1200" dirty="0">
                <a:solidFill>
                  <a:schemeClr val="tx1">
                    <a:tint val="75000"/>
                  </a:schemeClr>
                </a:solidFill>
              </a:rPr>
              <a:t>Slides prepared by: Prof.Nandini K, Assistant Professor, Department of CSE, </a:t>
            </a:r>
            <a:r>
              <a:rPr lang="en-US" sz="1200" dirty="0" err="1">
                <a:solidFill>
                  <a:schemeClr val="tx1">
                    <a:tint val="75000"/>
                  </a:schemeClr>
                </a:solidFill>
              </a:rPr>
              <a:t>Dayananda</a:t>
            </a:r>
            <a:r>
              <a:rPr lang="en-US" sz="1200" dirty="0">
                <a:solidFill>
                  <a:schemeClr val="tx1">
                    <a:tint val="75000"/>
                  </a:schemeClr>
                </a:solidFill>
              </a:rPr>
              <a:t> </a:t>
            </a:r>
            <a:r>
              <a:rPr lang="en-US" sz="1200" dirty="0" err="1">
                <a:solidFill>
                  <a:schemeClr val="tx1">
                    <a:tint val="75000"/>
                  </a:schemeClr>
                </a:solidFill>
              </a:rPr>
              <a:t>Sagar</a:t>
            </a:r>
            <a:r>
              <a:rPr lang="en-US" sz="1200" dirty="0">
                <a:solidFill>
                  <a:schemeClr val="tx1">
                    <a:tint val="75000"/>
                  </a:schemeClr>
                </a:solidFill>
              </a:rPr>
              <a:t> University, </a:t>
            </a:r>
            <a:r>
              <a:rPr lang="en-US" sz="1200" dirty="0" err="1">
                <a:solidFill>
                  <a:schemeClr val="tx1">
                    <a:tint val="75000"/>
                  </a:schemeClr>
                </a:solidFill>
              </a:rPr>
              <a:t>Harohalli</a:t>
            </a:r>
            <a:r>
              <a:rPr lang="en-US" sz="1200" dirty="0">
                <a:solidFill>
                  <a:schemeClr val="tx1">
                    <a:tint val="75000"/>
                  </a:schemeClr>
                </a:solidFill>
              </a:rPr>
              <a:t>, Karnataka.</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199" y="45331"/>
            <a:ext cx="10180899" cy="1325563"/>
          </a:xfrm>
          <a:prstGeom prst="rect">
            <a:avLst/>
          </a:prstGeom>
        </p:spPr>
        <p:txBody>
          <a:bodyPr vert="horz" wrap="square" lIns="0" tIns="12700" rIns="0" bIns="0" rtlCol="0">
            <a:spAutoFit/>
          </a:bodyPr>
          <a:lstStyle/>
          <a:p>
            <a:pPr marL="12700">
              <a:lnSpc>
                <a:spcPct val="100000"/>
              </a:lnSpc>
              <a:spcBef>
                <a:spcPts val="100"/>
              </a:spcBef>
            </a:pPr>
            <a:r>
              <a:rPr dirty="0"/>
              <a:t>4.</a:t>
            </a:r>
            <a:r>
              <a:rPr spc="-50" dirty="0"/>
              <a:t> </a:t>
            </a:r>
            <a:r>
              <a:rPr dirty="0"/>
              <a:t>Linear</a:t>
            </a:r>
            <a:r>
              <a:rPr spc="-45" dirty="0"/>
              <a:t> </a:t>
            </a:r>
            <a:r>
              <a:rPr spc="-10" dirty="0"/>
              <a:t>Search</a:t>
            </a:r>
          </a:p>
        </p:txBody>
      </p:sp>
      <p:sp>
        <p:nvSpPr>
          <p:cNvPr id="3" name="object 3"/>
          <p:cNvSpPr txBox="1"/>
          <p:nvPr/>
        </p:nvSpPr>
        <p:spPr>
          <a:xfrm>
            <a:off x="154330" y="1080643"/>
            <a:ext cx="5135245" cy="1718945"/>
          </a:xfrm>
          <a:prstGeom prst="rect">
            <a:avLst/>
          </a:prstGeom>
        </p:spPr>
        <p:txBody>
          <a:bodyPr vert="horz" wrap="square" lIns="0" tIns="13335" rIns="0" bIns="0" rtlCol="0">
            <a:spAutoFit/>
          </a:bodyPr>
          <a:lstStyle/>
          <a:p>
            <a:pPr marL="12700">
              <a:lnSpc>
                <a:spcPct val="100000"/>
              </a:lnSpc>
              <a:spcBef>
                <a:spcPts val="105"/>
              </a:spcBef>
            </a:pPr>
            <a:r>
              <a:rPr sz="2000" dirty="0">
                <a:latin typeface="Georgia" panose="02040502050405020303"/>
                <a:cs typeface="Georgia" panose="02040502050405020303"/>
              </a:rPr>
              <a:t>ALGORITHM</a:t>
            </a:r>
            <a:r>
              <a:rPr sz="2000" spc="-55" dirty="0">
                <a:latin typeface="Georgia" panose="02040502050405020303"/>
                <a:cs typeface="Georgia" panose="02040502050405020303"/>
              </a:rPr>
              <a:t> </a:t>
            </a:r>
            <a:r>
              <a:rPr sz="2000" spc="-10" dirty="0">
                <a:latin typeface="Georgia" panose="02040502050405020303"/>
                <a:cs typeface="Georgia" panose="02040502050405020303"/>
              </a:rPr>
              <a:t>LinearSearch(key,</a:t>
            </a:r>
            <a:r>
              <a:rPr sz="2000" spc="-5" dirty="0">
                <a:latin typeface="Georgia" panose="02040502050405020303"/>
                <a:cs typeface="Georgia" panose="02040502050405020303"/>
              </a:rPr>
              <a:t> </a:t>
            </a:r>
            <a:r>
              <a:rPr sz="2000" spc="-10" dirty="0">
                <a:latin typeface="Georgia" panose="02040502050405020303"/>
                <a:cs typeface="Georgia" panose="02040502050405020303"/>
              </a:rPr>
              <a:t>A[0..n-</a:t>
            </a:r>
            <a:r>
              <a:rPr sz="2000" dirty="0">
                <a:latin typeface="Georgia" panose="02040502050405020303"/>
                <a:cs typeface="Georgia" panose="02040502050405020303"/>
              </a:rPr>
              <a:t>1],</a:t>
            </a:r>
            <a:r>
              <a:rPr sz="2000" spc="-35" dirty="0">
                <a:latin typeface="Georgia" panose="02040502050405020303"/>
                <a:cs typeface="Georgia" panose="02040502050405020303"/>
              </a:rPr>
              <a:t> </a:t>
            </a:r>
            <a:r>
              <a:rPr sz="2000" spc="-25" dirty="0">
                <a:latin typeface="Georgia" panose="02040502050405020303"/>
                <a:cs typeface="Georgia" panose="02040502050405020303"/>
              </a:rPr>
              <a:t>n)</a:t>
            </a:r>
            <a:endParaRPr sz="2000">
              <a:latin typeface="Georgia" panose="02040502050405020303"/>
              <a:cs typeface="Georgia" panose="02040502050405020303"/>
            </a:endParaRPr>
          </a:p>
          <a:p>
            <a:pPr>
              <a:lnSpc>
                <a:spcPct val="100000"/>
              </a:lnSpc>
            </a:pPr>
            <a:endParaRPr sz="2000">
              <a:latin typeface="Georgia" panose="02040502050405020303"/>
              <a:cs typeface="Georgia" panose="02040502050405020303"/>
            </a:endParaRPr>
          </a:p>
          <a:p>
            <a:pPr marR="3121660" algn="ctr">
              <a:lnSpc>
                <a:spcPct val="100000"/>
              </a:lnSpc>
            </a:pPr>
            <a:r>
              <a:rPr sz="1800" b="1" dirty="0">
                <a:latin typeface="Georgia" panose="02040502050405020303"/>
                <a:cs typeface="Georgia" panose="02040502050405020303"/>
              </a:rPr>
              <a:t>for</a:t>
            </a:r>
            <a:r>
              <a:rPr sz="1800" b="1" spc="-25" dirty="0">
                <a:latin typeface="Georgia" panose="02040502050405020303"/>
                <a:cs typeface="Georgia" panose="02040502050405020303"/>
              </a:rPr>
              <a:t> </a:t>
            </a:r>
            <a:r>
              <a:rPr sz="1800" dirty="0">
                <a:latin typeface="Georgia" panose="02040502050405020303"/>
                <a:cs typeface="Georgia" panose="02040502050405020303"/>
              </a:rPr>
              <a:t>i</a:t>
            </a:r>
            <a:r>
              <a:rPr sz="1800" spc="-20" dirty="0">
                <a:latin typeface="Georgia" panose="02040502050405020303"/>
                <a:cs typeface="Georgia" panose="02040502050405020303"/>
              </a:rPr>
              <a:t> </a:t>
            </a:r>
            <a:r>
              <a:rPr sz="1800" dirty="0">
                <a:latin typeface="Wingdings" panose="05000000000000000000"/>
                <a:cs typeface="Wingdings" panose="05000000000000000000"/>
              </a:rPr>
              <a:t></a:t>
            </a:r>
            <a:r>
              <a:rPr sz="1800" spc="-40" dirty="0">
                <a:latin typeface="Times New Roman" panose="02020603050405020304"/>
                <a:cs typeface="Times New Roman" panose="02020603050405020304"/>
              </a:rPr>
              <a:t> </a:t>
            </a:r>
            <a:r>
              <a:rPr sz="1800" dirty="0">
                <a:latin typeface="Georgia" panose="02040502050405020303"/>
                <a:cs typeface="Georgia" panose="02040502050405020303"/>
              </a:rPr>
              <a:t>0</a:t>
            </a:r>
            <a:r>
              <a:rPr sz="1800" spc="-20" dirty="0">
                <a:latin typeface="Georgia" panose="02040502050405020303"/>
                <a:cs typeface="Georgia" panose="02040502050405020303"/>
              </a:rPr>
              <a:t> </a:t>
            </a:r>
            <a:r>
              <a:rPr sz="1800" b="1" dirty="0">
                <a:latin typeface="Georgia" panose="02040502050405020303"/>
                <a:cs typeface="Georgia" panose="02040502050405020303"/>
              </a:rPr>
              <a:t>to</a:t>
            </a:r>
            <a:r>
              <a:rPr sz="1800" b="1" spc="-50" dirty="0">
                <a:latin typeface="Georgia" panose="02040502050405020303"/>
                <a:cs typeface="Georgia" panose="02040502050405020303"/>
              </a:rPr>
              <a:t> </a:t>
            </a:r>
            <a:r>
              <a:rPr sz="1800" spc="-10" dirty="0">
                <a:latin typeface="Georgia" panose="02040502050405020303"/>
                <a:cs typeface="Georgia" panose="02040502050405020303"/>
              </a:rPr>
              <a:t>n-</a:t>
            </a:r>
            <a:r>
              <a:rPr sz="1800" dirty="0">
                <a:latin typeface="Georgia" panose="02040502050405020303"/>
                <a:cs typeface="Georgia" panose="02040502050405020303"/>
              </a:rPr>
              <a:t>1</a:t>
            </a:r>
            <a:r>
              <a:rPr sz="1800" spc="-30" dirty="0">
                <a:latin typeface="Georgia" panose="02040502050405020303"/>
                <a:cs typeface="Georgia" panose="02040502050405020303"/>
              </a:rPr>
              <a:t> </a:t>
            </a:r>
            <a:r>
              <a:rPr sz="1800" b="1" spc="-25" dirty="0">
                <a:latin typeface="Georgia" panose="02040502050405020303"/>
                <a:cs typeface="Georgia" panose="02040502050405020303"/>
              </a:rPr>
              <a:t>do</a:t>
            </a:r>
            <a:endParaRPr sz="1800">
              <a:latin typeface="Georgia" panose="02040502050405020303"/>
              <a:cs typeface="Georgia" panose="02040502050405020303"/>
            </a:endParaRPr>
          </a:p>
          <a:p>
            <a:pPr marR="1957705" algn="ctr">
              <a:lnSpc>
                <a:spcPct val="100000"/>
              </a:lnSpc>
              <a:spcBef>
                <a:spcPts val="15"/>
              </a:spcBef>
            </a:pPr>
            <a:r>
              <a:rPr sz="1800" spc="-10" dirty="0">
                <a:latin typeface="Georgia" panose="02040502050405020303"/>
                <a:cs typeface="Georgia" panose="02040502050405020303"/>
              </a:rPr>
              <a:t>if(key==a[i])</a:t>
            </a:r>
            <a:endParaRPr sz="1800">
              <a:latin typeface="Georgia" panose="02040502050405020303"/>
              <a:cs typeface="Georgia" panose="02040502050405020303"/>
            </a:endParaRPr>
          </a:p>
          <a:p>
            <a:pPr marR="441960" algn="ctr">
              <a:lnSpc>
                <a:spcPct val="100000"/>
              </a:lnSpc>
            </a:pPr>
            <a:r>
              <a:rPr sz="1800" b="1" dirty="0">
                <a:latin typeface="Georgia" panose="02040502050405020303"/>
                <a:cs typeface="Georgia" panose="02040502050405020303"/>
              </a:rPr>
              <a:t>return</a:t>
            </a:r>
            <a:r>
              <a:rPr sz="1800" b="1" spc="-75" dirty="0">
                <a:latin typeface="Georgia" panose="02040502050405020303"/>
                <a:cs typeface="Georgia" panose="02040502050405020303"/>
              </a:rPr>
              <a:t> </a:t>
            </a:r>
            <a:r>
              <a:rPr sz="1800" b="1" spc="-25" dirty="0">
                <a:latin typeface="Georgia" panose="02040502050405020303"/>
                <a:cs typeface="Georgia" panose="02040502050405020303"/>
              </a:rPr>
              <a:t>i;</a:t>
            </a:r>
            <a:endParaRPr sz="1800">
              <a:latin typeface="Georgia" panose="02040502050405020303"/>
              <a:cs typeface="Georgia" panose="02040502050405020303"/>
            </a:endParaRPr>
          </a:p>
          <a:p>
            <a:pPr marR="4084320" algn="ctr">
              <a:lnSpc>
                <a:spcPct val="100000"/>
              </a:lnSpc>
            </a:pPr>
            <a:r>
              <a:rPr sz="1800" b="1" spc="-10" dirty="0">
                <a:latin typeface="Georgia" panose="02040502050405020303"/>
                <a:cs typeface="Georgia" panose="02040502050405020303"/>
              </a:rPr>
              <a:t>return</a:t>
            </a:r>
            <a:r>
              <a:rPr sz="1800" b="1" spc="-65" dirty="0">
                <a:latin typeface="Georgia" panose="02040502050405020303"/>
                <a:cs typeface="Georgia" panose="02040502050405020303"/>
              </a:rPr>
              <a:t> </a:t>
            </a:r>
            <a:r>
              <a:rPr sz="1800" spc="-20" dirty="0">
                <a:latin typeface="Georgia" panose="02040502050405020303"/>
                <a:cs typeface="Georgia" panose="02040502050405020303"/>
              </a:rPr>
              <a:t>-</a:t>
            </a:r>
            <a:r>
              <a:rPr sz="1800" spc="-50" dirty="0">
                <a:latin typeface="Georgia" panose="02040502050405020303"/>
                <a:cs typeface="Georgia" panose="02040502050405020303"/>
              </a:rPr>
              <a:t>1</a:t>
            </a:r>
            <a:endParaRPr sz="1800">
              <a:latin typeface="Georgia" panose="02040502050405020303"/>
              <a:cs typeface="Georgia" panose="02040502050405020303"/>
            </a:endParaRPr>
          </a:p>
        </p:txBody>
      </p:sp>
      <p:sp>
        <p:nvSpPr>
          <p:cNvPr id="4" name="object 4"/>
          <p:cNvSpPr txBox="1"/>
          <p:nvPr/>
        </p:nvSpPr>
        <p:spPr>
          <a:xfrm>
            <a:off x="129031" y="3822953"/>
            <a:ext cx="5374640" cy="878840"/>
          </a:xfrm>
          <a:prstGeom prst="rect">
            <a:avLst/>
          </a:prstGeom>
        </p:spPr>
        <p:txBody>
          <a:bodyPr vert="horz" wrap="square" lIns="0" tIns="12065" rIns="0" bIns="0" rtlCol="0">
            <a:spAutoFit/>
          </a:bodyPr>
          <a:lstStyle/>
          <a:p>
            <a:pPr marL="12700">
              <a:lnSpc>
                <a:spcPct val="100000"/>
              </a:lnSpc>
              <a:spcBef>
                <a:spcPts val="95"/>
              </a:spcBef>
            </a:pPr>
            <a:r>
              <a:rPr sz="2800" dirty="0">
                <a:solidFill>
                  <a:srgbClr val="FF0000"/>
                </a:solidFill>
                <a:latin typeface="Georgia" panose="02040502050405020303"/>
                <a:cs typeface="Georgia" panose="02040502050405020303"/>
              </a:rPr>
              <a:t>Input</a:t>
            </a:r>
            <a:r>
              <a:rPr sz="2800" spc="-120" dirty="0">
                <a:solidFill>
                  <a:srgbClr val="FF0000"/>
                </a:solidFill>
                <a:latin typeface="Georgia" panose="02040502050405020303"/>
                <a:cs typeface="Georgia" panose="02040502050405020303"/>
              </a:rPr>
              <a:t> </a:t>
            </a:r>
            <a:r>
              <a:rPr sz="2800" dirty="0">
                <a:solidFill>
                  <a:srgbClr val="FF0000"/>
                </a:solidFill>
                <a:latin typeface="Georgia" panose="02040502050405020303"/>
                <a:cs typeface="Georgia" panose="02040502050405020303"/>
              </a:rPr>
              <a:t>size:</a:t>
            </a:r>
            <a:r>
              <a:rPr sz="2800" spc="-105" dirty="0">
                <a:solidFill>
                  <a:srgbClr val="FF0000"/>
                </a:solidFill>
                <a:latin typeface="Georgia" panose="02040502050405020303"/>
                <a:cs typeface="Georgia" panose="02040502050405020303"/>
              </a:rPr>
              <a:t> </a:t>
            </a:r>
            <a:r>
              <a:rPr sz="2800" spc="-50" dirty="0">
                <a:solidFill>
                  <a:srgbClr val="FF0000"/>
                </a:solidFill>
                <a:latin typeface="Georgia" panose="02040502050405020303"/>
                <a:cs typeface="Georgia" panose="02040502050405020303"/>
              </a:rPr>
              <a:t>n</a:t>
            </a:r>
            <a:endParaRPr sz="2800">
              <a:latin typeface="Georgia" panose="02040502050405020303"/>
              <a:cs typeface="Georgia" panose="02040502050405020303"/>
            </a:endParaRPr>
          </a:p>
          <a:p>
            <a:pPr marL="12700">
              <a:lnSpc>
                <a:spcPct val="100000"/>
              </a:lnSpc>
            </a:pPr>
            <a:r>
              <a:rPr sz="2800" dirty="0">
                <a:solidFill>
                  <a:srgbClr val="FF0000"/>
                </a:solidFill>
                <a:latin typeface="Georgia" panose="02040502050405020303"/>
                <a:cs typeface="Georgia" panose="02040502050405020303"/>
              </a:rPr>
              <a:t>Basic</a:t>
            </a:r>
            <a:r>
              <a:rPr sz="2800" spc="-100" dirty="0">
                <a:solidFill>
                  <a:srgbClr val="FF0000"/>
                </a:solidFill>
                <a:latin typeface="Georgia" panose="02040502050405020303"/>
                <a:cs typeface="Georgia" panose="02040502050405020303"/>
              </a:rPr>
              <a:t> </a:t>
            </a:r>
            <a:r>
              <a:rPr sz="2800" spc="-10" dirty="0">
                <a:solidFill>
                  <a:srgbClr val="FF0000"/>
                </a:solidFill>
                <a:latin typeface="Georgia" panose="02040502050405020303"/>
                <a:cs typeface="Georgia" panose="02040502050405020303"/>
              </a:rPr>
              <a:t>operation:</a:t>
            </a:r>
            <a:r>
              <a:rPr sz="2800" spc="-130" dirty="0">
                <a:solidFill>
                  <a:srgbClr val="FF0000"/>
                </a:solidFill>
                <a:latin typeface="Georgia" panose="02040502050405020303"/>
                <a:cs typeface="Georgia" panose="02040502050405020303"/>
              </a:rPr>
              <a:t> </a:t>
            </a:r>
            <a:r>
              <a:rPr sz="2800" dirty="0">
                <a:solidFill>
                  <a:srgbClr val="FF0000"/>
                </a:solidFill>
                <a:latin typeface="Georgia" panose="02040502050405020303"/>
                <a:cs typeface="Georgia" panose="02040502050405020303"/>
              </a:rPr>
              <a:t>Comparison</a:t>
            </a:r>
            <a:r>
              <a:rPr sz="2800" spc="-110" dirty="0">
                <a:solidFill>
                  <a:srgbClr val="FF0000"/>
                </a:solidFill>
                <a:latin typeface="Georgia" panose="02040502050405020303"/>
                <a:cs typeface="Georgia" panose="02040502050405020303"/>
              </a:rPr>
              <a:t> </a:t>
            </a:r>
            <a:r>
              <a:rPr sz="2800" spc="-20" dirty="0">
                <a:solidFill>
                  <a:srgbClr val="FF0000"/>
                </a:solidFill>
                <a:latin typeface="Georgia" panose="02040502050405020303"/>
                <a:cs typeface="Georgia" panose="02040502050405020303"/>
              </a:rPr>
              <a:t>(==)</a:t>
            </a:r>
            <a:endParaRPr sz="2800">
              <a:latin typeface="Georgia" panose="02040502050405020303"/>
              <a:cs typeface="Georgia" panose="02040502050405020303"/>
            </a:endParaRPr>
          </a:p>
        </p:txBody>
      </p:sp>
      <p:pic>
        <p:nvPicPr>
          <p:cNvPr id="5" name="object 5"/>
          <p:cNvPicPr/>
          <p:nvPr/>
        </p:nvPicPr>
        <p:blipFill>
          <a:blip r:embed="rId2" cstate="print"/>
          <a:stretch>
            <a:fillRect/>
          </a:stretch>
        </p:blipFill>
        <p:spPr>
          <a:xfrm>
            <a:off x="5503671" y="1148497"/>
            <a:ext cx="6711695" cy="4229100"/>
          </a:xfrm>
          <a:prstGeom prst="rect">
            <a:avLst/>
          </a:prstGeom>
        </p:spPr>
      </p:pic>
      <p:sp>
        <p:nvSpPr>
          <p:cNvPr id="6" name="Footer Placeholder 3"/>
          <p:cNvSpPr>
            <a:spLocks noGrp="1"/>
          </p:cNvSpPr>
          <p:nvPr>
            <p:ph type="ftr" sz="quarter" idx="4294967295"/>
          </p:nvPr>
        </p:nvSpPr>
        <p:spPr>
          <a:xfrm>
            <a:off x="1698171" y="6365777"/>
            <a:ext cx="8871858" cy="365125"/>
          </a:xfrm>
          <a:prstGeom prst="rect">
            <a:avLst/>
          </a:prstGeom>
        </p:spPr>
        <p:txBody>
          <a:bodyPr/>
          <a:lstStyle/>
          <a:p>
            <a:pPr algn="ctr"/>
            <a:r>
              <a:rPr lang="en-US" sz="1200" dirty="0">
                <a:solidFill>
                  <a:schemeClr val="tx1">
                    <a:tint val="75000"/>
                  </a:schemeClr>
                </a:solidFill>
              </a:rPr>
              <a:t>Slides prepared by: Prof.Nandini K, Assistant Professor, Department of CSE, </a:t>
            </a:r>
            <a:r>
              <a:rPr lang="en-US" sz="1200" dirty="0" err="1">
                <a:solidFill>
                  <a:schemeClr val="tx1">
                    <a:tint val="75000"/>
                  </a:schemeClr>
                </a:solidFill>
              </a:rPr>
              <a:t>Dayananda</a:t>
            </a:r>
            <a:r>
              <a:rPr lang="en-US" sz="1200" dirty="0">
                <a:solidFill>
                  <a:schemeClr val="tx1">
                    <a:tint val="75000"/>
                  </a:schemeClr>
                </a:solidFill>
              </a:rPr>
              <a:t> </a:t>
            </a:r>
            <a:r>
              <a:rPr lang="en-US" sz="1200" dirty="0" err="1">
                <a:solidFill>
                  <a:schemeClr val="tx1">
                    <a:tint val="75000"/>
                  </a:schemeClr>
                </a:solidFill>
              </a:rPr>
              <a:t>Sagar</a:t>
            </a:r>
            <a:r>
              <a:rPr lang="en-US" sz="1200" dirty="0">
                <a:solidFill>
                  <a:schemeClr val="tx1">
                    <a:tint val="75000"/>
                  </a:schemeClr>
                </a:solidFill>
              </a:rPr>
              <a:t> University, </a:t>
            </a:r>
            <a:r>
              <a:rPr lang="en-US" sz="1200" dirty="0" err="1">
                <a:solidFill>
                  <a:schemeClr val="tx1">
                    <a:tint val="75000"/>
                  </a:schemeClr>
                </a:solidFill>
              </a:rPr>
              <a:t>Harohalli</a:t>
            </a:r>
            <a:r>
              <a:rPr lang="en-US" sz="1200" dirty="0">
                <a:solidFill>
                  <a:schemeClr val="tx1">
                    <a:tint val="75000"/>
                  </a:schemeClr>
                </a:solidFill>
              </a:rPr>
              <a:t>, Karnataka.</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414" y="603700"/>
            <a:ext cx="12037669" cy="689932"/>
          </a:xfrm>
          <a:prstGeom prst="rect">
            <a:avLst/>
          </a:prstGeom>
        </p:spPr>
        <p:txBody>
          <a:bodyPr vert="horz" wrap="square" lIns="0" tIns="12700" rIns="0" bIns="0" rtlCol="0">
            <a:spAutoFit/>
          </a:bodyPr>
          <a:lstStyle/>
          <a:p>
            <a:pPr marL="12700">
              <a:lnSpc>
                <a:spcPct val="100000"/>
              </a:lnSpc>
              <a:spcBef>
                <a:spcPts val="100"/>
              </a:spcBef>
            </a:pPr>
            <a:r>
              <a:rPr dirty="0"/>
              <a:t>Mathematical</a:t>
            </a:r>
            <a:r>
              <a:rPr spc="-45" dirty="0"/>
              <a:t> </a:t>
            </a:r>
            <a:r>
              <a:rPr dirty="0"/>
              <a:t>Analysis</a:t>
            </a:r>
            <a:r>
              <a:rPr spc="-120" dirty="0"/>
              <a:t> </a:t>
            </a:r>
            <a:r>
              <a:rPr dirty="0"/>
              <a:t>for</a:t>
            </a:r>
            <a:r>
              <a:rPr spc="-75" dirty="0"/>
              <a:t> </a:t>
            </a:r>
            <a:r>
              <a:rPr dirty="0"/>
              <a:t>Recursive</a:t>
            </a:r>
            <a:r>
              <a:rPr spc="-60" dirty="0"/>
              <a:t> </a:t>
            </a:r>
            <a:r>
              <a:rPr spc="-10" dirty="0"/>
              <a:t>Algorithms</a:t>
            </a:r>
          </a:p>
        </p:txBody>
      </p:sp>
      <p:sp>
        <p:nvSpPr>
          <p:cNvPr id="3" name="object 3"/>
          <p:cNvSpPr txBox="1"/>
          <p:nvPr/>
        </p:nvSpPr>
        <p:spPr>
          <a:xfrm>
            <a:off x="154330" y="1408938"/>
            <a:ext cx="10974070" cy="3470910"/>
          </a:xfrm>
          <a:prstGeom prst="rect">
            <a:avLst/>
          </a:prstGeom>
        </p:spPr>
        <p:txBody>
          <a:bodyPr vert="horz" wrap="square" lIns="0" tIns="13335" rIns="0" bIns="0" rtlCol="0">
            <a:spAutoFit/>
          </a:bodyPr>
          <a:lstStyle/>
          <a:p>
            <a:pPr marL="469900" indent="-457200">
              <a:lnSpc>
                <a:spcPct val="100000"/>
              </a:lnSpc>
              <a:spcBef>
                <a:spcPts val="105"/>
              </a:spcBef>
              <a:buAutoNum type="arabicPeriod"/>
              <a:tabLst>
                <a:tab pos="469900" algn="l"/>
              </a:tabLst>
            </a:pPr>
            <a:r>
              <a:rPr sz="2000" dirty="0">
                <a:latin typeface="Georgia" panose="02040502050405020303"/>
                <a:cs typeface="Georgia" panose="02040502050405020303"/>
              </a:rPr>
              <a:t>Decide</a:t>
            </a:r>
            <a:r>
              <a:rPr sz="2000" spc="-65" dirty="0">
                <a:latin typeface="Georgia" panose="02040502050405020303"/>
                <a:cs typeface="Georgia" panose="02040502050405020303"/>
              </a:rPr>
              <a:t> </a:t>
            </a:r>
            <a:r>
              <a:rPr sz="2000" dirty="0">
                <a:latin typeface="Georgia" panose="02040502050405020303"/>
                <a:cs typeface="Georgia" panose="02040502050405020303"/>
              </a:rPr>
              <a:t>on</a:t>
            </a:r>
            <a:r>
              <a:rPr sz="2000" spc="-30" dirty="0">
                <a:latin typeface="Georgia" panose="02040502050405020303"/>
                <a:cs typeface="Georgia" panose="02040502050405020303"/>
              </a:rPr>
              <a:t> </a:t>
            </a:r>
            <a:r>
              <a:rPr sz="2000" dirty="0">
                <a:latin typeface="Georgia" panose="02040502050405020303"/>
                <a:cs typeface="Georgia" panose="02040502050405020303"/>
              </a:rPr>
              <a:t>a</a:t>
            </a:r>
            <a:r>
              <a:rPr sz="2000" spc="-25" dirty="0">
                <a:latin typeface="Georgia" panose="02040502050405020303"/>
                <a:cs typeface="Georgia" panose="02040502050405020303"/>
              </a:rPr>
              <a:t> </a:t>
            </a:r>
            <a:r>
              <a:rPr sz="2000" dirty="0">
                <a:latin typeface="Georgia" panose="02040502050405020303"/>
                <a:cs typeface="Georgia" panose="02040502050405020303"/>
              </a:rPr>
              <a:t>parameter</a:t>
            </a:r>
            <a:r>
              <a:rPr sz="2000" spc="-70" dirty="0">
                <a:latin typeface="Georgia" panose="02040502050405020303"/>
                <a:cs typeface="Georgia" panose="02040502050405020303"/>
              </a:rPr>
              <a:t> </a:t>
            </a:r>
            <a:r>
              <a:rPr sz="2000" dirty="0">
                <a:latin typeface="Georgia" panose="02040502050405020303"/>
                <a:cs typeface="Georgia" panose="02040502050405020303"/>
              </a:rPr>
              <a:t>indicating</a:t>
            </a:r>
            <a:r>
              <a:rPr sz="2000" spc="-45" dirty="0">
                <a:latin typeface="Georgia" panose="02040502050405020303"/>
                <a:cs typeface="Georgia" panose="02040502050405020303"/>
              </a:rPr>
              <a:t> </a:t>
            </a:r>
            <a:r>
              <a:rPr sz="2000" dirty="0">
                <a:latin typeface="Georgia" panose="02040502050405020303"/>
                <a:cs typeface="Georgia" panose="02040502050405020303"/>
              </a:rPr>
              <a:t>an</a:t>
            </a:r>
            <a:r>
              <a:rPr sz="2000" spc="10" dirty="0">
                <a:latin typeface="Georgia" panose="02040502050405020303"/>
                <a:cs typeface="Georgia" panose="02040502050405020303"/>
              </a:rPr>
              <a:t> </a:t>
            </a:r>
            <a:r>
              <a:rPr sz="2000" b="1" dirty="0">
                <a:latin typeface="Georgia" panose="02040502050405020303"/>
                <a:cs typeface="Georgia" panose="02040502050405020303"/>
              </a:rPr>
              <a:t>input’s</a:t>
            </a:r>
            <a:r>
              <a:rPr sz="2000" b="1" spc="-40" dirty="0">
                <a:latin typeface="Georgia" panose="02040502050405020303"/>
                <a:cs typeface="Georgia" panose="02040502050405020303"/>
              </a:rPr>
              <a:t> </a:t>
            </a:r>
            <a:r>
              <a:rPr sz="2000" b="1" spc="-20" dirty="0">
                <a:latin typeface="Georgia" panose="02040502050405020303"/>
                <a:cs typeface="Georgia" panose="02040502050405020303"/>
              </a:rPr>
              <a:t>size</a:t>
            </a:r>
            <a:endParaRPr sz="2000" dirty="0">
              <a:latin typeface="Georgia" panose="02040502050405020303"/>
              <a:cs typeface="Georgia" panose="02040502050405020303"/>
            </a:endParaRPr>
          </a:p>
          <a:p>
            <a:pPr>
              <a:lnSpc>
                <a:spcPct val="100000"/>
              </a:lnSpc>
              <a:spcBef>
                <a:spcPts val="1505"/>
              </a:spcBef>
              <a:buAutoNum type="arabicPeriod"/>
            </a:pPr>
            <a:endParaRPr sz="2000" dirty="0">
              <a:latin typeface="Georgia" panose="02040502050405020303"/>
              <a:cs typeface="Georgia" panose="02040502050405020303"/>
            </a:endParaRPr>
          </a:p>
          <a:p>
            <a:pPr marL="469900" indent="-457200">
              <a:lnSpc>
                <a:spcPct val="100000"/>
              </a:lnSpc>
              <a:buAutoNum type="arabicPeriod"/>
              <a:tabLst>
                <a:tab pos="469900" algn="l"/>
              </a:tabLst>
            </a:pPr>
            <a:r>
              <a:rPr sz="2000" dirty="0">
                <a:latin typeface="Georgia" panose="02040502050405020303"/>
                <a:cs typeface="Georgia" panose="02040502050405020303"/>
              </a:rPr>
              <a:t>Identify</a:t>
            </a:r>
            <a:r>
              <a:rPr sz="2000" spc="-65" dirty="0">
                <a:latin typeface="Georgia" panose="02040502050405020303"/>
                <a:cs typeface="Georgia" panose="02040502050405020303"/>
              </a:rPr>
              <a:t> </a:t>
            </a:r>
            <a:r>
              <a:rPr sz="2000" dirty="0">
                <a:latin typeface="Georgia" panose="02040502050405020303"/>
                <a:cs typeface="Georgia" panose="02040502050405020303"/>
              </a:rPr>
              <a:t>the</a:t>
            </a:r>
            <a:r>
              <a:rPr sz="2000" spc="-60" dirty="0">
                <a:latin typeface="Georgia" panose="02040502050405020303"/>
                <a:cs typeface="Georgia" panose="02040502050405020303"/>
              </a:rPr>
              <a:t> </a:t>
            </a:r>
            <a:r>
              <a:rPr sz="2000" b="1" dirty="0">
                <a:latin typeface="Georgia" panose="02040502050405020303"/>
                <a:cs typeface="Georgia" panose="02040502050405020303"/>
              </a:rPr>
              <a:t>basic</a:t>
            </a:r>
            <a:r>
              <a:rPr sz="2000" b="1" spc="-55" dirty="0">
                <a:latin typeface="Georgia" panose="02040502050405020303"/>
                <a:cs typeface="Georgia" panose="02040502050405020303"/>
              </a:rPr>
              <a:t> </a:t>
            </a:r>
            <a:r>
              <a:rPr sz="2000" b="1" spc="-10" dirty="0">
                <a:latin typeface="Georgia" panose="02040502050405020303"/>
                <a:cs typeface="Georgia" panose="02040502050405020303"/>
              </a:rPr>
              <a:t>operation</a:t>
            </a:r>
            <a:endParaRPr sz="2000" dirty="0">
              <a:latin typeface="Georgia" panose="02040502050405020303"/>
              <a:cs typeface="Georgia" panose="02040502050405020303"/>
            </a:endParaRPr>
          </a:p>
          <a:p>
            <a:pPr>
              <a:lnSpc>
                <a:spcPct val="100000"/>
              </a:lnSpc>
              <a:spcBef>
                <a:spcPts val="1510"/>
              </a:spcBef>
              <a:buAutoNum type="arabicPeriod"/>
            </a:pPr>
            <a:endParaRPr sz="2000" dirty="0">
              <a:latin typeface="Georgia" panose="02040502050405020303"/>
              <a:cs typeface="Georgia" panose="02040502050405020303"/>
            </a:endParaRPr>
          </a:p>
          <a:p>
            <a:pPr marL="469900" indent="-457200">
              <a:lnSpc>
                <a:spcPct val="100000"/>
              </a:lnSpc>
              <a:buAutoNum type="arabicPeriod"/>
              <a:tabLst>
                <a:tab pos="469900" algn="l"/>
              </a:tabLst>
            </a:pPr>
            <a:r>
              <a:rPr sz="2000" dirty="0">
                <a:latin typeface="Georgia" panose="02040502050405020303"/>
                <a:cs typeface="Georgia" panose="02040502050405020303"/>
              </a:rPr>
              <a:t>Does</a:t>
            </a:r>
            <a:r>
              <a:rPr sz="2000" spc="-65" dirty="0">
                <a:latin typeface="Georgia" panose="02040502050405020303"/>
                <a:cs typeface="Georgia" panose="02040502050405020303"/>
              </a:rPr>
              <a:t> </a:t>
            </a:r>
            <a:r>
              <a:rPr sz="2000" dirty="0">
                <a:latin typeface="Georgia" panose="02040502050405020303"/>
                <a:cs typeface="Georgia" panose="02040502050405020303"/>
              </a:rPr>
              <a:t>C(n)</a:t>
            </a:r>
            <a:r>
              <a:rPr sz="2000" spc="-20" dirty="0">
                <a:latin typeface="Georgia" panose="02040502050405020303"/>
                <a:cs typeface="Georgia" panose="02040502050405020303"/>
              </a:rPr>
              <a:t> </a:t>
            </a:r>
            <a:r>
              <a:rPr sz="2000" dirty="0">
                <a:latin typeface="Georgia" panose="02040502050405020303"/>
                <a:cs typeface="Georgia" panose="02040502050405020303"/>
              </a:rPr>
              <a:t>depends</a:t>
            </a:r>
            <a:r>
              <a:rPr sz="2000" spc="-55" dirty="0">
                <a:latin typeface="Georgia" panose="02040502050405020303"/>
                <a:cs typeface="Georgia" panose="02040502050405020303"/>
              </a:rPr>
              <a:t> </a:t>
            </a:r>
            <a:r>
              <a:rPr sz="2000" b="1" dirty="0">
                <a:latin typeface="Georgia" panose="02040502050405020303"/>
                <a:cs typeface="Georgia" panose="02040502050405020303"/>
              </a:rPr>
              <a:t>only</a:t>
            </a:r>
            <a:r>
              <a:rPr sz="2000" b="1" spc="-20" dirty="0">
                <a:latin typeface="Georgia" panose="02040502050405020303"/>
                <a:cs typeface="Georgia" panose="02040502050405020303"/>
              </a:rPr>
              <a:t> </a:t>
            </a:r>
            <a:r>
              <a:rPr sz="2000" b="1" dirty="0">
                <a:latin typeface="Georgia" panose="02040502050405020303"/>
                <a:cs typeface="Georgia" panose="02040502050405020303"/>
              </a:rPr>
              <a:t>on</a:t>
            </a:r>
            <a:r>
              <a:rPr sz="2000" b="1" spc="-30" dirty="0">
                <a:latin typeface="Georgia" panose="02040502050405020303"/>
                <a:cs typeface="Georgia" panose="02040502050405020303"/>
              </a:rPr>
              <a:t> </a:t>
            </a:r>
            <a:r>
              <a:rPr sz="2000" b="1" dirty="0">
                <a:latin typeface="Georgia" panose="02040502050405020303"/>
                <a:cs typeface="Georgia" panose="02040502050405020303"/>
              </a:rPr>
              <a:t>n</a:t>
            </a:r>
            <a:r>
              <a:rPr sz="2000" b="1" spc="-25" dirty="0">
                <a:latin typeface="Georgia" panose="02040502050405020303"/>
                <a:cs typeface="Georgia" panose="02040502050405020303"/>
              </a:rPr>
              <a:t> </a:t>
            </a:r>
            <a:r>
              <a:rPr sz="2000" dirty="0">
                <a:latin typeface="Georgia" panose="02040502050405020303"/>
                <a:cs typeface="Georgia" panose="02040502050405020303"/>
              </a:rPr>
              <a:t>or does</a:t>
            </a:r>
            <a:r>
              <a:rPr sz="2000" spc="-40" dirty="0">
                <a:latin typeface="Georgia" panose="02040502050405020303"/>
                <a:cs typeface="Georgia" panose="02040502050405020303"/>
              </a:rPr>
              <a:t> </a:t>
            </a:r>
            <a:r>
              <a:rPr sz="2000" dirty="0">
                <a:latin typeface="Georgia" panose="02040502050405020303"/>
                <a:cs typeface="Georgia" panose="02040502050405020303"/>
              </a:rPr>
              <a:t>it</a:t>
            </a:r>
            <a:r>
              <a:rPr sz="2000" spc="-35" dirty="0">
                <a:latin typeface="Georgia" panose="02040502050405020303"/>
                <a:cs typeface="Georgia" panose="02040502050405020303"/>
              </a:rPr>
              <a:t> </a:t>
            </a:r>
            <a:r>
              <a:rPr sz="2000" dirty="0">
                <a:latin typeface="Georgia" panose="02040502050405020303"/>
                <a:cs typeface="Georgia" panose="02040502050405020303"/>
              </a:rPr>
              <a:t>also</a:t>
            </a:r>
            <a:r>
              <a:rPr sz="2000" spc="-20" dirty="0">
                <a:latin typeface="Georgia" panose="02040502050405020303"/>
                <a:cs typeface="Georgia" panose="02040502050405020303"/>
              </a:rPr>
              <a:t> </a:t>
            </a:r>
            <a:r>
              <a:rPr sz="2000" b="1" dirty="0">
                <a:latin typeface="Georgia" panose="02040502050405020303"/>
                <a:cs typeface="Georgia" panose="02040502050405020303"/>
              </a:rPr>
              <a:t>depend</a:t>
            </a:r>
            <a:r>
              <a:rPr sz="2000" b="1" spc="-55" dirty="0">
                <a:latin typeface="Georgia" panose="02040502050405020303"/>
                <a:cs typeface="Georgia" panose="02040502050405020303"/>
              </a:rPr>
              <a:t> </a:t>
            </a:r>
            <a:r>
              <a:rPr sz="2000" b="1" dirty="0">
                <a:latin typeface="Georgia" panose="02040502050405020303"/>
                <a:cs typeface="Georgia" panose="02040502050405020303"/>
              </a:rPr>
              <a:t>on</a:t>
            </a:r>
            <a:r>
              <a:rPr sz="2000" b="1" spc="-50" dirty="0">
                <a:latin typeface="Georgia" panose="02040502050405020303"/>
                <a:cs typeface="Georgia" panose="02040502050405020303"/>
              </a:rPr>
              <a:t> </a:t>
            </a:r>
            <a:r>
              <a:rPr sz="2000" b="1" dirty="0">
                <a:latin typeface="Georgia" panose="02040502050405020303"/>
                <a:cs typeface="Georgia" panose="02040502050405020303"/>
              </a:rPr>
              <a:t>type</a:t>
            </a:r>
            <a:r>
              <a:rPr sz="2000" b="1" spc="-60" dirty="0">
                <a:latin typeface="Georgia" panose="02040502050405020303"/>
                <a:cs typeface="Georgia" panose="02040502050405020303"/>
              </a:rPr>
              <a:t> </a:t>
            </a:r>
            <a:r>
              <a:rPr sz="2000" dirty="0">
                <a:latin typeface="Georgia" panose="02040502050405020303"/>
                <a:cs typeface="Georgia" panose="02040502050405020303"/>
              </a:rPr>
              <a:t>of</a:t>
            </a:r>
            <a:r>
              <a:rPr sz="2000" spc="-25" dirty="0">
                <a:latin typeface="Georgia" panose="02040502050405020303"/>
                <a:cs typeface="Georgia" panose="02040502050405020303"/>
              </a:rPr>
              <a:t> </a:t>
            </a:r>
            <a:r>
              <a:rPr sz="2000" spc="-10" dirty="0">
                <a:latin typeface="Georgia" panose="02040502050405020303"/>
                <a:cs typeface="Georgia" panose="02040502050405020303"/>
              </a:rPr>
              <a:t>input?</a:t>
            </a:r>
            <a:endParaRPr sz="2000" dirty="0">
              <a:latin typeface="Georgia" panose="02040502050405020303"/>
              <a:cs typeface="Georgia" panose="02040502050405020303"/>
            </a:endParaRPr>
          </a:p>
          <a:p>
            <a:pPr>
              <a:lnSpc>
                <a:spcPct val="100000"/>
              </a:lnSpc>
              <a:spcBef>
                <a:spcPts val="1510"/>
              </a:spcBef>
              <a:buAutoNum type="arabicPeriod"/>
            </a:pPr>
            <a:endParaRPr sz="2000" dirty="0">
              <a:latin typeface="Georgia" panose="02040502050405020303"/>
              <a:cs typeface="Georgia" panose="02040502050405020303"/>
            </a:endParaRPr>
          </a:p>
          <a:p>
            <a:pPr marL="469900" indent="-457200">
              <a:lnSpc>
                <a:spcPct val="100000"/>
              </a:lnSpc>
              <a:buAutoNum type="arabicPeriod"/>
              <a:tabLst>
                <a:tab pos="469900" algn="l"/>
              </a:tabLst>
            </a:pPr>
            <a:r>
              <a:rPr sz="2000" b="1" dirty="0">
                <a:latin typeface="Georgia" panose="02040502050405020303"/>
                <a:cs typeface="Georgia" panose="02040502050405020303"/>
              </a:rPr>
              <a:t>Set</a:t>
            </a:r>
            <a:r>
              <a:rPr sz="2000" b="1" spc="-35" dirty="0">
                <a:latin typeface="Georgia" panose="02040502050405020303"/>
                <a:cs typeface="Georgia" panose="02040502050405020303"/>
              </a:rPr>
              <a:t> </a:t>
            </a:r>
            <a:r>
              <a:rPr sz="2000" b="1" dirty="0">
                <a:latin typeface="Georgia" panose="02040502050405020303"/>
                <a:cs typeface="Georgia" panose="02040502050405020303"/>
              </a:rPr>
              <a:t>up</a:t>
            </a:r>
            <a:r>
              <a:rPr sz="2000" b="1" spc="-10" dirty="0">
                <a:latin typeface="Georgia" panose="02040502050405020303"/>
                <a:cs typeface="Georgia" panose="02040502050405020303"/>
              </a:rPr>
              <a:t> Recurrence</a:t>
            </a:r>
            <a:r>
              <a:rPr sz="2000" b="1" spc="-80" dirty="0">
                <a:latin typeface="Georgia" panose="02040502050405020303"/>
                <a:cs typeface="Georgia" panose="02040502050405020303"/>
              </a:rPr>
              <a:t> </a:t>
            </a:r>
            <a:r>
              <a:rPr sz="2000" b="1" dirty="0">
                <a:latin typeface="Georgia" panose="02040502050405020303"/>
                <a:cs typeface="Georgia" panose="02040502050405020303"/>
              </a:rPr>
              <a:t>relation</a:t>
            </a:r>
            <a:r>
              <a:rPr sz="2000" b="1" spc="-40" dirty="0">
                <a:latin typeface="Georgia" panose="02040502050405020303"/>
                <a:cs typeface="Georgia" panose="02040502050405020303"/>
              </a:rPr>
              <a:t> </a:t>
            </a:r>
            <a:r>
              <a:rPr sz="2000" dirty="0">
                <a:latin typeface="Georgia" panose="02040502050405020303"/>
                <a:cs typeface="Georgia" panose="02040502050405020303"/>
              </a:rPr>
              <a:t>expressing</a:t>
            </a:r>
            <a:r>
              <a:rPr sz="2000" spc="-70" dirty="0">
                <a:latin typeface="Georgia" panose="02040502050405020303"/>
                <a:cs typeface="Georgia" panose="02040502050405020303"/>
              </a:rPr>
              <a:t> </a:t>
            </a:r>
            <a:r>
              <a:rPr sz="2000" dirty="0">
                <a:latin typeface="Georgia" panose="02040502050405020303"/>
                <a:cs typeface="Georgia" panose="02040502050405020303"/>
              </a:rPr>
              <a:t>the</a:t>
            </a:r>
            <a:r>
              <a:rPr sz="2000" spc="-60" dirty="0">
                <a:latin typeface="Georgia" panose="02040502050405020303"/>
                <a:cs typeface="Georgia" panose="02040502050405020303"/>
              </a:rPr>
              <a:t> </a:t>
            </a:r>
            <a:r>
              <a:rPr sz="2000" dirty="0">
                <a:latin typeface="Georgia" panose="02040502050405020303"/>
                <a:cs typeface="Georgia" panose="02040502050405020303"/>
              </a:rPr>
              <a:t>number</a:t>
            </a:r>
            <a:r>
              <a:rPr sz="2000" spc="-15" dirty="0">
                <a:latin typeface="Georgia" panose="02040502050405020303"/>
                <a:cs typeface="Georgia" panose="02040502050405020303"/>
              </a:rPr>
              <a:t> </a:t>
            </a:r>
            <a:r>
              <a:rPr sz="2000" dirty="0">
                <a:latin typeface="Georgia" panose="02040502050405020303"/>
                <a:cs typeface="Georgia" panose="02040502050405020303"/>
              </a:rPr>
              <a:t>of</a:t>
            </a:r>
            <a:r>
              <a:rPr sz="2000" spc="-40" dirty="0">
                <a:latin typeface="Georgia" panose="02040502050405020303"/>
                <a:cs typeface="Georgia" panose="02040502050405020303"/>
              </a:rPr>
              <a:t> </a:t>
            </a:r>
            <a:r>
              <a:rPr sz="2000" dirty="0">
                <a:latin typeface="Georgia" panose="02040502050405020303"/>
                <a:cs typeface="Georgia" panose="02040502050405020303"/>
              </a:rPr>
              <a:t>of</a:t>
            </a:r>
            <a:r>
              <a:rPr sz="2000" spc="-40" dirty="0">
                <a:latin typeface="Georgia" panose="02040502050405020303"/>
                <a:cs typeface="Georgia" panose="02040502050405020303"/>
              </a:rPr>
              <a:t> </a:t>
            </a:r>
            <a:r>
              <a:rPr sz="2000" dirty="0">
                <a:latin typeface="Georgia" panose="02040502050405020303"/>
                <a:cs typeface="Georgia" panose="02040502050405020303"/>
              </a:rPr>
              <a:t>times</a:t>
            </a:r>
            <a:r>
              <a:rPr sz="2000" spc="-45" dirty="0">
                <a:latin typeface="Georgia" panose="02040502050405020303"/>
                <a:cs typeface="Georgia" panose="02040502050405020303"/>
              </a:rPr>
              <a:t> </a:t>
            </a:r>
            <a:r>
              <a:rPr sz="2000" dirty="0">
                <a:latin typeface="Georgia" panose="02040502050405020303"/>
                <a:cs typeface="Georgia" panose="02040502050405020303"/>
              </a:rPr>
              <a:t>basic</a:t>
            </a:r>
            <a:r>
              <a:rPr sz="2000" spc="-35" dirty="0">
                <a:latin typeface="Georgia" panose="02040502050405020303"/>
                <a:cs typeface="Georgia" panose="02040502050405020303"/>
              </a:rPr>
              <a:t> </a:t>
            </a:r>
            <a:r>
              <a:rPr sz="2000" dirty="0">
                <a:latin typeface="Georgia" panose="02040502050405020303"/>
                <a:cs typeface="Georgia" panose="02040502050405020303"/>
              </a:rPr>
              <a:t>operation</a:t>
            </a:r>
            <a:r>
              <a:rPr sz="2000" spc="-75" dirty="0">
                <a:latin typeface="Georgia" panose="02040502050405020303"/>
                <a:cs typeface="Georgia" panose="02040502050405020303"/>
              </a:rPr>
              <a:t> </a:t>
            </a:r>
            <a:r>
              <a:rPr sz="2000" dirty="0">
                <a:latin typeface="Georgia" panose="02040502050405020303"/>
                <a:cs typeface="Georgia" panose="02040502050405020303"/>
              </a:rPr>
              <a:t>is </a:t>
            </a:r>
            <a:r>
              <a:rPr sz="2000" spc="-10" dirty="0">
                <a:latin typeface="Georgia" panose="02040502050405020303"/>
                <a:cs typeface="Georgia" panose="02040502050405020303"/>
              </a:rPr>
              <a:t>executed.</a:t>
            </a:r>
            <a:endParaRPr sz="2000" dirty="0">
              <a:latin typeface="Georgia" panose="02040502050405020303"/>
              <a:cs typeface="Georgia" panose="02040502050405020303"/>
            </a:endParaRPr>
          </a:p>
          <a:p>
            <a:pPr>
              <a:lnSpc>
                <a:spcPct val="100000"/>
              </a:lnSpc>
              <a:spcBef>
                <a:spcPts val="1505"/>
              </a:spcBef>
              <a:buAutoNum type="arabicPeriod"/>
            </a:pPr>
            <a:endParaRPr sz="2000" dirty="0">
              <a:latin typeface="Georgia" panose="02040502050405020303"/>
              <a:cs typeface="Georgia" panose="02040502050405020303"/>
            </a:endParaRPr>
          </a:p>
          <a:p>
            <a:pPr marL="469900" indent="-457200">
              <a:lnSpc>
                <a:spcPct val="100000"/>
              </a:lnSpc>
              <a:buAutoNum type="arabicPeriod"/>
              <a:tabLst>
                <a:tab pos="469900" algn="l"/>
              </a:tabLst>
            </a:pPr>
            <a:r>
              <a:rPr sz="2000" dirty="0">
                <a:latin typeface="Georgia" panose="02040502050405020303"/>
                <a:cs typeface="Georgia" panose="02040502050405020303"/>
              </a:rPr>
              <a:t>Solve</a:t>
            </a:r>
            <a:r>
              <a:rPr sz="2000" spc="-60" dirty="0">
                <a:latin typeface="Georgia" panose="02040502050405020303"/>
                <a:cs typeface="Georgia" panose="02040502050405020303"/>
              </a:rPr>
              <a:t> </a:t>
            </a:r>
            <a:r>
              <a:rPr sz="2000" dirty="0">
                <a:latin typeface="Georgia" panose="02040502050405020303"/>
                <a:cs typeface="Georgia" panose="02040502050405020303"/>
              </a:rPr>
              <a:t>the</a:t>
            </a:r>
            <a:r>
              <a:rPr sz="2000" spc="-50" dirty="0">
                <a:latin typeface="Georgia" panose="02040502050405020303"/>
                <a:cs typeface="Georgia" panose="02040502050405020303"/>
              </a:rPr>
              <a:t> </a:t>
            </a:r>
            <a:r>
              <a:rPr sz="2000" dirty="0">
                <a:latin typeface="Georgia" panose="02040502050405020303"/>
                <a:cs typeface="Georgia" panose="02040502050405020303"/>
              </a:rPr>
              <a:t>recurrence</a:t>
            </a:r>
            <a:r>
              <a:rPr sz="2000" spc="-35" dirty="0">
                <a:latin typeface="Georgia" panose="02040502050405020303"/>
                <a:cs typeface="Georgia" panose="02040502050405020303"/>
              </a:rPr>
              <a:t> </a:t>
            </a:r>
            <a:r>
              <a:rPr sz="2000" dirty="0">
                <a:latin typeface="Georgia" panose="02040502050405020303"/>
                <a:cs typeface="Georgia" panose="02040502050405020303"/>
              </a:rPr>
              <a:t>relation</a:t>
            </a:r>
            <a:r>
              <a:rPr sz="2000" spc="-35" dirty="0">
                <a:latin typeface="Georgia" panose="02040502050405020303"/>
                <a:cs typeface="Georgia" panose="02040502050405020303"/>
              </a:rPr>
              <a:t> </a:t>
            </a:r>
            <a:r>
              <a:rPr sz="2000" dirty="0">
                <a:latin typeface="Georgia" panose="02040502050405020303"/>
                <a:cs typeface="Georgia" panose="02040502050405020303"/>
              </a:rPr>
              <a:t>and</a:t>
            </a:r>
            <a:r>
              <a:rPr sz="2000" spc="-15" dirty="0">
                <a:latin typeface="Georgia" panose="02040502050405020303"/>
                <a:cs typeface="Georgia" panose="02040502050405020303"/>
              </a:rPr>
              <a:t> </a:t>
            </a:r>
            <a:r>
              <a:rPr sz="2000" dirty="0">
                <a:latin typeface="Georgia" panose="02040502050405020303"/>
                <a:cs typeface="Georgia" panose="02040502050405020303"/>
              </a:rPr>
              <a:t>establish</a:t>
            </a:r>
            <a:r>
              <a:rPr sz="2000" spc="-60" dirty="0">
                <a:latin typeface="Georgia" panose="02040502050405020303"/>
                <a:cs typeface="Georgia" panose="02040502050405020303"/>
              </a:rPr>
              <a:t> </a:t>
            </a:r>
            <a:r>
              <a:rPr sz="2000" dirty="0">
                <a:latin typeface="Georgia" panose="02040502050405020303"/>
                <a:cs typeface="Georgia" panose="02040502050405020303"/>
              </a:rPr>
              <a:t>its</a:t>
            </a:r>
            <a:r>
              <a:rPr sz="2000" spc="-20" dirty="0">
                <a:latin typeface="Georgia" panose="02040502050405020303"/>
                <a:cs typeface="Georgia" panose="02040502050405020303"/>
              </a:rPr>
              <a:t> </a:t>
            </a:r>
            <a:r>
              <a:rPr sz="2000" dirty="0">
                <a:latin typeface="Georgia" panose="02040502050405020303"/>
                <a:cs typeface="Georgia" panose="02040502050405020303"/>
              </a:rPr>
              <a:t>order</a:t>
            </a:r>
            <a:r>
              <a:rPr sz="2000" spc="-60" dirty="0">
                <a:latin typeface="Georgia" panose="02040502050405020303"/>
                <a:cs typeface="Georgia" panose="02040502050405020303"/>
              </a:rPr>
              <a:t> </a:t>
            </a:r>
            <a:r>
              <a:rPr sz="2000" dirty="0">
                <a:latin typeface="Georgia" panose="02040502050405020303"/>
                <a:cs typeface="Georgia" panose="02040502050405020303"/>
              </a:rPr>
              <a:t>of</a:t>
            </a:r>
            <a:r>
              <a:rPr sz="2000" spc="-45" dirty="0">
                <a:latin typeface="Georgia" panose="02040502050405020303"/>
                <a:cs typeface="Georgia" panose="02040502050405020303"/>
              </a:rPr>
              <a:t> </a:t>
            </a:r>
            <a:r>
              <a:rPr sz="2000" spc="-10" dirty="0">
                <a:latin typeface="Georgia" panose="02040502050405020303"/>
                <a:cs typeface="Georgia" panose="02040502050405020303"/>
              </a:rPr>
              <a:t>growth</a:t>
            </a:r>
            <a:endParaRPr sz="2000" dirty="0">
              <a:latin typeface="Georgia" panose="02040502050405020303"/>
              <a:cs typeface="Georgia" panose="02040502050405020303"/>
            </a:endParaRPr>
          </a:p>
        </p:txBody>
      </p:sp>
      <p:sp>
        <p:nvSpPr>
          <p:cNvPr id="4" name="Footer Placeholder 3"/>
          <p:cNvSpPr>
            <a:spLocks noGrp="1"/>
          </p:cNvSpPr>
          <p:nvPr>
            <p:ph type="ftr" sz="quarter" idx="4294967295"/>
          </p:nvPr>
        </p:nvSpPr>
        <p:spPr>
          <a:xfrm>
            <a:off x="1698171" y="6365777"/>
            <a:ext cx="8871858" cy="365125"/>
          </a:xfrm>
          <a:prstGeom prst="rect">
            <a:avLst/>
          </a:prstGeom>
        </p:spPr>
        <p:txBody>
          <a:bodyPr/>
          <a:lstStyle/>
          <a:p>
            <a:pPr algn="ctr"/>
            <a:r>
              <a:rPr lang="en-US" sz="1200" dirty="0">
                <a:solidFill>
                  <a:schemeClr val="tx1">
                    <a:tint val="75000"/>
                  </a:schemeClr>
                </a:solidFill>
              </a:rPr>
              <a:t>Slides prepared by: Prof.Nandini K, Assistant Professor, Department of CSE, </a:t>
            </a:r>
            <a:r>
              <a:rPr lang="en-US" sz="1200" dirty="0" err="1">
                <a:solidFill>
                  <a:schemeClr val="tx1">
                    <a:tint val="75000"/>
                  </a:schemeClr>
                </a:solidFill>
              </a:rPr>
              <a:t>Dayananda</a:t>
            </a:r>
            <a:r>
              <a:rPr lang="en-US" sz="1200" dirty="0">
                <a:solidFill>
                  <a:schemeClr val="tx1">
                    <a:tint val="75000"/>
                  </a:schemeClr>
                </a:solidFill>
              </a:rPr>
              <a:t> </a:t>
            </a:r>
            <a:r>
              <a:rPr lang="en-US" sz="1200" dirty="0" err="1">
                <a:solidFill>
                  <a:schemeClr val="tx1">
                    <a:tint val="75000"/>
                  </a:schemeClr>
                </a:solidFill>
              </a:rPr>
              <a:t>Sagar</a:t>
            </a:r>
            <a:r>
              <a:rPr lang="en-US" sz="1200" dirty="0">
                <a:solidFill>
                  <a:schemeClr val="tx1">
                    <a:tint val="75000"/>
                  </a:schemeClr>
                </a:solidFill>
              </a:rPr>
              <a:t> University, </a:t>
            </a:r>
            <a:r>
              <a:rPr lang="en-US" sz="1200" dirty="0" err="1">
                <a:solidFill>
                  <a:schemeClr val="tx1">
                    <a:tint val="75000"/>
                  </a:schemeClr>
                </a:solidFill>
              </a:rPr>
              <a:t>Harohalli</a:t>
            </a:r>
            <a:r>
              <a:rPr lang="en-US" sz="1200" dirty="0">
                <a:solidFill>
                  <a:schemeClr val="tx1">
                    <a:tint val="75000"/>
                  </a:schemeClr>
                </a:solidFill>
              </a:rPr>
              <a:t>, Karnataka.</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Types</a:t>
            </a:r>
            <a:r>
              <a:rPr spc="-90" dirty="0"/>
              <a:t> </a:t>
            </a:r>
            <a:r>
              <a:rPr dirty="0"/>
              <a:t>of</a:t>
            </a:r>
            <a:r>
              <a:rPr spc="-60" dirty="0"/>
              <a:t> </a:t>
            </a:r>
            <a:r>
              <a:rPr spc="-10" dirty="0"/>
              <a:t>Recursion</a:t>
            </a:r>
          </a:p>
        </p:txBody>
      </p:sp>
      <p:sp>
        <p:nvSpPr>
          <p:cNvPr id="3" name="object 3"/>
          <p:cNvSpPr txBox="1"/>
          <p:nvPr/>
        </p:nvSpPr>
        <p:spPr>
          <a:xfrm>
            <a:off x="154330" y="1408938"/>
            <a:ext cx="11588750" cy="2486660"/>
          </a:xfrm>
          <a:prstGeom prst="rect">
            <a:avLst/>
          </a:prstGeom>
        </p:spPr>
        <p:txBody>
          <a:bodyPr vert="horz" wrap="square" lIns="0" tIns="13335" rIns="0" bIns="0" rtlCol="0">
            <a:spAutoFit/>
          </a:bodyPr>
          <a:lstStyle/>
          <a:p>
            <a:pPr marL="469900" indent="-457200">
              <a:lnSpc>
                <a:spcPct val="100000"/>
              </a:lnSpc>
              <a:spcBef>
                <a:spcPts val="105"/>
              </a:spcBef>
              <a:buAutoNum type="arabicPeriod"/>
              <a:tabLst>
                <a:tab pos="469900" algn="l"/>
              </a:tabLst>
            </a:pPr>
            <a:r>
              <a:rPr sz="2000" b="1" dirty="0">
                <a:latin typeface="Georgia" panose="02040502050405020303"/>
                <a:cs typeface="Georgia" panose="02040502050405020303"/>
              </a:rPr>
              <a:t>Direct</a:t>
            </a:r>
            <a:r>
              <a:rPr sz="2000" b="1" spc="-55" dirty="0">
                <a:latin typeface="Georgia" panose="02040502050405020303"/>
                <a:cs typeface="Georgia" panose="02040502050405020303"/>
              </a:rPr>
              <a:t> </a:t>
            </a:r>
            <a:r>
              <a:rPr sz="2000" b="1" dirty="0">
                <a:latin typeface="Georgia" panose="02040502050405020303"/>
                <a:cs typeface="Georgia" panose="02040502050405020303"/>
              </a:rPr>
              <a:t>Recursion:</a:t>
            </a:r>
            <a:r>
              <a:rPr sz="2000" b="1" spc="-60" dirty="0">
                <a:latin typeface="Georgia" panose="02040502050405020303"/>
                <a:cs typeface="Georgia" panose="02040502050405020303"/>
              </a:rPr>
              <a:t> </a:t>
            </a:r>
            <a:r>
              <a:rPr sz="2000" dirty="0">
                <a:latin typeface="Georgia" panose="02040502050405020303"/>
                <a:cs typeface="Georgia" panose="02040502050405020303"/>
              </a:rPr>
              <a:t>A</a:t>
            </a:r>
            <a:r>
              <a:rPr sz="2000" spc="-25" dirty="0">
                <a:latin typeface="Georgia" panose="02040502050405020303"/>
                <a:cs typeface="Georgia" panose="02040502050405020303"/>
              </a:rPr>
              <a:t> </a:t>
            </a:r>
            <a:r>
              <a:rPr sz="2000" dirty="0">
                <a:latin typeface="Georgia" panose="02040502050405020303"/>
                <a:cs typeface="Georgia" panose="02040502050405020303"/>
              </a:rPr>
              <a:t>recursive</a:t>
            </a:r>
            <a:r>
              <a:rPr sz="2000" spc="-30" dirty="0">
                <a:latin typeface="Georgia" panose="02040502050405020303"/>
                <a:cs typeface="Georgia" panose="02040502050405020303"/>
              </a:rPr>
              <a:t> </a:t>
            </a:r>
            <a:r>
              <a:rPr sz="2000" dirty="0">
                <a:latin typeface="Georgia" panose="02040502050405020303"/>
                <a:cs typeface="Georgia" panose="02040502050405020303"/>
              </a:rPr>
              <a:t>function</a:t>
            </a:r>
            <a:r>
              <a:rPr sz="2000" spc="-45" dirty="0">
                <a:latin typeface="Georgia" panose="02040502050405020303"/>
                <a:cs typeface="Georgia" panose="02040502050405020303"/>
              </a:rPr>
              <a:t> </a:t>
            </a:r>
            <a:r>
              <a:rPr sz="2000" dirty="0">
                <a:latin typeface="Georgia" panose="02040502050405020303"/>
                <a:cs typeface="Georgia" panose="02040502050405020303"/>
              </a:rPr>
              <a:t>that</a:t>
            </a:r>
            <a:r>
              <a:rPr sz="2000" spc="-50" dirty="0">
                <a:latin typeface="Georgia" panose="02040502050405020303"/>
                <a:cs typeface="Georgia" panose="02040502050405020303"/>
              </a:rPr>
              <a:t> </a:t>
            </a:r>
            <a:r>
              <a:rPr sz="2000" dirty="0">
                <a:latin typeface="Georgia" panose="02040502050405020303"/>
                <a:cs typeface="Georgia" panose="02040502050405020303"/>
              </a:rPr>
              <a:t>invokes</a:t>
            </a:r>
            <a:r>
              <a:rPr sz="2000" spc="-45" dirty="0">
                <a:latin typeface="Georgia" panose="02040502050405020303"/>
                <a:cs typeface="Georgia" panose="02040502050405020303"/>
              </a:rPr>
              <a:t> </a:t>
            </a:r>
            <a:r>
              <a:rPr sz="2000" dirty="0">
                <a:latin typeface="Georgia" panose="02040502050405020303"/>
                <a:cs typeface="Georgia" panose="02040502050405020303"/>
              </a:rPr>
              <a:t>itself</a:t>
            </a:r>
            <a:r>
              <a:rPr sz="2000" spc="-50" dirty="0">
                <a:latin typeface="Georgia" panose="02040502050405020303"/>
                <a:cs typeface="Georgia" panose="02040502050405020303"/>
              </a:rPr>
              <a:t> </a:t>
            </a:r>
            <a:r>
              <a:rPr sz="2000" dirty="0">
                <a:latin typeface="Georgia" panose="02040502050405020303"/>
                <a:cs typeface="Georgia" panose="02040502050405020303"/>
              </a:rPr>
              <a:t>is</a:t>
            </a:r>
            <a:r>
              <a:rPr sz="2000" spc="-5" dirty="0">
                <a:latin typeface="Georgia" panose="02040502050405020303"/>
                <a:cs typeface="Georgia" panose="02040502050405020303"/>
              </a:rPr>
              <a:t> </a:t>
            </a:r>
            <a:r>
              <a:rPr sz="2000" dirty="0">
                <a:latin typeface="Georgia" panose="02040502050405020303"/>
                <a:cs typeface="Georgia" panose="02040502050405020303"/>
              </a:rPr>
              <a:t>said</a:t>
            </a:r>
            <a:r>
              <a:rPr sz="2000" spc="-40" dirty="0">
                <a:latin typeface="Georgia" panose="02040502050405020303"/>
                <a:cs typeface="Georgia" panose="02040502050405020303"/>
              </a:rPr>
              <a:t> </a:t>
            </a:r>
            <a:r>
              <a:rPr sz="2000" dirty="0">
                <a:latin typeface="Georgia" panose="02040502050405020303"/>
                <a:cs typeface="Georgia" panose="02040502050405020303"/>
              </a:rPr>
              <a:t>to</a:t>
            </a:r>
            <a:r>
              <a:rPr sz="2000" spc="-40" dirty="0">
                <a:latin typeface="Georgia" panose="02040502050405020303"/>
                <a:cs typeface="Georgia" panose="02040502050405020303"/>
              </a:rPr>
              <a:t> </a:t>
            </a:r>
            <a:r>
              <a:rPr sz="2000" dirty="0">
                <a:latin typeface="Georgia" panose="02040502050405020303"/>
                <a:cs typeface="Georgia" panose="02040502050405020303"/>
              </a:rPr>
              <a:t>have</a:t>
            </a:r>
            <a:r>
              <a:rPr sz="2000" spc="-55" dirty="0">
                <a:latin typeface="Georgia" panose="02040502050405020303"/>
                <a:cs typeface="Georgia" panose="02040502050405020303"/>
              </a:rPr>
              <a:t> </a:t>
            </a:r>
            <a:r>
              <a:rPr sz="2000" dirty="0">
                <a:latin typeface="Georgia" panose="02040502050405020303"/>
                <a:cs typeface="Georgia" panose="02040502050405020303"/>
              </a:rPr>
              <a:t>direct</a:t>
            </a:r>
            <a:r>
              <a:rPr sz="2000" spc="-15" dirty="0">
                <a:latin typeface="Georgia" panose="02040502050405020303"/>
                <a:cs typeface="Georgia" panose="02040502050405020303"/>
              </a:rPr>
              <a:t> </a:t>
            </a:r>
            <a:r>
              <a:rPr sz="2000" spc="-10" dirty="0">
                <a:latin typeface="Georgia" panose="02040502050405020303"/>
                <a:cs typeface="Georgia" panose="02040502050405020303"/>
              </a:rPr>
              <a:t>recursion.</a:t>
            </a:r>
            <a:endParaRPr sz="2000">
              <a:latin typeface="Georgia" panose="02040502050405020303"/>
              <a:cs typeface="Georgia" panose="02040502050405020303"/>
            </a:endParaRPr>
          </a:p>
          <a:p>
            <a:pPr>
              <a:lnSpc>
                <a:spcPct val="100000"/>
              </a:lnSpc>
              <a:spcBef>
                <a:spcPts val="290"/>
              </a:spcBef>
              <a:buFont typeface="Georgia" panose="02040502050405020303"/>
              <a:buAutoNum type="arabicPeriod"/>
            </a:pPr>
            <a:endParaRPr sz="2000">
              <a:latin typeface="Georgia" panose="02040502050405020303"/>
              <a:cs typeface="Georgia" panose="02040502050405020303"/>
            </a:endParaRPr>
          </a:p>
          <a:p>
            <a:pPr marL="469900" indent="-457200">
              <a:lnSpc>
                <a:spcPct val="100000"/>
              </a:lnSpc>
              <a:spcBef>
                <a:spcPts val="5"/>
              </a:spcBef>
              <a:buAutoNum type="arabicPeriod"/>
              <a:tabLst>
                <a:tab pos="469900" algn="l"/>
              </a:tabLst>
            </a:pPr>
            <a:r>
              <a:rPr sz="2000" b="1" dirty="0">
                <a:latin typeface="Georgia" panose="02040502050405020303"/>
                <a:cs typeface="Georgia" panose="02040502050405020303"/>
              </a:rPr>
              <a:t>Indirect</a:t>
            </a:r>
            <a:r>
              <a:rPr sz="2000" b="1" spc="135" dirty="0">
                <a:latin typeface="Georgia" panose="02040502050405020303"/>
                <a:cs typeface="Georgia" panose="02040502050405020303"/>
              </a:rPr>
              <a:t> </a:t>
            </a:r>
            <a:r>
              <a:rPr sz="2000" b="1" dirty="0">
                <a:latin typeface="Georgia" panose="02040502050405020303"/>
                <a:cs typeface="Georgia" panose="02040502050405020303"/>
              </a:rPr>
              <a:t>Recursion:</a:t>
            </a:r>
            <a:r>
              <a:rPr sz="2000" b="1" spc="135" dirty="0">
                <a:latin typeface="Georgia" panose="02040502050405020303"/>
                <a:cs typeface="Georgia" panose="02040502050405020303"/>
              </a:rPr>
              <a:t> </a:t>
            </a:r>
            <a:r>
              <a:rPr sz="2000" dirty="0">
                <a:latin typeface="Georgia" panose="02040502050405020303"/>
                <a:cs typeface="Georgia" panose="02040502050405020303"/>
              </a:rPr>
              <a:t>A</a:t>
            </a:r>
            <a:r>
              <a:rPr sz="2000" spc="170" dirty="0">
                <a:latin typeface="Georgia" panose="02040502050405020303"/>
                <a:cs typeface="Georgia" panose="02040502050405020303"/>
              </a:rPr>
              <a:t> </a:t>
            </a:r>
            <a:r>
              <a:rPr sz="2000" dirty="0">
                <a:latin typeface="Georgia" panose="02040502050405020303"/>
                <a:cs typeface="Georgia" panose="02040502050405020303"/>
              </a:rPr>
              <a:t>function</a:t>
            </a:r>
            <a:r>
              <a:rPr sz="2000" spc="155" dirty="0">
                <a:latin typeface="Georgia" panose="02040502050405020303"/>
                <a:cs typeface="Georgia" panose="02040502050405020303"/>
              </a:rPr>
              <a:t> </a:t>
            </a:r>
            <a:r>
              <a:rPr sz="2000" dirty="0">
                <a:latin typeface="Georgia" panose="02040502050405020303"/>
                <a:cs typeface="Georgia" panose="02040502050405020303"/>
              </a:rPr>
              <a:t>contains</a:t>
            </a:r>
            <a:r>
              <a:rPr sz="2000" spc="165" dirty="0">
                <a:latin typeface="Georgia" panose="02040502050405020303"/>
                <a:cs typeface="Georgia" panose="02040502050405020303"/>
              </a:rPr>
              <a:t> </a:t>
            </a:r>
            <a:r>
              <a:rPr sz="2000" dirty="0">
                <a:latin typeface="Georgia" panose="02040502050405020303"/>
                <a:cs typeface="Georgia" panose="02040502050405020303"/>
              </a:rPr>
              <a:t>a</a:t>
            </a:r>
            <a:r>
              <a:rPr sz="2000" spc="170" dirty="0">
                <a:latin typeface="Georgia" panose="02040502050405020303"/>
                <a:cs typeface="Georgia" panose="02040502050405020303"/>
              </a:rPr>
              <a:t> </a:t>
            </a:r>
            <a:r>
              <a:rPr sz="2000" dirty="0">
                <a:latin typeface="Georgia" panose="02040502050405020303"/>
                <a:cs typeface="Georgia" panose="02040502050405020303"/>
              </a:rPr>
              <a:t>call</a:t>
            </a:r>
            <a:r>
              <a:rPr sz="2000" spc="170" dirty="0">
                <a:latin typeface="Georgia" panose="02040502050405020303"/>
                <a:cs typeface="Georgia" panose="02040502050405020303"/>
              </a:rPr>
              <a:t> </a:t>
            </a:r>
            <a:r>
              <a:rPr sz="2000" dirty="0">
                <a:latin typeface="Georgia" panose="02040502050405020303"/>
                <a:cs typeface="Georgia" panose="02040502050405020303"/>
              </a:rPr>
              <a:t>to</a:t>
            </a:r>
            <a:r>
              <a:rPr sz="2000" spc="150" dirty="0">
                <a:latin typeface="Georgia" panose="02040502050405020303"/>
                <a:cs typeface="Georgia" panose="02040502050405020303"/>
              </a:rPr>
              <a:t> </a:t>
            </a:r>
            <a:r>
              <a:rPr sz="2000" dirty="0">
                <a:latin typeface="Georgia" panose="02040502050405020303"/>
                <a:cs typeface="Georgia" panose="02040502050405020303"/>
              </a:rPr>
              <a:t>another</a:t>
            </a:r>
            <a:r>
              <a:rPr sz="2000" spc="170" dirty="0">
                <a:latin typeface="Georgia" panose="02040502050405020303"/>
                <a:cs typeface="Georgia" panose="02040502050405020303"/>
              </a:rPr>
              <a:t> </a:t>
            </a:r>
            <a:r>
              <a:rPr sz="2000" dirty="0">
                <a:latin typeface="Georgia" panose="02040502050405020303"/>
                <a:cs typeface="Georgia" panose="02040502050405020303"/>
              </a:rPr>
              <a:t>function</a:t>
            </a:r>
            <a:r>
              <a:rPr sz="2000" spc="170" dirty="0">
                <a:latin typeface="Georgia" panose="02040502050405020303"/>
                <a:cs typeface="Georgia" panose="02040502050405020303"/>
              </a:rPr>
              <a:t> </a:t>
            </a:r>
            <a:r>
              <a:rPr sz="2000" dirty="0">
                <a:latin typeface="Georgia" panose="02040502050405020303"/>
                <a:cs typeface="Georgia" panose="02040502050405020303"/>
              </a:rPr>
              <a:t>which</a:t>
            </a:r>
            <a:r>
              <a:rPr sz="2000" spc="160" dirty="0">
                <a:latin typeface="Georgia" panose="02040502050405020303"/>
                <a:cs typeface="Georgia" panose="02040502050405020303"/>
              </a:rPr>
              <a:t> </a:t>
            </a:r>
            <a:r>
              <a:rPr sz="2000" dirty="0">
                <a:latin typeface="Georgia" panose="02040502050405020303"/>
                <a:cs typeface="Georgia" panose="02040502050405020303"/>
              </a:rPr>
              <a:t>in</a:t>
            </a:r>
            <a:r>
              <a:rPr sz="2000" spc="175" dirty="0">
                <a:latin typeface="Georgia" panose="02040502050405020303"/>
                <a:cs typeface="Georgia" panose="02040502050405020303"/>
              </a:rPr>
              <a:t> </a:t>
            </a:r>
            <a:r>
              <a:rPr sz="2000" dirty="0">
                <a:latin typeface="Georgia" panose="02040502050405020303"/>
                <a:cs typeface="Georgia" panose="02040502050405020303"/>
              </a:rPr>
              <a:t>turn</a:t>
            </a:r>
            <a:r>
              <a:rPr sz="2000" spc="170" dirty="0">
                <a:latin typeface="Georgia" panose="02040502050405020303"/>
                <a:cs typeface="Georgia" panose="02040502050405020303"/>
              </a:rPr>
              <a:t> </a:t>
            </a:r>
            <a:r>
              <a:rPr sz="2000" dirty="0">
                <a:latin typeface="Georgia" panose="02040502050405020303"/>
                <a:cs typeface="Georgia" panose="02040502050405020303"/>
              </a:rPr>
              <a:t>calls</a:t>
            </a:r>
            <a:r>
              <a:rPr sz="2000" spc="165" dirty="0">
                <a:latin typeface="Georgia" panose="02040502050405020303"/>
                <a:cs typeface="Georgia" panose="02040502050405020303"/>
              </a:rPr>
              <a:t> </a:t>
            </a:r>
            <a:r>
              <a:rPr sz="2000" spc="-10" dirty="0">
                <a:latin typeface="Georgia" panose="02040502050405020303"/>
                <a:cs typeface="Georgia" panose="02040502050405020303"/>
              </a:rPr>
              <a:t>another</a:t>
            </a:r>
            <a:endParaRPr sz="2000">
              <a:latin typeface="Georgia" panose="02040502050405020303"/>
              <a:cs typeface="Georgia" panose="02040502050405020303"/>
            </a:endParaRPr>
          </a:p>
          <a:p>
            <a:pPr>
              <a:lnSpc>
                <a:spcPct val="100000"/>
              </a:lnSpc>
              <a:spcBef>
                <a:spcPts val="1325"/>
              </a:spcBef>
            </a:pPr>
            <a:endParaRPr sz="2000">
              <a:latin typeface="Georgia" panose="02040502050405020303"/>
              <a:cs typeface="Georgia" panose="02040502050405020303"/>
            </a:endParaRPr>
          </a:p>
          <a:p>
            <a:pPr marL="469900">
              <a:lnSpc>
                <a:spcPct val="100000"/>
              </a:lnSpc>
              <a:spcBef>
                <a:spcPts val="5"/>
              </a:spcBef>
            </a:pPr>
            <a:r>
              <a:rPr sz="2000" dirty="0">
                <a:latin typeface="Georgia" panose="02040502050405020303"/>
                <a:cs typeface="Georgia" panose="02040502050405020303"/>
              </a:rPr>
              <a:t>function</a:t>
            </a:r>
            <a:r>
              <a:rPr sz="2000" spc="195" dirty="0">
                <a:latin typeface="Georgia" panose="02040502050405020303"/>
                <a:cs typeface="Georgia" panose="02040502050405020303"/>
              </a:rPr>
              <a:t> </a:t>
            </a:r>
            <a:r>
              <a:rPr sz="2000" dirty="0">
                <a:latin typeface="Georgia" panose="02040502050405020303"/>
                <a:cs typeface="Georgia" panose="02040502050405020303"/>
              </a:rPr>
              <a:t>which</a:t>
            </a:r>
            <a:r>
              <a:rPr sz="2000" spc="195" dirty="0">
                <a:latin typeface="Georgia" panose="02040502050405020303"/>
                <a:cs typeface="Georgia" panose="02040502050405020303"/>
              </a:rPr>
              <a:t> </a:t>
            </a:r>
            <a:r>
              <a:rPr sz="2000" dirty="0">
                <a:latin typeface="Georgia" panose="02040502050405020303"/>
                <a:cs typeface="Georgia" panose="02040502050405020303"/>
              </a:rPr>
              <a:t>in</a:t>
            </a:r>
            <a:r>
              <a:rPr sz="2000" spc="204" dirty="0">
                <a:latin typeface="Georgia" panose="02040502050405020303"/>
                <a:cs typeface="Georgia" panose="02040502050405020303"/>
              </a:rPr>
              <a:t> </a:t>
            </a:r>
            <a:r>
              <a:rPr sz="2000" dirty="0">
                <a:latin typeface="Georgia" panose="02040502050405020303"/>
                <a:cs typeface="Georgia" panose="02040502050405020303"/>
              </a:rPr>
              <a:t>turn</a:t>
            </a:r>
            <a:r>
              <a:rPr sz="2000" spc="200" dirty="0">
                <a:latin typeface="Georgia" panose="02040502050405020303"/>
                <a:cs typeface="Georgia" panose="02040502050405020303"/>
              </a:rPr>
              <a:t> </a:t>
            </a:r>
            <a:r>
              <a:rPr sz="2000" dirty="0">
                <a:latin typeface="Georgia" panose="02040502050405020303"/>
                <a:cs typeface="Georgia" panose="02040502050405020303"/>
              </a:rPr>
              <a:t>calls</a:t>
            </a:r>
            <a:r>
              <a:rPr sz="2000" spc="204" dirty="0">
                <a:latin typeface="Georgia" panose="02040502050405020303"/>
                <a:cs typeface="Georgia" panose="02040502050405020303"/>
              </a:rPr>
              <a:t> </a:t>
            </a:r>
            <a:r>
              <a:rPr sz="2000" dirty="0">
                <a:latin typeface="Georgia" panose="02040502050405020303"/>
                <a:cs typeface="Georgia" panose="02040502050405020303"/>
              </a:rPr>
              <a:t>another</a:t>
            </a:r>
            <a:r>
              <a:rPr sz="2000" spc="200" dirty="0">
                <a:latin typeface="Georgia" panose="02040502050405020303"/>
                <a:cs typeface="Georgia" panose="02040502050405020303"/>
              </a:rPr>
              <a:t> </a:t>
            </a:r>
            <a:r>
              <a:rPr sz="2000" dirty="0">
                <a:latin typeface="Georgia" panose="02040502050405020303"/>
                <a:cs typeface="Georgia" panose="02040502050405020303"/>
              </a:rPr>
              <a:t>function</a:t>
            </a:r>
            <a:r>
              <a:rPr sz="2000" spc="204" dirty="0">
                <a:latin typeface="Georgia" panose="02040502050405020303"/>
                <a:cs typeface="Georgia" panose="02040502050405020303"/>
              </a:rPr>
              <a:t> </a:t>
            </a:r>
            <a:r>
              <a:rPr sz="2000" dirty="0">
                <a:latin typeface="Georgia" panose="02040502050405020303"/>
                <a:cs typeface="Georgia" panose="02040502050405020303"/>
              </a:rPr>
              <a:t>and</a:t>
            </a:r>
            <a:r>
              <a:rPr sz="2000" spc="204" dirty="0">
                <a:latin typeface="Georgia" panose="02040502050405020303"/>
                <a:cs typeface="Georgia" panose="02040502050405020303"/>
              </a:rPr>
              <a:t> </a:t>
            </a:r>
            <a:r>
              <a:rPr sz="2000" dirty="0">
                <a:latin typeface="Georgia" panose="02040502050405020303"/>
                <a:cs typeface="Georgia" panose="02040502050405020303"/>
              </a:rPr>
              <a:t>so</a:t>
            </a:r>
            <a:r>
              <a:rPr sz="2000" spc="185" dirty="0">
                <a:latin typeface="Georgia" panose="02040502050405020303"/>
                <a:cs typeface="Georgia" panose="02040502050405020303"/>
              </a:rPr>
              <a:t> </a:t>
            </a:r>
            <a:r>
              <a:rPr sz="2000" dirty="0">
                <a:latin typeface="Georgia" panose="02040502050405020303"/>
                <a:cs typeface="Georgia" panose="02040502050405020303"/>
              </a:rPr>
              <a:t>on</a:t>
            </a:r>
            <a:r>
              <a:rPr sz="2000" spc="204" dirty="0">
                <a:latin typeface="Georgia" panose="02040502050405020303"/>
                <a:cs typeface="Georgia" panose="02040502050405020303"/>
              </a:rPr>
              <a:t> </a:t>
            </a:r>
            <a:r>
              <a:rPr sz="2000" dirty="0">
                <a:latin typeface="Georgia" panose="02040502050405020303"/>
                <a:cs typeface="Georgia" panose="02040502050405020303"/>
              </a:rPr>
              <a:t>and</a:t>
            </a:r>
            <a:r>
              <a:rPr sz="2000" spc="204" dirty="0">
                <a:latin typeface="Georgia" panose="02040502050405020303"/>
                <a:cs typeface="Georgia" panose="02040502050405020303"/>
              </a:rPr>
              <a:t> </a:t>
            </a:r>
            <a:r>
              <a:rPr sz="2000" dirty="0">
                <a:latin typeface="Georgia" panose="02040502050405020303"/>
                <a:cs typeface="Georgia" panose="02040502050405020303"/>
              </a:rPr>
              <a:t>eventually</a:t>
            </a:r>
            <a:r>
              <a:rPr sz="2000" spc="200" dirty="0">
                <a:latin typeface="Georgia" panose="02040502050405020303"/>
                <a:cs typeface="Georgia" panose="02040502050405020303"/>
              </a:rPr>
              <a:t> </a:t>
            </a:r>
            <a:r>
              <a:rPr sz="2000" dirty="0">
                <a:latin typeface="Georgia" panose="02040502050405020303"/>
                <a:cs typeface="Georgia" panose="02040502050405020303"/>
              </a:rPr>
              <a:t>calls</a:t>
            </a:r>
            <a:r>
              <a:rPr sz="2000" spc="190" dirty="0">
                <a:latin typeface="Georgia" panose="02040502050405020303"/>
                <a:cs typeface="Georgia" panose="02040502050405020303"/>
              </a:rPr>
              <a:t> </a:t>
            </a:r>
            <a:r>
              <a:rPr sz="2000" dirty="0">
                <a:latin typeface="Georgia" panose="02040502050405020303"/>
                <a:cs typeface="Georgia" panose="02040502050405020303"/>
              </a:rPr>
              <a:t>the</a:t>
            </a:r>
            <a:r>
              <a:rPr sz="2000" spc="204" dirty="0">
                <a:latin typeface="Georgia" panose="02040502050405020303"/>
                <a:cs typeface="Georgia" panose="02040502050405020303"/>
              </a:rPr>
              <a:t> </a:t>
            </a:r>
            <a:r>
              <a:rPr sz="2000" dirty="0">
                <a:latin typeface="Georgia" panose="02040502050405020303"/>
                <a:cs typeface="Georgia" panose="02040502050405020303"/>
              </a:rPr>
              <a:t>first</a:t>
            </a:r>
            <a:r>
              <a:rPr sz="2000" spc="200" dirty="0">
                <a:latin typeface="Georgia" panose="02040502050405020303"/>
                <a:cs typeface="Georgia" panose="02040502050405020303"/>
              </a:rPr>
              <a:t> </a:t>
            </a:r>
            <a:r>
              <a:rPr sz="2000" dirty="0">
                <a:latin typeface="Georgia" panose="02040502050405020303"/>
                <a:cs typeface="Georgia" panose="02040502050405020303"/>
              </a:rPr>
              <a:t>function</a:t>
            </a:r>
            <a:r>
              <a:rPr sz="2000" spc="204" dirty="0">
                <a:latin typeface="Georgia" panose="02040502050405020303"/>
                <a:cs typeface="Georgia" panose="02040502050405020303"/>
              </a:rPr>
              <a:t> </a:t>
            </a:r>
            <a:r>
              <a:rPr sz="2000" spc="-25" dirty="0">
                <a:latin typeface="Georgia" panose="02040502050405020303"/>
                <a:cs typeface="Georgia" panose="02040502050405020303"/>
              </a:rPr>
              <a:t>is</a:t>
            </a:r>
            <a:endParaRPr sz="2000">
              <a:latin typeface="Georgia" panose="02040502050405020303"/>
              <a:cs typeface="Georgia" panose="02040502050405020303"/>
            </a:endParaRPr>
          </a:p>
          <a:p>
            <a:pPr>
              <a:lnSpc>
                <a:spcPct val="100000"/>
              </a:lnSpc>
              <a:spcBef>
                <a:spcPts val="1325"/>
              </a:spcBef>
            </a:pPr>
            <a:endParaRPr sz="2000">
              <a:latin typeface="Georgia" panose="02040502050405020303"/>
              <a:cs typeface="Georgia" panose="02040502050405020303"/>
            </a:endParaRPr>
          </a:p>
          <a:p>
            <a:pPr marL="469900">
              <a:lnSpc>
                <a:spcPct val="100000"/>
              </a:lnSpc>
            </a:pPr>
            <a:r>
              <a:rPr sz="2000" dirty="0">
                <a:latin typeface="Georgia" panose="02040502050405020303"/>
                <a:cs typeface="Georgia" panose="02040502050405020303"/>
              </a:rPr>
              <a:t>called</a:t>
            </a:r>
            <a:r>
              <a:rPr sz="2000" spc="-65" dirty="0">
                <a:latin typeface="Georgia" panose="02040502050405020303"/>
                <a:cs typeface="Georgia" panose="02040502050405020303"/>
              </a:rPr>
              <a:t> </a:t>
            </a:r>
            <a:r>
              <a:rPr sz="2000" dirty="0">
                <a:latin typeface="Georgia" panose="02040502050405020303"/>
                <a:cs typeface="Georgia" panose="02040502050405020303"/>
              </a:rPr>
              <a:t>indirect</a:t>
            </a:r>
            <a:r>
              <a:rPr sz="2000" spc="-30" dirty="0">
                <a:latin typeface="Georgia" panose="02040502050405020303"/>
                <a:cs typeface="Georgia" panose="02040502050405020303"/>
              </a:rPr>
              <a:t> </a:t>
            </a:r>
            <a:r>
              <a:rPr sz="2000" spc="-10" dirty="0">
                <a:latin typeface="Georgia" panose="02040502050405020303"/>
                <a:cs typeface="Georgia" panose="02040502050405020303"/>
              </a:rPr>
              <a:t>recursion.</a:t>
            </a:r>
            <a:endParaRPr sz="2000">
              <a:latin typeface="Georgia" panose="02040502050405020303"/>
              <a:cs typeface="Georgia" panose="02040502050405020303"/>
            </a:endParaRPr>
          </a:p>
        </p:txBody>
      </p:sp>
      <p:sp>
        <p:nvSpPr>
          <p:cNvPr id="4" name="Footer Placeholder 3"/>
          <p:cNvSpPr>
            <a:spLocks noGrp="1"/>
          </p:cNvSpPr>
          <p:nvPr>
            <p:ph type="ftr" sz="quarter" idx="4294967295"/>
          </p:nvPr>
        </p:nvSpPr>
        <p:spPr>
          <a:xfrm>
            <a:off x="1698171" y="6365777"/>
            <a:ext cx="8871858" cy="365125"/>
          </a:xfrm>
          <a:prstGeom prst="rect">
            <a:avLst/>
          </a:prstGeom>
        </p:spPr>
        <p:txBody>
          <a:bodyPr/>
          <a:lstStyle/>
          <a:p>
            <a:pPr algn="ctr"/>
            <a:r>
              <a:rPr lang="en-US" sz="1200" dirty="0">
                <a:solidFill>
                  <a:schemeClr val="tx1">
                    <a:tint val="75000"/>
                  </a:schemeClr>
                </a:solidFill>
              </a:rPr>
              <a:t>Slides prepared by: Prof.Nandini K, Assistant Professor, Department of CSE, </a:t>
            </a:r>
            <a:r>
              <a:rPr lang="en-US" sz="1200" dirty="0" err="1">
                <a:solidFill>
                  <a:schemeClr val="tx1">
                    <a:tint val="75000"/>
                  </a:schemeClr>
                </a:solidFill>
              </a:rPr>
              <a:t>Dayananda</a:t>
            </a:r>
            <a:r>
              <a:rPr lang="en-US" sz="1200" dirty="0">
                <a:solidFill>
                  <a:schemeClr val="tx1">
                    <a:tint val="75000"/>
                  </a:schemeClr>
                </a:solidFill>
              </a:rPr>
              <a:t> </a:t>
            </a:r>
            <a:r>
              <a:rPr lang="en-US" sz="1200" dirty="0" err="1">
                <a:solidFill>
                  <a:schemeClr val="tx1">
                    <a:tint val="75000"/>
                  </a:schemeClr>
                </a:solidFill>
              </a:rPr>
              <a:t>Sagar</a:t>
            </a:r>
            <a:r>
              <a:rPr lang="en-US" sz="1200" dirty="0">
                <a:solidFill>
                  <a:schemeClr val="tx1">
                    <a:tint val="75000"/>
                  </a:schemeClr>
                </a:solidFill>
              </a:rPr>
              <a:t> University, </a:t>
            </a:r>
            <a:r>
              <a:rPr lang="en-US" sz="1200" dirty="0" err="1">
                <a:solidFill>
                  <a:schemeClr val="tx1">
                    <a:tint val="75000"/>
                  </a:schemeClr>
                </a:solidFill>
              </a:rPr>
              <a:t>Harohalli</a:t>
            </a:r>
            <a:r>
              <a:rPr lang="en-US" sz="1200" dirty="0">
                <a:solidFill>
                  <a:schemeClr val="tx1">
                    <a:tint val="75000"/>
                  </a:schemeClr>
                </a:solidFill>
              </a:rPr>
              <a:t>, Karnataka.</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Basic</a:t>
            </a:r>
            <a:r>
              <a:rPr spc="-145" dirty="0"/>
              <a:t> </a:t>
            </a:r>
            <a:r>
              <a:rPr spc="-10" dirty="0"/>
              <a:t>Terms</a:t>
            </a:r>
          </a:p>
        </p:txBody>
      </p:sp>
      <p:sp>
        <p:nvSpPr>
          <p:cNvPr id="3" name="object 3"/>
          <p:cNvSpPr txBox="1"/>
          <p:nvPr/>
        </p:nvSpPr>
        <p:spPr>
          <a:xfrm>
            <a:off x="154330" y="1408938"/>
            <a:ext cx="9460865" cy="4324985"/>
          </a:xfrm>
          <a:prstGeom prst="rect">
            <a:avLst/>
          </a:prstGeom>
        </p:spPr>
        <p:txBody>
          <a:bodyPr vert="horz" wrap="square" lIns="0" tIns="13335" rIns="0" bIns="0" rtlCol="0">
            <a:spAutoFit/>
          </a:bodyPr>
          <a:lstStyle/>
          <a:p>
            <a:pPr marL="469900" indent="-457200">
              <a:lnSpc>
                <a:spcPct val="100000"/>
              </a:lnSpc>
              <a:spcBef>
                <a:spcPts val="105"/>
              </a:spcBef>
              <a:buAutoNum type="arabicPeriod"/>
              <a:tabLst>
                <a:tab pos="469900" algn="l"/>
              </a:tabLst>
            </a:pPr>
            <a:r>
              <a:rPr sz="2000" b="1" dirty="0">
                <a:latin typeface="Georgia" panose="02040502050405020303"/>
                <a:cs typeface="Georgia" panose="02040502050405020303"/>
              </a:rPr>
              <a:t>Base</a:t>
            </a:r>
            <a:r>
              <a:rPr sz="2000" b="1" spc="-60" dirty="0">
                <a:latin typeface="Georgia" panose="02040502050405020303"/>
                <a:cs typeface="Georgia" panose="02040502050405020303"/>
              </a:rPr>
              <a:t> </a:t>
            </a:r>
            <a:r>
              <a:rPr sz="2000" b="1" dirty="0">
                <a:latin typeface="Georgia" panose="02040502050405020303"/>
                <a:cs typeface="Georgia" panose="02040502050405020303"/>
              </a:rPr>
              <a:t>Case:</a:t>
            </a:r>
            <a:r>
              <a:rPr sz="2000" b="1" spc="-65" dirty="0">
                <a:latin typeface="Georgia" panose="02040502050405020303"/>
                <a:cs typeface="Georgia" panose="02040502050405020303"/>
              </a:rPr>
              <a:t> </a:t>
            </a:r>
            <a:r>
              <a:rPr sz="2000" dirty="0">
                <a:latin typeface="Georgia" panose="02040502050405020303"/>
                <a:cs typeface="Georgia" panose="02040502050405020303"/>
              </a:rPr>
              <a:t>The</a:t>
            </a:r>
            <a:r>
              <a:rPr sz="2000" spc="-35" dirty="0">
                <a:latin typeface="Georgia" panose="02040502050405020303"/>
                <a:cs typeface="Georgia" panose="02040502050405020303"/>
              </a:rPr>
              <a:t> </a:t>
            </a:r>
            <a:r>
              <a:rPr sz="2000" dirty="0">
                <a:latin typeface="Georgia" panose="02040502050405020303"/>
                <a:cs typeface="Georgia" panose="02040502050405020303"/>
              </a:rPr>
              <a:t>base</a:t>
            </a:r>
            <a:r>
              <a:rPr sz="2000" spc="-40" dirty="0">
                <a:latin typeface="Georgia" panose="02040502050405020303"/>
                <a:cs typeface="Georgia" panose="02040502050405020303"/>
              </a:rPr>
              <a:t> </a:t>
            </a:r>
            <a:r>
              <a:rPr sz="2000" dirty="0">
                <a:latin typeface="Georgia" panose="02040502050405020303"/>
                <a:cs typeface="Georgia" panose="02040502050405020303"/>
              </a:rPr>
              <a:t>case</a:t>
            </a:r>
            <a:r>
              <a:rPr sz="2000" spc="-35" dirty="0">
                <a:latin typeface="Georgia" panose="02040502050405020303"/>
                <a:cs typeface="Georgia" panose="02040502050405020303"/>
              </a:rPr>
              <a:t> </a:t>
            </a:r>
            <a:r>
              <a:rPr sz="2000" dirty="0">
                <a:latin typeface="Georgia" panose="02040502050405020303"/>
                <a:cs typeface="Georgia" panose="02040502050405020303"/>
              </a:rPr>
              <a:t>is</a:t>
            </a:r>
            <a:r>
              <a:rPr sz="2000" spc="-30" dirty="0">
                <a:latin typeface="Georgia" panose="02040502050405020303"/>
                <a:cs typeface="Georgia" panose="02040502050405020303"/>
              </a:rPr>
              <a:t> </a:t>
            </a:r>
            <a:r>
              <a:rPr sz="2000" dirty="0">
                <a:latin typeface="Georgia" panose="02040502050405020303"/>
                <a:cs typeface="Georgia" panose="02040502050405020303"/>
              </a:rPr>
              <a:t>a</a:t>
            </a:r>
            <a:r>
              <a:rPr sz="2000" spc="-5" dirty="0">
                <a:latin typeface="Georgia" panose="02040502050405020303"/>
                <a:cs typeface="Georgia" panose="02040502050405020303"/>
              </a:rPr>
              <a:t> </a:t>
            </a:r>
            <a:r>
              <a:rPr sz="2000" dirty="0">
                <a:latin typeface="Georgia" panose="02040502050405020303"/>
                <a:cs typeface="Georgia" panose="02040502050405020303"/>
              </a:rPr>
              <a:t>way</a:t>
            </a:r>
            <a:r>
              <a:rPr sz="2000" spc="-30" dirty="0">
                <a:latin typeface="Georgia" panose="02040502050405020303"/>
                <a:cs typeface="Georgia" panose="02040502050405020303"/>
              </a:rPr>
              <a:t> </a:t>
            </a:r>
            <a:r>
              <a:rPr sz="2000" dirty="0">
                <a:latin typeface="Georgia" panose="02040502050405020303"/>
                <a:cs typeface="Georgia" panose="02040502050405020303"/>
              </a:rPr>
              <a:t>to</a:t>
            </a:r>
            <a:r>
              <a:rPr sz="2000" spc="-25" dirty="0">
                <a:latin typeface="Georgia" panose="02040502050405020303"/>
                <a:cs typeface="Georgia" panose="02040502050405020303"/>
              </a:rPr>
              <a:t> </a:t>
            </a:r>
            <a:r>
              <a:rPr sz="2000" dirty="0">
                <a:latin typeface="Georgia" panose="02040502050405020303"/>
                <a:cs typeface="Georgia" panose="02040502050405020303"/>
              </a:rPr>
              <a:t>return</a:t>
            </a:r>
            <a:r>
              <a:rPr sz="2000" spc="-25" dirty="0">
                <a:latin typeface="Georgia" panose="02040502050405020303"/>
                <a:cs typeface="Georgia" panose="02040502050405020303"/>
              </a:rPr>
              <a:t> </a:t>
            </a:r>
            <a:r>
              <a:rPr sz="2000" dirty="0">
                <a:latin typeface="Georgia" panose="02040502050405020303"/>
                <a:cs typeface="Georgia" panose="02040502050405020303"/>
              </a:rPr>
              <a:t>without</a:t>
            </a:r>
            <a:r>
              <a:rPr sz="2000" spc="-70" dirty="0">
                <a:latin typeface="Georgia" panose="02040502050405020303"/>
                <a:cs typeface="Georgia" panose="02040502050405020303"/>
              </a:rPr>
              <a:t> </a:t>
            </a:r>
            <a:r>
              <a:rPr sz="2000" dirty="0">
                <a:latin typeface="Georgia" panose="02040502050405020303"/>
                <a:cs typeface="Georgia" panose="02040502050405020303"/>
              </a:rPr>
              <a:t>making</a:t>
            </a:r>
            <a:r>
              <a:rPr sz="2000" spc="5" dirty="0">
                <a:latin typeface="Georgia" panose="02040502050405020303"/>
                <a:cs typeface="Georgia" panose="02040502050405020303"/>
              </a:rPr>
              <a:t> </a:t>
            </a:r>
            <a:r>
              <a:rPr sz="2000" dirty="0">
                <a:latin typeface="Georgia" panose="02040502050405020303"/>
                <a:cs typeface="Georgia" panose="02040502050405020303"/>
              </a:rPr>
              <a:t>a</a:t>
            </a:r>
            <a:r>
              <a:rPr sz="2000" spc="-10" dirty="0">
                <a:latin typeface="Georgia" panose="02040502050405020303"/>
                <a:cs typeface="Georgia" panose="02040502050405020303"/>
              </a:rPr>
              <a:t> </a:t>
            </a:r>
            <a:r>
              <a:rPr sz="2000" dirty="0">
                <a:latin typeface="Georgia" panose="02040502050405020303"/>
                <a:cs typeface="Georgia" panose="02040502050405020303"/>
              </a:rPr>
              <a:t>recursive</a:t>
            </a:r>
            <a:r>
              <a:rPr sz="2000" spc="-30" dirty="0">
                <a:latin typeface="Georgia" panose="02040502050405020303"/>
                <a:cs typeface="Georgia" panose="02040502050405020303"/>
              </a:rPr>
              <a:t> </a:t>
            </a:r>
            <a:r>
              <a:rPr sz="2000" spc="-10" dirty="0">
                <a:latin typeface="Georgia" panose="02040502050405020303"/>
                <a:cs typeface="Georgia" panose="02040502050405020303"/>
              </a:rPr>
              <a:t>call.</a:t>
            </a:r>
            <a:endParaRPr sz="2000">
              <a:latin typeface="Georgia" panose="02040502050405020303"/>
              <a:cs typeface="Georgia" panose="02040502050405020303"/>
            </a:endParaRPr>
          </a:p>
          <a:p>
            <a:pPr>
              <a:lnSpc>
                <a:spcPct val="100000"/>
              </a:lnSpc>
              <a:spcBef>
                <a:spcPts val="1505"/>
              </a:spcBef>
              <a:buFont typeface="Georgia" panose="02040502050405020303"/>
              <a:buAutoNum type="arabicPeriod"/>
            </a:pPr>
            <a:endParaRPr sz="2000">
              <a:latin typeface="Georgia" panose="02040502050405020303"/>
              <a:cs typeface="Georgia" panose="02040502050405020303"/>
            </a:endParaRPr>
          </a:p>
          <a:p>
            <a:pPr marL="469900" indent="-457200">
              <a:lnSpc>
                <a:spcPct val="100000"/>
              </a:lnSpc>
              <a:buAutoNum type="arabicPeriod"/>
              <a:tabLst>
                <a:tab pos="469900" algn="l"/>
              </a:tabLst>
            </a:pPr>
            <a:r>
              <a:rPr sz="2000" b="1" dirty="0">
                <a:latin typeface="Georgia" panose="02040502050405020303"/>
                <a:cs typeface="Georgia" panose="02040502050405020303"/>
              </a:rPr>
              <a:t>General</a:t>
            </a:r>
            <a:r>
              <a:rPr sz="2000" b="1" spc="-85" dirty="0">
                <a:latin typeface="Georgia" panose="02040502050405020303"/>
                <a:cs typeface="Georgia" panose="02040502050405020303"/>
              </a:rPr>
              <a:t> </a:t>
            </a:r>
            <a:r>
              <a:rPr sz="2000" b="1" dirty="0">
                <a:latin typeface="Georgia" panose="02040502050405020303"/>
                <a:cs typeface="Georgia" panose="02040502050405020303"/>
              </a:rPr>
              <a:t>Case:</a:t>
            </a:r>
            <a:r>
              <a:rPr sz="2000" b="1" spc="-60" dirty="0">
                <a:latin typeface="Georgia" panose="02040502050405020303"/>
                <a:cs typeface="Georgia" panose="02040502050405020303"/>
              </a:rPr>
              <a:t> </a:t>
            </a:r>
            <a:r>
              <a:rPr sz="2000" dirty="0">
                <a:latin typeface="Georgia" panose="02040502050405020303"/>
                <a:cs typeface="Georgia" panose="02040502050405020303"/>
              </a:rPr>
              <a:t>The</a:t>
            </a:r>
            <a:r>
              <a:rPr sz="2000" spc="-35" dirty="0">
                <a:latin typeface="Georgia" panose="02040502050405020303"/>
                <a:cs typeface="Georgia" panose="02040502050405020303"/>
              </a:rPr>
              <a:t> </a:t>
            </a:r>
            <a:r>
              <a:rPr sz="2000" dirty="0">
                <a:latin typeface="Georgia" panose="02040502050405020303"/>
                <a:cs typeface="Georgia" panose="02040502050405020303"/>
              </a:rPr>
              <a:t>recursive</a:t>
            </a:r>
            <a:r>
              <a:rPr sz="2000" spc="-35" dirty="0">
                <a:latin typeface="Georgia" panose="02040502050405020303"/>
                <a:cs typeface="Georgia" panose="02040502050405020303"/>
              </a:rPr>
              <a:t> </a:t>
            </a:r>
            <a:r>
              <a:rPr sz="2000" dirty="0">
                <a:latin typeface="Georgia" panose="02040502050405020303"/>
                <a:cs typeface="Georgia" panose="02040502050405020303"/>
              </a:rPr>
              <a:t>function</a:t>
            </a:r>
            <a:r>
              <a:rPr sz="2000" spc="-20" dirty="0">
                <a:latin typeface="Georgia" panose="02040502050405020303"/>
                <a:cs typeface="Georgia" panose="02040502050405020303"/>
              </a:rPr>
              <a:t> </a:t>
            </a:r>
            <a:r>
              <a:rPr sz="2000" dirty="0">
                <a:latin typeface="Georgia" panose="02040502050405020303"/>
                <a:cs typeface="Georgia" panose="02040502050405020303"/>
              </a:rPr>
              <a:t>in</a:t>
            </a:r>
            <a:r>
              <a:rPr sz="2000" spc="-35" dirty="0">
                <a:latin typeface="Georgia" panose="02040502050405020303"/>
                <a:cs typeface="Georgia" panose="02040502050405020303"/>
              </a:rPr>
              <a:t> </a:t>
            </a:r>
            <a:r>
              <a:rPr sz="2000" dirty="0">
                <a:latin typeface="Georgia" panose="02040502050405020303"/>
                <a:cs typeface="Georgia" panose="02040502050405020303"/>
              </a:rPr>
              <a:t>the</a:t>
            </a:r>
            <a:r>
              <a:rPr sz="2000" spc="-60" dirty="0">
                <a:latin typeface="Georgia" panose="02040502050405020303"/>
                <a:cs typeface="Georgia" panose="02040502050405020303"/>
              </a:rPr>
              <a:t> </a:t>
            </a:r>
            <a:r>
              <a:rPr sz="2000" dirty="0">
                <a:latin typeface="Georgia" panose="02040502050405020303"/>
                <a:cs typeface="Georgia" panose="02040502050405020303"/>
              </a:rPr>
              <a:t>program</a:t>
            </a:r>
            <a:r>
              <a:rPr sz="2000" spc="-20" dirty="0">
                <a:latin typeface="Georgia" panose="02040502050405020303"/>
                <a:cs typeface="Georgia" panose="02040502050405020303"/>
              </a:rPr>
              <a:t> </a:t>
            </a:r>
            <a:r>
              <a:rPr sz="2000" dirty="0">
                <a:latin typeface="Georgia" panose="02040502050405020303"/>
                <a:cs typeface="Georgia" panose="02040502050405020303"/>
              </a:rPr>
              <a:t>is</a:t>
            </a:r>
            <a:r>
              <a:rPr sz="2000" spc="-25" dirty="0">
                <a:latin typeface="Georgia" panose="02040502050405020303"/>
                <a:cs typeface="Georgia" panose="02040502050405020303"/>
              </a:rPr>
              <a:t> </a:t>
            </a:r>
            <a:r>
              <a:rPr sz="2000" dirty="0">
                <a:latin typeface="Georgia" panose="02040502050405020303"/>
                <a:cs typeface="Georgia" panose="02040502050405020303"/>
              </a:rPr>
              <a:t>known</a:t>
            </a:r>
            <a:r>
              <a:rPr sz="2000" spc="5" dirty="0">
                <a:latin typeface="Georgia" panose="02040502050405020303"/>
                <a:cs typeface="Georgia" panose="02040502050405020303"/>
              </a:rPr>
              <a:t> </a:t>
            </a:r>
            <a:r>
              <a:rPr sz="2000" dirty="0">
                <a:latin typeface="Georgia" panose="02040502050405020303"/>
                <a:cs typeface="Georgia" panose="02040502050405020303"/>
              </a:rPr>
              <a:t>as</a:t>
            </a:r>
            <a:r>
              <a:rPr sz="2000" spc="-30" dirty="0">
                <a:latin typeface="Georgia" panose="02040502050405020303"/>
                <a:cs typeface="Georgia" panose="02040502050405020303"/>
              </a:rPr>
              <a:t> </a:t>
            </a:r>
            <a:r>
              <a:rPr sz="2000" dirty="0">
                <a:latin typeface="Georgia" panose="02040502050405020303"/>
                <a:cs typeface="Georgia" panose="02040502050405020303"/>
              </a:rPr>
              <a:t>general</a:t>
            </a:r>
            <a:r>
              <a:rPr sz="2000" spc="-50" dirty="0">
                <a:latin typeface="Georgia" panose="02040502050405020303"/>
                <a:cs typeface="Georgia" panose="02040502050405020303"/>
              </a:rPr>
              <a:t> </a:t>
            </a:r>
            <a:r>
              <a:rPr sz="2000" spc="-10" dirty="0">
                <a:latin typeface="Georgia" panose="02040502050405020303"/>
                <a:cs typeface="Georgia" panose="02040502050405020303"/>
              </a:rPr>
              <a:t>case.</a:t>
            </a:r>
            <a:endParaRPr sz="2000">
              <a:latin typeface="Georgia" panose="02040502050405020303"/>
              <a:cs typeface="Georgia" panose="02040502050405020303"/>
            </a:endParaRPr>
          </a:p>
          <a:p>
            <a:pPr>
              <a:lnSpc>
                <a:spcPct val="100000"/>
              </a:lnSpc>
            </a:pPr>
            <a:endParaRPr sz="2000">
              <a:latin typeface="Georgia" panose="02040502050405020303"/>
              <a:cs typeface="Georgia" panose="02040502050405020303"/>
            </a:endParaRPr>
          </a:p>
          <a:p>
            <a:pPr>
              <a:lnSpc>
                <a:spcPct val="100000"/>
              </a:lnSpc>
              <a:spcBef>
                <a:spcPts val="10"/>
              </a:spcBef>
            </a:pPr>
            <a:endParaRPr sz="2000">
              <a:latin typeface="Georgia" panose="02040502050405020303"/>
              <a:cs typeface="Georgia" panose="02040502050405020303"/>
            </a:endParaRPr>
          </a:p>
          <a:p>
            <a:pPr marL="88900">
              <a:lnSpc>
                <a:spcPct val="100000"/>
              </a:lnSpc>
              <a:spcBef>
                <a:spcPts val="5"/>
              </a:spcBef>
            </a:pPr>
            <a:r>
              <a:rPr sz="2400" b="1" spc="-10" dirty="0">
                <a:latin typeface="Georgia" panose="02040502050405020303"/>
                <a:cs typeface="Georgia" panose="02040502050405020303"/>
              </a:rPr>
              <a:t>Types</a:t>
            </a:r>
            <a:endParaRPr sz="2400">
              <a:latin typeface="Georgia" panose="02040502050405020303"/>
              <a:cs typeface="Georgia" panose="02040502050405020303"/>
            </a:endParaRPr>
          </a:p>
          <a:p>
            <a:pPr>
              <a:lnSpc>
                <a:spcPct val="100000"/>
              </a:lnSpc>
              <a:spcBef>
                <a:spcPts val="335"/>
              </a:spcBef>
            </a:pPr>
            <a:endParaRPr sz="2400">
              <a:latin typeface="Georgia" panose="02040502050405020303"/>
              <a:cs typeface="Georgia" panose="02040502050405020303"/>
            </a:endParaRPr>
          </a:p>
          <a:p>
            <a:pPr marL="511175" indent="-459105">
              <a:lnSpc>
                <a:spcPct val="100000"/>
              </a:lnSpc>
              <a:buAutoNum type="arabicPeriod"/>
              <a:tabLst>
                <a:tab pos="511175" algn="l"/>
              </a:tabLst>
            </a:pPr>
            <a:r>
              <a:rPr sz="2000" spc="-10" dirty="0">
                <a:latin typeface="Georgia" panose="02040502050405020303"/>
                <a:cs typeface="Georgia" panose="02040502050405020303"/>
              </a:rPr>
              <a:t>Substitution</a:t>
            </a:r>
            <a:r>
              <a:rPr sz="2000" spc="-60" dirty="0">
                <a:latin typeface="Georgia" panose="02040502050405020303"/>
                <a:cs typeface="Georgia" panose="02040502050405020303"/>
              </a:rPr>
              <a:t> </a:t>
            </a:r>
            <a:r>
              <a:rPr sz="2000" spc="-10" dirty="0">
                <a:latin typeface="Georgia" panose="02040502050405020303"/>
                <a:cs typeface="Georgia" panose="02040502050405020303"/>
              </a:rPr>
              <a:t>Method</a:t>
            </a:r>
            <a:endParaRPr sz="2000">
              <a:latin typeface="Georgia" panose="02040502050405020303"/>
              <a:cs typeface="Georgia" panose="02040502050405020303"/>
            </a:endParaRPr>
          </a:p>
          <a:p>
            <a:pPr>
              <a:lnSpc>
                <a:spcPct val="100000"/>
              </a:lnSpc>
              <a:spcBef>
                <a:spcPts val="1510"/>
              </a:spcBef>
              <a:buFont typeface="Georgia" panose="02040502050405020303"/>
              <a:buAutoNum type="arabicPeriod"/>
            </a:pPr>
            <a:endParaRPr sz="2000">
              <a:latin typeface="Georgia" panose="02040502050405020303"/>
              <a:cs typeface="Georgia" panose="02040502050405020303"/>
            </a:endParaRPr>
          </a:p>
          <a:p>
            <a:pPr marL="568960" indent="-516890">
              <a:lnSpc>
                <a:spcPct val="100000"/>
              </a:lnSpc>
              <a:buAutoNum type="arabicPeriod"/>
              <a:tabLst>
                <a:tab pos="568960" algn="l"/>
              </a:tabLst>
            </a:pPr>
            <a:r>
              <a:rPr sz="2000" dirty="0">
                <a:latin typeface="Georgia" panose="02040502050405020303"/>
                <a:cs typeface="Georgia" panose="02040502050405020303"/>
              </a:rPr>
              <a:t>Master</a:t>
            </a:r>
            <a:r>
              <a:rPr sz="2000" spc="-125" dirty="0">
                <a:latin typeface="Georgia" panose="02040502050405020303"/>
                <a:cs typeface="Georgia" panose="02040502050405020303"/>
              </a:rPr>
              <a:t> </a:t>
            </a:r>
            <a:r>
              <a:rPr sz="2000" spc="-10" dirty="0">
                <a:latin typeface="Georgia" panose="02040502050405020303"/>
                <a:cs typeface="Georgia" panose="02040502050405020303"/>
              </a:rPr>
              <a:t>Theorem</a:t>
            </a:r>
            <a:endParaRPr sz="2000">
              <a:latin typeface="Georgia" panose="02040502050405020303"/>
              <a:cs typeface="Georgia" panose="02040502050405020303"/>
            </a:endParaRPr>
          </a:p>
          <a:p>
            <a:pPr>
              <a:lnSpc>
                <a:spcPct val="100000"/>
              </a:lnSpc>
              <a:spcBef>
                <a:spcPts val="1510"/>
              </a:spcBef>
              <a:buFont typeface="Georgia" panose="02040502050405020303"/>
              <a:buAutoNum type="arabicPeriod"/>
            </a:pPr>
            <a:endParaRPr sz="2000">
              <a:latin typeface="Georgia" panose="02040502050405020303"/>
              <a:cs typeface="Georgia" panose="02040502050405020303"/>
            </a:endParaRPr>
          </a:p>
          <a:p>
            <a:pPr marL="568960" indent="-516890">
              <a:lnSpc>
                <a:spcPct val="100000"/>
              </a:lnSpc>
              <a:buAutoNum type="arabicPeriod"/>
              <a:tabLst>
                <a:tab pos="568960" algn="l"/>
              </a:tabLst>
            </a:pPr>
            <a:r>
              <a:rPr sz="2000" dirty="0">
                <a:latin typeface="Georgia" panose="02040502050405020303"/>
                <a:cs typeface="Georgia" panose="02040502050405020303"/>
              </a:rPr>
              <a:t>Recurrence</a:t>
            </a:r>
            <a:r>
              <a:rPr sz="2000" spc="-120" dirty="0">
                <a:latin typeface="Georgia" panose="02040502050405020303"/>
                <a:cs typeface="Georgia" panose="02040502050405020303"/>
              </a:rPr>
              <a:t> </a:t>
            </a:r>
            <a:r>
              <a:rPr sz="2000" spc="-20" dirty="0">
                <a:latin typeface="Georgia" panose="02040502050405020303"/>
                <a:cs typeface="Georgia" panose="02040502050405020303"/>
              </a:rPr>
              <a:t>Tree</a:t>
            </a:r>
            <a:endParaRPr sz="2000">
              <a:latin typeface="Georgia" panose="02040502050405020303"/>
              <a:cs typeface="Georgia" panose="02040502050405020303"/>
            </a:endParaRPr>
          </a:p>
        </p:txBody>
      </p:sp>
      <p:sp>
        <p:nvSpPr>
          <p:cNvPr id="4" name="Footer Placeholder 3"/>
          <p:cNvSpPr>
            <a:spLocks noGrp="1"/>
          </p:cNvSpPr>
          <p:nvPr>
            <p:ph type="ftr" sz="quarter" idx="4294967295"/>
          </p:nvPr>
        </p:nvSpPr>
        <p:spPr>
          <a:xfrm>
            <a:off x="1698171" y="6365777"/>
            <a:ext cx="8871858" cy="365125"/>
          </a:xfrm>
          <a:prstGeom prst="rect">
            <a:avLst/>
          </a:prstGeom>
        </p:spPr>
        <p:txBody>
          <a:bodyPr/>
          <a:lstStyle/>
          <a:p>
            <a:pPr algn="ctr"/>
            <a:r>
              <a:rPr lang="en-US" sz="1200" dirty="0">
                <a:solidFill>
                  <a:schemeClr val="tx1">
                    <a:tint val="75000"/>
                  </a:schemeClr>
                </a:solidFill>
              </a:rPr>
              <a:t>Slides prepared by: Prof.Nandini K, Assistant Professor, Department of CSE, </a:t>
            </a:r>
            <a:r>
              <a:rPr lang="en-US" sz="1200" dirty="0" err="1">
                <a:solidFill>
                  <a:schemeClr val="tx1">
                    <a:tint val="75000"/>
                  </a:schemeClr>
                </a:solidFill>
              </a:rPr>
              <a:t>Dayananda</a:t>
            </a:r>
            <a:r>
              <a:rPr lang="en-US" sz="1200" dirty="0">
                <a:solidFill>
                  <a:schemeClr val="tx1">
                    <a:tint val="75000"/>
                  </a:schemeClr>
                </a:solidFill>
              </a:rPr>
              <a:t> </a:t>
            </a:r>
            <a:r>
              <a:rPr lang="en-US" sz="1200" dirty="0" err="1">
                <a:solidFill>
                  <a:schemeClr val="tx1">
                    <a:tint val="75000"/>
                  </a:schemeClr>
                </a:solidFill>
              </a:rPr>
              <a:t>Sagar</a:t>
            </a:r>
            <a:r>
              <a:rPr lang="en-US" sz="1200" dirty="0">
                <a:solidFill>
                  <a:schemeClr val="tx1">
                    <a:tint val="75000"/>
                  </a:schemeClr>
                </a:solidFill>
              </a:rPr>
              <a:t> University, </a:t>
            </a:r>
            <a:r>
              <a:rPr lang="en-US" sz="1200" dirty="0" err="1">
                <a:solidFill>
                  <a:schemeClr val="tx1">
                    <a:tint val="75000"/>
                  </a:schemeClr>
                </a:solidFill>
              </a:rPr>
              <a:t>Harohalli</a:t>
            </a:r>
            <a:r>
              <a:rPr lang="en-US" sz="1200" dirty="0">
                <a:solidFill>
                  <a:schemeClr val="tx1">
                    <a:tint val="75000"/>
                  </a:schemeClr>
                </a:solidFill>
              </a:rPr>
              <a:t>, Karnataka.</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Problems</a:t>
            </a:r>
          </a:p>
        </p:txBody>
      </p:sp>
      <p:sp>
        <p:nvSpPr>
          <p:cNvPr id="3" name="object 3"/>
          <p:cNvSpPr txBox="1"/>
          <p:nvPr/>
        </p:nvSpPr>
        <p:spPr>
          <a:xfrm>
            <a:off x="154330" y="1408938"/>
            <a:ext cx="2897505" cy="1116330"/>
          </a:xfrm>
          <a:prstGeom prst="rect">
            <a:avLst/>
          </a:prstGeom>
        </p:spPr>
        <p:txBody>
          <a:bodyPr vert="horz" wrap="square" lIns="0" tIns="13335" rIns="0" bIns="0" rtlCol="0">
            <a:spAutoFit/>
          </a:bodyPr>
          <a:lstStyle/>
          <a:p>
            <a:pPr marL="469900" indent="-457200">
              <a:lnSpc>
                <a:spcPct val="100000"/>
              </a:lnSpc>
              <a:spcBef>
                <a:spcPts val="105"/>
              </a:spcBef>
              <a:buAutoNum type="arabicPeriod"/>
              <a:tabLst>
                <a:tab pos="469900" algn="l"/>
              </a:tabLst>
            </a:pPr>
            <a:r>
              <a:rPr sz="2000" spc="-10" dirty="0">
                <a:latin typeface="Georgia" panose="02040502050405020303"/>
                <a:cs typeface="Georgia" panose="02040502050405020303"/>
              </a:rPr>
              <a:t>Factorial</a:t>
            </a:r>
            <a:r>
              <a:rPr sz="2000" spc="-65" dirty="0">
                <a:latin typeface="Georgia" panose="02040502050405020303"/>
                <a:cs typeface="Georgia" panose="02040502050405020303"/>
              </a:rPr>
              <a:t> </a:t>
            </a:r>
            <a:r>
              <a:rPr sz="2000" dirty="0">
                <a:latin typeface="Georgia" panose="02040502050405020303"/>
                <a:cs typeface="Georgia" panose="02040502050405020303"/>
              </a:rPr>
              <a:t>of</a:t>
            </a:r>
            <a:r>
              <a:rPr sz="2000" spc="-60" dirty="0">
                <a:latin typeface="Georgia" panose="02040502050405020303"/>
                <a:cs typeface="Georgia" panose="02040502050405020303"/>
              </a:rPr>
              <a:t> </a:t>
            </a:r>
            <a:r>
              <a:rPr sz="2000" dirty="0">
                <a:latin typeface="Georgia" panose="02040502050405020303"/>
                <a:cs typeface="Georgia" panose="02040502050405020303"/>
              </a:rPr>
              <a:t>a</a:t>
            </a:r>
            <a:r>
              <a:rPr sz="2000" spc="-10" dirty="0">
                <a:latin typeface="Georgia" panose="02040502050405020303"/>
                <a:cs typeface="Georgia" panose="02040502050405020303"/>
              </a:rPr>
              <a:t> number</a:t>
            </a:r>
            <a:endParaRPr sz="2000">
              <a:latin typeface="Georgia" panose="02040502050405020303"/>
              <a:cs typeface="Georgia" panose="02040502050405020303"/>
            </a:endParaRPr>
          </a:p>
          <a:p>
            <a:pPr>
              <a:lnSpc>
                <a:spcPct val="100000"/>
              </a:lnSpc>
              <a:spcBef>
                <a:spcPts val="1505"/>
              </a:spcBef>
              <a:buFont typeface="Georgia" panose="02040502050405020303"/>
              <a:buAutoNum type="arabicPeriod"/>
            </a:pPr>
            <a:endParaRPr sz="2000">
              <a:latin typeface="Georgia" panose="02040502050405020303"/>
              <a:cs typeface="Georgia" panose="02040502050405020303"/>
            </a:endParaRPr>
          </a:p>
          <a:p>
            <a:pPr marL="469900" indent="-457200">
              <a:lnSpc>
                <a:spcPct val="100000"/>
              </a:lnSpc>
              <a:buAutoNum type="arabicPeriod"/>
              <a:tabLst>
                <a:tab pos="469900" algn="l"/>
              </a:tabLst>
            </a:pPr>
            <a:r>
              <a:rPr sz="2000" dirty="0">
                <a:latin typeface="Georgia" panose="02040502050405020303"/>
                <a:cs typeface="Georgia" panose="02040502050405020303"/>
              </a:rPr>
              <a:t>Tower</a:t>
            </a:r>
            <a:r>
              <a:rPr sz="2000" spc="-55" dirty="0">
                <a:latin typeface="Georgia" panose="02040502050405020303"/>
                <a:cs typeface="Georgia" panose="02040502050405020303"/>
              </a:rPr>
              <a:t> </a:t>
            </a:r>
            <a:r>
              <a:rPr sz="2000" dirty="0">
                <a:latin typeface="Georgia" panose="02040502050405020303"/>
                <a:cs typeface="Georgia" panose="02040502050405020303"/>
              </a:rPr>
              <a:t>of</a:t>
            </a:r>
            <a:r>
              <a:rPr sz="2000" spc="-30" dirty="0">
                <a:latin typeface="Georgia" panose="02040502050405020303"/>
                <a:cs typeface="Georgia" panose="02040502050405020303"/>
              </a:rPr>
              <a:t> </a:t>
            </a:r>
            <a:r>
              <a:rPr sz="2000" spc="-10" dirty="0">
                <a:latin typeface="Georgia" panose="02040502050405020303"/>
                <a:cs typeface="Georgia" panose="02040502050405020303"/>
              </a:rPr>
              <a:t>Hanoi</a:t>
            </a:r>
            <a:endParaRPr sz="2000">
              <a:latin typeface="Georgia" panose="02040502050405020303"/>
              <a:cs typeface="Georgia" panose="02040502050405020303"/>
            </a:endParaRPr>
          </a:p>
        </p:txBody>
      </p:sp>
      <p:sp>
        <p:nvSpPr>
          <p:cNvPr id="4" name="Footer Placeholder 3"/>
          <p:cNvSpPr>
            <a:spLocks noGrp="1"/>
          </p:cNvSpPr>
          <p:nvPr>
            <p:ph type="ftr" sz="quarter" idx="4294967295"/>
          </p:nvPr>
        </p:nvSpPr>
        <p:spPr>
          <a:xfrm>
            <a:off x="1698171" y="6375013"/>
            <a:ext cx="8871858" cy="365125"/>
          </a:xfrm>
          <a:prstGeom prst="rect">
            <a:avLst/>
          </a:prstGeom>
        </p:spPr>
        <p:txBody>
          <a:bodyPr/>
          <a:lstStyle/>
          <a:p>
            <a:pPr algn="ctr"/>
            <a:r>
              <a:rPr lang="en-US" sz="1200" dirty="0">
                <a:solidFill>
                  <a:schemeClr val="tx1">
                    <a:tint val="75000"/>
                  </a:schemeClr>
                </a:solidFill>
              </a:rPr>
              <a:t>Slides prepared by: Prof.Nandini K, Assistant Professor, Department of CSE, </a:t>
            </a:r>
            <a:r>
              <a:rPr lang="en-US" sz="1200" dirty="0" err="1">
                <a:solidFill>
                  <a:schemeClr val="tx1">
                    <a:tint val="75000"/>
                  </a:schemeClr>
                </a:solidFill>
              </a:rPr>
              <a:t>Dayananda</a:t>
            </a:r>
            <a:r>
              <a:rPr lang="en-US" sz="1200" dirty="0">
                <a:solidFill>
                  <a:schemeClr val="tx1">
                    <a:tint val="75000"/>
                  </a:schemeClr>
                </a:solidFill>
              </a:rPr>
              <a:t> </a:t>
            </a:r>
            <a:r>
              <a:rPr lang="en-US" sz="1200" dirty="0" err="1">
                <a:solidFill>
                  <a:schemeClr val="tx1">
                    <a:tint val="75000"/>
                  </a:schemeClr>
                </a:solidFill>
              </a:rPr>
              <a:t>Sagar</a:t>
            </a:r>
            <a:r>
              <a:rPr lang="en-US" sz="1200" dirty="0">
                <a:solidFill>
                  <a:schemeClr val="tx1">
                    <a:tint val="75000"/>
                  </a:schemeClr>
                </a:solidFill>
              </a:rPr>
              <a:t> University, </a:t>
            </a:r>
            <a:r>
              <a:rPr lang="en-US" sz="1200" dirty="0" err="1">
                <a:solidFill>
                  <a:schemeClr val="tx1">
                    <a:tint val="75000"/>
                  </a:schemeClr>
                </a:solidFill>
              </a:rPr>
              <a:t>Harohalli</a:t>
            </a:r>
            <a:r>
              <a:rPr lang="en-US" sz="1200" dirty="0">
                <a:solidFill>
                  <a:schemeClr val="tx1">
                    <a:tint val="75000"/>
                  </a:schemeClr>
                </a:solidFill>
              </a:rPr>
              <a:t>, Karnataka.</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010400" y="1189921"/>
            <a:ext cx="4496630" cy="5175856"/>
          </a:xfrm>
          <a:prstGeom prst="rect">
            <a:avLst/>
          </a:prstGeom>
        </p:spPr>
      </p:pic>
      <p:sp>
        <p:nvSpPr>
          <p:cNvPr id="3" name="object 3"/>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1.</a:t>
            </a:r>
            <a:r>
              <a:rPr spc="-30" dirty="0"/>
              <a:t> </a:t>
            </a:r>
            <a:r>
              <a:rPr dirty="0"/>
              <a:t>Factorial</a:t>
            </a:r>
            <a:r>
              <a:rPr spc="-70" dirty="0"/>
              <a:t> </a:t>
            </a:r>
            <a:r>
              <a:rPr dirty="0"/>
              <a:t>of</a:t>
            </a:r>
            <a:r>
              <a:rPr spc="-35" dirty="0"/>
              <a:t> </a:t>
            </a:r>
            <a:r>
              <a:rPr dirty="0"/>
              <a:t>a</a:t>
            </a:r>
            <a:r>
              <a:rPr spc="-35" dirty="0"/>
              <a:t> </a:t>
            </a:r>
            <a:r>
              <a:rPr spc="-10" dirty="0"/>
              <a:t>Number</a:t>
            </a:r>
          </a:p>
        </p:txBody>
      </p:sp>
      <p:sp>
        <p:nvSpPr>
          <p:cNvPr id="4" name="object 4"/>
          <p:cNvSpPr txBox="1"/>
          <p:nvPr/>
        </p:nvSpPr>
        <p:spPr>
          <a:xfrm>
            <a:off x="472820" y="1702071"/>
            <a:ext cx="3171825" cy="1718945"/>
          </a:xfrm>
          <a:prstGeom prst="rect">
            <a:avLst/>
          </a:prstGeom>
        </p:spPr>
        <p:txBody>
          <a:bodyPr vert="horz" wrap="square" lIns="0" tIns="13335" rIns="0" bIns="0" rtlCol="0">
            <a:spAutoFit/>
          </a:bodyPr>
          <a:lstStyle/>
          <a:p>
            <a:pPr marL="12700">
              <a:lnSpc>
                <a:spcPct val="100000"/>
              </a:lnSpc>
              <a:spcBef>
                <a:spcPts val="105"/>
              </a:spcBef>
            </a:pPr>
            <a:r>
              <a:rPr sz="2000" dirty="0">
                <a:latin typeface="Georgia" panose="02040502050405020303"/>
                <a:cs typeface="Georgia" panose="02040502050405020303"/>
              </a:rPr>
              <a:t>ALGORITHM</a:t>
            </a:r>
            <a:r>
              <a:rPr sz="2000" spc="-110" dirty="0">
                <a:latin typeface="Georgia" panose="02040502050405020303"/>
                <a:cs typeface="Georgia" panose="02040502050405020303"/>
              </a:rPr>
              <a:t> </a:t>
            </a:r>
            <a:r>
              <a:rPr sz="2000" spc="-10" dirty="0">
                <a:latin typeface="Georgia" panose="02040502050405020303"/>
                <a:cs typeface="Georgia" panose="02040502050405020303"/>
              </a:rPr>
              <a:t>Fact(n)</a:t>
            </a:r>
            <a:endParaRPr sz="2000" dirty="0">
              <a:latin typeface="Georgia" panose="02040502050405020303"/>
              <a:cs typeface="Georgia" panose="02040502050405020303"/>
            </a:endParaRPr>
          </a:p>
          <a:p>
            <a:pPr>
              <a:lnSpc>
                <a:spcPct val="100000"/>
              </a:lnSpc>
              <a:spcBef>
                <a:spcPts val="10"/>
              </a:spcBef>
            </a:pPr>
            <a:endParaRPr sz="2000" dirty="0">
              <a:latin typeface="Georgia" panose="02040502050405020303"/>
              <a:cs typeface="Georgia" panose="02040502050405020303"/>
            </a:endParaRPr>
          </a:p>
          <a:p>
            <a:pPr marL="12700">
              <a:lnSpc>
                <a:spcPct val="100000"/>
              </a:lnSpc>
              <a:spcBef>
                <a:spcPts val="5"/>
              </a:spcBef>
            </a:pPr>
            <a:r>
              <a:rPr sz="1800" spc="-10" dirty="0">
                <a:latin typeface="Georgia" panose="02040502050405020303"/>
                <a:cs typeface="Georgia" panose="02040502050405020303"/>
              </a:rPr>
              <a:t>if(n==0)</a:t>
            </a:r>
            <a:endParaRPr sz="1800" dirty="0">
              <a:latin typeface="Georgia" panose="02040502050405020303"/>
              <a:cs typeface="Georgia" panose="02040502050405020303"/>
            </a:endParaRPr>
          </a:p>
          <a:p>
            <a:pPr marL="927100">
              <a:lnSpc>
                <a:spcPct val="100000"/>
              </a:lnSpc>
            </a:pPr>
            <a:r>
              <a:rPr sz="1800" b="1" dirty="0">
                <a:latin typeface="Georgia" panose="02040502050405020303"/>
                <a:cs typeface="Georgia" panose="02040502050405020303"/>
              </a:rPr>
              <a:t>return</a:t>
            </a:r>
            <a:r>
              <a:rPr sz="1800" b="1" spc="-85" dirty="0">
                <a:latin typeface="Georgia" panose="02040502050405020303"/>
                <a:cs typeface="Georgia" panose="02040502050405020303"/>
              </a:rPr>
              <a:t> </a:t>
            </a:r>
            <a:r>
              <a:rPr sz="1800" b="1" spc="-25" dirty="0">
                <a:latin typeface="Georgia" panose="02040502050405020303"/>
                <a:cs typeface="Georgia" panose="02040502050405020303"/>
              </a:rPr>
              <a:t>1;</a:t>
            </a:r>
            <a:endParaRPr sz="1800" dirty="0">
              <a:latin typeface="Georgia" panose="02040502050405020303"/>
              <a:cs typeface="Georgia" panose="02040502050405020303"/>
            </a:endParaRPr>
          </a:p>
          <a:p>
            <a:pPr marL="12700">
              <a:lnSpc>
                <a:spcPct val="100000"/>
              </a:lnSpc>
            </a:pPr>
            <a:r>
              <a:rPr sz="1800" spc="-20" dirty="0">
                <a:latin typeface="Georgia" panose="02040502050405020303"/>
                <a:cs typeface="Georgia" panose="02040502050405020303"/>
              </a:rPr>
              <a:t>else</a:t>
            </a:r>
            <a:endParaRPr sz="1800" dirty="0">
              <a:latin typeface="Georgia" panose="02040502050405020303"/>
              <a:cs typeface="Georgia" panose="02040502050405020303"/>
            </a:endParaRPr>
          </a:p>
          <a:p>
            <a:pPr marL="927100">
              <a:lnSpc>
                <a:spcPct val="100000"/>
              </a:lnSpc>
            </a:pPr>
            <a:r>
              <a:rPr sz="1800" b="1" dirty="0">
                <a:latin typeface="Georgia" panose="02040502050405020303"/>
                <a:cs typeface="Georgia" panose="02040502050405020303"/>
              </a:rPr>
              <a:t>return</a:t>
            </a:r>
            <a:r>
              <a:rPr sz="1800" b="1" spc="-40" dirty="0">
                <a:latin typeface="Georgia" panose="02040502050405020303"/>
                <a:cs typeface="Georgia" panose="02040502050405020303"/>
              </a:rPr>
              <a:t> </a:t>
            </a:r>
            <a:r>
              <a:rPr sz="1800" b="1" spc="-10" dirty="0">
                <a:latin typeface="Georgia" panose="02040502050405020303"/>
                <a:cs typeface="Georgia" panose="02040502050405020303"/>
              </a:rPr>
              <a:t>n*Fact(n-</a:t>
            </a:r>
            <a:r>
              <a:rPr sz="1800" b="1" spc="-25" dirty="0">
                <a:latin typeface="Georgia" panose="02040502050405020303"/>
                <a:cs typeface="Georgia" panose="02040502050405020303"/>
              </a:rPr>
              <a:t>1);</a:t>
            </a:r>
            <a:endParaRPr sz="1800" dirty="0">
              <a:latin typeface="Georgia" panose="02040502050405020303"/>
              <a:cs typeface="Georgia" panose="02040502050405020303"/>
            </a:endParaRPr>
          </a:p>
        </p:txBody>
      </p:sp>
      <p:sp>
        <p:nvSpPr>
          <p:cNvPr id="5" name="Footer Placeholder 3"/>
          <p:cNvSpPr>
            <a:spLocks noGrp="1"/>
          </p:cNvSpPr>
          <p:nvPr>
            <p:ph type="ftr" sz="quarter" idx="4294967295"/>
          </p:nvPr>
        </p:nvSpPr>
        <p:spPr>
          <a:xfrm>
            <a:off x="1698171" y="6365777"/>
            <a:ext cx="8871858" cy="365125"/>
          </a:xfrm>
          <a:prstGeom prst="rect">
            <a:avLst/>
          </a:prstGeom>
        </p:spPr>
        <p:txBody>
          <a:bodyPr/>
          <a:lstStyle/>
          <a:p>
            <a:pPr algn="ctr"/>
            <a:r>
              <a:rPr lang="en-US" sz="1200" dirty="0">
                <a:solidFill>
                  <a:schemeClr val="tx1">
                    <a:tint val="75000"/>
                  </a:schemeClr>
                </a:solidFill>
              </a:rPr>
              <a:t>Slides prepared by: Prof.Nandini K, Assistant Professor, Department of CSE, </a:t>
            </a:r>
            <a:r>
              <a:rPr lang="en-US" sz="1200" dirty="0" err="1">
                <a:solidFill>
                  <a:schemeClr val="tx1">
                    <a:tint val="75000"/>
                  </a:schemeClr>
                </a:solidFill>
              </a:rPr>
              <a:t>Dayananda</a:t>
            </a:r>
            <a:r>
              <a:rPr lang="en-US" sz="1200" dirty="0">
                <a:solidFill>
                  <a:schemeClr val="tx1">
                    <a:tint val="75000"/>
                  </a:schemeClr>
                </a:solidFill>
              </a:rPr>
              <a:t> </a:t>
            </a:r>
            <a:r>
              <a:rPr lang="en-US" sz="1200" dirty="0" err="1">
                <a:solidFill>
                  <a:schemeClr val="tx1">
                    <a:tint val="75000"/>
                  </a:schemeClr>
                </a:solidFill>
              </a:rPr>
              <a:t>Sagar</a:t>
            </a:r>
            <a:r>
              <a:rPr lang="en-US" sz="1200" dirty="0">
                <a:solidFill>
                  <a:schemeClr val="tx1">
                    <a:tint val="75000"/>
                  </a:schemeClr>
                </a:solidFill>
              </a:rPr>
              <a:t> University, </a:t>
            </a:r>
            <a:r>
              <a:rPr lang="en-US" sz="1200" dirty="0" err="1">
                <a:solidFill>
                  <a:schemeClr val="tx1">
                    <a:tint val="75000"/>
                  </a:schemeClr>
                </a:solidFill>
              </a:rPr>
              <a:t>Harohalli</a:t>
            </a:r>
            <a:r>
              <a:rPr lang="en-US" sz="1200" dirty="0">
                <a:solidFill>
                  <a:schemeClr val="tx1">
                    <a:tint val="75000"/>
                  </a:schemeClr>
                </a:solidFill>
              </a:rPr>
              <a:t>, Karnataka.</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199" y="-68984"/>
            <a:ext cx="10180899" cy="1325563"/>
          </a:xfrm>
          <a:prstGeom prst="rect">
            <a:avLst/>
          </a:prstGeom>
        </p:spPr>
        <p:txBody>
          <a:bodyPr vert="horz" wrap="square" lIns="0" tIns="12700" rIns="0" bIns="0" rtlCol="0">
            <a:spAutoFit/>
          </a:bodyPr>
          <a:lstStyle/>
          <a:p>
            <a:pPr marL="12700">
              <a:lnSpc>
                <a:spcPct val="100000"/>
              </a:lnSpc>
              <a:spcBef>
                <a:spcPts val="100"/>
              </a:spcBef>
            </a:pPr>
            <a:r>
              <a:rPr dirty="0"/>
              <a:t>2.</a:t>
            </a:r>
            <a:r>
              <a:rPr spc="-50" dirty="0"/>
              <a:t> </a:t>
            </a:r>
            <a:r>
              <a:rPr dirty="0"/>
              <a:t>Tower</a:t>
            </a:r>
            <a:r>
              <a:rPr spc="-35" dirty="0"/>
              <a:t> </a:t>
            </a:r>
            <a:r>
              <a:rPr dirty="0"/>
              <a:t>of</a:t>
            </a:r>
            <a:r>
              <a:rPr spc="-45" dirty="0"/>
              <a:t> </a:t>
            </a:r>
            <a:r>
              <a:rPr spc="-10" dirty="0"/>
              <a:t>Hanoi</a:t>
            </a:r>
          </a:p>
        </p:txBody>
      </p:sp>
      <p:pic>
        <p:nvPicPr>
          <p:cNvPr id="3" name="object 3"/>
          <p:cNvPicPr/>
          <p:nvPr/>
        </p:nvPicPr>
        <p:blipFill>
          <a:blip r:embed="rId2" cstate="print"/>
          <a:stretch>
            <a:fillRect/>
          </a:stretch>
        </p:blipFill>
        <p:spPr>
          <a:xfrm>
            <a:off x="243840" y="941832"/>
            <a:ext cx="6839711" cy="4696968"/>
          </a:xfrm>
          <a:prstGeom prst="rect">
            <a:avLst/>
          </a:prstGeom>
        </p:spPr>
      </p:pic>
      <p:sp>
        <p:nvSpPr>
          <p:cNvPr id="4" name="object 4"/>
          <p:cNvSpPr txBox="1"/>
          <p:nvPr/>
        </p:nvSpPr>
        <p:spPr>
          <a:xfrm>
            <a:off x="7456169" y="1326858"/>
            <a:ext cx="4367530" cy="848360"/>
          </a:xfrm>
          <a:prstGeom prst="rect">
            <a:avLst/>
          </a:prstGeom>
        </p:spPr>
        <p:txBody>
          <a:bodyPr vert="horz" wrap="square" lIns="0" tIns="12700" rIns="0" bIns="0" rtlCol="0">
            <a:spAutoFit/>
          </a:bodyPr>
          <a:lstStyle/>
          <a:p>
            <a:pPr marL="12700" marR="5080" algn="just">
              <a:lnSpc>
                <a:spcPct val="100000"/>
              </a:lnSpc>
              <a:spcBef>
                <a:spcPts val="100"/>
              </a:spcBef>
            </a:pPr>
            <a:r>
              <a:rPr sz="1800" dirty="0">
                <a:latin typeface="Georgia" panose="02040502050405020303"/>
                <a:cs typeface="Georgia" panose="02040502050405020303"/>
              </a:rPr>
              <a:t>Step</a:t>
            </a:r>
            <a:r>
              <a:rPr sz="1800" spc="5" dirty="0">
                <a:latin typeface="Georgia" panose="02040502050405020303"/>
                <a:cs typeface="Georgia" panose="02040502050405020303"/>
              </a:rPr>
              <a:t> </a:t>
            </a:r>
            <a:r>
              <a:rPr sz="1800" dirty="0">
                <a:latin typeface="Georgia" panose="02040502050405020303"/>
                <a:cs typeface="Georgia" panose="02040502050405020303"/>
              </a:rPr>
              <a:t>1</a:t>
            </a:r>
            <a:r>
              <a:rPr sz="1800" spc="-5" dirty="0">
                <a:latin typeface="Georgia" panose="02040502050405020303"/>
                <a:cs typeface="Georgia" panose="02040502050405020303"/>
              </a:rPr>
              <a:t> </a:t>
            </a:r>
            <a:r>
              <a:rPr sz="1800" dirty="0">
                <a:latin typeface="Georgia" panose="02040502050405020303"/>
                <a:cs typeface="Georgia" panose="02040502050405020303"/>
              </a:rPr>
              <a:t>−</a:t>
            </a:r>
            <a:r>
              <a:rPr sz="1800" spc="10" dirty="0">
                <a:latin typeface="Georgia" panose="02040502050405020303"/>
                <a:cs typeface="Georgia" panose="02040502050405020303"/>
              </a:rPr>
              <a:t> </a:t>
            </a:r>
            <a:r>
              <a:rPr sz="1800" dirty="0">
                <a:latin typeface="Georgia" panose="02040502050405020303"/>
                <a:cs typeface="Georgia" panose="02040502050405020303"/>
              </a:rPr>
              <a:t>Move</a:t>
            </a:r>
            <a:r>
              <a:rPr sz="1800" spc="15" dirty="0">
                <a:latin typeface="Georgia" panose="02040502050405020303"/>
                <a:cs typeface="Georgia" panose="02040502050405020303"/>
              </a:rPr>
              <a:t> </a:t>
            </a:r>
            <a:r>
              <a:rPr sz="1800" spc="-10" dirty="0">
                <a:latin typeface="Georgia" panose="02040502050405020303"/>
                <a:cs typeface="Georgia" panose="02040502050405020303"/>
              </a:rPr>
              <a:t>n-</a:t>
            </a:r>
            <a:r>
              <a:rPr sz="1800" dirty="0">
                <a:latin typeface="Georgia" panose="02040502050405020303"/>
                <a:cs typeface="Georgia" panose="02040502050405020303"/>
              </a:rPr>
              <a:t>1 disks from</a:t>
            </a:r>
            <a:r>
              <a:rPr sz="1800" spc="-10" dirty="0">
                <a:latin typeface="Georgia" panose="02040502050405020303"/>
                <a:cs typeface="Georgia" panose="02040502050405020303"/>
              </a:rPr>
              <a:t> </a:t>
            </a:r>
            <a:r>
              <a:rPr sz="1800" dirty="0">
                <a:latin typeface="Georgia" panose="02040502050405020303"/>
                <a:cs typeface="Georgia" panose="02040502050405020303"/>
              </a:rPr>
              <a:t>source</a:t>
            </a:r>
            <a:r>
              <a:rPr sz="1800" spc="10" dirty="0">
                <a:latin typeface="Georgia" panose="02040502050405020303"/>
                <a:cs typeface="Georgia" panose="02040502050405020303"/>
              </a:rPr>
              <a:t> </a:t>
            </a:r>
            <a:r>
              <a:rPr sz="1800" dirty="0">
                <a:latin typeface="Georgia" panose="02040502050405020303"/>
                <a:cs typeface="Georgia" panose="02040502050405020303"/>
              </a:rPr>
              <a:t>to</a:t>
            </a:r>
            <a:r>
              <a:rPr sz="1800" spc="5" dirty="0">
                <a:latin typeface="Georgia" panose="02040502050405020303"/>
                <a:cs typeface="Georgia" panose="02040502050405020303"/>
              </a:rPr>
              <a:t> </a:t>
            </a:r>
            <a:r>
              <a:rPr sz="1800" spc="-25" dirty="0">
                <a:latin typeface="Georgia" panose="02040502050405020303"/>
                <a:cs typeface="Georgia" panose="02040502050405020303"/>
              </a:rPr>
              <a:t>aux </a:t>
            </a:r>
            <a:r>
              <a:rPr sz="1800" dirty="0">
                <a:latin typeface="Georgia" panose="02040502050405020303"/>
                <a:cs typeface="Georgia" panose="02040502050405020303"/>
              </a:rPr>
              <a:t>Step</a:t>
            </a:r>
            <a:r>
              <a:rPr sz="1800" spc="-15" dirty="0">
                <a:latin typeface="Georgia" panose="02040502050405020303"/>
                <a:cs typeface="Georgia" panose="02040502050405020303"/>
              </a:rPr>
              <a:t> </a:t>
            </a:r>
            <a:r>
              <a:rPr sz="1800" dirty="0">
                <a:latin typeface="Georgia" panose="02040502050405020303"/>
                <a:cs typeface="Georgia" panose="02040502050405020303"/>
              </a:rPr>
              <a:t>2</a:t>
            </a:r>
            <a:r>
              <a:rPr sz="1800" spc="-10" dirty="0">
                <a:latin typeface="Georgia" panose="02040502050405020303"/>
                <a:cs typeface="Georgia" panose="02040502050405020303"/>
              </a:rPr>
              <a:t> </a:t>
            </a:r>
            <a:r>
              <a:rPr sz="1800" dirty="0">
                <a:latin typeface="Georgia" panose="02040502050405020303"/>
                <a:cs typeface="Georgia" panose="02040502050405020303"/>
              </a:rPr>
              <a:t>−</a:t>
            </a:r>
            <a:r>
              <a:rPr sz="1800" spc="-10" dirty="0">
                <a:latin typeface="Georgia" panose="02040502050405020303"/>
                <a:cs typeface="Georgia" panose="02040502050405020303"/>
              </a:rPr>
              <a:t> </a:t>
            </a:r>
            <a:r>
              <a:rPr sz="1800" dirty="0">
                <a:latin typeface="Georgia" panose="02040502050405020303"/>
                <a:cs typeface="Georgia" panose="02040502050405020303"/>
              </a:rPr>
              <a:t>Move nth</a:t>
            </a:r>
            <a:r>
              <a:rPr sz="1800" spc="-10" dirty="0">
                <a:latin typeface="Georgia" panose="02040502050405020303"/>
                <a:cs typeface="Georgia" panose="02040502050405020303"/>
              </a:rPr>
              <a:t> </a:t>
            </a:r>
            <a:r>
              <a:rPr sz="1800" dirty="0">
                <a:latin typeface="Georgia" panose="02040502050405020303"/>
                <a:cs typeface="Georgia" panose="02040502050405020303"/>
              </a:rPr>
              <a:t>disk</a:t>
            </a:r>
            <a:r>
              <a:rPr sz="1800" spc="-15" dirty="0">
                <a:latin typeface="Georgia" panose="02040502050405020303"/>
                <a:cs typeface="Georgia" panose="02040502050405020303"/>
              </a:rPr>
              <a:t> </a:t>
            </a:r>
            <a:r>
              <a:rPr sz="1800" dirty="0">
                <a:latin typeface="Georgia" panose="02040502050405020303"/>
                <a:cs typeface="Georgia" panose="02040502050405020303"/>
              </a:rPr>
              <a:t>from</a:t>
            </a:r>
            <a:r>
              <a:rPr sz="1800" spc="-10" dirty="0">
                <a:latin typeface="Georgia" panose="02040502050405020303"/>
                <a:cs typeface="Georgia" panose="02040502050405020303"/>
              </a:rPr>
              <a:t> </a:t>
            </a:r>
            <a:r>
              <a:rPr sz="1800" dirty="0">
                <a:latin typeface="Georgia" panose="02040502050405020303"/>
                <a:cs typeface="Georgia" panose="02040502050405020303"/>
              </a:rPr>
              <a:t>source</a:t>
            </a:r>
            <a:r>
              <a:rPr sz="1800" spc="-10" dirty="0">
                <a:latin typeface="Georgia" panose="02040502050405020303"/>
                <a:cs typeface="Georgia" panose="02040502050405020303"/>
              </a:rPr>
              <a:t> </a:t>
            </a:r>
            <a:r>
              <a:rPr sz="1800" dirty="0">
                <a:latin typeface="Georgia" panose="02040502050405020303"/>
                <a:cs typeface="Georgia" panose="02040502050405020303"/>
              </a:rPr>
              <a:t>to</a:t>
            </a:r>
            <a:r>
              <a:rPr sz="1800" spc="-10" dirty="0">
                <a:latin typeface="Georgia" panose="02040502050405020303"/>
                <a:cs typeface="Georgia" panose="02040502050405020303"/>
              </a:rPr>
              <a:t> </a:t>
            </a:r>
            <a:r>
              <a:rPr sz="1800" spc="-20" dirty="0">
                <a:latin typeface="Georgia" panose="02040502050405020303"/>
                <a:cs typeface="Georgia" panose="02040502050405020303"/>
              </a:rPr>
              <a:t>dest </a:t>
            </a:r>
            <a:r>
              <a:rPr sz="1800" dirty="0">
                <a:latin typeface="Georgia" panose="02040502050405020303"/>
                <a:cs typeface="Georgia" panose="02040502050405020303"/>
              </a:rPr>
              <a:t>Step</a:t>
            </a:r>
            <a:r>
              <a:rPr sz="1800" spc="-45" dirty="0">
                <a:latin typeface="Georgia" panose="02040502050405020303"/>
                <a:cs typeface="Georgia" panose="02040502050405020303"/>
              </a:rPr>
              <a:t> </a:t>
            </a:r>
            <a:r>
              <a:rPr sz="1800" dirty="0">
                <a:latin typeface="Georgia" panose="02040502050405020303"/>
                <a:cs typeface="Georgia" panose="02040502050405020303"/>
              </a:rPr>
              <a:t>3</a:t>
            </a:r>
            <a:r>
              <a:rPr sz="1800" spc="-35" dirty="0">
                <a:latin typeface="Georgia" panose="02040502050405020303"/>
                <a:cs typeface="Georgia" panose="02040502050405020303"/>
              </a:rPr>
              <a:t> </a:t>
            </a:r>
            <a:r>
              <a:rPr sz="1800" dirty="0">
                <a:latin typeface="Georgia" panose="02040502050405020303"/>
                <a:cs typeface="Georgia" panose="02040502050405020303"/>
              </a:rPr>
              <a:t>−</a:t>
            </a:r>
            <a:r>
              <a:rPr sz="1800" spc="-25" dirty="0">
                <a:latin typeface="Georgia" panose="02040502050405020303"/>
                <a:cs typeface="Georgia" panose="02040502050405020303"/>
              </a:rPr>
              <a:t> </a:t>
            </a:r>
            <a:r>
              <a:rPr sz="1800" dirty="0">
                <a:latin typeface="Georgia" panose="02040502050405020303"/>
                <a:cs typeface="Georgia" panose="02040502050405020303"/>
              </a:rPr>
              <a:t>Move</a:t>
            </a:r>
            <a:r>
              <a:rPr sz="1800" spc="10" dirty="0">
                <a:latin typeface="Georgia" panose="02040502050405020303"/>
                <a:cs typeface="Georgia" panose="02040502050405020303"/>
              </a:rPr>
              <a:t> </a:t>
            </a:r>
            <a:r>
              <a:rPr sz="1800" spc="-10" dirty="0">
                <a:latin typeface="Georgia" panose="02040502050405020303"/>
                <a:cs typeface="Georgia" panose="02040502050405020303"/>
              </a:rPr>
              <a:t>n-</a:t>
            </a:r>
            <a:r>
              <a:rPr sz="1800" dirty="0">
                <a:latin typeface="Georgia" panose="02040502050405020303"/>
                <a:cs typeface="Georgia" panose="02040502050405020303"/>
              </a:rPr>
              <a:t>1</a:t>
            </a:r>
            <a:r>
              <a:rPr sz="1800" spc="-35" dirty="0">
                <a:latin typeface="Georgia" panose="02040502050405020303"/>
                <a:cs typeface="Georgia" panose="02040502050405020303"/>
              </a:rPr>
              <a:t> </a:t>
            </a:r>
            <a:r>
              <a:rPr sz="1800" dirty="0">
                <a:latin typeface="Georgia" panose="02040502050405020303"/>
                <a:cs typeface="Georgia" panose="02040502050405020303"/>
              </a:rPr>
              <a:t>disks</a:t>
            </a:r>
            <a:r>
              <a:rPr sz="1800" spc="-60" dirty="0">
                <a:latin typeface="Georgia" panose="02040502050405020303"/>
                <a:cs typeface="Georgia" panose="02040502050405020303"/>
              </a:rPr>
              <a:t> </a:t>
            </a:r>
            <a:r>
              <a:rPr sz="1800" dirty="0">
                <a:latin typeface="Georgia" panose="02040502050405020303"/>
                <a:cs typeface="Georgia" panose="02040502050405020303"/>
              </a:rPr>
              <a:t>from</a:t>
            </a:r>
            <a:r>
              <a:rPr sz="1800" spc="-20" dirty="0">
                <a:latin typeface="Georgia" panose="02040502050405020303"/>
                <a:cs typeface="Georgia" panose="02040502050405020303"/>
              </a:rPr>
              <a:t> </a:t>
            </a:r>
            <a:r>
              <a:rPr sz="1800" dirty="0">
                <a:latin typeface="Georgia" panose="02040502050405020303"/>
                <a:cs typeface="Georgia" panose="02040502050405020303"/>
              </a:rPr>
              <a:t>aux</a:t>
            </a:r>
            <a:r>
              <a:rPr sz="1800" spc="-10" dirty="0">
                <a:latin typeface="Georgia" panose="02040502050405020303"/>
                <a:cs typeface="Georgia" panose="02040502050405020303"/>
              </a:rPr>
              <a:t> </a:t>
            </a:r>
            <a:r>
              <a:rPr sz="1800" dirty="0">
                <a:latin typeface="Georgia" panose="02040502050405020303"/>
                <a:cs typeface="Georgia" panose="02040502050405020303"/>
              </a:rPr>
              <a:t>to</a:t>
            </a:r>
            <a:r>
              <a:rPr sz="1800" spc="-5" dirty="0">
                <a:latin typeface="Georgia" panose="02040502050405020303"/>
                <a:cs typeface="Georgia" panose="02040502050405020303"/>
              </a:rPr>
              <a:t> </a:t>
            </a:r>
            <a:r>
              <a:rPr sz="1800" spc="-20" dirty="0">
                <a:latin typeface="Georgia" panose="02040502050405020303"/>
                <a:cs typeface="Georgia" panose="02040502050405020303"/>
              </a:rPr>
              <a:t>dest</a:t>
            </a:r>
            <a:endParaRPr sz="1800" dirty="0">
              <a:latin typeface="Georgia" panose="02040502050405020303"/>
              <a:cs typeface="Georgia" panose="02040502050405020303"/>
            </a:endParaRPr>
          </a:p>
        </p:txBody>
      </p:sp>
      <p:sp>
        <p:nvSpPr>
          <p:cNvPr id="5" name="Footer Placeholder 3"/>
          <p:cNvSpPr>
            <a:spLocks noGrp="1"/>
          </p:cNvSpPr>
          <p:nvPr>
            <p:ph type="ftr" sz="quarter" idx="4294967295"/>
          </p:nvPr>
        </p:nvSpPr>
        <p:spPr>
          <a:xfrm>
            <a:off x="1698171" y="6365777"/>
            <a:ext cx="8871858" cy="365125"/>
          </a:xfrm>
          <a:prstGeom prst="rect">
            <a:avLst/>
          </a:prstGeom>
        </p:spPr>
        <p:txBody>
          <a:bodyPr/>
          <a:lstStyle/>
          <a:p>
            <a:pPr algn="ctr"/>
            <a:r>
              <a:rPr lang="en-US" sz="1200" dirty="0">
                <a:solidFill>
                  <a:schemeClr val="tx1">
                    <a:tint val="75000"/>
                  </a:schemeClr>
                </a:solidFill>
              </a:rPr>
              <a:t>Slides prepared by: Prof.Nandini K, Assistant Professor, Department of CSE, </a:t>
            </a:r>
            <a:r>
              <a:rPr lang="en-US" sz="1200" dirty="0" err="1">
                <a:solidFill>
                  <a:schemeClr val="tx1">
                    <a:tint val="75000"/>
                  </a:schemeClr>
                </a:solidFill>
              </a:rPr>
              <a:t>Dayananda</a:t>
            </a:r>
            <a:r>
              <a:rPr lang="en-US" sz="1200" dirty="0">
                <a:solidFill>
                  <a:schemeClr val="tx1">
                    <a:tint val="75000"/>
                  </a:schemeClr>
                </a:solidFill>
              </a:rPr>
              <a:t> </a:t>
            </a:r>
            <a:r>
              <a:rPr lang="en-US" sz="1200" dirty="0" err="1">
                <a:solidFill>
                  <a:schemeClr val="tx1">
                    <a:tint val="75000"/>
                  </a:schemeClr>
                </a:solidFill>
              </a:rPr>
              <a:t>Sagar</a:t>
            </a:r>
            <a:r>
              <a:rPr lang="en-US" sz="1200" dirty="0">
                <a:solidFill>
                  <a:schemeClr val="tx1">
                    <a:tint val="75000"/>
                  </a:schemeClr>
                </a:solidFill>
              </a:rPr>
              <a:t> University, </a:t>
            </a:r>
            <a:r>
              <a:rPr lang="en-US" sz="1200" dirty="0" err="1">
                <a:solidFill>
                  <a:schemeClr val="tx1">
                    <a:tint val="75000"/>
                  </a:schemeClr>
                </a:solidFill>
              </a:rPr>
              <a:t>Harohalli</a:t>
            </a:r>
            <a:r>
              <a:rPr lang="en-US" sz="1200" dirty="0">
                <a:solidFill>
                  <a:schemeClr val="tx1">
                    <a:tint val="75000"/>
                  </a:schemeClr>
                </a:solidFill>
              </a:rPr>
              <a:t>, Karnataka.</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2.</a:t>
            </a:r>
            <a:r>
              <a:rPr spc="-50" dirty="0"/>
              <a:t> </a:t>
            </a:r>
            <a:r>
              <a:rPr dirty="0"/>
              <a:t>Tower</a:t>
            </a:r>
            <a:r>
              <a:rPr spc="-35" dirty="0"/>
              <a:t> </a:t>
            </a:r>
            <a:r>
              <a:rPr dirty="0"/>
              <a:t>of</a:t>
            </a:r>
            <a:r>
              <a:rPr spc="-45" dirty="0"/>
              <a:t> </a:t>
            </a:r>
            <a:r>
              <a:rPr spc="-10" dirty="0"/>
              <a:t>Hanoi</a:t>
            </a:r>
          </a:p>
        </p:txBody>
      </p:sp>
      <p:sp>
        <p:nvSpPr>
          <p:cNvPr id="3" name="object 3"/>
          <p:cNvSpPr txBox="1"/>
          <p:nvPr/>
        </p:nvSpPr>
        <p:spPr>
          <a:xfrm>
            <a:off x="154330" y="1387601"/>
            <a:ext cx="4248785" cy="330835"/>
          </a:xfrm>
          <a:prstGeom prst="rect">
            <a:avLst/>
          </a:prstGeom>
        </p:spPr>
        <p:txBody>
          <a:bodyPr vert="horz" wrap="square" lIns="0" tIns="13335" rIns="0" bIns="0" rtlCol="0">
            <a:spAutoFit/>
          </a:bodyPr>
          <a:lstStyle/>
          <a:p>
            <a:pPr marL="12700">
              <a:lnSpc>
                <a:spcPct val="100000"/>
              </a:lnSpc>
              <a:spcBef>
                <a:spcPts val="105"/>
              </a:spcBef>
            </a:pPr>
            <a:r>
              <a:rPr sz="2000" dirty="0">
                <a:latin typeface="Georgia" panose="02040502050405020303"/>
                <a:cs typeface="Georgia" panose="02040502050405020303"/>
              </a:rPr>
              <a:t>Algorithm</a:t>
            </a:r>
            <a:r>
              <a:rPr sz="2000" spc="-50" dirty="0">
                <a:latin typeface="Georgia" panose="02040502050405020303"/>
                <a:cs typeface="Georgia" panose="02040502050405020303"/>
              </a:rPr>
              <a:t> </a:t>
            </a:r>
            <a:r>
              <a:rPr sz="2000" dirty="0">
                <a:latin typeface="Georgia" panose="02040502050405020303"/>
                <a:cs typeface="Georgia" panose="02040502050405020303"/>
              </a:rPr>
              <a:t>Hanoi(n,</a:t>
            </a:r>
            <a:r>
              <a:rPr sz="2000" spc="-45" dirty="0">
                <a:latin typeface="Georgia" panose="02040502050405020303"/>
                <a:cs typeface="Georgia" panose="02040502050405020303"/>
              </a:rPr>
              <a:t> </a:t>
            </a:r>
            <a:r>
              <a:rPr sz="2000" dirty="0">
                <a:latin typeface="Georgia" panose="02040502050405020303"/>
                <a:cs typeface="Georgia" panose="02040502050405020303"/>
              </a:rPr>
              <a:t>source,</a:t>
            </a:r>
            <a:r>
              <a:rPr sz="2000" spc="-25" dirty="0">
                <a:latin typeface="Georgia" panose="02040502050405020303"/>
                <a:cs typeface="Georgia" panose="02040502050405020303"/>
              </a:rPr>
              <a:t> </a:t>
            </a:r>
            <a:r>
              <a:rPr sz="2000" dirty="0">
                <a:latin typeface="Georgia" panose="02040502050405020303"/>
                <a:cs typeface="Georgia" panose="02040502050405020303"/>
              </a:rPr>
              <a:t>dest,</a:t>
            </a:r>
            <a:r>
              <a:rPr sz="2000" spc="-85" dirty="0">
                <a:latin typeface="Georgia" panose="02040502050405020303"/>
                <a:cs typeface="Georgia" panose="02040502050405020303"/>
              </a:rPr>
              <a:t> </a:t>
            </a:r>
            <a:r>
              <a:rPr sz="2000" spc="-20" dirty="0">
                <a:latin typeface="Georgia" panose="02040502050405020303"/>
                <a:cs typeface="Georgia" panose="02040502050405020303"/>
              </a:rPr>
              <a:t>aux)</a:t>
            </a:r>
            <a:endParaRPr sz="2000">
              <a:latin typeface="Georgia" panose="02040502050405020303"/>
              <a:cs typeface="Georgia" panose="02040502050405020303"/>
            </a:endParaRPr>
          </a:p>
        </p:txBody>
      </p:sp>
      <p:sp>
        <p:nvSpPr>
          <p:cNvPr id="4" name="object 4"/>
          <p:cNvSpPr txBox="1"/>
          <p:nvPr/>
        </p:nvSpPr>
        <p:spPr>
          <a:xfrm>
            <a:off x="154330" y="1997710"/>
            <a:ext cx="3769995" cy="2160270"/>
          </a:xfrm>
          <a:prstGeom prst="rect">
            <a:avLst/>
          </a:prstGeom>
        </p:spPr>
        <p:txBody>
          <a:bodyPr vert="horz" wrap="square" lIns="0" tIns="13335" rIns="0" bIns="0" rtlCol="0">
            <a:spAutoFit/>
          </a:bodyPr>
          <a:lstStyle/>
          <a:p>
            <a:pPr marL="12700">
              <a:lnSpc>
                <a:spcPct val="100000"/>
              </a:lnSpc>
              <a:spcBef>
                <a:spcPts val="105"/>
              </a:spcBef>
            </a:pPr>
            <a:r>
              <a:rPr sz="2000" dirty="0">
                <a:latin typeface="Georgia" panose="02040502050405020303"/>
                <a:cs typeface="Georgia" panose="02040502050405020303"/>
              </a:rPr>
              <a:t>IF</a:t>
            </a:r>
            <a:r>
              <a:rPr sz="2000" spc="-25" dirty="0">
                <a:latin typeface="Georgia" panose="02040502050405020303"/>
                <a:cs typeface="Georgia" panose="02040502050405020303"/>
              </a:rPr>
              <a:t> </a:t>
            </a:r>
            <a:r>
              <a:rPr sz="2000" dirty="0">
                <a:latin typeface="Georgia" panose="02040502050405020303"/>
                <a:cs typeface="Georgia" panose="02040502050405020303"/>
              </a:rPr>
              <a:t>n</a:t>
            </a:r>
            <a:r>
              <a:rPr sz="2000" spc="-20" dirty="0">
                <a:latin typeface="Georgia" panose="02040502050405020303"/>
                <a:cs typeface="Georgia" panose="02040502050405020303"/>
              </a:rPr>
              <a:t> </a:t>
            </a:r>
            <a:r>
              <a:rPr sz="2000" dirty="0">
                <a:latin typeface="Georgia" panose="02040502050405020303"/>
                <a:cs typeface="Georgia" panose="02040502050405020303"/>
              </a:rPr>
              <a:t>==</a:t>
            </a:r>
            <a:r>
              <a:rPr sz="2000" spc="-15" dirty="0">
                <a:latin typeface="Georgia" panose="02040502050405020303"/>
                <a:cs typeface="Georgia" panose="02040502050405020303"/>
              </a:rPr>
              <a:t> </a:t>
            </a:r>
            <a:r>
              <a:rPr sz="2000" dirty="0">
                <a:latin typeface="Georgia" panose="02040502050405020303"/>
                <a:cs typeface="Georgia" panose="02040502050405020303"/>
              </a:rPr>
              <a:t>1,</a:t>
            </a:r>
            <a:r>
              <a:rPr sz="2000" spc="-35" dirty="0">
                <a:latin typeface="Georgia" panose="02040502050405020303"/>
                <a:cs typeface="Georgia" panose="02040502050405020303"/>
              </a:rPr>
              <a:t> </a:t>
            </a:r>
            <a:r>
              <a:rPr sz="2000" spc="-20" dirty="0">
                <a:latin typeface="Georgia" panose="02040502050405020303"/>
                <a:cs typeface="Georgia" panose="02040502050405020303"/>
              </a:rPr>
              <a:t>THEN</a:t>
            </a:r>
            <a:endParaRPr sz="2000">
              <a:latin typeface="Georgia" panose="02040502050405020303"/>
              <a:cs typeface="Georgia" panose="02040502050405020303"/>
            </a:endParaRPr>
          </a:p>
          <a:p>
            <a:pPr marL="12700" marR="30480" indent="372110">
              <a:lnSpc>
                <a:spcPct val="100000"/>
              </a:lnSpc>
            </a:pPr>
            <a:r>
              <a:rPr sz="2000" dirty="0">
                <a:latin typeface="Georgia" panose="02040502050405020303"/>
                <a:cs typeface="Georgia" panose="02040502050405020303"/>
              </a:rPr>
              <a:t>move</a:t>
            </a:r>
            <a:r>
              <a:rPr sz="2000" spc="-25" dirty="0">
                <a:latin typeface="Georgia" panose="02040502050405020303"/>
                <a:cs typeface="Georgia" panose="02040502050405020303"/>
              </a:rPr>
              <a:t> </a:t>
            </a:r>
            <a:r>
              <a:rPr sz="2000" dirty="0">
                <a:latin typeface="Georgia" panose="02040502050405020303"/>
                <a:cs typeface="Georgia" panose="02040502050405020303"/>
              </a:rPr>
              <a:t>disk</a:t>
            </a:r>
            <a:r>
              <a:rPr sz="2000" spc="-45" dirty="0">
                <a:latin typeface="Georgia" panose="02040502050405020303"/>
                <a:cs typeface="Georgia" panose="02040502050405020303"/>
              </a:rPr>
              <a:t> </a:t>
            </a:r>
            <a:r>
              <a:rPr sz="2000" dirty="0">
                <a:latin typeface="Georgia" panose="02040502050405020303"/>
                <a:cs typeface="Georgia" panose="02040502050405020303"/>
              </a:rPr>
              <a:t>from</a:t>
            </a:r>
            <a:r>
              <a:rPr sz="2000" spc="-35" dirty="0">
                <a:latin typeface="Georgia" panose="02040502050405020303"/>
                <a:cs typeface="Georgia" panose="02040502050405020303"/>
              </a:rPr>
              <a:t> </a:t>
            </a:r>
            <a:r>
              <a:rPr sz="2000" dirty="0">
                <a:latin typeface="Georgia" panose="02040502050405020303"/>
                <a:cs typeface="Georgia" panose="02040502050405020303"/>
              </a:rPr>
              <a:t>source</a:t>
            </a:r>
            <a:r>
              <a:rPr sz="2000" spc="-45" dirty="0">
                <a:latin typeface="Georgia" panose="02040502050405020303"/>
                <a:cs typeface="Georgia" panose="02040502050405020303"/>
              </a:rPr>
              <a:t> </a:t>
            </a:r>
            <a:r>
              <a:rPr sz="2000" dirty="0">
                <a:latin typeface="Georgia" panose="02040502050405020303"/>
                <a:cs typeface="Georgia" panose="02040502050405020303"/>
              </a:rPr>
              <a:t>to</a:t>
            </a:r>
            <a:r>
              <a:rPr sz="2000" spc="-20" dirty="0">
                <a:latin typeface="Georgia" panose="02040502050405020303"/>
                <a:cs typeface="Georgia" panose="02040502050405020303"/>
              </a:rPr>
              <a:t> dest ELSE</a:t>
            </a:r>
            <a:endParaRPr sz="2000">
              <a:latin typeface="Georgia" panose="02040502050405020303"/>
              <a:cs typeface="Georgia" panose="02040502050405020303"/>
            </a:endParaRPr>
          </a:p>
          <a:p>
            <a:pPr marL="384810" marR="5080" algn="just">
              <a:lnSpc>
                <a:spcPct val="100000"/>
              </a:lnSpc>
            </a:pPr>
            <a:r>
              <a:rPr sz="2000" dirty="0">
                <a:latin typeface="Georgia" panose="02040502050405020303"/>
                <a:cs typeface="Georgia" panose="02040502050405020303"/>
              </a:rPr>
              <a:t>Hanoi(n -</a:t>
            </a:r>
            <a:r>
              <a:rPr sz="2000" spc="-5" dirty="0">
                <a:latin typeface="Georgia" panose="02040502050405020303"/>
                <a:cs typeface="Georgia" panose="02040502050405020303"/>
              </a:rPr>
              <a:t> </a:t>
            </a:r>
            <a:r>
              <a:rPr sz="2000" dirty="0">
                <a:latin typeface="Georgia" panose="02040502050405020303"/>
                <a:cs typeface="Georgia" panose="02040502050405020303"/>
              </a:rPr>
              <a:t>1, source, aux, </a:t>
            </a:r>
            <a:r>
              <a:rPr sz="2000" spc="-10" dirty="0">
                <a:latin typeface="Georgia" panose="02040502050405020303"/>
                <a:cs typeface="Georgia" panose="02040502050405020303"/>
              </a:rPr>
              <a:t>dest) </a:t>
            </a:r>
            <a:r>
              <a:rPr sz="2000" dirty="0">
                <a:latin typeface="Georgia" panose="02040502050405020303"/>
                <a:cs typeface="Georgia" panose="02040502050405020303"/>
              </a:rPr>
              <a:t>move</a:t>
            </a:r>
            <a:r>
              <a:rPr sz="2000" spc="10" dirty="0">
                <a:latin typeface="Georgia" panose="02040502050405020303"/>
                <a:cs typeface="Georgia" panose="02040502050405020303"/>
              </a:rPr>
              <a:t> </a:t>
            </a:r>
            <a:r>
              <a:rPr sz="2000" dirty="0">
                <a:latin typeface="Georgia" panose="02040502050405020303"/>
                <a:cs typeface="Georgia" panose="02040502050405020303"/>
              </a:rPr>
              <a:t>disk</a:t>
            </a:r>
            <a:r>
              <a:rPr sz="2000" spc="10" dirty="0">
                <a:latin typeface="Georgia" panose="02040502050405020303"/>
                <a:cs typeface="Georgia" panose="02040502050405020303"/>
              </a:rPr>
              <a:t> </a:t>
            </a:r>
            <a:r>
              <a:rPr sz="2000" dirty="0">
                <a:latin typeface="Georgia" panose="02040502050405020303"/>
                <a:cs typeface="Georgia" panose="02040502050405020303"/>
              </a:rPr>
              <a:t>from</a:t>
            </a:r>
            <a:r>
              <a:rPr sz="2000" spc="10" dirty="0">
                <a:latin typeface="Georgia" panose="02040502050405020303"/>
                <a:cs typeface="Georgia" panose="02040502050405020303"/>
              </a:rPr>
              <a:t> </a:t>
            </a:r>
            <a:r>
              <a:rPr sz="2000" dirty="0">
                <a:latin typeface="Georgia" panose="02040502050405020303"/>
                <a:cs typeface="Georgia" panose="02040502050405020303"/>
              </a:rPr>
              <a:t>source to</a:t>
            </a:r>
            <a:r>
              <a:rPr sz="2000" spc="10" dirty="0">
                <a:latin typeface="Georgia" panose="02040502050405020303"/>
                <a:cs typeface="Georgia" panose="02040502050405020303"/>
              </a:rPr>
              <a:t> </a:t>
            </a:r>
            <a:r>
              <a:rPr sz="2000" spc="-20" dirty="0">
                <a:latin typeface="Georgia" panose="02040502050405020303"/>
                <a:cs typeface="Georgia" panose="02040502050405020303"/>
              </a:rPr>
              <a:t>dest </a:t>
            </a:r>
            <a:r>
              <a:rPr sz="2000" dirty="0">
                <a:latin typeface="Georgia" panose="02040502050405020303"/>
                <a:cs typeface="Georgia" panose="02040502050405020303"/>
              </a:rPr>
              <a:t>Hanoi(n</a:t>
            </a:r>
            <a:r>
              <a:rPr sz="2000" spc="-25" dirty="0">
                <a:latin typeface="Georgia" panose="02040502050405020303"/>
                <a:cs typeface="Georgia" panose="02040502050405020303"/>
              </a:rPr>
              <a:t> </a:t>
            </a:r>
            <a:r>
              <a:rPr sz="2000" dirty="0">
                <a:latin typeface="Georgia" panose="02040502050405020303"/>
                <a:cs typeface="Georgia" panose="02040502050405020303"/>
              </a:rPr>
              <a:t>-</a:t>
            </a:r>
            <a:r>
              <a:rPr sz="2000" spc="-20" dirty="0">
                <a:latin typeface="Georgia" panose="02040502050405020303"/>
                <a:cs typeface="Georgia" panose="02040502050405020303"/>
              </a:rPr>
              <a:t> </a:t>
            </a:r>
            <a:r>
              <a:rPr sz="2000" dirty="0">
                <a:latin typeface="Georgia" panose="02040502050405020303"/>
                <a:cs typeface="Georgia" panose="02040502050405020303"/>
              </a:rPr>
              <a:t>1,</a:t>
            </a:r>
            <a:r>
              <a:rPr sz="2000" spc="-10" dirty="0">
                <a:latin typeface="Georgia" panose="02040502050405020303"/>
                <a:cs typeface="Georgia" panose="02040502050405020303"/>
              </a:rPr>
              <a:t> </a:t>
            </a:r>
            <a:r>
              <a:rPr sz="2000" dirty="0">
                <a:latin typeface="Georgia" panose="02040502050405020303"/>
                <a:cs typeface="Georgia" panose="02040502050405020303"/>
              </a:rPr>
              <a:t>aux,</a:t>
            </a:r>
            <a:r>
              <a:rPr sz="2000" spc="-30" dirty="0">
                <a:latin typeface="Georgia" panose="02040502050405020303"/>
                <a:cs typeface="Georgia" panose="02040502050405020303"/>
              </a:rPr>
              <a:t> </a:t>
            </a:r>
            <a:r>
              <a:rPr sz="2000" dirty="0">
                <a:latin typeface="Georgia" panose="02040502050405020303"/>
                <a:cs typeface="Georgia" panose="02040502050405020303"/>
              </a:rPr>
              <a:t>dest,</a:t>
            </a:r>
            <a:r>
              <a:rPr sz="2000" spc="-80" dirty="0">
                <a:latin typeface="Georgia" panose="02040502050405020303"/>
                <a:cs typeface="Georgia" panose="02040502050405020303"/>
              </a:rPr>
              <a:t> </a:t>
            </a:r>
            <a:r>
              <a:rPr sz="2000" spc="-10" dirty="0">
                <a:latin typeface="Georgia" panose="02040502050405020303"/>
                <a:cs typeface="Georgia" panose="02040502050405020303"/>
              </a:rPr>
              <a:t>source)</a:t>
            </a:r>
            <a:endParaRPr sz="2000">
              <a:latin typeface="Georgia" panose="02040502050405020303"/>
              <a:cs typeface="Georgia" panose="02040502050405020303"/>
            </a:endParaRPr>
          </a:p>
          <a:p>
            <a:pPr marL="12700">
              <a:lnSpc>
                <a:spcPct val="100000"/>
              </a:lnSpc>
            </a:pPr>
            <a:r>
              <a:rPr sz="2000" dirty="0">
                <a:latin typeface="Georgia" panose="02040502050405020303"/>
                <a:cs typeface="Georgia" panose="02040502050405020303"/>
              </a:rPr>
              <a:t>END</a:t>
            </a:r>
            <a:r>
              <a:rPr sz="2000" spc="-95" dirty="0">
                <a:latin typeface="Georgia" panose="02040502050405020303"/>
                <a:cs typeface="Georgia" panose="02040502050405020303"/>
              </a:rPr>
              <a:t> </a:t>
            </a:r>
            <a:r>
              <a:rPr sz="2000" spc="-25" dirty="0">
                <a:latin typeface="Georgia" panose="02040502050405020303"/>
                <a:cs typeface="Georgia" panose="02040502050405020303"/>
              </a:rPr>
              <a:t>IF</a:t>
            </a:r>
            <a:endParaRPr sz="2000">
              <a:latin typeface="Georgia" panose="02040502050405020303"/>
              <a:cs typeface="Georgia" panose="02040502050405020303"/>
            </a:endParaRPr>
          </a:p>
        </p:txBody>
      </p:sp>
      <p:sp>
        <p:nvSpPr>
          <p:cNvPr id="5" name="object 5"/>
          <p:cNvSpPr txBox="1"/>
          <p:nvPr/>
        </p:nvSpPr>
        <p:spPr>
          <a:xfrm>
            <a:off x="4196334" y="2911856"/>
            <a:ext cx="1320165" cy="941069"/>
          </a:xfrm>
          <a:prstGeom prst="rect">
            <a:avLst/>
          </a:prstGeom>
        </p:spPr>
        <p:txBody>
          <a:bodyPr vert="horz" wrap="square" lIns="0" tIns="13335" rIns="0" bIns="0" rtlCol="0">
            <a:spAutoFit/>
          </a:bodyPr>
          <a:lstStyle/>
          <a:p>
            <a:pPr marL="13970">
              <a:lnSpc>
                <a:spcPct val="100000"/>
              </a:lnSpc>
              <a:spcBef>
                <a:spcPts val="105"/>
              </a:spcBef>
            </a:pPr>
            <a:r>
              <a:rPr sz="2000" dirty="0">
                <a:latin typeface="Georgia" panose="02040502050405020303"/>
                <a:cs typeface="Georgia" panose="02040502050405020303"/>
              </a:rPr>
              <a:t>//</a:t>
            </a:r>
            <a:r>
              <a:rPr sz="2000" spc="-35" dirty="0">
                <a:latin typeface="Georgia" panose="02040502050405020303"/>
                <a:cs typeface="Georgia" panose="02040502050405020303"/>
              </a:rPr>
              <a:t> </a:t>
            </a:r>
            <a:r>
              <a:rPr sz="2000" dirty="0">
                <a:latin typeface="Georgia" panose="02040502050405020303"/>
                <a:cs typeface="Georgia" panose="02040502050405020303"/>
              </a:rPr>
              <a:t>Step</a:t>
            </a:r>
            <a:r>
              <a:rPr sz="2000" spc="-70" dirty="0">
                <a:latin typeface="Georgia" panose="02040502050405020303"/>
                <a:cs typeface="Georgia" panose="02040502050405020303"/>
              </a:rPr>
              <a:t> </a:t>
            </a:r>
            <a:r>
              <a:rPr sz="2000" spc="-50" dirty="0">
                <a:latin typeface="Georgia" panose="02040502050405020303"/>
                <a:cs typeface="Georgia" panose="02040502050405020303"/>
              </a:rPr>
              <a:t>1</a:t>
            </a:r>
            <a:endParaRPr sz="2000">
              <a:latin typeface="Georgia" panose="02040502050405020303"/>
              <a:cs typeface="Georgia" panose="02040502050405020303"/>
            </a:endParaRPr>
          </a:p>
          <a:p>
            <a:pPr marL="318770">
              <a:lnSpc>
                <a:spcPct val="100000"/>
              </a:lnSpc>
            </a:pPr>
            <a:r>
              <a:rPr sz="2000" dirty="0">
                <a:latin typeface="Georgia" panose="02040502050405020303"/>
                <a:cs typeface="Georgia" panose="02040502050405020303"/>
              </a:rPr>
              <a:t>//</a:t>
            </a:r>
            <a:r>
              <a:rPr sz="2000" spc="-55" dirty="0">
                <a:latin typeface="Georgia" panose="02040502050405020303"/>
                <a:cs typeface="Georgia" panose="02040502050405020303"/>
              </a:rPr>
              <a:t> </a:t>
            </a:r>
            <a:r>
              <a:rPr sz="2000" dirty="0">
                <a:latin typeface="Georgia" panose="02040502050405020303"/>
                <a:cs typeface="Georgia" panose="02040502050405020303"/>
              </a:rPr>
              <a:t>Step</a:t>
            </a:r>
            <a:r>
              <a:rPr sz="2000" spc="-85" dirty="0">
                <a:latin typeface="Georgia" panose="02040502050405020303"/>
                <a:cs typeface="Georgia" panose="02040502050405020303"/>
              </a:rPr>
              <a:t> </a:t>
            </a:r>
            <a:r>
              <a:rPr sz="2000" spc="-50" dirty="0">
                <a:latin typeface="Georgia" panose="02040502050405020303"/>
                <a:cs typeface="Georgia" panose="02040502050405020303"/>
              </a:rPr>
              <a:t>2</a:t>
            </a:r>
            <a:endParaRPr sz="2000">
              <a:latin typeface="Georgia" panose="02040502050405020303"/>
              <a:cs typeface="Georgia" panose="02040502050405020303"/>
            </a:endParaRPr>
          </a:p>
          <a:p>
            <a:pPr marL="12700">
              <a:lnSpc>
                <a:spcPct val="100000"/>
              </a:lnSpc>
            </a:pPr>
            <a:r>
              <a:rPr sz="2000" dirty="0">
                <a:latin typeface="Georgia" panose="02040502050405020303"/>
                <a:cs typeface="Georgia" panose="02040502050405020303"/>
              </a:rPr>
              <a:t>//</a:t>
            </a:r>
            <a:r>
              <a:rPr sz="2000" spc="-35" dirty="0">
                <a:latin typeface="Georgia" panose="02040502050405020303"/>
                <a:cs typeface="Georgia" panose="02040502050405020303"/>
              </a:rPr>
              <a:t> </a:t>
            </a:r>
            <a:r>
              <a:rPr sz="2000" dirty="0">
                <a:latin typeface="Georgia" panose="02040502050405020303"/>
                <a:cs typeface="Georgia" panose="02040502050405020303"/>
              </a:rPr>
              <a:t>Step</a:t>
            </a:r>
            <a:r>
              <a:rPr sz="2000" spc="-70" dirty="0">
                <a:latin typeface="Georgia" panose="02040502050405020303"/>
                <a:cs typeface="Georgia" panose="02040502050405020303"/>
              </a:rPr>
              <a:t> </a:t>
            </a:r>
            <a:r>
              <a:rPr sz="2000" spc="-50" dirty="0">
                <a:latin typeface="Georgia" panose="02040502050405020303"/>
                <a:cs typeface="Georgia" panose="02040502050405020303"/>
              </a:rPr>
              <a:t>3</a:t>
            </a:r>
            <a:endParaRPr sz="2000">
              <a:latin typeface="Georgia" panose="02040502050405020303"/>
              <a:cs typeface="Georgia" panose="02040502050405020303"/>
            </a:endParaRPr>
          </a:p>
        </p:txBody>
      </p:sp>
      <p:pic>
        <p:nvPicPr>
          <p:cNvPr id="6" name="object 6"/>
          <p:cNvPicPr/>
          <p:nvPr/>
        </p:nvPicPr>
        <p:blipFill>
          <a:blip r:embed="rId2" cstate="print"/>
          <a:stretch>
            <a:fillRect/>
          </a:stretch>
        </p:blipFill>
        <p:spPr>
          <a:xfrm>
            <a:off x="7416800" y="951344"/>
            <a:ext cx="3734908" cy="5163129"/>
          </a:xfrm>
          <a:prstGeom prst="rect">
            <a:avLst/>
          </a:prstGeom>
        </p:spPr>
      </p:pic>
      <p:sp>
        <p:nvSpPr>
          <p:cNvPr id="7" name="Footer Placeholder 3"/>
          <p:cNvSpPr>
            <a:spLocks noGrp="1"/>
          </p:cNvSpPr>
          <p:nvPr>
            <p:ph type="ftr" sz="quarter" idx="4294967295"/>
          </p:nvPr>
        </p:nvSpPr>
        <p:spPr>
          <a:xfrm>
            <a:off x="1698171" y="6365777"/>
            <a:ext cx="8871858" cy="365125"/>
          </a:xfrm>
          <a:prstGeom prst="rect">
            <a:avLst/>
          </a:prstGeom>
        </p:spPr>
        <p:txBody>
          <a:bodyPr/>
          <a:lstStyle/>
          <a:p>
            <a:pPr algn="ctr"/>
            <a:r>
              <a:rPr lang="en-US" sz="1200" dirty="0">
                <a:solidFill>
                  <a:schemeClr val="tx1">
                    <a:tint val="75000"/>
                  </a:schemeClr>
                </a:solidFill>
              </a:rPr>
              <a:t>Slides prepared by: Prof.Nandini K, Assistant Professor, Department of CSE, </a:t>
            </a:r>
            <a:r>
              <a:rPr lang="en-US" sz="1200" dirty="0" err="1">
                <a:solidFill>
                  <a:schemeClr val="tx1">
                    <a:tint val="75000"/>
                  </a:schemeClr>
                </a:solidFill>
              </a:rPr>
              <a:t>Dayananda</a:t>
            </a:r>
            <a:r>
              <a:rPr lang="en-US" sz="1200" dirty="0">
                <a:solidFill>
                  <a:schemeClr val="tx1">
                    <a:tint val="75000"/>
                  </a:schemeClr>
                </a:solidFill>
              </a:rPr>
              <a:t> </a:t>
            </a:r>
            <a:r>
              <a:rPr lang="en-US" sz="1200" dirty="0" err="1">
                <a:solidFill>
                  <a:schemeClr val="tx1">
                    <a:tint val="75000"/>
                  </a:schemeClr>
                </a:solidFill>
              </a:rPr>
              <a:t>Sagar</a:t>
            </a:r>
            <a:r>
              <a:rPr lang="en-US" sz="1200" dirty="0">
                <a:solidFill>
                  <a:schemeClr val="tx1">
                    <a:tint val="75000"/>
                  </a:schemeClr>
                </a:solidFill>
              </a:rPr>
              <a:t> University, </a:t>
            </a:r>
            <a:r>
              <a:rPr lang="en-US" sz="1200" dirty="0" err="1">
                <a:solidFill>
                  <a:schemeClr val="tx1">
                    <a:tint val="75000"/>
                  </a:schemeClr>
                </a:solidFill>
              </a:rPr>
              <a:t>Harohalli</a:t>
            </a:r>
            <a:r>
              <a:rPr lang="en-US" sz="1200" dirty="0">
                <a:solidFill>
                  <a:schemeClr val="tx1">
                    <a:tint val="75000"/>
                  </a:schemeClr>
                </a:solidFill>
              </a:rPr>
              <a:t>, Karnataka.</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13545" y="2540432"/>
            <a:ext cx="10515600" cy="4351338"/>
          </a:xfrm>
          <a:ln>
            <a:noFill/>
          </a:ln>
          <a:effectLst>
            <a:glow rad="101600">
              <a:srgbClr val="7030A0">
                <a:alpha val="60000"/>
              </a:srgbClr>
            </a:glow>
            <a:outerShdw blurRad="44450" dist="27940" dir="5400000" algn="ctr">
              <a:srgbClr val="000000">
                <a:alpha val="32000"/>
              </a:srgbClr>
            </a:outerShdw>
            <a:reflection blurRad="6350" stA="50000" endA="300" endPos="90000" dist="50800" dir="5400000" sy="-100000" algn="bl" rotWithShape="0"/>
          </a:effectLst>
          <a:scene3d>
            <a:camera prst="perspectiveRight"/>
            <a:lightRig rig="balanced" dir="t">
              <a:rot lat="0" lon="0" rev="8700000"/>
            </a:lightRig>
          </a:scene3d>
          <a:sp3d>
            <a:bevelT w="190500" h="38100"/>
          </a:sp3d>
        </p:spPr>
        <p:txBody>
          <a:bodyPr>
            <a:normAutofit/>
          </a:bodyPr>
          <a:lstStyle/>
          <a:p>
            <a:pPr marL="0" indent="0">
              <a:buNone/>
            </a:pPr>
            <a:r>
              <a:rPr lang="en-US" sz="9600" dirty="0">
                <a:solidFill>
                  <a:srgbClr val="632997"/>
                </a:solidFill>
              </a:rPr>
              <a:t>Thank You</a:t>
            </a:r>
          </a:p>
        </p:txBody>
      </p:sp>
      <p:sp>
        <p:nvSpPr>
          <p:cNvPr id="4" name="Footer Placeholder 3"/>
          <p:cNvSpPr>
            <a:spLocks noGrp="1"/>
          </p:cNvSpPr>
          <p:nvPr>
            <p:ph type="ftr" sz="quarter" idx="11"/>
          </p:nvPr>
        </p:nvSpPr>
        <p:spPr/>
        <p:txBody>
          <a:bodyPr/>
          <a:lstStyle/>
          <a:p>
            <a:r>
              <a:rPr lang="en-US"/>
              <a:t>Slides prepared by: Prof.Nandini K, Assistant Professor, Department of CSE, Dayananda Sagar University, Harohalli, Karnataka.</a:t>
            </a:r>
            <a:endParaRPr lang="en-US" dirty="0"/>
          </a:p>
        </p:txBody>
      </p:sp>
      <p:sp>
        <p:nvSpPr>
          <p:cNvPr id="5" name="Slide Number Placeholder 4"/>
          <p:cNvSpPr>
            <a:spLocks noGrp="1"/>
          </p:cNvSpPr>
          <p:nvPr>
            <p:ph type="sldNum" sz="quarter" idx="12"/>
          </p:nvPr>
        </p:nvSpPr>
        <p:spPr/>
        <p:txBody>
          <a:bodyPr/>
          <a:lstStyle/>
          <a:p>
            <a:fld id="{5731DF9D-C219-B24D-9CD4-0503F6C036DC}" type="slidenum">
              <a:rPr lang="en-US" smtClean="0"/>
              <a:t>73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119</TotalTime>
  <Words>6184</Words>
  <Application>Microsoft Office PowerPoint</Application>
  <PresentationFormat>Widescreen</PresentationFormat>
  <Paragraphs>632</Paragraphs>
  <Slides>73</Slides>
  <Notes>28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73</vt:i4>
      </vt:variant>
    </vt:vector>
  </HeadingPairs>
  <TitlesOfParts>
    <vt:vector size="80" baseType="lpstr">
      <vt:lpstr>Arial</vt:lpstr>
      <vt:lpstr>Calibri</vt:lpstr>
      <vt:lpstr>Georgia</vt:lpstr>
      <vt:lpstr>Noto Sans Symbols</vt:lpstr>
      <vt:lpstr>Times New Roman</vt:lpstr>
      <vt:lpstr>Wingdings</vt:lpstr>
      <vt:lpstr>Office Theme</vt:lpstr>
      <vt:lpstr>Design and Analysis of Algorithms (22CS2402)</vt:lpstr>
      <vt:lpstr>MODULE 1</vt:lpstr>
      <vt:lpstr>ALGORITHM</vt:lpstr>
      <vt:lpstr>NOTATION OF THE ALGORITHM</vt:lpstr>
      <vt:lpstr>Special Features of Algorithms</vt:lpstr>
      <vt:lpstr>Find the GCD(m , n)</vt:lpstr>
      <vt:lpstr>GCD using Euclid’s Method</vt:lpstr>
      <vt:lpstr>Find the GCD(m , n)</vt:lpstr>
      <vt:lpstr>Find the GCD(m , n)</vt:lpstr>
      <vt:lpstr>Find the set of all Prime numbers</vt:lpstr>
      <vt:lpstr>Find the set of all prime numbers</vt:lpstr>
      <vt:lpstr>Fundamentals of Algorithmic Problem Solving/ Algorithm Design &amp; Analysis Process</vt:lpstr>
      <vt:lpstr>Fundamentals of Algorithmic Problem Solving/ Algorithm Design &amp; Analysis Process</vt:lpstr>
      <vt:lpstr>Fundamentals of Algorithmic Problem Solving/ Algorithm Design &amp; Analysis Process</vt:lpstr>
      <vt:lpstr>Fundamentals of Algorithmic Problem Solving/ Algorithm Design &amp; Analysis Process</vt:lpstr>
      <vt:lpstr>ALGORITHM ANALYSIS</vt:lpstr>
      <vt:lpstr>Analysis Framework</vt:lpstr>
      <vt:lpstr>NEED FOR ANALYSIS</vt:lpstr>
      <vt:lpstr>CRITERIA TO ANALYZE AN ALGORITHM</vt:lpstr>
      <vt:lpstr>TIME COMPLEXITY</vt:lpstr>
      <vt:lpstr>TIME COMPLEXITY</vt:lpstr>
      <vt:lpstr> METHODS TO COMPUTE THE STEP COUNT </vt:lpstr>
      <vt:lpstr>Problems-Time Complexity</vt:lpstr>
      <vt:lpstr> METHODS  </vt:lpstr>
      <vt:lpstr> METHOD 1: INTRODUCE VARIABLE COUNT INTO PROGRAMS </vt:lpstr>
      <vt:lpstr>PowerPoint Presentation</vt:lpstr>
      <vt:lpstr>PowerPoint Presentation</vt:lpstr>
      <vt:lpstr>Space Complexity</vt:lpstr>
      <vt:lpstr>Space Complexity S(P)=C+SP</vt:lpstr>
      <vt:lpstr>REASONS FOR STUDYING SPACE COMPLEXITY</vt:lpstr>
      <vt:lpstr>PROBLEMS ON SPACE COMPLEXITY </vt:lpstr>
      <vt:lpstr>PROBLEMS ON SPACE COMPLEXITY </vt:lpstr>
      <vt:lpstr>Order of Growth</vt:lpstr>
      <vt:lpstr>Rate of growth of function</vt:lpstr>
      <vt:lpstr>Sequential Search Algorithm</vt:lpstr>
      <vt:lpstr>LINEAR SEARCH</vt:lpstr>
      <vt:lpstr>LINEAR SEARCH</vt:lpstr>
      <vt:lpstr>LINEAR SEARCH</vt:lpstr>
      <vt:lpstr> Asymptotic Notations</vt:lpstr>
      <vt:lpstr>BIG-OH(O)</vt:lpstr>
      <vt:lpstr>EXAMPLE</vt:lpstr>
      <vt:lpstr>BIG-OMEGA(Ω)</vt:lpstr>
      <vt:lpstr>EXAMPLE</vt:lpstr>
      <vt:lpstr>BIG THETA(Θ -notation)</vt:lpstr>
      <vt:lpstr>EXAMPLE</vt:lpstr>
      <vt:lpstr>RELATIONS BETWEEN Θ, Ω, O</vt:lpstr>
      <vt:lpstr>LITTLE OH NOTATION</vt:lpstr>
      <vt:lpstr>LITTLE ω NOTATIONS</vt:lpstr>
      <vt:lpstr> USING THE ORDER TO ESTIMATE RUN - TIME</vt:lpstr>
      <vt:lpstr>PROBLEMS ON EFFICIENCY </vt:lpstr>
      <vt:lpstr>PROBLEMS ON EFFICIENCY </vt:lpstr>
      <vt:lpstr>PowerPoint Presentation</vt:lpstr>
      <vt:lpstr>PROBLEMS ON EFFICIENCY </vt:lpstr>
      <vt:lpstr>PowerPoint Presentation</vt:lpstr>
      <vt:lpstr>PROBLEMS ON EFFICIENCY </vt:lpstr>
      <vt:lpstr>PowerPoint Presentation</vt:lpstr>
      <vt:lpstr>PROBLEMS ON EFFICIENCY </vt:lpstr>
      <vt:lpstr>SUMMARY OF ASYMPTOTIC NOTATIONS </vt:lpstr>
      <vt:lpstr>PowerPoint Presentation</vt:lpstr>
      <vt:lpstr> Mathematical Analysis for Non-Recursive Algorithms</vt:lpstr>
      <vt:lpstr>Problems</vt:lpstr>
      <vt:lpstr>PowerPoint Presentation</vt:lpstr>
      <vt:lpstr>2. Element uniqueness problem</vt:lpstr>
      <vt:lpstr>PowerPoint Presentation</vt:lpstr>
      <vt:lpstr>4. Linear Search</vt:lpstr>
      <vt:lpstr>Mathematical Analysis for Recursive Algorithms</vt:lpstr>
      <vt:lpstr>Types of Recursion</vt:lpstr>
      <vt:lpstr>Basic Terms</vt:lpstr>
      <vt:lpstr>Problems</vt:lpstr>
      <vt:lpstr>1. Factorial of a Number</vt:lpstr>
      <vt:lpstr>2. Tower of Hanoi</vt:lpstr>
      <vt:lpstr>2. Tower of Hanoi</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Parallel Computing 15CS4180 – Odd Semester Session 1</dc:title>
  <dc:creator>G Arunkumar</dc:creator>
  <cp:lastModifiedBy>vegi fernando</cp:lastModifiedBy>
  <cp:revision>209</cp:revision>
  <dcterms:created xsi:type="dcterms:W3CDTF">2019-07-09T15:05:00Z</dcterms:created>
  <dcterms:modified xsi:type="dcterms:W3CDTF">2024-03-12T06:58:39Z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DDF549E307164CB5B341BC6C0BAD6EA9_12</vt:lpwstr>
  </property>
  <property fmtid="{D5CDD505-2E9C-101B-9397-08002B2CF9AE}" pid="3" name="KSOProductBuildVer">
    <vt:lpwstr>1033-12.2.0.13489</vt:lpwstr>
  </property>
</Properties>
</file>