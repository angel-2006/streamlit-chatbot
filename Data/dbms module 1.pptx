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7"/>
  </p:notesMasterIdLst>
  <p:sldIdLst>
    <p:sldId id="256" r:id="rId2"/>
    <p:sldId id="264" r:id="rId3"/>
    <p:sldId id="520" r:id="rId4"/>
    <p:sldId id="265" r:id="rId5"/>
    <p:sldId id="267" r:id="rId6"/>
    <p:sldId id="268" r:id="rId7"/>
    <p:sldId id="269" r:id="rId8"/>
    <p:sldId id="270" r:id="rId9"/>
    <p:sldId id="271" r:id="rId10"/>
    <p:sldId id="257" r:id="rId11"/>
    <p:sldId id="272" r:id="rId12"/>
    <p:sldId id="260" r:id="rId13"/>
    <p:sldId id="273" r:id="rId14"/>
    <p:sldId id="277" r:id="rId15"/>
    <p:sldId id="274" r:id="rId16"/>
    <p:sldId id="275" r:id="rId17"/>
    <p:sldId id="276" r:id="rId18"/>
    <p:sldId id="278" r:id="rId19"/>
    <p:sldId id="279" r:id="rId20"/>
    <p:sldId id="280" r:id="rId21"/>
    <p:sldId id="481" r:id="rId22"/>
    <p:sldId id="482" r:id="rId23"/>
    <p:sldId id="483" r:id="rId24"/>
    <p:sldId id="484" r:id="rId25"/>
    <p:sldId id="285" r:id="rId26"/>
    <p:sldId id="281" r:id="rId27"/>
    <p:sldId id="282" r:id="rId28"/>
    <p:sldId id="283" r:id="rId29"/>
    <p:sldId id="284" r:id="rId30"/>
    <p:sldId id="485" r:id="rId31"/>
    <p:sldId id="486" r:id="rId32"/>
    <p:sldId id="487" r:id="rId33"/>
    <p:sldId id="488" r:id="rId34"/>
    <p:sldId id="286" r:id="rId35"/>
    <p:sldId id="287" r:id="rId36"/>
    <p:sldId id="288" r:id="rId37"/>
    <p:sldId id="289" r:id="rId38"/>
    <p:sldId id="290" r:id="rId39"/>
    <p:sldId id="291" r:id="rId40"/>
    <p:sldId id="489" r:id="rId41"/>
    <p:sldId id="491" r:id="rId42"/>
    <p:sldId id="490" r:id="rId43"/>
    <p:sldId id="492" r:id="rId44"/>
    <p:sldId id="292" r:id="rId45"/>
    <p:sldId id="501" r:id="rId46"/>
    <p:sldId id="502" r:id="rId47"/>
    <p:sldId id="503" r:id="rId48"/>
    <p:sldId id="504" r:id="rId49"/>
    <p:sldId id="505" r:id="rId50"/>
    <p:sldId id="506" r:id="rId51"/>
    <p:sldId id="507" r:id="rId52"/>
    <p:sldId id="508" r:id="rId53"/>
    <p:sldId id="509" r:id="rId54"/>
    <p:sldId id="510" r:id="rId55"/>
    <p:sldId id="511" r:id="rId56"/>
    <p:sldId id="512" r:id="rId57"/>
    <p:sldId id="293" r:id="rId58"/>
    <p:sldId id="294" r:id="rId59"/>
    <p:sldId id="493" r:id="rId60"/>
    <p:sldId id="495" r:id="rId61"/>
    <p:sldId id="295" r:id="rId62"/>
    <p:sldId id="296" r:id="rId63"/>
    <p:sldId id="494" r:id="rId64"/>
    <p:sldId id="496" r:id="rId65"/>
    <p:sldId id="297" r:id="rId66"/>
    <p:sldId id="298" r:id="rId67"/>
    <p:sldId id="299" r:id="rId68"/>
    <p:sldId id="306" r:id="rId69"/>
    <p:sldId id="497" r:id="rId70"/>
    <p:sldId id="499" r:id="rId71"/>
    <p:sldId id="498" r:id="rId72"/>
    <p:sldId id="500" r:id="rId73"/>
    <p:sldId id="300" r:id="rId74"/>
    <p:sldId id="301" r:id="rId75"/>
    <p:sldId id="302" r:id="rId76"/>
    <p:sldId id="303" r:id="rId77"/>
    <p:sldId id="304" r:id="rId78"/>
    <p:sldId id="307" r:id="rId79"/>
    <p:sldId id="513" r:id="rId80"/>
    <p:sldId id="514" r:id="rId81"/>
    <p:sldId id="517" r:id="rId82"/>
    <p:sldId id="515" r:id="rId83"/>
    <p:sldId id="516" r:id="rId84"/>
    <p:sldId id="308" r:id="rId85"/>
    <p:sldId id="313" r:id="rId86"/>
    <p:sldId id="314" r:id="rId87"/>
    <p:sldId id="519" r:id="rId88"/>
    <p:sldId id="518" r:id="rId89"/>
    <p:sldId id="315" r:id="rId90"/>
    <p:sldId id="316" r:id="rId91"/>
    <p:sldId id="323" r:id="rId92"/>
    <p:sldId id="317" r:id="rId93"/>
    <p:sldId id="318" r:id="rId94"/>
    <p:sldId id="319" r:id="rId95"/>
    <p:sldId id="320" r:id="rId96"/>
    <p:sldId id="321" r:id="rId97"/>
    <p:sldId id="322" r:id="rId98"/>
    <p:sldId id="258" r:id="rId99"/>
    <p:sldId id="324" r:id="rId100"/>
    <p:sldId id="325" r:id="rId101"/>
    <p:sldId id="329" r:id="rId102"/>
    <p:sldId id="330" r:id="rId103"/>
    <p:sldId id="331" r:id="rId104"/>
    <p:sldId id="332" r:id="rId105"/>
    <p:sldId id="333" r:id="rId106"/>
    <p:sldId id="339" r:id="rId107"/>
    <p:sldId id="334" r:id="rId108"/>
    <p:sldId id="335" r:id="rId109"/>
    <p:sldId id="336" r:id="rId110"/>
    <p:sldId id="337" r:id="rId111"/>
    <p:sldId id="338" r:id="rId112"/>
    <p:sldId id="426" r:id="rId113"/>
    <p:sldId id="427" r:id="rId114"/>
    <p:sldId id="428" r:id="rId115"/>
    <p:sldId id="429" r:id="rId116"/>
    <p:sldId id="430" r:id="rId117"/>
    <p:sldId id="431" r:id="rId118"/>
    <p:sldId id="432" r:id="rId119"/>
    <p:sldId id="433" r:id="rId120"/>
    <p:sldId id="388" r:id="rId121"/>
    <p:sldId id="474" r:id="rId122"/>
    <p:sldId id="475" r:id="rId123"/>
    <p:sldId id="477" r:id="rId124"/>
    <p:sldId id="478" r:id="rId125"/>
    <p:sldId id="441" r:id="rId126"/>
    <p:sldId id="434" r:id="rId127"/>
    <p:sldId id="436" r:id="rId128"/>
    <p:sldId id="437" r:id="rId129"/>
    <p:sldId id="438" r:id="rId130"/>
    <p:sldId id="439" r:id="rId131"/>
    <p:sldId id="440" r:id="rId132"/>
    <p:sldId id="328" r:id="rId133"/>
    <p:sldId id="479" r:id="rId134"/>
    <p:sldId id="480" r:id="rId135"/>
    <p:sldId id="259" r:id="rId1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5" autoAdjust="0"/>
    <p:restoredTop sz="94660"/>
  </p:normalViewPr>
  <p:slideViewPr>
    <p:cSldViewPr snapToGrid="0">
      <p:cViewPr>
        <p:scale>
          <a:sx n="60" d="100"/>
          <a:sy n="60" d="100"/>
        </p:scale>
        <p:origin x="-1020" y="-17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A40862-6E22-4FA4-828D-C08F604D82E1}" type="datetimeFigureOut">
              <a:rPr lang="en-US" smtClean="0"/>
              <a:pPr/>
              <a:t>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82A234-376D-48C5-AFBC-03BD3AC8FD1A}" type="slidenum">
              <a:rPr lang="en-US" smtClean="0"/>
              <a:pPr/>
              <a:t>‹#›</a:t>
            </a:fld>
            <a:endParaRPr lang="en-US"/>
          </a:p>
        </p:txBody>
      </p:sp>
    </p:spTree>
    <p:extLst>
      <p:ext uri="{BB962C8B-B14F-4D97-AF65-F5344CB8AC3E}">
        <p14:creationId xmlns="" xmlns:p14="http://schemas.microsoft.com/office/powerpoint/2010/main" val="3495006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Databases and database technology have had a major impact on the growing use of computers. It is fair to say that databases play a critical role in almost all areas where computers are used, including business, electronic commerce, social media, </a:t>
            </a:r>
            <a:r>
              <a:rPr lang="en-US" dirty="0" err="1"/>
              <a:t>engineering</a:t>
            </a:r>
            <a:r>
              <a:rPr lang="en-US" dirty="0"/>
              <a:t>, medicine, genetics, law, education, and library science. The word database is so commonly used that we must begin by defining what a database is. Our initial definition is quite general.</a:t>
            </a:r>
          </a:p>
        </p:txBody>
      </p:sp>
      <p:sp>
        <p:nvSpPr>
          <p:cNvPr id="4" name="Slide Number Placeholder 3"/>
          <p:cNvSpPr>
            <a:spLocks noGrp="1"/>
          </p:cNvSpPr>
          <p:nvPr>
            <p:ph type="sldNum" sz="quarter" idx="5"/>
          </p:nvPr>
        </p:nvSpPr>
        <p:spPr/>
        <p:txBody>
          <a:bodyPr/>
          <a:lstStyle/>
          <a:p>
            <a:fld id="{3382A234-376D-48C5-AFBC-03BD3AC8FD1A}" type="slidenum">
              <a:rPr lang="en-US" smtClean="0"/>
              <a:pPr/>
              <a:t>12</a:t>
            </a:fld>
            <a:endParaRPr lang="en-US"/>
          </a:p>
        </p:txBody>
      </p:sp>
    </p:spTree>
    <p:extLst>
      <p:ext uri="{BB962C8B-B14F-4D97-AF65-F5344CB8AC3E}">
        <p14:creationId xmlns="" xmlns:p14="http://schemas.microsoft.com/office/powerpoint/2010/main" val="389080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 list of names and addresses referred to earlier may consist of only a few hundred records, each with a simple structure.. An example of a large commercial database is Amazon.com.</a:t>
            </a:r>
          </a:p>
        </p:txBody>
      </p:sp>
      <p:sp>
        <p:nvSpPr>
          <p:cNvPr id="4" name="Slide Number Placeholder 3"/>
          <p:cNvSpPr>
            <a:spLocks noGrp="1"/>
          </p:cNvSpPr>
          <p:nvPr>
            <p:ph type="sldNum" sz="quarter" idx="5"/>
          </p:nvPr>
        </p:nvSpPr>
        <p:spPr/>
        <p:txBody>
          <a:bodyPr/>
          <a:lstStyle/>
          <a:p>
            <a:fld id="{3382A234-376D-48C5-AFBC-03BD3AC8FD1A}" type="slidenum">
              <a:rPr lang="en-US" smtClean="0"/>
              <a:pPr/>
              <a:t>13</a:t>
            </a:fld>
            <a:endParaRPr lang="en-US"/>
          </a:p>
        </p:txBody>
      </p:sp>
    </p:spTree>
    <p:extLst>
      <p:ext uri="{BB962C8B-B14F-4D97-AF65-F5344CB8AC3E}">
        <p14:creationId xmlns="" xmlns:p14="http://schemas.microsoft.com/office/powerpoint/2010/main" val="3301306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82A234-376D-48C5-AFBC-03BD3AC8FD1A}" type="slidenum">
              <a:rPr lang="en-US" smtClean="0"/>
              <a:pPr/>
              <a:t>98</a:t>
            </a:fld>
            <a:endParaRPr lang="en-US"/>
          </a:p>
        </p:txBody>
      </p:sp>
    </p:spTree>
    <p:extLst>
      <p:ext uri="{BB962C8B-B14F-4D97-AF65-F5344CB8AC3E}">
        <p14:creationId xmlns="" xmlns:p14="http://schemas.microsoft.com/office/powerpoint/2010/main" val="3011377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82A234-376D-48C5-AFBC-03BD3AC8FD1A}" type="slidenum">
              <a:rPr lang="en-US" smtClean="0"/>
              <a:pPr/>
              <a:t>108</a:t>
            </a:fld>
            <a:endParaRPr lang="en-US"/>
          </a:p>
        </p:txBody>
      </p:sp>
    </p:spTree>
    <p:extLst>
      <p:ext uri="{BB962C8B-B14F-4D97-AF65-F5344CB8AC3E}">
        <p14:creationId xmlns="" xmlns:p14="http://schemas.microsoft.com/office/powerpoint/2010/main" val="6172761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2F48A9-BC75-402B-8911-172082539A55}"/>
              </a:ext>
            </a:extLst>
          </p:cNvPr>
          <p:cNvSpPr>
            <a:spLocks noGrp="1"/>
          </p:cNvSpPr>
          <p:nvPr>
            <p:ph type="ctrTitle" hasCustomPrompt="1"/>
          </p:nvPr>
        </p:nvSpPr>
        <p:spPr>
          <a:xfrm>
            <a:off x="782425" y="1122363"/>
            <a:ext cx="10444899" cy="2387600"/>
          </a:xfrm>
        </p:spPr>
        <p:txBody>
          <a:bodyPr anchor="b"/>
          <a:lstStyle>
            <a:lvl1pPr algn="ctr">
              <a:defRPr sz="6000">
                <a:solidFill>
                  <a:srgbClr val="002060"/>
                </a:solidFill>
              </a:defRPr>
            </a:lvl1pPr>
          </a:lstStyle>
          <a:p>
            <a:r>
              <a:rPr lang="en-US" dirty="0"/>
              <a:t>Corse Code </a:t>
            </a:r>
            <a:br>
              <a:rPr lang="en-US" dirty="0"/>
            </a:br>
            <a:r>
              <a:rPr lang="en-US" dirty="0"/>
              <a:t>Course Name</a:t>
            </a:r>
          </a:p>
        </p:txBody>
      </p:sp>
      <p:sp>
        <p:nvSpPr>
          <p:cNvPr id="3" name="Subtitle 2">
            <a:extLst>
              <a:ext uri="{FF2B5EF4-FFF2-40B4-BE49-F238E27FC236}">
                <a16:creationId xmlns="" xmlns:a16="http://schemas.microsoft.com/office/drawing/2014/main" id="{7668A7FB-075E-4CF0-8C9C-4A380AF77603}"/>
              </a:ext>
            </a:extLst>
          </p:cNvPr>
          <p:cNvSpPr>
            <a:spLocks noGrp="1"/>
          </p:cNvSpPr>
          <p:nvPr>
            <p:ph type="subTitle" idx="1" hasCustomPrompt="1"/>
          </p:nvPr>
        </p:nvSpPr>
        <p:spPr>
          <a:xfrm>
            <a:off x="1524000" y="3602038"/>
            <a:ext cx="9144000" cy="1655762"/>
          </a:xfrm>
        </p:spPr>
        <p:txBody>
          <a:bodyPr/>
          <a:lstStyle>
            <a:lvl1pPr marL="0" indent="0" algn="ctr">
              <a:buNone/>
              <a:defRPr sz="24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Unit Number</a:t>
            </a:r>
          </a:p>
        </p:txBody>
      </p:sp>
      <p:sp>
        <p:nvSpPr>
          <p:cNvPr id="6" name="Slide Number Placeholder 5">
            <a:extLst>
              <a:ext uri="{FF2B5EF4-FFF2-40B4-BE49-F238E27FC236}">
                <a16:creationId xmlns="" xmlns:a16="http://schemas.microsoft.com/office/drawing/2014/main" id="{717FEDAA-D0B3-4A1D-B167-000670FB50D6}"/>
              </a:ext>
            </a:extLst>
          </p:cNvPr>
          <p:cNvSpPr>
            <a:spLocks noGrp="1"/>
          </p:cNvSpPr>
          <p:nvPr>
            <p:ph type="sldNum" sz="quarter" idx="12"/>
          </p:nvPr>
        </p:nvSpPr>
        <p:spPr>
          <a:xfrm>
            <a:off x="9077227" y="6356348"/>
            <a:ext cx="2743200" cy="365125"/>
          </a:xfrm>
        </p:spPr>
        <p:txBody>
          <a:bodyPr/>
          <a:lstStyle/>
          <a:p>
            <a:fld id="{D8826417-825C-468A-93C4-33697E739185}" type="slidenum">
              <a:rPr lang="en-US" smtClean="0"/>
              <a:pPr/>
              <a:t>‹#›</a:t>
            </a:fld>
            <a:endParaRPr lang="en-US"/>
          </a:p>
        </p:txBody>
      </p:sp>
      <p:pic>
        <p:nvPicPr>
          <p:cNvPr id="8" name="Picture 7">
            <a:extLst>
              <a:ext uri="{FF2B5EF4-FFF2-40B4-BE49-F238E27FC236}">
                <a16:creationId xmlns="" xmlns:a16="http://schemas.microsoft.com/office/drawing/2014/main" id="{A4AA2BD1-BB05-46E6-ACDB-4E420DF6CF24}"/>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4755037" y="156284"/>
            <a:ext cx="2437615" cy="808017"/>
          </a:xfrm>
          <a:prstGeom prst="rect">
            <a:avLst/>
          </a:prstGeom>
        </p:spPr>
      </p:pic>
    </p:spTree>
    <p:extLst>
      <p:ext uri="{BB962C8B-B14F-4D97-AF65-F5344CB8AC3E}">
        <p14:creationId xmlns="" xmlns:p14="http://schemas.microsoft.com/office/powerpoint/2010/main" val="285560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6A0903-588A-45C2-A55F-7D5711A58245}"/>
              </a:ext>
            </a:extLst>
          </p:cNvPr>
          <p:cNvSpPr>
            <a:spLocks noGrp="1"/>
          </p:cNvSpPr>
          <p:nvPr>
            <p:ph type="title" hasCustomPrompt="1"/>
          </p:nvPr>
        </p:nvSpPr>
        <p:spPr/>
        <p:txBody>
          <a:bodyPr/>
          <a:lstStyle>
            <a:lvl1pPr>
              <a:defRPr>
                <a:solidFill>
                  <a:srgbClr val="002060"/>
                </a:solidFill>
              </a:defRPr>
            </a:lvl1pPr>
          </a:lstStyle>
          <a:p>
            <a:r>
              <a:rPr lang="en-US" dirty="0"/>
              <a:t>Topic</a:t>
            </a:r>
          </a:p>
        </p:txBody>
      </p:sp>
      <p:sp>
        <p:nvSpPr>
          <p:cNvPr id="3" name="Content Placeholder 2">
            <a:extLst>
              <a:ext uri="{FF2B5EF4-FFF2-40B4-BE49-F238E27FC236}">
                <a16:creationId xmlns="" xmlns:a16="http://schemas.microsoft.com/office/drawing/2014/main" id="{5587F367-054A-4F83-8379-A2FEC5D1B05A}"/>
              </a:ext>
            </a:extLst>
          </p:cNvPr>
          <p:cNvSpPr>
            <a:spLocks noGrp="1"/>
          </p:cNvSpPr>
          <p:nvPr>
            <p:ph idx="1"/>
          </p:nvPr>
        </p:nvSpPr>
        <p:spPr>
          <a:xfrm>
            <a:off x="838200" y="1891613"/>
            <a:ext cx="10515600" cy="4351338"/>
          </a:xfrm>
        </p:spPr>
        <p:txBody>
          <a:bodyPr/>
          <a:lstStyle>
            <a:lvl1pPr algn="just">
              <a:lnSpc>
                <a:spcPct val="150000"/>
              </a:lnSpc>
              <a:defRPr/>
            </a:lvl1pPr>
            <a:lvl2pPr algn="just">
              <a:lnSpc>
                <a:spcPct val="150000"/>
              </a:lnSpc>
              <a:defRPr/>
            </a:lvl2pPr>
            <a:lvl3pPr algn="just">
              <a:lnSpc>
                <a:spcPct val="150000"/>
              </a:lnSpc>
              <a:defRPr/>
            </a:lvl3pPr>
            <a:lvl4pPr algn="just">
              <a:lnSpc>
                <a:spcPct val="150000"/>
              </a:lnSpc>
              <a:defRPr/>
            </a:lvl4pPr>
            <a:lvl5pPr algn="just">
              <a:lnSpc>
                <a:spcPct val="150000"/>
              </a:lnSpc>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 xmlns:a16="http://schemas.microsoft.com/office/drawing/2014/main" id="{EF7DD03C-E24F-4C6D-B236-AD04619F4BD9}"/>
              </a:ext>
            </a:extLst>
          </p:cNvPr>
          <p:cNvSpPr>
            <a:spLocks noGrp="1"/>
          </p:cNvSpPr>
          <p:nvPr>
            <p:ph type="sldNum" sz="quarter" idx="12"/>
          </p:nvPr>
        </p:nvSpPr>
        <p:spPr>
          <a:xfrm>
            <a:off x="8610600" y="6356350"/>
            <a:ext cx="2743200" cy="365125"/>
          </a:xfrm>
        </p:spPr>
        <p:txBody>
          <a:bodyPr/>
          <a:lstStyle/>
          <a:p>
            <a:fld id="{D8826417-825C-468A-93C4-33697E739185}" type="slidenum">
              <a:rPr lang="en-US" smtClean="0"/>
              <a:pPr/>
              <a:t>‹#›</a:t>
            </a:fld>
            <a:endParaRPr lang="en-US"/>
          </a:p>
        </p:txBody>
      </p:sp>
      <p:pic>
        <p:nvPicPr>
          <p:cNvPr id="8" name="Picture 7">
            <a:extLst>
              <a:ext uri="{FF2B5EF4-FFF2-40B4-BE49-F238E27FC236}">
                <a16:creationId xmlns="" xmlns:a16="http://schemas.microsoft.com/office/drawing/2014/main" id="{31C08C84-30ED-4B56-B5DC-56BB35476B48}"/>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9941351" y="136525"/>
            <a:ext cx="1956848" cy="648653"/>
          </a:xfrm>
          <a:prstGeom prst="rect">
            <a:avLst/>
          </a:prstGeom>
        </p:spPr>
      </p:pic>
    </p:spTree>
    <p:extLst>
      <p:ext uri="{BB962C8B-B14F-4D97-AF65-F5344CB8AC3E}">
        <p14:creationId xmlns="" xmlns:p14="http://schemas.microsoft.com/office/powerpoint/2010/main" val="754530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6A0903-588A-45C2-A55F-7D5711A58245}"/>
              </a:ext>
            </a:extLst>
          </p:cNvPr>
          <p:cNvSpPr>
            <a:spLocks noGrp="1"/>
          </p:cNvSpPr>
          <p:nvPr>
            <p:ph type="title" hasCustomPrompt="1"/>
          </p:nvPr>
        </p:nvSpPr>
        <p:spPr/>
        <p:txBody>
          <a:bodyPr/>
          <a:lstStyle>
            <a:lvl1pPr>
              <a:defRPr>
                <a:solidFill>
                  <a:srgbClr val="002060"/>
                </a:solidFill>
              </a:defRPr>
            </a:lvl1pPr>
          </a:lstStyle>
          <a:p>
            <a:r>
              <a:rPr lang="en-US" dirty="0"/>
              <a:t>Practice</a:t>
            </a:r>
          </a:p>
        </p:txBody>
      </p:sp>
      <p:sp>
        <p:nvSpPr>
          <p:cNvPr id="3" name="Content Placeholder 2">
            <a:extLst>
              <a:ext uri="{FF2B5EF4-FFF2-40B4-BE49-F238E27FC236}">
                <a16:creationId xmlns="" xmlns:a16="http://schemas.microsoft.com/office/drawing/2014/main" id="{5587F367-054A-4F83-8379-A2FEC5D1B05A}"/>
              </a:ext>
            </a:extLst>
          </p:cNvPr>
          <p:cNvSpPr>
            <a:spLocks noGrp="1"/>
          </p:cNvSpPr>
          <p:nvPr>
            <p:ph idx="1"/>
          </p:nvPr>
        </p:nvSpPr>
        <p:spPr>
          <a:xfrm>
            <a:off x="838200" y="1891613"/>
            <a:ext cx="10515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 xmlns:a16="http://schemas.microsoft.com/office/drawing/2014/main" id="{EF7DD03C-E24F-4C6D-B236-AD04619F4BD9}"/>
              </a:ext>
            </a:extLst>
          </p:cNvPr>
          <p:cNvSpPr>
            <a:spLocks noGrp="1"/>
          </p:cNvSpPr>
          <p:nvPr>
            <p:ph type="sldNum" sz="quarter" idx="12"/>
          </p:nvPr>
        </p:nvSpPr>
        <p:spPr>
          <a:xfrm>
            <a:off x="8610600" y="6356350"/>
            <a:ext cx="2743200" cy="365125"/>
          </a:xfrm>
        </p:spPr>
        <p:txBody>
          <a:bodyPr/>
          <a:lstStyle/>
          <a:p>
            <a:fld id="{D8826417-825C-468A-93C4-33697E739185}" type="slidenum">
              <a:rPr lang="en-US" smtClean="0"/>
              <a:pPr/>
              <a:t>‹#›</a:t>
            </a:fld>
            <a:endParaRPr lang="en-US"/>
          </a:p>
        </p:txBody>
      </p:sp>
      <p:pic>
        <p:nvPicPr>
          <p:cNvPr id="8" name="Picture 7">
            <a:extLst>
              <a:ext uri="{FF2B5EF4-FFF2-40B4-BE49-F238E27FC236}">
                <a16:creationId xmlns="" xmlns:a16="http://schemas.microsoft.com/office/drawing/2014/main" id="{31C08C84-30ED-4B56-B5DC-56BB35476B48}"/>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9941351" y="136525"/>
            <a:ext cx="1956848" cy="648653"/>
          </a:xfrm>
          <a:prstGeom prst="rect">
            <a:avLst/>
          </a:prstGeom>
        </p:spPr>
      </p:pic>
    </p:spTree>
    <p:extLst>
      <p:ext uri="{BB962C8B-B14F-4D97-AF65-F5344CB8AC3E}">
        <p14:creationId xmlns="" xmlns:p14="http://schemas.microsoft.com/office/powerpoint/2010/main" val="1714699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 xmlns:a16="http://schemas.microsoft.com/office/drawing/2014/main" id="{EF7DD03C-E24F-4C6D-B236-AD04619F4BD9}"/>
              </a:ext>
            </a:extLst>
          </p:cNvPr>
          <p:cNvSpPr>
            <a:spLocks noGrp="1"/>
          </p:cNvSpPr>
          <p:nvPr>
            <p:ph type="sldNum" sz="quarter" idx="12"/>
          </p:nvPr>
        </p:nvSpPr>
        <p:spPr>
          <a:xfrm>
            <a:off x="8610600" y="6356350"/>
            <a:ext cx="2743200" cy="365125"/>
          </a:xfrm>
        </p:spPr>
        <p:txBody>
          <a:bodyPr/>
          <a:lstStyle/>
          <a:p>
            <a:fld id="{D8826417-825C-468A-93C4-33697E739185}" type="slidenum">
              <a:rPr lang="en-US" smtClean="0"/>
              <a:pPr/>
              <a:t>‹#›</a:t>
            </a:fld>
            <a:endParaRPr lang="en-US"/>
          </a:p>
        </p:txBody>
      </p:sp>
      <p:pic>
        <p:nvPicPr>
          <p:cNvPr id="8" name="Picture 7">
            <a:extLst>
              <a:ext uri="{FF2B5EF4-FFF2-40B4-BE49-F238E27FC236}">
                <a16:creationId xmlns="" xmlns:a16="http://schemas.microsoft.com/office/drawing/2014/main" id="{31C08C84-30ED-4B56-B5DC-56BB35476B48}"/>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9941351" y="136525"/>
            <a:ext cx="1956848" cy="648653"/>
          </a:xfrm>
          <a:prstGeom prst="rect">
            <a:avLst/>
          </a:prstGeom>
        </p:spPr>
      </p:pic>
      <p:pic>
        <p:nvPicPr>
          <p:cNvPr id="1026" name="Picture 2" descr="Any Questions Vector Art, Icons, and Graphics for Free Download">
            <a:extLst>
              <a:ext uri="{FF2B5EF4-FFF2-40B4-BE49-F238E27FC236}">
                <a16:creationId xmlns="" xmlns:a16="http://schemas.microsoft.com/office/drawing/2014/main" id="{D307FF50-E5BA-493B-90D5-B77E30E5B53E}"/>
              </a:ext>
            </a:extLst>
          </p:cNvPr>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3555929" y="1718477"/>
            <a:ext cx="5378861" cy="357938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138416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6BDC76-3473-471F-B664-31AD3E264F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5B0FB0E3-1902-43F4-BCB6-7BC19F8DC3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D7A02399-D265-4E30-9DF8-FE94B5763EDC}"/>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5" name="Footer Placeholder 4">
            <a:extLst>
              <a:ext uri="{FF2B5EF4-FFF2-40B4-BE49-F238E27FC236}">
                <a16:creationId xmlns="" xmlns:a16="http://schemas.microsoft.com/office/drawing/2014/main" id="{88C9832E-1AB2-48E2-BD3C-6FE86FD6C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962C975-D542-421E-8593-56D892066ED6}"/>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13051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A62C3C-121B-46F6-97EA-E551B6D8C9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453F11E8-77CC-4958-A785-C44539ABFB5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8E0897B6-1812-4F01-BD3E-A81B743F6D2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2E5F0CEA-EA52-45B7-AF44-FAC5CBD5272F}"/>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6" name="Footer Placeholder 5">
            <a:extLst>
              <a:ext uri="{FF2B5EF4-FFF2-40B4-BE49-F238E27FC236}">
                <a16:creationId xmlns="" xmlns:a16="http://schemas.microsoft.com/office/drawing/2014/main" id="{8902CD11-D7E9-4885-84DA-EDD4790E12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3A00B2FA-409F-40B7-B682-6CDEF447F5BD}"/>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2109183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DBC10B-0705-46E7-920F-1A7AE54688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79EEDEC7-BA26-4FB9-9F4F-D611F5F32D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 xmlns:a16="http://schemas.microsoft.com/office/drawing/2014/main" id="{DFB94C65-E27F-4C04-92B0-051D15FFEE2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DB3816E0-2FBC-4076-9A9B-32671BB39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 xmlns:a16="http://schemas.microsoft.com/office/drawing/2014/main" id="{E2209886-A59C-4F6B-A370-7738E787502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6B7F5408-94CC-457C-A31A-B01E1B533998}"/>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8" name="Footer Placeholder 7">
            <a:extLst>
              <a:ext uri="{FF2B5EF4-FFF2-40B4-BE49-F238E27FC236}">
                <a16:creationId xmlns="" xmlns:a16="http://schemas.microsoft.com/office/drawing/2014/main" id="{6390ADA4-2F6E-4037-9A2D-B97CCC3484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58DCE14C-0F9D-40D3-912D-5B7BCC10782E}"/>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2141244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54DF6A-2622-4DC0-A13B-96C1715185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05FDF894-AE2D-4EEE-B97E-C989D0C90CAF}"/>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4" name="Footer Placeholder 3">
            <a:extLst>
              <a:ext uri="{FF2B5EF4-FFF2-40B4-BE49-F238E27FC236}">
                <a16:creationId xmlns="" xmlns:a16="http://schemas.microsoft.com/office/drawing/2014/main" id="{2056CEF9-9CE9-41D0-803B-7FD2F6BADD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6DE5C624-6A95-43D9-A97A-4CB69190219A}"/>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2109918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8A9E357-1139-42DC-BBA1-642D3B9F4D19}"/>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3" name="Footer Placeholder 2">
            <a:extLst>
              <a:ext uri="{FF2B5EF4-FFF2-40B4-BE49-F238E27FC236}">
                <a16:creationId xmlns="" xmlns:a16="http://schemas.microsoft.com/office/drawing/2014/main" id="{C0C5BEFE-42DE-4B23-BB66-18FD2BE433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82D2D30E-FC3F-4145-922F-6602AC47DAF2}"/>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2506603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35511-607A-49F6-ABF5-5D1CA8BF75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4CE3067A-379E-443A-93D5-B2A751DF44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29375E88-EA07-4B40-984D-E26859B7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49CAA178-D531-4787-BF4C-DAEE6A3E85B4}"/>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6" name="Footer Placeholder 5">
            <a:extLst>
              <a:ext uri="{FF2B5EF4-FFF2-40B4-BE49-F238E27FC236}">
                <a16:creationId xmlns="" xmlns:a16="http://schemas.microsoft.com/office/drawing/2014/main" id="{1B954B88-1995-45B6-B926-809B0A67EE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B0793468-BE17-4CCC-BBB8-851B8FE0DC5C}"/>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3082086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F97B38-518C-4BF5-816C-DF46423C33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9E2B9348-BC35-4BEB-A4BF-E87CA99BF8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EC88F486-7768-41AE-AF6E-7A33784601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3C8A1957-BF87-4945-B039-4091D3571BBD}"/>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6" name="Footer Placeholder 5">
            <a:extLst>
              <a:ext uri="{FF2B5EF4-FFF2-40B4-BE49-F238E27FC236}">
                <a16:creationId xmlns="" xmlns:a16="http://schemas.microsoft.com/office/drawing/2014/main" id="{90D9E3A8-6B5A-45A7-8952-09A76FAFD1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84A1B247-3E43-4E0B-932B-922933A57DF7}"/>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12331229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9096BF-27F0-4E5A-997D-7F6DA1A39F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C98C47E6-ED14-4DF0-93DB-4B9E61BF232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F3EAB9D-A11D-4883-906D-15CEB3F877F8}"/>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5" name="Footer Placeholder 4">
            <a:extLst>
              <a:ext uri="{FF2B5EF4-FFF2-40B4-BE49-F238E27FC236}">
                <a16:creationId xmlns="" xmlns:a16="http://schemas.microsoft.com/office/drawing/2014/main" id="{6B80385A-BE30-43D8-B7A0-C02C4213B2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CF089F1-97C4-4C54-A429-CAD9B0E234C8}"/>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69274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46FC14D-C22D-4D61-894A-3AF71D49FA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0A1CB43E-F8B9-4B72-A827-90C40E4ED4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72FE08BF-7CC5-4936-8C9E-F92975F8A810}"/>
              </a:ext>
            </a:extLst>
          </p:cNvPr>
          <p:cNvSpPr>
            <a:spLocks noGrp="1"/>
          </p:cNvSpPr>
          <p:nvPr>
            <p:ph type="dt" sz="half" idx="10"/>
          </p:nvPr>
        </p:nvSpPr>
        <p:spPr/>
        <p:txBody>
          <a:bodyPr/>
          <a:lstStyle/>
          <a:p>
            <a:fld id="{512BF18E-A961-41B8-A198-9D894E3AF092}" type="datetimeFigureOut">
              <a:rPr lang="en-US" smtClean="0"/>
              <a:pPr/>
              <a:t>2/21/2025</a:t>
            </a:fld>
            <a:endParaRPr lang="en-US"/>
          </a:p>
        </p:txBody>
      </p:sp>
      <p:sp>
        <p:nvSpPr>
          <p:cNvPr id="5" name="Footer Placeholder 4">
            <a:extLst>
              <a:ext uri="{FF2B5EF4-FFF2-40B4-BE49-F238E27FC236}">
                <a16:creationId xmlns="" xmlns:a16="http://schemas.microsoft.com/office/drawing/2014/main" id="{65B3796C-F32B-4F7D-BBF2-257082910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D030EE0-3C17-4813-9806-583F0F1749E2}"/>
              </a:ext>
            </a:extLst>
          </p:cNvPr>
          <p:cNvSpPr>
            <a:spLocks noGrp="1"/>
          </p:cNvSpPr>
          <p:nvPr>
            <p:ph type="sldNum" sz="quarter" idx="12"/>
          </p:nvPr>
        </p:nvSpPr>
        <p:spPr/>
        <p:txBody>
          <a:body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210286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BE40025-F5DD-4F85-82E0-2D1CDAA5E6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3F3C2DB2-5F94-48A1-B74B-91CDA89C0D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750AF29D-D930-4CE7-B93C-3803052059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2BF18E-A961-41B8-A198-9D894E3AF092}" type="datetimeFigureOut">
              <a:rPr lang="en-US" smtClean="0"/>
              <a:pPr/>
              <a:t>2/21/2025</a:t>
            </a:fld>
            <a:endParaRPr lang="en-US"/>
          </a:p>
        </p:txBody>
      </p:sp>
      <p:sp>
        <p:nvSpPr>
          <p:cNvPr id="5" name="Footer Placeholder 4">
            <a:extLst>
              <a:ext uri="{FF2B5EF4-FFF2-40B4-BE49-F238E27FC236}">
                <a16:creationId xmlns="" xmlns:a16="http://schemas.microsoft.com/office/drawing/2014/main" id="{9EC67C94-34BB-4958-9C98-E450A46B09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3B1A1CD8-07D9-4541-AA08-7861494797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826417-825C-468A-93C4-33697E739185}" type="slidenum">
              <a:rPr lang="en-US" smtClean="0"/>
              <a:pPr/>
              <a:t>‹#›</a:t>
            </a:fld>
            <a:endParaRPr lang="en-US"/>
          </a:p>
        </p:txBody>
      </p:sp>
    </p:spTree>
    <p:extLst>
      <p:ext uri="{BB962C8B-B14F-4D97-AF65-F5344CB8AC3E}">
        <p14:creationId xmlns="" xmlns:p14="http://schemas.microsoft.com/office/powerpoint/2010/main" val="309335510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jpe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9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0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2206C4-A726-46D2-8AAD-610C44592886}"/>
              </a:ext>
            </a:extLst>
          </p:cNvPr>
          <p:cNvSpPr>
            <a:spLocks noGrp="1"/>
          </p:cNvSpPr>
          <p:nvPr>
            <p:ph type="ctrTitle"/>
          </p:nvPr>
        </p:nvSpPr>
        <p:spPr/>
        <p:txBody>
          <a:bodyPr/>
          <a:lstStyle/>
          <a:p>
            <a:r>
              <a:rPr lang="en-US" dirty="0" smtClean="0"/>
              <a:t>23AM2403</a:t>
            </a:r>
            <a:r>
              <a:rPr lang="en-US" dirty="0"/>
              <a:t/>
            </a:r>
            <a:br>
              <a:rPr lang="en-US" dirty="0"/>
            </a:br>
            <a:r>
              <a:rPr lang="en-US" dirty="0"/>
              <a:t>Database Management System</a:t>
            </a:r>
          </a:p>
        </p:txBody>
      </p:sp>
    </p:spTree>
    <p:extLst>
      <p:ext uri="{BB962C8B-B14F-4D97-AF65-F5344CB8AC3E}">
        <p14:creationId xmlns="" xmlns:p14="http://schemas.microsoft.com/office/powerpoint/2010/main" val="41459109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850AB3-11CB-4922-95FB-E69324A8D8BC}"/>
              </a:ext>
            </a:extLst>
          </p:cNvPr>
          <p:cNvSpPr>
            <a:spLocks noGrp="1"/>
          </p:cNvSpPr>
          <p:nvPr>
            <p:ph type="title"/>
          </p:nvPr>
        </p:nvSpPr>
        <p:spPr/>
        <p:txBody>
          <a:bodyPr/>
          <a:lstStyle/>
          <a:p>
            <a:r>
              <a:rPr lang="en-US" dirty="0"/>
              <a:t>Syllabus</a:t>
            </a:r>
          </a:p>
        </p:txBody>
      </p:sp>
      <p:pic>
        <p:nvPicPr>
          <p:cNvPr id="141313" name="Picture 1"/>
          <p:cNvPicPr>
            <a:picLocks noChangeAspect="1" noChangeArrowheads="1"/>
          </p:cNvPicPr>
          <p:nvPr/>
        </p:nvPicPr>
        <p:blipFill>
          <a:blip r:embed="rId2"/>
          <a:srcRect/>
          <a:stretch>
            <a:fillRect/>
          </a:stretch>
        </p:blipFill>
        <p:spPr bwMode="auto">
          <a:xfrm>
            <a:off x="379969" y="1792819"/>
            <a:ext cx="11600671" cy="3252130"/>
          </a:xfrm>
          <a:prstGeom prst="rect">
            <a:avLst/>
          </a:prstGeom>
          <a:noFill/>
          <a:ln w="9525">
            <a:noFill/>
            <a:miter lim="800000"/>
            <a:headEnd/>
            <a:tailEnd/>
          </a:ln>
          <a:effectLst/>
        </p:spPr>
      </p:pic>
    </p:spTree>
    <p:extLst>
      <p:ext uri="{BB962C8B-B14F-4D97-AF65-F5344CB8AC3E}">
        <p14:creationId xmlns="" xmlns:p14="http://schemas.microsoft.com/office/powerpoint/2010/main" val="5026187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850AB3-11CB-4922-95FB-E69324A8D8BC}"/>
              </a:ext>
            </a:extLst>
          </p:cNvPr>
          <p:cNvSpPr>
            <a:spLocks noGrp="1"/>
          </p:cNvSpPr>
          <p:nvPr>
            <p:ph type="title"/>
          </p:nvPr>
        </p:nvSpPr>
        <p:spPr/>
        <p:txBody>
          <a:bodyPr/>
          <a:lstStyle/>
          <a:p>
            <a:r>
              <a:rPr lang="en-US" dirty="0"/>
              <a:t>Syllabus</a:t>
            </a:r>
          </a:p>
        </p:txBody>
      </p:sp>
      <p:pic>
        <p:nvPicPr>
          <p:cNvPr id="4" name="Content Placeholder 3">
            <a:extLst>
              <a:ext uri="{FF2B5EF4-FFF2-40B4-BE49-F238E27FC236}">
                <a16:creationId xmlns="" xmlns:a16="http://schemas.microsoft.com/office/drawing/2014/main" id="{0E4F20FB-8061-4717-BEB9-9A064DEFCADE}"/>
              </a:ext>
            </a:extLst>
          </p:cNvPr>
          <p:cNvPicPr>
            <a:picLocks noGrp="1" noChangeAspect="1"/>
          </p:cNvPicPr>
          <p:nvPr>
            <p:ph idx="1"/>
          </p:nvPr>
        </p:nvPicPr>
        <p:blipFill>
          <a:blip r:embed="rId2"/>
          <a:stretch>
            <a:fillRect/>
          </a:stretch>
        </p:blipFill>
        <p:spPr>
          <a:xfrm>
            <a:off x="976312" y="2196306"/>
            <a:ext cx="10239375" cy="3743325"/>
          </a:xfrm>
          <a:prstGeom prst="rect">
            <a:avLst/>
          </a:prstGeom>
        </p:spPr>
      </p:pic>
    </p:spTree>
    <p:extLst>
      <p:ext uri="{BB962C8B-B14F-4D97-AF65-F5344CB8AC3E}">
        <p14:creationId xmlns="" xmlns:p14="http://schemas.microsoft.com/office/powerpoint/2010/main" val="5026187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483001-8858-42D5-A3AE-ECA1B71EE90F}"/>
              </a:ext>
            </a:extLst>
          </p:cNvPr>
          <p:cNvSpPr>
            <a:spLocks noGrp="1"/>
          </p:cNvSpPr>
          <p:nvPr>
            <p:ph type="title"/>
          </p:nvPr>
        </p:nvSpPr>
        <p:spPr/>
        <p:txBody>
          <a:bodyPr/>
          <a:lstStyle/>
          <a:p>
            <a:r>
              <a:rPr lang="en-US" dirty="0"/>
              <a:t>CIE Mark Distribution</a:t>
            </a:r>
          </a:p>
        </p:txBody>
      </p:sp>
      <p:graphicFrame>
        <p:nvGraphicFramePr>
          <p:cNvPr id="4" name="Table 3">
            <a:extLst>
              <a:ext uri="{FF2B5EF4-FFF2-40B4-BE49-F238E27FC236}">
                <a16:creationId xmlns="" xmlns:a16="http://schemas.microsoft.com/office/drawing/2014/main" id="{CBD025D8-2F25-4D6A-9542-C1588CB2E5CF}"/>
              </a:ext>
            </a:extLst>
          </p:cNvPr>
          <p:cNvGraphicFramePr>
            <a:graphicFrameLocks noGrp="1"/>
          </p:cNvGraphicFramePr>
          <p:nvPr>
            <p:extLst>
              <p:ext uri="{D42A27DB-BD31-4B8C-83A1-F6EECF244321}">
                <p14:modId xmlns="" xmlns:p14="http://schemas.microsoft.com/office/powerpoint/2010/main" val="1448281208"/>
              </p:ext>
            </p:extLst>
          </p:nvPr>
        </p:nvGraphicFramePr>
        <p:xfrm>
          <a:off x="2295427" y="2080508"/>
          <a:ext cx="7786540" cy="3688080"/>
        </p:xfrm>
        <a:graphic>
          <a:graphicData uri="http://schemas.openxmlformats.org/drawingml/2006/table">
            <a:tbl>
              <a:tblPr/>
              <a:tblGrid>
                <a:gridCol w="2647424">
                  <a:extLst>
                    <a:ext uri="{9D8B030D-6E8A-4147-A177-3AD203B41FA5}">
                      <a16:colId xmlns="" xmlns:a16="http://schemas.microsoft.com/office/drawing/2014/main" val="3161227943"/>
                    </a:ext>
                  </a:extLst>
                </a:gridCol>
                <a:gridCol w="2958885">
                  <a:extLst>
                    <a:ext uri="{9D8B030D-6E8A-4147-A177-3AD203B41FA5}">
                      <a16:colId xmlns="" xmlns:a16="http://schemas.microsoft.com/office/drawing/2014/main" val="2268208259"/>
                    </a:ext>
                  </a:extLst>
                </a:gridCol>
                <a:gridCol w="2180231">
                  <a:extLst>
                    <a:ext uri="{9D8B030D-6E8A-4147-A177-3AD203B41FA5}">
                      <a16:colId xmlns="" xmlns:a16="http://schemas.microsoft.com/office/drawing/2014/main" val="1727653022"/>
                    </a:ext>
                  </a:extLst>
                </a:gridCol>
              </a:tblGrid>
              <a:tr h="327648">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Components</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Maximum Marks</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Reduced To</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07709270"/>
                  </a:ext>
                </a:extLst>
              </a:tr>
              <a:tr h="327648">
                <a:tc>
                  <a:txBody>
                    <a:bodyPr/>
                    <a:lstStyle/>
                    <a:p>
                      <a:pPr rtl="0" fontAlgn="t">
                        <a:spcBef>
                          <a:spcPts val="0"/>
                        </a:spcBef>
                        <a:spcAft>
                          <a:spcPts val="0"/>
                        </a:spcAft>
                      </a:pPr>
                      <a:r>
                        <a:rPr lang="en-US" sz="2000" b="0" i="0" u="none" strike="noStrike" dirty="0">
                          <a:solidFill>
                            <a:srgbClr val="000000"/>
                          </a:solidFill>
                          <a:effectLst/>
                          <a:latin typeface="Calibri" panose="020F0502020204030204" pitchFamily="34" charset="0"/>
                        </a:rPr>
                        <a:t>MSE 1</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40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15</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351821635"/>
                  </a:ext>
                </a:extLst>
              </a:tr>
              <a:tr h="327648">
                <a:tc>
                  <a:txBody>
                    <a:bodyPr/>
                    <a:lstStyle/>
                    <a:p>
                      <a:pPr rtl="0" fontAlgn="t">
                        <a:spcBef>
                          <a:spcPts val="0"/>
                        </a:spcBef>
                        <a:spcAft>
                          <a:spcPts val="0"/>
                        </a:spcAft>
                      </a:pPr>
                      <a:r>
                        <a:rPr lang="en-US" sz="2000" b="0" i="0" u="none" strike="noStrike">
                          <a:solidFill>
                            <a:srgbClr val="000000"/>
                          </a:solidFill>
                          <a:effectLst/>
                          <a:latin typeface="Calibri" panose="020F0502020204030204" pitchFamily="34" charset="0"/>
                        </a:rPr>
                        <a:t>MSE 2</a:t>
                      </a:r>
                      <a:endParaRPr lang="en-US" sz="200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40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15</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808797718"/>
                  </a:ext>
                </a:extLst>
              </a:tr>
              <a:tr h="327648">
                <a:tc>
                  <a:txBody>
                    <a:bodyPr/>
                    <a:lstStyle/>
                    <a:p>
                      <a:pPr rtl="0" fontAlgn="t">
                        <a:spcBef>
                          <a:spcPts val="0"/>
                        </a:spcBef>
                        <a:spcAft>
                          <a:spcPts val="0"/>
                        </a:spcAft>
                      </a:pPr>
                      <a:r>
                        <a:rPr lang="en-US" sz="2000" b="0" i="0" u="none" strike="noStrike" dirty="0">
                          <a:solidFill>
                            <a:srgbClr val="000000"/>
                          </a:solidFill>
                          <a:effectLst/>
                          <a:latin typeface="Calibri" panose="020F0502020204030204" pitchFamily="34" charset="0"/>
                        </a:rPr>
                        <a:t>AAT</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10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10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21319901"/>
                  </a:ext>
                </a:extLst>
              </a:tr>
              <a:tr h="327648">
                <a:tc>
                  <a:txBody>
                    <a:bodyPr/>
                    <a:lstStyle/>
                    <a:p>
                      <a:pPr rtl="0" fontAlgn="t">
                        <a:spcBef>
                          <a:spcPts val="0"/>
                        </a:spcBef>
                        <a:spcAft>
                          <a:spcPts val="0"/>
                        </a:spcAft>
                      </a:pPr>
                      <a:r>
                        <a:rPr lang="en-US" sz="2000" b="0" i="0" u="none" strike="noStrike" dirty="0">
                          <a:solidFill>
                            <a:srgbClr val="000000"/>
                          </a:solidFill>
                          <a:effectLst/>
                          <a:latin typeface="Calibri" panose="020F0502020204030204" pitchFamily="34" charset="0"/>
                        </a:rPr>
                        <a:t>Lab Exam</a:t>
                      </a:r>
                    </a:p>
                    <a:p>
                      <a:pPr algn="l" rtl="0" fontAlgn="t">
                        <a:spcBef>
                          <a:spcPts val="0"/>
                        </a:spcBef>
                        <a:spcAft>
                          <a:spcPts val="0"/>
                        </a:spcAft>
                      </a:pPr>
                      <a:r>
                        <a:rPr lang="en-US" sz="2000" b="0" i="0" u="none" strike="noStrike" dirty="0">
                          <a:solidFill>
                            <a:srgbClr val="000000"/>
                          </a:solidFill>
                          <a:effectLst/>
                          <a:latin typeface="Calibri" panose="020F0502020204030204" pitchFamily="34" charset="0"/>
                        </a:rPr>
                        <a:t>Writeup – 10</a:t>
                      </a:r>
                    </a:p>
                    <a:p>
                      <a:pPr algn="l" rtl="0" fontAlgn="t">
                        <a:spcBef>
                          <a:spcPts val="0"/>
                        </a:spcBef>
                        <a:spcAft>
                          <a:spcPts val="0"/>
                        </a:spcAft>
                      </a:pPr>
                      <a:r>
                        <a:rPr lang="en-US" sz="2000" b="0" i="0" u="none" strike="noStrike" dirty="0">
                          <a:solidFill>
                            <a:srgbClr val="000000"/>
                          </a:solidFill>
                          <a:effectLst/>
                          <a:latin typeface="Calibri" panose="020F0502020204030204" pitchFamily="34" charset="0"/>
                        </a:rPr>
                        <a:t>Output – 5</a:t>
                      </a:r>
                    </a:p>
                    <a:p>
                      <a:pPr algn="l" rtl="0" fontAlgn="t">
                        <a:spcBef>
                          <a:spcPts val="0"/>
                        </a:spcBef>
                        <a:spcAft>
                          <a:spcPts val="0"/>
                        </a:spcAft>
                      </a:pPr>
                      <a:r>
                        <a:rPr lang="en-US" sz="2000" b="0" i="0" u="none" strike="noStrike" dirty="0">
                          <a:solidFill>
                            <a:srgbClr val="000000"/>
                          </a:solidFill>
                          <a:effectLst/>
                          <a:latin typeface="Calibri" panose="020F0502020204030204" pitchFamily="34" charset="0"/>
                        </a:rPr>
                        <a:t>Viva - 5</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20</a:t>
                      </a: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10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607263706"/>
                  </a:ext>
                </a:extLst>
              </a:tr>
              <a:tr h="327648">
                <a:tc>
                  <a:txBody>
                    <a:bodyPr/>
                    <a:lstStyle/>
                    <a:p>
                      <a:pPr rtl="0" fontAlgn="t">
                        <a:spcBef>
                          <a:spcPts val="0"/>
                        </a:spcBef>
                        <a:spcAft>
                          <a:spcPts val="0"/>
                        </a:spcAft>
                      </a:pPr>
                      <a:r>
                        <a:rPr lang="en-US" sz="2000" b="0" i="0" u="none" strike="noStrike" dirty="0">
                          <a:solidFill>
                            <a:srgbClr val="000000"/>
                          </a:solidFill>
                          <a:effectLst/>
                          <a:latin typeface="Calibri" panose="020F0502020204030204" pitchFamily="34" charset="0"/>
                        </a:rPr>
                        <a:t>Lab Record</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10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10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18490814"/>
                  </a:ext>
                </a:extLst>
              </a:tr>
              <a:tr h="327648">
                <a:tc gridSpan="2">
                  <a:txBody>
                    <a:bodyPr/>
                    <a:lstStyle/>
                    <a:p>
                      <a:pPr rtl="0" fontAlgn="t">
                        <a:spcBef>
                          <a:spcPts val="0"/>
                        </a:spcBef>
                        <a:spcAft>
                          <a:spcPts val="0"/>
                        </a:spcAft>
                      </a:pPr>
                      <a:r>
                        <a:rPr lang="en-US" sz="2000" b="0" i="0" u="none" strike="noStrike" dirty="0">
                          <a:solidFill>
                            <a:srgbClr val="000000"/>
                          </a:solidFill>
                          <a:effectLst/>
                          <a:latin typeface="Calibri" panose="020F0502020204030204" pitchFamily="34" charset="0"/>
                        </a:rPr>
                        <a:t>Total</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rtl="0" fontAlgn="t">
                        <a:spcBef>
                          <a:spcPts val="0"/>
                        </a:spcBef>
                        <a:spcAft>
                          <a:spcPts val="0"/>
                        </a:spcAft>
                      </a:pPr>
                      <a:r>
                        <a:rPr lang="en-US" sz="2000" b="0" i="0" u="none" strike="noStrike" dirty="0">
                          <a:solidFill>
                            <a:srgbClr val="000000"/>
                          </a:solidFill>
                          <a:effectLst/>
                          <a:latin typeface="Calibri" panose="020F0502020204030204" pitchFamily="34" charset="0"/>
                        </a:rPr>
                        <a:t>60</a:t>
                      </a:r>
                      <a:endParaRPr lang="en-US" sz="2000"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47142049"/>
                  </a:ext>
                </a:extLst>
              </a:tr>
            </a:tbl>
          </a:graphicData>
        </a:graphic>
      </p:graphicFrame>
    </p:spTree>
    <p:extLst>
      <p:ext uri="{BB962C8B-B14F-4D97-AF65-F5344CB8AC3E}">
        <p14:creationId xmlns="" xmlns:p14="http://schemas.microsoft.com/office/powerpoint/2010/main" val="4356304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A06537-CD59-4729-BECD-109E3A090CD2}"/>
              </a:ext>
            </a:extLst>
          </p:cNvPr>
          <p:cNvSpPr>
            <a:spLocks noGrp="1"/>
          </p:cNvSpPr>
          <p:nvPr>
            <p:ph type="title"/>
          </p:nvPr>
        </p:nvSpPr>
        <p:spPr/>
        <p:txBody>
          <a:bodyPr/>
          <a:lstStyle/>
          <a:p>
            <a:r>
              <a:rPr lang="en-US" dirty="0"/>
              <a:t>Why DBMS?</a:t>
            </a:r>
          </a:p>
        </p:txBody>
      </p:sp>
      <p:sp>
        <p:nvSpPr>
          <p:cNvPr id="3" name="Content Placeholder 2">
            <a:extLst>
              <a:ext uri="{FF2B5EF4-FFF2-40B4-BE49-F238E27FC236}">
                <a16:creationId xmlns="" xmlns:a16="http://schemas.microsoft.com/office/drawing/2014/main" id="{0189A5DA-B98D-4EF5-8DC3-E2D563CCBB84}"/>
              </a:ext>
            </a:extLst>
          </p:cNvPr>
          <p:cNvSpPr>
            <a:spLocks noGrp="1"/>
          </p:cNvSpPr>
          <p:nvPr>
            <p:ph idx="1"/>
          </p:nvPr>
        </p:nvSpPr>
        <p:spPr/>
        <p:txBody>
          <a:bodyPr/>
          <a:lstStyle/>
          <a:p>
            <a:r>
              <a:rPr lang="en-US" dirty="0"/>
              <a:t>A solid understanding of DBMS is crucial as it provides you with essential skills and knowledge needed for effective data management, system design, collaboration, decision support, and overall success in your future engineering careers.</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 xmlns:p14="http://schemas.microsoft.com/office/powerpoint/2010/main" val="29513528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D9307E-E7B6-46DF-B5BE-2B9A66F69A0B}"/>
              </a:ext>
            </a:extLst>
          </p:cNvPr>
          <p:cNvSpPr>
            <a:spLocks noGrp="1"/>
          </p:cNvSpPr>
          <p:nvPr>
            <p:ph type="title"/>
          </p:nvPr>
        </p:nvSpPr>
        <p:spPr/>
        <p:txBody>
          <a:bodyPr/>
          <a:lstStyle/>
          <a:p>
            <a:r>
              <a:rPr lang="en-US" dirty="0"/>
              <a:t>Why DBMS?</a:t>
            </a:r>
          </a:p>
        </p:txBody>
      </p:sp>
      <p:sp>
        <p:nvSpPr>
          <p:cNvPr id="3" name="Content Placeholder 2">
            <a:extLst>
              <a:ext uri="{FF2B5EF4-FFF2-40B4-BE49-F238E27FC236}">
                <a16:creationId xmlns="" xmlns:a16="http://schemas.microsoft.com/office/drawing/2014/main" id="{5DC168A2-EB28-4FCF-9687-F4C657BC2F9D}"/>
              </a:ext>
            </a:extLst>
          </p:cNvPr>
          <p:cNvSpPr>
            <a:spLocks noGrp="1"/>
          </p:cNvSpPr>
          <p:nvPr>
            <p:ph idx="1"/>
          </p:nvPr>
        </p:nvSpPr>
        <p:spPr>
          <a:xfrm>
            <a:off x="838200" y="1891612"/>
            <a:ext cx="10515600" cy="4678869"/>
          </a:xfrm>
        </p:spPr>
        <p:txBody>
          <a:bodyPr>
            <a:normAutofit fontScale="62500" lnSpcReduction="20000"/>
          </a:bodyPr>
          <a:lstStyle/>
          <a:p>
            <a:r>
              <a:rPr lang="en-US" b="1" dirty="0"/>
              <a:t>Data Management Skills:</a:t>
            </a:r>
            <a:endParaRPr lang="en-US" dirty="0"/>
          </a:p>
          <a:p>
            <a:pPr lvl="1"/>
            <a:r>
              <a:rPr lang="en-US" b="1" dirty="0"/>
              <a:t>Why:</a:t>
            </a:r>
            <a:r>
              <a:rPr lang="en-US" dirty="0"/>
              <a:t> Engineering projects involve handling and analyzing large datasets.</a:t>
            </a:r>
          </a:p>
          <a:p>
            <a:pPr lvl="1"/>
            <a:r>
              <a:rPr lang="en-US" b="1" dirty="0"/>
              <a:t>How DBMS Helps:</a:t>
            </a:r>
            <a:r>
              <a:rPr lang="en-US" dirty="0"/>
              <a:t> DBMS teaches students how to efficiently organize, store, and retrieve data, fostering valuable data management skills.</a:t>
            </a:r>
          </a:p>
          <a:p>
            <a:r>
              <a:rPr lang="en-US" b="1" dirty="0"/>
              <a:t>System Design and Implementation:</a:t>
            </a:r>
            <a:endParaRPr lang="en-US" dirty="0"/>
          </a:p>
          <a:p>
            <a:pPr lvl="1"/>
            <a:r>
              <a:rPr lang="en-US" b="1" dirty="0"/>
              <a:t>Why:</a:t>
            </a:r>
            <a:r>
              <a:rPr lang="en-US" dirty="0"/>
              <a:t> Engineers design and implement systems that require effective data storage and retrieval mechanisms.</a:t>
            </a:r>
          </a:p>
          <a:p>
            <a:pPr lvl="1"/>
            <a:r>
              <a:rPr lang="en-US" b="1" dirty="0"/>
              <a:t>How DBMS Helps:</a:t>
            </a:r>
            <a:r>
              <a:rPr lang="en-US" dirty="0"/>
              <a:t> DBMS principles are fundamental to system design, helping students understand how to structure data for optimal system performance.</a:t>
            </a:r>
          </a:p>
          <a:p>
            <a:r>
              <a:rPr lang="en-US" b="1" dirty="0"/>
              <a:t>Real-world Application:</a:t>
            </a:r>
            <a:endParaRPr lang="en-US" dirty="0"/>
          </a:p>
          <a:p>
            <a:pPr lvl="1"/>
            <a:r>
              <a:rPr lang="en-US" b="1" dirty="0"/>
              <a:t>Why:</a:t>
            </a:r>
            <a:r>
              <a:rPr lang="en-US" dirty="0"/>
              <a:t> Practical applications in various engineering fields often involve managing complex datasets.</a:t>
            </a:r>
          </a:p>
          <a:p>
            <a:pPr lvl="1"/>
            <a:r>
              <a:rPr lang="en-US" b="1" dirty="0"/>
              <a:t>How DBMS Helps:</a:t>
            </a:r>
            <a:r>
              <a:rPr lang="en-US" dirty="0"/>
              <a:t> DBMS provides hands-on experience with real-world applications, preparing students for challenges they may encounter in their engineering careers.</a:t>
            </a:r>
          </a:p>
        </p:txBody>
      </p:sp>
    </p:spTree>
    <p:extLst>
      <p:ext uri="{BB962C8B-B14F-4D97-AF65-F5344CB8AC3E}">
        <p14:creationId xmlns="" xmlns:p14="http://schemas.microsoft.com/office/powerpoint/2010/main" val="39018619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D9307E-E7B6-46DF-B5BE-2B9A66F69A0B}"/>
              </a:ext>
            </a:extLst>
          </p:cNvPr>
          <p:cNvSpPr>
            <a:spLocks noGrp="1"/>
          </p:cNvSpPr>
          <p:nvPr>
            <p:ph type="title"/>
          </p:nvPr>
        </p:nvSpPr>
        <p:spPr/>
        <p:txBody>
          <a:bodyPr/>
          <a:lstStyle/>
          <a:p>
            <a:r>
              <a:rPr lang="en-US" dirty="0"/>
              <a:t>Why DBMS?</a:t>
            </a:r>
          </a:p>
        </p:txBody>
      </p:sp>
      <p:sp>
        <p:nvSpPr>
          <p:cNvPr id="3" name="Content Placeholder 2">
            <a:extLst>
              <a:ext uri="{FF2B5EF4-FFF2-40B4-BE49-F238E27FC236}">
                <a16:creationId xmlns="" xmlns:a16="http://schemas.microsoft.com/office/drawing/2014/main" id="{5DC168A2-EB28-4FCF-9687-F4C657BC2F9D}"/>
              </a:ext>
            </a:extLst>
          </p:cNvPr>
          <p:cNvSpPr>
            <a:spLocks noGrp="1"/>
          </p:cNvSpPr>
          <p:nvPr>
            <p:ph idx="1"/>
          </p:nvPr>
        </p:nvSpPr>
        <p:spPr>
          <a:xfrm>
            <a:off x="838200" y="1891612"/>
            <a:ext cx="10515600" cy="4763711"/>
          </a:xfrm>
        </p:spPr>
        <p:txBody>
          <a:bodyPr>
            <a:normAutofit fontScale="62500" lnSpcReduction="20000"/>
          </a:bodyPr>
          <a:lstStyle/>
          <a:p>
            <a:r>
              <a:rPr lang="en-US" b="1" dirty="0"/>
              <a:t>Collaboration and Concurrency:</a:t>
            </a:r>
            <a:endParaRPr lang="en-US" dirty="0"/>
          </a:p>
          <a:p>
            <a:pPr lvl="1"/>
            <a:r>
              <a:rPr lang="en-US" b="1" dirty="0"/>
              <a:t>Why:</a:t>
            </a:r>
            <a:r>
              <a:rPr lang="en-US" dirty="0"/>
              <a:t> Engineering projects often involve multiple team members working simultaneously.</a:t>
            </a:r>
          </a:p>
          <a:p>
            <a:pPr lvl="1"/>
            <a:r>
              <a:rPr lang="en-US" b="1" dirty="0"/>
              <a:t>How DBMS Helps:</a:t>
            </a:r>
            <a:r>
              <a:rPr lang="en-US" dirty="0"/>
              <a:t> DBMS teaches students about concurrent access and collaboration, crucial skills for working on team projects and preventing data conflicts.</a:t>
            </a:r>
          </a:p>
          <a:p>
            <a:r>
              <a:rPr lang="en-US" b="1" dirty="0"/>
              <a:t>Decision Support:</a:t>
            </a:r>
            <a:endParaRPr lang="en-US" dirty="0"/>
          </a:p>
          <a:p>
            <a:pPr lvl="1"/>
            <a:r>
              <a:rPr lang="en-US" b="1" dirty="0"/>
              <a:t>Why:</a:t>
            </a:r>
            <a:r>
              <a:rPr lang="en-US" dirty="0"/>
              <a:t> Engineers need to make informed decisions based on data analysis.</a:t>
            </a:r>
          </a:p>
          <a:p>
            <a:pPr lvl="1"/>
            <a:r>
              <a:rPr lang="en-US" b="1" dirty="0"/>
              <a:t>How DBMS Helps:</a:t>
            </a:r>
            <a:r>
              <a:rPr lang="en-US" dirty="0"/>
              <a:t> DBMS facilitates efficient data retrieval and analysis, enabling engineers to make informed decisions supported by accurate and up-to-date information.</a:t>
            </a:r>
          </a:p>
          <a:p>
            <a:r>
              <a:rPr lang="en-US" b="1" dirty="0"/>
              <a:t>Security Awareness:</a:t>
            </a:r>
            <a:endParaRPr lang="en-US" dirty="0"/>
          </a:p>
          <a:p>
            <a:pPr lvl="1"/>
            <a:r>
              <a:rPr lang="en-US" b="1" dirty="0"/>
              <a:t>Why:</a:t>
            </a:r>
            <a:r>
              <a:rPr lang="en-US" dirty="0"/>
              <a:t> Protecting sensitive information is critical in engineering projects.</a:t>
            </a:r>
          </a:p>
          <a:p>
            <a:pPr lvl="1"/>
            <a:r>
              <a:rPr lang="en-US" b="1" dirty="0"/>
              <a:t>How DBMS Helps:</a:t>
            </a:r>
            <a:r>
              <a:rPr lang="en-US" dirty="0"/>
              <a:t> DBMS introduces students to data security concepts, such as access control and encryption, ensuring they understand how to safeguard information.</a:t>
            </a:r>
          </a:p>
        </p:txBody>
      </p:sp>
    </p:spTree>
    <p:extLst>
      <p:ext uri="{BB962C8B-B14F-4D97-AF65-F5344CB8AC3E}">
        <p14:creationId xmlns="" xmlns:p14="http://schemas.microsoft.com/office/powerpoint/2010/main" val="30924830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D9307E-E7B6-46DF-B5BE-2B9A66F69A0B}"/>
              </a:ext>
            </a:extLst>
          </p:cNvPr>
          <p:cNvSpPr>
            <a:spLocks noGrp="1"/>
          </p:cNvSpPr>
          <p:nvPr>
            <p:ph type="title"/>
          </p:nvPr>
        </p:nvSpPr>
        <p:spPr/>
        <p:txBody>
          <a:bodyPr/>
          <a:lstStyle/>
          <a:p>
            <a:r>
              <a:rPr lang="en-US" dirty="0"/>
              <a:t>Why DBMS?</a:t>
            </a:r>
          </a:p>
        </p:txBody>
      </p:sp>
      <p:sp>
        <p:nvSpPr>
          <p:cNvPr id="3" name="Content Placeholder 2">
            <a:extLst>
              <a:ext uri="{FF2B5EF4-FFF2-40B4-BE49-F238E27FC236}">
                <a16:creationId xmlns="" xmlns:a16="http://schemas.microsoft.com/office/drawing/2014/main" id="{5DC168A2-EB28-4FCF-9687-F4C657BC2F9D}"/>
              </a:ext>
            </a:extLst>
          </p:cNvPr>
          <p:cNvSpPr>
            <a:spLocks noGrp="1"/>
          </p:cNvSpPr>
          <p:nvPr>
            <p:ph idx="1"/>
          </p:nvPr>
        </p:nvSpPr>
        <p:spPr>
          <a:xfrm>
            <a:off x="838200" y="1891613"/>
            <a:ext cx="10515600" cy="4801418"/>
          </a:xfrm>
        </p:spPr>
        <p:txBody>
          <a:bodyPr>
            <a:normAutofit fontScale="62500" lnSpcReduction="20000"/>
          </a:bodyPr>
          <a:lstStyle/>
          <a:p>
            <a:r>
              <a:rPr lang="en-US" b="1" dirty="0"/>
              <a:t>Project Management:</a:t>
            </a:r>
            <a:endParaRPr lang="en-US" dirty="0"/>
          </a:p>
          <a:p>
            <a:pPr lvl="1"/>
            <a:r>
              <a:rPr lang="en-US" b="1" dirty="0"/>
              <a:t>Why:</a:t>
            </a:r>
            <a:r>
              <a:rPr lang="en-US" dirty="0"/>
              <a:t> Successful project management involves effective organization and utilization of project data.</a:t>
            </a:r>
          </a:p>
          <a:p>
            <a:pPr lvl="1"/>
            <a:r>
              <a:rPr lang="en-US" b="1" dirty="0"/>
              <a:t>How DBMS Helps:</a:t>
            </a:r>
            <a:r>
              <a:rPr lang="en-US" dirty="0"/>
              <a:t> DBMS skills contribute to efficient project management by ensuring data integrity, accessibility, and consistency throughout the project lifecycle.</a:t>
            </a:r>
          </a:p>
          <a:p>
            <a:r>
              <a:rPr lang="en-US" b="1" dirty="0"/>
              <a:t>Adaptability to Technology Trends:</a:t>
            </a:r>
            <a:endParaRPr lang="en-US" dirty="0"/>
          </a:p>
          <a:p>
            <a:pPr lvl="1"/>
            <a:r>
              <a:rPr lang="en-US" b="1" dirty="0"/>
              <a:t>Why:</a:t>
            </a:r>
            <a:r>
              <a:rPr lang="en-US" dirty="0"/>
              <a:t> The field of database technology evolves rapidly.</a:t>
            </a:r>
          </a:p>
          <a:p>
            <a:pPr lvl="1"/>
            <a:r>
              <a:rPr lang="en-US" b="1" dirty="0"/>
              <a:t>How DBMS Helps:</a:t>
            </a:r>
            <a:r>
              <a:rPr lang="en-US" dirty="0"/>
              <a:t> Learning DBMS equips engineering students with adaptable skills, allowing them to stay current with emerging database technologies and trends.</a:t>
            </a:r>
          </a:p>
          <a:p>
            <a:r>
              <a:rPr lang="en-US" b="1" dirty="0"/>
              <a:t>Preparation for Specialized Engineering Fields:</a:t>
            </a:r>
            <a:endParaRPr lang="en-US" dirty="0"/>
          </a:p>
          <a:p>
            <a:pPr lvl="1"/>
            <a:r>
              <a:rPr lang="en-US" b="1" dirty="0"/>
              <a:t>Why:</a:t>
            </a:r>
            <a:r>
              <a:rPr lang="en-US" dirty="0"/>
              <a:t> Different engineering disciplines, such as civil, electrical, or mechanical, often have unique data requirements.</a:t>
            </a:r>
          </a:p>
          <a:p>
            <a:pPr lvl="1"/>
            <a:r>
              <a:rPr lang="en-US" b="1" dirty="0"/>
              <a:t>How DBMS Helps:</a:t>
            </a:r>
            <a:r>
              <a:rPr lang="en-US" dirty="0"/>
              <a:t> DBMS education provides a foundation that can be tailored to the specific data needs of various engineering specialties.</a:t>
            </a:r>
          </a:p>
        </p:txBody>
      </p:sp>
    </p:spTree>
    <p:extLst>
      <p:ext uri="{BB962C8B-B14F-4D97-AF65-F5344CB8AC3E}">
        <p14:creationId xmlns="" xmlns:p14="http://schemas.microsoft.com/office/powerpoint/2010/main" val="39089410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244C97-F685-40F9-96AB-ED89ED400BCC}"/>
              </a:ext>
            </a:extLst>
          </p:cNvPr>
          <p:cNvSpPr>
            <a:spLocks noGrp="1"/>
          </p:cNvSpPr>
          <p:nvPr>
            <p:ph type="title"/>
          </p:nvPr>
        </p:nvSpPr>
        <p:spPr/>
        <p:txBody>
          <a:bodyPr/>
          <a:lstStyle/>
          <a:p>
            <a:r>
              <a:rPr lang="en-US" dirty="0"/>
              <a:t>Unit 1</a:t>
            </a:r>
          </a:p>
        </p:txBody>
      </p:sp>
      <p:sp>
        <p:nvSpPr>
          <p:cNvPr id="3" name="Content Placeholder 2">
            <a:extLst>
              <a:ext uri="{FF2B5EF4-FFF2-40B4-BE49-F238E27FC236}">
                <a16:creationId xmlns="" xmlns:a16="http://schemas.microsoft.com/office/drawing/2014/main" id="{A7207961-B7BD-4BCC-9D09-3224EA7FFDF4}"/>
              </a:ext>
            </a:extLst>
          </p:cNvPr>
          <p:cNvSpPr>
            <a:spLocks noGrp="1"/>
          </p:cNvSpPr>
          <p:nvPr>
            <p:ph idx="1"/>
          </p:nvPr>
        </p:nvSpPr>
        <p:spPr/>
        <p:txBody>
          <a:bodyPr>
            <a:normAutofit fontScale="77500" lnSpcReduction="20000"/>
          </a:bodyPr>
          <a:lstStyle/>
          <a:p>
            <a:r>
              <a:rPr lang="en-US" b="1" dirty="0"/>
              <a:t>INTRODUCTION TO DATABASE SYSTEMS </a:t>
            </a:r>
            <a:r>
              <a:rPr lang="en-US" dirty="0"/>
              <a:t>:</a:t>
            </a:r>
          </a:p>
          <a:p>
            <a:r>
              <a:rPr lang="en-US" dirty="0"/>
              <a:t>Introduction, Characteristics of the Database Approach, Advantages of using DBMS Approach, Data Models, Schemas, Instances and Data Independence, Three Schema Architecture, various components of a DBMS.</a:t>
            </a:r>
          </a:p>
          <a:p>
            <a:r>
              <a:rPr lang="en-US" b="1" dirty="0"/>
              <a:t>ENTITY-RELATIONSHIP MODEL</a:t>
            </a:r>
            <a:r>
              <a:rPr lang="en-US" dirty="0"/>
              <a:t>:</a:t>
            </a:r>
          </a:p>
          <a:p>
            <a:r>
              <a:rPr lang="en-US" dirty="0"/>
              <a:t>Entity Types , Entity Sets , Attributes and Keys, Relationship types, Relationship Sets , Roles and Structural Constraints; Weak Entity Types; ER Diagrams</a:t>
            </a:r>
          </a:p>
        </p:txBody>
      </p:sp>
    </p:spTree>
    <p:extLst>
      <p:ext uri="{BB962C8B-B14F-4D97-AF65-F5344CB8AC3E}">
        <p14:creationId xmlns="" xmlns:p14="http://schemas.microsoft.com/office/powerpoint/2010/main" val="17282992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7573AC-D2E1-4F9C-B6C9-6B4BEDFE5234}"/>
              </a:ext>
            </a:extLst>
          </p:cNvPr>
          <p:cNvSpPr>
            <a:spLocks noGrp="1"/>
          </p:cNvSpPr>
          <p:nvPr>
            <p:ph type="title"/>
          </p:nvPr>
        </p:nvSpPr>
        <p:spPr/>
        <p:txBody>
          <a:bodyPr/>
          <a:lstStyle/>
          <a:p>
            <a:r>
              <a:rPr lang="en-US" dirty="0"/>
              <a:t>Basic </a:t>
            </a:r>
            <a:r>
              <a:rPr lang="en-US" spc="-10" dirty="0"/>
              <a:t>Definitions</a:t>
            </a:r>
            <a:endParaRPr lang="en-US" dirty="0"/>
          </a:p>
        </p:txBody>
      </p:sp>
      <p:sp>
        <p:nvSpPr>
          <p:cNvPr id="3" name="Content Placeholder 2">
            <a:extLst>
              <a:ext uri="{FF2B5EF4-FFF2-40B4-BE49-F238E27FC236}">
                <a16:creationId xmlns="" xmlns:a16="http://schemas.microsoft.com/office/drawing/2014/main" id="{90B17352-B501-45E9-BA5B-B7F3E9B53AEE}"/>
              </a:ext>
            </a:extLst>
          </p:cNvPr>
          <p:cNvSpPr>
            <a:spLocks noGrp="1"/>
          </p:cNvSpPr>
          <p:nvPr>
            <p:ph idx="1"/>
          </p:nvPr>
        </p:nvSpPr>
        <p:spPr/>
        <p:txBody>
          <a:bodyPr>
            <a:normAutofit fontScale="92500" lnSpcReduction="20000"/>
          </a:bodyPr>
          <a:lstStyle/>
          <a:p>
            <a:pPr marL="355600" indent="-342900">
              <a:spcBef>
                <a:spcPts val="335"/>
              </a:spcBef>
              <a:buSzPct val="60000"/>
              <a:tabLst>
                <a:tab pos="354965" algn="l"/>
              </a:tabLst>
            </a:pPr>
            <a:r>
              <a:rPr lang="en-US" sz="2000" b="1" spc="-10" dirty="0">
                <a:cs typeface="Arial"/>
              </a:rPr>
              <a:t>Database:</a:t>
            </a:r>
            <a:endParaRPr lang="en-US" sz="2000" dirty="0">
              <a:cs typeface="Arial"/>
            </a:endParaRPr>
          </a:p>
          <a:p>
            <a:pPr marL="812800" lvl="1" indent="-342900">
              <a:spcBef>
                <a:spcPts val="240"/>
              </a:spcBef>
              <a:buSzPct val="55000"/>
              <a:tabLst>
                <a:tab pos="756285" algn="l"/>
              </a:tabLst>
            </a:pPr>
            <a:r>
              <a:rPr lang="en-US" sz="2000" dirty="0">
                <a:latin typeface="Arial MT"/>
                <a:cs typeface="Arial MT"/>
              </a:rPr>
              <a:t>A</a:t>
            </a:r>
            <a:r>
              <a:rPr lang="en-US" sz="2000" spc="-25" dirty="0">
                <a:latin typeface="Arial MT"/>
                <a:cs typeface="Arial MT"/>
              </a:rPr>
              <a:t> </a:t>
            </a:r>
            <a:r>
              <a:rPr lang="en-US" sz="2000" dirty="0">
                <a:latin typeface="Arial MT"/>
                <a:cs typeface="Arial MT"/>
              </a:rPr>
              <a:t>collection</a:t>
            </a:r>
            <a:r>
              <a:rPr lang="en-US" sz="2000" spc="-45" dirty="0">
                <a:latin typeface="Arial MT"/>
                <a:cs typeface="Arial MT"/>
              </a:rPr>
              <a:t> </a:t>
            </a:r>
            <a:r>
              <a:rPr lang="en-US" sz="2000" dirty="0">
                <a:latin typeface="Arial MT"/>
                <a:cs typeface="Arial MT"/>
              </a:rPr>
              <a:t>of</a:t>
            </a:r>
            <a:r>
              <a:rPr lang="en-US" sz="2000" spc="-45" dirty="0">
                <a:latin typeface="Arial MT"/>
                <a:cs typeface="Arial MT"/>
              </a:rPr>
              <a:t> </a:t>
            </a:r>
            <a:r>
              <a:rPr lang="en-US" sz="2000" dirty="0">
                <a:latin typeface="Arial MT"/>
                <a:cs typeface="Arial MT"/>
              </a:rPr>
              <a:t>related</a:t>
            </a:r>
            <a:r>
              <a:rPr lang="en-US" sz="2000" spc="-35" dirty="0">
                <a:latin typeface="Arial MT"/>
                <a:cs typeface="Arial MT"/>
              </a:rPr>
              <a:t> </a:t>
            </a:r>
            <a:r>
              <a:rPr lang="en-US" sz="2000" spc="-10" dirty="0">
                <a:latin typeface="Arial MT"/>
                <a:cs typeface="Arial MT"/>
              </a:rPr>
              <a:t>data.</a:t>
            </a:r>
            <a:endParaRPr lang="en-US" sz="2000" dirty="0">
              <a:latin typeface="Arial MT"/>
              <a:cs typeface="Arial MT"/>
            </a:endParaRPr>
          </a:p>
          <a:p>
            <a:pPr marL="355600" indent="-342900">
              <a:spcBef>
                <a:spcPts val="244"/>
              </a:spcBef>
              <a:buSzPct val="60000"/>
              <a:tabLst>
                <a:tab pos="354965" algn="l"/>
              </a:tabLst>
            </a:pPr>
            <a:r>
              <a:rPr lang="en-US" sz="2000" b="1" spc="-10" dirty="0">
                <a:cs typeface="Arial"/>
              </a:rPr>
              <a:t>Data:</a:t>
            </a:r>
            <a:endParaRPr lang="en-US" sz="2000" dirty="0">
              <a:cs typeface="Arial"/>
            </a:endParaRPr>
          </a:p>
          <a:p>
            <a:pPr marL="812800" lvl="1" indent="-342900">
              <a:spcBef>
                <a:spcPts val="240"/>
              </a:spcBef>
              <a:buSzPct val="55000"/>
              <a:tabLst>
                <a:tab pos="756285" algn="l"/>
              </a:tabLst>
            </a:pPr>
            <a:r>
              <a:rPr lang="en-US" sz="2000" dirty="0">
                <a:latin typeface="Arial MT"/>
                <a:cs typeface="Arial MT"/>
              </a:rPr>
              <a:t>Known</a:t>
            </a:r>
            <a:r>
              <a:rPr lang="en-US" sz="2000" spc="-30" dirty="0">
                <a:latin typeface="Arial MT"/>
                <a:cs typeface="Arial MT"/>
              </a:rPr>
              <a:t> </a:t>
            </a:r>
            <a:r>
              <a:rPr lang="en-US" sz="2000" dirty="0">
                <a:latin typeface="Arial MT"/>
                <a:cs typeface="Arial MT"/>
              </a:rPr>
              <a:t>facts</a:t>
            </a:r>
            <a:r>
              <a:rPr lang="en-US" sz="2000" spc="-40" dirty="0">
                <a:latin typeface="Arial MT"/>
                <a:cs typeface="Arial MT"/>
              </a:rPr>
              <a:t> </a:t>
            </a:r>
            <a:r>
              <a:rPr lang="en-US" sz="2000" dirty="0">
                <a:latin typeface="Arial MT"/>
                <a:cs typeface="Arial MT"/>
              </a:rPr>
              <a:t>that</a:t>
            </a:r>
            <a:r>
              <a:rPr lang="en-US" sz="2000" spc="-40" dirty="0">
                <a:latin typeface="Arial MT"/>
                <a:cs typeface="Arial MT"/>
              </a:rPr>
              <a:t> </a:t>
            </a:r>
            <a:r>
              <a:rPr lang="en-US" sz="2000" dirty="0">
                <a:latin typeface="Arial MT"/>
                <a:cs typeface="Arial MT"/>
              </a:rPr>
              <a:t>can</a:t>
            </a:r>
            <a:r>
              <a:rPr lang="en-US" sz="2000" spc="-30" dirty="0">
                <a:latin typeface="Arial MT"/>
                <a:cs typeface="Arial MT"/>
              </a:rPr>
              <a:t> </a:t>
            </a:r>
            <a:r>
              <a:rPr lang="en-US" sz="2000" dirty="0">
                <a:latin typeface="Arial MT"/>
                <a:cs typeface="Arial MT"/>
              </a:rPr>
              <a:t>be</a:t>
            </a:r>
            <a:r>
              <a:rPr lang="en-US" sz="2000" spc="-30" dirty="0">
                <a:latin typeface="Arial MT"/>
                <a:cs typeface="Arial MT"/>
              </a:rPr>
              <a:t> </a:t>
            </a:r>
            <a:r>
              <a:rPr lang="en-US" sz="2000" dirty="0">
                <a:latin typeface="Arial MT"/>
                <a:cs typeface="Arial MT"/>
              </a:rPr>
              <a:t>recorded</a:t>
            </a:r>
            <a:r>
              <a:rPr lang="en-US" sz="2000" spc="-50" dirty="0">
                <a:latin typeface="Arial MT"/>
                <a:cs typeface="Arial MT"/>
              </a:rPr>
              <a:t> </a:t>
            </a:r>
            <a:r>
              <a:rPr lang="en-US" sz="2000" dirty="0">
                <a:latin typeface="Arial MT"/>
                <a:cs typeface="Arial MT"/>
              </a:rPr>
              <a:t>and</a:t>
            </a:r>
            <a:r>
              <a:rPr lang="en-US" sz="2000" spc="-30" dirty="0">
                <a:latin typeface="Arial MT"/>
                <a:cs typeface="Arial MT"/>
              </a:rPr>
              <a:t> </a:t>
            </a:r>
            <a:r>
              <a:rPr lang="en-US" sz="2000" dirty="0">
                <a:latin typeface="Arial MT"/>
                <a:cs typeface="Arial MT"/>
              </a:rPr>
              <a:t>have</a:t>
            </a:r>
            <a:r>
              <a:rPr lang="en-US" sz="2000" spc="-35" dirty="0">
                <a:latin typeface="Arial MT"/>
                <a:cs typeface="Arial MT"/>
              </a:rPr>
              <a:t> </a:t>
            </a:r>
            <a:r>
              <a:rPr lang="en-US" sz="2000" dirty="0">
                <a:latin typeface="Arial MT"/>
                <a:cs typeface="Arial MT"/>
              </a:rPr>
              <a:t>an</a:t>
            </a:r>
            <a:r>
              <a:rPr lang="en-US" sz="2000" spc="-15" dirty="0">
                <a:latin typeface="Arial MT"/>
                <a:cs typeface="Arial MT"/>
              </a:rPr>
              <a:t> </a:t>
            </a:r>
            <a:r>
              <a:rPr lang="en-US" sz="2000" dirty="0">
                <a:latin typeface="Arial MT"/>
                <a:cs typeface="Arial MT"/>
              </a:rPr>
              <a:t>implicit</a:t>
            </a:r>
            <a:r>
              <a:rPr lang="en-US" sz="2000" spc="-25" dirty="0">
                <a:latin typeface="Arial MT"/>
                <a:cs typeface="Arial MT"/>
              </a:rPr>
              <a:t> </a:t>
            </a:r>
            <a:r>
              <a:rPr lang="en-US" sz="2000" spc="-10" dirty="0">
                <a:latin typeface="Arial MT"/>
                <a:cs typeface="Arial MT"/>
              </a:rPr>
              <a:t>meaning.</a:t>
            </a:r>
            <a:endParaRPr lang="en-US" sz="2000" dirty="0">
              <a:latin typeface="Arial MT"/>
              <a:cs typeface="Arial MT"/>
            </a:endParaRPr>
          </a:p>
          <a:p>
            <a:pPr marL="355600" indent="-342900">
              <a:spcBef>
                <a:spcPts val="240"/>
              </a:spcBef>
              <a:buSzPct val="60000"/>
              <a:tabLst>
                <a:tab pos="354965" algn="l"/>
              </a:tabLst>
            </a:pPr>
            <a:r>
              <a:rPr lang="en-US" sz="2000" b="1" dirty="0">
                <a:cs typeface="Arial"/>
              </a:rPr>
              <a:t>Database</a:t>
            </a:r>
            <a:r>
              <a:rPr lang="en-US" sz="2000" b="1" spc="-70" dirty="0">
                <a:cs typeface="Arial"/>
              </a:rPr>
              <a:t> </a:t>
            </a:r>
            <a:r>
              <a:rPr lang="en-US" sz="2000" b="1" dirty="0">
                <a:cs typeface="Arial"/>
              </a:rPr>
              <a:t>Management</a:t>
            </a:r>
            <a:r>
              <a:rPr lang="en-US" sz="2000" b="1" spc="-60" dirty="0">
                <a:cs typeface="Arial"/>
              </a:rPr>
              <a:t> </a:t>
            </a:r>
            <a:r>
              <a:rPr lang="en-US" sz="2000" b="1" dirty="0">
                <a:cs typeface="Arial"/>
              </a:rPr>
              <a:t>System</a:t>
            </a:r>
            <a:r>
              <a:rPr lang="en-US" sz="2000" b="1" spc="-20" dirty="0">
                <a:cs typeface="Arial"/>
              </a:rPr>
              <a:t> </a:t>
            </a:r>
            <a:r>
              <a:rPr lang="en-US" sz="2000" b="1" spc="-10" dirty="0">
                <a:cs typeface="Arial"/>
              </a:rPr>
              <a:t>(DBMS):</a:t>
            </a:r>
            <a:endParaRPr lang="en-US" sz="2000" dirty="0">
              <a:cs typeface="Arial"/>
            </a:endParaRPr>
          </a:p>
          <a:p>
            <a:pPr marL="812165" marR="1007744" lvl="1" indent="-342900">
              <a:spcBef>
                <a:spcPts val="509"/>
              </a:spcBef>
              <a:buSzPct val="55000"/>
              <a:tabLst>
                <a:tab pos="756285" algn="l"/>
              </a:tabLst>
            </a:pPr>
            <a:r>
              <a:rPr lang="en-US" sz="2000" dirty="0">
                <a:latin typeface="Arial MT"/>
                <a:cs typeface="Arial MT"/>
              </a:rPr>
              <a:t>A</a:t>
            </a:r>
            <a:r>
              <a:rPr lang="en-US" sz="2000" spc="-25" dirty="0">
                <a:latin typeface="Arial MT"/>
                <a:cs typeface="Arial MT"/>
              </a:rPr>
              <a:t> </a:t>
            </a:r>
            <a:r>
              <a:rPr lang="en-US" sz="2000" dirty="0">
                <a:latin typeface="Arial MT"/>
                <a:cs typeface="Arial MT"/>
              </a:rPr>
              <a:t>software</a:t>
            </a:r>
            <a:r>
              <a:rPr lang="en-US" sz="2000" spc="-50" dirty="0">
                <a:latin typeface="Arial MT"/>
                <a:cs typeface="Arial MT"/>
              </a:rPr>
              <a:t> </a:t>
            </a:r>
            <a:r>
              <a:rPr lang="en-US" sz="2000" dirty="0">
                <a:latin typeface="Arial MT"/>
                <a:cs typeface="Arial MT"/>
              </a:rPr>
              <a:t>package/</a:t>
            </a:r>
            <a:r>
              <a:rPr lang="en-US" sz="2000" spc="-55" dirty="0">
                <a:latin typeface="Arial MT"/>
                <a:cs typeface="Arial MT"/>
              </a:rPr>
              <a:t> </a:t>
            </a:r>
            <a:r>
              <a:rPr lang="en-US" sz="2000" dirty="0">
                <a:latin typeface="Arial MT"/>
                <a:cs typeface="Arial MT"/>
              </a:rPr>
              <a:t>system</a:t>
            </a:r>
            <a:r>
              <a:rPr lang="en-US" sz="2000" spc="-40" dirty="0">
                <a:latin typeface="Arial MT"/>
                <a:cs typeface="Arial MT"/>
              </a:rPr>
              <a:t> </a:t>
            </a:r>
            <a:r>
              <a:rPr lang="en-US" sz="2000" dirty="0">
                <a:latin typeface="Arial MT"/>
                <a:cs typeface="Arial MT"/>
              </a:rPr>
              <a:t>to</a:t>
            </a:r>
            <a:r>
              <a:rPr lang="en-US" sz="2000" spc="-30" dirty="0">
                <a:latin typeface="Arial MT"/>
                <a:cs typeface="Arial MT"/>
              </a:rPr>
              <a:t> </a:t>
            </a:r>
            <a:r>
              <a:rPr lang="en-US" sz="2000" dirty="0">
                <a:latin typeface="Arial MT"/>
                <a:cs typeface="Arial MT"/>
              </a:rPr>
              <a:t>facilitate</a:t>
            </a:r>
            <a:r>
              <a:rPr lang="en-US" sz="2000" spc="-15" dirty="0">
                <a:latin typeface="Arial MT"/>
                <a:cs typeface="Arial MT"/>
              </a:rPr>
              <a:t> </a:t>
            </a:r>
            <a:r>
              <a:rPr lang="en-US" sz="2000" dirty="0">
                <a:latin typeface="Arial MT"/>
                <a:cs typeface="Arial MT"/>
              </a:rPr>
              <a:t>the</a:t>
            </a:r>
            <a:r>
              <a:rPr lang="en-US" sz="2000" spc="-25" dirty="0">
                <a:latin typeface="Arial MT"/>
                <a:cs typeface="Arial MT"/>
              </a:rPr>
              <a:t> </a:t>
            </a:r>
            <a:r>
              <a:rPr lang="en-US" sz="2000" dirty="0">
                <a:latin typeface="Arial MT"/>
                <a:cs typeface="Arial MT"/>
              </a:rPr>
              <a:t>creation</a:t>
            </a:r>
            <a:r>
              <a:rPr lang="en-US" sz="2000" spc="-50" dirty="0">
                <a:latin typeface="Arial MT"/>
                <a:cs typeface="Arial MT"/>
              </a:rPr>
              <a:t> </a:t>
            </a:r>
            <a:r>
              <a:rPr lang="en-US" sz="2000" spc="-25" dirty="0">
                <a:latin typeface="Arial MT"/>
                <a:cs typeface="Arial MT"/>
              </a:rPr>
              <a:t>and </a:t>
            </a:r>
            <a:r>
              <a:rPr lang="en-US" sz="2000" dirty="0">
                <a:latin typeface="Arial MT"/>
                <a:cs typeface="Arial MT"/>
              </a:rPr>
              <a:t>maintenance</a:t>
            </a:r>
            <a:r>
              <a:rPr lang="en-US" sz="2000" spc="-50" dirty="0">
                <a:latin typeface="Arial MT"/>
                <a:cs typeface="Arial MT"/>
              </a:rPr>
              <a:t> </a:t>
            </a:r>
            <a:r>
              <a:rPr lang="en-US" sz="2000" dirty="0">
                <a:latin typeface="Arial MT"/>
                <a:cs typeface="Arial MT"/>
              </a:rPr>
              <a:t>of</a:t>
            </a:r>
            <a:r>
              <a:rPr lang="en-US" sz="2000" spc="-25" dirty="0">
                <a:latin typeface="Arial MT"/>
                <a:cs typeface="Arial MT"/>
              </a:rPr>
              <a:t> </a:t>
            </a:r>
            <a:r>
              <a:rPr lang="en-US" sz="2000" dirty="0">
                <a:latin typeface="Arial MT"/>
                <a:cs typeface="Arial MT"/>
              </a:rPr>
              <a:t>a</a:t>
            </a:r>
            <a:r>
              <a:rPr lang="en-US" sz="2000" spc="-10" dirty="0">
                <a:latin typeface="Arial MT"/>
                <a:cs typeface="Arial MT"/>
              </a:rPr>
              <a:t> </a:t>
            </a:r>
            <a:r>
              <a:rPr lang="en-US" sz="2000" dirty="0">
                <a:latin typeface="Arial MT"/>
                <a:cs typeface="Arial MT"/>
              </a:rPr>
              <a:t>computerized</a:t>
            </a:r>
            <a:r>
              <a:rPr lang="en-US" sz="2000" spc="-45" dirty="0">
                <a:latin typeface="Arial MT"/>
                <a:cs typeface="Arial MT"/>
              </a:rPr>
              <a:t> </a:t>
            </a:r>
            <a:r>
              <a:rPr lang="en-US" sz="2000" spc="-10" dirty="0">
                <a:latin typeface="Arial MT"/>
                <a:cs typeface="Arial MT"/>
              </a:rPr>
              <a:t>database.</a:t>
            </a:r>
            <a:endParaRPr lang="en-US" sz="2000" dirty="0">
              <a:latin typeface="Arial MT"/>
              <a:cs typeface="Arial MT"/>
            </a:endParaRPr>
          </a:p>
          <a:p>
            <a:pPr marL="355600" indent="-342900">
              <a:spcBef>
                <a:spcPts val="209"/>
              </a:spcBef>
              <a:buSzPct val="60000"/>
              <a:tabLst>
                <a:tab pos="354965" algn="l"/>
              </a:tabLst>
            </a:pPr>
            <a:r>
              <a:rPr lang="en-US" sz="2000" b="1" dirty="0">
                <a:cs typeface="Arial"/>
              </a:rPr>
              <a:t>Database</a:t>
            </a:r>
            <a:r>
              <a:rPr lang="en-US" sz="2000" b="1" spc="-60" dirty="0">
                <a:cs typeface="Arial"/>
              </a:rPr>
              <a:t> </a:t>
            </a:r>
            <a:r>
              <a:rPr lang="en-US" sz="2000" b="1" spc="-10" dirty="0">
                <a:cs typeface="Arial"/>
              </a:rPr>
              <a:t>System:</a:t>
            </a:r>
            <a:endParaRPr lang="en-US" sz="2000" dirty="0">
              <a:cs typeface="Arial"/>
            </a:endParaRPr>
          </a:p>
          <a:p>
            <a:pPr marL="812165" marR="5080" lvl="1" indent="-342900">
              <a:spcBef>
                <a:spcPts val="515"/>
              </a:spcBef>
              <a:buSzPct val="55000"/>
              <a:tabLst>
                <a:tab pos="756285" algn="l"/>
                <a:tab pos="6337300" algn="l"/>
              </a:tabLst>
            </a:pPr>
            <a:r>
              <a:rPr lang="en-US" sz="2000" dirty="0">
                <a:latin typeface="Arial MT"/>
                <a:cs typeface="Arial MT"/>
              </a:rPr>
              <a:t>The</a:t>
            </a:r>
            <a:r>
              <a:rPr lang="en-US" sz="2000" spc="-30" dirty="0">
                <a:latin typeface="Arial MT"/>
                <a:cs typeface="Arial MT"/>
              </a:rPr>
              <a:t> </a:t>
            </a:r>
            <a:r>
              <a:rPr lang="en-US" sz="2000" dirty="0">
                <a:latin typeface="Arial MT"/>
                <a:cs typeface="Arial MT"/>
              </a:rPr>
              <a:t>DBMS</a:t>
            </a:r>
            <a:r>
              <a:rPr lang="en-US" sz="2000" spc="-20" dirty="0">
                <a:latin typeface="Arial MT"/>
                <a:cs typeface="Arial MT"/>
              </a:rPr>
              <a:t> </a:t>
            </a:r>
            <a:r>
              <a:rPr lang="en-US" sz="2000" dirty="0">
                <a:latin typeface="Arial MT"/>
                <a:cs typeface="Arial MT"/>
              </a:rPr>
              <a:t>software</a:t>
            </a:r>
            <a:r>
              <a:rPr lang="en-US" sz="2000" spc="-55" dirty="0">
                <a:latin typeface="Arial MT"/>
                <a:cs typeface="Arial MT"/>
              </a:rPr>
              <a:t> </a:t>
            </a:r>
            <a:r>
              <a:rPr lang="en-US" sz="2000" dirty="0">
                <a:latin typeface="Arial MT"/>
                <a:cs typeface="Arial MT"/>
              </a:rPr>
              <a:t>together</a:t>
            </a:r>
            <a:r>
              <a:rPr lang="en-US" sz="2000" spc="-35" dirty="0">
                <a:latin typeface="Arial MT"/>
                <a:cs typeface="Arial MT"/>
              </a:rPr>
              <a:t> </a:t>
            </a:r>
            <a:r>
              <a:rPr lang="en-US" sz="2000" dirty="0">
                <a:latin typeface="Arial MT"/>
                <a:cs typeface="Arial MT"/>
              </a:rPr>
              <a:t>with</a:t>
            </a:r>
            <a:r>
              <a:rPr lang="en-US" sz="2000" spc="-30" dirty="0">
                <a:latin typeface="Arial MT"/>
                <a:cs typeface="Arial MT"/>
              </a:rPr>
              <a:t> </a:t>
            </a:r>
            <a:r>
              <a:rPr lang="en-US" sz="2000" dirty="0">
                <a:latin typeface="Arial MT"/>
                <a:cs typeface="Arial MT"/>
              </a:rPr>
              <a:t>the</a:t>
            </a:r>
            <a:r>
              <a:rPr lang="en-US" sz="2000" spc="-15" dirty="0">
                <a:latin typeface="Arial MT"/>
                <a:cs typeface="Arial MT"/>
              </a:rPr>
              <a:t> </a:t>
            </a:r>
            <a:r>
              <a:rPr lang="en-US" sz="2000" dirty="0">
                <a:latin typeface="Arial MT"/>
                <a:cs typeface="Arial MT"/>
              </a:rPr>
              <a:t>data</a:t>
            </a:r>
            <a:r>
              <a:rPr lang="en-US" sz="2000" spc="-40" dirty="0">
                <a:latin typeface="Arial MT"/>
                <a:cs typeface="Arial MT"/>
              </a:rPr>
              <a:t> </a:t>
            </a:r>
            <a:r>
              <a:rPr lang="en-US" sz="2000" spc="-10" dirty="0">
                <a:latin typeface="Arial MT"/>
                <a:cs typeface="Arial MT"/>
              </a:rPr>
              <a:t>itself.</a:t>
            </a:r>
            <a:r>
              <a:rPr lang="en-US" sz="2000" dirty="0">
                <a:latin typeface="Arial MT"/>
                <a:cs typeface="Arial MT"/>
              </a:rPr>
              <a:t>	Sometimes,</a:t>
            </a:r>
            <a:r>
              <a:rPr lang="en-US" sz="2000" spc="-50" dirty="0">
                <a:latin typeface="Arial MT"/>
                <a:cs typeface="Arial MT"/>
              </a:rPr>
              <a:t> </a:t>
            </a:r>
            <a:r>
              <a:rPr lang="en-US" sz="2000" spc="-25" dirty="0">
                <a:latin typeface="Arial MT"/>
                <a:cs typeface="Arial MT"/>
              </a:rPr>
              <a:t>the </a:t>
            </a:r>
            <a:r>
              <a:rPr lang="en-US" sz="2000" dirty="0">
                <a:latin typeface="Arial MT"/>
                <a:cs typeface="Arial MT"/>
              </a:rPr>
              <a:t>applications</a:t>
            </a:r>
            <a:r>
              <a:rPr lang="en-US" sz="2000" spc="-50" dirty="0">
                <a:latin typeface="Arial MT"/>
                <a:cs typeface="Arial MT"/>
              </a:rPr>
              <a:t> </a:t>
            </a:r>
            <a:r>
              <a:rPr lang="en-US" sz="2000" dirty="0">
                <a:latin typeface="Arial MT"/>
                <a:cs typeface="Arial MT"/>
              </a:rPr>
              <a:t>are</a:t>
            </a:r>
            <a:r>
              <a:rPr lang="en-US" sz="2000" spc="-40" dirty="0">
                <a:latin typeface="Arial MT"/>
                <a:cs typeface="Arial MT"/>
              </a:rPr>
              <a:t> </a:t>
            </a:r>
            <a:r>
              <a:rPr lang="en-US" sz="2000" dirty="0">
                <a:latin typeface="Arial MT"/>
                <a:cs typeface="Arial MT"/>
              </a:rPr>
              <a:t>also</a:t>
            </a:r>
            <a:r>
              <a:rPr lang="en-US" sz="2000" spc="-40" dirty="0">
                <a:latin typeface="Arial MT"/>
                <a:cs typeface="Arial MT"/>
              </a:rPr>
              <a:t> </a:t>
            </a:r>
            <a:r>
              <a:rPr lang="en-US" sz="2000" spc="-10" dirty="0">
                <a:latin typeface="Arial MT"/>
                <a:cs typeface="Arial MT"/>
              </a:rPr>
              <a:t>included.</a:t>
            </a:r>
            <a:endParaRPr lang="en-US" sz="2000" dirty="0">
              <a:latin typeface="Arial MT"/>
              <a:cs typeface="Arial MT"/>
            </a:endParaRPr>
          </a:p>
          <a:p>
            <a:endParaRPr lang="en-US" dirty="0"/>
          </a:p>
        </p:txBody>
      </p:sp>
    </p:spTree>
    <p:extLst>
      <p:ext uri="{BB962C8B-B14F-4D97-AF65-F5344CB8AC3E}">
        <p14:creationId xmlns="" xmlns:p14="http://schemas.microsoft.com/office/powerpoint/2010/main" val="39871046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5F9A83F-A5E4-4F0F-8C1D-9317159E9F08}"/>
              </a:ext>
            </a:extLst>
          </p:cNvPr>
          <p:cNvSpPr>
            <a:spLocks noGrp="1"/>
          </p:cNvSpPr>
          <p:nvPr>
            <p:ph type="title"/>
          </p:nvPr>
        </p:nvSpPr>
        <p:spPr>
          <a:xfrm>
            <a:off x="295913" y="229711"/>
            <a:ext cx="10515600" cy="1325563"/>
          </a:xfrm>
        </p:spPr>
        <p:txBody>
          <a:bodyPr/>
          <a:lstStyle/>
          <a:p>
            <a:r>
              <a:rPr lang="en-US" dirty="0"/>
              <a:t>Popular DBMSs</a:t>
            </a:r>
          </a:p>
        </p:txBody>
      </p:sp>
      <p:pic>
        <p:nvPicPr>
          <p:cNvPr id="5122" name="Picture 2" descr="Oracle Database Enterprise Edition - license - 1 processor at Rs 300000 |  Oracle Software in Pune | ID: 26087861648">
            <a:extLst>
              <a:ext uri="{FF2B5EF4-FFF2-40B4-BE49-F238E27FC236}">
                <a16:creationId xmlns="" xmlns:a16="http://schemas.microsoft.com/office/drawing/2014/main" id="{19DD9B94-A280-42C3-AB9F-60C7B278ABF5}"/>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295913" y="1916271"/>
            <a:ext cx="2143125" cy="2143125"/>
          </a:xfrm>
          <a:prstGeom prst="rect">
            <a:avLst/>
          </a:prstGeom>
          <a:noFill/>
          <a:extLst>
            <a:ext uri="{909E8E84-426E-40DD-AFC4-6F175D3DCCD1}">
              <a14:hiddenFill xmlns="" xmlns:a14="http://schemas.microsoft.com/office/drawing/2010/main">
                <a:solidFill>
                  <a:srgbClr val="FFFFFF"/>
                </a:solidFill>
              </a14:hiddenFill>
            </a:ext>
          </a:extLst>
        </p:spPr>
      </p:pic>
      <p:pic>
        <p:nvPicPr>
          <p:cNvPr id="5124" name="Picture 4" descr="What Is MySQL? A Beginner-Friendly Explanation">
            <a:extLst>
              <a:ext uri="{FF2B5EF4-FFF2-40B4-BE49-F238E27FC236}">
                <a16:creationId xmlns="" xmlns:a16="http://schemas.microsoft.com/office/drawing/2014/main" id="{56E09825-9D0A-47F8-B920-6D5D791511AE}"/>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956560" y="1209357"/>
            <a:ext cx="2590800" cy="1762125"/>
          </a:xfrm>
          <a:prstGeom prst="rect">
            <a:avLst/>
          </a:prstGeom>
          <a:noFill/>
          <a:extLst>
            <a:ext uri="{909E8E84-426E-40DD-AFC4-6F175D3DCCD1}">
              <a14:hiddenFill xmlns="" xmlns:a14="http://schemas.microsoft.com/office/drawing/2010/main">
                <a:solidFill>
                  <a:srgbClr val="FFFFFF"/>
                </a:solidFill>
              </a14:hiddenFill>
            </a:ext>
          </a:extLst>
        </p:spPr>
      </p:pic>
      <p:pic>
        <p:nvPicPr>
          <p:cNvPr id="5126" name="Picture 6" descr="Microsoft SQL Server 2022 Standard Core - 2 Core Pack | IOTAP Online India">
            <a:extLst>
              <a:ext uri="{FF2B5EF4-FFF2-40B4-BE49-F238E27FC236}">
                <a16:creationId xmlns="" xmlns:a16="http://schemas.microsoft.com/office/drawing/2014/main" id="{D8976A91-6CD9-407A-9D5C-B39C97227963}"/>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2851785" y="2973227"/>
            <a:ext cx="2133600" cy="2133600"/>
          </a:xfrm>
          <a:prstGeom prst="rect">
            <a:avLst/>
          </a:prstGeom>
          <a:noFill/>
          <a:extLst>
            <a:ext uri="{909E8E84-426E-40DD-AFC4-6F175D3DCCD1}">
              <a14:hiddenFill xmlns="" xmlns:a14="http://schemas.microsoft.com/office/drawing/2010/main">
                <a:solidFill>
                  <a:srgbClr val="FFFFFF"/>
                </a:solidFill>
              </a14:hiddenFill>
            </a:ext>
          </a:extLst>
        </p:spPr>
      </p:pic>
      <p:pic>
        <p:nvPicPr>
          <p:cNvPr id="5128" name="Picture 8" descr="Getting Started With PostgreSQL. There are numerous different types of… |  by Alex Mitrani | Medium">
            <a:extLst>
              <a:ext uri="{FF2B5EF4-FFF2-40B4-BE49-F238E27FC236}">
                <a16:creationId xmlns="" xmlns:a16="http://schemas.microsoft.com/office/drawing/2014/main" id="{36A71715-8657-43D1-8DB9-048B5EB535CA}"/>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6850059" y="1687434"/>
            <a:ext cx="3162300" cy="1447800"/>
          </a:xfrm>
          <a:prstGeom prst="rect">
            <a:avLst/>
          </a:prstGeom>
          <a:noFill/>
          <a:extLst>
            <a:ext uri="{909E8E84-426E-40DD-AFC4-6F175D3DCCD1}">
              <a14:hiddenFill xmlns="" xmlns:a14="http://schemas.microsoft.com/office/drawing/2010/main">
                <a:solidFill>
                  <a:srgbClr val="FFFFFF"/>
                </a:solidFill>
              </a14:hiddenFill>
            </a:ext>
          </a:extLst>
        </p:spPr>
      </p:pic>
      <p:pic>
        <p:nvPicPr>
          <p:cNvPr id="5130" name="Picture 10" descr="File:MongoDB Logo.svg - Wikipedia">
            <a:extLst>
              <a:ext uri="{FF2B5EF4-FFF2-40B4-BE49-F238E27FC236}">
                <a16:creationId xmlns="" xmlns:a16="http://schemas.microsoft.com/office/drawing/2014/main" id="{EA933535-E961-4A31-B638-A5124DEA8414}"/>
              </a:ext>
            </a:extLst>
          </p:cNvPr>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7822562" y="5135562"/>
            <a:ext cx="4124325" cy="1104900"/>
          </a:xfrm>
          <a:prstGeom prst="rect">
            <a:avLst/>
          </a:prstGeom>
          <a:noFill/>
          <a:extLst>
            <a:ext uri="{909E8E84-426E-40DD-AFC4-6F175D3DCCD1}">
              <a14:hiddenFill xmlns="" xmlns:a14="http://schemas.microsoft.com/office/drawing/2010/main">
                <a:solidFill>
                  <a:srgbClr val="FFFFFF"/>
                </a:solidFill>
              </a14:hiddenFill>
            </a:ext>
          </a:extLst>
        </p:spPr>
      </p:pic>
      <p:pic>
        <p:nvPicPr>
          <p:cNvPr id="5132" name="Picture 12" descr="Redis - Wikipedia">
            <a:extLst>
              <a:ext uri="{FF2B5EF4-FFF2-40B4-BE49-F238E27FC236}">
                <a16:creationId xmlns="" xmlns:a16="http://schemas.microsoft.com/office/drawing/2014/main" id="{652A6891-F665-45C7-9EBF-CA1B53AD9E5D}"/>
              </a:ext>
            </a:extLst>
          </p:cNvPr>
          <p:cNvPicPr>
            <a:picLocks noChangeAspect="1" noChangeArrowheads="1"/>
          </p:cNvPicPr>
          <p:nvPr/>
        </p:nvPicPr>
        <p:blipFill>
          <a:blip r:embed="rId7">
            <a:extLst>
              <a:ext uri="{28A0092B-C50C-407E-A947-70E740481C1C}">
                <a14:useLocalDpi xmlns="" xmlns:a14="http://schemas.microsoft.com/office/drawing/2010/main" val="0"/>
              </a:ext>
            </a:extLst>
          </a:blip>
          <a:srcRect/>
          <a:stretch>
            <a:fillRect/>
          </a:stretch>
        </p:blipFill>
        <p:spPr bwMode="auto">
          <a:xfrm>
            <a:off x="636905" y="4965382"/>
            <a:ext cx="3705225" cy="1238250"/>
          </a:xfrm>
          <a:prstGeom prst="rect">
            <a:avLst/>
          </a:prstGeom>
          <a:noFill/>
          <a:extLst>
            <a:ext uri="{909E8E84-426E-40DD-AFC4-6F175D3DCCD1}">
              <a14:hiddenFill xmlns="" xmlns:a14="http://schemas.microsoft.com/office/drawing/2010/main">
                <a:solidFill>
                  <a:srgbClr val="FFFFFF"/>
                </a:solidFill>
              </a14:hiddenFill>
            </a:ext>
          </a:extLst>
        </p:spPr>
      </p:pic>
      <p:pic>
        <p:nvPicPr>
          <p:cNvPr id="5134" name="Picture 14" descr="DB2 Monitoring and Performance Management with Instana | IBM">
            <a:extLst>
              <a:ext uri="{FF2B5EF4-FFF2-40B4-BE49-F238E27FC236}">
                <a16:creationId xmlns="" xmlns:a16="http://schemas.microsoft.com/office/drawing/2014/main" id="{93372EE6-CA11-4B38-BFDD-90C4723B36CB}"/>
              </a:ext>
            </a:extLst>
          </p:cNvPr>
          <p:cNvPicPr>
            <a:picLocks noChangeAspect="1" noChangeArrowheads="1"/>
          </p:cNvPicPr>
          <p:nvPr/>
        </p:nvPicPr>
        <p:blipFill>
          <a:blip r:embed="rId8">
            <a:extLst>
              <a:ext uri="{28A0092B-C50C-407E-A947-70E740481C1C}">
                <a14:useLocalDpi xmlns="" xmlns:a14="http://schemas.microsoft.com/office/drawing/2010/main" val="0"/>
              </a:ext>
            </a:extLst>
          </a:blip>
          <a:srcRect/>
          <a:stretch>
            <a:fillRect/>
          </a:stretch>
        </p:blipFill>
        <p:spPr bwMode="auto">
          <a:xfrm>
            <a:off x="4965061" y="3095466"/>
            <a:ext cx="2857500" cy="1600200"/>
          </a:xfrm>
          <a:prstGeom prst="rect">
            <a:avLst/>
          </a:prstGeom>
          <a:noFill/>
          <a:extLst>
            <a:ext uri="{909E8E84-426E-40DD-AFC4-6F175D3DCCD1}">
              <a14:hiddenFill xmlns="" xmlns:a14="http://schemas.microsoft.com/office/drawing/2010/main">
                <a:solidFill>
                  <a:srgbClr val="FFFFFF"/>
                </a:solidFill>
              </a14:hiddenFill>
            </a:ext>
          </a:extLst>
        </p:spPr>
      </p:pic>
      <p:pic>
        <p:nvPicPr>
          <p:cNvPr id="5136" name="Picture 16" descr="What is ElasticSearch? Why ElasticSearch? Advantages of ElasticSearch! | by  AIMDek Technologies | Medium">
            <a:extLst>
              <a:ext uri="{FF2B5EF4-FFF2-40B4-BE49-F238E27FC236}">
                <a16:creationId xmlns="" xmlns:a16="http://schemas.microsoft.com/office/drawing/2014/main" id="{2EDA42B8-D4D5-4E68-8CFA-01822DEEC100}"/>
              </a:ext>
            </a:extLst>
          </p:cNvPr>
          <p:cNvPicPr>
            <a:picLocks noChangeAspect="1" noChangeArrowheads="1"/>
          </p:cNvPicPr>
          <p:nvPr/>
        </p:nvPicPr>
        <p:blipFill>
          <a:blip r:embed="rId9">
            <a:extLst>
              <a:ext uri="{28A0092B-C50C-407E-A947-70E740481C1C}">
                <a14:useLocalDpi xmlns="" xmlns:a14="http://schemas.microsoft.com/office/drawing/2010/main" val="0"/>
              </a:ext>
            </a:extLst>
          </a:blip>
          <a:srcRect/>
          <a:stretch>
            <a:fillRect/>
          </a:stretch>
        </p:blipFill>
        <p:spPr bwMode="auto">
          <a:xfrm>
            <a:off x="4342130" y="4817905"/>
            <a:ext cx="3038475" cy="1504950"/>
          </a:xfrm>
          <a:prstGeom prst="rect">
            <a:avLst/>
          </a:prstGeom>
          <a:noFill/>
          <a:extLst>
            <a:ext uri="{909E8E84-426E-40DD-AFC4-6F175D3DCCD1}">
              <a14:hiddenFill xmlns="" xmlns:a14="http://schemas.microsoft.com/office/drawing/2010/main">
                <a:solidFill>
                  <a:srgbClr val="FFFFFF"/>
                </a:solidFill>
              </a14:hiddenFill>
            </a:ext>
          </a:extLst>
        </p:spPr>
      </p:pic>
      <p:pic>
        <p:nvPicPr>
          <p:cNvPr id="5138" name="Picture 18" descr="File:SQLite370.svg - Wikipedia">
            <a:extLst>
              <a:ext uri="{FF2B5EF4-FFF2-40B4-BE49-F238E27FC236}">
                <a16:creationId xmlns="" xmlns:a16="http://schemas.microsoft.com/office/drawing/2014/main" id="{B830C3F9-D151-42AA-911F-572E92F29344}"/>
              </a:ext>
            </a:extLst>
          </p:cNvPr>
          <p:cNvPicPr>
            <a:picLocks noChangeAspect="1" noChangeArrowheads="1"/>
          </p:cNvPicPr>
          <p:nvPr/>
        </p:nvPicPr>
        <p:blipFill>
          <a:blip r:embed="rId10">
            <a:extLst>
              <a:ext uri="{28A0092B-C50C-407E-A947-70E740481C1C}">
                <a14:useLocalDpi xmlns="" xmlns:a14="http://schemas.microsoft.com/office/drawing/2010/main" val="0"/>
              </a:ext>
            </a:extLst>
          </a:blip>
          <a:srcRect/>
          <a:stretch>
            <a:fillRect/>
          </a:stretch>
        </p:blipFill>
        <p:spPr bwMode="auto">
          <a:xfrm>
            <a:off x="8248650" y="3239296"/>
            <a:ext cx="3105150" cy="146685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7327082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0E1525-9F01-4377-ADF5-416E1AB256FD}"/>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 xmlns:a16="http://schemas.microsoft.com/office/drawing/2014/main" id="{7CDE6B77-6383-4BC3-B27A-B1ECD9B91BAC}"/>
              </a:ext>
            </a:extLst>
          </p:cNvPr>
          <p:cNvSpPr>
            <a:spLocks noGrp="1"/>
          </p:cNvSpPr>
          <p:nvPr>
            <p:ph idx="1"/>
          </p:nvPr>
        </p:nvSpPr>
        <p:spPr/>
        <p:txBody>
          <a:bodyPr>
            <a:normAutofit fontScale="85000" lnSpcReduction="10000"/>
          </a:bodyPr>
          <a:lstStyle/>
          <a:p>
            <a:r>
              <a:rPr lang="en-US" dirty="0"/>
              <a:t>Implicit properties: </a:t>
            </a:r>
          </a:p>
          <a:p>
            <a:pPr lvl="1"/>
            <a:r>
              <a:rPr lang="en-US" dirty="0"/>
              <a:t>A database represents some aspect of the real world, sometimes called the </a:t>
            </a:r>
            <a:r>
              <a:rPr lang="en-US" dirty="0" err="1"/>
              <a:t>miniworld</a:t>
            </a:r>
            <a:r>
              <a:rPr lang="en-US" dirty="0"/>
              <a:t> or the universe of discourse (</a:t>
            </a:r>
            <a:r>
              <a:rPr lang="en-US" dirty="0" err="1"/>
              <a:t>UoD</a:t>
            </a:r>
            <a:r>
              <a:rPr lang="en-US" dirty="0"/>
              <a:t>). Changes to the </a:t>
            </a:r>
            <a:r>
              <a:rPr lang="en-US" dirty="0" err="1"/>
              <a:t>miniworld</a:t>
            </a:r>
            <a:r>
              <a:rPr lang="en-US" dirty="0"/>
              <a:t> are reflected in the database. </a:t>
            </a:r>
          </a:p>
          <a:p>
            <a:pPr lvl="1"/>
            <a:r>
              <a:rPr lang="en-US" dirty="0"/>
              <a:t>A database is a logically coherent collection of data with some inherent meaning. A random assortment of data cannot correctly be referred to as a database. </a:t>
            </a:r>
          </a:p>
          <a:p>
            <a:pPr lvl="1"/>
            <a:r>
              <a:rPr lang="en-US" dirty="0"/>
              <a:t>A database is designed, built, and populated with data for a specific purpose. It has an intended group of users and some preconceived applications in which these users are interested.</a:t>
            </a:r>
          </a:p>
        </p:txBody>
      </p:sp>
    </p:spTree>
    <p:extLst>
      <p:ext uri="{BB962C8B-B14F-4D97-AF65-F5344CB8AC3E}">
        <p14:creationId xmlns="" xmlns:p14="http://schemas.microsoft.com/office/powerpoint/2010/main" val="39695484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7B3D63-1432-47C8-AB3E-F82561B3535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 xmlns:a16="http://schemas.microsoft.com/office/drawing/2014/main" id="{856B20A1-7D76-40E4-A2C8-61E8CD7CB17D}"/>
              </a:ext>
            </a:extLst>
          </p:cNvPr>
          <p:cNvSpPr>
            <a:spLocks noGrp="1"/>
          </p:cNvSpPr>
          <p:nvPr>
            <p:ph idx="1"/>
          </p:nvPr>
        </p:nvSpPr>
        <p:spPr/>
        <p:txBody>
          <a:bodyPr/>
          <a:lstStyle/>
          <a:p>
            <a:r>
              <a:rPr lang="en-US" dirty="0"/>
              <a:t>A database can be of any size and complexity.</a:t>
            </a:r>
          </a:p>
          <a:p>
            <a:r>
              <a:rPr lang="en-US" dirty="0"/>
              <a:t>A database may be generated and maintained manually or it may be computerized. </a:t>
            </a:r>
          </a:p>
          <a:p>
            <a:r>
              <a:rPr lang="en-US" b="1" dirty="0"/>
              <a:t>Defining</a:t>
            </a:r>
            <a:r>
              <a:rPr lang="en-US" dirty="0"/>
              <a:t> a database involves specifying the data types, structures, and constraints of the data to be stored in the database. </a:t>
            </a:r>
          </a:p>
          <a:p>
            <a:endParaRPr lang="en-US" dirty="0"/>
          </a:p>
        </p:txBody>
      </p:sp>
    </p:spTree>
    <p:extLst>
      <p:ext uri="{BB962C8B-B14F-4D97-AF65-F5344CB8AC3E}">
        <p14:creationId xmlns="" xmlns:p14="http://schemas.microsoft.com/office/powerpoint/2010/main" val="10133757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7B3D63-1432-47C8-AB3E-F82561B3535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 xmlns:a16="http://schemas.microsoft.com/office/drawing/2014/main" id="{856B20A1-7D76-40E4-A2C8-61E8CD7CB17D}"/>
              </a:ext>
            </a:extLst>
          </p:cNvPr>
          <p:cNvSpPr>
            <a:spLocks noGrp="1"/>
          </p:cNvSpPr>
          <p:nvPr>
            <p:ph idx="1"/>
          </p:nvPr>
        </p:nvSpPr>
        <p:spPr/>
        <p:txBody>
          <a:bodyPr>
            <a:normAutofit fontScale="85000" lnSpcReduction="20000"/>
          </a:bodyPr>
          <a:lstStyle/>
          <a:p>
            <a:r>
              <a:rPr lang="en-US" dirty="0"/>
              <a:t>The </a:t>
            </a:r>
            <a:r>
              <a:rPr lang="en-US" b="1" dirty="0"/>
              <a:t>DBMS</a:t>
            </a:r>
            <a:r>
              <a:rPr lang="en-US" dirty="0"/>
              <a:t> is a general-purpose software system that facilitates the processes of defining, constructing, manipulating, and sharing databases among various users and applications.</a:t>
            </a:r>
          </a:p>
          <a:p>
            <a:r>
              <a:rPr lang="en-US" dirty="0"/>
              <a:t>The database definition or descriptive information is also stored by the DBMS in the form of a database catalog or dictionary; it is called </a:t>
            </a:r>
            <a:r>
              <a:rPr lang="en-US" b="1" dirty="0"/>
              <a:t>meta-data. </a:t>
            </a:r>
          </a:p>
          <a:p>
            <a:r>
              <a:rPr lang="en-US" b="1" dirty="0"/>
              <a:t>Constructing</a:t>
            </a:r>
            <a:r>
              <a:rPr lang="en-US" dirty="0"/>
              <a:t> the database is the process of storing the data on some storage medium that is controlled by the DBMS. </a:t>
            </a:r>
          </a:p>
        </p:txBody>
      </p:sp>
    </p:spTree>
    <p:extLst>
      <p:ext uri="{BB962C8B-B14F-4D97-AF65-F5344CB8AC3E}">
        <p14:creationId xmlns="" xmlns:p14="http://schemas.microsoft.com/office/powerpoint/2010/main" val="10187625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7B3D63-1432-47C8-AB3E-F82561B3535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 xmlns:a16="http://schemas.microsoft.com/office/drawing/2014/main" id="{856B20A1-7D76-40E4-A2C8-61E8CD7CB17D}"/>
              </a:ext>
            </a:extLst>
          </p:cNvPr>
          <p:cNvSpPr>
            <a:spLocks noGrp="1"/>
          </p:cNvSpPr>
          <p:nvPr>
            <p:ph idx="1"/>
          </p:nvPr>
        </p:nvSpPr>
        <p:spPr/>
        <p:txBody>
          <a:bodyPr>
            <a:normAutofit fontScale="70000" lnSpcReduction="20000"/>
          </a:bodyPr>
          <a:lstStyle/>
          <a:p>
            <a:r>
              <a:rPr lang="en-US" b="1" dirty="0"/>
              <a:t>Manipulating</a:t>
            </a:r>
            <a:r>
              <a:rPr lang="en-US" dirty="0"/>
              <a:t> a database includes functions such as querying the database to retrieve specific data, updating the database to reflect changes in the </a:t>
            </a:r>
            <a:r>
              <a:rPr lang="en-US" dirty="0" err="1"/>
              <a:t>miniworld</a:t>
            </a:r>
            <a:r>
              <a:rPr lang="en-US" dirty="0"/>
              <a:t>, and generating reports from the data.</a:t>
            </a:r>
          </a:p>
          <a:p>
            <a:r>
              <a:rPr lang="en-US" b="1" dirty="0"/>
              <a:t>Sharing</a:t>
            </a:r>
            <a:r>
              <a:rPr lang="en-US" dirty="0"/>
              <a:t> a database allows multiple users and programs to access the database simultaneously.</a:t>
            </a:r>
          </a:p>
          <a:p>
            <a:r>
              <a:rPr lang="en-US" dirty="0"/>
              <a:t>An </a:t>
            </a:r>
            <a:r>
              <a:rPr lang="en-US" b="1" dirty="0"/>
              <a:t>application program </a:t>
            </a:r>
            <a:r>
              <a:rPr lang="en-US" dirty="0"/>
              <a:t>accesses the database by sending queries or requests for data to the DBMS. </a:t>
            </a:r>
          </a:p>
          <a:p>
            <a:r>
              <a:rPr lang="en-US" dirty="0"/>
              <a:t>A </a:t>
            </a:r>
            <a:r>
              <a:rPr lang="en-US" b="1" dirty="0"/>
              <a:t>query</a:t>
            </a:r>
            <a:r>
              <a:rPr lang="en-US" dirty="0"/>
              <a:t> typically causes some data to be retrieved; a </a:t>
            </a:r>
            <a:r>
              <a:rPr lang="en-US" b="1" dirty="0"/>
              <a:t>transaction</a:t>
            </a:r>
            <a:r>
              <a:rPr lang="en-US" dirty="0"/>
              <a:t> may cause some data to be read and some data to be written into the database.</a:t>
            </a:r>
          </a:p>
        </p:txBody>
      </p:sp>
    </p:spTree>
    <p:extLst>
      <p:ext uri="{BB962C8B-B14F-4D97-AF65-F5344CB8AC3E}">
        <p14:creationId xmlns="" xmlns:p14="http://schemas.microsoft.com/office/powerpoint/2010/main" val="36501113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7B3D63-1432-47C8-AB3E-F82561B3535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 xmlns:a16="http://schemas.microsoft.com/office/drawing/2014/main" id="{856B20A1-7D76-40E4-A2C8-61E8CD7CB17D}"/>
              </a:ext>
            </a:extLst>
          </p:cNvPr>
          <p:cNvSpPr>
            <a:spLocks noGrp="1"/>
          </p:cNvSpPr>
          <p:nvPr>
            <p:ph idx="1"/>
          </p:nvPr>
        </p:nvSpPr>
        <p:spPr>
          <a:xfrm>
            <a:off x="838200" y="1444573"/>
            <a:ext cx="10515600" cy="4351338"/>
          </a:xfrm>
        </p:spPr>
        <p:txBody>
          <a:bodyPr/>
          <a:lstStyle/>
          <a:p>
            <a:r>
              <a:rPr lang="en-US" dirty="0"/>
              <a:t>A simplified database system environment.</a:t>
            </a:r>
          </a:p>
        </p:txBody>
      </p:sp>
      <p:pic>
        <p:nvPicPr>
          <p:cNvPr id="4" name="Picture 3">
            <a:extLst>
              <a:ext uri="{FF2B5EF4-FFF2-40B4-BE49-F238E27FC236}">
                <a16:creationId xmlns="" xmlns:a16="http://schemas.microsoft.com/office/drawing/2014/main" id="{A13AA3F7-ED70-40C9-9BCD-7224FA7454B6}"/>
              </a:ext>
            </a:extLst>
          </p:cNvPr>
          <p:cNvPicPr>
            <a:picLocks noChangeAspect="1"/>
          </p:cNvPicPr>
          <p:nvPr/>
        </p:nvPicPr>
        <p:blipFill>
          <a:blip r:embed="rId2"/>
          <a:stretch>
            <a:fillRect/>
          </a:stretch>
        </p:blipFill>
        <p:spPr>
          <a:xfrm>
            <a:off x="3779202" y="2133600"/>
            <a:ext cx="4024960" cy="4580572"/>
          </a:xfrm>
          <a:prstGeom prst="rect">
            <a:avLst/>
          </a:prstGeom>
        </p:spPr>
      </p:pic>
    </p:spTree>
    <p:extLst>
      <p:ext uri="{BB962C8B-B14F-4D97-AF65-F5344CB8AC3E}">
        <p14:creationId xmlns="" xmlns:p14="http://schemas.microsoft.com/office/powerpoint/2010/main" val="2485137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7B3D63-1432-47C8-AB3E-F82561B3535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 xmlns:a16="http://schemas.microsoft.com/office/drawing/2014/main" id="{856B20A1-7D76-40E4-A2C8-61E8CD7CB17D}"/>
              </a:ext>
            </a:extLst>
          </p:cNvPr>
          <p:cNvSpPr>
            <a:spLocks noGrp="1"/>
          </p:cNvSpPr>
          <p:nvPr>
            <p:ph idx="1"/>
          </p:nvPr>
        </p:nvSpPr>
        <p:spPr/>
        <p:txBody>
          <a:bodyPr>
            <a:normAutofit fontScale="77500" lnSpcReduction="20000"/>
          </a:bodyPr>
          <a:lstStyle/>
          <a:p>
            <a:pPr>
              <a:lnSpc>
                <a:spcPct val="160000"/>
              </a:lnSpc>
            </a:pPr>
            <a:r>
              <a:rPr lang="en-US" dirty="0"/>
              <a:t>Additional</a:t>
            </a:r>
            <a:r>
              <a:rPr lang="en-US" spc="-50" dirty="0"/>
              <a:t> </a:t>
            </a:r>
            <a:r>
              <a:rPr lang="en-US" dirty="0"/>
              <a:t>DBMS</a:t>
            </a:r>
            <a:r>
              <a:rPr lang="en-US" spc="-15" dirty="0"/>
              <a:t> </a:t>
            </a:r>
            <a:r>
              <a:rPr lang="en-US" spc="-10" dirty="0"/>
              <a:t>Functionality</a:t>
            </a:r>
          </a:p>
          <a:p>
            <a:pPr marL="469900" indent="-457200">
              <a:lnSpc>
                <a:spcPct val="160000"/>
              </a:lnSpc>
              <a:spcBef>
                <a:spcPts val="775"/>
              </a:spcBef>
              <a:buSzPct val="58928"/>
              <a:tabLst>
                <a:tab pos="354965" algn="l"/>
              </a:tabLst>
            </a:pPr>
            <a:r>
              <a:rPr lang="en-US" dirty="0"/>
              <a:t>DBMS</a:t>
            </a:r>
            <a:r>
              <a:rPr lang="en-US" spc="-95" dirty="0"/>
              <a:t> </a:t>
            </a:r>
            <a:r>
              <a:rPr lang="en-US" dirty="0"/>
              <a:t>may</a:t>
            </a:r>
            <a:r>
              <a:rPr lang="en-US" spc="-95" dirty="0"/>
              <a:t> </a:t>
            </a:r>
            <a:r>
              <a:rPr lang="en-US" dirty="0"/>
              <a:t>additionally</a:t>
            </a:r>
            <a:r>
              <a:rPr lang="en-US" spc="-95" dirty="0"/>
              <a:t> </a:t>
            </a:r>
            <a:r>
              <a:rPr lang="en-US" spc="-10" dirty="0"/>
              <a:t>provide:</a:t>
            </a:r>
          </a:p>
          <a:p>
            <a:pPr marL="926465" marR="1143000" lvl="1" indent="-457200">
              <a:lnSpc>
                <a:spcPct val="160000"/>
              </a:lnSpc>
              <a:spcBef>
                <a:spcPts val="635"/>
              </a:spcBef>
              <a:buSzPct val="53846"/>
              <a:tabLst>
                <a:tab pos="756285" algn="l"/>
              </a:tabLst>
            </a:pPr>
            <a:r>
              <a:rPr lang="en-US" sz="2600" dirty="0">
                <a:latin typeface="Arial MT"/>
                <a:cs typeface="Arial MT"/>
              </a:rPr>
              <a:t>Protection</a:t>
            </a:r>
            <a:r>
              <a:rPr lang="en-US" sz="2600" spc="-20" dirty="0">
                <a:latin typeface="Arial MT"/>
                <a:cs typeface="Arial MT"/>
              </a:rPr>
              <a:t> </a:t>
            </a:r>
            <a:r>
              <a:rPr lang="en-US" sz="2600" dirty="0">
                <a:latin typeface="Arial MT"/>
                <a:cs typeface="Arial MT"/>
              </a:rPr>
              <a:t>or</a:t>
            </a:r>
            <a:r>
              <a:rPr lang="en-US" sz="2600" spc="-15" dirty="0">
                <a:latin typeface="Arial MT"/>
                <a:cs typeface="Arial MT"/>
              </a:rPr>
              <a:t> </a:t>
            </a:r>
            <a:r>
              <a:rPr lang="en-US" sz="2600" dirty="0">
                <a:latin typeface="Arial MT"/>
                <a:cs typeface="Arial MT"/>
              </a:rPr>
              <a:t>Security</a:t>
            </a:r>
            <a:r>
              <a:rPr lang="en-US" sz="2600" spc="-40" dirty="0">
                <a:latin typeface="Arial MT"/>
                <a:cs typeface="Arial MT"/>
              </a:rPr>
              <a:t> </a:t>
            </a:r>
            <a:r>
              <a:rPr lang="en-US" sz="2600" dirty="0">
                <a:latin typeface="Arial MT"/>
                <a:cs typeface="Arial MT"/>
              </a:rPr>
              <a:t>measures</a:t>
            </a:r>
            <a:r>
              <a:rPr lang="en-US" sz="2600" spc="-35" dirty="0">
                <a:latin typeface="Arial MT"/>
                <a:cs typeface="Arial MT"/>
              </a:rPr>
              <a:t> </a:t>
            </a:r>
            <a:r>
              <a:rPr lang="en-US" sz="2600" dirty="0">
                <a:latin typeface="Arial MT"/>
                <a:cs typeface="Arial MT"/>
              </a:rPr>
              <a:t>to</a:t>
            </a:r>
            <a:r>
              <a:rPr lang="en-US" sz="2600" spc="-10" dirty="0">
                <a:latin typeface="Arial MT"/>
                <a:cs typeface="Arial MT"/>
              </a:rPr>
              <a:t> prevent </a:t>
            </a:r>
            <a:r>
              <a:rPr lang="en-US" sz="2600" dirty="0">
                <a:latin typeface="Arial MT"/>
                <a:cs typeface="Arial MT"/>
              </a:rPr>
              <a:t>unauthorized</a:t>
            </a:r>
            <a:r>
              <a:rPr lang="en-US" sz="2600" spc="-125" dirty="0">
                <a:latin typeface="Arial MT"/>
                <a:cs typeface="Arial MT"/>
              </a:rPr>
              <a:t> </a:t>
            </a:r>
            <a:r>
              <a:rPr lang="en-US" sz="2600" spc="-10" dirty="0">
                <a:latin typeface="Arial MT"/>
                <a:cs typeface="Arial MT"/>
              </a:rPr>
              <a:t>access</a:t>
            </a:r>
            <a:endParaRPr lang="en-US" sz="2600" dirty="0">
              <a:latin typeface="Arial MT"/>
              <a:cs typeface="Arial MT"/>
            </a:endParaRPr>
          </a:p>
          <a:p>
            <a:pPr marL="927100" lvl="1" indent="-457200">
              <a:lnSpc>
                <a:spcPct val="160000"/>
              </a:lnSpc>
              <a:spcBef>
                <a:spcPts val="625"/>
              </a:spcBef>
              <a:buSzPct val="53846"/>
              <a:tabLst>
                <a:tab pos="756285" algn="l"/>
              </a:tabLst>
            </a:pPr>
            <a:r>
              <a:rPr lang="en-US" sz="2600" dirty="0">
                <a:latin typeface="Arial MT"/>
                <a:cs typeface="Arial MT"/>
              </a:rPr>
              <a:t>“Active”</a:t>
            </a:r>
            <a:r>
              <a:rPr lang="en-US" sz="2600" spc="-50" dirty="0">
                <a:latin typeface="Arial MT"/>
                <a:cs typeface="Arial MT"/>
              </a:rPr>
              <a:t> </a:t>
            </a:r>
            <a:r>
              <a:rPr lang="en-US" sz="2600" dirty="0">
                <a:latin typeface="Arial MT"/>
                <a:cs typeface="Arial MT"/>
              </a:rPr>
              <a:t>processing</a:t>
            </a:r>
            <a:r>
              <a:rPr lang="en-US" sz="2600" spc="-60" dirty="0">
                <a:latin typeface="Arial MT"/>
                <a:cs typeface="Arial MT"/>
              </a:rPr>
              <a:t> </a:t>
            </a:r>
            <a:r>
              <a:rPr lang="en-US" sz="2600" dirty="0">
                <a:latin typeface="Arial MT"/>
                <a:cs typeface="Arial MT"/>
              </a:rPr>
              <a:t>to</a:t>
            </a:r>
            <a:r>
              <a:rPr lang="en-US" sz="2600" spc="-25" dirty="0">
                <a:latin typeface="Arial MT"/>
                <a:cs typeface="Arial MT"/>
              </a:rPr>
              <a:t> </a:t>
            </a:r>
            <a:r>
              <a:rPr lang="en-US" sz="2600" dirty="0">
                <a:latin typeface="Arial MT"/>
                <a:cs typeface="Arial MT"/>
              </a:rPr>
              <a:t>take</a:t>
            </a:r>
            <a:r>
              <a:rPr lang="en-US" sz="2600" spc="-20" dirty="0">
                <a:latin typeface="Arial MT"/>
                <a:cs typeface="Arial MT"/>
              </a:rPr>
              <a:t> </a:t>
            </a:r>
            <a:r>
              <a:rPr lang="en-US" sz="2600" dirty="0">
                <a:latin typeface="Arial MT"/>
                <a:cs typeface="Arial MT"/>
              </a:rPr>
              <a:t>internal</a:t>
            </a:r>
            <a:r>
              <a:rPr lang="en-US" sz="2600" spc="-25" dirty="0">
                <a:latin typeface="Arial MT"/>
                <a:cs typeface="Arial MT"/>
              </a:rPr>
              <a:t> </a:t>
            </a:r>
            <a:r>
              <a:rPr lang="en-US" sz="2600" dirty="0">
                <a:latin typeface="Arial MT"/>
                <a:cs typeface="Arial MT"/>
              </a:rPr>
              <a:t>actions</a:t>
            </a:r>
            <a:r>
              <a:rPr lang="en-US" sz="2600" spc="-50" dirty="0">
                <a:latin typeface="Arial MT"/>
                <a:cs typeface="Arial MT"/>
              </a:rPr>
              <a:t> </a:t>
            </a:r>
            <a:r>
              <a:rPr lang="en-US" sz="2600" dirty="0">
                <a:latin typeface="Arial MT"/>
                <a:cs typeface="Arial MT"/>
              </a:rPr>
              <a:t>on</a:t>
            </a:r>
            <a:r>
              <a:rPr lang="en-US" sz="2600" spc="-15" dirty="0">
                <a:latin typeface="Arial MT"/>
                <a:cs typeface="Arial MT"/>
              </a:rPr>
              <a:t> </a:t>
            </a:r>
            <a:r>
              <a:rPr lang="en-US" sz="2600" spc="-20" dirty="0">
                <a:latin typeface="Arial MT"/>
                <a:cs typeface="Arial MT"/>
              </a:rPr>
              <a:t>data</a:t>
            </a:r>
            <a:endParaRPr lang="en-US" sz="2600" dirty="0">
              <a:latin typeface="Arial MT"/>
              <a:cs typeface="Arial MT"/>
            </a:endParaRPr>
          </a:p>
          <a:p>
            <a:pPr marL="927100" lvl="1" indent="-457200">
              <a:lnSpc>
                <a:spcPct val="160000"/>
              </a:lnSpc>
              <a:spcBef>
                <a:spcPts val="625"/>
              </a:spcBef>
              <a:buSzPct val="53846"/>
              <a:tabLst>
                <a:tab pos="756285" algn="l"/>
              </a:tabLst>
            </a:pPr>
            <a:r>
              <a:rPr lang="en-US" sz="2600" dirty="0">
                <a:latin typeface="Arial MT"/>
                <a:cs typeface="Arial MT"/>
              </a:rPr>
              <a:t>Presentation</a:t>
            </a:r>
            <a:r>
              <a:rPr lang="en-US" sz="2600" spc="-70" dirty="0">
                <a:latin typeface="Arial MT"/>
                <a:cs typeface="Arial MT"/>
              </a:rPr>
              <a:t> </a:t>
            </a:r>
            <a:r>
              <a:rPr lang="en-US" sz="2600" dirty="0">
                <a:latin typeface="Arial MT"/>
                <a:cs typeface="Arial MT"/>
              </a:rPr>
              <a:t>and</a:t>
            </a:r>
            <a:r>
              <a:rPr lang="en-US" sz="2600" spc="-40" dirty="0">
                <a:latin typeface="Arial MT"/>
                <a:cs typeface="Arial MT"/>
              </a:rPr>
              <a:t> </a:t>
            </a:r>
            <a:r>
              <a:rPr lang="en-US" sz="2600" dirty="0">
                <a:latin typeface="Arial MT"/>
                <a:cs typeface="Arial MT"/>
              </a:rPr>
              <a:t>Visualization</a:t>
            </a:r>
            <a:r>
              <a:rPr lang="en-US" sz="2600" spc="-70" dirty="0">
                <a:latin typeface="Arial MT"/>
                <a:cs typeface="Arial MT"/>
              </a:rPr>
              <a:t> </a:t>
            </a:r>
            <a:r>
              <a:rPr lang="en-US" sz="2600" dirty="0">
                <a:latin typeface="Arial MT"/>
                <a:cs typeface="Arial MT"/>
              </a:rPr>
              <a:t>of</a:t>
            </a:r>
            <a:r>
              <a:rPr lang="en-US" sz="2600" spc="-50" dirty="0">
                <a:latin typeface="Arial MT"/>
                <a:cs typeface="Arial MT"/>
              </a:rPr>
              <a:t> </a:t>
            </a:r>
            <a:r>
              <a:rPr lang="en-US" sz="2600" spc="-20" dirty="0">
                <a:latin typeface="Arial MT"/>
                <a:cs typeface="Arial MT"/>
              </a:rPr>
              <a:t>data</a:t>
            </a:r>
            <a:endParaRPr lang="en-US" sz="2600" dirty="0">
              <a:latin typeface="Arial MT"/>
              <a:cs typeface="Arial MT"/>
            </a:endParaRPr>
          </a:p>
          <a:p>
            <a:pPr marL="926465" marR="825500" lvl="1" indent="-457200">
              <a:lnSpc>
                <a:spcPct val="160000"/>
              </a:lnSpc>
              <a:spcBef>
                <a:spcPts val="625"/>
              </a:spcBef>
              <a:buSzPct val="53846"/>
              <a:tabLst>
                <a:tab pos="756285" algn="l"/>
              </a:tabLst>
            </a:pPr>
            <a:r>
              <a:rPr lang="en-US" sz="2600" dirty="0">
                <a:latin typeface="Arial MT"/>
                <a:cs typeface="Arial MT"/>
              </a:rPr>
              <a:t>Maintenance</a:t>
            </a:r>
            <a:r>
              <a:rPr lang="en-US" sz="2600" spc="-85" dirty="0">
                <a:latin typeface="Arial MT"/>
                <a:cs typeface="Arial MT"/>
              </a:rPr>
              <a:t> </a:t>
            </a:r>
            <a:r>
              <a:rPr lang="en-US" sz="2600" dirty="0">
                <a:latin typeface="Arial MT"/>
                <a:cs typeface="Arial MT"/>
              </a:rPr>
              <a:t>of</a:t>
            </a:r>
            <a:r>
              <a:rPr lang="en-US" sz="2600" spc="-60" dirty="0">
                <a:latin typeface="Arial MT"/>
                <a:cs typeface="Arial MT"/>
              </a:rPr>
              <a:t> </a:t>
            </a:r>
            <a:r>
              <a:rPr lang="en-US" sz="2600" dirty="0">
                <a:latin typeface="Arial MT"/>
                <a:cs typeface="Arial MT"/>
              </a:rPr>
              <a:t>the</a:t>
            </a:r>
            <a:r>
              <a:rPr lang="en-US" sz="2600" spc="-60" dirty="0">
                <a:latin typeface="Arial MT"/>
                <a:cs typeface="Arial MT"/>
              </a:rPr>
              <a:t> </a:t>
            </a:r>
            <a:r>
              <a:rPr lang="en-US" sz="2600" dirty="0">
                <a:latin typeface="Arial MT"/>
                <a:cs typeface="Arial MT"/>
              </a:rPr>
              <a:t>database</a:t>
            </a:r>
            <a:r>
              <a:rPr lang="en-US" sz="2600" spc="-70" dirty="0">
                <a:latin typeface="Arial MT"/>
                <a:cs typeface="Arial MT"/>
              </a:rPr>
              <a:t> </a:t>
            </a:r>
            <a:r>
              <a:rPr lang="en-US" sz="2600" dirty="0">
                <a:latin typeface="Arial MT"/>
                <a:cs typeface="Arial MT"/>
              </a:rPr>
              <a:t>and</a:t>
            </a:r>
            <a:r>
              <a:rPr lang="en-US" sz="2600" spc="-65" dirty="0">
                <a:latin typeface="Arial MT"/>
                <a:cs typeface="Arial MT"/>
              </a:rPr>
              <a:t> </a:t>
            </a:r>
            <a:r>
              <a:rPr lang="en-US" sz="2600" spc="-10" dirty="0">
                <a:latin typeface="Arial MT"/>
                <a:cs typeface="Arial MT"/>
              </a:rPr>
              <a:t>associated </a:t>
            </a:r>
            <a:r>
              <a:rPr lang="en-US" sz="2600" dirty="0">
                <a:latin typeface="Arial MT"/>
                <a:cs typeface="Arial MT"/>
              </a:rPr>
              <a:t>programs</a:t>
            </a:r>
            <a:r>
              <a:rPr lang="en-US" sz="2600" spc="-55" dirty="0">
                <a:latin typeface="Arial MT"/>
                <a:cs typeface="Arial MT"/>
              </a:rPr>
              <a:t> </a:t>
            </a:r>
            <a:r>
              <a:rPr lang="en-US" sz="2600" dirty="0">
                <a:latin typeface="Arial MT"/>
                <a:cs typeface="Arial MT"/>
              </a:rPr>
              <a:t>over</a:t>
            </a:r>
            <a:r>
              <a:rPr lang="en-US" sz="2600" spc="-50" dirty="0">
                <a:latin typeface="Arial MT"/>
                <a:cs typeface="Arial MT"/>
              </a:rPr>
              <a:t> </a:t>
            </a:r>
            <a:r>
              <a:rPr lang="en-US" sz="2600" dirty="0">
                <a:latin typeface="Arial MT"/>
                <a:cs typeface="Arial MT"/>
              </a:rPr>
              <a:t>the</a:t>
            </a:r>
            <a:r>
              <a:rPr lang="en-US" sz="2600" spc="-20" dirty="0">
                <a:latin typeface="Arial MT"/>
                <a:cs typeface="Arial MT"/>
              </a:rPr>
              <a:t> </a:t>
            </a:r>
            <a:r>
              <a:rPr lang="en-US" sz="2600" dirty="0">
                <a:latin typeface="Arial MT"/>
                <a:cs typeface="Arial MT"/>
              </a:rPr>
              <a:t>lifetime</a:t>
            </a:r>
            <a:r>
              <a:rPr lang="en-US" sz="2600" spc="-35" dirty="0">
                <a:latin typeface="Arial MT"/>
                <a:cs typeface="Arial MT"/>
              </a:rPr>
              <a:t> </a:t>
            </a:r>
            <a:r>
              <a:rPr lang="en-US" sz="2600" dirty="0">
                <a:latin typeface="Arial MT"/>
                <a:cs typeface="Arial MT"/>
              </a:rPr>
              <a:t>of</a:t>
            </a:r>
            <a:r>
              <a:rPr lang="en-US" sz="2600" spc="-35" dirty="0">
                <a:latin typeface="Arial MT"/>
                <a:cs typeface="Arial MT"/>
              </a:rPr>
              <a:t> </a:t>
            </a:r>
            <a:r>
              <a:rPr lang="en-US" sz="2600" dirty="0">
                <a:latin typeface="Arial MT"/>
                <a:cs typeface="Arial MT"/>
              </a:rPr>
              <a:t>the</a:t>
            </a:r>
            <a:r>
              <a:rPr lang="en-US" sz="2600" spc="-30" dirty="0">
                <a:latin typeface="Arial MT"/>
                <a:cs typeface="Arial MT"/>
              </a:rPr>
              <a:t> </a:t>
            </a:r>
            <a:r>
              <a:rPr lang="en-US" sz="2600" spc="-10" dirty="0">
                <a:latin typeface="Arial MT"/>
                <a:cs typeface="Arial MT"/>
              </a:rPr>
              <a:t>database application</a:t>
            </a:r>
            <a:endParaRPr lang="en-US" sz="2600" dirty="0">
              <a:latin typeface="Arial MT"/>
              <a:cs typeface="Arial MT"/>
            </a:endParaRPr>
          </a:p>
          <a:p>
            <a:pPr marL="1269365" marR="1757045" lvl="2" indent="-342900">
              <a:lnSpc>
                <a:spcPct val="160000"/>
              </a:lnSpc>
              <a:spcBef>
                <a:spcPts val="585"/>
              </a:spcBef>
              <a:buSzPct val="50000"/>
              <a:tabLst>
                <a:tab pos="1155700" algn="l"/>
              </a:tabLst>
            </a:pPr>
            <a:r>
              <a:rPr lang="en-US" sz="2400" dirty="0">
                <a:latin typeface="Arial MT"/>
                <a:cs typeface="Arial MT"/>
              </a:rPr>
              <a:t>Called</a:t>
            </a:r>
            <a:r>
              <a:rPr lang="en-US" sz="2400" spc="-60" dirty="0">
                <a:latin typeface="Arial MT"/>
                <a:cs typeface="Arial MT"/>
              </a:rPr>
              <a:t> </a:t>
            </a:r>
            <a:r>
              <a:rPr lang="en-US" sz="2400" dirty="0">
                <a:latin typeface="Arial MT"/>
                <a:cs typeface="Arial MT"/>
              </a:rPr>
              <a:t>database,</a:t>
            </a:r>
            <a:r>
              <a:rPr lang="en-US" sz="2400" spc="-80" dirty="0">
                <a:latin typeface="Arial MT"/>
                <a:cs typeface="Arial MT"/>
              </a:rPr>
              <a:t> </a:t>
            </a:r>
            <a:r>
              <a:rPr lang="en-US" sz="2400" dirty="0">
                <a:latin typeface="Arial MT"/>
                <a:cs typeface="Arial MT"/>
              </a:rPr>
              <a:t>software,</a:t>
            </a:r>
            <a:r>
              <a:rPr lang="en-US" sz="2400" spc="-80" dirty="0">
                <a:latin typeface="Arial MT"/>
                <a:cs typeface="Arial MT"/>
              </a:rPr>
              <a:t> </a:t>
            </a:r>
            <a:r>
              <a:rPr lang="en-US" sz="2400" dirty="0">
                <a:latin typeface="Arial MT"/>
                <a:cs typeface="Arial MT"/>
              </a:rPr>
              <a:t>and</a:t>
            </a:r>
            <a:r>
              <a:rPr lang="en-US" sz="2400" spc="-80" dirty="0">
                <a:latin typeface="Arial MT"/>
                <a:cs typeface="Arial MT"/>
              </a:rPr>
              <a:t> </a:t>
            </a:r>
            <a:r>
              <a:rPr lang="en-US" sz="2400" spc="-10" dirty="0">
                <a:latin typeface="Arial MT"/>
                <a:cs typeface="Arial MT"/>
              </a:rPr>
              <a:t>system maintenance</a:t>
            </a:r>
            <a:endParaRPr lang="en-US" sz="2400" dirty="0">
              <a:latin typeface="Arial MT"/>
              <a:cs typeface="Arial MT"/>
            </a:endParaRPr>
          </a:p>
          <a:p>
            <a:pPr>
              <a:lnSpc>
                <a:spcPct val="160000"/>
              </a:lnSpc>
            </a:pPr>
            <a:endParaRPr lang="en-US" dirty="0"/>
          </a:p>
        </p:txBody>
      </p:sp>
    </p:spTree>
    <p:extLst>
      <p:ext uri="{BB962C8B-B14F-4D97-AF65-F5344CB8AC3E}">
        <p14:creationId xmlns="" xmlns:p14="http://schemas.microsoft.com/office/powerpoint/2010/main" val="3463870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92C44B-CDF4-4FCF-AC59-4F50EFB0F272}"/>
              </a:ext>
            </a:extLst>
          </p:cNvPr>
          <p:cNvSpPr>
            <a:spLocks noGrp="1"/>
          </p:cNvSpPr>
          <p:nvPr>
            <p:ph type="title"/>
          </p:nvPr>
        </p:nvSpPr>
        <p:spPr>
          <a:xfrm>
            <a:off x="838200" y="294005"/>
            <a:ext cx="10515600" cy="1325563"/>
          </a:xfrm>
        </p:spPr>
        <p:txBody>
          <a:bodyPr/>
          <a:lstStyle/>
          <a:p>
            <a:r>
              <a:rPr lang="en-US" dirty="0"/>
              <a:t>Example</a:t>
            </a:r>
          </a:p>
        </p:txBody>
      </p:sp>
      <p:sp>
        <p:nvSpPr>
          <p:cNvPr id="3" name="Content Placeholder 2">
            <a:extLst>
              <a:ext uri="{FF2B5EF4-FFF2-40B4-BE49-F238E27FC236}">
                <a16:creationId xmlns="" xmlns:a16="http://schemas.microsoft.com/office/drawing/2014/main" id="{1D331247-AC4D-4B4B-B2B2-C1DCC9585452}"/>
              </a:ext>
            </a:extLst>
          </p:cNvPr>
          <p:cNvSpPr>
            <a:spLocks noGrp="1"/>
          </p:cNvSpPr>
          <p:nvPr>
            <p:ph idx="1"/>
          </p:nvPr>
        </p:nvSpPr>
        <p:spPr/>
        <p:txBody>
          <a:bodyPr>
            <a:normAutofit fontScale="85000" lnSpcReduction="20000"/>
          </a:bodyPr>
          <a:lstStyle/>
          <a:p>
            <a:pPr marL="469900" indent="-457200">
              <a:spcBef>
                <a:spcPts val="775"/>
              </a:spcBef>
              <a:buSzPct val="58928"/>
              <a:tabLst>
                <a:tab pos="354965" algn="l"/>
              </a:tabLst>
            </a:pPr>
            <a:r>
              <a:rPr lang="en-US" b="1" spc="-20" dirty="0">
                <a:cs typeface="Arial"/>
              </a:rPr>
              <a:t>Mini-</a:t>
            </a:r>
            <a:r>
              <a:rPr lang="en-US" b="1" dirty="0">
                <a:cs typeface="Arial"/>
              </a:rPr>
              <a:t>world</a:t>
            </a:r>
            <a:r>
              <a:rPr lang="en-US" b="1" spc="-35" dirty="0">
                <a:cs typeface="Arial"/>
              </a:rPr>
              <a:t> </a:t>
            </a:r>
            <a:r>
              <a:rPr lang="en-US" b="1" dirty="0">
                <a:cs typeface="Arial"/>
              </a:rPr>
              <a:t>for</a:t>
            </a:r>
            <a:r>
              <a:rPr lang="en-US" b="1" spc="-45" dirty="0">
                <a:cs typeface="Arial"/>
              </a:rPr>
              <a:t> </a:t>
            </a:r>
            <a:r>
              <a:rPr lang="en-US" b="1" dirty="0">
                <a:cs typeface="Arial"/>
              </a:rPr>
              <a:t>the</a:t>
            </a:r>
            <a:r>
              <a:rPr lang="en-US" b="1" spc="-25" dirty="0">
                <a:cs typeface="Arial"/>
              </a:rPr>
              <a:t> </a:t>
            </a:r>
            <a:r>
              <a:rPr lang="en-US" b="1" spc="-10" dirty="0">
                <a:cs typeface="Arial"/>
              </a:rPr>
              <a:t>example:</a:t>
            </a:r>
            <a:endParaRPr lang="en-US" dirty="0">
              <a:cs typeface="Arial"/>
            </a:endParaRPr>
          </a:p>
          <a:p>
            <a:pPr marL="927100" lvl="1" indent="-457200">
              <a:spcBef>
                <a:spcPts val="635"/>
              </a:spcBef>
              <a:buSzPct val="53846"/>
              <a:tabLst>
                <a:tab pos="756285" algn="l"/>
              </a:tabLst>
            </a:pPr>
            <a:r>
              <a:rPr lang="en-US" sz="2600" dirty="0">
                <a:latin typeface="Arial MT"/>
                <a:cs typeface="Arial MT"/>
              </a:rPr>
              <a:t>Part</a:t>
            </a:r>
            <a:r>
              <a:rPr lang="en-US" sz="2600" spc="-10" dirty="0">
                <a:latin typeface="Arial MT"/>
                <a:cs typeface="Arial MT"/>
              </a:rPr>
              <a:t> </a:t>
            </a:r>
            <a:r>
              <a:rPr lang="en-US" sz="2600" dirty="0">
                <a:latin typeface="Arial MT"/>
                <a:cs typeface="Arial MT"/>
              </a:rPr>
              <a:t>of</a:t>
            </a:r>
            <a:r>
              <a:rPr lang="en-US" sz="2600" spc="-10" dirty="0">
                <a:latin typeface="Arial MT"/>
                <a:cs typeface="Arial MT"/>
              </a:rPr>
              <a:t> </a:t>
            </a:r>
            <a:r>
              <a:rPr lang="en-US" sz="2600" dirty="0">
                <a:latin typeface="Arial MT"/>
                <a:cs typeface="Arial MT"/>
              </a:rPr>
              <a:t>a UNIVERSITY</a:t>
            </a:r>
            <a:r>
              <a:rPr lang="en-US" sz="2600" spc="-30" dirty="0">
                <a:latin typeface="Arial MT"/>
                <a:cs typeface="Arial MT"/>
              </a:rPr>
              <a:t> </a:t>
            </a:r>
            <a:r>
              <a:rPr lang="en-US" sz="2600" spc="-10" dirty="0">
                <a:latin typeface="Arial MT"/>
                <a:cs typeface="Arial MT"/>
              </a:rPr>
              <a:t>environment.</a:t>
            </a:r>
            <a:endParaRPr lang="en-US" sz="2600" dirty="0">
              <a:latin typeface="Arial MT"/>
              <a:cs typeface="Arial MT"/>
            </a:endParaRPr>
          </a:p>
          <a:p>
            <a:pPr marL="469900" indent="-457200">
              <a:spcBef>
                <a:spcPts val="665"/>
              </a:spcBef>
              <a:buSzPct val="58928"/>
              <a:tabLst>
                <a:tab pos="354965" algn="l"/>
              </a:tabLst>
            </a:pPr>
            <a:r>
              <a:rPr lang="en-US" b="1" dirty="0">
                <a:cs typeface="Arial"/>
              </a:rPr>
              <a:t>Some</a:t>
            </a:r>
            <a:r>
              <a:rPr lang="en-US" b="1" spc="-55" dirty="0">
                <a:cs typeface="Arial"/>
              </a:rPr>
              <a:t> </a:t>
            </a:r>
            <a:r>
              <a:rPr lang="en-US" b="1" spc="-20" dirty="0">
                <a:cs typeface="Arial"/>
              </a:rPr>
              <a:t>mini-</a:t>
            </a:r>
            <a:r>
              <a:rPr lang="en-US" b="1" dirty="0">
                <a:cs typeface="Arial"/>
              </a:rPr>
              <a:t>world</a:t>
            </a:r>
            <a:r>
              <a:rPr lang="en-US" b="1" spc="-60" dirty="0">
                <a:cs typeface="Arial"/>
              </a:rPr>
              <a:t> </a:t>
            </a:r>
            <a:r>
              <a:rPr lang="en-US" b="1" i="1" spc="-10" dirty="0">
                <a:cs typeface="Arial"/>
              </a:rPr>
              <a:t>entities</a:t>
            </a:r>
            <a:r>
              <a:rPr lang="en-US" b="1" spc="-10" dirty="0">
                <a:cs typeface="Arial"/>
              </a:rPr>
              <a:t>:</a:t>
            </a:r>
            <a:endParaRPr lang="en-US" dirty="0">
              <a:cs typeface="Arial"/>
            </a:endParaRPr>
          </a:p>
          <a:p>
            <a:pPr marL="927100" lvl="1" indent="-457200">
              <a:spcBef>
                <a:spcPts val="630"/>
              </a:spcBef>
              <a:buSzPct val="53846"/>
              <a:tabLst>
                <a:tab pos="756285" algn="l"/>
              </a:tabLst>
            </a:pPr>
            <a:r>
              <a:rPr lang="en-US" sz="2600" spc="-10" dirty="0">
                <a:latin typeface="Arial MT"/>
                <a:cs typeface="Arial MT"/>
              </a:rPr>
              <a:t>STUDENTs</a:t>
            </a:r>
            <a:endParaRPr lang="en-US" sz="2600" dirty="0">
              <a:latin typeface="Arial MT"/>
              <a:cs typeface="Arial MT"/>
            </a:endParaRPr>
          </a:p>
          <a:p>
            <a:pPr marL="927100" lvl="1" indent="-457200">
              <a:spcBef>
                <a:spcPts val="625"/>
              </a:spcBef>
              <a:buSzPct val="53846"/>
              <a:tabLst>
                <a:tab pos="756285" algn="l"/>
              </a:tabLst>
            </a:pPr>
            <a:r>
              <a:rPr lang="en-US" sz="2600" spc="-10" dirty="0">
                <a:latin typeface="Arial MT"/>
                <a:cs typeface="Arial MT"/>
              </a:rPr>
              <a:t>COURSEs</a:t>
            </a:r>
            <a:endParaRPr lang="en-US" sz="2600" dirty="0">
              <a:latin typeface="Arial MT"/>
              <a:cs typeface="Arial MT"/>
            </a:endParaRPr>
          </a:p>
          <a:p>
            <a:pPr marL="927100" lvl="1" indent="-457200">
              <a:spcBef>
                <a:spcPts val="625"/>
              </a:spcBef>
              <a:buSzPct val="53846"/>
              <a:tabLst>
                <a:tab pos="756285" algn="l"/>
              </a:tabLst>
            </a:pPr>
            <a:r>
              <a:rPr lang="en-US" sz="2600" dirty="0">
                <a:latin typeface="Arial MT"/>
                <a:cs typeface="Arial MT"/>
              </a:rPr>
              <a:t>SECTIONs</a:t>
            </a:r>
            <a:r>
              <a:rPr lang="en-US" sz="2600" spc="-30" dirty="0">
                <a:latin typeface="Arial MT"/>
                <a:cs typeface="Arial MT"/>
              </a:rPr>
              <a:t> </a:t>
            </a:r>
            <a:r>
              <a:rPr lang="en-US" sz="2600" dirty="0">
                <a:latin typeface="Arial MT"/>
                <a:cs typeface="Arial MT"/>
              </a:rPr>
              <a:t>(of</a:t>
            </a:r>
            <a:r>
              <a:rPr lang="en-US" sz="2600" spc="5" dirty="0">
                <a:latin typeface="Arial MT"/>
                <a:cs typeface="Arial MT"/>
              </a:rPr>
              <a:t> </a:t>
            </a:r>
            <a:r>
              <a:rPr lang="en-US" sz="2600" spc="-10" dirty="0">
                <a:latin typeface="Arial MT"/>
                <a:cs typeface="Arial MT"/>
              </a:rPr>
              <a:t>COURSEs)</a:t>
            </a:r>
            <a:endParaRPr lang="en-US" sz="2600" dirty="0">
              <a:latin typeface="Arial MT"/>
              <a:cs typeface="Arial MT"/>
            </a:endParaRPr>
          </a:p>
          <a:p>
            <a:pPr marL="927100" lvl="1" indent="-457200">
              <a:spcBef>
                <a:spcPts val="625"/>
              </a:spcBef>
              <a:buSzPct val="53846"/>
              <a:tabLst>
                <a:tab pos="756285" algn="l"/>
              </a:tabLst>
            </a:pPr>
            <a:r>
              <a:rPr lang="en-US" sz="2600" dirty="0">
                <a:latin typeface="Arial MT"/>
                <a:cs typeface="Arial MT"/>
              </a:rPr>
              <a:t>(academic)</a:t>
            </a:r>
            <a:r>
              <a:rPr lang="en-US" sz="2600" spc="-80" dirty="0">
                <a:latin typeface="Arial MT"/>
                <a:cs typeface="Arial MT"/>
              </a:rPr>
              <a:t> </a:t>
            </a:r>
            <a:r>
              <a:rPr lang="en-US" sz="2600" spc="-10" dirty="0">
                <a:latin typeface="Arial MT"/>
                <a:cs typeface="Arial MT"/>
              </a:rPr>
              <a:t>DEPARTMENTs</a:t>
            </a:r>
            <a:endParaRPr lang="en-US" sz="2600" dirty="0">
              <a:latin typeface="Arial MT"/>
              <a:cs typeface="Arial MT"/>
            </a:endParaRPr>
          </a:p>
          <a:p>
            <a:pPr marL="927100" lvl="1" indent="-457200">
              <a:spcBef>
                <a:spcPts val="625"/>
              </a:spcBef>
              <a:buSzPct val="53846"/>
              <a:tabLst>
                <a:tab pos="756285" algn="l"/>
              </a:tabLst>
            </a:pPr>
            <a:r>
              <a:rPr lang="en-US" sz="2600" spc="-10" dirty="0">
                <a:latin typeface="Arial MT"/>
                <a:cs typeface="Arial MT"/>
              </a:rPr>
              <a:t>INSTRUCTORs</a:t>
            </a:r>
            <a:endParaRPr lang="en-US" dirty="0"/>
          </a:p>
        </p:txBody>
      </p:sp>
    </p:spTree>
    <p:extLst>
      <p:ext uri="{BB962C8B-B14F-4D97-AF65-F5344CB8AC3E}">
        <p14:creationId xmlns="" xmlns:p14="http://schemas.microsoft.com/office/powerpoint/2010/main" val="16525960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92C44B-CDF4-4FCF-AC59-4F50EFB0F27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 xmlns:a16="http://schemas.microsoft.com/office/drawing/2014/main" id="{1D331247-AC4D-4B4B-B2B2-C1DCC9585452}"/>
              </a:ext>
            </a:extLst>
          </p:cNvPr>
          <p:cNvSpPr>
            <a:spLocks noGrp="1"/>
          </p:cNvSpPr>
          <p:nvPr>
            <p:ph idx="1"/>
          </p:nvPr>
        </p:nvSpPr>
        <p:spPr/>
        <p:txBody>
          <a:bodyPr>
            <a:normAutofit/>
          </a:bodyPr>
          <a:lstStyle/>
          <a:p>
            <a:pPr marL="355600" indent="-342900">
              <a:spcBef>
                <a:spcPts val="680"/>
              </a:spcBef>
              <a:buSzPct val="60416"/>
              <a:tabLst>
                <a:tab pos="354965" algn="l"/>
              </a:tabLst>
            </a:pPr>
            <a:r>
              <a:rPr lang="en-US" sz="2400" b="1" dirty="0">
                <a:cs typeface="Arial"/>
              </a:rPr>
              <a:t>Some</a:t>
            </a:r>
            <a:r>
              <a:rPr lang="en-US" sz="2400" b="1" spc="-25" dirty="0">
                <a:cs typeface="Arial"/>
              </a:rPr>
              <a:t> </a:t>
            </a:r>
            <a:r>
              <a:rPr lang="en-US" sz="2400" b="1" spc="-10" dirty="0">
                <a:cs typeface="Arial"/>
              </a:rPr>
              <a:t>mini-</a:t>
            </a:r>
            <a:r>
              <a:rPr lang="en-US" sz="2400" b="1" dirty="0">
                <a:cs typeface="Arial"/>
              </a:rPr>
              <a:t>world</a:t>
            </a:r>
            <a:r>
              <a:rPr lang="en-US" sz="2400" b="1" spc="-50" dirty="0">
                <a:cs typeface="Arial"/>
              </a:rPr>
              <a:t> </a:t>
            </a:r>
            <a:r>
              <a:rPr lang="en-US" sz="2400" b="1" i="1" spc="-10" dirty="0">
                <a:cs typeface="Arial"/>
              </a:rPr>
              <a:t>relationships</a:t>
            </a:r>
            <a:r>
              <a:rPr lang="en-US" sz="2400" b="1" spc="-10" dirty="0">
                <a:cs typeface="Arial"/>
              </a:rPr>
              <a:t>:</a:t>
            </a:r>
            <a:endParaRPr lang="en-US" sz="2400" dirty="0">
              <a:cs typeface="Arial"/>
            </a:endParaRPr>
          </a:p>
          <a:p>
            <a:pPr marL="812800" lvl="1" indent="-342900">
              <a:spcBef>
                <a:spcPts val="525"/>
              </a:spcBef>
              <a:buSzPct val="54545"/>
              <a:tabLst>
                <a:tab pos="756285" algn="l"/>
              </a:tabLst>
            </a:pPr>
            <a:r>
              <a:rPr lang="en-US" sz="2200" dirty="0">
                <a:latin typeface="Arial MT"/>
                <a:cs typeface="Arial MT"/>
              </a:rPr>
              <a:t>SECTIONs</a:t>
            </a:r>
            <a:r>
              <a:rPr lang="en-US" sz="2200" spc="-50" dirty="0">
                <a:latin typeface="Arial MT"/>
                <a:cs typeface="Arial MT"/>
              </a:rPr>
              <a:t> </a:t>
            </a:r>
            <a:r>
              <a:rPr lang="en-US" sz="2200" i="1" dirty="0">
                <a:cs typeface="Arial"/>
              </a:rPr>
              <a:t>are</a:t>
            </a:r>
            <a:r>
              <a:rPr lang="en-US" sz="2200" i="1" spc="-45" dirty="0">
                <a:cs typeface="Arial"/>
              </a:rPr>
              <a:t> </a:t>
            </a:r>
            <a:r>
              <a:rPr lang="en-US" sz="2200" i="1" dirty="0">
                <a:cs typeface="Arial"/>
              </a:rPr>
              <a:t>of</a:t>
            </a:r>
            <a:r>
              <a:rPr lang="en-US" sz="2200" i="1" spc="-65" dirty="0">
                <a:cs typeface="Arial"/>
              </a:rPr>
              <a:t> </a:t>
            </a:r>
            <a:r>
              <a:rPr lang="en-US" sz="2200" i="1" dirty="0">
                <a:cs typeface="Arial"/>
              </a:rPr>
              <a:t>specific</a:t>
            </a:r>
            <a:r>
              <a:rPr lang="en-US" sz="2200" i="1" spc="-50" dirty="0">
                <a:cs typeface="Arial"/>
              </a:rPr>
              <a:t> </a:t>
            </a:r>
            <a:r>
              <a:rPr lang="en-US" sz="2200" spc="-10" dirty="0">
                <a:latin typeface="Arial MT"/>
                <a:cs typeface="Arial MT"/>
              </a:rPr>
              <a:t>COURSEs</a:t>
            </a:r>
            <a:endParaRPr lang="en-US" sz="2200" dirty="0">
              <a:latin typeface="Arial MT"/>
              <a:cs typeface="Arial MT"/>
            </a:endParaRPr>
          </a:p>
          <a:p>
            <a:pPr marL="812800" lvl="1" indent="-342900">
              <a:spcBef>
                <a:spcPts val="530"/>
              </a:spcBef>
              <a:buSzPct val="54545"/>
              <a:tabLst>
                <a:tab pos="756285" algn="l"/>
              </a:tabLst>
            </a:pPr>
            <a:r>
              <a:rPr lang="en-US" sz="2200" dirty="0">
                <a:latin typeface="Arial MT"/>
                <a:cs typeface="Arial MT"/>
              </a:rPr>
              <a:t>STUDENTs</a:t>
            </a:r>
            <a:r>
              <a:rPr lang="en-US" sz="2200" spc="-65" dirty="0">
                <a:latin typeface="Arial MT"/>
                <a:cs typeface="Arial MT"/>
              </a:rPr>
              <a:t> </a:t>
            </a:r>
            <a:r>
              <a:rPr lang="en-US" sz="2200" i="1" dirty="0">
                <a:cs typeface="Arial"/>
              </a:rPr>
              <a:t>take</a:t>
            </a:r>
            <a:r>
              <a:rPr lang="en-US" sz="2200" i="1" spc="-70" dirty="0">
                <a:cs typeface="Arial"/>
              </a:rPr>
              <a:t> </a:t>
            </a:r>
            <a:r>
              <a:rPr lang="en-US" sz="2200" spc="-10" dirty="0">
                <a:latin typeface="Arial MT"/>
                <a:cs typeface="Arial MT"/>
              </a:rPr>
              <a:t>SECTIONs</a:t>
            </a:r>
            <a:endParaRPr lang="en-US" sz="2200" dirty="0">
              <a:latin typeface="Arial MT"/>
              <a:cs typeface="Arial MT"/>
            </a:endParaRPr>
          </a:p>
          <a:p>
            <a:pPr marL="812800" lvl="1" indent="-342900">
              <a:spcBef>
                <a:spcPts val="525"/>
              </a:spcBef>
              <a:buSzPct val="54545"/>
              <a:tabLst>
                <a:tab pos="756285" algn="l"/>
                <a:tab pos="2928620" algn="l"/>
              </a:tabLst>
            </a:pPr>
            <a:r>
              <a:rPr lang="en-US" sz="2200" dirty="0">
                <a:latin typeface="Arial MT"/>
                <a:cs typeface="Arial MT"/>
              </a:rPr>
              <a:t>COURSEs</a:t>
            </a:r>
            <a:r>
              <a:rPr lang="en-US" sz="2200" spc="-45" dirty="0">
                <a:latin typeface="Arial MT"/>
                <a:cs typeface="Arial MT"/>
              </a:rPr>
              <a:t> </a:t>
            </a:r>
            <a:r>
              <a:rPr lang="en-US" sz="2200" i="1" spc="-20" dirty="0">
                <a:cs typeface="Arial"/>
              </a:rPr>
              <a:t>have</a:t>
            </a:r>
            <a:r>
              <a:rPr lang="en-US" sz="2200" i="1" dirty="0">
                <a:cs typeface="Arial"/>
              </a:rPr>
              <a:t>	prerequisite</a:t>
            </a:r>
            <a:r>
              <a:rPr lang="en-US" sz="2200" i="1" spc="-120" dirty="0">
                <a:cs typeface="Arial"/>
              </a:rPr>
              <a:t> </a:t>
            </a:r>
            <a:r>
              <a:rPr lang="en-US" sz="2200" spc="-10" dirty="0">
                <a:latin typeface="Arial MT"/>
                <a:cs typeface="Arial MT"/>
              </a:rPr>
              <a:t>COURSEs</a:t>
            </a:r>
            <a:endParaRPr lang="en-US" sz="2200" dirty="0">
              <a:latin typeface="Arial MT"/>
              <a:cs typeface="Arial MT"/>
            </a:endParaRPr>
          </a:p>
          <a:p>
            <a:pPr marL="812800" lvl="1" indent="-342900">
              <a:spcBef>
                <a:spcPts val="530"/>
              </a:spcBef>
              <a:buSzPct val="54545"/>
              <a:tabLst>
                <a:tab pos="756285" algn="l"/>
                <a:tab pos="3645535" algn="l"/>
              </a:tabLst>
            </a:pPr>
            <a:r>
              <a:rPr lang="en-US" sz="2200" dirty="0">
                <a:latin typeface="Arial MT"/>
                <a:cs typeface="Arial MT"/>
              </a:rPr>
              <a:t>INSTRUCTORs</a:t>
            </a:r>
            <a:r>
              <a:rPr lang="en-US" sz="2200" spc="-150" dirty="0">
                <a:latin typeface="Arial MT"/>
                <a:cs typeface="Arial MT"/>
              </a:rPr>
              <a:t> </a:t>
            </a:r>
            <a:r>
              <a:rPr lang="en-US" sz="2200" i="1" spc="-10" dirty="0">
                <a:cs typeface="Arial"/>
              </a:rPr>
              <a:t>teach</a:t>
            </a:r>
            <a:r>
              <a:rPr lang="en-US" sz="2200" i="1" dirty="0">
                <a:cs typeface="Arial"/>
              </a:rPr>
              <a:t>	</a:t>
            </a:r>
            <a:r>
              <a:rPr lang="en-US" sz="2200" spc="-10" dirty="0">
                <a:latin typeface="Arial MT"/>
                <a:cs typeface="Arial MT"/>
              </a:rPr>
              <a:t>SECTIONs</a:t>
            </a:r>
            <a:endParaRPr lang="en-US" sz="2200" dirty="0">
              <a:latin typeface="Arial MT"/>
              <a:cs typeface="Arial MT"/>
            </a:endParaRPr>
          </a:p>
          <a:p>
            <a:pPr marL="812800" lvl="1" indent="-342900">
              <a:spcBef>
                <a:spcPts val="530"/>
              </a:spcBef>
              <a:buSzPct val="54545"/>
              <a:tabLst>
                <a:tab pos="756285" algn="l"/>
                <a:tab pos="4050029" algn="l"/>
              </a:tabLst>
            </a:pPr>
            <a:r>
              <a:rPr lang="en-US" sz="2200" dirty="0">
                <a:latin typeface="Arial MT"/>
                <a:cs typeface="Arial MT"/>
              </a:rPr>
              <a:t>COURSEs</a:t>
            </a:r>
            <a:r>
              <a:rPr lang="en-US" sz="2200" spc="-50" dirty="0">
                <a:latin typeface="Arial MT"/>
                <a:cs typeface="Arial MT"/>
              </a:rPr>
              <a:t> </a:t>
            </a:r>
            <a:r>
              <a:rPr lang="en-US" sz="2200" i="1" dirty="0">
                <a:cs typeface="Arial"/>
              </a:rPr>
              <a:t>are</a:t>
            </a:r>
            <a:r>
              <a:rPr lang="en-US" sz="2200" i="1" spc="-55" dirty="0">
                <a:cs typeface="Arial"/>
              </a:rPr>
              <a:t> </a:t>
            </a:r>
            <a:r>
              <a:rPr lang="en-US" sz="2200" i="1" dirty="0">
                <a:cs typeface="Arial"/>
              </a:rPr>
              <a:t>offered</a:t>
            </a:r>
            <a:r>
              <a:rPr lang="en-US" sz="2200" i="1" spc="-50" dirty="0">
                <a:cs typeface="Arial"/>
              </a:rPr>
              <a:t> </a:t>
            </a:r>
            <a:r>
              <a:rPr lang="en-US" sz="2200" i="1" spc="-25" dirty="0">
                <a:cs typeface="Arial"/>
              </a:rPr>
              <a:t>by</a:t>
            </a:r>
            <a:r>
              <a:rPr lang="en-US" sz="2200" i="1" dirty="0">
                <a:cs typeface="Arial"/>
              </a:rPr>
              <a:t>	</a:t>
            </a:r>
            <a:r>
              <a:rPr lang="en-US" sz="2200" spc="-10" dirty="0">
                <a:latin typeface="Arial MT"/>
                <a:cs typeface="Arial MT"/>
              </a:rPr>
              <a:t>DEPARTMENTs</a:t>
            </a:r>
            <a:endParaRPr lang="en-US" sz="2200" dirty="0">
              <a:latin typeface="Arial MT"/>
              <a:cs typeface="Arial MT"/>
            </a:endParaRPr>
          </a:p>
          <a:p>
            <a:pPr marL="812800" lvl="1" indent="-342900">
              <a:spcBef>
                <a:spcPts val="530"/>
              </a:spcBef>
              <a:buSzPct val="54545"/>
              <a:tabLst>
                <a:tab pos="756285" algn="l"/>
                <a:tab pos="3444875" algn="l"/>
              </a:tabLst>
            </a:pPr>
            <a:r>
              <a:rPr lang="en-US" sz="2200" dirty="0">
                <a:latin typeface="Arial MT"/>
                <a:cs typeface="Arial MT"/>
              </a:rPr>
              <a:t>STUDENTs</a:t>
            </a:r>
            <a:r>
              <a:rPr lang="en-US" sz="2200" spc="-95" dirty="0">
                <a:latin typeface="Arial MT"/>
                <a:cs typeface="Arial MT"/>
              </a:rPr>
              <a:t> </a:t>
            </a:r>
            <a:r>
              <a:rPr lang="en-US" sz="2200" i="1" dirty="0">
                <a:cs typeface="Arial"/>
              </a:rPr>
              <a:t>major</a:t>
            </a:r>
            <a:r>
              <a:rPr lang="en-US" sz="2200" i="1" spc="-60" dirty="0">
                <a:cs typeface="Arial"/>
              </a:rPr>
              <a:t> </a:t>
            </a:r>
            <a:r>
              <a:rPr lang="en-US" sz="2200" i="1" spc="-25" dirty="0">
                <a:cs typeface="Arial"/>
              </a:rPr>
              <a:t>in</a:t>
            </a:r>
            <a:r>
              <a:rPr lang="en-US" sz="2200" i="1" dirty="0">
                <a:cs typeface="Arial"/>
              </a:rPr>
              <a:t>	</a:t>
            </a:r>
            <a:r>
              <a:rPr lang="en-US" sz="2200" spc="-10" dirty="0">
                <a:latin typeface="Arial MT"/>
                <a:cs typeface="Arial MT"/>
              </a:rPr>
              <a:t>DEPARTMENTs</a:t>
            </a:r>
            <a:endParaRPr lang="en-US" sz="2200" dirty="0">
              <a:latin typeface="Arial MT"/>
              <a:cs typeface="Arial MT"/>
            </a:endParaRPr>
          </a:p>
          <a:p>
            <a:pPr marL="0" indent="0">
              <a:buNone/>
            </a:pPr>
            <a:endParaRPr lang="en-US" dirty="0"/>
          </a:p>
        </p:txBody>
      </p:sp>
    </p:spTree>
    <p:extLst>
      <p:ext uri="{BB962C8B-B14F-4D97-AF65-F5344CB8AC3E}">
        <p14:creationId xmlns="" xmlns:p14="http://schemas.microsoft.com/office/powerpoint/2010/main" val="40259322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92C44B-CDF4-4FCF-AC59-4F50EFB0F272}"/>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 xmlns:a16="http://schemas.microsoft.com/office/drawing/2014/main" id="{BD90F107-C298-4680-8CFF-4ED2CC64DA43}"/>
              </a:ext>
            </a:extLst>
          </p:cNvPr>
          <p:cNvPicPr>
            <a:picLocks noGrp="1" noChangeAspect="1"/>
          </p:cNvPicPr>
          <p:nvPr>
            <p:ph idx="1"/>
          </p:nvPr>
        </p:nvPicPr>
        <p:blipFill>
          <a:blip r:embed="rId2"/>
          <a:stretch>
            <a:fillRect/>
          </a:stretch>
        </p:blipFill>
        <p:spPr>
          <a:xfrm>
            <a:off x="4367570" y="752441"/>
            <a:ext cx="4156669" cy="6009357"/>
          </a:xfrm>
          <a:prstGeom prst="rect">
            <a:avLst/>
          </a:prstGeom>
        </p:spPr>
      </p:pic>
    </p:spTree>
    <p:extLst>
      <p:ext uri="{BB962C8B-B14F-4D97-AF65-F5344CB8AC3E}">
        <p14:creationId xmlns="" xmlns:p14="http://schemas.microsoft.com/office/powerpoint/2010/main" val="26958227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4DF5E7-63FE-4F0F-B3D7-448BDDF7B14A}"/>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0A5DF2CE-3AA1-4341-BF52-4605714D38D5}"/>
              </a:ext>
            </a:extLst>
          </p:cNvPr>
          <p:cNvSpPr>
            <a:spLocks noGrp="1"/>
          </p:cNvSpPr>
          <p:nvPr>
            <p:ph idx="1"/>
          </p:nvPr>
        </p:nvSpPr>
        <p:spPr/>
        <p:txBody>
          <a:bodyPr>
            <a:normAutofit lnSpcReduction="10000"/>
          </a:bodyPr>
          <a:lstStyle/>
          <a:p>
            <a:r>
              <a:rPr lang="en-US" b="1" dirty="0"/>
              <a:t>Which of the following is NOT a key component of a typical DBMS architecture?</a:t>
            </a:r>
            <a:endParaRPr lang="en-US" dirty="0"/>
          </a:p>
          <a:p>
            <a:r>
              <a:rPr lang="en-US" dirty="0"/>
              <a:t>A) Database</a:t>
            </a:r>
          </a:p>
          <a:p>
            <a:r>
              <a:rPr lang="en-US" dirty="0"/>
              <a:t>B) Application Programs</a:t>
            </a:r>
          </a:p>
          <a:p>
            <a:r>
              <a:rPr lang="en-US" dirty="0"/>
              <a:t>C) Computer Hardware</a:t>
            </a:r>
          </a:p>
          <a:p>
            <a:r>
              <a:rPr lang="en-US" dirty="0"/>
              <a:t>D) Users</a:t>
            </a:r>
          </a:p>
          <a:p>
            <a:pPr marL="0" indent="0">
              <a:buNone/>
            </a:pPr>
            <a:endParaRPr lang="en-US" dirty="0"/>
          </a:p>
        </p:txBody>
      </p:sp>
    </p:spTree>
    <p:extLst>
      <p:ext uri="{BB962C8B-B14F-4D97-AF65-F5344CB8AC3E}">
        <p14:creationId xmlns="" xmlns:p14="http://schemas.microsoft.com/office/powerpoint/2010/main" val="42714212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4DF5E7-63FE-4F0F-B3D7-448BDDF7B14A}"/>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0A5DF2CE-3AA1-4341-BF52-4605714D38D5}"/>
              </a:ext>
            </a:extLst>
          </p:cNvPr>
          <p:cNvSpPr>
            <a:spLocks noGrp="1"/>
          </p:cNvSpPr>
          <p:nvPr>
            <p:ph idx="1"/>
          </p:nvPr>
        </p:nvSpPr>
        <p:spPr/>
        <p:txBody>
          <a:bodyPr>
            <a:normAutofit lnSpcReduction="10000"/>
          </a:bodyPr>
          <a:lstStyle/>
          <a:p>
            <a:r>
              <a:rPr lang="en-US" b="1" dirty="0"/>
              <a:t>Which of the following is NOT a key component of a typical DBMS architecture?</a:t>
            </a:r>
            <a:endParaRPr lang="en-US" dirty="0"/>
          </a:p>
          <a:p>
            <a:r>
              <a:rPr lang="en-US" dirty="0"/>
              <a:t>A) Database</a:t>
            </a:r>
          </a:p>
          <a:p>
            <a:r>
              <a:rPr lang="en-US" dirty="0"/>
              <a:t>B) Application Programs</a:t>
            </a:r>
          </a:p>
          <a:p>
            <a:r>
              <a:rPr lang="en-US" dirty="0">
                <a:solidFill>
                  <a:srgbClr val="00B050"/>
                </a:solidFill>
              </a:rPr>
              <a:t>C) Computer Hardware</a:t>
            </a:r>
          </a:p>
          <a:p>
            <a:r>
              <a:rPr lang="en-US" dirty="0"/>
              <a:t>D) Users</a:t>
            </a:r>
          </a:p>
          <a:p>
            <a:pPr marL="0" indent="0">
              <a:buNone/>
            </a:pPr>
            <a:endParaRPr lang="en-US" dirty="0"/>
          </a:p>
        </p:txBody>
      </p:sp>
    </p:spTree>
    <p:extLst>
      <p:ext uri="{BB962C8B-B14F-4D97-AF65-F5344CB8AC3E}">
        <p14:creationId xmlns="" xmlns:p14="http://schemas.microsoft.com/office/powerpoint/2010/main" val="40186576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F33B93-512E-4E18-830C-0A41BC28325A}"/>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2D0601D2-A377-49BF-B4C4-1A721C8704DB}"/>
              </a:ext>
            </a:extLst>
          </p:cNvPr>
          <p:cNvSpPr>
            <a:spLocks noGrp="1"/>
          </p:cNvSpPr>
          <p:nvPr>
            <p:ph idx="1"/>
          </p:nvPr>
        </p:nvSpPr>
        <p:spPr/>
        <p:txBody>
          <a:bodyPr>
            <a:normAutofit fontScale="92500" lnSpcReduction="20000"/>
          </a:bodyPr>
          <a:lstStyle/>
          <a:p>
            <a:r>
              <a:rPr lang="en-US" b="1" dirty="0"/>
              <a:t>What is the role of metadata in a database, and how does it contribute to effective data management?</a:t>
            </a:r>
            <a:endParaRPr lang="en-US" dirty="0"/>
          </a:p>
          <a:p>
            <a:r>
              <a:rPr lang="en-US" dirty="0"/>
              <a:t>A) Metadata is irrelevant to database management.</a:t>
            </a:r>
          </a:p>
          <a:p>
            <a:r>
              <a:rPr lang="en-US" dirty="0"/>
              <a:t>B) Metadata provides security for the database.</a:t>
            </a:r>
          </a:p>
          <a:p>
            <a:r>
              <a:rPr lang="en-US" dirty="0"/>
              <a:t>C) Metadata describes and provides information about data in the database.</a:t>
            </a:r>
          </a:p>
          <a:p>
            <a:r>
              <a:rPr lang="en-US" dirty="0"/>
              <a:t>D) Metadata is primarily used for data encryption.</a:t>
            </a:r>
          </a:p>
          <a:p>
            <a:endParaRPr lang="en-US" dirty="0"/>
          </a:p>
        </p:txBody>
      </p:sp>
    </p:spTree>
    <p:extLst>
      <p:ext uri="{BB962C8B-B14F-4D97-AF65-F5344CB8AC3E}">
        <p14:creationId xmlns="" xmlns:p14="http://schemas.microsoft.com/office/powerpoint/2010/main" val="41283521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F33B93-512E-4E18-830C-0A41BC28325A}"/>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2D0601D2-A377-49BF-B4C4-1A721C8704DB}"/>
              </a:ext>
            </a:extLst>
          </p:cNvPr>
          <p:cNvSpPr>
            <a:spLocks noGrp="1"/>
          </p:cNvSpPr>
          <p:nvPr>
            <p:ph idx="1"/>
          </p:nvPr>
        </p:nvSpPr>
        <p:spPr/>
        <p:txBody>
          <a:bodyPr>
            <a:normAutofit fontScale="92500" lnSpcReduction="20000"/>
          </a:bodyPr>
          <a:lstStyle/>
          <a:p>
            <a:r>
              <a:rPr lang="en-US" b="1" dirty="0"/>
              <a:t>What is the role of metadata in a database, and how does it contribute to effective data management?</a:t>
            </a:r>
            <a:endParaRPr lang="en-US" dirty="0"/>
          </a:p>
          <a:p>
            <a:r>
              <a:rPr lang="en-US" dirty="0"/>
              <a:t>A) Metadata is irrelevant to database management.</a:t>
            </a:r>
          </a:p>
          <a:p>
            <a:r>
              <a:rPr lang="en-US" dirty="0"/>
              <a:t>B) Metadata provides security for the database.</a:t>
            </a:r>
          </a:p>
          <a:p>
            <a:r>
              <a:rPr lang="en-US" dirty="0">
                <a:solidFill>
                  <a:srgbClr val="00B050"/>
                </a:solidFill>
              </a:rPr>
              <a:t>C) Metadata describes and provides information about data in the database.</a:t>
            </a:r>
          </a:p>
          <a:p>
            <a:r>
              <a:rPr lang="en-US" dirty="0"/>
              <a:t>D) Metadata is primarily used for data encryption.</a:t>
            </a:r>
          </a:p>
          <a:p>
            <a:endParaRPr lang="en-US" dirty="0"/>
          </a:p>
        </p:txBody>
      </p:sp>
    </p:spTree>
    <p:extLst>
      <p:ext uri="{BB962C8B-B14F-4D97-AF65-F5344CB8AC3E}">
        <p14:creationId xmlns="" xmlns:p14="http://schemas.microsoft.com/office/powerpoint/2010/main" val="16911389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9D063C-037A-40A5-8E0F-79A113B78763}"/>
              </a:ext>
            </a:extLst>
          </p:cNvPr>
          <p:cNvSpPr>
            <a:spLocks noGrp="1"/>
          </p:cNvSpPr>
          <p:nvPr>
            <p:ph type="title"/>
          </p:nvPr>
        </p:nvSpPr>
        <p:spPr/>
        <p:txBody>
          <a:bodyPr/>
          <a:lstStyle/>
          <a:p>
            <a:r>
              <a:rPr lang="en-US" dirty="0"/>
              <a:t>Characteristics of the Database Approach</a:t>
            </a:r>
          </a:p>
        </p:txBody>
      </p:sp>
      <p:sp>
        <p:nvSpPr>
          <p:cNvPr id="3" name="Content Placeholder 2">
            <a:extLst>
              <a:ext uri="{FF2B5EF4-FFF2-40B4-BE49-F238E27FC236}">
                <a16:creationId xmlns="" xmlns:a16="http://schemas.microsoft.com/office/drawing/2014/main" id="{F96F12C2-FC1F-4EAD-89BE-B492FF2F7F31}"/>
              </a:ext>
            </a:extLst>
          </p:cNvPr>
          <p:cNvSpPr>
            <a:spLocks noGrp="1"/>
          </p:cNvSpPr>
          <p:nvPr>
            <p:ph idx="1"/>
          </p:nvPr>
        </p:nvSpPr>
        <p:spPr/>
        <p:txBody>
          <a:bodyPr>
            <a:normAutofit/>
          </a:bodyPr>
          <a:lstStyle/>
          <a:p>
            <a:r>
              <a:rPr lang="en-US" dirty="0"/>
              <a:t>The main characteristics of the database approach versus the file-processing approach</a:t>
            </a:r>
          </a:p>
          <a:p>
            <a:pPr lvl="1"/>
            <a:r>
              <a:rPr lang="en-US" dirty="0"/>
              <a:t>Self-describing nature of a database system</a:t>
            </a:r>
          </a:p>
          <a:p>
            <a:pPr lvl="1"/>
            <a:r>
              <a:rPr lang="en-US" dirty="0"/>
              <a:t>Insulation between programs and data, and data abstraction</a:t>
            </a:r>
          </a:p>
          <a:p>
            <a:pPr lvl="1"/>
            <a:r>
              <a:rPr lang="en-US" dirty="0"/>
              <a:t>Support of multiple views of the data</a:t>
            </a:r>
          </a:p>
          <a:p>
            <a:pPr lvl="1"/>
            <a:r>
              <a:rPr lang="en-US" dirty="0"/>
              <a:t>Sharing of data and multiuser transaction processing</a:t>
            </a:r>
          </a:p>
        </p:txBody>
      </p:sp>
    </p:spTree>
    <p:extLst>
      <p:ext uri="{BB962C8B-B14F-4D97-AF65-F5344CB8AC3E}">
        <p14:creationId xmlns="" xmlns:p14="http://schemas.microsoft.com/office/powerpoint/2010/main" val="28955985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9D063C-037A-40A5-8E0F-79A113B78763}"/>
              </a:ext>
            </a:extLst>
          </p:cNvPr>
          <p:cNvSpPr>
            <a:spLocks noGrp="1"/>
          </p:cNvSpPr>
          <p:nvPr>
            <p:ph type="title"/>
          </p:nvPr>
        </p:nvSpPr>
        <p:spPr/>
        <p:txBody>
          <a:bodyPr/>
          <a:lstStyle/>
          <a:p>
            <a:r>
              <a:rPr lang="en-US" dirty="0"/>
              <a:t>Characteristics of the Database Approach</a:t>
            </a:r>
          </a:p>
        </p:txBody>
      </p:sp>
      <p:sp>
        <p:nvSpPr>
          <p:cNvPr id="3" name="Content Placeholder 2">
            <a:extLst>
              <a:ext uri="{FF2B5EF4-FFF2-40B4-BE49-F238E27FC236}">
                <a16:creationId xmlns="" xmlns:a16="http://schemas.microsoft.com/office/drawing/2014/main" id="{F96F12C2-FC1F-4EAD-89BE-B492FF2F7F31}"/>
              </a:ext>
            </a:extLst>
          </p:cNvPr>
          <p:cNvSpPr>
            <a:spLocks noGrp="1"/>
          </p:cNvSpPr>
          <p:nvPr>
            <p:ph idx="1"/>
          </p:nvPr>
        </p:nvSpPr>
        <p:spPr/>
        <p:txBody>
          <a:bodyPr>
            <a:normAutofit fontScale="62500" lnSpcReduction="20000"/>
          </a:bodyPr>
          <a:lstStyle/>
          <a:p>
            <a:pPr marL="355600" indent="-342900">
              <a:lnSpc>
                <a:spcPct val="160000"/>
              </a:lnSpc>
              <a:spcBef>
                <a:spcPts val="675"/>
              </a:spcBef>
              <a:buSzPct val="60416"/>
              <a:tabLst>
                <a:tab pos="354965" algn="l"/>
              </a:tabLst>
            </a:pPr>
            <a:r>
              <a:rPr lang="en-US" sz="2400" b="1" spc="-10" dirty="0">
                <a:cs typeface="Arial"/>
              </a:rPr>
              <a:t>Self-</a:t>
            </a:r>
            <a:r>
              <a:rPr lang="en-US" sz="2400" b="1" dirty="0">
                <a:cs typeface="Arial"/>
              </a:rPr>
              <a:t>describing</a:t>
            </a:r>
            <a:r>
              <a:rPr lang="en-US" sz="2400" b="1" spc="-85" dirty="0">
                <a:cs typeface="Arial"/>
              </a:rPr>
              <a:t> </a:t>
            </a:r>
            <a:r>
              <a:rPr lang="en-US" sz="2400" b="1" dirty="0">
                <a:cs typeface="Arial"/>
              </a:rPr>
              <a:t>nature</a:t>
            </a:r>
            <a:r>
              <a:rPr lang="en-US" sz="2400" b="1" spc="-60" dirty="0">
                <a:cs typeface="Arial"/>
              </a:rPr>
              <a:t> </a:t>
            </a:r>
            <a:r>
              <a:rPr lang="en-US" sz="2400" b="1" dirty="0">
                <a:cs typeface="Arial"/>
              </a:rPr>
              <a:t>of</a:t>
            </a:r>
            <a:r>
              <a:rPr lang="en-US" sz="2400" b="1" spc="-75" dirty="0">
                <a:cs typeface="Arial"/>
              </a:rPr>
              <a:t> </a:t>
            </a:r>
            <a:r>
              <a:rPr lang="en-US" sz="2400" b="1" dirty="0">
                <a:cs typeface="Arial"/>
              </a:rPr>
              <a:t>a</a:t>
            </a:r>
            <a:r>
              <a:rPr lang="en-US" sz="2400" b="1" spc="-60" dirty="0">
                <a:cs typeface="Arial"/>
              </a:rPr>
              <a:t> </a:t>
            </a:r>
            <a:r>
              <a:rPr lang="en-US" sz="2400" b="1" dirty="0">
                <a:cs typeface="Arial"/>
              </a:rPr>
              <a:t>database</a:t>
            </a:r>
            <a:r>
              <a:rPr lang="en-US" sz="2400" b="1" spc="-50" dirty="0">
                <a:cs typeface="Arial"/>
              </a:rPr>
              <a:t> </a:t>
            </a:r>
            <a:r>
              <a:rPr lang="en-US" sz="2400" b="1" spc="-10" dirty="0">
                <a:cs typeface="Arial"/>
              </a:rPr>
              <a:t>system:</a:t>
            </a:r>
            <a:endParaRPr lang="en-US" sz="2400" dirty="0">
              <a:cs typeface="Arial"/>
            </a:endParaRPr>
          </a:p>
          <a:p>
            <a:pPr marL="812165" marR="662940" lvl="1" indent="-342900">
              <a:lnSpc>
                <a:spcPct val="160000"/>
              </a:lnSpc>
              <a:spcBef>
                <a:spcPts val="525"/>
              </a:spcBef>
              <a:buSzPct val="54545"/>
              <a:tabLst>
                <a:tab pos="756285" algn="l"/>
              </a:tabLst>
            </a:pPr>
            <a:r>
              <a:rPr lang="en-US" sz="2200" dirty="0">
                <a:latin typeface="Arial MT"/>
                <a:cs typeface="Arial MT"/>
              </a:rPr>
              <a:t>A</a:t>
            </a:r>
            <a:r>
              <a:rPr lang="en-US" sz="2200" spc="-55" dirty="0">
                <a:latin typeface="Arial MT"/>
                <a:cs typeface="Arial MT"/>
              </a:rPr>
              <a:t> </a:t>
            </a:r>
            <a:r>
              <a:rPr lang="en-US" sz="2200" dirty="0">
                <a:latin typeface="Arial MT"/>
                <a:cs typeface="Arial MT"/>
              </a:rPr>
              <a:t>DBMS</a:t>
            </a:r>
            <a:r>
              <a:rPr lang="en-US" sz="2200" spc="-40" dirty="0">
                <a:latin typeface="Arial MT"/>
                <a:cs typeface="Arial MT"/>
              </a:rPr>
              <a:t> </a:t>
            </a:r>
            <a:r>
              <a:rPr lang="en-US" sz="2200" b="1" dirty="0">
                <a:cs typeface="Arial"/>
              </a:rPr>
              <a:t>catalog</a:t>
            </a:r>
            <a:r>
              <a:rPr lang="en-US" sz="2200" b="1" spc="-20" dirty="0">
                <a:cs typeface="Arial"/>
              </a:rPr>
              <a:t> </a:t>
            </a:r>
            <a:r>
              <a:rPr lang="en-US" sz="2200" dirty="0">
                <a:latin typeface="Arial MT"/>
                <a:cs typeface="Arial MT"/>
              </a:rPr>
              <a:t>stores</a:t>
            </a:r>
            <a:r>
              <a:rPr lang="en-US" sz="2200" spc="-50" dirty="0">
                <a:latin typeface="Arial MT"/>
                <a:cs typeface="Arial MT"/>
              </a:rPr>
              <a:t> </a:t>
            </a:r>
            <a:r>
              <a:rPr lang="en-US" sz="2200" dirty="0">
                <a:latin typeface="Arial MT"/>
                <a:cs typeface="Arial MT"/>
              </a:rPr>
              <a:t>the</a:t>
            </a:r>
            <a:r>
              <a:rPr lang="en-US" sz="2200" spc="-50" dirty="0">
                <a:latin typeface="Arial MT"/>
                <a:cs typeface="Arial MT"/>
              </a:rPr>
              <a:t> </a:t>
            </a:r>
            <a:r>
              <a:rPr lang="en-US" sz="2200" dirty="0">
                <a:latin typeface="Arial MT"/>
                <a:cs typeface="Arial MT"/>
              </a:rPr>
              <a:t>description</a:t>
            </a:r>
            <a:r>
              <a:rPr lang="en-US" sz="2200" spc="-55" dirty="0">
                <a:latin typeface="Arial MT"/>
                <a:cs typeface="Arial MT"/>
              </a:rPr>
              <a:t> </a:t>
            </a:r>
            <a:r>
              <a:rPr lang="en-US" sz="2200" dirty="0">
                <a:latin typeface="Arial MT"/>
                <a:cs typeface="Arial MT"/>
              </a:rPr>
              <a:t>of</a:t>
            </a:r>
            <a:r>
              <a:rPr lang="en-US" sz="2200" spc="-50" dirty="0">
                <a:latin typeface="Arial MT"/>
                <a:cs typeface="Arial MT"/>
              </a:rPr>
              <a:t> </a:t>
            </a:r>
            <a:r>
              <a:rPr lang="en-US" sz="2200" dirty="0">
                <a:latin typeface="Arial MT"/>
                <a:cs typeface="Arial MT"/>
              </a:rPr>
              <a:t>a</a:t>
            </a:r>
            <a:r>
              <a:rPr lang="en-US" sz="2200" spc="-50" dirty="0">
                <a:latin typeface="Arial MT"/>
                <a:cs typeface="Arial MT"/>
              </a:rPr>
              <a:t> </a:t>
            </a:r>
            <a:r>
              <a:rPr lang="en-US" sz="2200" spc="-10" dirty="0">
                <a:latin typeface="Arial MT"/>
                <a:cs typeface="Arial MT"/>
              </a:rPr>
              <a:t>particular </a:t>
            </a:r>
            <a:r>
              <a:rPr lang="en-US" sz="2200" dirty="0">
                <a:latin typeface="Arial MT"/>
                <a:cs typeface="Arial MT"/>
              </a:rPr>
              <a:t>database</a:t>
            </a:r>
            <a:r>
              <a:rPr lang="en-US" sz="2200" spc="-60" dirty="0">
                <a:latin typeface="Arial MT"/>
                <a:cs typeface="Arial MT"/>
              </a:rPr>
              <a:t> </a:t>
            </a:r>
            <a:r>
              <a:rPr lang="en-US" sz="2200" dirty="0">
                <a:latin typeface="Arial MT"/>
                <a:cs typeface="Arial MT"/>
              </a:rPr>
              <a:t>(e.g.</a:t>
            </a:r>
            <a:r>
              <a:rPr lang="en-US" sz="2200" spc="-55" dirty="0">
                <a:latin typeface="Arial MT"/>
                <a:cs typeface="Arial MT"/>
              </a:rPr>
              <a:t> </a:t>
            </a:r>
            <a:r>
              <a:rPr lang="en-US" sz="2200" dirty="0">
                <a:latin typeface="Arial MT"/>
                <a:cs typeface="Arial MT"/>
              </a:rPr>
              <a:t>data</a:t>
            </a:r>
            <a:r>
              <a:rPr lang="en-US" sz="2200" spc="-70" dirty="0">
                <a:latin typeface="Arial MT"/>
                <a:cs typeface="Arial MT"/>
              </a:rPr>
              <a:t> </a:t>
            </a:r>
            <a:r>
              <a:rPr lang="en-US" sz="2200" dirty="0">
                <a:latin typeface="Arial MT"/>
                <a:cs typeface="Arial MT"/>
              </a:rPr>
              <a:t>structures,</a:t>
            </a:r>
            <a:r>
              <a:rPr lang="en-US" sz="2200" spc="-55" dirty="0">
                <a:latin typeface="Arial MT"/>
                <a:cs typeface="Arial MT"/>
              </a:rPr>
              <a:t> </a:t>
            </a:r>
            <a:r>
              <a:rPr lang="en-US" sz="2200" dirty="0">
                <a:latin typeface="Arial MT"/>
                <a:cs typeface="Arial MT"/>
              </a:rPr>
              <a:t>types,</a:t>
            </a:r>
            <a:r>
              <a:rPr lang="en-US" sz="2200" spc="-70" dirty="0">
                <a:latin typeface="Arial MT"/>
                <a:cs typeface="Arial MT"/>
              </a:rPr>
              <a:t> </a:t>
            </a:r>
            <a:r>
              <a:rPr lang="en-US" sz="2200" dirty="0">
                <a:latin typeface="Arial MT"/>
                <a:cs typeface="Arial MT"/>
              </a:rPr>
              <a:t>and</a:t>
            </a:r>
            <a:r>
              <a:rPr lang="en-US" sz="2200" spc="-55" dirty="0">
                <a:latin typeface="Arial MT"/>
                <a:cs typeface="Arial MT"/>
              </a:rPr>
              <a:t> </a:t>
            </a:r>
            <a:r>
              <a:rPr lang="en-US" sz="2200" spc="-10" dirty="0">
                <a:latin typeface="Arial MT"/>
                <a:cs typeface="Arial MT"/>
              </a:rPr>
              <a:t>constraints)</a:t>
            </a:r>
            <a:endParaRPr lang="en-US" sz="2200" dirty="0">
              <a:latin typeface="Arial MT"/>
              <a:cs typeface="Arial MT"/>
            </a:endParaRPr>
          </a:p>
          <a:p>
            <a:pPr marL="812800" lvl="1" indent="-342900">
              <a:lnSpc>
                <a:spcPct val="160000"/>
              </a:lnSpc>
              <a:spcBef>
                <a:spcPts val="530"/>
              </a:spcBef>
              <a:buSzPct val="54545"/>
              <a:tabLst>
                <a:tab pos="756285" algn="l"/>
              </a:tabLst>
            </a:pPr>
            <a:r>
              <a:rPr lang="en-US" sz="2200" dirty="0">
                <a:latin typeface="Arial MT"/>
                <a:cs typeface="Arial MT"/>
              </a:rPr>
              <a:t>The</a:t>
            </a:r>
            <a:r>
              <a:rPr lang="en-US" sz="2200" spc="-30" dirty="0">
                <a:latin typeface="Arial MT"/>
                <a:cs typeface="Arial MT"/>
              </a:rPr>
              <a:t> </a:t>
            </a:r>
            <a:r>
              <a:rPr lang="en-US" sz="2200" dirty="0">
                <a:latin typeface="Arial MT"/>
                <a:cs typeface="Arial MT"/>
              </a:rPr>
              <a:t>description</a:t>
            </a:r>
            <a:r>
              <a:rPr lang="en-US" sz="2200" spc="-55" dirty="0">
                <a:latin typeface="Arial MT"/>
                <a:cs typeface="Arial MT"/>
              </a:rPr>
              <a:t> </a:t>
            </a:r>
            <a:r>
              <a:rPr lang="en-US" sz="2200" dirty="0">
                <a:latin typeface="Arial MT"/>
                <a:cs typeface="Arial MT"/>
              </a:rPr>
              <a:t>is</a:t>
            </a:r>
            <a:r>
              <a:rPr lang="en-US" sz="2200" spc="-40" dirty="0">
                <a:latin typeface="Arial MT"/>
                <a:cs typeface="Arial MT"/>
              </a:rPr>
              <a:t> </a:t>
            </a:r>
            <a:r>
              <a:rPr lang="en-US" sz="2200" dirty="0">
                <a:latin typeface="Arial MT"/>
                <a:cs typeface="Arial MT"/>
              </a:rPr>
              <a:t>called</a:t>
            </a:r>
            <a:r>
              <a:rPr lang="en-US" sz="2200" spc="-35" dirty="0">
                <a:latin typeface="Arial MT"/>
                <a:cs typeface="Arial MT"/>
              </a:rPr>
              <a:t> </a:t>
            </a:r>
            <a:r>
              <a:rPr lang="en-US" sz="2200" b="1" spc="-25" dirty="0">
                <a:cs typeface="Arial"/>
              </a:rPr>
              <a:t>meta-</a:t>
            </a:r>
            <a:r>
              <a:rPr lang="en-US" sz="2200" b="1" spc="-10" dirty="0">
                <a:cs typeface="Arial"/>
              </a:rPr>
              <a:t>data*</a:t>
            </a:r>
            <a:r>
              <a:rPr lang="en-US" sz="2200" spc="-10" dirty="0">
                <a:latin typeface="Arial MT"/>
                <a:cs typeface="Arial MT"/>
              </a:rPr>
              <a:t>.</a:t>
            </a:r>
            <a:endParaRPr lang="en-US" sz="2200" dirty="0">
              <a:latin typeface="Arial MT"/>
              <a:cs typeface="Arial MT"/>
            </a:endParaRPr>
          </a:p>
          <a:p>
            <a:pPr marL="812165" marR="841375" lvl="1" indent="-342900">
              <a:lnSpc>
                <a:spcPct val="160000"/>
              </a:lnSpc>
              <a:spcBef>
                <a:spcPts val="530"/>
              </a:spcBef>
              <a:buSzPct val="54545"/>
              <a:tabLst>
                <a:tab pos="756285" algn="l"/>
              </a:tabLst>
            </a:pPr>
            <a:r>
              <a:rPr lang="en-US" sz="2200" dirty="0">
                <a:latin typeface="Arial MT"/>
                <a:cs typeface="Arial MT"/>
              </a:rPr>
              <a:t>This</a:t>
            </a:r>
            <a:r>
              <a:rPr lang="en-US" sz="2200" spc="-60" dirty="0">
                <a:latin typeface="Arial MT"/>
                <a:cs typeface="Arial MT"/>
              </a:rPr>
              <a:t> </a:t>
            </a:r>
            <a:r>
              <a:rPr lang="en-US" sz="2200" dirty="0">
                <a:latin typeface="Arial MT"/>
                <a:cs typeface="Arial MT"/>
              </a:rPr>
              <a:t>allows</a:t>
            </a:r>
            <a:r>
              <a:rPr lang="en-US" sz="2200" spc="-60" dirty="0">
                <a:latin typeface="Arial MT"/>
                <a:cs typeface="Arial MT"/>
              </a:rPr>
              <a:t> </a:t>
            </a:r>
            <a:r>
              <a:rPr lang="en-US" sz="2200" dirty="0">
                <a:latin typeface="Arial MT"/>
                <a:cs typeface="Arial MT"/>
              </a:rPr>
              <a:t>the</a:t>
            </a:r>
            <a:r>
              <a:rPr lang="en-US" sz="2200" spc="-45" dirty="0">
                <a:latin typeface="Arial MT"/>
                <a:cs typeface="Arial MT"/>
              </a:rPr>
              <a:t> </a:t>
            </a:r>
            <a:r>
              <a:rPr lang="en-US" sz="2200" dirty="0">
                <a:latin typeface="Arial MT"/>
                <a:cs typeface="Arial MT"/>
              </a:rPr>
              <a:t>DBMS</a:t>
            </a:r>
            <a:r>
              <a:rPr lang="en-US" sz="2200" spc="-50" dirty="0">
                <a:latin typeface="Arial MT"/>
                <a:cs typeface="Arial MT"/>
              </a:rPr>
              <a:t> </a:t>
            </a:r>
            <a:r>
              <a:rPr lang="en-US" sz="2200" dirty="0">
                <a:latin typeface="Arial MT"/>
                <a:cs typeface="Arial MT"/>
              </a:rPr>
              <a:t>software</a:t>
            </a:r>
            <a:r>
              <a:rPr lang="en-US" sz="2200" spc="-45" dirty="0">
                <a:latin typeface="Arial MT"/>
                <a:cs typeface="Arial MT"/>
              </a:rPr>
              <a:t> </a:t>
            </a:r>
            <a:r>
              <a:rPr lang="en-US" sz="2200" dirty="0">
                <a:latin typeface="Arial MT"/>
                <a:cs typeface="Arial MT"/>
              </a:rPr>
              <a:t>to</a:t>
            </a:r>
            <a:r>
              <a:rPr lang="en-US" sz="2200" spc="-60" dirty="0">
                <a:latin typeface="Arial MT"/>
                <a:cs typeface="Arial MT"/>
              </a:rPr>
              <a:t> </a:t>
            </a:r>
            <a:r>
              <a:rPr lang="en-US" sz="2200" dirty="0">
                <a:latin typeface="Arial MT"/>
                <a:cs typeface="Arial MT"/>
              </a:rPr>
              <a:t>work</a:t>
            </a:r>
            <a:r>
              <a:rPr lang="en-US" sz="2200" spc="-55" dirty="0">
                <a:latin typeface="Arial MT"/>
                <a:cs typeface="Arial MT"/>
              </a:rPr>
              <a:t> </a:t>
            </a:r>
            <a:r>
              <a:rPr lang="en-US" sz="2200" dirty="0">
                <a:latin typeface="Arial MT"/>
                <a:cs typeface="Arial MT"/>
              </a:rPr>
              <a:t>with</a:t>
            </a:r>
            <a:r>
              <a:rPr lang="en-US" sz="2200" spc="-50" dirty="0">
                <a:latin typeface="Arial MT"/>
                <a:cs typeface="Arial MT"/>
              </a:rPr>
              <a:t> </a:t>
            </a:r>
            <a:r>
              <a:rPr lang="en-US" sz="2200" spc="-10" dirty="0">
                <a:latin typeface="Arial MT"/>
                <a:cs typeface="Arial MT"/>
              </a:rPr>
              <a:t>different </a:t>
            </a:r>
            <a:r>
              <a:rPr lang="en-US" sz="2200" dirty="0">
                <a:latin typeface="Arial MT"/>
                <a:cs typeface="Arial MT"/>
              </a:rPr>
              <a:t>database</a:t>
            </a:r>
            <a:r>
              <a:rPr lang="en-US" sz="2200" spc="-100" dirty="0">
                <a:latin typeface="Arial MT"/>
                <a:cs typeface="Arial MT"/>
              </a:rPr>
              <a:t> </a:t>
            </a:r>
            <a:r>
              <a:rPr lang="en-US" sz="2200" spc="-10" dirty="0">
                <a:latin typeface="Arial MT"/>
                <a:cs typeface="Arial MT"/>
              </a:rPr>
              <a:t>applications.</a:t>
            </a:r>
            <a:endParaRPr lang="en-US" sz="2200" dirty="0">
              <a:latin typeface="Arial MT"/>
              <a:cs typeface="Arial MT"/>
            </a:endParaRPr>
          </a:p>
          <a:p>
            <a:pPr marL="355600" indent="-342900">
              <a:lnSpc>
                <a:spcPct val="160000"/>
              </a:lnSpc>
              <a:spcBef>
                <a:spcPts val="580"/>
              </a:spcBef>
              <a:buSzPct val="60416"/>
              <a:tabLst>
                <a:tab pos="354965" algn="l"/>
              </a:tabLst>
            </a:pPr>
            <a:r>
              <a:rPr lang="en-US" sz="2400" b="1" dirty="0">
                <a:cs typeface="Arial"/>
              </a:rPr>
              <a:t>Insulation</a:t>
            </a:r>
            <a:r>
              <a:rPr lang="en-US" sz="2400" b="1" spc="-80" dirty="0">
                <a:cs typeface="Arial"/>
              </a:rPr>
              <a:t> </a:t>
            </a:r>
            <a:r>
              <a:rPr lang="en-US" sz="2400" b="1" dirty="0">
                <a:cs typeface="Arial"/>
              </a:rPr>
              <a:t>between</a:t>
            </a:r>
            <a:r>
              <a:rPr lang="en-US" sz="2400" b="1" spc="-80" dirty="0">
                <a:cs typeface="Arial"/>
              </a:rPr>
              <a:t> </a:t>
            </a:r>
            <a:r>
              <a:rPr lang="en-US" sz="2400" b="1" dirty="0">
                <a:cs typeface="Arial"/>
              </a:rPr>
              <a:t>programs</a:t>
            </a:r>
            <a:r>
              <a:rPr lang="en-US" sz="2400" b="1" spc="-40" dirty="0">
                <a:cs typeface="Arial"/>
              </a:rPr>
              <a:t> </a:t>
            </a:r>
            <a:r>
              <a:rPr lang="en-US" sz="2400" b="1" dirty="0">
                <a:cs typeface="Arial"/>
              </a:rPr>
              <a:t>and</a:t>
            </a:r>
            <a:r>
              <a:rPr lang="en-US" sz="2400" b="1" spc="-40" dirty="0">
                <a:cs typeface="Arial"/>
              </a:rPr>
              <a:t> </a:t>
            </a:r>
            <a:r>
              <a:rPr lang="en-US" sz="2400" b="1" spc="-10" dirty="0">
                <a:cs typeface="Arial"/>
              </a:rPr>
              <a:t>data:</a:t>
            </a:r>
            <a:endParaRPr lang="en-US" sz="2400" dirty="0">
              <a:cs typeface="Arial"/>
            </a:endParaRPr>
          </a:p>
          <a:p>
            <a:pPr marL="812800" lvl="1" indent="-342900">
              <a:lnSpc>
                <a:spcPct val="160000"/>
              </a:lnSpc>
              <a:spcBef>
                <a:spcPts val="520"/>
              </a:spcBef>
              <a:buSzPct val="54545"/>
              <a:tabLst>
                <a:tab pos="756285" algn="l"/>
              </a:tabLst>
            </a:pPr>
            <a:r>
              <a:rPr lang="en-US" sz="2200" dirty="0">
                <a:latin typeface="Arial MT"/>
                <a:cs typeface="Arial MT"/>
              </a:rPr>
              <a:t>Called</a:t>
            </a:r>
            <a:r>
              <a:rPr lang="en-US" sz="2200" spc="-35" dirty="0">
                <a:latin typeface="Arial MT"/>
                <a:cs typeface="Arial MT"/>
              </a:rPr>
              <a:t> </a:t>
            </a:r>
            <a:r>
              <a:rPr lang="en-US" sz="2200" b="1" spc="-25" dirty="0">
                <a:cs typeface="Arial"/>
              </a:rPr>
              <a:t>program-</a:t>
            </a:r>
            <a:r>
              <a:rPr lang="en-US" sz="2200" b="1" dirty="0">
                <a:cs typeface="Arial"/>
              </a:rPr>
              <a:t>data</a:t>
            </a:r>
            <a:r>
              <a:rPr lang="en-US" sz="2200" b="1" spc="-10" dirty="0">
                <a:cs typeface="Arial"/>
              </a:rPr>
              <a:t> independence</a:t>
            </a:r>
            <a:r>
              <a:rPr lang="en-US" sz="2200" spc="-10" dirty="0">
                <a:latin typeface="Arial MT"/>
                <a:cs typeface="Arial MT"/>
              </a:rPr>
              <a:t>.</a:t>
            </a:r>
            <a:endParaRPr lang="en-US" sz="2200" dirty="0">
              <a:latin typeface="Arial MT"/>
              <a:cs typeface="Arial MT"/>
            </a:endParaRPr>
          </a:p>
          <a:p>
            <a:pPr marL="812165" marR="247015" lvl="1" indent="-342900">
              <a:lnSpc>
                <a:spcPct val="160000"/>
              </a:lnSpc>
              <a:spcBef>
                <a:spcPts val="535"/>
              </a:spcBef>
              <a:buSzPct val="54545"/>
              <a:tabLst>
                <a:tab pos="756285" algn="l"/>
              </a:tabLst>
            </a:pPr>
            <a:r>
              <a:rPr lang="en-US" sz="2200" dirty="0">
                <a:latin typeface="Arial MT"/>
                <a:cs typeface="Arial MT"/>
              </a:rPr>
              <a:t>Allows</a:t>
            </a:r>
            <a:r>
              <a:rPr lang="en-US" sz="2200" spc="-85" dirty="0">
                <a:latin typeface="Arial MT"/>
                <a:cs typeface="Arial MT"/>
              </a:rPr>
              <a:t> </a:t>
            </a:r>
            <a:r>
              <a:rPr lang="en-US" sz="2200" dirty="0">
                <a:latin typeface="Arial MT"/>
                <a:cs typeface="Arial MT"/>
              </a:rPr>
              <a:t>changing</a:t>
            </a:r>
            <a:r>
              <a:rPr lang="en-US" sz="2200" spc="-75" dirty="0">
                <a:latin typeface="Arial MT"/>
                <a:cs typeface="Arial MT"/>
              </a:rPr>
              <a:t> </a:t>
            </a:r>
            <a:r>
              <a:rPr lang="en-US" sz="2200" dirty="0">
                <a:latin typeface="Arial MT"/>
                <a:cs typeface="Arial MT"/>
              </a:rPr>
              <a:t>data</a:t>
            </a:r>
            <a:r>
              <a:rPr lang="en-US" sz="2200" spc="-70" dirty="0">
                <a:latin typeface="Arial MT"/>
                <a:cs typeface="Arial MT"/>
              </a:rPr>
              <a:t> </a:t>
            </a:r>
            <a:r>
              <a:rPr lang="en-US" sz="2200" dirty="0">
                <a:latin typeface="Arial MT"/>
                <a:cs typeface="Arial MT"/>
              </a:rPr>
              <a:t>structures</a:t>
            </a:r>
            <a:r>
              <a:rPr lang="en-US" sz="2200" spc="-60" dirty="0">
                <a:latin typeface="Arial MT"/>
                <a:cs typeface="Arial MT"/>
              </a:rPr>
              <a:t> </a:t>
            </a:r>
            <a:r>
              <a:rPr lang="en-US" sz="2200" dirty="0">
                <a:latin typeface="Arial MT"/>
                <a:cs typeface="Arial MT"/>
              </a:rPr>
              <a:t>and</a:t>
            </a:r>
            <a:r>
              <a:rPr lang="en-US" sz="2200" spc="-65" dirty="0">
                <a:latin typeface="Arial MT"/>
                <a:cs typeface="Arial MT"/>
              </a:rPr>
              <a:t> </a:t>
            </a:r>
            <a:r>
              <a:rPr lang="en-US" sz="2200" dirty="0">
                <a:latin typeface="Arial MT"/>
                <a:cs typeface="Arial MT"/>
              </a:rPr>
              <a:t>storage</a:t>
            </a:r>
            <a:r>
              <a:rPr lang="en-US" sz="2200" spc="-60" dirty="0">
                <a:latin typeface="Arial MT"/>
                <a:cs typeface="Arial MT"/>
              </a:rPr>
              <a:t> </a:t>
            </a:r>
            <a:r>
              <a:rPr lang="en-US" sz="2200" spc="-10" dirty="0">
                <a:latin typeface="Arial MT"/>
                <a:cs typeface="Arial MT"/>
              </a:rPr>
              <a:t>organization </a:t>
            </a:r>
            <a:r>
              <a:rPr lang="en-US" sz="2200" dirty="0">
                <a:latin typeface="Arial MT"/>
                <a:cs typeface="Arial MT"/>
              </a:rPr>
              <a:t>without</a:t>
            </a:r>
            <a:r>
              <a:rPr lang="en-US" sz="2200" spc="-65" dirty="0">
                <a:latin typeface="Arial MT"/>
                <a:cs typeface="Arial MT"/>
              </a:rPr>
              <a:t> </a:t>
            </a:r>
            <a:r>
              <a:rPr lang="en-US" sz="2200" dirty="0">
                <a:latin typeface="Arial MT"/>
                <a:cs typeface="Arial MT"/>
              </a:rPr>
              <a:t>having</a:t>
            </a:r>
            <a:r>
              <a:rPr lang="en-US" sz="2200" spc="-50" dirty="0">
                <a:latin typeface="Arial MT"/>
                <a:cs typeface="Arial MT"/>
              </a:rPr>
              <a:t> </a:t>
            </a:r>
            <a:r>
              <a:rPr lang="en-US" sz="2200" dirty="0">
                <a:latin typeface="Arial MT"/>
                <a:cs typeface="Arial MT"/>
              </a:rPr>
              <a:t>to</a:t>
            </a:r>
            <a:r>
              <a:rPr lang="en-US" sz="2200" spc="-70" dirty="0">
                <a:latin typeface="Arial MT"/>
                <a:cs typeface="Arial MT"/>
              </a:rPr>
              <a:t> </a:t>
            </a:r>
            <a:r>
              <a:rPr lang="en-US" sz="2200" dirty="0">
                <a:latin typeface="Arial MT"/>
                <a:cs typeface="Arial MT"/>
              </a:rPr>
              <a:t>change</a:t>
            </a:r>
            <a:r>
              <a:rPr lang="en-US" sz="2200" spc="-60" dirty="0">
                <a:latin typeface="Arial MT"/>
                <a:cs typeface="Arial MT"/>
              </a:rPr>
              <a:t> </a:t>
            </a:r>
            <a:r>
              <a:rPr lang="en-US" sz="2200" dirty="0">
                <a:latin typeface="Arial MT"/>
                <a:cs typeface="Arial MT"/>
              </a:rPr>
              <a:t>the</a:t>
            </a:r>
            <a:r>
              <a:rPr lang="en-US" sz="2200" spc="-50" dirty="0">
                <a:latin typeface="Arial MT"/>
                <a:cs typeface="Arial MT"/>
              </a:rPr>
              <a:t> </a:t>
            </a:r>
            <a:r>
              <a:rPr lang="en-US" sz="2200" dirty="0">
                <a:latin typeface="Arial MT"/>
                <a:cs typeface="Arial MT"/>
              </a:rPr>
              <a:t>DBMS</a:t>
            </a:r>
            <a:r>
              <a:rPr lang="en-US" sz="2200" spc="-55" dirty="0">
                <a:latin typeface="Arial MT"/>
                <a:cs typeface="Arial MT"/>
              </a:rPr>
              <a:t> </a:t>
            </a:r>
            <a:r>
              <a:rPr lang="en-US" sz="2200" dirty="0">
                <a:latin typeface="Arial MT"/>
                <a:cs typeface="Arial MT"/>
              </a:rPr>
              <a:t>access</a:t>
            </a:r>
            <a:r>
              <a:rPr lang="en-US" sz="2200" spc="-65" dirty="0">
                <a:latin typeface="Arial MT"/>
                <a:cs typeface="Arial MT"/>
              </a:rPr>
              <a:t> </a:t>
            </a:r>
            <a:r>
              <a:rPr lang="en-US" sz="2200" spc="-10" dirty="0">
                <a:latin typeface="Arial MT"/>
                <a:cs typeface="Arial MT"/>
              </a:rPr>
              <a:t>programs.</a:t>
            </a:r>
            <a:endParaRPr lang="en-US" sz="2200" dirty="0">
              <a:latin typeface="Arial MT"/>
              <a:cs typeface="Arial MT"/>
            </a:endParaRPr>
          </a:p>
          <a:p>
            <a:pPr>
              <a:lnSpc>
                <a:spcPct val="160000"/>
              </a:lnSpc>
              <a:spcBef>
                <a:spcPts val="1165"/>
              </a:spcBef>
            </a:pPr>
            <a:endParaRPr lang="en-US" sz="2200" dirty="0">
              <a:latin typeface="Arial MT"/>
              <a:cs typeface="Arial MT"/>
            </a:endParaRPr>
          </a:p>
          <a:p>
            <a:pPr marL="584200" marR="5080" indent="-342900">
              <a:lnSpc>
                <a:spcPct val="160000"/>
              </a:lnSpc>
            </a:pPr>
            <a:r>
              <a:rPr lang="en-US" sz="2200" dirty="0">
                <a:latin typeface="Arial MT"/>
                <a:cs typeface="Arial MT"/>
              </a:rPr>
              <a:t>*</a:t>
            </a:r>
            <a:r>
              <a:rPr lang="en-US" sz="2200" spc="-55" dirty="0">
                <a:latin typeface="Arial MT"/>
                <a:cs typeface="Arial MT"/>
              </a:rPr>
              <a:t> </a:t>
            </a:r>
            <a:r>
              <a:rPr lang="en-US" sz="2200" dirty="0">
                <a:latin typeface="Arial MT"/>
                <a:cs typeface="Arial MT"/>
              </a:rPr>
              <a:t>Some</a:t>
            </a:r>
            <a:r>
              <a:rPr lang="en-US" sz="2200" spc="-40" dirty="0">
                <a:latin typeface="Arial MT"/>
                <a:cs typeface="Arial MT"/>
              </a:rPr>
              <a:t> </a:t>
            </a:r>
            <a:r>
              <a:rPr lang="en-US" sz="2200" dirty="0">
                <a:latin typeface="Arial MT"/>
                <a:cs typeface="Arial MT"/>
              </a:rPr>
              <a:t>newer</a:t>
            </a:r>
            <a:r>
              <a:rPr lang="en-US" sz="2200" spc="-35" dirty="0">
                <a:latin typeface="Arial MT"/>
                <a:cs typeface="Arial MT"/>
              </a:rPr>
              <a:t> </a:t>
            </a:r>
            <a:r>
              <a:rPr lang="en-US" sz="2200" dirty="0">
                <a:latin typeface="Arial MT"/>
                <a:cs typeface="Arial MT"/>
              </a:rPr>
              <a:t>systems</a:t>
            </a:r>
            <a:r>
              <a:rPr lang="en-US" sz="2200" spc="-40" dirty="0">
                <a:latin typeface="Arial MT"/>
                <a:cs typeface="Arial MT"/>
              </a:rPr>
              <a:t> </a:t>
            </a:r>
            <a:r>
              <a:rPr lang="en-US" sz="2200" dirty="0">
                <a:latin typeface="Arial MT"/>
                <a:cs typeface="Arial MT"/>
              </a:rPr>
              <a:t>such</a:t>
            </a:r>
            <a:r>
              <a:rPr lang="en-US" sz="2200" spc="-50" dirty="0">
                <a:latin typeface="Arial MT"/>
                <a:cs typeface="Arial MT"/>
              </a:rPr>
              <a:t> </a:t>
            </a:r>
            <a:r>
              <a:rPr lang="en-US" sz="2200" dirty="0">
                <a:latin typeface="Arial MT"/>
                <a:cs typeface="Arial MT"/>
              </a:rPr>
              <a:t>as</a:t>
            </a:r>
            <a:r>
              <a:rPr lang="en-US" sz="2200" spc="-55" dirty="0">
                <a:latin typeface="Arial MT"/>
                <a:cs typeface="Arial MT"/>
              </a:rPr>
              <a:t> </a:t>
            </a:r>
            <a:r>
              <a:rPr lang="en-US" sz="2200" dirty="0">
                <a:latin typeface="Arial MT"/>
                <a:cs typeface="Arial MT"/>
              </a:rPr>
              <a:t>a</a:t>
            </a:r>
            <a:r>
              <a:rPr lang="en-US" sz="2200" spc="-40" dirty="0">
                <a:latin typeface="Arial MT"/>
                <a:cs typeface="Arial MT"/>
              </a:rPr>
              <a:t> </a:t>
            </a:r>
            <a:r>
              <a:rPr lang="en-US" sz="2200" dirty="0">
                <a:latin typeface="Arial MT"/>
                <a:cs typeface="Arial MT"/>
              </a:rPr>
              <a:t>few</a:t>
            </a:r>
            <a:r>
              <a:rPr lang="en-US" sz="2200" spc="-50" dirty="0">
                <a:latin typeface="Arial MT"/>
                <a:cs typeface="Arial MT"/>
              </a:rPr>
              <a:t> </a:t>
            </a:r>
            <a:r>
              <a:rPr lang="en-US" sz="2200" dirty="0">
                <a:latin typeface="Arial MT"/>
                <a:cs typeface="Arial MT"/>
              </a:rPr>
              <a:t>NOSQL</a:t>
            </a:r>
            <a:r>
              <a:rPr lang="en-US" sz="2200" spc="-30" dirty="0">
                <a:latin typeface="Arial MT"/>
                <a:cs typeface="Arial MT"/>
              </a:rPr>
              <a:t> </a:t>
            </a:r>
            <a:r>
              <a:rPr lang="en-US" sz="2200" dirty="0">
                <a:latin typeface="Arial MT"/>
                <a:cs typeface="Arial MT"/>
              </a:rPr>
              <a:t>systems</a:t>
            </a:r>
            <a:r>
              <a:rPr lang="en-US" sz="2200" spc="-40" dirty="0">
                <a:latin typeface="Arial MT"/>
                <a:cs typeface="Arial MT"/>
              </a:rPr>
              <a:t> </a:t>
            </a:r>
            <a:r>
              <a:rPr lang="en-US" sz="2200" spc="-20" dirty="0">
                <a:latin typeface="Arial MT"/>
                <a:cs typeface="Arial MT"/>
              </a:rPr>
              <a:t>need </a:t>
            </a:r>
            <a:r>
              <a:rPr lang="en-US" sz="2200" dirty="0">
                <a:latin typeface="Arial MT"/>
                <a:cs typeface="Arial MT"/>
              </a:rPr>
              <a:t>no</a:t>
            </a:r>
            <a:r>
              <a:rPr lang="en-US" sz="2200" spc="-50" dirty="0">
                <a:latin typeface="Arial MT"/>
                <a:cs typeface="Arial MT"/>
              </a:rPr>
              <a:t> </a:t>
            </a:r>
            <a:r>
              <a:rPr lang="en-US" sz="2200" spc="-20" dirty="0">
                <a:latin typeface="Arial MT"/>
                <a:cs typeface="Arial MT"/>
              </a:rPr>
              <a:t>meta-</a:t>
            </a:r>
            <a:r>
              <a:rPr lang="en-US" sz="2200" dirty="0">
                <a:latin typeface="Arial MT"/>
                <a:cs typeface="Arial MT"/>
              </a:rPr>
              <a:t>data:</a:t>
            </a:r>
            <a:r>
              <a:rPr lang="en-US" sz="2200" spc="-25" dirty="0">
                <a:latin typeface="Arial MT"/>
                <a:cs typeface="Arial MT"/>
              </a:rPr>
              <a:t> </a:t>
            </a:r>
            <a:r>
              <a:rPr lang="en-US" sz="2200" dirty="0">
                <a:latin typeface="Arial MT"/>
                <a:cs typeface="Arial MT"/>
              </a:rPr>
              <a:t>they</a:t>
            </a:r>
            <a:r>
              <a:rPr lang="en-US" sz="2200" spc="-45" dirty="0">
                <a:latin typeface="Arial MT"/>
                <a:cs typeface="Arial MT"/>
              </a:rPr>
              <a:t> </a:t>
            </a:r>
            <a:r>
              <a:rPr lang="en-US" sz="2200" dirty="0">
                <a:latin typeface="Arial MT"/>
                <a:cs typeface="Arial MT"/>
              </a:rPr>
              <a:t>store</a:t>
            </a:r>
            <a:r>
              <a:rPr lang="en-US" sz="2200" spc="-40" dirty="0">
                <a:latin typeface="Arial MT"/>
                <a:cs typeface="Arial MT"/>
              </a:rPr>
              <a:t> </a:t>
            </a:r>
            <a:r>
              <a:rPr lang="en-US" sz="2200" dirty="0">
                <a:latin typeface="Arial MT"/>
                <a:cs typeface="Arial MT"/>
              </a:rPr>
              <a:t>the</a:t>
            </a:r>
            <a:r>
              <a:rPr lang="en-US" sz="2200" spc="-50" dirty="0">
                <a:latin typeface="Arial MT"/>
                <a:cs typeface="Arial MT"/>
              </a:rPr>
              <a:t> </a:t>
            </a:r>
            <a:r>
              <a:rPr lang="en-US" sz="2200" dirty="0">
                <a:latin typeface="Arial MT"/>
                <a:cs typeface="Arial MT"/>
              </a:rPr>
              <a:t>data</a:t>
            </a:r>
            <a:r>
              <a:rPr lang="en-US" sz="2200" spc="-50" dirty="0">
                <a:latin typeface="Arial MT"/>
                <a:cs typeface="Arial MT"/>
              </a:rPr>
              <a:t> </a:t>
            </a:r>
            <a:r>
              <a:rPr lang="en-US" sz="2200" dirty="0">
                <a:latin typeface="Arial MT"/>
                <a:cs typeface="Arial MT"/>
              </a:rPr>
              <a:t>definition</a:t>
            </a:r>
            <a:r>
              <a:rPr lang="en-US" sz="2200" spc="-55" dirty="0">
                <a:latin typeface="Arial MT"/>
                <a:cs typeface="Arial MT"/>
              </a:rPr>
              <a:t> </a:t>
            </a:r>
            <a:r>
              <a:rPr lang="en-US" sz="2200" dirty="0">
                <a:latin typeface="Arial MT"/>
                <a:cs typeface="Arial MT"/>
              </a:rPr>
              <a:t>within</a:t>
            </a:r>
            <a:r>
              <a:rPr lang="en-US" sz="2200" spc="-55" dirty="0">
                <a:latin typeface="Arial MT"/>
                <a:cs typeface="Arial MT"/>
              </a:rPr>
              <a:t> </a:t>
            </a:r>
            <a:r>
              <a:rPr lang="en-US" sz="2200" dirty="0">
                <a:latin typeface="Arial MT"/>
                <a:cs typeface="Arial MT"/>
              </a:rPr>
              <a:t>its</a:t>
            </a:r>
            <a:r>
              <a:rPr lang="en-US" sz="2200" spc="-45" dirty="0">
                <a:latin typeface="Arial MT"/>
                <a:cs typeface="Arial MT"/>
              </a:rPr>
              <a:t> </a:t>
            </a:r>
            <a:r>
              <a:rPr lang="en-US" sz="2200" spc="-10" dirty="0">
                <a:latin typeface="Arial MT"/>
                <a:cs typeface="Arial MT"/>
              </a:rPr>
              <a:t>structure </a:t>
            </a:r>
            <a:r>
              <a:rPr lang="en-US" sz="2200" dirty="0">
                <a:latin typeface="Arial MT"/>
                <a:cs typeface="Arial MT"/>
              </a:rPr>
              <a:t>making</a:t>
            </a:r>
            <a:r>
              <a:rPr lang="en-US" sz="2200" spc="-35" dirty="0">
                <a:latin typeface="Arial MT"/>
                <a:cs typeface="Arial MT"/>
              </a:rPr>
              <a:t> </a:t>
            </a:r>
            <a:r>
              <a:rPr lang="en-US" sz="2200" dirty="0">
                <a:latin typeface="Arial MT"/>
                <a:cs typeface="Arial MT"/>
              </a:rPr>
              <a:t>it</a:t>
            </a:r>
            <a:r>
              <a:rPr lang="en-US" sz="2200" spc="-50" dirty="0">
                <a:latin typeface="Arial MT"/>
                <a:cs typeface="Arial MT"/>
              </a:rPr>
              <a:t> </a:t>
            </a:r>
            <a:r>
              <a:rPr lang="en-US" sz="2200" dirty="0">
                <a:latin typeface="Arial MT"/>
                <a:cs typeface="Arial MT"/>
              </a:rPr>
              <a:t>self</a:t>
            </a:r>
            <a:r>
              <a:rPr lang="en-US" sz="2200" spc="-50" dirty="0">
                <a:latin typeface="Arial MT"/>
                <a:cs typeface="Arial MT"/>
              </a:rPr>
              <a:t> </a:t>
            </a:r>
            <a:r>
              <a:rPr lang="en-US" sz="2200" spc="-10" dirty="0">
                <a:latin typeface="Arial MT"/>
                <a:cs typeface="Arial MT"/>
              </a:rPr>
              <a:t>describing</a:t>
            </a:r>
            <a:endParaRPr lang="en-US" sz="2200" dirty="0">
              <a:latin typeface="Arial MT"/>
              <a:cs typeface="Arial MT"/>
            </a:endParaRPr>
          </a:p>
          <a:p>
            <a:pPr>
              <a:lnSpc>
                <a:spcPct val="160000"/>
              </a:lnSpc>
            </a:pPr>
            <a:endParaRPr lang="en-US" dirty="0"/>
          </a:p>
        </p:txBody>
      </p:sp>
    </p:spTree>
    <p:extLst>
      <p:ext uri="{BB962C8B-B14F-4D97-AF65-F5344CB8AC3E}">
        <p14:creationId xmlns="" xmlns:p14="http://schemas.microsoft.com/office/powerpoint/2010/main" val="17867188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9D063C-037A-40A5-8E0F-79A113B78763}"/>
              </a:ext>
            </a:extLst>
          </p:cNvPr>
          <p:cNvSpPr>
            <a:spLocks noGrp="1"/>
          </p:cNvSpPr>
          <p:nvPr>
            <p:ph type="title"/>
          </p:nvPr>
        </p:nvSpPr>
        <p:spPr/>
        <p:txBody>
          <a:bodyPr/>
          <a:lstStyle/>
          <a:p>
            <a:r>
              <a:rPr lang="en-US" dirty="0"/>
              <a:t>Characteristics of the Database Approach</a:t>
            </a:r>
          </a:p>
        </p:txBody>
      </p:sp>
      <p:sp>
        <p:nvSpPr>
          <p:cNvPr id="3" name="Content Placeholder 2">
            <a:extLst>
              <a:ext uri="{FF2B5EF4-FFF2-40B4-BE49-F238E27FC236}">
                <a16:creationId xmlns="" xmlns:a16="http://schemas.microsoft.com/office/drawing/2014/main" id="{F96F12C2-FC1F-4EAD-89BE-B492FF2F7F31}"/>
              </a:ext>
            </a:extLst>
          </p:cNvPr>
          <p:cNvSpPr>
            <a:spLocks noGrp="1"/>
          </p:cNvSpPr>
          <p:nvPr>
            <p:ph idx="1"/>
          </p:nvPr>
        </p:nvSpPr>
        <p:spPr>
          <a:xfrm>
            <a:off x="838200" y="1353133"/>
            <a:ext cx="10515600" cy="4351338"/>
          </a:xfrm>
        </p:spPr>
        <p:txBody>
          <a:bodyPr/>
          <a:lstStyle/>
          <a:p>
            <a:r>
              <a:rPr lang="en-US" dirty="0"/>
              <a:t>Catalog for University Database</a:t>
            </a:r>
          </a:p>
        </p:txBody>
      </p:sp>
      <p:pic>
        <p:nvPicPr>
          <p:cNvPr id="4" name="Picture 3">
            <a:extLst>
              <a:ext uri="{FF2B5EF4-FFF2-40B4-BE49-F238E27FC236}">
                <a16:creationId xmlns="" xmlns:a16="http://schemas.microsoft.com/office/drawing/2014/main" id="{EC34D8A7-043D-4CCD-903E-2DFC68DEDEDC}"/>
              </a:ext>
            </a:extLst>
          </p:cNvPr>
          <p:cNvPicPr>
            <a:picLocks noChangeAspect="1"/>
          </p:cNvPicPr>
          <p:nvPr/>
        </p:nvPicPr>
        <p:blipFill>
          <a:blip r:embed="rId2"/>
          <a:stretch>
            <a:fillRect/>
          </a:stretch>
        </p:blipFill>
        <p:spPr>
          <a:xfrm>
            <a:off x="4086224" y="2120900"/>
            <a:ext cx="4346575" cy="4727673"/>
          </a:xfrm>
          <a:prstGeom prst="rect">
            <a:avLst/>
          </a:prstGeom>
        </p:spPr>
      </p:pic>
    </p:spTree>
    <p:extLst>
      <p:ext uri="{BB962C8B-B14F-4D97-AF65-F5344CB8AC3E}">
        <p14:creationId xmlns="" xmlns:p14="http://schemas.microsoft.com/office/powerpoint/2010/main" val="20659196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9D063C-037A-40A5-8E0F-79A113B78763}"/>
              </a:ext>
            </a:extLst>
          </p:cNvPr>
          <p:cNvSpPr>
            <a:spLocks noGrp="1"/>
          </p:cNvSpPr>
          <p:nvPr>
            <p:ph type="title"/>
          </p:nvPr>
        </p:nvSpPr>
        <p:spPr/>
        <p:txBody>
          <a:bodyPr/>
          <a:lstStyle/>
          <a:p>
            <a:r>
              <a:rPr lang="en-US" dirty="0"/>
              <a:t>Characteristics of the Database Approach</a:t>
            </a:r>
          </a:p>
        </p:txBody>
      </p:sp>
      <p:sp>
        <p:nvSpPr>
          <p:cNvPr id="3" name="Content Placeholder 2">
            <a:extLst>
              <a:ext uri="{FF2B5EF4-FFF2-40B4-BE49-F238E27FC236}">
                <a16:creationId xmlns="" xmlns:a16="http://schemas.microsoft.com/office/drawing/2014/main" id="{F96F12C2-FC1F-4EAD-89BE-B492FF2F7F31}"/>
              </a:ext>
            </a:extLst>
          </p:cNvPr>
          <p:cNvSpPr>
            <a:spLocks noGrp="1"/>
          </p:cNvSpPr>
          <p:nvPr>
            <p:ph idx="1"/>
          </p:nvPr>
        </p:nvSpPr>
        <p:spPr/>
        <p:txBody>
          <a:bodyPr>
            <a:normAutofit fontScale="92500" lnSpcReduction="20000"/>
          </a:bodyPr>
          <a:lstStyle/>
          <a:p>
            <a:pPr marL="469900" indent="-457200">
              <a:spcBef>
                <a:spcPts val="775"/>
              </a:spcBef>
              <a:buSzPct val="58928"/>
              <a:tabLst>
                <a:tab pos="354965" algn="l"/>
              </a:tabLst>
            </a:pPr>
            <a:r>
              <a:rPr lang="en-US" b="1" dirty="0">
                <a:cs typeface="Arial"/>
              </a:rPr>
              <a:t>Data</a:t>
            </a:r>
            <a:r>
              <a:rPr lang="en-US" b="1" spc="-65" dirty="0">
                <a:cs typeface="Arial"/>
              </a:rPr>
              <a:t> </a:t>
            </a:r>
            <a:r>
              <a:rPr lang="en-US" b="1" spc="-10" dirty="0">
                <a:cs typeface="Arial"/>
              </a:rPr>
              <a:t>Abstraction:</a:t>
            </a:r>
          </a:p>
          <a:p>
            <a:pPr marL="926465" marR="243204" lvl="1" indent="-457200">
              <a:spcBef>
                <a:spcPts val="635"/>
              </a:spcBef>
              <a:buSzPct val="53846"/>
              <a:tabLst>
                <a:tab pos="756285" algn="l"/>
                <a:tab pos="6893559" algn="l"/>
              </a:tabLst>
            </a:pPr>
            <a:r>
              <a:rPr lang="en-US" sz="2600" dirty="0">
                <a:latin typeface="Arial MT"/>
                <a:cs typeface="Arial MT"/>
              </a:rPr>
              <a:t>A</a:t>
            </a:r>
            <a:r>
              <a:rPr lang="en-US" sz="2600" spc="-35" dirty="0">
                <a:latin typeface="Arial MT"/>
                <a:cs typeface="Arial MT"/>
              </a:rPr>
              <a:t> </a:t>
            </a:r>
            <a:r>
              <a:rPr lang="en-US" sz="2600" b="1" dirty="0">
                <a:cs typeface="Arial"/>
              </a:rPr>
              <a:t>data</a:t>
            </a:r>
            <a:r>
              <a:rPr lang="en-US" sz="2600" b="1" spc="-50" dirty="0">
                <a:cs typeface="Arial"/>
              </a:rPr>
              <a:t> </a:t>
            </a:r>
            <a:r>
              <a:rPr lang="en-US" sz="2600" b="1" dirty="0">
                <a:cs typeface="Arial"/>
              </a:rPr>
              <a:t>model</a:t>
            </a:r>
            <a:r>
              <a:rPr lang="en-US" sz="2600" b="1" spc="-45" dirty="0">
                <a:cs typeface="Arial"/>
              </a:rPr>
              <a:t> </a:t>
            </a:r>
            <a:r>
              <a:rPr lang="en-US" sz="2600" dirty="0">
                <a:latin typeface="Arial MT"/>
                <a:cs typeface="Arial MT"/>
              </a:rPr>
              <a:t>is</a:t>
            </a:r>
            <a:r>
              <a:rPr lang="en-US" sz="2600" spc="-35" dirty="0">
                <a:latin typeface="Arial MT"/>
                <a:cs typeface="Arial MT"/>
              </a:rPr>
              <a:t> </a:t>
            </a:r>
            <a:r>
              <a:rPr lang="en-US" sz="2600" dirty="0">
                <a:latin typeface="Arial MT"/>
                <a:cs typeface="Arial MT"/>
              </a:rPr>
              <a:t>used</a:t>
            </a:r>
            <a:r>
              <a:rPr lang="en-US" sz="2600" spc="-45" dirty="0">
                <a:latin typeface="Arial MT"/>
                <a:cs typeface="Arial MT"/>
              </a:rPr>
              <a:t> </a:t>
            </a:r>
            <a:r>
              <a:rPr lang="en-US" sz="2600" dirty="0">
                <a:latin typeface="Arial MT"/>
                <a:cs typeface="Arial MT"/>
              </a:rPr>
              <a:t>to</a:t>
            </a:r>
            <a:r>
              <a:rPr lang="en-US" sz="2600" spc="-30" dirty="0">
                <a:latin typeface="Arial MT"/>
                <a:cs typeface="Arial MT"/>
              </a:rPr>
              <a:t> </a:t>
            </a:r>
            <a:r>
              <a:rPr lang="en-US" sz="2600" dirty="0">
                <a:latin typeface="Arial MT"/>
                <a:cs typeface="Arial MT"/>
              </a:rPr>
              <a:t>hide</a:t>
            </a:r>
            <a:r>
              <a:rPr lang="en-US" sz="2600" spc="-30" dirty="0">
                <a:latin typeface="Arial MT"/>
                <a:cs typeface="Arial MT"/>
              </a:rPr>
              <a:t> </a:t>
            </a:r>
            <a:r>
              <a:rPr lang="en-US" sz="2600" dirty="0">
                <a:latin typeface="Arial MT"/>
                <a:cs typeface="Arial MT"/>
              </a:rPr>
              <a:t>storage</a:t>
            </a:r>
            <a:r>
              <a:rPr lang="en-US" sz="2600" spc="-40" dirty="0">
                <a:latin typeface="Arial MT"/>
                <a:cs typeface="Arial MT"/>
              </a:rPr>
              <a:t> </a:t>
            </a:r>
            <a:r>
              <a:rPr lang="en-US" sz="2600" dirty="0">
                <a:latin typeface="Arial MT"/>
                <a:cs typeface="Arial MT"/>
              </a:rPr>
              <a:t>details</a:t>
            </a:r>
            <a:r>
              <a:rPr lang="en-US" sz="2600" spc="-30" dirty="0">
                <a:latin typeface="Arial MT"/>
                <a:cs typeface="Arial MT"/>
              </a:rPr>
              <a:t> </a:t>
            </a:r>
            <a:r>
              <a:rPr lang="en-US" sz="2600" spc="-25" dirty="0">
                <a:latin typeface="Arial MT"/>
                <a:cs typeface="Arial MT"/>
              </a:rPr>
              <a:t>and </a:t>
            </a:r>
            <a:r>
              <a:rPr lang="en-US" sz="2600" dirty="0">
                <a:latin typeface="Arial MT"/>
                <a:cs typeface="Arial MT"/>
              </a:rPr>
              <a:t>present</a:t>
            </a:r>
            <a:r>
              <a:rPr lang="en-US" sz="2600" spc="-55" dirty="0">
                <a:latin typeface="Arial MT"/>
                <a:cs typeface="Arial MT"/>
              </a:rPr>
              <a:t> </a:t>
            </a:r>
            <a:r>
              <a:rPr lang="en-US" sz="2600" dirty="0">
                <a:latin typeface="Arial MT"/>
                <a:cs typeface="Arial MT"/>
              </a:rPr>
              <a:t>the</a:t>
            </a:r>
            <a:r>
              <a:rPr lang="en-US" sz="2600" spc="-20" dirty="0">
                <a:latin typeface="Arial MT"/>
                <a:cs typeface="Arial MT"/>
              </a:rPr>
              <a:t> </a:t>
            </a:r>
            <a:r>
              <a:rPr lang="en-US" sz="2600" dirty="0">
                <a:latin typeface="Arial MT"/>
                <a:cs typeface="Arial MT"/>
              </a:rPr>
              <a:t>users</a:t>
            </a:r>
            <a:r>
              <a:rPr lang="en-US" sz="2600" spc="-45" dirty="0">
                <a:latin typeface="Arial MT"/>
                <a:cs typeface="Arial MT"/>
              </a:rPr>
              <a:t> </a:t>
            </a:r>
            <a:r>
              <a:rPr lang="en-US" sz="2600" dirty="0">
                <a:latin typeface="Arial MT"/>
                <a:cs typeface="Arial MT"/>
              </a:rPr>
              <a:t>with</a:t>
            </a:r>
            <a:r>
              <a:rPr lang="en-US" sz="2600" spc="-45" dirty="0">
                <a:latin typeface="Arial MT"/>
                <a:cs typeface="Arial MT"/>
              </a:rPr>
              <a:t> </a:t>
            </a:r>
            <a:r>
              <a:rPr lang="en-US" sz="2600" dirty="0">
                <a:latin typeface="Arial MT"/>
                <a:cs typeface="Arial MT"/>
              </a:rPr>
              <a:t>a</a:t>
            </a:r>
            <a:r>
              <a:rPr lang="en-US" sz="2600" spc="-25" dirty="0">
                <a:latin typeface="Arial MT"/>
                <a:cs typeface="Arial MT"/>
              </a:rPr>
              <a:t> </a:t>
            </a:r>
            <a:r>
              <a:rPr lang="en-US" sz="2600" dirty="0">
                <a:latin typeface="Arial MT"/>
                <a:cs typeface="Arial MT"/>
              </a:rPr>
              <a:t>conceptual</a:t>
            </a:r>
            <a:r>
              <a:rPr lang="en-US" sz="2600" spc="-55" dirty="0">
                <a:latin typeface="Arial MT"/>
                <a:cs typeface="Arial MT"/>
              </a:rPr>
              <a:t> </a:t>
            </a:r>
            <a:r>
              <a:rPr lang="en-US" sz="2600" spc="-20" dirty="0">
                <a:latin typeface="Arial MT"/>
                <a:cs typeface="Arial MT"/>
              </a:rPr>
              <a:t>view </a:t>
            </a:r>
            <a:r>
              <a:rPr lang="en-US" sz="2600" dirty="0">
                <a:latin typeface="Arial MT"/>
                <a:cs typeface="Arial MT"/>
              </a:rPr>
              <a:t>of</a:t>
            </a:r>
            <a:r>
              <a:rPr lang="en-US" sz="2600" spc="-25" dirty="0">
                <a:latin typeface="Arial MT"/>
                <a:cs typeface="Arial MT"/>
              </a:rPr>
              <a:t> the </a:t>
            </a:r>
            <a:r>
              <a:rPr lang="en-US" sz="2600" spc="-10" dirty="0">
                <a:latin typeface="Arial MT"/>
                <a:cs typeface="Arial MT"/>
              </a:rPr>
              <a:t>database.</a:t>
            </a:r>
            <a:endParaRPr lang="en-US" sz="2600" dirty="0">
              <a:latin typeface="Arial MT"/>
              <a:cs typeface="Arial MT"/>
            </a:endParaRPr>
          </a:p>
          <a:p>
            <a:pPr marL="926465" marR="5080" lvl="1" indent="-457200">
              <a:spcBef>
                <a:spcPts val="625"/>
              </a:spcBef>
              <a:buSzPct val="53846"/>
              <a:tabLst>
                <a:tab pos="756285" algn="l"/>
              </a:tabLst>
            </a:pPr>
            <a:r>
              <a:rPr lang="en-US" sz="2600" dirty="0">
                <a:latin typeface="Arial MT"/>
                <a:cs typeface="Arial MT"/>
              </a:rPr>
              <a:t>Programs</a:t>
            </a:r>
            <a:r>
              <a:rPr lang="en-US" sz="2600" spc="-50" dirty="0">
                <a:latin typeface="Arial MT"/>
                <a:cs typeface="Arial MT"/>
              </a:rPr>
              <a:t> </a:t>
            </a:r>
            <a:r>
              <a:rPr lang="en-US" sz="2600" dirty="0">
                <a:latin typeface="Arial MT"/>
                <a:cs typeface="Arial MT"/>
              </a:rPr>
              <a:t>refer</a:t>
            </a:r>
            <a:r>
              <a:rPr lang="en-US" sz="2600" spc="-30" dirty="0">
                <a:latin typeface="Arial MT"/>
                <a:cs typeface="Arial MT"/>
              </a:rPr>
              <a:t> </a:t>
            </a:r>
            <a:r>
              <a:rPr lang="en-US" sz="2600" dirty="0">
                <a:latin typeface="Arial MT"/>
                <a:cs typeface="Arial MT"/>
              </a:rPr>
              <a:t>to</a:t>
            </a:r>
            <a:r>
              <a:rPr lang="en-US" sz="2600" spc="-20" dirty="0">
                <a:latin typeface="Arial MT"/>
                <a:cs typeface="Arial MT"/>
              </a:rPr>
              <a:t> </a:t>
            </a:r>
            <a:r>
              <a:rPr lang="en-US" sz="2600" dirty="0">
                <a:latin typeface="Arial MT"/>
                <a:cs typeface="Arial MT"/>
              </a:rPr>
              <a:t>the</a:t>
            </a:r>
            <a:r>
              <a:rPr lang="en-US" sz="2600" spc="-25" dirty="0">
                <a:latin typeface="Arial MT"/>
                <a:cs typeface="Arial MT"/>
              </a:rPr>
              <a:t> </a:t>
            </a:r>
            <a:r>
              <a:rPr lang="en-US" sz="2600" dirty="0">
                <a:latin typeface="Arial MT"/>
                <a:cs typeface="Arial MT"/>
              </a:rPr>
              <a:t>data</a:t>
            </a:r>
            <a:r>
              <a:rPr lang="en-US" sz="2600" spc="-20" dirty="0">
                <a:latin typeface="Arial MT"/>
                <a:cs typeface="Arial MT"/>
              </a:rPr>
              <a:t> </a:t>
            </a:r>
            <a:r>
              <a:rPr lang="en-US" sz="2600" dirty="0">
                <a:latin typeface="Arial MT"/>
                <a:cs typeface="Arial MT"/>
              </a:rPr>
              <a:t>model</a:t>
            </a:r>
            <a:r>
              <a:rPr lang="en-US" sz="2600" spc="-35" dirty="0">
                <a:latin typeface="Arial MT"/>
                <a:cs typeface="Arial MT"/>
              </a:rPr>
              <a:t> </a:t>
            </a:r>
            <a:r>
              <a:rPr lang="en-US" sz="2600" dirty="0">
                <a:latin typeface="Arial MT"/>
                <a:cs typeface="Arial MT"/>
              </a:rPr>
              <a:t>constructs</a:t>
            </a:r>
            <a:r>
              <a:rPr lang="en-US" sz="2600" spc="-45" dirty="0">
                <a:latin typeface="Arial MT"/>
                <a:cs typeface="Arial MT"/>
              </a:rPr>
              <a:t> </a:t>
            </a:r>
            <a:r>
              <a:rPr lang="en-US" sz="2600" spc="-10" dirty="0">
                <a:latin typeface="Arial MT"/>
                <a:cs typeface="Arial MT"/>
              </a:rPr>
              <a:t>rather </a:t>
            </a:r>
            <a:r>
              <a:rPr lang="en-US" sz="2600" dirty="0">
                <a:latin typeface="Arial MT"/>
                <a:cs typeface="Arial MT"/>
              </a:rPr>
              <a:t>than</a:t>
            </a:r>
            <a:r>
              <a:rPr lang="en-US" sz="2600" spc="-55" dirty="0">
                <a:latin typeface="Arial MT"/>
                <a:cs typeface="Arial MT"/>
              </a:rPr>
              <a:t> </a:t>
            </a:r>
            <a:r>
              <a:rPr lang="en-US" sz="2600" dirty="0">
                <a:latin typeface="Arial MT"/>
                <a:cs typeface="Arial MT"/>
              </a:rPr>
              <a:t>data</a:t>
            </a:r>
            <a:r>
              <a:rPr lang="en-US" sz="2600" spc="-45" dirty="0">
                <a:latin typeface="Arial MT"/>
                <a:cs typeface="Arial MT"/>
              </a:rPr>
              <a:t> </a:t>
            </a:r>
            <a:r>
              <a:rPr lang="en-US" sz="2600" dirty="0">
                <a:latin typeface="Arial MT"/>
                <a:cs typeface="Arial MT"/>
              </a:rPr>
              <a:t>storage</a:t>
            </a:r>
            <a:r>
              <a:rPr lang="en-US" sz="2600" spc="-70" dirty="0">
                <a:latin typeface="Arial MT"/>
                <a:cs typeface="Arial MT"/>
              </a:rPr>
              <a:t> </a:t>
            </a:r>
            <a:r>
              <a:rPr lang="en-US" sz="2600" spc="-10" dirty="0">
                <a:latin typeface="Arial MT"/>
                <a:cs typeface="Arial MT"/>
              </a:rPr>
              <a:t>details</a:t>
            </a:r>
            <a:endParaRPr lang="en-US" sz="2600" dirty="0">
              <a:latin typeface="Arial MT"/>
              <a:cs typeface="Arial MT"/>
            </a:endParaRPr>
          </a:p>
          <a:p>
            <a:pPr marL="469900" indent="-457200">
              <a:spcBef>
                <a:spcPts val="665"/>
              </a:spcBef>
              <a:buSzPct val="58928"/>
              <a:tabLst>
                <a:tab pos="354965" algn="l"/>
              </a:tabLst>
            </a:pPr>
            <a:r>
              <a:rPr lang="en-US" b="1" dirty="0">
                <a:cs typeface="Arial"/>
              </a:rPr>
              <a:t>Support</a:t>
            </a:r>
            <a:r>
              <a:rPr lang="en-US" b="1" spc="-55" dirty="0">
                <a:cs typeface="Arial"/>
              </a:rPr>
              <a:t> </a:t>
            </a:r>
            <a:r>
              <a:rPr lang="en-US" b="1" dirty="0">
                <a:cs typeface="Arial"/>
              </a:rPr>
              <a:t>of</a:t>
            </a:r>
            <a:r>
              <a:rPr lang="en-US" b="1" spc="-65" dirty="0">
                <a:cs typeface="Arial"/>
              </a:rPr>
              <a:t> </a:t>
            </a:r>
            <a:r>
              <a:rPr lang="en-US" b="1" dirty="0">
                <a:cs typeface="Arial"/>
              </a:rPr>
              <a:t>multiple</a:t>
            </a:r>
            <a:r>
              <a:rPr lang="en-US" b="1" spc="-70" dirty="0">
                <a:cs typeface="Arial"/>
              </a:rPr>
              <a:t> </a:t>
            </a:r>
            <a:r>
              <a:rPr lang="en-US" b="1" dirty="0">
                <a:cs typeface="Arial"/>
              </a:rPr>
              <a:t>views</a:t>
            </a:r>
            <a:r>
              <a:rPr lang="en-US" b="1" spc="-80" dirty="0">
                <a:cs typeface="Arial"/>
              </a:rPr>
              <a:t> </a:t>
            </a:r>
            <a:r>
              <a:rPr lang="en-US" b="1" dirty="0">
                <a:cs typeface="Arial"/>
              </a:rPr>
              <a:t>of</a:t>
            </a:r>
            <a:r>
              <a:rPr lang="en-US" b="1" spc="-65" dirty="0">
                <a:cs typeface="Arial"/>
              </a:rPr>
              <a:t> </a:t>
            </a:r>
            <a:r>
              <a:rPr lang="en-US" b="1" dirty="0">
                <a:cs typeface="Arial"/>
              </a:rPr>
              <a:t>the</a:t>
            </a:r>
            <a:r>
              <a:rPr lang="en-US" b="1" spc="-75" dirty="0">
                <a:cs typeface="Arial"/>
              </a:rPr>
              <a:t> </a:t>
            </a:r>
            <a:r>
              <a:rPr lang="en-US" b="1" spc="-10" dirty="0">
                <a:cs typeface="Arial"/>
              </a:rPr>
              <a:t>data:</a:t>
            </a:r>
          </a:p>
          <a:p>
            <a:pPr marL="926465" marR="1086485" lvl="1" indent="-457200">
              <a:spcBef>
                <a:spcPts val="630"/>
              </a:spcBef>
              <a:buSzPct val="53846"/>
              <a:tabLst>
                <a:tab pos="756285" algn="l"/>
              </a:tabLst>
            </a:pPr>
            <a:r>
              <a:rPr lang="en-US" sz="2600" dirty="0">
                <a:latin typeface="Arial MT"/>
                <a:cs typeface="Arial MT"/>
              </a:rPr>
              <a:t>Each</a:t>
            </a:r>
            <a:r>
              <a:rPr lang="en-US" sz="2600" spc="-25" dirty="0">
                <a:latin typeface="Arial MT"/>
                <a:cs typeface="Arial MT"/>
              </a:rPr>
              <a:t> </a:t>
            </a:r>
            <a:r>
              <a:rPr lang="en-US" sz="2600" dirty="0">
                <a:latin typeface="Arial MT"/>
                <a:cs typeface="Arial MT"/>
              </a:rPr>
              <a:t>user</a:t>
            </a:r>
            <a:r>
              <a:rPr lang="en-US" sz="2600" spc="-20" dirty="0">
                <a:latin typeface="Arial MT"/>
                <a:cs typeface="Arial MT"/>
              </a:rPr>
              <a:t> </a:t>
            </a:r>
            <a:r>
              <a:rPr lang="en-US" sz="2600" dirty="0">
                <a:latin typeface="Arial MT"/>
                <a:cs typeface="Arial MT"/>
              </a:rPr>
              <a:t>may</a:t>
            </a:r>
            <a:r>
              <a:rPr lang="en-US" sz="2600" spc="-35" dirty="0">
                <a:latin typeface="Arial MT"/>
                <a:cs typeface="Arial MT"/>
              </a:rPr>
              <a:t> </a:t>
            </a:r>
            <a:r>
              <a:rPr lang="en-US" sz="2600" dirty="0">
                <a:latin typeface="Arial MT"/>
                <a:cs typeface="Arial MT"/>
              </a:rPr>
              <a:t>see</a:t>
            </a:r>
            <a:r>
              <a:rPr lang="en-US" sz="2600" spc="-10" dirty="0">
                <a:latin typeface="Arial MT"/>
                <a:cs typeface="Arial MT"/>
              </a:rPr>
              <a:t> </a:t>
            </a:r>
            <a:r>
              <a:rPr lang="en-US" sz="2600" dirty="0">
                <a:latin typeface="Arial MT"/>
                <a:cs typeface="Arial MT"/>
              </a:rPr>
              <a:t>a</a:t>
            </a:r>
            <a:r>
              <a:rPr lang="en-US" sz="2600" spc="-10" dirty="0">
                <a:latin typeface="Arial MT"/>
                <a:cs typeface="Arial MT"/>
              </a:rPr>
              <a:t> </a:t>
            </a:r>
            <a:r>
              <a:rPr lang="en-US" sz="2600" dirty="0">
                <a:latin typeface="Arial MT"/>
                <a:cs typeface="Arial MT"/>
              </a:rPr>
              <a:t>different</a:t>
            </a:r>
            <a:r>
              <a:rPr lang="en-US" sz="2600" spc="-10" dirty="0">
                <a:latin typeface="Arial MT"/>
                <a:cs typeface="Arial MT"/>
              </a:rPr>
              <a:t> </a:t>
            </a:r>
            <a:r>
              <a:rPr lang="en-US" sz="2600" dirty="0">
                <a:latin typeface="Arial MT"/>
                <a:cs typeface="Arial MT"/>
              </a:rPr>
              <a:t>view</a:t>
            </a:r>
            <a:r>
              <a:rPr lang="en-US" sz="2600" spc="-25" dirty="0">
                <a:latin typeface="Arial MT"/>
                <a:cs typeface="Arial MT"/>
              </a:rPr>
              <a:t> </a:t>
            </a:r>
            <a:r>
              <a:rPr lang="en-US" sz="2600" dirty="0">
                <a:latin typeface="Arial MT"/>
                <a:cs typeface="Arial MT"/>
              </a:rPr>
              <a:t>of</a:t>
            </a:r>
            <a:r>
              <a:rPr lang="en-US" sz="2600" spc="-10" dirty="0">
                <a:latin typeface="Arial MT"/>
                <a:cs typeface="Arial MT"/>
              </a:rPr>
              <a:t> </a:t>
            </a:r>
            <a:r>
              <a:rPr lang="en-US" sz="2600" spc="-25" dirty="0">
                <a:latin typeface="Arial MT"/>
                <a:cs typeface="Arial MT"/>
              </a:rPr>
              <a:t>the </a:t>
            </a:r>
            <a:r>
              <a:rPr lang="en-US" sz="2600" dirty="0">
                <a:latin typeface="Arial MT"/>
                <a:cs typeface="Arial MT"/>
              </a:rPr>
              <a:t>database,</a:t>
            </a:r>
            <a:r>
              <a:rPr lang="en-US" sz="2600" spc="-60" dirty="0">
                <a:latin typeface="Arial MT"/>
                <a:cs typeface="Arial MT"/>
              </a:rPr>
              <a:t> </a:t>
            </a:r>
            <a:r>
              <a:rPr lang="en-US" sz="2600" dirty="0">
                <a:latin typeface="Arial MT"/>
                <a:cs typeface="Arial MT"/>
              </a:rPr>
              <a:t>which</a:t>
            </a:r>
            <a:r>
              <a:rPr lang="en-US" sz="2600" spc="-70" dirty="0">
                <a:latin typeface="Arial MT"/>
                <a:cs typeface="Arial MT"/>
              </a:rPr>
              <a:t> </a:t>
            </a:r>
            <a:r>
              <a:rPr lang="en-US" sz="2600" dirty="0">
                <a:latin typeface="Arial MT"/>
                <a:cs typeface="Arial MT"/>
              </a:rPr>
              <a:t>describes</a:t>
            </a:r>
            <a:r>
              <a:rPr lang="en-US" sz="2600" spc="-40" dirty="0">
                <a:latin typeface="Arial MT"/>
                <a:cs typeface="Arial MT"/>
              </a:rPr>
              <a:t> </a:t>
            </a:r>
            <a:r>
              <a:rPr lang="en-US" sz="2600" b="1" dirty="0">
                <a:cs typeface="Arial"/>
              </a:rPr>
              <a:t>only</a:t>
            </a:r>
            <a:r>
              <a:rPr lang="en-US" sz="2600" b="1" spc="-60" dirty="0">
                <a:cs typeface="Arial"/>
              </a:rPr>
              <a:t> </a:t>
            </a:r>
            <a:r>
              <a:rPr lang="en-US" sz="2600" dirty="0">
                <a:latin typeface="Arial MT"/>
                <a:cs typeface="Arial MT"/>
              </a:rPr>
              <a:t>the</a:t>
            </a:r>
            <a:r>
              <a:rPr lang="en-US" sz="2600" spc="-45" dirty="0">
                <a:latin typeface="Arial MT"/>
                <a:cs typeface="Arial MT"/>
              </a:rPr>
              <a:t> </a:t>
            </a:r>
            <a:r>
              <a:rPr lang="en-US" sz="2600" dirty="0">
                <a:latin typeface="Arial MT"/>
                <a:cs typeface="Arial MT"/>
              </a:rPr>
              <a:t>data</a:t>
            </a:r>
            <a:r>
              <a:rPr lang="en-US" sz="2600" spc="-40" dirty="0">
                <a:latin typeface="Arial MT"/>
                <a:cs typeface="Arial MT"/>
              </a:rPr>
              <a:t> </a:t>
            </a:r>
            <a:r>
              <a:rPr lang="en-US" sz="2600" spc="-25" dirty="0">
                <a:latin typeface="Arial MT"/>
                <a:cs typeface="Arial MT"/>
              </a:rPr>
              <a:t>of </a:t>
            </a:r>
            <a:r>
              <a:rPr lang="en-US" sz="2600" dirty="0">
                <a:latin typeface="Arial MT"/>
                <a:cs typeface="Arial MT"/>
              </a:rPr>
              <a:t>interest</a:t>
            </a:r>
            <a:r>
              <a:rPr lang="en-US" sz="2600" spc="-35" dirty="0">
                <a:latin typeface="Arial MT"/>
                <a:cs typeface="Arial MT"/>
              </a:rPr>
              <a:t> </a:t>
            </a:r>
            <a:r>
              <a:rPr lang="en-US" sz="2600" dirty="0">
                <a:latin typeface="Arial MT"/>
                <a:cs typeface="Arial MT"/>
              </a:rPr>
              <a:t>to</a:t>
            </a:r>
            <a:r>
              <a:rPr lang="en-US" sz="2600" spc="-20" dirty="0">
                <a:latin typeface="Arial MT"/>
                <a:cs typeface="Arial MT"/>
              </a:rPr>
              <a:t> </a:t>
            </a:r>
            <a:r>
              <a:rPr lang="en-US" sz="2600" dirty="0">
                <a:latin typeface="Arial MT"/>
                <a:cs typeface="Arial MT"/>
              </a:rPr>
              <a:t>that</a:t>
            </a:r>
            <a:r>
              <a:rPr lang="en-US" sz="2600" spc="-25" dirty="0">
                <a:latin typeface="Arial MT"/>
                <a:cs typeface="Arial MT"/>
              </a:rPr>
              <a:t> </a:t>
            </a:r>
            <a:r>
              <a:rPr lang="en-US" sz="2600" spc="-20" dirty="0">
                <a:latin typeface="Arial MT"/>
                <a:cs typeface="Arial MT"/>
              </a:rPr>
              <a:t>user.</a:t>
            </a:r>
            <a:endParaRPr lang="en-US" sz="2600" dirty="0">
              <a:latin typeface="Arial MT"/>
              <a:cs typeface="Arial MT"/>
            </a:endParaRPr>
          </a:p>
          <a:p>
            <a:endParaRPr lang="en-US" dirty="0"/>
          </a:p>
        </p:txBody>
      </p:sp>
    </p:spTree>
    <p:extLst>
      <p:ext uri="{BB962C8B-B14F-4D97-AF65-F5344CB8AC3E}">
        <p14:creationId xmlns="" xmlns:p14="http://schemas.microsoft.com/office/powerpoint/2010/main" val="16106440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9D063C-037A-40A5-8E0F-79A113B78763}"/>
              </a:ext>
            </a:extLst>
          </p:cNvPr>
          <p:cNvSpPr>
            <a:spLocks noGrp="1"/>
          </p:cNvSpPr>
          <p:nvPr>
            <p:ph type="title"/>
          </p:nvPr>
        </p:nvSpPr>
        <p:spPr/>
        <p:txBody>
          <a:bodyPr/>
          <a:lstStyle/>
          <a:p>
            <a:r>
              <a:rPr lang="en-US" dirty="0"/>
              <a:t>Characteristics of the Database Approach</a:t>
            </a:r>
          </a:p>
        </p:txBody>
      </p:sp>
      <p:sp>
        <p:nvSpPr>
          <p:cNvPr id="3" name="Content Placeholder 2">
            <a:extLst>
              <a:ext uri="{FF2B5EF4-FFF2-40B4-BE49-F238E27FC236}">
                <a16:creationId xmlns="" xmlns:a16="http://schemas.microsoft.com/office/drawing/2014/main" id="{F96F12C2-FC1F-4EAD-89BE-B492FF2F7F31}"/>
              </a:ext>
            </a:extLst>
          </p:cNvPr>
          <p:cNvSpPr>
            <a:spLocks noGrp="1"/>
          </p:cNvSpPr>
          <p:nvPr>
            <p:ph idx="1"/>
          </p:nvPr>
        </p:nvSpPr>
        <p:spPr/>
        <p:txBody>
          <a:bodyPr>
            <a:normAutofit fontScale="92500"/>
          </a:bodyPr>
          <a:lstStyle/>
          <a:p>
            <a:pPr marL="355600" marR="1627505" indent="-342900">
              <a:spcBef>
                <a:spcPts val="100"/>
              </a:spcBef>
              <a:buSzPct val="60416"/>
              <a:tabLst>
                <a:tab pos="355600" algn="l"/>
              </a:tabLst>
            </a:pPr>
            <a:r>
              <a:rPr lang="en-US" sz="2400" b="1" dirty="0">
                <a:cs typeface="Arial"/>
              </a:rPr>
              <a:t>Sharing</a:t>
            </a:r>
            <a:r>
              <a:rPr lang="en-US" sz="2400" b="1" spc="-30" dirty="0">
                <a:cs typeface="Arial"/>
              </a:rPr>
              <a:t> </a:t>
            </a:r>
            <a:r>
              <a:rPr lang="en-US" sz="2400" b="1" dirty="0">
                <a:cs typeface="Arial"/>
              </a:rPr>
              <a:t>of</a:t>
            </a:r>
            <a:r>
              <a:rPr lang="en-US" sz="2400" b="1" spc="-40" dirty="0">
                <a:cs typeface="Arial"/>
              </a:rPr>
              <a:t> </a:t>
            </a:r>
            <a:r>
              <a:rPr lang="en-US" sz="2400" b="1" dirty="0">
                <a:cs typeface="Arial"/>
              </a:rPr>
              <a:t>data</a:t>
            </a:r>
            <a:r>
              <a:rPr lang="en-US" sz="2400" b="1" spc="-40" dirty="0">
                <a:cs typeface="Arial"/>
              </a:rPr>
              <a:t> </a:t>
            </a:r>
            <a:r>
              <a:rPr lang="en-US" sz="2400" b="1" dirty="0">
                <a:cs typeface="Arial"/>
              </a:rPr>
              <a:t>and</a:t>
            </a:r>
            <a:r>
              <a:rPr lang="en-US" sz="2400" b="1" spc="-35" dirty="0">
                <a:cs typeface="Arial"/>
              </a:rPr>
              <a:t> </a:t>
            </a:r>
            <a:r>
              <a:rPr lang="en-US" sz="2400" b="1" dirty="0">
                <a:cs typeface="Arial"/>
              </a:rPr>
              <a:t>multi-user</a:t>
            </a:r>
            <a:r>
              <a:rPr lang="en-US" sz="2400" b="1" spc="-50" dirty="0">
                <a:cs typeface="Arial"/>
              </a:rPr>
              <a:t> </a:t>
            </a:r>
            <a:r>
              <a:rPr lang="en-US" sz="2400" b="1" spc="-10" dirty="0">
                <a:cs typeface="Arial"/>
              </a:rPr>
              <a:t>transaction processing:</a:t>
            </a:r>
            <a:endParaRPr lang="en-US" sz="2400" dirty="0">
              <a:cs typeface="Arial"/>
            </a:endParaRPr>
          </a:p>
          <a:p>
            <a:pPr marL="812165" marR="140970" lvl="1" indent="-342900">
              <a:spcBef>
                <a:spcPts val="525"/>
              </a:spcBef>
              <a:buSzPct val="54545"/>
              <a:tabLst>
                <a:tab pos="756285" algn="l"/>
              </a:tabLst>
            </a:pPr>
            <a:r>
              <a:rPr lang="en-US" sz="2200" dirty="0">
                <a:latin typeface="Arial MT"/>
                <a:cs typeface="Arial MT"/>
              </a:rPr>
              <a:t>Allowing</a:t>
            </a:r>
            <a:r>
              <a:rPr lang="en-US" sz="2200" spc="-60" dirty="0">
                <a:latin typeface="Arial MT"/>
                <a:cs typeface="Arial MT"/>
              </a:rPr>
              <a:t> </a:t>
            </a:r>
            <a:r>
              <a:rPr lang="en-US" sz="2200" dirty="0">
                <a:latin typeface="Arial MT"/>
                <a:cs typeface="Arial MT"/>
              </a:rPr>
              <a:t>a</a:t>
            </a:r>
            <a:r>
              <a:rPr lang="en-US" sz="2200" spc="-55" dirty="0">
                <a:latin typeface="Arial MT"/>
                <a:cs typeface="Arial MT"/>
              </a:rPr>
              <a:t> </a:t>
            </a:r>
            <a:r>
              <a:rPr lang="en-US" sz="2200" dirty="0">
                <a:latin typeface="Arial MT"/>
                <a:cs typeface="Arial MT"/>
              </a:rPr>
              <a:t>set</a:t>
            </a:r>
            <a:r>
              <a:rPr lang="en-US" sz="2200" spc="-50" dirty="0">
                <a:latin typeface="Arial MT"/>
                <a:cs typeface="Arial MT"/>
              </a:rPr>
              <a:t> </a:t>
            </a:r>
            <a:r>
              <a:rPr lang="en-US" sz="2200" dirty="0">
                <a:latin typeface="Arial MT"/>
                <a:cs typeface="Arial MT"/>
              </a:rPr>
              <a:t>of</a:t>
            </a:r>
            <a:r>
              <a:rPr lang="en-US" sz="2200" spc="-40" dirty="0">
                <a:latin typeface="Arial MT"/>
                <a:cs typeface="Arial MT"/>
              </a:rPr>
              <a:t> </a:t>
            </a:r>
            <a:r>
              <a:rPr lang="en-US" sz="2200" b="1" dirty="0">
                <a:cs typeface="Arial"/>
              </a:rPr>
              <a:t>concurrent</a:t>
            </a:r>
            <a:r>
              <a:rPr lang="en-US" sz="2200" b="1" spc="-20" dirty="0">
                <a:cs typeface="Arial"/>
              </a:rPr>
              <a:t> </a:t>
            </a:r>
            <a:r>
              <a:rPr lang="en-US" sz="2200" b="1" dirty="0">
                <a:cs typeface="Arial"/>
              </a:rPr>
              <a:t>users</a:t>
            </a:r>
            <a:r>
              <a:rPr lang="en-US" sz="2200" b="1" spc="-25" dirty="0">
                <a:cs typeface="Arial"/>
              </a:rPr>
              <a:t> </a:t>
            </a:r>
            <a:r>
              <a:rPr lang="en-US" sz="2200" dirty="0">
                <a:latin typeface="Arial MT"/>
                <a:cs typeface="Arial MT"/>
              </a:rPr>
              <a:t>to</a:t>
            </a:r>
            <a:r>
              <a:rPr lang="en-US" sz="2200" spc="-50" dirty="0">
                <a:latin typeface="Arial MT"/>
                <a:cs typeface="Arial MT"/>
              </a:rPr>
              <a:t> </a:t>
            </a:r>
            <a:r>
              <a:rPr lang="en-US" sz="2200" dirty="0">
                <a:latin typeface="Arial MT"/>
                <a:cs typeface="Arial MT"/>
              </a:rPr>
              <a:t>retrieve</a:t>
            </a:r>
            <a:r>
              <a:rPr lang="en-US" sz="2200" spc="-45" dirty="0">
                <a:latin typeface="Arial MT"/>
                <a:cs typeface="Arial MT"/>
              </a:rPr>
              <a:t> </a:t>
            </a:r>
            <a:r>
              <a:rPr lang="en-US" sz="2200" dirty="0">
                <a:latin typeface="Arial MT"/>
                <a:cs typeface="Arial MT"/>
              </a:rPr>
              <a:t>from</a:t>
            </a:r>
            <a:r>
              <a:rPr lang="en-US" sz="2200" spc="-30" dirty="0">
                <a:latin typeface="Arial MT"/>
                <a:cs typeface="Arial MT"/>
              </a:rPr>
              <a:t> </a:t>
            </a:r>
            <a:r>
              <a:rPr lang="en-US" sz="2200" dirty="0">
                <a:latin typeface="Arial MT"/>
                <a:cs typeface="Arial MT"/>
              </a:rPr>
              <a:t>and</a:t>
            </a:r>
            <a:r>
              <a:rPr lang="en-US" sz="2200" spc="-45" dirty="0">
                <a:latin typeface="Arial MT"/>
                <a:cs typeface="Arial MT"/>
              </a:rPr>
              <a:t> </a:t>
            </a:r>
            <a:r>
              <a:rPr lang="en-US" sz="2200" spc="-25" dirty="0">
                <a:latin typeface="Arial MT"/>
                <a:cs typeface="Arial MT"/>
              </a:rPr>
              <a:t>to </a:t>
            </a:r>
            <a:r>
              <a:rPr lang="en-US" sz="2200" dirty="0">
                <a:latin typeface="Arial MT"/>
                <a:cs typeface="Arial MT"/>
              </a:rPr>
              <a:t>update</a:t>
            </a:r>
            <a:r>
              <a:rPr lang="en-US" sz="2200" spc="-65" dirty="0">
                <a:latin typeface="Arial MT"/>
                <a:cs typeface="Arial MT"/>
              </a:rPr>
              <a:t> </a:t>
            </a:r>
            <a:r>
              <a:rPr lang="en-US" sz="2200" dirty="0">
                <a:latin typeface="Arial MT"/>
                <a:cs typeface="Arial MT"/>
              </a:rPr>
              <a:t>the</a:t>
            </a:r>
            <a:r>
              <a:rPr lang="en-US" sz="2200" spc="-45" dirty="0">
                <a:latin typeface="Arial MT"/>
                <a:cs typeface="Arial MT"/>
              </a:rPr>
              <a:t> </a:t>
            </a:r>
            <a:r>
              <a:rPr lang="en-US" sz="2200" spc="-10" dirty="0">
                <a:latin typeface="Arial MT"/>
                <a:cs typeface="Arial MT"/>
              </a:rPr>
              <a:t>database.</a:t>
            </a:r>
            <a:endParaRPr lang="en-US" sz="2200" dirty="0">
              <a:latin typeface="Arial MT"/>
              <a:cs typeface="Arial MT"/>
            </a:endParaRPr>
          </a:p>
          <a:p>
            <a:pPr marL="812800" lvl="1" indent="-342900">
              <a:spcBef>
                <a:spcPts val="530"/>
              </a:spcBef>
              <a:buSzPct val="54545"/>
              <a:tabLst>
                <a:tab pos="756285" algn="l"/>
              </a:tabLst>
            </a:pPr>
            <a:r>
              <a:rPr lang="en-US" sz="2200" i="1" dirty="0">
                <a:cs typeface="Arial"/>
              </a:rPr>
              <a:t>Concurrency</a:t>
            </a:r>
            <a:r>
              <a:rPr lang="en-US" sz="2200" i="1" spc="-70" dirty="0">
                <a:cs typeface="Arial"/>
              </a:rPr>
              <a:t> </a:t>
            </a:r>
            <a:r>
              <a:rPr lang="en-US" sz="2200" i="1" dirty="0">
                <a:cs typeface="Arial"/>
              </a:rPr>
              <a:t>control</a:t>
            </a:r>
            <a:r>
              <a:rPr lang="en-US" sz="2200" i="1" spc="-60" dirty="0">
                <a:cs typeface="Arial"/>
              </a:rPr>
              <a:t> </a:t>
            </a:r>
            <a:r>
              <a:rPr lang="en-US" sz="2200" dirty="0">
                <a:latin typeface="Arial MT"/>
                <a:cs typeface="Arial MT"/>
              </a:rPr>
              <a:t>within</a:t>
            </a:r>
            <a:r>
              <a:rPr lang="en-US" sz="2200" spc="-80" dirty="0">
                <a:latin typeface="Arial MT"/>
                <a:cs typeface="Arial MT"/>
              </a:rPr>
              <a:t> </a:t>
            </a:r>
            <a:r>
              <a:rPr lang="en-US" sz="2200" dirty="0">
                <a:latin typeface="Arial MT"/>
                <a:cs typeface="Arial MT"/>
              </a:rPr>
              <a:t>the</a:t>
            </a:r>
            <a:r>
              <a:rPr lang="en-US" sz="2200" spc="-75" dirty="0">
                <a:latin typeface="Arial MT"/>
                <a:cs typeface="Arial MT"/>
              </a:rPr>
              <a:t> </a:t>
            </a:r>
            <a:r>
              <a:rPr lang="en-US" sz="2200" dirty="0">
                <a:latin typeface="Arial MT"/>
                <a:cs typeface="Arial MT"/>
              </a:rPr>
              <a:t>DBMS</a:t>
            </a:r>
            <a:r>
              <a:rPr lang="en-US" sz="2200" spc="-80" dirty="0">
                <a:latin typeface="Arial MT"/>
                <a:cs typeface="Arial MT"/>
              </a:rPr>
              <a:t> </a:t>
            </a:r>
            <a:r>
              <a:rPr lang="en-US" sz="2200" dirty="0">
                <a:latin typeface="Arial MT"/>
                <a:cs typeface="Arial MT"/>
              </a:rPr>
              <a:t>guarantees</a:t>
            </a:r>
            <a:r>
              <a:rPr lang="en-US" sz="2200" spc="-65" dirty="0">
                <a:latin typeface="Arial MT"/>
                <a:cs typeface="Arial MT"/>
              </a:rPr>
              <a:t> </a:t>
            </a:r>
            <a:r>
              <a:rPr lang="en-US" sz="2200" dirty="0">
                <a:latin typeface="Arial MT"/>
                <a:cs typeface="Arial MT"/>
              </a:rPr>
              <a:t>that</a:t>
            </a:r>
            <a:r>
              <a:rPr lang="en-US" sz="2200" spc="-85" dirty="0">
                <a:latin typeface="Arial MT"/>
                <a:cs typeface="Arial MT"/>
              </a:rPr>
              <a:t> </a:t>
            </a:r>
            <a:r>
              <a:rPr lang="en-US" sz="2200" spc="-20" dirty="0">
                <a:latin typeface="Arial MT"/>
                <a:cs typeface="Arial MT"/>
              </a:rPr>
              <a:t>each </a:t>
            </a:r>
            <a:r>
              <a:rPr lang="en-US" sz="2200" b="1" dirty="0">
                <a:cs typeface="Arial"/>
              </a:rPr>
              <a:t>transaction</a:t>
            </a:r>
            <a:r>
              <a:rPr lang="en-US" sz="2200" b="1" spc="-40" dirty="0">
                <a:cs typeface="Arial"/>
              </a:rPr>
              <a:t> </a:t>
            </a:r>
            <a:r>
              <a:rPr lang="en-US" sz="2200" dirty="0">
                <a:latin typeface="Arial MT"/>
                <a:cs typeface="Arial MT"/>
              </a:rPr>
              <a:t>is</a:t>
            </a:r>
            <a:r>
              <a:rPr lang="en-US" sz="2200" spc="-75" dirty="0">
                <a:latin typeface="Arial MT"/>
                <a:cs typeface="Arial MT"/>
              </a:rPr>
              <a:t> </a:t>
            </a:r>
            <a:r>
              <a:rPr lang="en-US" sz="2200" dirty="0">
                <a:latin typeface="Arial MT"/>
                <a:cs typeface="Arial MT"/>
              </a:rPr>
              <a:t>correctly</a:t>
            </a:r>
            <a:r>
              <a:rPr lang="en-US" sz="2200" spc="-75" dirty="0">
                <a:latin typeface="Arial MT"/>
                <a:cs typeface="Arial MT"/>
              </a:rPr>
              <a:t> </a:t>
            </a:r>
            <a:r>
              <a:rPr lang="en-US" sz="2200" dirty="0">
                <a:latin typeface="Arial MT"/>
                <a:cs typeface="Arial MT"/>
              </a:rPr>
              <a:t>executed</a:t>
            </a:r>
            <a:r>
              <a:rPr lang="en-US" sz="2200" spc="-55" dirty="0">
                <a:latin typeface="Arial MT"/>
                <a:cs typeface="Arial MT"/>
              </a:rPr>
              <a:t> </a:t>
            </a:r>
            <a:r>
              <a:rPr lang="en-US" sz="2200" dirty="0">
                <a:latin typeface="Arial MT"/>
                <a:cs typeface="Arial MT"/>
              </a:rPr>
              <a:t>or</a:t>
            </a:r>
            <a:r>
              <a:rPr lang="en-US" sz="2200" spc="-80" dirty="0">
                <a:latin typeface="Arial MT"/>
                <a:cs typeface="Arial MT"/>
              </a:rPr>
              <a:t> </a:t>
            </a:r>
            <a:r>
              <a:rPr lang="en-US" sz="2200" spc="-10" dirty="0">
                <a:latin typeface="Arial MT"/>
                <a:cs typeface="Arial MT"/>
              </a:rPr>
              <a:t>aborted</a:t>
            </a:r>
            <a:endParaRPr lang="en-US" sz="2200" dirty="0">
              <a:latin typeface="Arial MT"/>
              <a:cs typeface="Arial MT"/>
            </a:endParaRPr>
          </a:p>
          <a:p>
            <a:pPr marL="812165" marR="191135" lvl="1" indent="-342900">
              <a:spcBef>
                <a:spcPts val="530"/>
              </a:spcBef>
              <a:buSzPct val="54545"/>
              <a:tabLst>
                <a:tab pos="756285" algn="l"/>
              </a:tabLst>
            </a:pPr>
            <a:r>
              <a:rPr lang="en-US" sz="2200" i="1" dirty="0">
                <a:cs typeface="Arial"/>
              </a:rPr>
              <a:t>Recovery</a:t>
            </a:r>
            <a:r>
              <a:rPr lang="en-US" sz="2200" i="1" spc="-75" dirty="0">
                <a:cs typeface="Arial"/>
              </a:rPr>
              <a:t> </a:t>
            </a:r>
            <a:r>
              <a:rPr lang="en-US" sz="2200" dirty="0">
                <a:latin typeface="Arial MT"/>
                <a:cs typeface="Arial MT"/>
              </a:rPr>
              <a:t>subsystem</a:t>
            </a:r>
            <a:r>
              <a:rPr lang="en-US" sz="2200" spc="-80" dirty="0">
                <a:latin typeface="Arial MT"/>
                <a:cs typeface="Arial MT"/>
              </a:rPr>
              <a:t> </a:t>
            </a:r>
            <a:r>
              <a:rPr lang="en-US" sz="2200" dirty="0">
                <a:latin typeface="Arial MT"/>
                <a:cs typeface="Arial MT"/>
              </a:rPr>
              <a:t>ensures</a:t>
            </a:r>
            <a:r>
              <a:rPr lang="en-US" sz="2200" spc="-85" dirty="0">
                <a:latin typeface="Arial MT"/>
                <a:cs typeface="Arial MT"/>
              </a:rPr>
              <a:t> </a:t>
            </a:r>
            <a:r>
              <a:rPr lang="en-US" sz="2200" dirty="0">
                <a:latin typeface="Arial MT"/>
                <a:cs typeface="Arial MT"/>
              </a:rPr>
              <a:t>each</a:t>
            </a:r>
            <a:r>
              <a:rPr lang="en-US" sz="2200" spc="-90" dirty="0">
                <a:latin typeface="Arial MT"/>
                <a:cs typeface="Arial MT"/>
              </a:rPr>
              <a:t> </a:t>
            </a:r>
            <a:r>
              <a:rPr lang="en-US" sz="2200" dirty="0">
                <a:latin typeface="Arial MT"/>
                <a:cs typeface="Arial MT"/>
              </a:rPr>
              <a:t>completed</a:t>
            </a:r>
            <a:r>
              <a:rPr lang="en-US" sz="2200" spc="-80" dirty="0">
                <a:latin typeface="Arial MT"/>
                <a:cs typeface="Arial MT"/>
              </a:rPr>
              <a:t> </a:t>
            </a:r>
            <a:r>
              <a:rPr lang="en-US" sz="2200" spc="-10" dirty="0">
                <a:latin typeface="Arial MT"/>
                <a:cs typeface="Arial MT"/>
              </a:rPr>
              <a:t>transaction </a:t>
            </a:r>
            <a:r>
              <a:rPr lang="en-US" sz="2200" dirty="0">
                <a:latin typeface="Arial MT"/>
                <a:cs typeface="Arial MT"/>
              </a:rPr>
              <a:t>has</a:t>
            </a:r>
            <a:r>
              <a:rPr lang="en-US" sz="2200" spc="-55" dirty="0">
                <a:latin typeface="Arial MT"/>
                <a:cs typeface="Arial MT"/>
              </a:rPr>
              <a:t> </a:t>
            </a:r>
            <a:r>
              <a:rPr lang="en-US" sz="2200" dirty="0">
                <a:latin typeface="Arial MT"/>
                <a:cs typeface="Arial MT"/>
              </a:rPr>
              <a:t>its</a:t>
            </a:r>
            <a:r>
              <a:rPr lang="en-US" sz="2200" spc="-65" dirty="0">
                <a:latin typeface="Arial MT"/>
                <a:cs typeface="Arial MT"/>
              </a:rPr>
              <a:t> </a:t>
            </a:r>
            <a:r>
              <a:rPr lang="en-US" sz="2200" dirty="0">
                <a:latin typeface="Arial MT"/>
                <a:cs typeface="Arial MT"/>
              </a:rPr>
              <a:t>effect</a:t>
            </a:r>
            <a:r>
              <a:rPr lang="en-US" sz="2200" spc="-60" dirty="0">
                <a:latin typeface="Arial MT"/>
                <a:cs typeface="Arial MT"/>
              </a:rPr>
              <a:t> </a:t>
            </a:r>
            <a:r>
              <a:rPr lang="en-US" sz="2200" dirty="0">
                <a:latin typeface="Arial MT"/>
                <a:cs typeface="Arial MT"/>
              </a:rPr>
              <a:t>permanently</a:t>
            </a:r>
            <a:r>
              <a:rPr lang="en-US" sz="2200" spc="-35" dirty="0">
                <a:latin typeface="Arial MT"/>
                <a:cs typeface="Arial MT"/>
              </a:rPr>
              <a:t> </a:t>
            </a:r>
            <a:r>
              <a:rPr lang="en-US" sz="2200" dirty="0">
                <a:latin typeface="Arial MT"/>
                <a:cs typeface="Arial MT"/>
              </a:rPr>
              <a:t>recorded</a:t>
            </a:r>
            <a:r>
              <a:rPr lang="en-US" sz="2200" spc="-45" dirty="0">
                <a:latin typeface="Arial MT"/>
                <a:cs typeface="Arial MT"/>
              </a:rPr>
              <a:t> </a:t>
            </a:r>
            <a:r>
              <a:rPr lang="en-US" sz="2200" dirty="0">
                <a:latin typeface="Arial MT"/>
                <a:cs typeface="Arial MT"/>
              </a:rPr>
              <a:t>in</a:t>
            </a:r>
            <a:r>
              <a:rPr lang="en-US" sz="2200" spc="-55" dirty="0">
                <a:latin typeface="Arial MT"/>
                <a:cs typeface="Arial MT"/>
              </a:rPr>
              <a:t> </a:t>
            </a:r>
            <a:r>
              <a:rPr lang="en-US" sz="2200" dirty="0">
                <a:latin typeface="Arial MT"/>
                <a:cs typeface="Arial MT"/>
              </a:rPr>
              <a:t>the</a:t>
            </a:r>
            <a:r>
              <a:rPr lang="en-US" sz="2200" spc="-55" dirty="0">
                <a:latin typeface="Arial MT"/>
                <a:cs typeface="Arial MT"/>
              </a:rPr>
              <a:t> </a:t>
            </a:r>
            <a:r>
              <a:rPr lang="en-US" sz="2200" spc="-10" dirty="0">
                <a:latin typeface="Arial MT"/>
                <a:cs typeface="Arial MT"/>
              </a:rPr>
              <a:t>database</a:t>
            </a:r>
            <a:endParaRPr lang="en-US" sz="2200" dirty="0">
              <a:latin typeface="Arial MT"/>
              <a:cs typeface="Arial MT"/>
            </a:endParaRPr>
          </a:p>
          <a:p>
            <a:pPr marL="812165" marR="159385" lvl="1" indent="-342900">
              <a:spcBef>
                <a:spcPts val="525"/>
              </a:spcBef>
              <a:buSzPct val="54545"/>
              <a:tabLst>
                <a:tab pos="756285" algn="l"/>
              </a:tabLst>
            </a:pPr>
            <a:r>
              <a:rPr lang="en-US" sz="2200" b="1" dirty="0">
                <a:cs typeface="Arial"/>
              </a:rPr>
              <a:t>OLTP</a:t>
            </a:r>
            <a:r>
              <a:rPr lang="en-US" sz="2200" b="1" spc="-50" dirty="0">
                <a:cs typeface="Arial"/>
              </a:rPr>
              <a:t> </a:t>
            </a:r>
            <a:r>
              <a:rPr lang="en-US" sz="2200" dirty="0">
                <a:latin typeface="Arial MT"/>
                <a:cs typeface="Arial MT"/>
              </a:rPr>
              <a:t>(Online</a:t>
            </a:r>
            <a:r>
              <a:rPr lang="en-US" sz="2200" spc="-60" dirty="0">
                <a:latin typeface="Arial MT"/>
                <a:cs typeface="Arial MT"/>
              </a:rPr>
              <a:t> </a:t>
            </a:r>
            <a:r>
              <a:rPr lang="en-US" sz="2200" dirty="0">
                <a:latin typeface="Arial MT"/>
                <a:cs typeface="Arial MT"/>
              </a:rPr>
              <a:t>Transaction</a:t>
            </a:r>
            <a:r>
              <a:rPr lang="en-US" sz="2200" spc="-55" dirty="0">
                <a:latin typeface="Arial MT"/>
                <a:cs typeface="Arial MT"/>
              </a:rPr>
              <a:t> </a:t>
            </a:r>
            <a:r>
              <a:rPr lang="en-US" sz="2200" dirty="0">
                <a:latin typeface="Arial MT"/>
                <a:cs typeface="Arial MT"/>
              </a:rPr>
              <a:t>Processing)</a:t>
            </a:r>
            <a:r>
              <a:rPr lang="en-US" sz="2200" spc="-65" dirty="0">
                <a:latin typeface="Arial MT"/>
                <a:cs typeface="Arial MT"/>
              </a:rPr>
              <a:t> </a:t>
            </a:r>
            <a:r>
              <a:rPr lang="en-US" sz="2200" dirty="0">
                <a:latin typeface="Arial MT"/>
                <a:cs typeface="Arial MT"/>
              </a:rPr>
              <a:t>is</a:t>
            </a:r>
            <a:r>
              <a:rPr lang="en-US" sz="2200" spc="-70" dirty="0">
                <a:latin typeface="Arial MT"/>
                <a:cs typeface="Arial MT"/>
              </a:rPr>
              <a:t> </a:t>
            </a:r>
            <a:r>
              <a:rPr lang="en-US" sz="2200" dirty="0">
                <a:latin typeface="Arial MT"/>
                <a:cs typeface="Arial MT"/>
              </a:rPr>
              <a:t>a</a:t>
            </a:r>
            <a:r>
              <a:rPr lang="en-US" sz="2200" spc="-65" dirty="0">
                <a:latin typeface="Arial MT"/>
                <a:cs typeface="Arial MT"/>
              </a:rPr>
              <a:t> </a:t>
            </a:r>
            <a:r>
              <a:rPr lang="en-US" sz="2200" dirty="0">
                <a:latin typeface="Arial MT"/>
                <a:cs typeface="Arial MT"/>
              </a:rPr>
              <a:t>major</a:t>
            </a:r>
            <a:r>
              <a:rPr lang="en-US" sz="2200" spc="-55" dirty="0">
                <a:latin typeface="Arial MT"/>
                <a:cs typeface="Arial MT"/>
              </a:rPr>
              <a:t> </a:t>
            </a:r>
            <a:r>
              <a:rPr lang="en-US" sz="2200" dirty="0">
                <a:latin typeface="Arial MT"/>
                <a:cs typeface="Arial MT"/>
              </a:rPr>
              <a:t>part</a:t>
            </a:r>
            <a:r>
              <a:rPr lang="en-US" sz="2200" spc="-55" dirty="0">
                <a:latin typeface="Arial MT"/>
                <a:cs typeface="Arial MT"/>
              </a:rPr>
              <a:t> </a:t>
            </a:r>
            <a:r>
              <a:rPr lang="en-US" sz="2200" spc="-25" dirty="0">
                <a:latin typeface="Arial MT"/>
                <a:cs typeface="Arial MT"/>
              </a:rPr>
              <a:t>of </a:t>
            </a:r>
            <a:r>
              <a:rPr lang="en-US" sz="2200" dirty="0">
                <a:latin typeface="Arial MT"/>
                <a:cs typeface="Arial MT"/>
              </a:rPr>
              <a:t>database</a:t>
            </a:r>
            <a:r>
              <a:rPr lang="en-US" sz="2200" spc="-75" dirty="0">
                <a:latin typeface="Arial MT"/>
                <a:cs typeface="Arial MT"/>
              </a:rPr>
              <a:t> </a:t>
            </a:r>
            <a:r>
              <a:rPr lang="en-US" sz="2200" dirty="0">
                <a:latin typeface="Arial MT"/>
                <a:cs typeface="Arial MT"/>
              </a:rPr>
              <a:t>applications.</a:t>
            </a:r>
            <a:r>
              <a:rPr lang="en-US" sz="2200" spc="-90" dirty="0">
                <a:latin typeface="Arial MT"/>
                <a:cs typeface="Arial MT"/>
              </a:rPr>
              <a:t> </a:t>
            </a:r>
            <a:r>
              <a:rPr lang="en-US" sz="2200" dirty="0">
                <a:latin typeface="Arial MT"/>
                <a:cs typeface="Arial MT"/>
              </a:rPr>
              <a:t>This</a:t>
            </a:r>
            <a:r>
              <a:rPr lang="en-US" sz="2200" spc="-75" dirty="0">
                <a:latin typeface="Arial MT"/>
                <a:cs typeface="Arial MT"/>
              </a:rPr>
              <a:t> </a:t>
            </a:r>
            <a:r>
              <a:rPr lang="en-US" sz="2200" dirty="0">
                <a:latin typeface="Arial MT"/>
                <a:cs typeface="Arial MT"/>
              </a:rPr>
              <a:t>allows</a:t>
            </a:r>
            <a:r>
              <a:rPr lang="en-US" sz="2200" spc="-85" dirty="0">
                <a:latin typeface="Arial MT"/>
                <a:cs typeface="Arial MT"/>
              </a:rPr>
              <a:t> </a:t>
            </a:r>
            <a:r>
              <a:rPr lang="en-US" sz="2200" dirty="0">
                <a:latin typeface="Arial MT"/>
                <a:cs typeface="Arial MT"/>
              </a:rPr>
              <a:t>hundreds</a:t>
            </a:r>
            <a:r>
              <a:rPr lang="en-US" sz="2200" spc="-70" dirty="0">
                <a:latin typeface="Arial MT"/>
                <a:cs typeface="Arial MT"/>
              </a:rPr>
              <a:t> </a:t>
            </a:r>
            <a:r>
              <a:rPr lang="en-US" sz="2200" dirty="0">
                <a:latin typeface="Arial MT"/>
                <a:cs typeface="Arial MT"/>
              </a:rPr>
              <a:t>of</a:t>
            </a:r>
            <a:r>
              <a:rPr lang="en-US" sz="2200" spc="-80" dirty="0">
                <a:latin typeface="Arial MT"/>
                <a:cs typeface="Arial MT"/>
              </a:rPr>
              <a:t> </a:t>
            </a:r>
            <a:r>
              <a:rPr lang="en-US" sz="2200" spc="-10" dirty="0">
                <a:latin typeface="Arial MT"/>
                <a:cs typeface="Arial MT"/>
              </a:rPr>
              <a:t>concurrent </a:t>
            </a:r>
            <a:r>
              <a:rPr lang="en-US" sz="2200" dirty="0">
                <a:latin typeface="Arial MT"/>
                <a:cs typeface="Arial MT"/>
              </a:rPr>
              <a:t>transactions</a:t>
            </a:r>
            <a:r>
              <a:rPr lang="en-US" sz="2200" spc="-70" dirty="0">
                <a:latin typeface="Arial MT"/>
                <a:cs typeface="Arial MT"/>
              </a:rPr>
              <a:t> </a:t>
            </a:r>
            <a:r>
              <a:rPr lang="en-US" sz="2200" dirty="0">
                <a:latin typeface="Arial MT"/>
                <a:cs typeface="Arial MT"/>
              </a:rPr>
              <a:t>to</a:t>
            </a:r>
            <a:r>
              <a:rPr lang="en-US" sz="2200" spc="-70" dirty="0">
                <a:latin typeface="Arial MT"/>
                <a:cs typeface="Arial MT"/>
              </a:rPr>
              <a:t> </a:t>
            </a:r>
            <a:r>
              <a:rPr lang="en-US" sz="2200" dirty="0">
                <a:latin typeface="Arial MT"/>
                <a:cs typeface="Arial MT"/>
              </a:rPr>
              <a:t>execute</a:t>
            </a:r>
            <a:r>
              <a:rPr lang="en-US" sz="2200" spc="-60" dirty="0">
                <a:latin typeface="Arial MT"/>
                <a:cs typeface="Arial MT"/>
              </a:rPr>
              <a:t> </a:t>
            </a:r>
            <a:r>
              <a:rPr lang="en-US" sz="2200" dirty="0">
                <a:latin typeface="Arial MT"/>
                <a:cs typeface="Arial MT"/>
              </a:rPr>
              <a:t>per</a:t>
            </a:r>
            <a:r>
              <a:rPr lang="en-US" sz="2200" spc="-75" dirty="0">
                <a:latin typeface="Arial MT"/>
                <a:cs typeface="Arial MT"/>
              </a:rPr>
              <a:t> </a:t>
            </a:r>
            <a:r>
              <a:rPr lang="en-US" sz="2200" spc="-10" dirty="0">
                <a:latin typeface="Arial MT"/>
                <a:cs typeface="Arial MT"/>
              </a:rPr>
              <a:t>second.</a:t>
            </a:r>
            <a:endParaRPr lang="en-US" sz="2200" dirty="0">
              <a:latin typeface="Arial MT"/>
              <a:cs typeface="Arial MT"/>
            </a:endParaRPr>
          </a:p>
          <a:p>
            <a:endParaRPr lang="en-US" dirty="0"/>
          </a:p>
        </p:txBody>
      </p:sp>
    </p:spTree>
    <p:extLst>
      <p:ext uri="{BB962C8B-B14F-4D97-AF65-F5344CB8AC3E}">
        <p14:creationId xmlns="" xmlns:p14="http://schemas.microsoft.com/office/powerpoint/2010/main" val="38640229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15A884-6B13-4916-92DF-0DADC32E569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167FE8D1-EFF9-4401-BA0E-69A73C1E2915}"/>
              </a:ext>
            </a:extLst>
          </p:cNvPr>
          <p:cNvSpPr>
            <a:spLocks noGrp="1"/>
          </p:cNvSpPr>
          <p:nvPr>
            <p:ph idx="1"/>
          </p:nvPr>
        </p:nvSpPr>
        <p:spPr/>
        <p:txBody>
          <a:bodyPr>
            <a:normAutofit/>
          </a:bodyPr>
          <a:lstStyle/>
          <a:p>
            <a:r>
              <a:rPr lang="en-US" b="1" dirty="0"/>
              <a:t>What is a key characteristic of the Database Approach?</a:t>
            </a:r>
            <a:endParaRPr lang="en-US" dirty="0"/>
          </a:p>
          <a:p>
            <a:r>
              <a:rPr lang="en-US" dirty="0"/>
              <a:t>A) Redundancy</a:t>
            </a:r>
          </a:p>
          <a:p>
            <a:r>
              <a:rPr lang="en-US" dirty="0"/>
              <a:t>B) Data Independence</a:t>
            </a:r>
          </a:p>
          <a:p>
            <a:r>
              <a:rPr lang="en-US" dirty="0"/>
              <a:t>C) Limited Storage</a:t>
            </a:r>
          </a:p>
          <a:p>
            <a:r>
              <a:rPr lang="en-US" dirty="0"/>
              <a:t>D) No Relationships</a:t>
            </a:r>
          </a:p>
          <a:p>
            <a:endParaRPr lang="en-US" dirty="0"/>
          </a:p>
        </p:txBody>
      </p:sp>
    </p:spTree>
    <p:extLst>
      <p:ext uri="{BB962C8B-B14F-4D97-AF65-F5344CB8AC3E}">
        <p14:creationId xmlns="" xmlns:p14="http://schemas.microsoft.com/office/powerpoint/2010/main" val="34451449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15A884-6B13-4916-92DF-0DADC32E569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167FE8D1-EFF9-4401-BA0E-69A73C1E2915}"/>
              </a:ext>
            </a:extLst>
          </p:cNvPr>
          <p:cNvSpPr>
            <a:spLocks noGrp="1"/>
          </p:cNvSpPr>
          <p:nvPr>
            <p:ph idx="1"/>
          </p:nvPr>
        </p:nvSpPr>
        <p:spPr/>
        <p:txBody>
          <a:bodyPr>
            <a:normAutofit/>
          </a:bodyPr>
          <a:lstStyle/>
          <a:p>
            <a:r>
              <a:rPr lang="en-US" b="1" dirty="0"/>
              <a:t>What is a key characteristic of the Database Approach?</a:t>
            </a:r>
            <a:endParaRPr lang="en-US" dirty="0"/>
          </a:p>
          <a:p>
            <a:r>
              <a:rPr lang="en-US" dirty="0"/>
              <a:t>A) Redundancy</a:t>
            </a:r>
          </a:p>
          <a:p>
            <a:r>
              <a:rPr lang="en-US" dirty="0">
                <a:solidFill>
                  <a:srgbClr val="00B050"/>
                </a:solidFill>
              </a:rPr>
              <a:t>B) Data Independence</a:t>
            </a:r>
          </a:p>
          <a:p>
            <a:r>
              <a:rPr lang="en-US" dirty="0"/>
              <a:t>C) Limited Storage</a:t>
            </a:r>
          </a:p>
          <a:p>
            <a:r>
              <a:rPr lang="en-US" dirty="0"/>
              <a:t>D) No Relationships</a:t>
            </a:r>
          </a:p>
          <a:p>
            <a:endParaRPr lang="en-US" dirty="0"/>
          </a:p>
        </p:txBody>
      </p:sp>
    </p:spTree>
    <p:extLst>
      <p:ext uri="{BB962C8B-B14F-4D97-AF65-F5344CB8AC3E}">
        <p14:creationId xmlns="" xmlns:p14="http://schemas.microsoft.com/office/powerpoint/2010/main" val="8905117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EB869E-1961-4BEE-93AF-5B46F199C078}"/>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FAA346AB-BCC1-4FB6-89FF-5F3BB3972C1E}"/>
              </a:ext>
            </a:extLst>
          </p:cNvPr>
          <p:cNvSpPr>
            <a:spLocks noGrp="1"/>
          </p:cNvSpPr>
          <p:nvPr>
            <p:ph idx="1"/>
          </p:nvPr>
        </p:nvSpPr>
        <p:spPr/>
        <p:txBody>
          <a:bodyPr>
            <a:normAutofit lnSpcReduction="10000"/>
          </a:bodyPr>
          <a:lstStyle/>
          <a:p>
            <a:r>
              <a:rPr lang="en-US" b="1" dirty="0"/>
              <a:t>Why is data redundancy considered a disadvantage in traditional file processing systems?</a:t>
            </a:r>
            <a:endParaRPr lang="en-US" dirty="0"/>
          </a:p>
          <a:p>
            <a:r>
              <a:rPr lang="en-US" dirty="0"/>
              <a:t>A) It simplifies data retrieval</a:t>
            </a:r>
          </a:p>
          <a:p>
            <a:r>
              <a:rPr lang="en-US" dirty="0"/>
              <a:t>B) It reduces storage space</a:t>
            </a:r>
          </a:p>
          <a:p>
            <a:r>
              <a:rPr lang="en-US" dirty="0"/>
              <a:t>C) It may lead to inconsistencies and errors</a:t>
            </a:r>
          </a:p>
          <a:p>
            <a:r>
              <a:rPr lang="en-US" dirty="0"/>
              <a:t>D) It improves data security</a:t>
            </a:r>
          </a:p>
          <a:p>
            <a:endParaRPr lang="en-US" dirty="0"/>
          </a:p>
        </p:txBody>
      </p:sp>
    </p:spTree>
    <p:extLst>
      <p:ext uri="{BB962C8B-B14F-4D97-AF65-F5344CB8AC3E}">
        <p14:creationId xmlns="" xmlns:p14="http://schemas.microsoft.com/office/powerpoint/2010/main" val="30928270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EB869E-1961-4BEE-93AF-5B46F199C078}"/>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FAA346AB-BCC1-4FB6-89FF-5F3BB3972C1E}"/>
              </a:ext>
            </a:extLst>
          </p:cNvPr>
          <p:cNvSpPr>
            <a:spLocks noGrp="1"/>
          </p:cNvSpPr>
          <p:nvPr>
            <p:ph idx="1"/>
          </p:nvPr>
        </p:nvSpPr>
        <p:spPr/>
        <p:txBody>
          <a:bodyPr>
            <a:normAutofit lnSpcReduction="10000"/>
          </a:bodyPr>
          <a:lstStyle/>
          <a:p>
            <a:r>
              <a:rPr lang="en-US" b="1" dirty="0"/>
              <a:t>Why is data redundancy considered a disadvantage in traditional file processing systems?</a:t>
            </a:r>
            <a:endParaRPr lang="en-US" dirty="0"/>
          </a:p>
          <a:p>
            <a:r>
              <a:rPr lang="en-US" dirty="0"/>
              <a:t>A) It simplifies data retrieval</a:t>
            </a:r>
          </a:p>
          <a:p>
            <a:r>
              <a:rPr lang="en-US" dirty="0"/>
              <a:t>B) It reduces storage space</a:t>
            </a:r>
          </a:p>
          <a:p>
            <a:r>
              <a:rPr lang="en-US" dirty="0">
                <a:solidFill>
                  <a:srgbClr val="00B050"/>
                </a:solidFill>
              </a:rPr>
              <a:t>C) It may lead to inconsistencies and errors</a:t>
            </a:r>
          </a:p>
          <a:p>
            <a:r>
              <a:rPr lang="en-US" dirty="0"/>
              <a:t>D) It improves data security</a:t>
            </a:r>
          </a:p>
          <a:p>
            <a:endParaRPr lang="en-US" dirty="0"/>
          </a:p>
        </p:txBody>
      </p:sp>
    </p:spTree>
    <p:extLst>
      <p:ext uri="{BB962C8B-B14F-4D97-AF65-F5344CB8AC3E}">
        <p14:creationId xmlns="" xmlns:p14="http://schemas.microsoft.com/office/powerpoint/2010/main" val="15649774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A7991-E716-41E0-A19C-15B1069A5C05}"/>
              </a:ext>
            </a:extLst>
          </p:cNvPr>
          <p:cNvSpPr>
            <a:spLocks noGrp="1"/>
          </p:cNvSpPr>
          <p:nvPr>
            <p:ph type="title"/>
          </p:nvPr>
        </p:nvSpPr>
        <p:spPr/>
        <p:txBody>
          <a:bodyPr/>
          <a:lstStyle/>
          <a:p>
            <a:r>
              <a:rPr lang="en-US" dirty="0"/>
              <a:t>Advantages of Using DBMS Approach</a:t>
            </a:r>
          </a:p>
        </p:txBody>
      </p:sp>
      <p:sp>
        <p:nvSpPr>
          <p:cNvPr id="3" name="Content Placeholder 2">
            <a:extLst>
              <a:ext uri="{FF2B5EF4-FFF2-40B4-BE49-F238E27FC236}">
                <a16:creationId xmlns="" xmlns:a16="http://schemas.microsoft.com/office/drawing/2014/main" id="{7D50EB02-EC9F-4246-93C8-D7EA8FF70111}"/>
              </a:ext>
            </a:extLst>
          </p:cNvPr>
          <p:cNvSpPr>
            <a:spLocks noGrp="1"/>
          </p:cNvSpPr>
          <p:nvPr>
            <p:ph idx="1"/>
          </p:nvPr>
        </p:nvSpPr>
        <p:spPr/>
        <p:txBody>
          <a:bodyPr>
            <a:normAutofit/>
          </a:bodyPr>
          <a:lstStyle/>
          <a:p>
            <a:r>
              <a:rPr lang="en-US" dirty="0"/>
              <a:t>Controlling Redundancy</a:t>
            </a:r>
          </a:p>
          <a:p>
            <a:pPr lvl="1"/>
            <a:r>
              <a:rPr lang="en-US" dirty="0"/>
              <a:t>Redundancy - storing the same data multiple times. Leads to duplication of effort, storage space waste, inconsistency,.</a:t>
            </a:r>
          </a:p>
          <a:p>
            <a:pPr lvl="1"/>
            <a:r>
              <a:rPr lang="en-US" dirty="0"/>
              <a:t>In the database approach, the views of different user groups are integrated during database design.</a:t>
            </a:r>
          </a:p>
          <a:p>
            <a:pPr lvl="1"/>
            <a:r>
              <a:rPr lang="en-US" dirty="0"/>
              <a:t>Stores each logical data item in only one place in the database.</a:t>
            </a:r>
          </a:p>
          <a:p>
            <a:pPr lvl="1"/>
            <a:r>
              <a:rPr lang="en-US" dirty="0"/>
              <a:t>Data normalization - ensures consistency and saves storage space</a:t>
            </a:r>
            <a:endParaRPr lang="en-US" b="1" dirty="0"/>
          </a:p>
        </p:txBody>
      </p:sp>
    </p:spTree>
    <p:extLst>
      <p:ext uri="{BB962C8B-B14F-4D97-AF65-F5344CB8AC3E}">
        <p14:creationId xmlns="" xmlns:p14="http://schemas.microsoft.com/office/powerpoint/2010/main" val="21155771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A7991-E716-41E0-A19C-15B1069A5C05}"/>
              </a:ext>
            </a:extLst>
          </p:cNvPr>
          <p:cNvSpPr>
            <a:spLocks noGrp="1"/>
          </p:cNvSpPr>
          <p:nvPr>
            <p:ph type="title"/>
          </p:nvPr>
        </p:nvSpPr>
        <p:spPr/>
        <p:txBody>
          <a:bodyPr/>
          <a:lstStyle/>
          <a:p>
            <a:r>
              <a:rPr lang="en-US" dirty="0"/>
              <a:t>Advantages of Using DBMS Approach</a:t>
            </a:r>
          </a:p>
        </p:txBody>
      </p:sp>
      <p:sp>
        <p:nvSpPr>
          <p:cNvPr id="3" name="Content Placeholder 2">
            <a:extLst>
              <a:ext uri="{FF2B5EF4-FFF2-40B4-BE49-F238E27FC236}">
                <a16:creationId xmlns="" xmlns:a16="http://schemas.microsoft.com/office/drawing/2014/main" id="{7D50EB02-EC9F-4246-93C8-D7EA8FF70111}"/>
              </a:ext>
            </a:extLst>
          </p:cNvPr>
          <p:cNvSpPr>
            <a:spLocks noGrp="1"/>
          </p:cNvSpPr>
          <p:nvPr>
            <p:ph idx="1"/>
          </p:nvPr>
        </p:nvSpPr>
        <p:spPr/>
        <p:txBody>
          <a:bodyPr>
            <a:normAutofit fontScale="70000" lnSpcReduction="20000"/>
          </a:bodyPr>
          <a:lstStyle/>
          <a:p>
            <a:pPr>
              <a:lnSpc>
                <a:spcPct val="170000"/>
              </a:lnSpc>
            </a:pPr>
            <a:r>
              <a:rPr lang="en-US" dirty="0"/>
              <a:t>Restricting Unauthorized Access</a:t>
            </a:r>
          </a:p>
          <a:p>
            <a:pPr lvl="1">
              <a:lnSpc>
                <a:spcPct val="170000"/>
              </a:lnSpc>
            </a:pPr>
            <a:r>
              <a:rPr lang="en-US" dirty="0"/>
              <a:t>A DBMS should provide a security and authorization subsystem.</a:t>
            </a:r>
          </a:p>
          <a:p>
            <a:pPr>
              <a:lnSpc>
                <a:spcPct val="170000"/>
              </a:lnSpc>
            </a:pPr>
            <a:r>
              <a:rPr lang="en-US" dirty="0"/>
              <a:t>Providing Persistent Storage for Program Objects</a:t>
            </a:r>
          </a:p>
          <a:p>
            <a:pPr lvl="1">
              <a:lnSpc>
                <a:spcPct val="170000"/>
              </a:lnSpc>
            </a:pPr>
            <a:r>
              <a:rPr lang="en-US" dirty="0"/>
              <a:t>Databases can be used to provide persistent storage for program objects and data structures. This is one of the main reasons for object-oriented database systems</a:t>
            </a:r>
          </a:p>
          <a:p>
            <a:pPr>
              <a:lnSpc>
                <a:spcPct val="170000"/>
              </a:lnSpc>
            </a:pPr>
            <a:r>
              <a:rPr lang="en-US" dirty="0"/>
              <a:t>Providing Storage Structures and Search Techniques for Efficient Query Processing</a:t>
            </a:r>
          </a:p>
          <a:p>
            <a:pPr lvl="1">
              <a:lnSpc>
                <a:spcPct val="170000"/>
              </a:lnSpc>
            </a:pPr>
            <a:r>
              <a:rPr lang="en-US" dirty="0"/>
              <a:t>Database systems must provide capabilities for efficiently executing queries and updates. Example – Indexes, buffering or caching module, query processing and optimization module </a:t>
            </a:r>
          </a:p>
          <a:p>
            <a:pPr>
              <a:lnSpc>
                <a:spcPct val="170000"/>
              </a:lnSpc>
            </a:pPr>
            <a:endParaRPr lang="en-US" dirty="0"/>
          </a:p>
        </p:txBody>
      </p:sp>
    </p:spTree>
    <p:extLst>
      <p:ext uri="{BB962C8B-B14F-4D97-AF65-F5344CB8AC3E}">
        <p14:creationId xmlns="" xmlns:p14="http://schemas.microsoft.com/office/powerpoint/2010/main" val="19794104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A7991-E716-41E0-A19C-15B1069A5C05}"/>
              </a:ext>
            </a:extLst>
          </p:cNvPr>
          <p:cNvSpPr>
            <a:spLocks noGrp="1"/>
          </p:cNvSpPr>
          <p:nvPr>
            <p:ph type="title"/>
          </p:nvPr>
        </p:nvSpPr>
        <p:spPr/>
        <p:txBody>
          <a:bodyPr/>
          <a:lstStyle/>
          <a:p>
            <a:r>
              <a:rPr lang="en-US" dirty="0"/>
              <a:t>Advantages of Using DBMS Approach</a:t>
            </a:r>
          </a:p>
        </p:txBody>
      </p:sp>
      <p:sp>
        <p:nvSpPr>
          <p:cNvPr id="3" name="Content Placeholder 2">
            <a:extLst>
              <a:ext uri="{FF2B5EF4-FFF2-40B4-BE49-F238E27FC236}">
                <a16:creationId xmlns="" xmlns:a16="http://schemas.microsoft.com/office/drawing/2014/main" id="{7D50EB02-EC9F-4246-93C8-D7EA8FF70111}"/>
              </a:ext>
            </a:extLst>
          </p:cNvPr>
          <p:cNvSpPr>
            <a:spLocks noGrp="1"/>
          </p:cNvSpPr>
          <p:nvPr>
            <p:ph idx="1"/>
          </p:nvPr>
        </p:nvSpPr>
        <p:spPr>
          <a:xfrm>
            <a:off x="838200" y="1891612"/>
            <a:ext cx="10515600" cy="4824147"/>
          </a:xfrm>
        </p:spPr>
        <p:txBody>
          <a:bodyPr>
            <a:normAutofit fontScale="62500" lnSpcReduction="20000"/>
          </a:bodyPr>
          <a:lstStyle/>
          <a:p>
            <a:pPr>
              <a:lnSpc>
                <a:spcPct val="170000"/>
              </a:lnSpc>
            </a:pPr>
            <a:r>
              <a:rPr lang="en-US" dirty="0"/>
              <a:t>Providing Backup and Recovery</a:t>
            </a:r>
          </a:p>
          <a:p>
            <a:pPr lvl="1">
              <a:lnSpc>
                <a:spcPct val="170000"/>
              </a:lnSpc>
            </a:pPr>
            <a:r>
              <a:rPr lang="en-US" dirty="0"/>
              <a:t>A DBMS must provide facilities for recovering from hardware or software failures.</a:t>
            </a:r>
          </a:p>
          <a:p>
            <a:pPr>
              <a:lnSpc>
                <a:spcPct val="170000"/>
              </a:lnSpc>
            </a:pPr>
            <a:r>
              <a:rPr lang="en-US" dirty="0"/>
              <a:t>Providing Multiple User Interfaces</a:t>
            </a:r>
          </a:p>
          <a:p>
            <a:pPr lvl="1">
              <a:lnSpc>
                <a:spcPct val="170000"/>
              </a:lnSpc>
            </a:pPr>
            <a:r>
              <a:rPr lang="en-US" dirty="0"/>
              <a:t>Because many types of users with varying levels of technical knowledge use a database, a DBMS should provide a variety of user interfaces. </a:t>
            </a:r>
          </a:p>
          <a:p>
            <a:pPr>
              <a:lnSpc>
                <a:spcPct val="170000"/>
              </a:lnSpc>
            </a:pPr>
            <a:r>
              <a:rPr lang="en-US" dirty="0"/>
              <a:t>Representing Complex Relationships among Data</a:t>
            </a:r>
          </a:p>
          <a:p>
            <a:pPr lvl="1">
              <a:lnSpc>
                <a:spcPct val="170000"/>
              </a:lnSpc>
            </a:pPr>
            <a:r>
              <a:rPr lang="en-US" dirty="0"/>
              <a:t>A DBMS must have the capability to represent a variety of complex relationships among the data, to define new relationships as they arise, and to retrieve and update related data easily and efficiently.</a:t>
            </a:r>
          </a:p>
          <a:p>
            <a:pPr>
              <a:lnSpc>
                <a:spcPct val="170000"/>
              </a:lnSpc>
            </a:pPr>
            <a:r>
              <a:rPr lang="en-US" dirty="0"/>
              <a:t>Enforcing Integrity Constraints</a:t>
            </a:r>
          </a:p>
          <a:p>
            <a:pPr lvl="1">
              <a:lnSpc>
                <a:spcPct val="170000"/>
              </a:lnSpc>
            </a:pPr>
            <a:r>
              <a:rPr lang="en-US" dirty="0"/>
              <a:t>Referential integrity constraint, key or uniqueness constraint</a:t>
            </a:r>
          </a:p>
          <a:p>
            <a:pPr>
              <a:lnSpc>
                <a:spcPct val="170000"/>
              </a:lnSpc>
            </a:pPr>
            <a:endParaRPr lang="en-US" dirty="0"/>
          </a:p>
        </p:txBody>
      </p:sp>
    </p:spTree>
    <p:extLst>
      <p:ext uri="{BB962C8B-B14F-4D97-AF65-F5344CB8AC3E}">
        <p14:creationId xmlns="" xmlns:p14="http://schemas.microsoft.com/office/powerpoint/2010/main" val="36044001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A7991-E716-41E0-A19C-15B1069A5C05}"/>
              </a:ext>
            </a:extLst>
          </p:cNvPr>
          <p:cNvSpPr>
            <a:spLocks noGrp="1"/>
          </p:cNvSpPr>
          <p:nvPr>
            <p:ph type="title"/>
          </p:nvPr>
        </p:nvSpPr>
        <p:spPr/>
        <p:txBody>
          <a:bodyPr/>
          <a:lstStyle/>
          <a:p>
            <a:r>
              <a:rPr lang="en-US" dirty="0"/>
              <a:t>Advantages of Using DBMS Approach</a:t>
            </a:r>
          </a:p>
        </p:txBody>
      </p:sp>
      <p:sp>
        <p:nvSpPr>
          <p:cNvPr id="3" name="Content Placeholder 2">
            <a:extLst>
              <a:ext uri="{FF2B5EF4-FFF2-40B4-BE49-F238E27FC236}">
                <a16:creationId xmlns="" xmlns:a16="http://schemas.microsoft.com/office/drawing/2014/main" id="{7D50EB02-EC9F-4246-93C8-D7EA8FF70111}"/>
              </a:ext>
            </a:extLst>
          </p:cNvPr>
          <p:cNvSpPr>
            <a:spLocks noGrp="1"/>
          </p:cNvSpPr>
          <p:nvPr>
            <p:ph idx="1"/>
          </p:nvPr>
        </p:nvSpPr>
        <p:spPr/>
        <p:txBody>
          <a:bodyPr>
            <a:normAutofit fontScale="92500" lnSpcReduction="10000"/>
          </a:bodyPr>
          <a:lstStyle/>
          <a:p>
            <a:r>
              <a:rPr lang="en-US" dirty="0"/>
              <a:t>Permitting Inferencing and Actions Using Rules and Triggers</a:t>
            </a:r>
          </a:p>
          <a:p>
            <a:pPr lvl="1"/>
            <a:r>
              <a:rPr lang="en-US" dirty="0"/>
              <a:t>Deductive database systems - provide capabilities for defining deduction rules for inferencing new information from the stored database facts. </a:t>
            </a:r>
          </a:p>
          <a:p>
            <a:pPr lvl="1"/>
            <a:r>
              <a:rPr lang="en-US" dirty="0"/>
              <a:t>A trigger is a form of a rule activated by updates to the table, which results in performing some additional operations to some other tables, sending messages, and so on. </a:t>
            </a:r>
          </a:p>
          <a:p>
            <a:pPr lvl="1"/>
            <a:r>
              <a:rPr lang="en-US" dirty="0"/>
              <a:t>More involved procedures to enforce rules are popularly called stored procedures;</a:t>
            </a:r>
          </a:p>
        </p:txBody>
      </p:sp>
    </p:spTree>
    <p:extLst>
      <p:ext uri="{BB962C8B-B14F-4D97-AF65-F5344CB8AC3E}">
        <p14:creationId xmlns="" xmlns:p14="http://schemas.microsoft.com/office/powerpoint/2010/main" val="34344850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A7991-E716-41E0-A19C-15B1069A5C05}"/>
              </a:ext>
            </a:extLst>
          </p:cNvPr>
          <p:cNvSpPr>
            <a:spLocks noGrp="1"/>
          </p:cNvSpPr>
          <p:nvPr>
            <p:ph type="title"/>
          </p:nvPr>
        </p:nvSpPr>
        <p:spPr/>
        <p:txBody>
          <a:bodyPr/>
          <a:lstStyle/>
          <a:p>
            <a:r>
              <a:rPr lang="en-US" dirty="0"/>
              <a:t>Advantages of Using DBMS Approach</a:t>
            </a:r>
          </a:p>
        </p:txBody>
      </p:sp>
      <p:sp>
        <p:nvSpPr>
          <p:cNvPr id="3" name="Content Placeholder 2">
            <a:extLst>
              <a:ext uri="{FF2B5EF4-FFF2-40B4-BE49-F238E27FC236}">
                <a16:creationId xmlns="" xmlns:a16="http://schemas.microsoft.com/office/drawing/2014/main" id="{7D50EB02-EC9F-4246-93C8-D7EA8FF70111}"/>
              </a:ext>
            </a:extLst>
          </p:cNvPr>
          <p:cNvSpPr>
            <a:spLocks noGrp="1"/>
          </p:cNvSpPr>
          <p:nvPr>
            <p:ph idx="1"/>
          </p:nvPr>
        </p:nvSpPr>
        <p:spPr/>
        <p:txBody>
          <a:bodyPr>
            <a:normAutofit fontScale="92500"/>
          </a:bodyPr>
          <a:lstStyle/>
          <a:p>
            <a:r>
              <a:rPr lang="en-US" dirty="0"/>
              <a:t>Additional</a:t>
            </a:r>
            <a:r>
              <a:rPr lang="en-US" spc="-40" dirty="0"/>
              <a:t> </a:t>
            </a:r>
            <a:r>
              <a:rPr lang="en-US" dirty="0"/>
              <a:t>Implications</a:t>
            </a:r>
            <a:r>
              <a:rPr lang="en-US" spc="-30" dirty="0"/>
              <a:t> </a:t>
            </a:r>
            <a:r>
              <a:rPr lang="en-US" dirty="0"/>
              <a:t>of</a:t>
            </a:r>
            <a:r>
              <a:rPr lang="en-US" spc="-15" dirty="0"/>
              <a:t> </a:t>
            </a:r>
            <a:r>
              <a:rPr lang="en-US" dirty="0"/>
              <a:t>Using</a:t>
            </a:r>
            <a:r>
              <a:rPr lang="en-US" spc="-35" dirty="0"/>
              <a:t> </a:t>
            </a:r>
            <a:r>
              <a:rPr lang="en-US" spc="-25" dirty="0"/>
              <a:t>the </a:t>
            </a:r>
            <a:r>
              <a:rPr lang="en-US" dirty="0"/>
              <a:t>Database</a:t>
            </a:r>
            <a:r>
              <a:rPr lang="en-US" spc="-50" dirty="0"/>
              <a:t> </a:t>
            </a:r>
            <a:r>
              <a:rPr lang="en-US" spc="-10" dirty="0"/>
              <a:t>Approach</a:t>
            </a:r>
          </a:p>
          <a:p>
            <a:pPr marL="927100" lvl="1" indent="-457200">
              <a:spcBef>
                <a:spcPts val="775"/>
              </a:spcBef>
              <a:buSzPct val="58928"/>
              <a:tabLst>
                <a:tab pos="354965" algn="l"/>
              </a:tabLst>
            </a:pPr>
            <a:r>
              <a:rPr lang="en-US" dirty="0">
                <a:latin typeface="Arial MT"/>
                <a:cs typeface="Arial MT"/>
              </a:rPr>
              <a:t>Potential</a:t>
            </a:r>
            <a:r>
              <a:rPr lang="en-US" spc="-85" dirty="0">
                <a:latin typeface="Arial MT"/>
                <a:cs typeface="Arial MT"/>
              </a:rPr>
              <a:t> </a:t>
            </a:r>
            <a:r>
              <a:rPr lang="en-US" dirty="0">
                <a:latin typeface="Arial MT"/>
                <a:cs typeface="Arial MT"/>
              </a:rPr>
              <a:t>for</a:t>
            </a:r>
            <a:r>
              <a:rPr lang="en-US" spc="-90" dirty="0">
                <a:latin typeface="Arial MT"/>
                <a:cs typeface="Arial MT"/>
              </a:rPr>
              <a:t> </a:t>
            </a:r>
            <a:r>
              <a:rPr lang="en-US" dirty="0">
                <a:latin typeface="Arial MT"/>
                <a:cs typeface="Arial MT"/>
              </a:rPr>
              <a:t>enforcing</a:t>
            </a:r>
            <a:r>
              <a:rPr lang="en-US" spc="-70" dirty="0">
                <a:latin typeface="Arial MT"/>
                <a:cs typeface="Arial MT"/>
              </a:rPr>
              <a:t> </a:t>
            </a:r>
            <a:r>
              <a:rPr lang="en-US" spc="-10" dirty="0">
                <a:latin typeface="Arial MT"/>
                <a:cs typeface="Arial MT"/>
              </a:rPr>
              <a:t>standards:</a:t>
            </a:r>
            <a:endParaRPr lang="en-US" dirty="0">
              <a:latin typeface="Arial MT"/>
              <a:cs typeface="Arial MT"/>
            </a:endParaRPr>
          </a:p>
          <a:p>
            <a:pPr marL="1383665" marR="5080" lvl="2" indent="-457200">
              <a:spcBef>
                <a:spcPts val="635"/>
              </a:spcBef>
              <a:buSzPct val="53846"/>
              <a:tabLst>
                <a:tab pos="756285" algn="l"/>
              </a:tabLst>
            </a:pPr>
            <a:r>
              <a:rPr lang="en-US" sz="2200" dirty="0">
                <a:latin typeface="Arial MT"/>
                <a:cs typeface="Arial MT"/>
              </a:rPr>
              <a:t>This</a:t>
            </a:r>
            <a:r>
              <a:rPr lang="en-US" sz="2200" spc="-25" dirty="0">
                <a:latin typeface="Arial MT"/>
                <a:cs typeface="Arial MT"/>
              </a:rPr>
              <a:t> </a:t>
            </a:r>
            <a:r>
              <a:rPr lang="en-US" sz="2200" dirty="0">
                <a:latin typeface="Arial MT"/>
                <a:cs typeface="Arial MT"/>
              </a:rPr>
              <a:t>is</a:t>
            </a:r>
            <a:r>
              <a:rPr lang="en-US" sz="2200" spc="-20" dirty="0">
                <a:latin typeface="Arial MT"/>
                <a:cs typeface="Arial MT"/>
              </a:rPr>
              <a:t> </a:t>
            </a:r>
            <a:r>
              <a:rPr lang="en-US" sz="2200" dirty="0">
                <a:latin typeface="Arial MT"/>
                <a:cs typeface="Arial MT"/>
              </a:rPr>
              <a:t>very</a:t>
            </a:r>
            <a:r>
              <a:rPr lang="en-US" sz="2200" spc="-25" dirty="0">
                <a:latin typeface="Arial MT"/>
                <a:cs typeface="Arial MT"/>
              </a:rPr>
              <a:t> </a:t>
            </a:r>
            <a:r>
              <a:rPr lang="en-US" sz="2200" dirty="0">
                <a:latin typeface="Arial MT"/>
                <a:cs typeface="Arial MT"/>
              </a:rPr>
              <a:t>crucial</a:t>
            </a:r>
            <a:r>
              <a:rPr lang="en-US" sz="2200" spc="-20" dirty="0">
                <a:latin typeface="Arial MT"/>
                <a:cs typeface="Arial MT"/>
              </a:rPr>
              <a:t> </a:t>
            </a:r>
            <a:r>
              <a:rPr lang="en-US" sz="2200" dirty="0">
                <a:latin typeface="Arial MT"/>
                <a:cs typeface="Arial MT"/>
              </a:rPr>
              <a:t>for</a:t>
            </a:r>
            <a:r>
              <a:rPr lang="en-US" sz="2200" spc="-10" dirty="0">
                <a:latin typeface="Arial MT"/>
                <a:cs typeface="Arial MT"/>
              </a:rPr>
              <a:t> </a:t>
            </a:r>
            <a:r>
              <a:rPr lang="en-US" sz="2200" dirty="0">
                <a:latin typeface="Arial MT"/>
                <a:cs typeface="Arial MT"/>
              </a:rPr>
              <a:t>the</a:t>
            </a:r>
            <a:r>
              <a:rPr lang="en-US" sz="2200" spc="5" dirty="0">
                <a:latin typeface="Arial MT"/>
                <a:cs typeface="Arial MT"/>
              </a:rPr>
              <a:t> </a:t>
            </a:r>
            <a:r>
              <a:rPr lang="en-US" sz="2200" dirty="0">
                <a:latin typeface="Arial MT"/>
                <a:cs typeface="Arial MT"/>
              </a:rPr>
              <a:t>success</a:t>
            </a:r>
            <a:r>
              <a:rPr lang="en-US" sz="2200" spc="-20" dirty="0">
                <a:latin typeface="Arial MT"/>
                <a:cs typeface="Arial MT"/>
              </a:rPr>
              <a:t> </a:t>
            </a:r>
            <a:r>
              <a:rPr lang="en-US" sz="2200" dirty="0">
                <a:latin typeface="Arial MT"/>
                <a:cs typeface="Arial MT"/>
              </a:rPr>
              <a:t>of</a:t>
            </a:r>
            <a:r>
              <a:rPr lang="en-US" sz="2200" spc="-35" dirty="0">
                <a:latin typeface="Arial MT"/>
                <a:cs typeface="Arial MT"/>
              </a:rPr>
              <a:t> </a:t>
            </a:r>
            <a:r>
              <a:rPr lang="en-US" sz="2200" spc="-10" dirty="0">
                <a:latin typeface="Arial MT"/>
                <a:cs typeface="Arial MT"/>
              </a:rPr>
              <a:t>database </a:t>
            </a:r>
            <a:r>
              <a:rPr lang="en-US" sz="2200" dirty="0">
                <a:latin typeface="Arial MT"/>
                <a:cs typeface="Arial MT"/>
              </a:rPr>
              <a:t>applications</a:t>
            </a:r>
            <a:r>
              <a:rPr lang="en-US" sz="2200" spc="-75" dirty="0">
                <a:latin typeface="Arial MT"/>
                <a:cs typeface="Arial MT"/>
              </a:rPr>
              <a:t> </a:t>
            </a:r>
            <a:r>
              <a:rPr lang="en-US" sz="2200" dirty="0">
                <a:latin typeface="Arial MT"/>
                <a:cs typeface="Arial MT"/>
              </a:rPr>
              <a:t>in</a:t>
            </a:r>
            <a:r>
              <a:rPr lang="en-US" sz="2200" spc="-50" dirty="0">
                <a:latin typeface="Arial MT"/>
                <a:cs typeface="Arial MT"/>
              </a:rPr>
              <a:t> </a:t>
            </a:r>
            <a:r>
              <a:rPr lang="en-US" sz="2200" dirty="0">
                <a:latin typeface="Arial MT"/>
                <a:cs typeface="Arial MT"/>
              </a:rPr>
              <a:t>large</a:t>
            </a:r>
            <a:r>
              <a:rPr lang="en-US" sz="2200" spc="-50" dirty="0">
                <a:latin typeface="Arial MT"/>
                <a:cs typeface="Arial MT"/>
              </a:rPr>
              <a:t> </a:t>
            </a:r>
            <a:r>
              <a:rPr lang="en-US" sz="2200" dirty="0">
                <a:latin typeface="Arial MT"/>
                <a:cs typeface="Arial MT"/>
              </a:rPr>
              <a:t>organizations.</a:t>
            </a:r>
            <a:r>
              <a:rPr lang="en-US" sz="2200" spc="-50" dirty="0">
                <a:latin typeface="Arial MT"/>
                <a:cs typeface="Arial MT"/>
              </a:rPr>
              <a:t> </a:t>
            </a:r>
            <a:r>
              <a:rPr lang="en-US" sz="2200" b="1" spc="-10" dirty="0">
                <a:cs typeface="Arial"/>
              </a:rPr>
              <a:t>Standards </a:t>
            </a:r>
            <a:r>
              <a:rPr lang="en-US" sz="2200" dirty="0">
                <a:latin typeface="Arial MT"/>
                <a:cs typeface="Arial MT"/>
              </a:rPr>
              <a:t>refer</a:t>
            </a:r>
            <a:r>
              <a:rPr lang="en-US" sz="2200" spc="-20" dirty="0">
                <a:latin typeface="Arial MT"/>
                <a:cs typeface="Arial MT"/>
              </a:rPr>
              <a:t> </a:t>
            </a:r>
            <a:r>
              <a:rPr lang="en-US" sz="2200" dirty="0">
                <a:latin typeface="Arial MT"/>
                <a:cs typeface="Arial MT"/>
              </a:rPr>
              <a:t>to</a:t>
            </a:r>
            <a:r>
              <a:rPr lang="en-US" sz="2200" spc="-10" dirty="0">
                <a:latin typeface="Arial MT"/>
                <a:cs typeface="Arial MT"/>
              </a:rPr>
              <a:t> </a:t>
            </a:r>
            <a:r>
              <a:rPr lang="en-US" sz="2200" dirty="0">
                <a:latin typeface="Arial MT"/>
                <a:cs typeface="Arial MT"/>
              </a:rPr>
              <a:t>data</a:t>
            </a:r>
            <a:r>
              <a:rPr lang="en-US" sz="2200" spc="-15" dirty="0">
                <a:latin typeface="Arial MT"/>
                <a:cs typeface="Arial MT"/>
              </a:rPr>
              <a:t> </a:t>
            </a:r>
            <a:r>
              <a:rPr lang="en-US" sz="2200" dirty="0">
                <a:latin typeface="Arial MT"/>
                <a:cs typeface="Arial MT"/>
              </a:rPr>
              <a:t>item</a:t>
            </a:r>
            <a:r>
              <a:rPr lang="en-US" sz="2200" spc="-20" dirty="0">
                <a:latin typeface="Arial MT"/>
                <a:cs typeface="Arial MT"/>
              </a:rPr>
              <a:t> </a:t>
            </a:r>
            <a:r>
              <a:rPr lang="en-US" sz="2200" dirty="0">
                <a:latin typeface="Arial MT"/>
                <a:cs typeface="Arial MT"/>
              </a:rPr>
              <a:t>names,</a:t>
            </a:r>
            <a:r>
              <a:rPr lang="en-US" sz="2200" spc="-35" dirty="0">
                <a:latin typeface="Arial MT"/>
                <a:cs typeface="Arial MT"/>
              </a:rPr>
              <a:t> </a:t>
            </a:r>
            <a:r>
              <a:rPr lang="en-US" sz="2200" dirty="0">
                <a:latin typeface="Arial MT"/>
                <a:cs typeface="Arial MT"/>
              </a:rPr>
              <a:t>display</a:t>
            </a:r>
            <a:r>
              <a:rPr lang="en-US" sz="2200" spc="-40" dirty="0">
                <a:latin typeface="Arial MT"/>
                <a:cs typeface="Arial MT"/>
              </a:rPr>
              <a:t> </a:t>
            </a:r>
            <a:r>
              <a:rPr lang="en-US" sz="2200" dirty="0">
                <a:latin typeface="Arial MT"/>
                <a:cs typeface="Arial MT"/>
              </a:rPr>
              <a:t>formats,</a:t>
            </a:r>
            <a:r>
              <a:rPr lang="en-US" sz="2200" spc="-15" dirty="0">
                <a:latin typeface="Arial MT"/>
                <a:cs typeface="Arial MT"/>
              </a:rPr>
              <a:t> </a:t>
            </a:r>
            <a:r>
              <a:rPr lang="en-US" sz="2200" spc="-10" dirty="0">
                <a:latin typeface="Arial MT"/>
                <a:cs typeface="Arial MT"/>
              </a:rPr>
              <a:t>screens, </a:t>
            </a:r>
            <a:r>
              <a:rPr lang="en-US" sz="2200" dirty="0">
                <a:latin typeface="Arial MT"/>
                <a:cs typeface="Arial MT"/>
              </a:rPr>
              <a:t>report</a:t>
            </a:r>
            <a:r>
              <a:rPr lang="en-US" sz="2200" spc="-25" dirty="0">
                <a:latin typeface="Arial MT"/>
                <a:cs typeface="Arial MT"/>
              </a:rPr>
              <a:t> </a:t>
            </a:r>
            <a:r>
              <a:rPr lang="en-US" sz="2200" dirty="0">
                <a:latin typeface="Arial MT"/>
                <a:cs typeface="Arial MT"/>
              </a:rPr>
              <a:t>structures,</a:t>
            </a:r>
            <a:r>
              <a:rPr lang="en-US" sz="2200" spc="-30" dirty="0">
                <a:latin typeface="Arial MT"/>
                <a:cs typeface="Arial MT"/>
              </a:rPr>
              <a:t> </a:t>
            </a:r>
            <a:r>
              <a:rPr lang="en-US" sz="2200" spc="-10" dirty="0">
                <a:latin typeface="Arial MT"/>
                <a:cs typeface="Arial MT"/>
              </a:rPr>
              <a:t>meta-</a:t>
            </a:r>
            <a:r>
              <a:rPr lang="en-US" sz="2200" dirty="0">
                <a:latin typeface="Arial MT"/>
                <a:cs typeface="Arial MT"/>
              </a:rPr>
              <a:t>data</a:t>
            </a:r>
            <a:r>
              <a:rPr lang="en-US" sz="2200" spc="-15" dirty="0">
                <a:latin typeface="Arial MT"/>
                <a:cs typeface="Arial MT"/>
              </a:rPr>
              <a:t> </a:t>
            </a:r>
            <a:r>
              <a:rPr lang="en-US" sz="2200" dirty="0">
                <a:latin typeface="Arial MT"/>
                <a:cs typeface="Arial MT"/>
              </a:rPr>
              <a:t>(description</a:t>
            </a:r>
            <a:r>
              <a:rPr lang="en-US" sz="2200" spc="-40" dirty="0">
                <a:latin typeface="Arial MT"/>
                <a:cs typeface="Arial MT"/>
              </a:rPr>
              <a:t> </a:t>
            </a:r>
            <a:r>
              <a:rPr lang="en-US" sz="2200" dirty="0">
                <a:latin typeface="Arial MT"/>
                <a:cs typeface="Arial MT"/>
              </a:rPr>
              <a:t>of</a:t>
            </a:r>
            <a:r>
              <a:rPr lang="en-US" sz="2200" spc="-15" dirty="0">
                <a:latin typeface="Arial MT"/>
                <a:cs typeface="Arial MT"/>
              </a:rPr>
              <a:t> </a:t>
            </a:r>
            <a:r>
              <a:rPr lang="en-US" sz="2200" spc="-10" dirty="0">
                <a:latin typeface="Arial MT"/>
                <a:cs typeface="Arial MT"/>
              </a:rPr>
              <a:t>data), </a:t>
            </a:r>
            <a:r>
              <a:rPr lang="en-US" sz="2200" dirty="0">
                <a:latin typeface="Arial MT"/>
                <a:cs typeface="Arial MT"/>
              </a:rPr>
              <a:t>Web</a:t>
            </a:r>
            <a:r>
              <a:rPr lang="en-US" sz="2200" spc="-55" dirty="0">
                <a:latin typeface="Arial MT"/>
                <a:cs typeface="Arial MT"/>
              </a:rPr>
              <a:t> </a:t>
            </a:r>
            <a:r>
              <a:rPr lang="en-US" sz="2200" dirty="0">
                <a:latin typeface="Arial MT"/>
                <a:cs typeface="Arial MT"/>
              </a:rPr>
              <a:t>page</a:t>
            </a:r>
            <a:r>
              <a:rPr lang="en-US" sz="2200" spc="-45" dirty="0">
                <a:latin typeface="Arial MT"/>
                <a:cs typeface="Arial MT"/>
              </a:rPr>
              <a:t> </a:t>
            </a:r>
            <a:r>
              <a:rPr lang="en-US" sz="2200" dirty="0">
                <a:latin typeface="Arial MT"/>
                <a:cs typeface="Arial MT"/>
              </a:rPr>
              <a:t>layouts,</a:t>
            </a:r>
            <a:r>
              <a:rPr lang="en-US" sz="2200" spc="-55" dirty="0">
                <a:latin typeface="Arial MT"/>
                <a:cs typeface="Arial MT"/>
              </a:rPr>
              <a:t> </a:t>
            </a:r>
            <a:r>
              <a:rPr lang="en-US" sz="2200" spc="-20" dirty="0">
                <a:latin typeface="Arial MT"/>
                <a:cs typeface="Arial MT"/>
              </a:rPr>
              <a:t>etc.</a:t>
            </a:r>
            <a:endParaRPr lang="en-US" sz="2200" dirty="0">
              <a:latin typeface="Arial MT"/>
              <a:cs typeface="Arial MT"/>
            </a:endParaRPr>
          </a:p>
          <a:p>
            <a:pPr marL="927100" lvl="1" indent="-457200">
              <a:spcBef>
                <a:spcPts val="665"/>
              </a:spcBef>
              <a:buSzPct val="58928"/>
              <a:tabLst>
                <a:tab pos="354965" algn="l"/>
              </a:tabLst>
            </a:pPr>
            <a:r>
              <a:rPr lang="en-US" dirty="0">
                <a:latin typeface="Arial MT"/>
                <a:cs typeface="Arial MT"/>
              </a:rPr>
              <a:t>Reduced</a:t>
            </a:r>
            <a:r>
              <a:rPr lang="en-US" spc="-125" dirty="0">
                <a:latin typeface="Arial MT"/>
                <a:cs typeface="Arial MT"/>
              </a:rPr>
              <a:t> </a:t>
            </a:r>
            <a:r>
              <a:rPr lang="en-US" dirty="0">
                <a:latin typeface="Arial MT"/>
                <a:cs typeface="Arial MT"/>
              </a:rPr>
              <a:t>application</a:t>
            </a:r>
            <a:r>
              <a:rPr lang="en-US" spc="-135" dirty="0">
                <a:latin typeface="Arial MT"/>
                <a:cs typeface="Arial MT"/>
              </a:rPr>
              <a:t> </a:t>
            </a:r>
            <a:r>
              <a:rPr lang="en-US" dirty="0">
                <a:latin typeface="Arial MT"/>
                <a:cs typeface="Arial MT"/>
              </a:rPr>
              <a:t>development</a:t>
            </a:r>
            <a:r>
              <a:rPr lang="en-US" spc="-110" dirty="0">
                <a:latin typeface="Arial MT"/>
                <a:cs typeface="Arial MT"/>
              </a:rPr>
              <a:t> </a:t>
            </a:r>
            <a:r>
              <a:rPr lang="en-US" spc="-10" dirty="0">
                <a:latin typeface="Arial MT"/>
                <a:cs typeface="Arial MT"/>
              </a:rPr>
              <a:t>time:</a:t>
            </a:r>
            <a:endParaRPr lang="en-US" dirty="0">
              <a:latin typeface="Arial MT"/>
              <a:cs typeface="Arial MT"/>
            </a:endParaRPr>
          </a:p>
          <a:p>
            <a:pPr marL="1383665" marR="464184" lvl="2" indent="-457200">
              <a:spcBef>
                <a:spcPts val="635"/>
              </a:spcBef>
              <a:buSzPct val="53846"/>
              <a:tabLst>
                <a:tab pos="756285" algn="l"/>
              </a:tabLst>
            </a:pPr>
            <a:r>
              <a:rPr lang="en-US" sz="2200" dirty="0">
                <a:latin typeface="Arial MT"/>
                <a:cs typeface="Arial MT"/>
              </a:rPr>
              <a:t>Incremental</a:t>
            </a:r>
            <a:r>
              <a:rPr lang="en-US" sz="2200" spc="-65" dirty="0">
                <a:latin typeface="Arial MT"/>
                <a:cs typeface="Arial MT"/>
              </a:rPr>
              <a:t> </a:t>
            </a:r>
            <a:r>
              <a:rPr lang="en-US" sz="2200" dirty="0">
                <a:latin typeface="Arial MT"/>
                <a:cs typeface="Arial MT"/>
              </a:rPr>
              <a:t>time</a:t>
            </a:r>
            <a:r>
              <a:rPr lang="en-US" sz="2200" spc="-45" dirty="0">
                <a:latin typeface="Arial MT"/>
                <a:cs typeface="Arial MT"/>
              </a:rPr>
              <a:t> </a:t>
            </a:r>
            <a:r>
              <a:rPr lang="en-US" sz="2200" dirty="0">
                <a:latin typeface="Arial MT"/>
                <a:cs typeface="Arial MT"/>
              </a:rPr>
              <a:t>to</a:t>
            </a:r>
            <a:r>
              <a:rPr lang="en-US" sz="2200" spc="-45" dirty="0">
                <a:latin typeface="Arial MT"/>
                <a:cs typeface="Arial MT"/>
              </a:rPr>
              <a:t> </a:t>
            </a:r>
            <a:r>
              <a:rPr lang="en-US" sz="2200" dirty="0">
                <a:latin typeface="Arial MT"/>
                <a:cs typeface="Arial MT"/>
              </a:rPr>
              <a:t>add</a:t>
            </a:r>
            <a:r>
              <a:rPr lang="en-US" sz="2200" spc="-45" dirty="0">
                <a:latin typeface="Arial MT"/>
                <a:cs typeface="Arial MT"/>
              </a:rPr>
              <a:t> </a:t>
            </a:r>
            <a:r>
              <a:rPr lang="en-US" sz="2200" dirty="0">
                <a:latin typeface="Arial MT"/>
                <a:cs typeface="Arial MT"/>
              </a:rPr>
              <a:t>each</a:t>
            </a:r>
            <a:r>
              <a:rPr lang="en-US" sz="2200" spc="-55" dirty="0">
                <a:latin typeface="Arial MT"/>
                <a:cs typeface="Arial MT"/>
              </a:rPr>
              <a:t> </a:t>
            </a:r>
            <a:r>
              <a:rPr lang="en-US" sz="2200" dirty="0">
                <a:latin typeface="Arial MT"/>
                <a:cs typeface="Arial MT"/>
              </a:rPr>
              <a:t>new</a:t>
            </a:r>
            <a:r>
              <a:rPr lang="en-US" sz="2200" spc="-40" dirty="0">
                <a:latin typeface="Arial MT"/>
                <a:cs typeface="Arial MT"/>
              </a:rPr>
              <a:t> </a:t>
            </a:r>
            <a:r>
              <a:rPr lang="en-US" sz="2200" dirty="0">
                <a:latin typeface="Arial MT"/>
                <a:cs typeface="Arial MT"/>
              </a:rPr>
              <a:t>application</a:t>
            </a:r>
            <a:r>
              <a:rPr lang="en-US" sz="2200" spc="-60" dirty="0">
                <a:latin typeface="Arial MT"/>
                <a:cs typeface="Arial MT"/>
              </a:rPr>
              <a:t> </a:t>
            </a:r>
            <a:r>
              <a:rPr lang="en-US" sz="2200" spc="-25" dirty="0">
                <a:latin typeface="Arial MT"/>
                <a:cs typeface="Arial MT"/>
              </a:rPr>
              <a:t>is </a:t>
            </a:r>
            <a:r>
              <a:rPr lang="en-US" sz="2200" spc="-10" dirty="0">
                <a:latin typeface="Arial MT"/>
                <a:cs typeface="Arial MT"/>
              </a:rPr>
              <a:t>reduced.</a:t>
            </a:r>
            <a:endParaRPr lang="en-US" sz="2200" dirty="0">
              <a:latin typeface="Arial MT"/>
              <a:cs typeface="Arial MT"/>
            </a:endParaRPr>
          </a:p>
        </p:txBody>
      </p:sp>
    </p:spTree>
    <p:extLst>
      <p:ext uri="{BB962C8B-B14F-4D97-AF65-F5344CB8AC3E}">
        <p14:creationId xmlns="" xmlns:p14="http://schemas.microsoft.com/office/powerpoint/2010/main" val="16156506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A7991-E716-41E0-A19C-15B1069A5C05}"/>
              </a:ext>
            </a:extLst>
          </p:cNvPr>
          <p:cNvSpPr>
            <a:spLocks noGrp="1"/>
          </p:cNvSpPr>
          <p:nvPr>
            <p:ph type="title"/>
          </p:nvPr>
        </p:nvSpPr>
        <p:spPr/>
        <p:txBody>
          <a:bodyPr/>
          <a:lstStyle/>
          <a:p>
            <a:r>
              <a:rPr lang="en-US" dirty="0"/>
              <a:t>Advantages of Using DBMS Approach</a:t>
            </a:r>
          </a:p>
        </p:txBody>
      </p:sp>
      <p:sp>
        <p:nvSpPr>
          <p:cNvPr id="3" name="Content Placeholder 2">
            <a:extLst>
              <a:ext uri="{FF2B5EF4-FFF2-40B4-BE49-F238E27FC236}">
                <a16:creationId xmlns="" xmlns:a16="http://schemas.microsoft.com/office/drawing/2014/main" id="{7D50EB02-EC9F-4246-93C8-D7EA8FF70111}"/>
              </a:ext>
            </a:extLst>
          </p:cNvPr>
          <p:cNvSpPr>
            <a:spLocks noGrp="1"/>
          </p:cNvSpPr>
          <p:nvPr>
            <p:ph idx="1"/>
          </p:nvPr>
        </p:nvSpPr>
        <p:spPr/>
        <p:txBody>
          <a:bodyPr>
            <a:normAutofit/>
          </a:bodyPr>
          <a:lstStyle/>
          <a:p>
            <a:r>
              <a:rPr lang="en-US" dirty="0"/>
              <a:t>Additional</a:t>
            </a:r>
            <a:r>
              <a:rPr lang="en-US" spc="-40" dirty="0"/>
              <a:t> </a:t>
            </a:r>
            <a:r>
              <a:rPr lang="en-US" dirty="0"/>
              <a:t>Implications</a:t>
            </a:r>
            <a:r>
              <a:rPr lang="en-US" spc="-30" dirty="0"/>
              <a:t> </a:t>
            </a:r>
            <a:r>
              <a:rPr lang="en-US" dirty="0"/>
              <a:t>of</a:t>
            </a:r>
            <a:r>
              <a:rPr lang="en-US" spc="-15" dirty="0"/>
              <a:t> </a:t>
            </a:r>
            <a:r>
              <a:rPr lang="en-US" dirty="0"/>
              <a:t>Using</a:t>
            </a:r>
            <a:r>
              <a:rPr lang="en-US" spc="-35" dirty="0"/>
              <a:t> </a:t>
            </a:r>
            <a:r>
              <a:rPr lang="en-US" spc="-25" dirty="0"/>
              <a:t>the </a:t>
            </a:r>
            <a:r>
              <a:rPr lang="en-US" dirty="0"/>
              <a:t>Database</a:t>
            </a:r>
            <a:r>
              <a:rPr lang="en-US" spc="-50" dirty="0"/>
              <a:t> </a:t>
            </a:r>
            <a:r>
              <a:rPr lang="en-US" spc="-10" dirty="0"/>
              <a:t>Approach</a:t>
            </a:r>
          </a:p>
          <a:p>
            <a:pPr marL="927100" lvl="1" indent="-457200">
              <a:lnSpc>
                <a:spcPct val="100000"/>
              </a:lnSpc>
              <a:spcBef>
                <a:spcPts val="775"/>
              </a:spcBef>
              <a:buSzPct val="58928"/>
              <a:tabLst>
                <a:tab pos="354965" algn="l"/>
              </a:tabLst>
            </a:pPr>
            <a:r>
              <a:rPr lang="en-US" dirty="0">
                <a:latin typeface="Arial MT"/>
                <a:cs typeface="Arial MT"/>
              </a:rPr>
              <a:t>Flexibility</a:t>
            </a:r>
            <a:r>
              <a:rPr lang="en-US" spc="-80" dirty="0">
                <a:latin typeface="Arial MT"/>
                <a:cs typeface="Arial MT"/>
              </a:rPr>
              <a:t> </a:t>
            </a:r>
            <a:r>
              <a:rPr lang="en-US" dirty="0">
                <a:latin typeface="Arial MT"/>
                <a:cs typeface="Arial MT"/>
              </a:rPr>
              <a:t>to</a:t>
            </a:r>
            <a:r>
              <a:rPr lang="en-US" spc="-80" dirty="0">
                <a:latin typeface="Arial MT"/>
                <a:cs typeface="Arial MT"/>
              </a:rPr>
              <a:t> </a:t>
            </a:r>
            <a:r>
              <a:rPr lang="en-US" dirty="0">
                <a:latin typeface="Arial MT"/>
                <a:cs typeface="Arial MT"/>
              </a:rPr>
              <a:t>change</a:t>
            </a:r>
            <a:r>
              <a:rPr lang="en-US" spc="-70" dirty="0">
                <a:latin typeface="Arial MT"/>
                <a:cs typeface="Arial MT"/>
              </a:rPr>
              <a:t> </a:t>
            </a:r>
            <a:r>
              <a:rPr lang="en-US" dirty="0">
                <a:latin typeface="Arial MT"/>
                <a:cs typeface="Arial MT"/>
              </a:rPr>
              <a:t>data</a:t>
            </a:r>
            <a:r>
              <a:rPr lang="en-US" spc="-85" dirty="0">
                <a:latin typeface="Arial MT"/>
                <a:cs typeface="Arial MT"/>
              </a:rPr>
              <a:t> </a:t>
            </a:r>
            <a:r>
              <a:rPr lang="en-US" spc="-10" dirty="0">
                <a:latin typeface="Arial MT"/>
                <a:cs typeface="Arial MT"/>
              </a:rPr>
              <a:t>structures:</a:t>
            </a:r>
            <a:endParaRPr lang="en-US" dirty="0">
              <a:latin typeface="Arial MT"/>
              <a:cs typeface="Arial MT"/>
            </a:endParaRPr>
          </a:p>
          <a:p>
            <a:pPr marL="1383665" marR="1609725" lvl="2" indent="-457200">
              <a:lnSpc>
                <a:spcPct val="100000"/>
              </a:lnSpc>
              <a:spcBef>
                <a:spcPts val="635"/>
              </a:spcBef>
              <a:buSzPct val="53846"/>
              <a:tabLst>
                <a:tab pos="756285" algn="l"/>
              </a:tabLst>
            </a:pPr>
            <a:r>
              <a:rPr lang="en-US" sz="2200" dirty="0">
                <a:latin typeface="Arial MT"/>
                <a:cs typeface="Arial MT"/>
              </a:rPr>
              <a:t>Database</a:t>
            </a:r>
            <a:r>
              <a:rPr lang="en-US" sz="2200" spc="-40" dirty="0">
                <a:latin typeface="Arial MT"/>
                <a:cs typeface="Arial MT"/>
              </a:rPr>
              <a:t> </a:t>
            </a:r>
            <a:r>
              <a:rPr lang="en-US" sz="2200" dirty="0">
                <a:latin typeface="Arial MT"/>
                <a:cs typeface="Arial MT"/>
              </a:rPr>
              <a:t>structure</a:t>
            </a:r>
            <a:r>
              <a:rPr lang="en-US" sz="2200" spc="-40" dirty="0">
                <a:latin typeface="Arial MT"/>
                <a:cs typeface="Arial MT"/>
              </a:rPr>
              <a:t> </a:t>
            </a:r>
            <a:r>
              <a:rPr lang="en-US" sz="2200" dirty="0">
                <a:latin typeface="Arial MT"/>
                <a:cs typeface="Arial MT"/>
              </a:rPr>
              <a:t>may</a:t>
            </a:r>
            <a:r>
              <a:rPr lang="en-US" sz="2200" spc="-35" dirty="0">
                <a:latin typeface="Arial MT"/>
                <a:cs typeface="Arial MT"/>
              </a:rPr>
              <a:t> </a:t>
            </a:r>
            <a:r>
              <a:rPr lang="en-US" sz="2200" dirty="0">
                <a:latin typeface="Arial MT"/>
                <a:cs typeface="Arial MT"/>
              </a:rPr>
              <a:t>evolve</a:t>
            </a:r>
            <a:r>
              <a:rPr lang="en-US" sz="2200" spc="-50" dirty="0">
                <a:latin typeface="Arial MT"/>
                <a:cs typeface="Arial MT"/>
              </a:rPr>
              <a:t> </a:t>
            </a:r>
            <a:r>
              <a:rPr lang="en-US" sz="2200" dirty="0">
                <a:latin typeface="Arial MT"/>
                <a:cs typeface="Arial MT"/>
              </a:rPr>
              <a:t>as</a:t>
            </a:r>
            <a:r>
              <a:rPr lang="en-US" sz="2200" spc="-25" dirty="0">
                <a:latin typeface="Arial MT"/>
                <a:cs typeface="Arial MT"/>
              </a:rPr>
              <a:t> new </a:t>
            </a:r>
            <a:r>
              <a:rPr lang="en-US" sz="2200" dirty="0">
                <a:latin typeface="Arial MT"/>
                <a:cs typeface="Arial MT"/>
              </a:rPr>
              <a:t>requirements</a:t>
            </a:r>
            <a:r>
              <a:rPr lang="en-US" sz="2200" spc="-75" dirty="0">
                <a:latin typeface="Arial MT"/>
                <a:cs typeface="Arial MT"/>
              </a:rPr>
              <a:t> </a:t>
            </a:r>
            <a:r>
              <a:rPr lang="en-US" sz="2200" dirty="0">
                <a:latin typeface="Arial MT"/>
                <a:cs typeface="Arial MT"/>
              </a:rPr>
              <a:t>are</a:t>
            </a:r>
            <a:r>
              <a:rPr lang="en-US" sz="2200" spc="-45" dirty="0">
                <a:latin typeface="Arial MT"/>
                <a:cs typeface="Arial MT"/>
              </a:rPr>
              <a:t> </a:t>
            </a:r>
            <a:r>
              <a:rPr lang="en-US" sz="2200" spc="-10" dirty="0">
                <a:latin typeface="Arial MT"/>
                <a:cs typeface="Arial MT"/>
              </a:rPr>
              <a:t>defined.</a:t>
            </a:r>
            <a:endParaRPr lang="en-US" sz="2200" dirty="0">
              <a:latin typeface="Arial MT"/>
              <a:cs typeface="Arial MT"/>
            </a:endParaRPr>
          </a:p>
          <a:p>
            <a:pPr marL="927100" lvl="1" indent="-457200">
              <a:lnSpc>
                <a:spcPct val="100000"/>
              </a:lnSpc>
              <a:spcBef>
                <a:spcPts val="665"/>
              </a:spcBef>
              <a:buSzPct val="58928"/>
              <a:tabLst>
                <a:tab pos="354965" algn="l"/>
              </a:tabLst>
            </a:pPr>
            <a:r>
              <a:rPr lang="en-US" dirty="0">
                <a:latin typeface="Arial MT"/>
                <a:cs typeface="Arial MT"/>
              </a:rPr>
              <a:t>Availability</a:t>
            </a:r>
            <a:r>
              <a:rPr lang="en-US" spc="-75" dirty="0">
                <a:latin typeface="Arial MT"/>
                <a:cs typeface="Arial MT"/>
              </a:rPr>
              <a:t> </a:t>
            </a:r>
            <a:r>
              <a:rPr lang="en-US" dirty="0">
                <a:latin typeface="Arial MT"/>
                <a:cs typeface="Arial MT"/>
              </a:rPr>
              <a:t>of</a:t>
            </a:r>
            <a:r>
              <a:rPr lang="en-US" spc="-85" dirty="0">
                <a:latin typeface="Arial MT"/>
                <a:cs typeface="Arial MT"/>
              </a:rPr>
              <a:t> </a:t>
            </a:r>
            <a:r>
              <a:rPr lang="en-US" dirty="0">
                <a:latin typeface="Arial MT"/>
                <a:cs typeface="Arial MT"/>
              </a:rPr>
              <a:t>current</a:t>
            </a:r>
            <a:r>
              <a:rPr lang="en-US" spc="-85" dirty="0">
                <a:latin typeface="Arial MT"/>
                <a:cs typeface="Arial MT"/>
              </a:rPr>
              <a:t> </a:t>
            </a:r>
            <a:r>
              <a:rPr lang="en-US" spc="-10" dirty="0">
                <a:latin typeface="Arial MT"/>
                <a:cs typeface="Arial MT"/>
              </a:rPr>
              <a:t>information:</a:t>
            </a:r>
            <a:endParaRPr lang="en-US" dirty="0">
              <a:latin typeface="Arial MT"/>
              <a:cs typeface="Arial MT"/>
            </a:endParaRPr>
          </a:p>
          <a:p>
            <a:pPr marL="1383665" marR="818515" lvl="2" indent="-457200">
              <a:lnSpc>
                <a:spcPct val="100000"/>
              </a:lnSpc>
              <a:spcBef>
                <a:spcPts val="635"/>
              </a:spcBef>
              <a:buSzPct val="53846"/>
              <a:tabLst>
                <a:tab pos="756285" algn="l"/>
              </a:tabLst>
            </a:pPr>
            <a:r>
              <a:rPr lang="en-US" sz="2200" dirty="0">
                <a:latin typeface="Arial MT"/>
                <a:cs typeface="Arial MT"/>
              </a:rPr>
              <a:t>Extremely</a:t>
            </a:r>
            <a:r>
              <a:rPr lang="en-US" sz="2200" spc="-50" dirty="0">
                <a:latin typeface="Arial MT"/>
                <a:cs typeface="Arial MT"/>
              </a:rPr>
              <a:t> </a:t>
            </a:r>
            <a:r>
              <a:rPr lang="en-US" sz="2200" dirty="0">
                <a:latin typeface="Arial MT"/>
                <a:cs typeface="Arial MT"/>
              </a:rPr>
              <a:t>important</a:t>
            </a:r>
            <a:r>
              <a:rPr lang="en-US" sz="2200" spc="-20" dirty="0">
                <a:latin typeface="Arial MT"/>
                <a:cs typeface="Arial MT"/>
              </a:rPr>
              <a:t> </a:t>
            </a:r>
            <a:r>
              <a:rPr lang="en-US" sz="2200" dirty="0">
                <a:latin typeface="Arial MT"/>
                <a:cs typeface="Arial MT"/>
              </a:rPr>
              <a:t>for</a:t>
            </a:r>
            <a:r>
              <a:rPr lang="en-US" sz="2200" spc="-25" dirty="0">
                <a:latin typeface="Arial MT"/>
                <a:cs typeface="Arial MT"/>
              </a:rPr>
              <a:t> </a:t>
            </a:r>
            <a:r>
              <a:rPr lang="en-US" sz="2200" spc="-10" dirty="0">
                <a:latin typeface="Arial MT"/>
                <a:cs typeface="Arial MT"/>
              </a:rPr>
              <a:t>on-</a:t>
            </a:r>
            <a:r>
              <a:rPr lang="en-US" sz="2200" dirty="0">
                <a:latin typeface="Arial MT"/>
                <a:cs typeface="Arial MT"/>
              </a:rPr>
              <a:t>line</a:t>
            </a:r>
            <a:r>
              <a:rPr lang="en-US" sz="2200" spc="-20" dirty="0">
                <a:latin typeface="Arial MT"/>
                <a:cs typeface="Arial MT"/>
              </a:rPr>
              <a:t> </a:t>
            </a:r>
            <a:r>
              <a:rPr lang="en-US" sz="2200" spc="-10" dirty="0">
                <a:latin typeface="Arial MT"/>
                <a:cs typeface="Arial MT"/>
              </a:rPr>
              <a:t>transaction </a:t>
            </a:r>
            <a:r>
              <a:rPr lang="en-US" sz="2200" dirty="0">
                <a:latin typeface="Arial MT"/>
                <a:cs typeface="Arial MT"/>
              </a:rPr>
              <a:t>systems</a:t>
            </a:r>
            <a:r>
              <a:rPr lang="en-US" sz="2200" spc="-65" dirty="0">
                <a:latin typeface="Arial MT"/>
                <a:cs typeface="Arial MT"/>
              </a:rPr>
              <a:t> </a:t>
            </a:r>
            <a:r>
              <a:rPr lang="en-US" sz="2200" dirty="0">
                <a:latin typeface="Arial MT"/>
                <a:cs typeface="Arial MT"/>
              </a:rPr>
              <a:t>such</a:t>
            </a:r>
            <a:r>
              <a:rPr lang="en-US" sz="2200" spc="-40" dirty="0">
                <a:latin typeface="Arial MT"/>
                <a:cs typeface="Arial MT"/>
              </a:rPr>
              <a:t> </a:t>
            </a:r>
            <a:r>
              <a:rPr lang="en-US" sz="2200" dirty="0">
                <a:latin typeface="Arial MT"/>
                <a:cs typeface="Arial MT"/>
              </a:rPr>
              <a:t>as</a:t>
            </a:r>
            <a:r>
              <a:rPr lang="en-US" sz="2200" spc="-25" dirty="0">
                <a:latin typeface="Arial MT"/>
                <a:cs typeface="Arial MT"/>
              </a:rPr>
              <a:t> </a:t>
            </a:r>
            <a:r>
              <a:rPr lang="en-US" sz="2200" dirty="0">
                <a:latin typeface="Arial MT"/>
                <a:cs typeface="Arial MT"/>
              </a:rPr>
              <a:t>shopping,</a:t>
            </a:r>
            <a:r>
              <a:rPr lang="en-US" sz="2200" spc="-45" dirty="0">
                <a:latin typeface="Arial MT"/>
                <a:cs typeface="Arial MT"/>
              </a:rPr>
              <a:t> </a:t>
            </a:r>
            <a:r>
              <a:rPr lang="en-US" sz="2200" dirty="0">
                <a:latin typeface="Arial MT"/>
                <a:cs typeface="Arial MT"/>
              </a:rPr>
              <a:t>airline,</a:t>
            </a:r>
            <a:r>
              <a:rPr lang="en-US" sz="2200" spc="-30" dirty="0">
                <a:latin typeface="Arial MT"/>
                <a:cs typeface="Arial MT"/>
              </a:rPr>
              <a:t> </a:t>
            </a:r>
            <a:r>
              <a:rPr lang="en-US" sz="2200" dirty="0">
                <a:latin typeface="Arial MT"/>
                <a:cs typeface="Arial MT"/>
              </a:rPr>
              <a:t>hotel,</a:t>
            </a:r>
            <a:r>
              <a:rPr lang="en-US" sz="2200" spc="-30" dirty="0">
                <a:latin typeface="Arial MT"/>
                <a:cs typeface="Arial MT"/>
              </a:rPr>
              <a:t> </a:t>
            </a:r>
            <a:r>
              <a:rPr lang="en-US" sz="2200" spc="-25" dirty="0">
                <a:latin typeface="Arial MT"/>
                <a:cs typeface="Arial MT"/>
              </a:rPr>
              <a:t>car </a:t>
            </a:r>
            <a:r>
              <a:rPr lang="en-US" sz="2200" spc="-10" dirty="0">
                <a:latin typeface="Arial MT"/>
                <a:cs typeface="Arial MT"/>
              </a:rPr>
              <a:t>reservations.</a:t>
            </a:r>
            <a:endParaRPr lang="en-US" sz="2200" dirty="0">
              <a:latin typeface="Arial MT"/>
              <a:cs typeface="Arial MT"/>
            </a:endParaRPr>
          </a:p>
          <a:p>
            <a:pPr marL="927100" lvl="1" indent="-457200">
              <a:lnSpc>
                <a:spcPct val="100000"/>
              </a:lnSpc>
              <a:spcBef>
                <a:spcPts val="660"/>
              </a:spcBef>
              <a:buSzPct val="58928"/>
              <a:tabLst>
                <a:tab pos="354965" algn="l"/>
              </a:tabLst>
            </a:pPr>
            <a:r>
              <a:rPr lang="en-US" dirty="0">
                <a:latin typeface="Arial MT"/>
                <a:cs typeface="Arial MT"/>
              </a:rPr>
              <a:t>Economies</a:t>
            </a:r>
            <a:r>
              <a:rPr lang="en-US" spc="-75" dirty="0">
                <a:latin typeface="Arial MT"/>
                <a:cs typeface="Arial MT"/>
              </a:rPr>
              <a:t> </a:t>
            </a:r>
            <a:r>
              <a:rPr lang="en-US" dirty="0">
                <a:latin typeface="Arial MT"/>
                <a:cs typeface="Arial MT"/>
              </a:rPr>
              <a:t>of</a:t>
            </a:r>
            <a:r>
              <a:rPr lang="en-US" spc="-90" dirty="0">
                <a:latin typeface="Arial MT"/>
                <a:cs typeface="Arial MT"/>
              </a:rPr>
              <a:t> </a:t>
            </a:r>
            <a:r>
              <a:rPr lang="en-US" spc="-10" dirty="0">
                <a:latin typeface="Arial MT"/>
                <a:cs typeface="Arial MT"/>
              </a:rPr>
              <a:t>scale:</a:t>
            </a:r>
            <a:endParaRPr lang="en-US" dirty="0">
              <a:latin typeface="Arial MT"/>
              <a:cs typeface="Arial MT"/>
            </a:endParaRPr>
          </a:p>
          <a:p>
            <a:pPr marL="1383665" marR="5080" lvl="2" indent="-457200">
              <a:lnSpc>
                <a:spcPct val="100000"/>
              </a:lnSpc>
              <a:spcBef>
                <a:spcPts val="635"/>
              </a:spcBef>
              <a:buSzPct val="53846"/>
              <a:tabLst>
                <a:tab pos="756285" algn="l"/>
              </a:tabLst>
            </a:pPr>
            <a:r>
              <a:rPr lang="en-US" sz="2200" dirty="0">
                <a:latin typeface="Arial MT"/>
                <a:cs typeface="Arial MT"/>
              </a:rPr>
              <a:t>Wasteful</a:t>
            </a:r>
            <a:r>
              <a:rPr lang="en-US" sz="2200" spc="-60" dirty="0">
                <a:latin typeface="Arial MT"/>
                <a:cs typeface="Arial MT"/>
              </a:rPr>
              <a:t> </a:t>
            </a:r>
            <a:r>
              <a:rPr lang="en-US" sz="2200" dirty="0">
                <a:latin typeface="Arial MT"/>
                <a:cs typeface="Arial MT"/>
              </a:rPr>
              <a:t>overlap</a:t>
            </a:r>
            <a:r>
              <a:rPr lang="en-US" sz="2200" spc="-55" dirty="0">
                <a:latin typeface="Arial MT"/>
                <a:cs typeface="Arial MT"/>
              </a:rPr>
              <a:t> </a:t>
            </a:r>
            <a:r>
              <a:rPr lang="en-US" sz="2200" dirty="0">
                <a:latin typeface="Arial MT"/>
                <a:cs typeface="Arial MT"/>
              </a:rPr>
              <a:t>of</a:t>
            </a:r>
            <a:r>
              <a:rPr lang="en-US" sz="2200" spc="-35" dirty="0">
                <a:latin typeface="Arial MT"/>
                <a:cs typeface="Arial MT"/>
              </a:rPr>
              <a:t> </a:t>
            </a:r>
            <a:r>
              <a:rPr lang="en-US" sz="2200" dirty="0">
                <a:latin typeface="Arial MT"/>
                <a:cs typeface="Arial MT"/>
              </a:rPr>
              <a:t>resources</a:t>
            </a:r>
            <a:r>
              <a:rPr lang="en-US" sz="2200" spc="-75" dirty="0">
                <a:latin typeface="Arial MT"/>
                <a:cs typeface="Arial MT"/>
              </a:rPr>
              <a:t> </a:t>
            </a:r>
            <a:r>
              <a:rPr lang="en-US" sz="2200" dirty="0">
                <a:latin typeface="Arial MT"/>
                <a:cs typeface="Arial MT"/>
              </a:rPr>
              <a:t>and</a:t>
            </a:r>
            <a:r>
              <a:rPr lang="en-US" sz="2200" spc="-40" dirty="0">
                <a:latin typeface="Arial MT"/>
                <a:cs typeface="Arial MT"/>
              </a:rPr>
              <a:t> </a:t>
            </a:r>
            <a:r>
              <a:rPr lang="en-US" sz="2200" dirty="0">
                <a:latin typeface="Arial MT"/>
                <a:cs typeface="Arial MT"/>
              </a:rPr>
              <a:t>personnel</a:t>
            </a:r>
            <a:r>
              <a:rPr lang="en-US" sz="2200" spc="-60" dirty="0">
                <a:latin typeface="Arial MT"/>
                <a:cs typeface="Arial MT"/>
              </a:rPr>
              <a:t> </a:t>
            </a:r>
            <a:r>
              <a:rPr lang="en-US" sz="2200" spc="-25" dirty="0">
                <a:latin typeface="Arial MT"/>
                <a:cs typeface="Arial MT"/>
              </a:rPr>
              <a:t>can </a:t>
            </a:r>
            <a:r>
              <a:rPr lang="en-US" sz="2200" dirty="0">
                <a:latin typeface="Arial MT"/>
                <a:cs typeface="Arial MT"/>
              </a:rPr>
              <a:t>be</a:t>
            </a:r>
            <a:r>
              <a:rPr lang="en-US" sz="2200" spc="-55" dirty="0">
                <a:latin typeface="Arial MT"/>
                <a:cs typeface="Arial MT"/>
              </a:rPr>
              <a:t> </a:t>
            </a:r>
            <a:r>
              <a:rPr lang="en-US" sz="2200" dirty="0">
                <a:latin typeface="Arial MT"/>
                <a:cs typeface="Arial MT"/>
              </a:rPr>
              <a:t>avoided</a:t>
            </a:r>
            <a:r>
              <a:rPr lang="en-US" sz="2200" spc="-65" dirty="0">
                <a:latin typeface="Arial MT"/>
                <a:cs typeface="Arial MT"/>
              </a:rPr>
              <a:t> </a:t>
            </a:r>
            <a:r>
              <a:rPr lang="en-US" sz="2200" dirty="0">
                <a:latin typeface="Arial MT"/>
                <a:cs typeface="Arial MT"/>
              </a:rPr>
              <a:t>by</a:t>
            </a:r>
            <a:r>
              <a:rPr lang="en-US" sz="2200" spc="-55" dirty="0">
                <a:latin typeface="Arial MT"/>
                <a:cs typeface="Arial MT"/>
              </a:rPr>
              <a:t> </a:t>
            </a:r>
            <a:r>
              <a:rPr lang="en-US" sz="2200" dirty="0">
                <a:latin typeface="Arial MT"/>
                <a:cs typeface="Arial MT"/>
              </a:rPr>
              <a:t>consolidating</a:t>
            </a:r>
            <a:r>
              <a:rPr lang="en-US" sz="2200" spc="-75" dirty="0">
                <a:latin typeface="Arial MT"/>
                <a:cs typeface="Arial MT"/>
              </a:rPr>
              <a:t> </a:t>
            </a:r>
            <a:r>
              <a:rPr lang="en-US" sz="2200" dirty="0">
                <a:latin typeface="Arial MT"/>
                <a:cs typeface="Arial MT"/>
              </a:rPr>
              <a:t>data</a:t>
            </a:r>
            <a:r>
              <a:rPr lang="en-US" sz="2200" spc="-55" dirty="0">
                <a:latin typeface="Arial MT"/>
                <a:cs typeface="Arial MT"/>
              </a:rPr>
              <a:t> </a:t>
            </a:r>
            <a:r>
              <a:rPr lang="en-US" sz="2200" dirty="0">
                <a:latin typeface="Arial MT"/>
                <a:cs typeface="Arial MT"/>
              </a:rPr>
              <a:t>and</a:t>
            </a:r>
            <a:r>
              <a:rPr lang="en-US" sz="2200" spc="-55" dirty="0">
                <a:latin typeface="Arial MT"/>
                <a:cs typeface="Arial MT"/>
              </a:rPr>
              <a:t> </a:t>
            </a:r>
            <a:r>
              <a:rPr lang="en-US" sz="2200" spc="-10" dirty="0">
                <a:latin typeface="Arial MT"/>
                <a:cs typeface="Arial MT"/>
              </a:rPr>
              <a:t>applications </a:t>
            </a:r>
            <a:r>
              <a:rPr lang="en-US" sz="2200" dirty="0">
                <a:latin typeface="Arial MT"/>
                <a:cs typeface="Arial MT"/>
              </a:rPr>
              <a:t>across</a:t>
            </a:r>
            <a:r>
              <a:rPr lang="en-US" sz="2200" spc="-15" dirty="0">
                <a:latin typeface="Arial MT"/>
                <a:cs typeface="Arial MT"/>
              </a:rPr>
              <a:t> </a:t>
            </a:r>
            <a:r>
              <a:rPr lang="en-US" sz="2200" spc="-10" dirty="0">
                <a:latin typeface="Arial MT"/>
                <a:cs typeface="Arial MT"/>
              </a:rPr>
              <a:t>departments.</a:t>
            </a:r>
            <a:endParaRPr lang="en-US" sz="2200" dirty="0">
              <a:latin typeface="Arial MT"/>
              <a:cs typeface="Arial MT"/>
            </a:endParaRPr>
          </a:p>
        </p:txBody>
      </p:sp>
    </p:spTree>
    <p:extLst>
      <p:ext uri="{BB962C8B-B14F-4D97-AF65-F5344CB8AC3E}">
        <p14:creationId xmlns="" xmlns:p14="http://schemas.microsoft.com/office/powerpoint/2010/main" val="12203503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DBAD18-4841-4C8A-985F-5C6AC77FAFE3}"/>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0D029B8C-ECDB-4B08-8B7B-F20DA5749E93}"/>
              </a:ext>
            </a:extLst>
          </p:cNvPr>
          <p:cNvSpPr>
            <a:spLocks noGrp="1"/>
          </p:cNvSpPr>
          <p:nvPr>
            <p:ph idx="1"/>
          </p:nvPr>
        </p:nvSpPr>
        <p:spPr/>
        <p:txBody>
          <a:bodyPr>
            <a:normAutofit lnSpcReduction="10000"/>
          </a:bodyPr>
          <a:lstStyle/>
          <a:p>
            <a:r>
              <a:rPr lang="en-US" b="1" dirty="0"/>
              <a:t>What is a primary advantage of using a DBMS in a business environment?</a:t>
            </a:r>
            <a:endParaRPr lang="en-US" dirty="0"/>
          </a:p>
          <a:p>
            <a:r>
              <a:rPr lang="en-US" dirty="0"/>
              <a:t>A) Decreased data security</a:t>
            </a:r>
          </a:p>
          <a:p>
            <a:r>
              <a:rPr lang="en-US" dirty="0"/>
              <a:t>B) Limited data accessibility</a:t>
            </a:r>
          </a:p>
          <a:p>
            <a:r>
              <a:rPr lang="en-US" dirty="0"/>
              <a:t>C) Improved data organization</a:t>
            </a:r>
          </a:p>
          <a:p>
            <a:r>
              <a:rPr lang="en-US" dirty="0"/>
              <a:t>D) Reduced scalability</a:t>
            </a:r>
          </a:p>
          <a:p>
            <a:endParaRPr lang="en-US" dirty="0"/>
          </a:p>
        </p:txBody>
      </p:sp>
    </p:spTree>
    <p:extLst>
      <p:ext uri="{BB962C8B-B14F-4D97-AF65-F5344CB8AC3E}">
        <p14:creationId xmlns="" xmlns:p14="http://schemas.microsoft.com/office/powerpoint/2010/main" val="29200829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DBAD18-4841-4C8A-985F-5C6AC77FAFE3}"/>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0D029B8C-ECDB-4B08-8B7B-F20DA5749E93}"/>
              </a:ext>
            </a:extLst>
          </p:cNvPr>
          <p:cNvSpPr>
            <a:spLocks noGrp="1"/>
          </p:cNvSpPr>
          <p:nvPr>
            <p:ph idx="1"/>
          </p:nvPr>
        </p:nvSpPr>
        <p:spPr/>
        <p:txBody>
          <a:bodyPr>
            <a:normAutofit lnSpcReduction="10000"/>
          </a:bodyPr>
          <a:lstStyle/>
          <a:p>
            <a:r>
              <a:rPr lang="en-US" b="1" dirty="0"/>
              <a:t>What is a primary advantage of using a DBMS in a business environment?</a:t>
            </a:r>
            <a:endParaRPr lang="en-US" dirty="0"/>
          </a:p>
          <a:p>
            <a:r>
              <a:rPr lang="en-US" dirty="0"/>
              <a:t>A) Decreased data security</a:t>
            </a:r>
          </a:p>
          <a:p>
            <a:r>
              <a:rPr lang="en-US" dirty="0"/>
              <a:t>B) Limited data accessibility</a:t>
            </a:r>
          </a:p>
          <a:p>
            <a:r>
              <a:rPr lang="en-US" dirty="0">
                <a:solidFill>
                  <a:srgbClr val="00B050"/>
                </a:solidFill>
              </a:rPr>
              <a:t>C) Improved data organization</a:t>
            </a:r>
          </a:p>
          <a:p>
            <a:r>
              <a:rPr lang="en-US" dirty="0"/>
              <a:t>D) Reduced scalability</a:t>
            </a:r>
          </a:p>
          <a:p>
            <a:endParaRPr lang="en-US" dirty="0"/>
          </a:p>
        </p:txBody>
      </p:sp>
    </p:spTree>
    <p:extLst>
      <p:ext uri="{BB962C8B-B14F-4D97-AF65-F5344CB8AC3E}">
        <p14:creationId xmlns="" xmlns:p14="http://schemas.microsoft.com/office/powerpoint/2010/main" val="33785730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DBAD18-4841-4C8A-985F-5C6AC77FAFE3}"/>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0D029B8C-ECDB-4B08-8B7B-F20DA5749E93}"/>
              </a:ext>
            </a:extLst>
          </p:cNvPr>
          <p:cNvSpPr>
            <a:spLocks noGrp="1"/>
          </p:cNvSpPr>
          <p:nvPr>
            <p:ph idx="1"/>
          </p:nvPr>
        </p:nvSpPr>
        <p:spPr/>
        <p:txBody>
          <a:bodyPr>
            <a:normAutofit lnSpcReduction="10000"/>
          </a:bodyPr>
          <a:lstStyle/>
          <a:p>
            <a:r>
              <a:rPr lang="en-US" b="1" dirty="0"/>
              <a:t>How does a DBMS contribute to data security in comparison to traditional file systems?</a:t>
            </a:r>
            <a:endParaRPr lang="en-US" dirty="0"/>
          </a:p>
          <a:p>
            <a:r>
              <a:rPr lang="en-US" dirty="0"/>
              <a:t>A) It exposes data to external threats</a:t>
            </a:r>
          </a:p>
          <a:p>
            <a:r>
              <a:rPr lang="en-US" dirty="0"/>
              <a:t>B) It lacks authentication mechanisms</a:t>
            </a:r>
          </a:p>
          <a:p>
            <a:r>
              <a:rPr lang="en-US" dirty="0"/>
              <a:t>C) It provides access control and authentication features</a:t>
            </a:r>
          </a:p>
          <a:p>
            <a:r>
              <a:rPr lang="en-US" dirty="0"/>
              <a:t>D) It stores data in plain text</a:t>
            </a:r>
          </a:p>
          <a:p>
            <a:endParaRPr lang="en-US" dirty="0"/>
          </a:p>
        </p:txBody>
      </p:sp>
    </p:spTree>
    <p:extLst>
      <p:ext uri="{BB962C8B-B14F-4D97-AF65-F5344CB8AC3E}">
        <p14:creationId xmlns="" xmlns:p14="http://schemas.microsoft.com/office/powerpoint/2010/main" val="17593877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DBAD18-4841-4C8A-985F-5C6AC77FAFE3}"/>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0D029B8C-ECDB-4B08-8B7B-F20DA5749E93}"/>
              </a:ext>
            </a:extLst>
          </p:cNvPr>
          <p:cNvSpPr>
            <a:spLocks noGrp="1"/>
          </p:cNvSpPr>
          <p:nvPr>
            <p:ph idx="1"/>
          </p:nvPr>
        </p:nvSpPr>
        <p:spPr/>
        <p:txBody>
          <a:bodyPr>
            <a:normAutofit lnSpcReduction="10000"/>
          </a:bodyPr>
          <a:lstStyle/>
          <a:p>
            <a:r>
              <a:rPr lang="en-US" b="1" dirty="0"/>
              <a:t>How does a DBMS contribute to data security in comparison to traditional file systems?</a:t>
            </a:r>
            <a:endParaRPr lang="en-US" dirty="0"/>
          </a:p>
          <a:p>
            <a:r>
              <a:rPr lang="en-US" dirty="0"/>
              <a:t>A) It exposes data to external threats</a:t>
            </a:r>
          </a:p>
          <a:p>
            <a:r>
              <a:rPr lang="en-US" dirty="0"/>
              <a:t>B) It lacks authentication mechanisms</a:t>
            </a:r>
          </a:p>
          <a:p>
            <a:r>
              <a:rPr lang="en-US" dirty="0">
                <a:solidFill>
                  <a:srgbClr val="00B050"/>
                </a:solidFill>
              </a:rPr>
              <a:t>C) It provides access control and authentication features</a:t>
            </a:r>
          </a:p>
          <a:p>
            <a:r>
              <a:rPr lang="en-US" dirty="0"/>
              <a:t>D) It stores data in plain text</a:t>
            </a:r>
          </a:p>
          <a:p>
            <a:endParaRPr lang="en-US" dirty="0"/>
          </a:p>
        </p:txBody>
      </p:sp>
    </p:spTree>
    <p:extLst>
      <p:ext uri="{BB962C8B-B14F-4D97-AF65-F5344CB8AC3E}">
        <p14:creationId xmlns="" xmlns:p14="http://schemas.microsoft.com/office/powerpoint/2010/main" val="18364956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28AE93-3266-4BD9-A745-41E749BA04B3}"/>
              </a:ext>
            </a:extLst>
          </p:cNvPr>
          <p:cNvSpPr>
            <a:spLocks noGrp="1"/>
          </p:cNvSpPr>
          <p:nvPr>
            <p:ph type="title"/>
          </p:nvPr>
        </p:nvSpPr>
        <p:spPr/>
        <p:txBody>
          <a:bodyPr/>
          <a:lstStyle/>
          <a:p>
            <a:r>
              <a:rPr lang="en-IN" dirty="0"/>
              <a:t>Data Models</a:t>
            </a:r>
            <a:endParaRPr lang="en-US" dirty="0"/>
          </a:p>
        </p:txBody>
      </p:sp>
      <p:sp>
        <p:nvSpPr>
          <p:cNvPr id="3" name="Content Placeholder 2">
            <a:extLst>
              <a:ext uri="{FF2B5EF4-FFF2-40B4-BE49-F238E27FC236}">
                <a16:creationId xmlns="" xmlns:a16="http://schemas.microsoft.com/office/drawing/2014/main" id="{D2E61C8F-543C-44A8-9965-F532745B75A0}"/>
              </a:ext>
            </a:extLst>
          </p:cNvPr>
          <p:cNvSpPr>
            <a:spLocks noGrp="1"/>
          </p:cNvSpPr>
          <p:nvPr>
            <p:ph idx="1"/>
          </p:nvPr>
        </p:nvSpPr>
        <p:spPr/>
        <p:txBody>
          <a:bodyPr>
            <a:normAutofit fontScale="85000" lnSpcReduction="10000"/>
          </a:bodyPr>
          <a:lstStyle/>
          <a:p>
            <a:pPr marL="355600" indent="-342900">
              <a:spcBef>
                <a:spcPts val="680"/>
              </a:spcBef>
              <a:buSzPct val="60416"/>
              <a:tabLst>
                <a:tab pos="354965" algn="l"/>
              </a:tabLst>
            </a:pPr>
            <a:r>
              <a:rPr lang="en-US" sz="2400" b="1" dirty="0">
                <a:cs typeface="Arial"/>
              </a:rPr>
              <a:t>Data</a:t>
            </a:r>
            <a:r>
              <a:rPr lang="en-US" sz="2400" b="1" spc="-60" dirty="0">
                <a:cs typeface="Arial"/>
              </a:rPr>
              <a:t> </a:t>
            </a:r>
            <a:r>
              <a:rPr lang="en-US" sz="2400" b="1" spc="-10" dirty="0">
                <a:cs typeface="Arial"/>
              </a:rPr>
              <a:t>Model:</a:t>
            </a:r>
            <a:endParaRPr lang="en-US" sz="2400" dirty="0">
              <a:cs typeface="Arial"/>
            </a:endParaRPr>
          </a:p>
          <a:p>
            <a:pPr marL="812165" marR="5080" lvl="1" indent="-342900">
              <a:spcBef>
                <a:spcPts val="525"/>
              </a:spcBef>
              <a:buSzPct val="54545"/>
              <a:tabLst>
                <a:tab pos="756285" algn="l"/>
              </a:tabLst>
            </a:pPr>
            <a:r>
              <a:rPr lang="en-US" sz="2200" dirty="0">
                <a:latin typeface="Arial MT"/>
                <a:cs typeface="Arial MT"/>
              </a:rPr>
              <a:t>A</a:t>
            </a:r>
            <a:r>
              <a:rPr lang="en-US" sz="2200" spc="-50" dirty="0">
                <a:latin typeface="Arial MT"/>
                <a:cs typeface="Arial MT"/>
              </a:rPr>
              <a:t> </a:t>
            </a:r>
            <a:r>
              <a:rPr lang="en-US" sz="2200" dirty="0">
                <a:latin typeface="Arial MT"/>
                <a:cs typeface="Arial MT"/>
              </a:rPr>
              <a:t>set</a:t>
            </a:r>
            <a:r>
              <a:rPr lang="en-US" sz="2200" spc="-45" dirty="0">
                <a:latin typeface="Arial MT"/>
                <a:cs typeface="Arial MT"/>
              </a:rPr>
              <a:t> </a:t>
            </a:r>
            <a:r>
              <a:rPr lang="en-US" sz="2200" dirty="0">
                <a:latin typeface="Arial MT"/>
                <a:cs typeface="Arial MT"/>
              </a:rPr>
              <a:t>of</a:t>
            </a:r>
            <a:r>
              <a:rPr lang="en-US" sz="2200" spc="-50" dirty="0">
                <a:latin typeface="Arial MT"/>
                <a:cs typeface="Arial MT"/>
              </a:rPr>
              <a:t> </a:t>
            </a:r>
            <a:r>
              <a:rPr lang="en-US" sz="2200" dirty="0">
                <a:latin typeface="Arial MT"/>
                <a:cs typeface="Arial MT"/>
              </a:rPr>
              <a:t>concepts</a:t>
            </a:r>
            <a:r>
              <a:rPr lang="en-US" sz="2200" spc="-45" dirty="0">
                <a:latin typeface="Arial MT"/>
                <a:cs typeface="Arial MT"/>
              </a:rPr>
              <a:t> </a:t>
            </a:r>
            <a:r>
              <a:rPr lang="en-US" sz="2200" dirty="0">
                <a:latin typeface="Arial MT"/>
                <a:cs typeface="Arial MT"/>
              </a:rPr>
              <a:t>to</a:t>
            </a:r>
            <a:r>
              <a:rPr lang="en-US" sz="2200" spc="-40" dirty="0">
                <a:latin typeface="Arial MT"/>
                <a:cs typeface="Arial MT"/>
              </a:rPr>
              <a:t> </a:t>
            </a:r>
            <a:r>
              <a:rPr lang="en-US" sz="2200" dirty="0">
                <a:latin typeface="Arial MT"/>
                <a:cs typeface="Arial MT"/>
              </a:rPr>
              <a:t>describe</a:t>
            </a:r>
            <a:r>
              <a:rPr lang="en-US" sz="2200" spc="-50" dirty="0">
                <a:latin typeface="Arial MT"/>
                <a:cs typeface="Arial MT"/>
              </a:rPr>
              <a:t> </a:t>
            </a:r>
            <a:r>
              <a:rPr lang="en-US" sz="2200" dirty="0">
                <a:latin typeface="Arial MT"/>
                <a:cs typeface="Arial MT"/>
              </a:rPr>
              <a:t>the </a:t>
            </a:r>
            <a:r>
              <a:rPr lang="en-US" sz="2200" b="1" i="1" dirty="0">
                <a:cs typeface="Arial"/>
              </a:rPr>
              <a:t>structure</a:t>
            </a:r>
            <a:r>
              <a:rPr lang="en-US" sz="2200" b="1" i="1" spc="-25" dirty="0">
                <a:cs typeface="Arial"/>
              </a:rPr>
              <a:t> </a:t>
            </a:r>
            <a:r>
              <a:rPr lang="en-US" sz="2200" dirty="0">
                <a:latin typeface="Arial MT"/>
                <a:cs typeface="Arial MT"/>
              </a:rPr>
              <a:t>of</a:t>
            </a:r>
            <a:r>
              <a:rPr lang="en-US" sz="2200" spc="-30" dirty="0">
                <a:latin typeface="Arial MT"/>
                <a:cs typeface="Arial MT"/>
              </a:rPr>
              <a:t> </a:t>
            </a:r>
            <a:r>
              <a:rPr lang="en-US" sz="2200" dirty="0">
                <a:latin typeface="Arial MT"/>
                <a:cs typeface="Arial MT"/>
              </a:rPr>
              <a:t>a</a:t>
            </a:r>
            <a:r>
              <a:rPr lang="en-US" sz="2200" spc="-45" dirty="0">
                <a:latin typeface="Arial MT"/>
                <a:cs typeface="Arial MT"/>
              </a:rPr>
              <a:t> </a:t>
            </a:r>
            <a:r>
              <a:rPr lang="en-US" sz="2200" spc="-10" dirty="0">
                <a:latin typeface="Arial MT"/>
                <a:cs typeface="Arial MT"/>
              </a:rPr>
              <a:t>database, </a:t>
            </a:r>
            <a:r>
              <a:rPr lang="en-US" sz="2200" dirty="0">
                <a:latin typeface="Arial MT"/>
                <a:cs typeface="Arial MT"/>
              </a:rPr>
              <a:t>the</a:t>
            </a:r>
            <a:r>
              <a:rPr lang="en-US" sz="2200" spc="-65" dirty="0">
                <a:latin typeface="Arial MT"/>
                <a:cs typeface="Arial MT"/>
              </a:rPr>
              <a:t> </a:t>
            </a:r>
            <a:r>
              <a:rPr lang="en-US" sz="2200" b="1" i="1" dirty="0">
                <a:cs typeface="Arial"/>
              </a:rPr>
              <a:t>operations</a:t>
            </a:r>
            <a:r>
              <a:rPr lang="en-US" sz="2200" b="1" i="1" spc="-25" dirty="0">
                <a:cs typeface="Arial"/>
              </a:rPr>
              <a:t> </a:t>
            </a:r>
            <a:r>
              <a:rPr lang="en-US" sz="2200" dirty="0">
                <a:latin typeface="Arial MT"/>
                <a:cs typeface="Arial MT"/>
              </a:rPr>
              <a:t>for</a:t>
            </a:r>
            <a:r>
              <a:rPr lang="en-US" sz="2200" spc="-50" dirty="0">
                <a:latin typeface="Arial MT"/>
                <a:cs typeface="Arial MT"/>
              </a:rPr>
              <a:t> </a:t>
            </a:r>
            <a:r>
              <a:rPr lang="en-US" sz="2200" spc="-10" dirty="0">
                <a:latin typeface="Arial MT"/>
                <a:cs typeface="Arial MT"/>
              </a:rPr>
              <a:t>manipulating</a:t>
            </a:r>
            <a:r>
              <a:rPr lang="en-US" sz="2200" spc="-65" dirty="0">
                <a:latin typeface="Arial MT"/>
                <a:cs typeface="Arial MT"/>
              </a:rPr>
              <a:t> </a:t>
            </a:r>
            <a:r>
              <a:rPr lang="en-US" sz="2200" dirty="0">
                <a:latin typeface="Arial MT"/>
                <a:cs typeface="Arial MT"/>
              </a:rPr>
              <a:t>these</a:t>
            </a:r>
            <a:r>
              <a:rPr lang="en-US" sz="2200" spc="-60" dirty="0">
                <a:latin typeface="Arial MT"/>
                <a:cs typeface="Arial MT"/>
              </a:rPr>
              <a:t> </a:t>
            </a:r>
            <a:r>
              <a:rPr lang="en-US" sz="2200" dirty="0">
                <a:latin typeface="Arial MT"/>
                <a:cs typeface="Arial MT"/>
              </a:rPr>
              <a:t>structures,</a:t>
            </a:r>
            <a:r>
              <a:rPr lang="en-US" sz="2200" spc="-60" dirty="0">
                <a:latin typeface="Arial MT"/>
                <a:cs typeface="Arial MT"/>
              </a:rPr>
              <a:t> </a:t>
            </a:r>
            <a:r>
              <a:rPr lang="en-US" sz="2200" spc="-25" dirty="0">
                <a:latin typeface="Arial MT"/>
                <a:cs typeface="Arial MT"/>
              </a:rPr>
              <a:t>and </a:t>
            </a:r>
            <a:r>
              <a:rPr lang="en-US" sz="2200" dirty="0">
                <a:latin typeface="Arial MT"/>
                <a:cs typeface="Arial MT"/>
              </a:rPr>
              <a:t>certain</a:t>
            </a:r>
            <a:r>
              <a:rPr lang="en-US" sz="2200" spc="-65" dirty="0">
                <a:latin typeface="Arial MT"/>
                <a:cs typeface="Arial MT"/>
              </a:rPr>
              <a:t> </a:t>
            </a:r>
            <a:r>
              <a:rPr lang="en-US" sz="2200" b="1" i="1" dirty="0">
                <a:cs typeface="Arial"/>
              </a:rPr>
              <a:t>constraints</a:t>
            </a:r>
            <a:r>
              <a:rPr lang="en-US" sz="2200" b="1" i="1" spc="-55" dirty="0">
                <a:cs typeface="Arial"/>
              </a:rPr>
              <a:t> </a:t>
            </a:r>
            <a:r>
              <a:rPr lang="en-US" sz="2200" dirty="0">
                <a:latin typeface="Arial MT"/>
                <a:cs typeface="Arial MT"/>
              </a:rPr>
              <a:t>that</a:t>
            </a:r>
            <a:r>
              <a:rPr lang="en-US" sz="2200" spc="-75" dirty="0">
                <a:latin typeface="Arial MT"/>
                <a:cs typeface="Arial MT"/>
              </a:rPr>
              <a:t> </a:t>
            </a:r>
            <a:r>
              <a:rPr lang="en-US" sz="2200" dirty="0">
                <a:latin typeface="Arial MT"/>
                <a:cs typeface="Arial MT"/>
              </a:rPr>
              <a:t>the</a:t>
            </a:r>
            <a:r>
              <a:rPr lang="en-US" sz="2200" spc="-80" dirty="0">
                <a:latin typeface="Arial MT"/>
                <a:cs typeface="Arial MT"/>
              </a:rPr>
              <a:t> </a:t>
            </a:r>
            <a:r>
              <a:rPr lang="en-US" sz="2200" dirty="0">
                <a:latin typeface="Arial MT"/>
                <a:cs typeface="Arial MT"/>
              </a:rPr>
              <a:t>database</a:t>
            </a:r>
            <a:r>
              <a:rPr lang="en-US" sz="2200" spc="-65" dirty="0">
                <a:latin typeface="Arial MT"/>
                <a:cs typeface="Arial MT"/>
              </a:rPr>
              <a:t> </a:t>
            </a:r>
            <a:r>
              <a:rPr lang="en-US" sz="2200" dirty="0">
                <a:latin typeface="Arial MT"/>
                <a:cs typeface="Arial MT"/>
              </a:rPr>
              <a:t>should</a:t>
            </a:r>
            <a:r>
              <a:rPr lang="en-US" sz="2200" spc="-80" dirty="0">
                <a:latin typeface="Arial MT"/>
                <a:cs typeface="Arial MT"/>
              </a:rPr>
              <a:t> </a:t>
            </a:r>
            <a:r>
              <a:rPr lang="en-US" sz="2200" spc="-10" dirty="0">
                <a:latin typeface="Arial MT"/>
                <a:cs typeface="Arial MT"/>
              </a:rPr>
              <a:t>obey.</a:t>
            </a:r>
            <a:endParaRPr lang="en-US" sz="2200" dirty="0">
              <a:latin typeface="Arial MT"/>
              <a:cs typeface="Arial MT"/>
            </a:endParaRPr>
          </a:p>
          <a:p>
            <a:pPr marL="355600" indent="-342900">
              <a:spcBef>
                <a:spcPts val="580"/>
              </a:spcBef>
              <a:buSzPct val="60416"/>
              <a:tabLst>
                <a:tab pos="354965" algn="l"/>
              </a:tabLst>
            </a:pPr>
            <a:r>
              <a:rPr lang="en-US" sz="2400" b="1" dirty="0">
                <a:cs typeface="Arial"/>
              </a:rPr>
              <a:t>Data</a:t>
            </a:r>
            <a:r>
              <a:rPr lang="en-US" sz="2400" b="1" spc="-45" dirty="0">
                <a:cs typeface="Arial"/>
              </a:rPr>
              <a:t> </a:t>
            </a:r>
            <a:r>
              <a:rPr lang="en-US" sz="2400" b="1" dirty="0">
                <a:cs typeface="Arial"/>
              </a:rPr>
              <a:t>Model</a:t>
            </a:r>
            <a:r>
              <a:rPr lang="en-US" sz="2400" b="1" spc="-70" dirty="0">
                <a:cs typeface="Arial"/>
              </a:rPr>
              <a:t> </a:t>
            </a:r>
            <a:r>
              <a:rPr lang="en-US" sz="2400" b="1" dirty="0">
                <a:cs typeface="Arial"/>
              </a:rPr>
              <a:t>Structure</a:t>
            </a:r>
            <a:r>
              <a:rPr lang="en-US" sz="2400" b="1" spc="-55" dirty="0">
                <a:cs typeface="Arial"/>
              </a:rPr>
              <a:t> </a:t>
            </a:r>
            <a:r>
              <a:rPr lang="en-US" sz="2400" b="1" dirty="0">
                <a:cs typeface="Arial"/>
              </a:rPr>
              <a:t>and</a:t>
            </a:r>
            <a:r>
              <a:rPr lang="en-US" sz="2400" b="1" spc="-65" dirty="0">
                <a:cs typeface="Arial"/>
              </a:rPr>
              <a:t> </a:t>
            </a:r>
            <a:r>
              <a:rPr lang="en-US" sz="2400" b="1" spc="-10" dirty="0">
                <a:cs typeface="Arial"/>
              </a:rPr>
              <a:t>Constraints:</a:t>
            </a:r>
            <a:endParaRPr lang="en-US" sz="2400" dirty="0">
              <a:cs typeface="Arial"/>
            </a:endParaRPr>
          </a:p>
          <a:p>
            <a:pPr marL="812800" lvl="1" indent="-342900">
              <a:spcBef>
                <a:spcPts val="525"/>
              </a:spcBef>
              <a:buSzPct val="54545"/>
              <a:tabLst>
                <a:tab pos="756285" algn="l"/>
              </a:tabLst>
            </a:pPr>
            <a:r>
              <a:rPr lang="en-US" sz="2200" dirty="0">
                <a:latin typeface="Arial MT"/>
                <a:cs typeface="Arial MT"/>
              </a:rPr>
              <a:t>Constructs</a:t>
            </a:r>
            <a:r>
              <a:rPr lang="en-US" sz="2200" spc="-60" dirty="0">
                <a:latin typeface="Arial MT"/>
                <a:cs typeface="Arial MT"/>
              </a:rPr>
              <a:t> </a:t>
            </a:r>
            <a:r>
              <a:rPr lang="en-US" sz="2200" dirty="0">
                <a:latin typeface="Arial MT"/>
                <a:cs typeface="Arial MT"/>
              </a:rPr>
              <a:t>are</a:t>
            </a:r>
            <a:r>
              <a:rPr lang="en-US" sz="2200" spc="-45" dirty="0">
                <a:latin typeface="Arial MT"/>
                <a:cs typeface="Arial MT"/>
              </a:rPr>
              <a:t> </a:t>
            </a:r>
            <a:r>
              <a:rPr lang="en-US" sz="2200" dirty="0">
                <a:latin typeface="Arial MT"/>
                <a:cs typeface="Arial MT"/>
              </a:rPr>
              <a:t>used</a:t>
            </a:r>
            <a:r>
              <a:rPr lang="en-US" sz="2200" spc="-60" dirty="0">
                <a:latin typeface="Arial MT"/>
                <a:cs typeface="Arial MT"/>
              </a:rPr>
              <a:t> </a:t>
            </a:r>
            <a:r>
              <a:rPr lang="en-US" sz="2200" dirty="0">
                <a:latin typeface="Arial MT"/>
                <a:cs typeface="Arial MT"/>
              </a:rPr>
              <a:t>to</a:t>
            </a:r>
            <a:r>
              <a:rPr lang="en-US" sz="2200" spc="-65" dirty="0">
                <a:latin typeface="Arial MT"/>
                <a:cs typeface="Arial MT"/>
              </a:rPr>
              <a:t> </a:t>
            </a:r>
            <a:r>
              <a:rPr lang="en-US" sz="2200" dirty="0">
                <a:latin typeface="Arial MT"/>
                <a:cs typeface="Arial MT"/>
              </a:rPr>
              <a:t>define</a:t>
            </a:r>
            <a:r>
              <a:rPr lang="en-US" sz="2200" spc="-60" dirty="0">
                <a:latin typeface="Arial MT"/>
                <a:cs typeface="Arial MT"/>
              </a:rPr>
              <a:t> </a:t>
            </a:r>
            <a:r>
              <a:rPr lang="en-US" sz="2200" dirty="0">
                <a:latin typeface="Arial MT"/>
                <a:cs typeface="Arial MT"/>
              </a:rPr>
              <a:t>the</a:t>
            </a:r>
            <a:r>
              <a:rPr lang="en-US" sz="2200" spc="-60" dirty="0">
                <a:latin typeface="Arial MT"/>
                <a:cs typeface="Arial MT"/>
              </a:rPr>
              <a:t> </a:t>
            </a:r>
            <a:r>
              <a:rPr lang="en-US" sz="2200" dirty="0">
                <a:latin typeface="Arial MT"/>
                <a:cs typeface="Arial MT"/>
              </a:rPr>
              <a:t>database</a:t>
            </a:r>
            <a:r>
              <a:rPr lang="en-US" sz="2200" spc="-60" dirty="0">
                <a:latin typeface="Arial MT"/>
                <a:cs typeface="Arial MT"/>
              </a:rPr>
              <a:t> </a:t>
            </a:r>
            <a:r>
              <a:rPr lang="en-US" sz="2200" spc="-10" dirty="0">
                <a:latin typeface="Arial MT"/>
                <a:cs typeface="Arial MT"/>
              </a:rPr>
              <a:t>structure</a:t>
            </a:r>
            <a:endParaRPr lang="en-US" sz="2200" dirty="0">
              <a:latin typeface="Arial MT"/>
              <a:cs typeface="Arial MT"/>
            </a:endParaRPr>
          </a:p>
          <a:p>
            <a:pPr marL="812165" marR="50800" lvl="1" indent="-342900">
              <a:spcBef>
                <a:spcPts val="530"/>
              </a:spcBef>
              <a:buSzPct val="54545"/>
              <a:tabLst>
                <a:tab pos="756285" algn="l"/>
              </a:tabLst>
            </a:pPr>
            <a:r>
              <a:rPr lang="en-US" sz="2200" dirty="0">
                <a:latin typeface="Arial MT"/>
                <a:cs typeface="Arial MT"/>
              </a:rPr>
              <a:t>Constructs</a:t>
            </a:r>
            <a:r>
              <a:rPr lang="en-US" sz="2200" spc="-80" dirty="0">
                <a:latin typeface="Arial MT"/>
                <a:cs typeface="Arial MT"/>
              </a:rPr>
              <a:t> </a:t>
            </a:r>
            <a:r>
              <a:rPr lang="en-US" sz="2200" dirty="0">
                <a:latin typeface="Arial MT"/>
                <a:cs typeface="Arial MT"/>
              </a:rPr>
              <a:t>typically</a:t>
            </a:r>
            <a:r>
              <a:rPr lang="en-US" sz="2200" spc="-85" dirty="0">
                <a:latin typeface="Arial MT"/>
                <a:cs typeface="Arial MT"/>
              </a:rPr>
              <a:t> </a:t>
            </a:r>
            <a:r>
              <a:rPr lang="en-US" sz="2200" dirty="0">
                <a:latin typeface="Arial MT"/>
                <a:cs typeface="Arial MT"/>
              </a:rPr>
              <a:t>include</a:t>
            </a:r>
            <a:r>
              <a:rPr lang="en-US" sz="2200" spc="-55" dirty="0">
                <a:latin typeface="Arial MT"/>
                <a:cs typeface="Arial MT"/>
              </a:rPr>
              <a:t> </a:t>
            </a:r>
            <a:r>
              <a:rPr lang="en-US" sz="2200" b="1" i="1" dirty="0">
                <a:cs typeface="Arial"/>
              </a:rPr>
              <a:t>elements</a:t>
            </a:r>
            <a:r>
              <a:rPr lang="en-US" sz="2200" b="1" i="1" spc="-70" dirty="0">
                <a:cs typeface="Arial"/>
              </a:rPr>
              <a:t> </a:t>
            </a:r>
            <a:r>
              <a:rPr lang="en-US" sz="2200" dirty="0">
                <a:latin typeface="Arial MT"/>
                <a:cs typeface="Arial MT"/>
              </a:rPr>
              <a:t>(and</a:t>
            </a:r>
            <a:r>
              <a:rPr lang="en-US" sz="2200" spc="-70" dirty="0">
                <a:latin typeface="Arial MT"/>
                <a:cs typeface="Arial MT"/>
              </a:rPr>
              <a:t> </a:t>
            </a:r>
            <a:r>
              <a:rPr lang="en-US" sz="2200" dirty="0">
                <a:latin typeface="Arial MT"/>
                <a:cs typeface="Arial MT"/>
              </a:rPr>
              <a:t>their</a:t>
            </a:r>
            <a:r>
              <a:rPr lang="en-US" sz="2200" spc="-60" dirty="0">
                <a:latin typeface="Arial MT"/>
                <a:cs typeface="Arial MT"/>
              </a:rPr>
              <a:t> </a:t>
            </a:r>
            <a:r>
              <a:rPr lang="en-US" sz="2200" b="1" i="1" spc="-20" dirty="0">
                <a:cs typeface="Arial"/>
              </a:rPr>
              <a:t>data </a:t>
            </a:r>
            <a:r>
              <a:rPr lang="en-US" sz="2200" b="1" i="1" dirty="0">
                <a:cs typeface="Arial"/>
              </a:rPr>
              <a:t>types</a:t>
            </a:r>
            <a:r>
              <a:rPr lang="en-US" sz="2200" dirty="0">
                <a:latin typeface="Arial MT"/>
                <a:cs typeface="Arial MT"/>
              </a:rPr>
              <a:t>)</a:t>
            </a:r>
            <a:r>
              <a:rPr lang="en-US" sz="2200" spc="-35" dirty="0">
                <a:latin typeface="Arial MT"/>
                <a:cs typeface="Arial MT"/>
              </a:rPr>
              <a:t> </a:t>
            </a:r>
            <a:r>
              <a:rPr lang="en-US" sz="2200" dirty="0">
                <a:latin typeface="Arial MT"/>
                <a:cs typeface="Arial MT"/>
              </a:rPr>
              <a:t>as</a:t>
            </a:r>
            <a:r>
              <a:rPr lang="en-US" sz="2200" spc="-60" dirty="0">
                <a:latin typeface="Arial MT"/>
                <a:cs typeface="Arial MT"/>
              </a:rPr>
              <a:t> </a:t>
            </a:r>
            <a:r>
              <a:rPr lang="en-US" sz="2200" dirty="0">
                <a:latin typeface="Arial MT"/>
                <a:cs typeface="Arial MT"/>
              </a:rPr>
              <a:t>well</a:t>
            </a:r>
            <a:r>
              <a:rPr lang="en-US" sz="2200" spc="-45" dirty="0">
                <a:latin typeface="Arial MT"/>
                <a:cs typeface="Arial MT"/>
              </a:rPr>
              <a:t> </a:t>
            </a:r>
            <a:r>
              <a:rPr lang="en-US" sz="2200" dirty="0">
                <a:latin typeface="Arial MT"/>
                <a:cs typeface="Arial MT"/>
              </a:rPr>
              <a:t>as</a:t>
            </a:r>
            <a:r>
              <a:rPr lang="en-US" sz="2200" spc="-45" dirty="0">
                <a:latin typeface="Arial MT"/>
                <a:cs typeface="Arial MT"/>
              </a:rPr>
              <a:t> </a:t>
            </a:r>
            <a:r>
              <a:rPr lang="en-US" sz="2200" dirty="0">
                <a:latin typeface="Arial MT"/>
                <a:cs typeface="Arial MT"/>
              </a:rPr>
              <a:t>groups</a:t>
            </a:r>
            <a:r>
              <a:rPr lang="en-US" sz="2200" spc="-45" dirty="0">
                <a:latin typeface="Arial MT"/>
                <a:cs typeface="Arial MT"/>
              </a:rPr>
              <a:t> </a:t>
            </a:r>
            <a:r>
              <a:rPr lang="en-US" sz="2200" dirty="0">
                <a:latin typeface="Arial MT"/>
                <a:cs typeface="Arial MT"/>
              </a:rPr>
              <a:t>of</a:t>
            </a:r>
            <a:r>
              <a:rPr lang="en-US" sz="2200" spc="-40" dirty="0">
                <a:latin typeface="Arial MT"/>
                <a:cs typeface="Arial MT"/>
              </a:rPr>
              <a:t> </a:t>
            </a:r>
            <a:r>
              <a:rPr lang="en-US" sz="2200" dirty="0">
                <a:latin typeface="Arial MT"/>
                <a:cs typeface="Arial MT"/>
              </a:rPr>
              <a:t>elements</a:t>
            </a:r>
            <a:r>
              <a:rPr lang="en-US" sz="2200" spc="-45" dirty="0">
                <a:latin typeface="Arial MT"/>
                <a:cs typeface="Arial MT"/>
              </a:rPr>
              <a:t> </a:t>
            </a:r>
            <a:r>
              <a:rPr lang="en-US" sz="2200" dirty="0">
                <a:latin typeface="Arial MT"/>
                <a:cs typeface="Arial MT"/>
              </a:rPr>
              <a:t>(e.g.</a:t>
            </a:r>
            <a:r>
              <a:rPr lang="en-US" sz="2200" spc="-15" dirty="0">
                <a:latin typeface="Arial MT"/>
                <a:cs typeface="Arial MT"/>
              </a:rPr>
              <a:t> </a:t>
            </a:r>
            <a:r>
              <a:rPr lang="en-US" sz="2200" b="1" i="1" dirty="0">
                <a:cs typeface="Arial"/>
              </a:rPr>
              <a:t>entity,</a:t>
            </a:r>
            <a:r>
              <a:rPr lang="en-US" sz="2200" b="1" i="1" spc="-25" dirty="0">
                <a:cs typeface="Arial"/>
              </a:rPr>
              <a:t> </a:t>
            </a:r>
            <a:r>
              <a:rPr lang="en-US" sz="2200" b="1" i="1" spc="-10" dirty="0">
                <a:cs typeface="Arial"/>
              </a:rPr>
              <a:t>record, </a:t>
            </a:r>
            <a:r>
              <a:rPr lang="en-US" sz="2200" b="1" i="1" dirty="0">
                <a:cs typeface="Arial"/>
              </a:rPr>
              <a:t>table</a:t>
            </a:r>
            <a:r>
              <a:rPr lang="en-US" sz="2200" dirty="0">
                <a:latin typeface="Arial MT"/>
                <a:cs typeface="Arial MT"/>
              </a:rPr>
              <a:t>),</a:t>
            </a:r>
            <a:r>
              <a:rPr lang="en-US" sz="2200" spc="-60" dirty="0">
                <a:latin typeface="Arial MT"/>
                <a:cs typeface="Arial MT"/>
              </a:rPr>
              <a:t> </a:t>
            </a:r>
            <a:r>
              <a:rPr lang="en-US" sz="2200" dirty="0">
                <a:latin typeface="Arial MT"/>
                <a:cs typeface="Arial MT"/>
              </a:rPr>
              <a:t>and</a:t>
            </a:r>
            <a:r>
              <a:rPr lang="en-US" sz="2200" spc="-70" dirty="0">
                <a:latin typeface="Arial MT"/>
                <a:cs typeface="Arial MT"/>
              </a:rPr>
              <a:t> </a:t>
            </a:r>
            <a:r>
              <a:rPr lang="en-US" sz="2200" b="1" i="1" dirty="0">
                <a:cs typeface="Arial"/>
              </a:rPr>
              <a:t>relationships</a:t>
            </a:r>
            <a:r>
              <a:rPr lang="en-US" sz="2200" b="1" i="1" spc="-35" dirty="0">
                <a:cs typeface="Arial"/>
              </a:rPr>
              <a:t> </a:t>
            </a:r>
            <a:r>
              <a:rPr lang="en-US" sz="2200" dirty="0">
                <a:latin typeface="Arial MT"/>
                <a:cs typeface="Arial MT"/>
              </a:rPr>
              <a:t>among</a:t>
            </a:r>
            <a:r>
              <a:rPr lang="en-US" sz="2200" spc="-70" dirty="0">
                <a:latin typeface="Arial MT"/>
                <a:cs typeface="Arial MT"/>
              </a:rPr>
              <a:t> </a:t>
            </a:r>
            <a:r>
              <a:rPr lang="en-US" sz="2200" dirty="0">
                <a:latin typeface="Arial MT"/>
                <a:cs typeface="Arial MT"/>
              </a:rPr>
              <a:t>such</a:t>
            </a:r>
            <a:r>
              <a:rPr lang="en-US" sz="2200" spc="-75" dirty="0">
                <a:latin typeface="Arial MT"/>
                <a:cs typeface="Arial MT"/>
              </a:rPr>
              <a:t> </a:t>
            </a:r>
            <a:r>
              <a:rPr lang="en-US" sz="2200" spc="-10" dirty="0">
                <a:latin typeface="Arial MT"/>
                <a:cs typeface="Arial MT"/>
              </a:rPr>
              <a:t>groups</a:t>
            </a:r>
            <a:endParaRPr lang="en-US" sz="2200" dirty="0">
              <a:latin typeface="Arial MT"/>
              <a:cs typeface="Arial MT"/>
            </a:endParaRPr>
          </a:p>
          <a:p>
            <a:pPr marL="812800" lvl="1" indent="-342900">
              <a:spcBef>
                <a:spcPts val="530"/>
              </a:spcBef>
              <a:buSzPct val="54545"/>
              <a:tabLst>
                <a:tab pos="756285" algn="l"/>
              </a:tabLst>
            </a:pPr>
            <a:r>
              <a:rPr lang="en-US" sz="2200" dirty="0">
                <a:latin typeface="Arial MT"/>
                <a:cs typeface="Arial MT"/>
              </a:rPr>
              <a:t>Constraints</a:t>
            </a:r>
            <a:r>
              <a:rPr lang="en-US" sz="2200" spc="-75" dirty="0">
                <a:latin typeface="Arial MT"/>
                <a:cs typeface="Arial MT"/>
              </a:rPr>
              <a:t> </a:t>
            </a:r>
            <a:r>
              <a:rPr lang="en-US" sz="2200" dirty="0">
                <a:latin typeface="Arial MT"/>
                <a:cs typeface="Arial MT"/>
              </a:rPr>
              <a:t>specify</a:t>
            </a:r>
            <a:r>
              <a:rPr lang="en-US" sz="2200" spc="-85" dirty="0">
                <a:latin typeface="Arial MT"/>
                <a:cs typeface="Arial MT"/>
              </a:rPr>
              <a:t> </a:t>
            </a:r>
            <a:r>
              <a:rPr lang="en-US" sz="2200" dirty="0">
                <a:latin typeface="Arial MT"/>
                <a:cs typeface="Arial MT"/>
              </a:rPr>
              <a:t>some</a:t>
            </a:r>
            <a:r>
              <a:rPr lang="en-US" sz="2200" spc="-75" dirty="0">
                <a:latin typeface="Arial MT"/>
                <a:cs typeface="Arial MT"/>
              </a:rPr>
              <a:t> </a:t>
            </a:r>
            <a:r>
              <a:rPr lang="en-US" sz="2200" dirty="0">
                <a:latin typeface="Arial MT"/>
                <a:cs typeface="Arial MT"/>
              </a:rPr>
              <a:t>restrictions</a:t>
            </a:r>
            <a:r>
              <a:rPr lang="en-US" sz="2200" spc="-85" dirty="0">
                <a:latin typeface="Arial MT"/>
                <a:cs typeface="Arial MT"/>
              </a:rPr>
              <a:t> </a:t>
            </a:r>
            <a:r>
              <a:rPr lang="en-US" sz="2200" dirty="0">
                <a:latin typeface="Arial MT"/>
                <a:cs typeface="Arial MT"/>
              </a:rPr>
              <a:t>on</a:t>
            </a:r>
            <a:r>
              <a:rPr lang="en-US" sz="2200" spc="-85" dirty="0">
                <a:latin typeface="Arial MT"/>
                <a:cs typeface="Arial MT"/>
              </a:rPr>
              <a:t> </a:t>
            </a:r>
            <a:r>
              <a:rPr lang="en-US" sz="2200" dirty="0">
                <a:latin typeface="Arial MT"/>
                <a:cs typeface="Arial MT"/>
              </a:rPr>
              <a:t>valid</a:t>
            </a:r>
            <a:r>
              <a:rPr lang="en-US" sz="2200" spc="-80" dirty="0">
                <a:latin typeface="Arial MT"/>
                <a:cs typeface="Arial MT"/>
              </a:rPr>
              <a:t> </a:t>
            </a:r>
            <a:r>
              <a:rPr lang="en-US" sz="2200" dirty="0">
                <a:latin typeface="Arial MT"/>
                <a:cs typeface="Arial MT"/>
              </a:rPr>
              <a:t>data;</a:t>
            </a:r>
            <a:r>
              <a:rPr lang="en-US" sz="2200" spc="-80" dirty="0">
                <a:latin typeface="Arial MT"/>
                <a:cs typeface="Arial MT"/>
              </a:rPr>
              <a:t> </a:t>
            </a:r>
            <a:r>
              <a:rPr lang="en-US" sz="2200" spc="-10" dirty="0">
                <a:latin typeface="Arial MT"/>
                <a:cs typeface="Arial MT"/>
              </a:rPr>
              <a:t>these </a:t>
            </a:r>
            <a:r>
              <a:rPr lang="en-US" sz="2200" dirty="0">
                <a:latin typeface="Arial MT"/>
                <a:cs typeface="Arial MT"/>
              </a:rPr>
              <a:t>constraints</a:t>
            </a:r>
            <a:r>
              <a:rPr lang="en-US" sz="2200" spc="-60" dirty="0">
                <a:latin typeface="Arial MT"/>
                <a:cs typeface="Arial MT"/>
              </a:rPr>
              <a:t> </a:t>
            </a:r>
            <a:r>
              <a:rPr lang="en-US" sz="2200" dirty="0">
                <a:latin typeface="Arial MT"/>
                <a:cs typeface="Arial MT"/>
              </a:rPr>
              <a:t>must</a:t>
            </a:r>
            <a:r>
              <a:rPr lang="en-US" sz="2200" spc="-40" dirty="0">
                <a:latin typeface="Arial MT"/>
                <a:cs typeface="Arial MT"/>
              </a:rPr>
              <a:t> </a:t>
            </a:r>
            <a:r>
              <a:rPr lang="en-US" sz="2200" dirty="0">
                <a:latin typeface="Arial MT"/>
                <a:cs typeface="Arial MT"/>
              </a:rPr>
              <a:t>be</a:t>
            </a:r>
            <a:r>
              <a:rPr lang="en-US" sz="2200" spc="-50" dirty="0">
                <a:latin typeface="Arial MT"/>
                <a:cs typeface="Arial MT"/>
              </a:rPr>
              <a:t> </a:t>
            </a:r>
            <a:r>
              <a:rPr lang="en-US" sz="2200" dirty="0">
                <a:latin typeface="Arial MT"/>
                <a:cs typeface="Arial MT"/>
              </a:rPr>
              <a:t>enforced</a:t>
            </a:r>
            <a:r>
              <a:rPr lang="en-US" sz="2200" spc="-50" dirty="0">
                <a:latin typeface="Arial MT"/>
                <a:cs typeface="Arial MT"/>
              </a:rPr>
              <a:t> </a:t>
            </a:r>
            <a:r>
              <a:rPr lang="en-US" sz="2200" dirty="0">
                <a:latin typeface="Arial MT"/>
                <a:cs typeface="Arial MT"/>
              </a:rPr>
              <a:t>at</a:t>
            </a:r>
            <a:r>
              <a:rPr lang="en-US" sz="2200" spc="-40" dirty="0">
                <a:latin typeface="Arial MT"/>
                <a:cs typeface="Arial MT"/>
              </a:rPr>
              <a:t> </a:t>
            </a:r>
            <a:r>
              <a:rPr lang="en-US" sz="2200" dirty="0">
                <a:latin typeface="Arial MT"/>
                <a:cs typeface="Arial MT"/>
              </a:rPr>
              <a:t>all</a:t>
            </a:r>
            <a:r>
              <a:rPr lang="en-US" sz="2200" spc="-55" dirty="0">
                <a:latin typeface="Arial MT"/>
                <a:cs typeface="Arial MT"/>
              </a:rPr>
              <a:t> </a:t>
            </a:r>
            <a:r>
              <a:rPr lang="en-US" sz="2200" spc="-10" dirty="0">
                <a:latin typeface="Arial MT"/>
                <a:cs typeface="Arial MT"/>
              </a:rPr>
              <a:t>times</a:t>
            </a:r>
            <a:endParaRPr lang="en-US" sz="2200" dirty="0">
              <a:latin typeface="Arial MT"/>
              <a:cs typeface="Arial MT"/>
            </a:endParaRPr>
          </a:p>
          <a:p>
            <a:endParaRPr lang="en-US" dirty="0"/>
          </a:p>
        </p:txBody>
      </p:sp>
    </p:spTree>
    <p:extLst>
      <p:ext uri="{BB962C8B-B14F-4D97-AF65-F5344CB8AC3E}">
        <p14:creationId xmlns="" xmlns:p14="http://schemas.microsoft.com/office/powerpoint/2010/main" val="42704334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normAutofit fontScale="55000" lnSpcReduction="20000"/>
          </a:bodyPr>
          <a:lstStyle/>
          <a:p>
            <a:r>
              <a:rPr lang="en-US" dirty="0"/>
              <a:t>Types of Data Models in DBMS</a:t>
            </a:r>
          </a:p>
          <a:p>
            <a:pPr lvl="1"/>
            <a:r>
              <a:rPr lang="en-US" sz="2800" dirty="0"/>
              <a:t>Hierarchical Model</a:t>
            </a:r>
          </a:p>
          <a:p>
            <a:pPr lvl="1"/>
            <a:r>
              <a:rPr lang="en-US" sz="2800" dirty="0"/>
              <a:t>Network Model</a:t>
            </a:r>
          </a:p>
          <a:p>
            <a:pPr lvl="1"/>
            <a:r>
              <a:rPr lang="en-US" sz="2800" dirty="0"/>
              <a:t>Entity-Relationship Model</a:t>
            </a:r>
          </a:p>
          <a:p>
            <a:pPr lvl="1"/>
            <a:r>
              <a:rPr lang="en-US" sz="2800" dirty="0"/>
              <a:t>Relational Model</a:t>
            </a:r>
          </a:p>
          <a:p>
            <a:pPr lvl="1"/>
            <a:r>
              <a:rPr lang="en-US" sz="2800" dirty="0"/>
              <a:t>Object-Oriented Data Model</a:t>
            </a:r>
          </a:p>
          <a:p>
            <a:pPr lvl="1"/>
            <a:r>
              <a:rPr lang="en-US" sz="2800" dirty="0"/>
              <a:t>Object-Relational Data Model</a:t>
            </a:r>
          </a:p>
          <a:p>
            <a:pPr lvl="1"/>
            <a:r>
              <a:rPr lang="en-US" sz="2800" dirty="0"/>
              <a:t>Flat Data Model</a:t>
            </a:r>
          </a:p>
          <a:p>
            <a:pPr lvl="1"/>
            <a:r>
              <a:rPr lang="en-US" sz="2800" dirty="0"/>
              <a:t>Semi-Structured Data Model</a:t>
            </a:r>
          </a:p>
          <a:p>
            <a:pPr lvl="1"/>
            <a:r>
              <a:rPr lang="en-US" sz="2800" dirty="0"/>
              <a:t>Associative Data Model</a:t>
            </a:r>
          </a:p>
          <a:p>
            <a:pPr lvl="1"/>
            <a:r>
              <a:rPr lang="en-US" sz="2800" dirty="0"/>
              <a:t>Context Data Model</a:t>
            </a:r>
          </a:p>
          <a:p>
            <a:endParaRPr lang="en-US" dirty="0"/>
          </a:p>
        </p:txBody>
      </p:sp>
    </p:spTree>
    <p:extLst>
      <p:ext uri="{BB962C8B-B14F-4D97-AF65-F5344CB8AC3E}">
        <p14:creationId xmlns="" xmlns:p14="http://schemas.microsoft.com/office/powerpoint/2010/main" val="276107630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lstStyle/>
          <a:p>
            <a:r>
              <a:rPr lang="en-US" dirty="0"/>
              <a:t>Entity-Relationship Model (ER Model)</a:t>
            </a:r>
          </a:p>
          <a:p>
            <a:r>
              <a:rPr lang="en-US" dirty="0"/>
              <a:t>An Entity-Relationship model is a high-level data model that describes the structure of the database in a pictorial form which is known as ER-diagram. </a:t>
            </a:r>
          </a:p>
          <a:p>
            <a:r>
              <a:rPr lang="en-US" dirty="0"/>
              <a:t>In simple words, an ER diagram is used to represent logical structure of the database easily.</a:t>
            </a:r>
          </a:p>
        </p:txBody>
      </p:sp>
    </p:spTree>
    <p:extLst>
      <p:ext uri="{BB962C8B-B14F-4D97-AF65-F5344CB8AC3E}">
        <p14:creationId xmlns="" xmlns:p14="http://schemas.microsoft.com/office/powerpoint/2010/main" val="409255407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lstStyle/>
          <a:p>
            <a:r>
              <a:rPr lang="en-US" dirty="0"/>
              <a:t>Entity-Relationship Model (ER Model)</a:t>
            </a:r>
          </a:p>
          <a:p>
            <a:endParaRPr lang="en-US" dirty="0"/>
          </a:p>
        </p:txBody>
      </p:sp>
      <p:pic>
        <p:nvPicPr>
          <p:cNvPr id="4" name="Picture 3">
            <a:extLst>
              <a:ext uri="{FF2B5EF4-FFF2-40B4-BE49-F238E27FC236}">
                <a16:creationId xmlns="" xmlns:a16="http://schemas.microsoft.com/office/drawing/2014/main" id="{5E30E770-C73E-4332-B14C-3C2E7CE9EA7B}"/>
              </a:ext>
            </a:extLst>
          </p:cNvPr>
          <p:cNvPicPr>
            <a:picLocks noChangeAspect="1"/>
          </p:cNvPicPr>
          <p:nvPr/>
        </p:nvPicPr>
        <p:blipFill>
          <a:blip r:embed="rId2"/>
          <a:stretch>
            <a:fillRect/>
          </a:stretch>
        </p:blipFill>
        <p:spPr>
          <a:xfrm>
            <a:off x="2875126" y="2586196"/>
            <a:ext cx="4543769" cy="3590769"/>
          </a:xfrm>
          <a:prstGeom prst="rect">
            <a:avLst/>
          </a:prstGeom>
        </p:spPr>
      </p:pic>
    </p:spTree>
    <p:extLst>
      <p:ext uri="{BB962C8B-B14F-4D97-AF65-F5344CB8AC3E}">
        <p14:creationId xmlns="" xmlns:p14="http://schemas.microsoft.com/office/powerpoint/2010/main" val="58403428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normAutofit/>
          </a:bodyPr>
          <a:lstStyle/>
          <a:p>
            <a:pPr algn="just">
              <a:lnSpc>
                <a:spcPct val="150000"/>
              </a:lnSpc>
            </a:pPr>
            <a:r>
              <a:rPr lang="en-US" dirty="0"/>
              <a:t>Relational Model</a:t>
            </a:r>
          </a:p>
          <a:p>
            <a:pPr algn="just">
              <a:lnSpc>
                <a:spcPct val="150000"/>
              </a:lnSpc>
            </a:pPr>
            <a:r>
              <a:rPr lang="en-US" dirty="0"/>
              <a:t>This is the most widely accepted data model. In this model, the database is represented as a collection of relations in the form of rows and columns of a two-dimensional table. Each row is known as a tuple (a tuple contains all the data for an individual record) while each column represents an attribute.</a:t>
            </a:r>
          </a:p>
        </p:txBody>
      </p:sp>
    </p:spTree>
    <p:extLst>
      <p:ext uri="{BB962C8B-B14F-4D97-AF65-F5344CB8AC3E}">
        <p14:creationId xmlns="" xmlns:p14="http://schemas.microsoft.com/office/powerpoint/2010/main" val="219190390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lstStyle/>
          <a:p>
            <a:r>
              <a:rPr lang="en-US" dirty="0"/>
              <a:t>Relational Model</a:t>
            </a:r>
          </a:p>
          <a:p>
            <a:endParaRPr lang="en-US" dirty="0"/>
          </a:p>
        </p:txBody>
      </p:sp>
      <p:pic>
        <p:nvPicPr>
          <p:cNvPr id="4" name="Picture 3">
            <a:extLst>
              <a:ext uri="{FF2B5EF4-FFF2-40B4-BE49-F238E27FC236}">
                <a16:creationId xmlns="" xmlns:a16="http://schemas.microsoft.com/office/drawing/2014/main" id="{A2F50D76-7D16-4284-91D5-7E7B8EDBBAF1}"/>
              </a:ext>
            </a:extLst>
          </p:cNvPr>
          <p:cNvPicPr>
            <a:picLocks noChangeAspect="1"/>
          </p:cNvPicPr>
          <p:nvPr/>
        </p:nvPicPr>
        <p:blipFill>
          <a:blip r:embed="rId2"/>
          <a:stretch>
            <a:fillRect/>
          </a:stretch>
        </p:blipFill>
        <p:spPr>
          <a:xfrm>
            <a:off x="2829560" y="2520031"/>
            <a:ext cx="6334760" cy="4195095"/>
          </a:xfrm>
          <a:prstGeom prst="rect">
            <a:avLst/>
          </a:prstGeom>
        </p:spPr>
      </p:pic>
    </p:spTree>
    <p:extLst>
      <p:ext uri="{BB962C8B-B14F-4D97-AF65-F5344CB8AC3E}">
        <p14:creationId xmlns="" xmlns:p14="http://schemas.microsoft.com/office/powerpoint/2010/main" val="11377514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normAutofit fontScale="70000" lnSpcReduction="20000"/>
          </a:bodyPr>
          <a:lstStyle/>
          <a:p>
            <a:pPr algn="just"/>
            <a:r>
              <a:rPr lang="en-US" b="1" dirty="0"/>
              <a:t>Object-Oriented Data model</a:t>
            </a:r>
          </a:p>
          <a:p>
            <a:pPr algn="just"/>
            <a:r>
              <a:rPr lang="en-US" dirty="0"/>
              <a:t>As suggested by its name, the object-oriented data model is a combination of object-oriented programming and relational data model. In this data model, the data and their relationship are represented in a single structure which is known as an object.</a:t>
            </a:r>
          </a:p>
          <a:p>
            <a:pPr algn="just"/>
            <a:endParaRPr lang="en-US" dirty="0"/>
          </a:p>
          <a:p>
            <a:pPr algn="just"/>
            <a:r>
              <a:rPr lang="en-US" dirty="0"/>
              <a:t>Since data is stored as objects we can easily store audio, video, images, </a:t>
            </a:r>
            <a:r>
              <a:rPr lang="en-US" dirty="0" err="1"/>
              <a:t>etc</a:t>
            </a:r>
            <a:r>
              <a:rPr lang="en-US" dirty="0"/>
              <a:t> in the database which was very difficult and inconvenient to do in the relational model. As shown in the image below two objects are connected with each other through links.</a:t>
            </a:r>
          </a:p>
        </p:txBody>
      </p:sp>
    </p:spTree>
    <p:extLst>
      <p:ext uri="{BB962C8B-B14F-4D97-AF65-F5344CB8AC3E}">
        <p14:creationId xmlns="" xmlns:p14="http://schemas.microsoft.com/office/powerpoint/2010/main" val="220831774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lstStyle/>
          <a:p>
            <a:r>
              <a:rPr lang="en-US" b="1" dirty="0"/>
              <a:t>Object-Oriented Data model</a:t>
            </a:r>
          </a:p>
          <a:p>
            <a:endParaRPr lang="en-US" dirty="0"/>
          </a:p>
        </p:txBody>
      </p:sp>
      <p:pic>
        <p:nvPicPr>
          <p:cNvPr id="4" name="Picture 3">
            <a:extLst>
              <a:ext uri="{FF2B5EF4-FFF2-40B4-BE49-F238E27FC236}">
                <a16:creationId xmlns="" xmlns:a16="http://schemas.microsoft.com/office/drawing/2014/main" id="{D375B67F-B13A-48B2-A97D-C5B0910CDB43}"/>
              </a:ext>
            </a:extLst>
          </p:cNvPr>
          <p:cNvPicPr>
            <a:picLocks noChangeAspect="1"/>
          </p:cNvPicPr>
          <p:nvPr/>
        </p:nvPicPr>
        <p:blipFill>
          <a:blip r:embed="rId2"/>
          <a:stretch>
            <a:fillRect/>
          </a:stretch>
        </p:blipFill>
        <p:spPr>
          <a:xfrm>
            <a:off x="2976563" y="2534603"/>
            <a:ext cx="6238875" cy="3495675"/>
          </a:xfrm>
          <a:prstGeom prst="rect">
            <a:avLst/>
          </a:prstGeom>
        </p:spPr>
      </p:pic>
    </p:spTree>
    <p:extLst>
      <p:ext uri="{BB962C8B-B14F-4D97-AF65-F5344CB8AC3E}">
        <p14:creationId xmlns="" xmlns:p14="http://schemas.microsoft.com/office/powerpoint/2010/main" val="369772116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normAutofit fontScale="77500" lnSpcReduction="20000"/>
          </a:bodyPr>
          <a:lstStyle/>
          <a:p>
            <a:pPr algn="just">
              <a:lnSpc>
                <a:spcPct val="150000"/>
              </a:lnSpc>
            </a:pPr>
            <a:r>
              <a:rPr lang="en-US" b="1" dirty="0"/>
              <a:t>Semi-Structured Data Model</a:t>
            </a:r>
          </a:p>
          <a:p>
            <a:pPr algn="just">
              <a:lnSpc>
                <a:spcPct val="150000"/>
              </a:lnSpc>
            </a:pPr>
            <a:r>
              <a:rPr lang="en-US" dirty="0"/>
              <a:t>A semi-structured data model is a generalized form of the relational model, which allows representing data in a flexible way, hence we can not differentiate between data and schema in this model because, in this model, some entities have a missing attribute(s) and on the other hand, some entities might have some extra attribute(s) which in turn makes it easy to update the schema of the database.</a:t>
            </a:r>
          </a:p>
          <a:p>
            <a:pPr algn="just">
              <a:lnSpc>
                <a:spcPct val="150000"/>
              </a:lnSpc>
            </a:pPr>
            <a:r>
              <a:rPr lang="en-US" dirty="0"/>
              <a:t>For example - We can say a data model is semi-structured if in some attributes we are storing both atomic values (values that can't be divided further, for example, </a:t>
            </a:r>
            <a:r>
              <a:rPr lang="en-US" dirty="0" err="1"/>
              <a:t>Roll_No</a:t>
            </a:r>
            <a:r>
              <a:rPr lang="en-US" dirty="0"/>
              <a:t>) as well as a collection of values.</a:t>
            </a:r>
          </a:p>
        </p:txBody>
      </p:sp>
    </p:spTree>
    <p:extLst>
      <p:ext uri="{BB962C8B-B14F-4D97-AF65-F5344CB8AC3E}">
        <p14:creationId xmlns="" xmlns:p14="http://schemas.microsoft.com/office/powerpoint/2010/main" val="248854004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normAutofit fontScale="92500" lnSpcReduction="20000"/>
          </a:bodyPr>
          <a:lstStyle/>
          <a:p>
            <a:pPr algn="just">
              <a:lnSpc>
                <a:spcPct val="150000"/>
              </a:lnSpc>
            </a:pPr>
            <a:r>
              <a:rPr lang="en-US" b="1" dirty="0"/>
              <a:t>Hierarchical Model</a:t>
            </a:r>
          </a:p>
          <a:p>
            <a:pPr algn="just">
              <a:lnSpc>
                <a:spcPct val="150000"/>
              </a:lnSpc>
            </a:pPr>
            <a:r>
              <a:rPr lang="en-US" dirty="0"/>
              <a:t>The hierarchical data model is one of the oldest data models, developed in the 1950s by IBM. </a:t>
            </a:r>
          </a:p>
          <a:p>
            <a:pPr algn="just">
              <a:lnSpc>
                <a:spcPct val="150000"/>
              </a:lnSpc>
            </a:pPr>
            <a:r>
              <a:rPr lang="en-US" dirty="0"/>
              <a:t>In this data model, the data is organized in a hierarchical tree-like structure. </a:t>
            </a:r>
          </a:p>
          <a:p>
            <a:pPr algn="just">
              <a:lnSpc>
                <a:spcPct val="150000"/>
              </a:lnSpc>
            </a:pPr>
            <a:r>
              <a:rPr lang="en-US" dirty="0"/>
              <a:t>This data model can be easily visualized because each record in DBMS has one parent and many children (possibly 0)</a:t>
            </a:r>
          </a:p>
        </p:txBody>
      </p:sp>
    </p:spTree>
    <p:extLst>
      <p:ext uri="{BB962C8B-B14F-4D97-AF65-F5344CB8AC3E}">
        <p14:creationId xmlns="" xmlns:p14="http://schemas.microsoft.com/office/powerpoint/2010/main" val="8480170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lstStyle/>
          <a:p>
            <a:r>
              <a:rPr lang="en-US" b="1" dirty="0"/>
              <a:t>Hierarchical Model</a:t>
            </a:r>
          </a:p>
          <a:p>
            <a:endParaRPr lang="en-US" dirty="0"/>
          </a:p>
        </p:txBody>
      </p:sp>
      <p:pic>
        <p:nvPicPr>
          <p:cNvPr id="4" name="Picture 3">
            <a:extLst>
              <a:ext uri="{FF2B5EF4-FFF2-40B4-BE49-F238E27FC236}">
                <a16:creationId xmlns="" xmlns:a16="http://schemas.microsoft.com/office/drawing/2014/main" id="{404EAA39-CC5A-45D8-B24F-5FA48C111449}"/>
              </a:ext>
            </a:extLst>
          </p:cNvPr>
          <p:cNvPicPr>
            <a:picLocks noChangeAspect="1"/>
          </p:cNvPicPr>
          <p:nvPr/>
        </p:nvPicPr>
        <p:blipFill>
          <a:blip r:embed="rId2"/>
          <a:stretch>
            <a:fillRect/>
          </a:stretch>
        </p:blipFill>
        <p:spPr>
          <a:xfrm>
            <a:off x="3136266" y="2494887"/>
            <a:ext cx="5062855" cy="3682076"/>
          </a:xfrm>
          <a:prstGeom prst="rect">
            <a:avLst/>
          </a:prstGeom>
        </p:spPr>
      </p:pic>
    </p:spTree>
    <p:extLst>
      <p:ext uri="{BB962C8B-B14F-4D97-AF65-F5344CB8AC3E}">
        <p14:creationId xmlns="" xmlns:p14="http://schemas.microsoft.com/office/powerpoint/2010/main" val="228372778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normAutofit fontScale="85000" lnSpcReduction="20000"/>
          </a:bodyPr>
          <a:lstStyle/>
          <a:p>
            <a:pPr algn="just">
              <a:lnSpc>
                <a:spcPct val="150000"/>
              </a:lnSpc>
            </a:pPr>
            <a:r>
              <a:rPr lang="en-US" b="1" dirty="0"/>
              <a:t>Network Model</a:t>
            </a:r>
          </a:p>
          <a:p>
            <a:pPr algn="just">
              <a:lnSpc>
                <a:spcPct val="150000"/>
              </a:lnSpc>
            </a:pPr>
            <a:r>
              <a:rPr lang="en-US" dirty="0"/>
              <a:t>A network model is nothing but a generalization of the hierarchical data model as this data model allows many to many relationships therefore in this model a record can also have more than one parent.</a:t>
            </a:r>
          </a:p>
          <a:p>
            <a:pPr algn="just">
              <a:lnSpc>
                <a:spcPct val="150000"/>
              </a:lnSpc>
            </a:pPr>
            <a:endParaRPr lang="en-US" dirty="0"/>
          </a:p>
          <a:p>
            <a:pPr algn="just">
              <a:lnSpc>
                <a:spcPct val="150000"/>
              </a:lnSpc>
            </a:pPr>
            <a:r>
              <a:rPr lang="en-US" dirty="0"/>
              <a:t>The network model in DBMS can be represented as a graph and hence it replaces the hierarchical tree with a graph in which object types are the nodes and relationships are the edges.</a:t>
            </a:r>
          </a:p>
        </p:txBody>
      </p:sp>
    </p:spTree>
    <p:extLst>
      <p:ext uri="{BB962C8B-B14F-4D97-AF65-F5344CB8AC3E}">
        <p14:creationId xmlns="" xmlns:p14="http://schemas.microsoft.com/office/powerpoint/2010/main" val="177167428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59DF6A-4326-4A19-BBBD-912CF467E555}"/>
              </a:ext>
            </a:extLst>
          </p:cNvPr>
          <p:cNvSpPr>
            <a:spLocks noGrp="1"/>
          </p:cNvSpPr>
          <p:nvPr>
            <p:ph type="title"/>
          </p:nvPr>
        </p:nvSpPr>
        <p:spPr/>
        <p:txBody>
          <a:bodyPr/>
          <a:lstStyle/>
          <a:p>
            <a:r>
              <a:rPr lang="en-US" dirty="0"/>
              <a:t>Data Models</a:t>
            </a:r>
          </a:p>
        </p:txBody>
      </p:sp>
      <p:sp>
        <p:nvSpPr>
          <p:cNvPr id="3" name="Content Placeholder 2">
            <a:extLst>
              <a:ext uri="{FF2B5EF4-FFF2-40B4-BE49-F238E27FC236}">
                <a16:creationId xmlns="" xmlns:a16="http://schemas.microsoft.com/office/drawing/2014/main" id="{23173638-FC3D-4B38-8884-C9252307FDB7}"/>
              </a:ext>
            </a:extLst>
          </p:cNvPr>
          <p:cNvSpPr>
            <a:spLocks noGrp="1"/>
          </p:cNvSpPr>
          <p:nvPr>
            <p:ph idx="1"/>
          </p:nvPr>
        </p:nvSpPr>
        <p:spPr/>
        <p:txBody>
          <a:bodyPr/>
          <a:lstStyle/>
          <a:p>
            <a:r>
              <a:rPr lang="en-US" b="1" dirty="0"/>
              <a:t>Network Model</a:t>
            </a:r>
          </a:p>
          <a:p>
            <a:endParaRPr lang="en-US" dirty="0"/>
          </a:p>
        </p:txBody>
      </p:sp>
      <p:pic>
        <p:nvPicPr>
          <p:cNvPr id="4" name="Picture 3">
            <a:extLst>
              <a:ext uri="{FF2B5EF4-FFF2-40B4-BE49-F238E27FC236}">
                <a16:creationId xmlns="" xmlns:a16="http://schemas.microsoft.com/office/drawing/2014/main" id="{A78C772E-0044-4A07-BD4D-104C7815D864}"/>
              </a:ext>
            </a:extLst>
          </p:cNvPr>
          <p:cNvPicPr>
            <a:picLocks noChangeAspect="1"/>
          </p:cNvPicPr>
          <p:nvPr/>
        </p:nvPicPr>
        <p:blipFill>
          <a:blip r:embed="rId2"/>
          <a:stretch>
            <a:fillRect/>
          </a:stretch>
        </p:blipFill>
        <p:spPr>
          <a:xfrm>
            <a:off x="3569654" y="2292351"/>
            <a:ext cx="5743575" cy="4200525"/>
          </a:xfrm>
          <a:prstGeom prst="rect">
            <a:avLst/>
          </a:prstGeom>
        </p:spPr>
      </p:pic>
    </p:spTree>
    <p:extLst>
      <p:ext uri="{BB962C8B-B14F-4D97-AF65-F5344CB8AC3E}">
        <p14:creationId xmlns="" xmlns:p14="http://schemas.microsoft.com/office/powerpoint/2010/main" val="243123969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28AE93-3266-4BD9-A745-41E749BA04B3}"/>
              </a:ext>
            </a:extLst>
          </p:cNvPr>
          <p:cNvSpPr>
            <a:spLocks noGrp="1"/>
          </p:cNvSpPr>
          <p:nvPr>
            <p:ph type="title"/>
          </p:nvPr>
        </p:nvSpPr>
        <p:spPr/>
        <p:txBody>
          <a:bodyPr/>
          <a:lstStyle/>
          <a:p>
            <a:r>
              <a:rPr lang="en-IN" dirty="0"/>
              <a:t>Data Models</a:t>
            </a:r>
            <a:endParaRPr lang="en-US" dirty="0"/>
          </a:p>
        </p:txBody>
      </p:sp>
      <p:sp>
        <p:nvSpPr>
          <p:cNvPr id="3" name="Content Placeholder 2">
            <a:extLst>
              <a:ext uri="{FF2B5EF4-FFF2-40B4-BE49-F238E27FC236}">
                <a16:creationId xmlns="" xmlns:a16="http://schemas.microsoft.com/office/drawing/2014/main" id="{D2E61C8F-543C-44A8-9965-F532745B75A0}"/>
              </a:ext>
            </a:extLst>
          </p:cNvPr>
          <p:cNvSpPr>
            <a:spLocks noGrp="1"/>
          </p:cNvSpPr>
          <p:nvPr>
            <p:ph idx="1"/>
          </p:nvPr>
        </p:nvSpPr>
        <p:spPr/>
        <p:txBody>
          <a:bodyPr>
            <a:normAutofit lnSpcReduction="10000"/>
          </a:bodyPr>
          <a:lstStyle/>
          <a:p>
            <a:pPr marL="469900" indent="-457200">
              <a:spcBef>
                <a:spcPts val="775"/>
              </a:spcBef>
              <a:buSzPct val="58928"/>
              <a:tabLst>
                <a:tab pos="354965" algn="l"/>
              </a:tabLst>
            </a:pPr>
            <a:r>
              <a:rPr lang="en-US" b="1" dirty="0">
                <a:cs typeface="Arial"/>
              </a:rPr>
              <a:t>Data</a:t>
            </a:r>
            <a:r>
              <a:rPr lang="en-US" b="1" spc="-70" dirty="0">
                <a:cs typeface="Arial"/>
              </a:rPr>
              <a:t> </a:t>
            </a:r>
            <a:r>
              <a:rPr lang="en-US" b="1" dirty="0">
                <a:cs typeface="Arial"/>
              </a:rPr>
              <a:t>Model</a:t>
            </a:r>
            <a:r>
              <a:rPr lang="en-US" b="1" spc="-75" dirty="0">
                <a:cs typeface="Arial"/>
              </a:rPr>
              <a:t> </a:t>
            </a:r>
            <a:r>
              <a:rPr lang="en-US" b="1" spc="-10" dirty="0">
                <a:cs typeface="Arial"/>
              </a:rPr>
              <a:t>Operations:</a:t>
            </a:r>
            <a:endParaRPr lang="en-US" dirty="0">
              <a:cs typeface="Arial"/>
            </a:endParaRPr>
          </a:p>
          <a:p>
            <a:pPr marL="926465" marR="5080" lvl="1" indent="-457200">
              <a:spcBef>
                <a:spcPts val="635"/>
              </a:spcBef>
              <a:buSzPct val="53846"/>
              <a:tabLst>
                <a:tab pos="756285" algn="l"/>
              </a:tabLst>
            </a:pPr>
            <a:r>
              <a:rPr lang="en-US" sz="2600" dirty="0">
                <a:latin typeface="Arial MT"/>
                <a:cs typeface="Arial MT"/>
              </a:rPr>
              <a:t>These</a:t>
            </a:r>
            <a:r>
              <a:rPr lang="en-US" sz="2600" spc="-50" dirty="0">
                <a:latin typeface="Arial MT"/>
                <a:cs typeface="Arial MT"/>
              </a:rPr>
              <a:t> </a:t>
            </a:r>
            <a:r>
              <a:rPr lang="en-US" sz="2600" dirty="0">
                <a:latin typeface="Arial MT"/>
                <a:cs typeface="Arial MT"/>
              </a:rPr>
              <a:t>operations</a:t>
            </a:r>
            <a:r>
              <a:rPr lang="en-US" sz="2600" spc="-35" dirty="0">
                <a:latin typeface="Arial MT"/>
                <a:cs typeface="Arial MT"/>
              </a:rPr>
              <a:t> </a:t>
            </a:r>
            <a:r>
              <a:rPr lang="en-US" sz="2600" dirty="0">
                <a:latin typeface="Arial MT"/>
                <a:cs typeface="Arial MT"/>
              </a:rPr>
              <a:t>are</a:t>
            </a:r>
            <a:r>
              <a:rPr lang="en-US" sz="2600" spc="-40" dirty="0">
                <a:latin typeface="Arial MT"/>
                <a:cs typeface="Arial MT"/>
              </a:rPr>
              <a:t> </a:t>
            </a:r>
            <a:r>
              <a:rPr lang="en-US" sz="2600" dirty="0">
                <a:latin typeface="Arial MT"/>
                <a:cs typeface="Arial MT"/>
              </a:rPr>
              <a:t>used</a:t>
            </a:r>
            <a:r>
              <a:rPr lang="en-US" sz="2600" spc="-25" dirty="0">
                <a:latin typeface="Arial MT"/>
                <a:cs typeface="Arial MT"/>
              </a:rPr>
              <a:t> </a:t>
            </a:r>
            <a:r>
              <a:rPr lang="en-US" sz="2600" dirty="0">
                <a:latin typeface="Arial MT"/>
                <a:cs typeface="Arial MT"/>
              </a:rPr>
              <a:t>for</a:t>
            </a:r>
            <a:r>
              <a:rPr lang="en-US" sz="2600" spc="-35" dirty="0">
                <a:latin typeface="Arial MT"/>
                <a:cs typeface="Arial MT"/>
              </a:rPr>
              <a:t> </a:t>
            </a:r>
            <a:r>
              <a:rPr lang="en-US" sz="2600" dirty="0">
                <a:latin typeface="Arial MT"/>
                <a:cs typeface="Arial MT"/>
              </a:rPr>
              <a:t>specifying</a:t>
            </a:r>
            <a:r>
              <a:rPr lang="en-US" sz="2600" spc="-55" dirty="0">
                <a:latin typeface="Arial MT"/>
                <a:cs typeface="Arial MT"/>
              </a:rPr>
              <a:t> </a:t>
            </a:r>
            <a:r>
              <a:rPr lang="en-US" sz="2600" spc="-10" dirty="0">
                <a:latin typeface="Arial MT"/>
                <a:cs typeface="Arial MT"/>
              </a:rPr>
              <a:t>database </a:t>
            </a:r>
            <a:r>
              <a:rPr lang="en-US" sz="2600" i="1" dirty="0">
                <a:cs typeface="Arial"/>
              </a:rPr>
              <a:t>retrievals</a:t>
            </a:r>
            <a:r>
              <a:rPr lang="en-US" sz="2600" i="1" spc="-45" dirty="0">
                <a:cs typeface="Arial"/>
              </a:rPr>
              <a:t> </a:t>
            </a:r>
            <a:r>
              <a:rPr lang="en-US" sz="2600" dirty="0">
                <a:latin typeface="Arial MT"/>
                <a:cs typeface="Arial MT"/>
              </a:rPr>
              <a:t>and</a:t>
            </a:r>
            <a:r>
              <a:rPr lang="en-US" sz="2600" spc="-40" dirty="0">
                <a:latin typeface="Arial MT"/>
                <a:cs typeface="Arial MT"/>
              </a:rPr>
              <a:t> </a:t>
            </a:r>
            <a:r>
              <a:rPr lang="en-US" sz="2600" i="1" dirty="0">
                <a:cs typeface="Arial"/>
              </a:rPr>
              <a:t>updates</a:t>
            </a:r>
            <a:r>
              <a:rPr lang="en-US" sz="2600" i="1" spc="-40" dirty="0">
                <a:cs typeface="Arial"/>
              </a:rPr>
              <a:t> </a:t>
            </a:r>
            <a:r>
              <a:rPr lang="en-US" sz="2600" dirty="0">
                <a:latin typeface="Arial MT"/>
                <a:cs typeface="Arial MT"/>
              </a:rPr>
              <a:t>by</a:t>
            </a:r>
            <a:r>
              <a:rPr lang="en-US" sz="2600" spc="-50" dirty="0">
                <a:latin typeface="Arial MT"/>
                <a:cs typeface="Arial MT"/>
              </a:rPr>
              <a:t> </a:t>
            </a:r>
            <a:r>
              <a:rPr lang="en-US" sz="2600" dirty="0">
                <a:latin typeface="Arial MT"/>
                <a:cs typeface="Arial MT"/>
              </a:rPr>
              <a:t>referring</a:t>
            </a:r>
            <a:r>
              <a:rPr lang="en-US" sz="2600" spc="-40" dirty="0">
                <a:latin typeface="Arial MT"/>
                <a:cs typeface="Arial MT"/>
              </a:rPr>
              <a:t> </a:t>
            </a:r>
            <a:r>
              <a:rPr lang="en-US" sz="2600" dirty="0">
                <a:latin typeface="Arial MT"/>
                <a:cs typeface="Arial MT"/>
              </a:rPr>
              <a:t>to</a:t>
            </a:r>
            <a:r>
              <a:rPr lang="en-US" sz="2600" spc="-40" dirty="0">
                <a:latin typeface="Arial MT"/>
                <a:cs typeface="Arial MT"/>
              </a:rPr>
              <a:t> </a:t>
            </a:r>
            <a:r>
              <a:rPr lang="en-US" sz="2600" spc="-25" dirty="0">
                <a:latin typeface="Arial MT"/>
                <a:cs typeface="Arial MT"/>
              </a:rPr>
              <a:t>the </a:t>
            </a:r>
            <a:r>
              <a:rPr lang="en-US" sz="2600" dirty="0">
                <a:latin typeface="Arial MT"/>
                <a:cs typeface="Arial MT"/>
              </a:rPr>
              <a:t>constructs</a:t>
            </a:r>
            <a:r>
              <a:rPr lang="en-US" sz="2600" spc="-60" dirty="0">
                <a:latin typeface="Arial MT"/>
                <a:cs typeface="Arial MT"/>
              </a:rPr>
              <a:t> </a:t>
            </a:r>
            <a:r>
              <a:rPr lang="en-US" sz="2600" dirty="0">
                <a:latin typeface="Arial MT"/>
                <a:cs typeface="Arial MT"/>
              </a:rPr>
              <a:t>of</a:t>
            </a:r>
            <a:r>
              <a:rPr lang="en-US" sz="2600" spc="-25" dirty="0">
                <a:latin typeface="Arial MT"/>
                <a:cs typeface="Arial MT"/>
              </a:rPr>
              <a:t> </a:t>
            </a:r>
            <a:r>
              <a:rPr lang="en-US" sz="2600" dirty="0">
                <a:latin typeface="Arial MT"/>
                <a:cs typeface="Arial MT"/>
              </a:rPr>
              <a:t>the</a:t>
            </a:r>
            <a:r>
              <a:rPr lang="en-US" sz="2600" spc="-30" dirty="0">
                <a:latin typeface="Arial MT"/>
                <a:cs typeface="Arial MT"/>
              </a:rPr>
              <a:t> </a:t>
            </a:r>
            <a:r>
              <a:rPr lang="en-US" sz="2600" dirty="0">
                <a:latin typeface="Arial MT"/>
                <a:cs typeface="Arial MT"/>
              </a:rPr>
              <a:t>data</a:t>
            </a:r>
            <a:r>
              <a:rPr lang="en-US" sz="2600" spc="-30" dirty="0">
                <a:latin typeface="Arial MT"/>
                <a:cs typeface="Arial MT"/>
              </a:rPr>
              <a:t> </a:t>
            </a:r>
            <a:r>
              <a:rPr lang="en-US" sz="2600" spc="-10" dirty="0">
                <a:latin typeface="Arial MT"/>
                <a:cs typeface="Arial MT"/>
              </a:rPr>
              <a:t>model.</a:t>
            </a:r>
            <a:endParaRPr lang="en-US" sz="2600" dirty="0">
              <a:latin typeface="Arial MT"/>
              <a:cs typeface="Arial MT"/>
            </a:endParaRPr>
          </a:p>
          <a:p>
            <a:pPr marL="926465" marR="274955" lvl="1" indent="-457200">
              <a:spcBef>
                <a:spcPts val="625"/>
              </a:spcBef>
              <a:buSzPct val="53846"/>
              <a:tabLst>
                <a:tab pos="756285" algn="l"/>
              </a:tabLst>
            </a:pPr>
            <a:r>
              <a:rPr lang="en-US" sz="2600" dirty="0">
                <a:latin typeface="Arial MT"/>
                <a:cs typeface="Arial MT"/>
              </a:rPr>
              <a:t>Operations</a:t>
            </a:r>
            <a:r>
              <a:rPr lang="en-US" sz="2600" spc="-40" dirty="0">
                <a:latin typeface="Arial MT"/>
                <a:cs typeface="Arial MT"/>
              </a:rPr>
              <a:t> </a:t>
            </a:r>
            <a:r>
              <a:rPr lang="en-US" sz="2600" dirty="0">
                <a:latin typeface="Arial MT"/>
                <a:cs typeface="Arial MT"/>
              </a:rPr>
              <a:t>on</a:t>
            </a:r>
            <a:r>
              <a:rPr lang="en-US" sz="2600" spc="-30" dirty="0">
                <a:latin typeface="Arial MT"/>
                <a:cs typeface="Arial MT"/>
              </a:rPr>
              <a:t> </a:t>
            </a:r>
            <a:r>
              <a:rPr lang="en-US" sz="2600" dirty="0">
                <a:latin typeface="Arial MT"/>
                <a:cs typeface="Arial MT"/>
              </a:rPr>
              <a:t>the</a:t>
            </a:r>
            <a:r>
              <a:rPr lang="en-US" sz="2600" spc="-25" dirty="0">
                <a:latin typeface="Arial MT"/>
                <a:cs typeface="Arial MT"/>
              </a:rPr>
              <a:t> </a:t>
            </a:r>
            <a:r>
              <a:rPr lang="en-US" sz="2600" dirty="0">
                <a:latin typeface="Arial MT"/>
                <a:cs typeface="Arial MT"/>
              </a:rPr>
              <a:t>data</a:t>
            </a:r>
            <a:r>
              <a:rPr lang="en-US" sz="2600" spc="-25" dirty="0">
                <a:latin typeface="Arial MT"/>
                <a:cs typeface="Arial MT"/>
              </a:rPr>
              <a:t> </a:t>
            </a:r>
            <a:r>
              <a:rPr lang="en-US" sz="2600" dirty="0">
                <a:latin typeface="Arial MT"/>
                <a:cs typeface="Arial MT"/>
              </a:rPr>
              <a:t>model</a:t>
            </a:r>
            <a:r>
              <a:rPr lang="en-US" sz="2600" spc="-45" dirty="0">
                <a:latin typeface="Arial MT"/>
                <a:cs typeface="Arial MT"/>
              </a:rPr>
              <a:t> </a:t>
            </a:r>
            <a:r>
              <a:rPr lang="en-US" sz="2600" dirty="0">
                <a:latin typeface="Arial MT"/>
                <a:cs typeface="Arial MT"/>
              </a:rPr>
              <a:t>may</a:t>
            </a:r>
            <a:r>
              <a:rPr lang="en-US" sz="2600" spc="-40" dirty="0">
                <a:latin typeface="Arial MT"/>
                <a:cs typeface="Arial MT"/>
              </a:rPr>
              <a:t> </a:t>
            </a:r>
            <a:r>
              <a:rPr lang="en-US" sz="2600" dirty="0">
                <a:latin typeface="Arial MT"/>
                <a:cs typeface="Arial MT"/>
              </a:rPr>
              <a:t>include</a:t>
            </a:r>
            <a:r>
              <a:rPr lang="en-US" sz="2600" spc="-25" dirty="0">
                <a:latin typeface="Arial MT"/>
                <a:cs typeface="Arial MT"/>
              </a:rPr>
              <a:t> </a:t>
            </a:r>
            <a:r>
              <a:rPr lang="en-US" sz="2600" b="1" i="1" spc="-10" dirty="0">
                <a:cs typeface="Arial"/>
              </a:rPr>
              <a:t>basic </a:t>
            </a:r>
            <a:r>
              <a:rPr lang="en-US" sz="2600" b="1" i="1" dirty="0">
                <a:cs typeface="Arial"/>
              </a:rPr>
              <a:t>model</a:t>
            </a:r>
            <a:r>
              <a:rPr lang="en-US" sz="2600" b="1" i="1" spc="-45" dirty="0">
                <a:cs typeface="Arial"/>
              </a:rPr>
              <a:t> </a:t>
            </a:r>
            <a:r>
              <a:rPr lang="en-US" sz="2600" b="1" i="1" dirty="0">
                <a:cs typeface="Arial"/>
              </a:rPr>
              <a:t>operations</a:t>
            </a:r>
            <a:r>
              <a:rPr lang="en-US" sz="2600" b="1" i="1" spc="-35" dirty="0">
                <a:cs typeface="Arial"/>
              </a:rPr>
              <a:t> </a:t>
            </a:r>
            <a:r>
              <a:rPr lang="en-US" sz="2600" dirty="0">
                <a:latin typeface="Arial MT"/>
                <a:cs typeface="Arial MT"/>
              </a:rPr>
              <a:t>(e.g.</a:t>
            </a:r>
            <a:r>
              <a:rPr lang="en-US" sz="2600" spc="-30" dirty="0">
                <a:latin typeface="Arial MT"/>
                <a:cs typeface="Arial MT"/>
              </a:rPr>
              <a:t> </a:t>
            </a:r>
            <a:r>
              <a:rPr lang="en-US" sz="2600" dirty="0">
                <a:latin typeface="Arial MT"/>
                <a:cs typeface="Arial MT"/>
              </a:rPr>
              <a:t>generic</a:t>
            </a:r>
            <a:r>
              <a:rPr lang="en-US" sz="2600" spc="-50" dirty="0">
                <a:latin typeface="Arial MT"/>
                <a:cs typeface="Arial MT"/>
              </a:rPr>
              <a:t> </a:t>
            </a:r>
            <a:r>
              <a:rPr lang="en-US" sz="2600" dirty="0">
                <a:latin typeface="Arial MT"/>
                <a:cs typeface="Arial MT"/>
              </a:rPr>
              <a:t>insert,</a:t>
            </a:r>
            <a:r>
              <a:rPr lang="en-US" sz="2600" spc="-40" dirty="0">
                <a:latin typeface="Arial MT"/>
                <a:cs typeface="Arial MT"/>
              </a:rPr>
              <a:t> </a:t>
            </a:r>
            <a:r>
              <a:rPr lang="en-US" sz="2600" spc="-10" dirty="0">
                <a:latin typeface="Arial MT"/>
                <a:cs typeface="Arial MT"/>
              </a:rPr>
              <a:t>delete, </a:t>
            </a:r>
            <a:r>
              <a:rPr lang="en-US" sz="2600" dirty="0">
                <a:latin typeface="Arial MT"/>
                <a:cs typeface="Arial MT"/>
              </a:rPr>
              <a:t>update)</a:t>
            </a:r>
            <a:r>
              <a:rPr lang="en-US" sz="2600" spc="-30" dirty="0">
                <a:latin typeface="Arial MT"/>
                <a:cs typeface="Arial MT"/>
              </a:rPr>
              <a:t> </a:t>
            </a:r>
            <a:r>
              <a:rPr lang="en-US" sz="2600" dirty="0">
                <a:latin typeface="Arial MT"/>
                <a:cs typeface="Arial MT"/>
              </a:rPr>
              <a:t>and</a:t>
            </a:r>
            <a:r>
              <a:rPr lang="en-US" sz="2600" spc="-20" dirty="0">
                <a:latin typeface="Arial MT"/>
                <a:cs typeface="Arial MT"/>
              </a:rPr>
              <a:t> </a:t>
            </a:r>
            <a:r>
              <a:rPr lang="en-US" sz="2600" b="1" i="1" spc="-10" dirty="0">
                <a:cs typeface="Arial"/>
              </a:rPr>
              <a:t>user-</a:t>
            </a:r>
            <a:r>
              <a:rPr lang="en-US" sz="2600" b="1" i="1" dirty="0">
                <a:cs typeface="Arial"/>
              </a:rPr>
              <a:t>defined</a:t>
            </a:r>
            <a:r>
              <a:rPr lang="en-US" sz="2600" b="1" i="1" spc="-65" dirty="0">
                <a:cs typeface="Arial"/>
              </a:rPr>
              <a:t> </a:t>
            </a:r>
            <a:r>
              <a:rPr lang="en-US" sz="2600" b="1" i="1" dirty="0">
                <a:cs typeface="Arial"/>
              </a:rPr>
              <a:t>operations</a:t>
            </a:r>
            <a:r>
              <a:rPr lang="en-US" sz="2600" b="1" i="1" spc="-35" dirty="0">
                <a:cs typeface="Arial"/>
              </a:rPr>
              <a:t> </a:t>
            </a:r>
            <a:r>
              <a:rPr lang="en-US" sz="2600" spc="-10" dirty="0">
                <a:latin typeface="Arial MT"/>
                <a:cs typeface="Arial MT"/>
              </a:rPr>
              <a:t>(e.g. </a:t>
            </a:r>
            <a:r>
              <a:rPr lang="en-US" sz="2600" spc="-10" dirty="0" err="1">
                <a:latin typeface="Arial MT"/>
                <a:cs typeface="Arial MT"/>
              </a:rPr>
              <a:t>compute_student_gpa</a:t>
            </a:r>
            <a:r>
              <a:rPr lang="en-US" sz="2600" spc="-10" dirty="0">
                <a:latin typeface="Arial MT"/>
                <a:cs typeface="Arial MT"/>
              </a:rPr>
              <a:t>,</a:t>
            </a:r>
            <a:r>
              <a:rPr lang="en-US" sz="2600" spc="-55" dirty="0">
                <a:latin typeface="Arial MT"/>
                <a:cs typeface="Arial MT"/>
              </a:rPr>
              <a:t> </a:t>
            </a:r>
            <a:r>
              <a:rPr lang="en-US" sz="2600" spc="-10" dirty="0" err="1">
                <a:latin typeface="Arial MT"/>
                <a:cs typeface="Arial MT"/>
              </a:rPr>
              <a:t>update_inventory</a:t>
            </a:r>
            <a:r>
              <a:rPr lang="en-US" sz="2600" spc="-10" dirty="0">
                <a:latin typeface="Arial MT"/>
                <a:cs typeface="Arial MT"/>
              </a:rPr>
              <a:t>)</a:t>
            </a:r>
            <a:endParaRPr lang="en-US" sz="2600" dirty="0">
              <a:latin typeface="Arial MT"/>
              <a:cs typeface="Arial MT"/>
            </a:endParaRPr>
          </a:p>
          <a:p>
            <a:endParaRPr lang="en-US" dirty="0"/>
          </a:p>
        </p:txBody>
      </p:sp>
    </p:spTree>
    <p:extLst>
      <p:ext uri="{BB962C8B-B14F-4D97-AF65-F5344CB8AC3E}">
        <p14:creationId xmlns="" xmlns:p14="http://schemas.microsoft.com/office/powerpoint/2010/main" val="31982472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28AE93-3266-4BD9-A745-41E749BA04B3}"/>
              </a:ext>
            </a:extLst>
          </p:cNvPr>
          <p:cNvSpPr>
            <a:spLocks noGrp="1"/>
          </p:cNvSpPr>
          <p:nvPr>
            <p:ph type="title"/>
          </p:nvPr>
        </p:nvSpPr>
        <p:spPr/>
        <p:txBody>
          <a:bodyPr/>
          <a:lstStyle/>
          <a:p>
            <a:r>
              <a:rPr lang="en-IN" dirty="0"/>
              <a:t>Data Models</a:t>
            </a:r>
            <a:endParaRPr lang="en-US" dirty="0"/>
          </a:p>
        </p:txBody>
      </p:sp>
      <p:sp>
        <p:nvSpPr>
          <p:cNvPr id="3" name="Content Placeholder 2">
            <a:extLst>
              <a:ext uri="{FF2B5EF4-FFF2-40B4-BE49-F238E27FC236}">
                <a16:creationId xmlns="" xmlns:a16="http://schemas.microsoft.com/office/drawing/2014/main" id="{D2E61C8F-543C-44A8-9965-F532745B75A0}"/>
              </a:ext>
            </a:extLst>
          </p:cNvPr>
          <p:cNvSpPr>
            <a:spLocks noGrp="1"/>
          </p:cNvSpPr>
          <p:nvPr>
            <p:ph idx="1"/>
          </p:nvPr>
        </p:nvSpPr>
        <p:spPr>
          <a:xfrm>
            <a:off x="838200" y="1891612"/>
            <a:ext cx="10515600" cy="4742867"/>
          </a:xfrm>
        </p:spPr>
        <p:txBody>
          <a:bodyPr>
            <a:normAutofit fontScale="70000" lnSpcReduction="20000"/>
          </a:bodyPr>
          <a:lstStyle/>
          <a:p>
            <a:pPr>
              <a:lnSpc>
                <a:spcPct val="170000"/>
              </a:lnSpc>
            </a:pPr>
            <a:r>
              <a:rPr lang="en-US" dirty="0"/>
              <a:t>Categories</a:t>
            </a:r>
          </a:p>
          <a:p>
            <a:pPr marL="812800" lvl="1" indent="-342900">
              <a:lnSpc>
                <a:spcPct val="170000"/>
              </a:lnSpc>
              <a:spcBef>
                <a:spcPts val="385"/>
              </a:spcBef>
              <a:buSzPct val="60416"/>
              <a:tabLst>
                <a:tab pos="354965" algn="l"/>
              </a:tabLst>
            </a:pPr>
            <a:r>
              <a:rPr lang="en-US" sz="2000" b="1" dirty="0">
                <a:cs typeface="Arial"/>
              </a:rPr>
              <a:t>Conceptual</a:t>
            </a:r>
            <a:r>
              <a:rPr lang="en-US" sz="2000" b="1" spc="-40" dirty="0">
                <a:cs typeface="Arial"/>
              </a:rPr>
              <a:t> </a:t>
            </a:r>
            <a:r>
              <a:rPr lang="en-US" sz="2000" b="1" spc="-10" dirty="0">
                <a:cs typeface="Arial"/>
              </a:rPr>
              <a:t>(high-</a:t>
            </a:r>
            <a:r>
              <a:rPr lang="en-US" sz="2000" b="1" dirty="0">
                <a:cs typeface="Arial"/>
              </a:rPr>
              <a:t>level,</a:t>
            </a:r>
            <a:r>
              <a:rPr lang="en-US" sz="2000" b="1" spc="-80" dirty="0">
                <a:cs typeface="Arial"/>
              </a:rPr>
              <a:t> </a:t>
            </a:r>
            <a:r>
              <a:rPr lang="en-US" sz="2000" b="1" dirty="0">
                <a:cs typeface="Arial"/>
              </a:rPr>
              <a:t>semantic)</a:t>
            </a:r>
            <a:r>
              <a:rPr lang="en-US" sz="2000" b="1" spc="-40" dirty="0">
                <a:cs typeface="Arial"/>
              </a:rPr>
              <a:t> </a:t>
            </a:r>
            <a:r>
              <a:rPr lang="en-US" sz="2000" b="1" dirty="0">
                <a:cs typeface="Arial"/>
              </a:rPr>
              <a:t>data</a:t>
            </a:r>
            <a:r>
              <a:rPr lang="en-US" sz="2000" b="1" spc="-50" dirty="0">
                <a:cs typeface="Arial"/>
              </a:rPr>
              <a:t> </a:t>
            </a:r>
            <a:r>
              <a:rPr lang="en-US" sz="2000" b="1" spc="-10" dirty="0">
                <a:cs typeface="Arial"/>
              </a:rPr>
              <a:t>models:</a:t>
            </a:r>
            <a:endParaRPr lang="en-US" sz="2000" dirty="0">
              <a:cs typeface="Arial"/>
            </a:endParaRPr>
          </a:p>
          <a:p>
            <a:pPr marL="1270000" lvl="2" indent="-342900">
              <a:lnSpc>
                <a:spcPct val="170000"/>
              </a:lnSpc>
              <a:spcBef>
                <a:spcPts val="260"/>
              </a:spcBef>
              <a:buSzPct val="54545"/>
              <a:tabLst>
                <a:tab pos="756285" algn="l"/>
              </a:tabLst>
            </a:pPr>
            <a:r>
              <a:rPr lang="en-US" sz="1800" dirty="0">
                <a:latin typeface="Arial MT"/>
                <a:cs typeface="Arial MT"/>
              </a:rPr>
              <a:t>Provide</a:t>
            </a:r>
            <a:r>
              <a:rPr lang="en-US" sz="1800" spc="-45" dirty="0">
                <a:latin typeface="Arial MT"/>
                <a:cs typeface="Arial MT"/>
              </a:rPr>
              <a:t> </a:t>
            </a:r>
            <a:r>
              <a:rPr lang="en-US" sz="1800" dirty="0">
                <a:latin typeface="Arial MT"/>
                <a:cs typeface="Arial MT"/>
              </a:rPr>
              <a:t>concepts</a:t>
            </a:r>
            <a:r>
              <a:rPr lang="en-US" sz="1800" spc="-60" dirty="0">
                <a:latin typeface="Arial MT"/>
                <a:cs typeface="Arial MT"/>
              </a:rPr>
              <a:t> </a:t>
            </a:r>
            <a:r>
              <a:rPr lang="en-US" sz="1800" dirty="0">
                <a:latin typeface="Arial MT"/>
                <a:cs typeface="Arial MT"/>
              </a:rPr>
              <a:t>that</a:t>
            </a:r>
            <a:r>
              <a:rPr lang="en-US" sz="1800" spc="-40" dirty="0">
                <a:latin typeface="Arial MT"/>
                <a:cs typeface="Arial MT"/>
              </a:rPr>
              <a:t> </a:t>
            </a:r>
            <a:r>
              <a:rPr lang="en-US" sz="1800" dirty="0">
                <a:latin typeface="Arial MT"/>
                <a:cs typeface="Arial MT"/>
              </a:rPr>
              <a:t>are</a:t>
            </a:r>
            <a:r>
              <a:rPr lang="en-US" sz="1800" spc="-55" dirty="0">
                <a:latin typeface="Arial MT"/>
                <a:cs typeface="Arial MT"/>
              </a:rPr>
              <a:t> </a:t>
            </a:r>
            <a:r>
              <a:rPr lang="en-US" sz="1800" dirty="0">
                <a:latin typeface="Arial MT"/>
                <a:cs typeface="Arial MT"/>
              </a:rPr>
              <a:t>close</a:t>
            </a:r>
            <a:r>
              <a:rPr lang="en-US" sz="1800" spc="-60" dirty="0">
                <a:latin typeface="Arial MT"/>
                <a:cs typeface="Arial MT"/>
              </a:rPr>
              <a:t> </a:t>
            </a:r>
            <a:r>
              <a:rPr lang="en-US" sz="1800" dirty="0">
                <a:latin typeface="Arial MT"/>
                <a:cs typeface="Arial MT"/>
              </a:rPr>
              <a:t>to</a:t>
            </a:r>
            <a:r>
              <a:rPr lang="en-US" sz="1800" spc="-45" dirty="0">
                <a:latin typeface="Arial MT"/>
                <a:cs typeface="Arial MT"/>
              </a:rPr>
              <a:t> </a:t>
            </a:r>
            <a:r>
              <a:rPr lang="en-US" sz="1800" dirty="0">
                <a:latin typeface="Arial MT"/>
                <a:cs typeface="Arial MT"/>
              </a:rPr>
              <a:t>the</a:t>
            </a:r>
            <a:r>
              <a:rPr lang="en-US" sz="1800" spc="-55" dirty="0">
                <a:latin typeface="Arial MT"/>
                <a:cs typeface="Arial MT"/>
              </a:rPr>
              <a:t> </a:t>
            </a:r>
            <a:r>
              <a:rPr lang="en-US" sz="1800" dirty="0">
                <a:latin typeface="Arial MT"/>
                <a:cs typeface="Arial MT"/>
              </a:rPr>
              <a:t>way</a:t>
            </a:r>
            <a:r>
              <a:rPr lang="en-US" sz="1800" spc="-45" dirty="0">
                <a:latin typeface="Arial MT"/>
                <a:cs typeface="Arial MT"/>
              </a:rPr>
              <a:t> </a:t>
            </a:r>
            <a:r>
              <a:rPr lang="en-US" sz="1800" dirty="0">
                <a:latin typeface="Arial MT"/>
                <a:cs typeface="Arial MT"/>
              </a:rPr>
              <a:t>many</a:t>
            </a:r>
            <a:r>
              <a:rPr lang="en-US" sz="1800" spc="-40" dirty="0">
                <a:latin typeface="Arial MT"/>
                <a:cs typeface="Arial MT"/>
              </a:rPr>
              <a:t> </a:t>
            </a:r>
            <a:r>
              <a:rPr lang="en-US" sz="1800" b="1" spc="-10" dirty="0">
                <a:latin typeface="Arial MT"/>
                <a:cs typeface="Arial MT"/>
              </a:rPr>
              <a:t>users </a:t>
            </a:r>
            <a:r>
              <a:rPr lang="en-US" sz="1800" b="1" dirty="0">
                <a:latin typeface="Arial MT"/>
                <a:cs typeface="Arial MT"/>
              </a:rPr>
              <a:t>perceive</a:t>
            </a:r>
            <a:r>
              <a:rPr lang="en-US" sz="1800" b="1" spc="-85" dirty="0">
                <a:latin typeface="Arial MT"/>
                <a:cs typeface="Arial MT"/>
              </a:rPr>
              <a:t> </a:t>
            </a:r>
            <a:r>
              <a:rPr lang="en-US" sz="1800" b="1" spc="-20" dirty="0">
                <a:latin typeface="Arial MT"/>
                <a:cs typeface="Arial MT"/>
              </a:rPr>
              <a:t>data</a:t>
            </a:r>
            <a:r>
              <a:rPr lang="en-US" sz="1800" spc="-20" dirty="0">
                <a:latin typeface="Arial MT"/>
                <a:cs typeface="Arial MT"/>
              </a:rPr>
              <a:t>.</a:t>
            </a:r>
            <a:endParaRPr lang="en-US" sz="1800" dirty="0">
              <a:latin typeface="Arial MT"/>
              <a:cs typeface="Arial MT"/>
            </a:endParaRPr>
          </a:p>
          <a:p>
            <a:pPr marL="1727200" lvl="3" indent="-342900">
              <a:lnSpc>
                <a:spcPct val="170000"/>
              </a:lnSpc>
              <a:spcBef>
                <a:spcPts val="254"/>
              </a:spcBef>
              <a:buSzPct val="50000"/>
              <a:tabLst>
                <a:tab pos="1155065" algn="l"/>
              </a:tabLst>
            </a:pPr>
            <a:r>
              <a:rPr lang="en-US" dirty="0">
                <a:latin typeface="Arial MT"/>
                <a:cs typeface="Arial MT"/>
              </a:rPr>
              <a:t>(Also</a:t>
            </a:r>
            <a:r>
              <a:rPr lang="en-US" spc="-25" dirty="0">
                <a:latin typeface="Arial MT"/>
                <a:cs typeface="Arial MT"/>
              </a:rPr>
              <a:t> </a:t>
            </a:r>
            <a:r>
              <a:rPr lang="en-US" dirty="0">
                <a:latin typeface="Arial MT"/>
                <a:cs typeface="Arial MT"/>
              </a:rPr>
              <a:t>called</a:t>
            </a:r>
            <a:r>
              <a:rPr lang="en-US" spc="-15" dirty="0">
                <a:latin typeface="Arial MT"/>
                <a:cs typeface="Arial MT"/>
              </a:rPr>
              <a:t> </a:t>
            </a:r>
            <a:r>
              <a:rPr lang="en-US" b="1" i="1" spc="-10" dirty="0">
                <a:cs typeface="Arial"/>
              </a:rPr>
              <a:t>entity-</a:t>
            </a:r>
            <a:r>
              <a:rPr lang="en-US" b="1" i="1" dirty="0">
                <a:cs typeface="Arial"/>
              </a:rPr>
              <a:t>based</a:t>
            </a:r>
            <a:r>
              <a:rPr lang="en-US" b="1" i="1" spc="-55" dirty="0">
                <a:cs typeface="Arial"/>
              </a:rPr>
              <a:t> </a:t>
            </a:r>
            <a:r>
              <a:rPr lang="en-US" dirty="0">
                <a:latin typeface="Arial MT"/>
                <a:cs typeface="Arial MT"/>
              </a:rPr>
              <a:t>or</a:t>
            </a:r>
            <a:r>
              <a:rPr lang="en-US" spc="-20" dirty="0">
                <a:latin typeface="Arial MT"/>
                <a:cs typeface="Arial MT"/>
              </a:rPr>
              <a:t> </a:t>
            </a:r>
            <a:r>
              <a:rPr lang="en-US" b="1" i="1" dirty="0">
                <a:cs typeface="Arial"/>
              </a:rPr>
              <a:t>object-based</a:t>
            </a:r>
            <a:r>
              <a:rPr lang="en-US" b="1" i="1" spc="-40" dirty="0">
                <a:cs typeface="Arial"/>
              </a:rPr>
              <a:t> </a:t>
            </a:r>
            <a:r>
              <a:rPr lang="en-US" dirty="0">
                <a:latin typeface="Arial MT"/>
                <a:cs typeface="Arial MT"/>
              </a:rPr>
              <a:t>data</a:t>
            </a:r>
            <a:r>
              <a:rPr lang="en-US" spc="-20" dirty="0">
                <a:latin typeface="Arial MT"/>
                <a:cs typeface="Arial MT"/>
              </a:rPr>
              <a:t> </a:t>
            </a:r>
            <a:r>
              <a:rPr lang="en-US" spc="-10" dirty="0">
                <a:latin typeface="Arial MT"/>
                <a:cs typeface="Arial MT"/>
              </a:rPr>
              <a:t>models.)</a:t>
            </a:r>
            <a:endParaRPr lang="en-US" dirty="0">
              <a:latin typeface="Arial MT"/>
              <a:cs typeface="Arial MT"/>
            </a:endParaRPr>
          </a:p>
          <a:p>
            <a:pPr marL="812800" lvl="1" indent="-342900">
              <a:lnSpc>
                <a:spcPct val="170000"/>
              </a:lnSpc>
              <a:spcBef>
                <a:spcPts val="280"/>
              </a:spcBef>
              <a:buSzPct val="60416"/>
              <a:tabLst>
                <a:tab pos="354965" algn="l"/>
              </a:tabLst>
            </a:pPr>
            <a:r>
              <a:rPr lang="en-US" sz="2000" b="1" dirty="0">
                <a:cs typeface="Arial"/>
              </a:rPr>
              <a:t>Physical</a:t>
            </a:r>
            <a:r>
              <a:rPr lang="en-US" sz="2000" b="1" spc="-20" dirty="0">
                <a:cs typeface="Arial"/>
              </a:rPr>
              <a:t> </a:t>
            </a:r>
            <a:r>
              <a:rPr lang="en-US" sz="2000" b="1" dirty="0">
                <a:cs typeface="Arial"/>
              </a:rPr>
              <a:t>(low-level,</a:t>
            </a:r>
            <a:r>
              <a:rPr lang="en-US" sz="2000" b="1" spc="-80" dirty="0">
                <a:cs typeface="Arial"/>
              </a:rPr>
              <a:t> </a:t>
            </a:r>
            <a:r>
              <a:rPr lang="en-US" sz="2000" b="1" dirty="0">
                <a:cs typeface="Arial"/>
              </a:rPr>
              <a:t>internal)</a:t>
            </a:r>
            <a:r>
              <a:rPr lang="en-US" sz="2000" b="1" spc="-75" dirty="0">
                <a:cs typeface="Arial"/>
              </a:rPr>
              <a:t> </a:t>
            </a:r>
            <a:r>
              <a:rPr lang="en-US" sz="2000" b="1" dirty="0">
                <a:cs typeface="Arial"/>
              </a:rPr>
              <a:t>data</a:t>
            </a:r>
            <a:r>
              <a:rPr lang="en-US" sz="2000" b="1" spc="-40" dirty="0">
                <a:cs typeface="Arial"/>
              </a:rPr>
              <a:t> </a:t>
            </a:r>
            <a:r>
              <a:rPr lang="en-US" sz="2000" b="1" spc="-10" dirty="0">
                <a:cs typeface="Arial"/>
              </a:rPr>
              <a:t>models:</a:t>
            </a:r>
            <a:endParaRPr lang="en-US" sz="2000" dirty="0">
              <a:cs typeface="Arial"/>
            </a:endParaRPr>
          </a:p>
          <a:p>
            <a:pPr marL="1269365" marR="36195" lvl="2" indent="-342900">
              <a:lnSpc>
                <a:spcPct val="170000"/>
              </a:lnSpc>
              <a:spcBef>
                <a:spcPts val="525"/>
              </a:spcBef>
              <a:buSzPct val="54545"/>
              <a:tabLst>
                <a:tab pos="756285" algn="l"/>
              </a:tabLst>
            </a:pPr>
            <a:r>
              <a:rPr lang="en-US" sz="1800" dirty="0">
                <a:latin typeface="Arial MT"/>
                <a:cs typeface="Arial MT"/>
              </a:rPr>
              <a:t>Provide</a:t>
            </a:r>
            <a:r>
              <a:rPr lang="en-US" sz="1800" spc="-50" dirty="0">
                <a:latin typeface="Arial MT"/>
                <a:cs typeface="Arial MT"/>
              </a:rPr>
              <a:t> </a:t>
            </a:r>
            <a:r>
              <a:rPr lang="en-US" sz="1800" dirty="0">
                <a:latin typeface="Arial MT"/>
                <a:cs typeface="Arial MT"/>
              </a:rPr>
              <a:t>concepts</a:t>
            </a:r>
            <a:r>
              <a:rPr lang="en-US" sz="1800" spc="-60" dirty="0">
                <a:latin typeface="Arial MT"/>
                <a:cs typeface="Arial MT"/>
              </a:rPr>
              <a:t> </a:t>
            </a:r>
            <a:r>
              <a:rPr lang="en-US" sz="1800" dirty="0">
                <a:latin typeface="Arial MT"/>
                <a:cs typeface="Arial MT"/>
              </a:rPr>
              <a:t>that</a:t>
            </a:r>
            <a:r>
              <a:rPr lang="en-US" sz="1800" spc="-45" dirty="0">
                <a:latin typeface="Arial MT"/>
                <a:cs typeface="Arial MT"/>
              </a:rPr>
              <a:t> </a:t>
            </a:r>
            <a:r>
              <a:rPr lang="en-US" sz="1800" dirty="0">
                <a:latin typeface="Arial MT"/>
                <a:cs typeface="Arial MT"/>
              </a:rPr>
              <a:t>describe</a:t>
            </a:r>
            <a:r>
              <a:rPr lang="en-US" sz="1800" spc="-65" dirty="0">
                <a:latin typeface="Arial MT"/>
                <a:cs typeface="Arial MT"/>
              </a:rPr>
              <a:t> </a:t>
            </a:r>
            <a:r>
              <a:rPr lang="en-US" sz="1800" dirty="0">
                <a:latin typeface="Arial MT"/>
                <a:cs typeface="Arial MT"/>
              </a:rPr>
              <a:t>details</a:t>
            </a:r>
            <a:r>
              <a:rPr lang="en-US" sz="1800" spc="-50" dirty="0">
                <a:latin typeface="Arial MT"/>
                <a:cs typeface="Arial MT"/>
              </a:rPr>
              <a:t> </a:t>
            </a:r>
            <a:r>
              <a:rPr lang="en-US" sz="1800" dirty="0">
                <a:latin typeface="Arial MT"/>
                <a:cs typeface="Arial MT"/>
              </a:rPr>
              <a:t>of</a:t>
            </a:r>
            <a:r>
              <a:rPr lang="en-US" sz="1800" spc="-55" dirty="0">
                <a:latin typeface="Arial MT"/>
                <a:cs typeface="Arial MT"/>
              </a:rPr>
              <a:t> </a:t>
            </a:r>
            <a:r>
              <a:rPr lang="en-US" sz="1800" dirty="0">
                <a:latin typeface="Arial MT"/>
                <a:cs typeface="Arial MT"/>
              </a:rPr>
              <a:t>how</a:t>
            </a:r>
            <a:r>
              <a:rPr lang="en-US" sz="1800" spc="-65" dirty="0">
                <a:latin typeface="Arial MT"/>
                <a:cs typeface="Arial MT"/>
              </a:rPr>
              <a:t> </a:t>
            </a:r>
            <a:r>
              <a:rPr lang="en-US" sz="1800" dirty="0">
                <a:latin typeface="Arial MT"/>
                <a:cs typeface="Arial MT"/>
              </a:rPr>
              <a:t>data</a:t>
            </a:r>
            <a:r>
              <a:rPr lang="en-US" sz="1800" spc="-45" dirty="0">
                <a:latin typeface="Arial MT"/>
                <a:cs typeface="Arial MT"/>
              </a:rPr>
              <a:t> </a:t>
            </a:r>
            <a:r>
              <a:rPr lang="en-US" sz="1800" dirty="0">
                <a:latin typeface="Arial MT"/>
                <a:cs typeface="Arial MT"/>
              </a:rPr>
              <a:t>is</a:t>
            </a:r>
            <a:r>
              <a:rPr lang="en-US" sz="1800" spc="-60" dirty="0">
                <a:latin typeface="Arial MT"/>
                <a:cs typeface="Arial MT"/>
              </a:rPr>
              <a:t> </a:t>
            </a:r>
            <a:r>
              <a:rPr lang="en-US" sz="1800" spc="-10" dirty="0">
                <a:latin typeface="Arial MT"/>
                <a:cs typeface="Arial MT"/>
              </a:rPr>
              <a:t>stored </a:t>
            </a:r>
            <a:r>
              <a:rPr lang="en-US" sz="1800" dirty="0">
                <a:latin typeface="Arial MT"/>
                <a:cs typeface="Arial MT"/>
              </a:rPr>
              <a:t>in</a:t>
            </a:r>
            <a:r>
              <a:rPr lang="en-US" sz="1800" spc="-60" dirty="0">
                <a:latin typeface="Arial MT"/>
                <a:cs typeface="Arial MT"/>
              </a:rPr>
              <a:t> </a:t>
            </a:r>
            <a:r>
              <a:rPr lang="en-US" sz="1800" dirty="0">
                <a:latin typeface="Arial MT"/>
                <a:cs typeface="Arial MT"/>
              </a:rPr>
              <a:t>the</a:t>
            </a:r>
            <a:r>
              <a:rPr lang="en-US" sz="1800" spc="-55" dirty="0">
                <a:latin typeface="Arial MT"/>
                <a:cs typeface="Arial MT"/>
              </a:rPr>
              <a:t> </a:t>
            </a:r>
            <a:r>
              <a:rPr lang="en-US" sz="1800" dirty="0">
                <a:latin typeface="Arial MT"/>
                <a:cs typeface="Arial MT"/>
              </a:rPr>
              <a:t>computer.</a:t>
            </a:r>
            <a:r>
              <a:rPr lang="en-US" sz="1800" spc="-35" dirty="0">
                <a:latin typeface="Arial MT"/>
                <a:cs typeface="Arial MT"/>
              </a:rPr>
              <a:t> </a:t>
            </a:r>
            <a:r>
              <a:rPr lang="en-US" sz="1800" dirty="0">
                <a:latin typeface="Arial MT"/>
                <a:cs typeface="Arial MT"/>
              </a:rPr>
              <a:t>These</a:t>
            </a:r>
            <a:r>
              <a:rPr lang="en-US" sz="1800" spc="-60" dirty="0">
                <a:latin typeface="Arial MT"/>
                <a:cs typeface="Arial MT"/>
              </a:rPr>
              <a:t> </a:t>
            </a:r>
            <a:r>
              <a:rPr lang="en-US" sz="1800" dirty="0">
                <a:latin typeface="Arial MT"/>
                <a:cs typeface="Arial MT"/>
              </a:rPr>
              <a:t>are</a:t>
            </a:r>
            <a:r>
              <a:rPr lang="en-US" sz="1800" spc="-35" dirty="0">
                <a:latin typeface="Arial MT"/>
                <a:cs typeface="Arial MT"/>
              </a:rPr>
              <a:t> </a:t>
            </a:r>
            <a:r>
              <a:rPr lang="en-US" sz="1800" dirty="0">
                <a:latin typeface="Arial MT"/>
                <a:cs typeface="Arial MT"/>
              </a:rPr>
              <a:t>usually</a:t>
            </a:r>
            <a:r>
              <a:rPr lang="en-US" sz="1800" spc="-65" dirty="0">
                <a:latin typeface="Arial MT"/>
                <a:cs typeface="Arial MT"/>
              </a:rPr>
              <a:t> </a:t>
            </a:r>
            <a:r>
              <a:rPr lang="en-US" sz="1800" dirty="0">
                <a:latin typeface="Arial MT"/>
                <a:cs typeface="Arial MT"/>
              </a:rPr>
              <a:t>specified</a:t>
            </a:r>
            <a:r>
              <a:rPr lang="en-US" sz="1800" spc="-55" dirty="0">
                <a:latin typeface="Arial MT"/>
                <a:cs typeface="Arial MT"/>
              </a:rPr>
              <a:t> </a:t>
            </a:r>
            <a:r>
              <a:rPr lang="en-US" sz="1800" dirty="0">
                <a:latin typeface="Arial MT"/>
                <a:cs typeface="Arial MT"/>
              </a:rPr>
              <a:t>in</a:t>
            </a:r>
            <a:r>
              <a:rPr lang="en-US" sz="1800" spc="-55" dirty="0">
                <a:latin typeface="Arial MT"/>
                <a:cs typeface="Arial MT"/>
              </a:rPr>
              <a:t> </a:t>
            </a:r>
            <a:r>
              <a:rPr lang="en-US" sz="1800" dirty="0">
                <a:latin typeface="Arial MT"/>
                <a:cs typeface="Arial MT"/>
              </a:rPr>
              <a:t>an</a:t>
            </a:r>
            <a:r>
              <a:rPr lang="en-US" sz="1800" spc="-50" dirty="0">
                <a:latin typeface="Arial MT"/>
                <a:cs typeface="Arial MT"/>
              </a:rPr>
              <a:t> </a:t>
            </a:r>
            <a:r>
              <a:rPr lang="en-US" sz="1800" spc="-10" dirty="0">
                <a:latin typeface="Arial MT"/>
                <a:cs typeface="Arial MT"/>
              </a:rPr>
              <a:t>ad-</a:t>
            </a:r>
            <a:r>
              <a:rPr lang="en-US" sz="1800" spc="-25" dirty="0">
                <a:latin typeface="Arial MT"/>
                <a:cs typeface="Arial MT"/>
              </a:rPr>
              <a:t>hoc </a:t>
            </a:r>
            <a:r>
              <a:rPr lang="en-US" sz="1800" dirty="0">
                <a:latin typeface="Arial MT"/>
                <a:cs typeface="Arial MT"/>
              </a:rPr>
              <a:t>manner</a:t>
            </a:r>
            <a:r>
              <a:rPr lang="en-US" sz="1800" spc="-70" dirty="0">
                <a:latin typeface="Arial MT"/>
                <a:cs typeface="Arial MT"/>
              </a:rPr>
              <a:t> </a:t>
            </a:r>
            <a:r>
              <a:rPr lang="en-US" sz="1800" dirty="0">
                <a:latin typeface="Arial MT"/>
                <a:cs typeface="Arial MT"/>
              </a:rPr>
              <a:t>through</a:t>
            </a:r>
            <a:r>
              <a:rPr lang="en-US" sz="1800" spc="-70" dirty="0">
                <a:latin typeface="Arial MT"/>
                <a:cs typeface="Arial MT"/>
              </a:rPr>
              <a:t> </a:t>
            </a:r>
            <a:r>
              <a:rPr lang="en-US" sz="1800" dirty="0">
                <a:latin typeface="Arial MT"/>
                <a:cs typeface="Arial MT"/>
              </a:rPr>
              <a:t>DBMS</a:t>
            </a:r>
            <a:r>
              <a:rPr lang="en-US" sz="1800" spc="-75" dirty="0">
                <a:latin typeface="Arial MT"/>
                <a:cs typeface="Arial MT"/>
              </a:rPr>
              <a:t> </a:t>
            </a:r>
            <a:r>
              <a:rPr lang="en-US" sz="1800" dirty="0">
                <a:latin typeface="Arial MT"/>
                <a:cs typeface="Arial MT"/>
              </a:rPr>
              <a:t>design</a:t>
            </a:r>
            <a:r>
              <a:rPr lang="en-US" sz="1800" spc="-85" dirty="0">
                <a:latin typeface="Arial MT"/>
                <a:cs typeface="Arial MT"/>
              </a:rPr>
              <a:t> </a:t>
            </a:r>
            <a:r>
              <a:rPr lang="en-US" sz="1800" dirty="0">
                <a:latin typeface="Arial MT"/>
                <a:cs typeface="Arial MT"/>
              </a:rPr>
              <a:t>and</a:t>
            </a:r>
            <a:r>
              <a:rPr lang="en-US" sz="1800" spc="-85" dirty="0">
                <a:latin typeface="Arial MT"/>
                <a:cs typeface="Arial MT"/>
              </a:rPr>
              <a:t> </a:t>
            </a:r>
            <a:r>
              <a:rPr lang="en-US" sz="1800" dirty="0">
                <a:latin typeface="Arial MT"/>
                <a:cs typeface="Arial MT"/>
              </a:rPr>
              <a:t>administration</a:t>
            </a:r>
            <a:r>
              <a:rPr lang="en-US" sz="1800" spc="-75" dirty="0">
                <a:latin typeface="Arial MT"/>
                <a:cs typeface="Arial MT"/>
              </a:rPr>
              <a:t> </a:t>
            </a:r>
            <a:r>
              <a:rPr lang="en-US" sz="1800" spc="-10" dirty="0">
                <a:latin typeface="Arial MT"/>
                <a:cs typeface="Arial MT"/>
              </a:rPr>
              <a:t>manuals</a:t>
            </a:r>
            <a:endParaRPr lang="en-US" sz="1800" dirty="0">
              <a:latin typeface="Arial MT"/>
              <a:cs typeface="Arial MT"/>
            </a:endParaRPr>
          </a:p>
          <a:p>
            <a:pPr marL="812800" lvl="1" indent="-342900">
              <a:lnSpc>
                <a:spcPct val="170000"/>
              </a:lnSpc>
              <a:spcBef>
                <a:spcPts val="295"/>
              </a:spcBef>
              <a:buSzPct val="60416"/>
              <a:tabLst>
                <a:tab pos="354965" algn="l"/>
              </a:tabLst>
            </a:pPr>
            <a:r>
              <a:rPr lang="en-US" sz="2000" b="1" dirty="0">
                <a:cs typeface="Arial"/>
              </a:rPr>
              <a:t>Implementation</a:t>
            </a:r>
            <a:r>
              <a:rPr lang="en-US" sz="2000" b="1" spc="-120" dirty="0">
                <a:cs typeface="Arial"/>
              </a:rPr>
              <a:t> </a:t>
            </a:r>
            <a:r>
              <a:rPr lang="en-US" sz="2000" b="1" dirty="0">
                <a:cs typeface="Arial"/>
              </a:rPr>
              <a:t>(representational)</a:t>
            </a:r>
            <a:r>
              <a:rPr lang="en-US" sz="2000" b="1" spc="-80" dirty="0">
                <a:cs typeface="Arial"/>
              </a:rPr>
              <a:t> </a:t>
            </a:r>
            <a:r>
              <a:rPr lang="en-US" sz="2000" b="1" dirty="0">
                <a:cs typeface="Arial"/>
              </a:rPr>
              <a:t>data</a:t>
            </a:r>
            <a:r>
              <a:rPr lang="en-US" sz="2000" b="1" spc="-85" dirty="0">
                <a:cs typeface="Arial"/>
              </a:rPr>
              <a:t> </a:t>
            </a:r>
            <a:r>
              <a:rPr lang="en-US" sz="2000" b="1" spc="-10" dirty="0">
                <a:cs typeface="Arial"/>
              </a:rPr>
              <a:t>models:</a:t>
            </a:r>
            <a:endParaRPr lang="en-US" sz="2000" dirty="0">
              <a:cs typeface="Arial"/>
            </a:endParaRPr>
          </a:p>
          <a:p>
            <a:pPr marL="1269365" marR="189865" lvl="2" indent="-342900">
              <a:lnSpc>
                <a:spcPct val="170000"/>
              </a:lnSpc>
              <a:spcBef>
                <a:spcPts val="555"/>
              </a:spcBef>
              <a:buSzPct val="54545"/>
              <a:tabLst>
                <a:tab pos="756285" algn="l"/>
              </a:tabLst>
            </a:pPr>
            <a:r>
              <a:rPr lang="en-US" sz="1800" dirty="0">
                <a:latin typeface="Arial MT"/>
                <a:cs typeface="Arial MT"/>
              </a:rPr>
              <a:t>Provide</a:t>
            </a:r>
            <a:r>
              <a:rPr lang="en-US" sz="1800" spc="-55" dirty="0">
                <a:latin typeface="Arial MT"/>
                <a:cs typeface="Arial MT"/>
              </a:rPr>
              <a:t> </a:t>
            </a:r>
            <a:r>
              <a:rPr lang="en-US" sz="1800" dirty="0">
                <a:latin typeface="Arial MT"/>
                <a:cs typeface="Arial MT"/>
              </a:rPr>
              <a:t>concepts</a:t>
            </a:r>
            <a:r>
              <a:rPr lang="en-US" sz="1800" spc="-70" dirty="0">
                <a:latin typeface="Arial MT"/>
                <a:cs typeface="Arial MT"/>
              </a:rPr>
              <a:t> </a:t>
            </a:r>
            <a:r>
              <a:rPr lang="en-US" sz="1800" dirty="0">
                <a:latin typeface="Arial MT"/>
                <a:cs typeface="Arial MT"/>
              </a:rPr>
              <a:t>that</a:t>
            </a:r>
            <a:r>
              <a:rPr lang="en-US" sz="1800" spc="-50" dirty="0">
                <a:latin typeface="Arial MT"/>
                <a:cs typeface="Arial MT"/>
              </a:rPr>
              <a:t> </a:t>
            </a:r>
            <a:r>
              <a:rPr lang="en-US" sz="1800" dirty="0">
                <a:latin typeface="Arial MT"/>
                <a:cs typeface="Arial MT"/>
              </a:rPr>
              <a:t>fall</a:t>
            </a:r>
            <a:r>
              <a:rPr lang="en-US" sz="1800" spc="-65" dirty="0">
                <a:latin typeface="Arial MT"/>
                <a:cs typeface="Arial MT"/>
              </a:rPr>
              <a:t> </a:t>
            </a:r>
            <a:r>
              <a:rPr lang="en-US" sz="1800" dirty="0">
                <a:latin typeface="Arial MT"/>
                <a:cs typeface="Arial MT"/>
              </a:rPr>
              <a:t>between</a:t>
            </a:r>
            <a:r>
              <a:rPr lang="en-US" sz="1800" spc="-50" dirty="0">
                <a:latin typeface="Arial MT"/>
                <a:cs typeface="Arial MT"/>
              </a:rPr>
              <a:t> </a:t>
            </a:r>
            <a:r>
              <a:rPr lang="en-US" sz="1800" dirty="0">
                <a:latin typeface="Arial MT"/>
                <a:cs typeface="Arial MT"/>
              </a:rPr>
              <a:t>the</a:t>
            </a:r>
            <a:r>
              <a:rPr lang="en-US" sz="1800" spc="-60" dirty="0">
                <a:latin typeface="Arial MT"/>
                <a:cs typeface="Arial MT"/>
              </a:rPr>
              <a:t> </a:t>
            </a:r>
            <a:r>
              <a:rPr lang="en-US" sz="1800" dirty="0">
                <a:latin typeface="Arial MT"/>
                <a:cs typeface="Arial MT"/>
              </a:rPr>
              <a:t>above</a:t>
            </a:r>
            <a:r>
              <a:rPr lang="en-US" sz="1800" spc="-60" dirty="0">
                <a:latin typeface="Arial MT"/>
                <a:cs typeface="Arial MT"/>
              </a:rPr>
              <a:t> </a:t>
            </a:r>
            <a:r>
              <a:rPr lang="en-US" sz="1800" dirty="0">
                <a:latin typeface="Arial MT"/>
                <a:cs typeface="Arial MT"/>
              </a:rPr>
              <a:t>two,</a:t>
            </a:r>
            <a:r>
              <a:rPr lang="en-US" sz="1800" spc="-55" dirty="0">
                <a:latin typeface="Arial MT"/>
                <a:cs typeface="Arial MT"/>
              </a:rPr>
              <a:t> </a:t>
            </a:r>
            <a:r>
              <a:rPr lang="en-US" sz="1800" dirty="0">
                <a:latin typeface="Arial MT"/>
                <a:cs typeface="Arial MT"/>
              </a:rPr>
              <a:t>used</a:t>
            </a:r>
            <a:r>
              <a:rPr lang="en-US" sz="1800" spc="-60" dirty="0">
                <a:latin typeface="Arial MT"/>
                <a:cs typeface="Arial MT"/>
              </a:rPr>
              <a:t> </a:t>
            </a:r>
            <a:r>
              <a:rPr lang="en-US" sz="1800" spc="-25" dirty="0">
                <a:latin typeface="Arial MT"/>
                <a:cs typeface="Arial MT"/>
              </a:rPr>
              <a:t>by </a:t>
            </a:r>
            <a:r>
              <a:rPr lang="en-US" sz="1800" dirty="0">
                <a:latin typeface="Arial MT"/>
                <a:cs typeface="Arial MT"/>
              </a:rPr>
              <a:t>many</a:t>
            </a:r>
            <a:r>
              <a:rPr lang="en-US" sz="1800" spc="-65" dirty="0">
                <a:latin typeface="Arial MT"/>
                <a:cs typeface="Arial MT"/>
              </a:rPr>
              <a:t> </a:t>
            </a:r>
            <a:r>
              <a:rPr lang="en-US" sz="1800" dirty="0">
                <a:latin typeface="Arial MT"/>
                <a:cs typeface="Arial MT"/>
              </a:rPr>
              <a:t>commercial</a:t>
            </a:r>
            <a:r>
              <a:rPr lang="en-US" sz="1800" spc="-45" dirty="0">
                <a:latin typeface="Arial MT"/>
                <a:cs typeface="Arial MT"/>
              </a:rPr>
              <a:t> </a:t>
            </a:r>
            <a:r>
              <a:rPr lang="en-US" sz="1800" dirty="0">
                <a:latin typeface="Arial MT"/>
                <a:cs typeface="Arial MT"/>
              </a:rPr>
              <a:t>DBMS</a:t>
            </a:r>
            <a:r>
              <a:rPr lang="en-US" sz="1800" spc="-55" dirty="0">
                <a:latin typeface="Arial MT"/>
                <a:cs typeface="Arial MT"/>
              </a:rPr>
              <a:t> </a:t>
            </a:r>
            <a:r>
              <a:rPr lang="en-US" sz="1800" spc="-10" dirty="0">
                <a:latin typeface="Arial MT"/>
                <a:cs typeface="Arial MT"/>
              </a:rPr>
              <a:t>implementations</a:t>
            </a:r>
            <a:r>
              <a:rPr lang="en-US" sz="1800" spc="-55" dirty="0">
                <a:latin typeface="Arial MT"/>
                <a:cs typeface="Arial MT"/>
              </a:rPr>
              <a:t> </a:t>
            </a:r>
            <a:r>
              <a:rPr lang="en-US" sz="1800" dirty="0">
                <a:latin typeface="Arial MT"/>
                <a:cs typeface="Arial MT"/>
              </a:rPr>
              <a:t>(e.g.</a:t>
            </a:r>
            <a:r>
              <a:rPr lang="en-US" sz="1800" spc="-55" dirty="0">
                <a:latin typeface="Arial MT"/>
                <a:cs typeface="Arial MT"/>
              </a:rPr>
              <a:t> </a:t>
            </a:r>
            <a:r>
              <a:rPr lang="en-US" sz="1800" spc="-10" dirty="0">
                <a:latin typeface="Arial MT"/>
                <a:cs typeface="Arial MT"/>
              </a:rPr>
              <a:t>relational </a:t>
            </a:r>
            <a:r>
              <a:rPr lang="en-US" sz="1800" dirty="0">
                <a:latin typeface="Arial MT"/>
                <a:cs typeface="Arial MT"/>
              </a:rPr>
              <a:t>data</a:t>
            </a:r>
            <a:r>
              <a:rPr lang="en-US" sz="1800" spc="-70" dirty="0">
                <a:latin typeface="Arial MT"/>
                <a:cs typeface="Arial MT"/>
              </a:rPr>
              <a:t> </a:t>
            </a:r>
            <a:r>
              <a:rPr lang="en-US" sz="1800" dirty="0">
                <a:latin typeface="Arial MT"/>
                <a:cs typeface="Arial MT"/>
              </a:rPr>
              <a:t>models</a:t>
            </a:r>
            <a:r>
              <a:rPr lang="en-US" sz="1800" spc="-55" dirty="0">
                <a:latin typeface="Arial MT"/>
                <a:cs typeface="Arial MT"/>
              </a:rPr>
              <a:t> </a:t>
            </a:r>
            <a:r>
              <a:rPr lang="en-US" sz="1800" dirty="0">
                <a:latin typeface="Arial MT"/>
                <a:cs typeface="Arial MT"/>
              </a:rPr>
              <a:t>used</a:t>
            </a:r>
            <a:r>
              <a:rPr lang="en-US" sz="1800" spc="-75" dirty="0">
                <a:latin typeface="Arial MT"/>
                <a:cs typeface="Arial MT"/>
              </a:rPr>
              <a:t> </a:t>
            </a:r>
            <a:r>
              <a:rPr lang="en-US" sz="1800" dirty="0">
                <a:latin typeface="Arial MT"/>
                <a:cs typeface="Arial MT"/>
              </a:rPr>
              <a:t>in</a:t>
            </a:r>
            <a:r>
              <a:rPr lang="en-US" sz="1800" spc="-65" dirty="0">
                <a:latin typeface="Arial MT"/>
                <a:cs typeface="Arial MT"/>
              </a:rPr>
              <a:t> </a:t>
            </a:r>
            <a:r>
              <a:rPr lang="en-US" sz="1800" dirty="0">
                <a:latin typeface="Arial MT"/>
                <a:cs typeface="Arial MT"/>
              </a:rPr>
              <a:t>many</a:t>
            </a:r>
            <a:r>
              <a:rPr lang="en-US" sz="1800" spc="-60" dirty="0">
                <a:latin typeface="Arial MT"/>
                <a:cs typeface="Arial MT"/>
              </a:rPr>
              <a:t> </a:t>
            </a:r>
            <a:r>
              <a:rPr lang="en-US" sz="1800" dirty="0">
                <a:latin typeface="Arial MT"/>
                <a:cs typeface="Arial MT"/>
              </a:rPr>
              <a:t>commercial</a:t>
            </a:r>
            <a:r>
              <a:rPr lang="en-US" sz="1800" spc="-60" dirty="0">
                <a:latin typeface="Arial MT"/>
                <a:cs typeface="Arial MT"/>
              </a:rPr>
              <a:t> </a:t>
            </a:r>
            <a:r>
              <a:rPr lang="en-US" sz="1800" spc="-10" dirty="0">
                <a:latin typeface="Arial MT"/>
                <a:cs typeface="Arial MT"/>
              </a:rPr>
              <a:t>systems).</a:t>
            </a:r>
            <a:endParaRPr lang="en-US" sz="1800" dirty="0">
              <a:latin typeface="Arial MT"/>
              <a:cs typeface="Arial MT"/>
            </a:endParaRPr>
          </a:p>
          <a:p>
            <a:pPr marL="812800" lvl="1" indent="-342900">
              <a:lnSpc>
                <a:spcPct val="170000"/>
              </a:lnSpc>
              <a:spcBef>
                <a:spcPts val="250"/>
              </a:spcBef>
              <a:buSzPct val="60416"/>
              <a:tabLst>
                <a:tab pos="354965" algn="l"/>
              </a:tabLst>
            </a:pPr>
            <a:r>
              <a:rPr lang="en-US" sz="2000" b="1" spc="-10" dirty="0">
                <a:cs typeface="Arial"/>
              </a:rPr>
              <a:t>Self-</a:t>
            </a:r>
            <a:r>
              <a:rPr lang="en-US" sz="2000" b="1" dirty="0">
                <a:cs typeface="Arial"/>
              </a:rPr>
              <a:t>Describing</a:t>
            </a:r>
            <a:r>
              <a:rPr lang="en-US" sz="2000" b="1" spc="-60" dirty="0">
                <a:cs typeface="Arial"/>
              </a:rPr>
              <a:t> </a:t>
            </a:r>
            <a:r>
              <a:rPr lang="en-US" sz="2000" b="1" dirty="0">
                <a:cs typeface="Arial"/>
              </a:rPr>
              <a:t>Data</a:t>
            </a:r>
            <a:r>
              <a:rPr lang="en-US" sz="2000" b="1" spc="-55" dirty="0">
                <a:cs typeface="Arial"/>
              </a:rPr>
              <a:t> </a:t>
            </a:r>
            <a:r>
              <a:rPr lang="en-US" sz="2000" b="1" spc="-10" dirty="0">
                <a:cs typeface="Arial"/>
              </a:rPr>
              <a:t>Models:</a:t>
            </a:r>
            <a:endParaRPr lang="en-US" sz="2000" dirty="0">
              <a:cs typeface="Arial"/>
            </a:endParaRPr>
          </a:p>
          <a:p>
            <a:pPr marL="1269365" marR="5080" lvl="2" indent="-342900">
              <a:lnSpc>
                <a:spcPct val="170000"/>
              </a:lnSpc>
              <a:spcBef>
                <a:spcPts val="555"/>
              </a:spcBef>
              <a:buSzPct val="54545"/>
              <a:tabLst>
                <a:tab pos="756285" algn="l"/>
              </a:tabLst>
            </a:pPr>
            <a:r>
              <a:rPr lang="en-US" sz="1800" dirty="0">
                <a:latin typeface="Arial MT"/>
                <a:cs typeface="Arial MT"/>
              </a:rPr>
              <a:t>Combine</a:t>
            </a:r>
            <a:r>
              <a:rPr lang="en-US" sz="1800" spc="-55" dirty="0">
                <a:latin typeface="Arial MT"/>
                <a:cs typeface="Arial MT"/>
              </a:rPr>
              <a:t> </a:t>
            </a:r>
            <a:r>
              <a:rPr lang="en-US" sz="1800" dirty="0">
                <a:latin typeface="Arial MT"/>
                <a:cs typeface="Arial MT"/>
              </a:rPr>
              <a:t>the</a:t>
            </a:r>
            <a:r>
              <a:rPr lang="en-US" sz="1800" spc="-50" dirty="0">
                <a:latin typeface="Arial MT"/>
                <a:cs typeface="Arial MT"/>
              </a:rPr>
              <a:t> </a:t>
            </a:r>
            <a:r>
              <a:rPr lang="en-US" sz="1800" dirty="0">
                <a:latin typeface="Arial MT"/>
                <a:cs typeface="Arial MT"/>
              </a:rPr>
              <a:t>description</a:t>
            </a:r>
            <a:r>
              <a:rPr lang="en-US" sz="1800" spc="-70" dirty="0">
                <a:latin typeface="Arial MT"/>
                <a:cs typeface="Arial MT"/>
              </a:rPr>
              <a:t> </a:t>
            </a:r>
            <a:r>
              <a:rPr lang="en-US" sz="1800" dirty="0">
                <a:latin typeface="Arial MT"/>
                <a:cs typeface="Arial MT"/>
              </a:rPr>
              <a:t>of</a:t>
            </a:r>
            <a:r>
              <a:rPr lang="en-US" sz="1800" spc="-60" dirty="0">
                <a:latin typeface="Arial MT"/>
                <a:cs typeface="Arial MT"/>
              </a:rPr>
              <a:t> </a:t>
            </a:r>
            <a:r>
              <a:rPr lang="en-US" sz="1800" dirty="0">
                <a:latin typeface="Arial MT"/>
                <a:cs typeface="Arial MT"/>
              </a:rPr>
              <a:t>data</a:t>
            </a:r>
            <a:r>
              <a:rPr lang="en-US" sz="1800" spc="-50" dirty="0">
                <a:latin typeface="Arial MT"/>
                <a:cs typeface="Arial MT"/>
              </a:rPr>
              <a:t> </a:t>
            </a:r>
            <a:r>
              <a:rPr lang="en-US" sz="1800" dirty="0">
                <a:latin typeface="Arial MT"/>
                <a:cs typeface="Arial MT"/>
              </a:rPr>
              <a:t>with</a:t>
            </a:r>
            <a:r>
              <a:rPr lang="en-US" sz="1800" spc="-60" dirty="0">
                <a:latin typeface="Arial MT"/>
                <a:cs typeface="Arial MT"/>
              </a:rPr>
              <a:t> </a:t>
            </a:r>
            <a:r>
              <a:rPr lang="en-US" sz="1800" dirty="0">
                <a:latin typeface="Arial MT"/>
                <a:cs typeface="Arial MT"/>
              </a:rPr>
              <a:t>the</a:t>
            </a:r>
            <a:r>
              <a:rPr lang="en-US" sz="1800" spc="-55" dirty="0">
                <a:latin typeface="Arial MT"/>
                <a:cs typeface="Arial MT"/>
              </a:rPr>
              <a:t> </a:t>
            </a:r>
            <a:r>
              <a:rPr lang="en-US" sz="1800" dirty="0">
                <a:latin typeface="Arial MT"/>
                <a:cs typeface="Arial MT"/>
              </a:rPr>
              <a:t>data</a:t>
            </a:r>
            <a:r>
              <a:rPr lang="en-US" sz="1800" spc="-65" dirty="0">
                <a:latin typeface="Arial MT"/>
                <a:cs typeface="Arial MT"/>
              </a:rPr>
              <a:t> </a:t>
            </a:r>
            <a:r>
              <a:rPr lang="en-US" sz="1800" spc="-10" dirty="0">
                <a:latin typeface="Arial MT"/>
                <a:cs typeface="Arial MT"/>
              </a:rPr>
              <a:t>values. </a:t>
            </a:r>
            <a:r>
              <a:rPr lang="en-US" sz="1800" dirty="0">
                <a:latin typeface="Arial MT"/>
                <a:cs typeface="Arial MT"/>
              </a:rPr>
              <a:t>Examples</a:t>
            </a:r>
            <a:r>
              <a:rPr lang="en-US" sz="1800" spc="-55" dirty="0">
                <a:latin typeface="Arial MT"/>
                <a:cs typeface="Arial MT"/>
              </a:rPr>
              <a:t> </a:t>
            </a:r>
            <a:r>
              <a:rPr lang="en-US" sz="1800" dirty="0">
                <a:latin typeface="Arial MT"/>
                <a:cs typeface="Arial MT"/>
              </a:rPr>
              <a:t>include</a:t>
            </a:r>
            <a:r>
              <a:rPr lang="en-US" sz="1800" spc="-60" dirty="0">
                <a:latin typeface="Arial MT"/>
                <a:cs typeface="Arial MT"/>
              </a:rPr>
              <a:t> </a:t>
            </a:r>
            <a:r>
              <a:rPr lang="en-US" sz="1800" dirty="0">
                <a:latin typeface="Arial MT"/>
                <a:cs typeface="Arial MT"/>
              </a:rPr>
              <a:t>XML,</a:t>
            </a:r>
            <a:r>
              <a:rPr lang="en-US" sz="1800" spc="-50" dirty="0">
                <a:latin typeface="Arial MT"/>
                <a:cs typeface="Arial MT"/>
              </a:rPr>
              <a:t> </a:t>
            </a:r>
            <a:r>
              <a:rPr lang="en-US" sz="1800" spc="-10" dirty="0">
                <a:latin typeface="Arial MT"/>
                <a:cs typeface="Arial MT"/>
              </a:rPr>
              <a:t>key-</a:t>
            </a:r>
            <a:r>
              <a:rPr lang="en-US" sz="1800" dirty="0">
                <a:latin typeface="Arial MT"/>
                <a:cs typeface="Arial MT"/>
              </a:rPr>
              <a:t>value</a:t>
            </a:r>
            <a:r>
              <a:rPr lang="en-US" sz="1800" spc="-55" dirty="0">
                <a:latin typeface="Arial MT"/>
                <a:cs typeface="Arial MT"/>
              </a:rPr>
              <a:t> </a:t>
            </a:r>
            <a:r>
              <a:rPr lang="en-US" sz="1800" dirty="0">
                <a:latin typeface="Arial MT"/>
                <a:cs typeface="Arial MT"/>
              </a:rPr>
              <a:t>stores</a:t>
            </a:r>
            <a:r>
              <a:rPr lang="en-US" sz="1800" spc="-65" dirty="0">
                <a:latin typeface="Arial MT"/>
                <a:cs typeface="Arial MT"/>
              </a:rPr>
              <a:t> </a:t>
            </a:r>
            <a:r>
              <a:rPr lang="en-US" sz="1800" dirty="0">
                <a:latin typeface="Arial MT"/>
                <a:cs typeface="Arial MT"/>
              </a:rPr>
              <a:t>and</a:t>
            </a:r>
            <a:r>
              <a:rPr lang="en-US" sz="1800" spc="-55" dirty="0">
                <a:latin typeface="Arial MT"/>
                <a:cs typeface="Arial MT"/>
              </a:rPr>
              <a:t> </a:t>
            </a:r>
            <a:r>
              <a:rPr lang="en-US" sz="1800" dirty="0">
                <a:latin typeface="Arial MT"/>
                <a:cs typeface="Arial MT"/>
              </a:rPr>
              <a:t>some</a:t>
            </a:r>
            <a:r>
              <a:rPr lang="en-US" sz="1800" spc="-60" dirty="0">
                <a:latin typeface="Arial MT"/>
                <a:cs typeface="Arial MT"/>
              </a:rPr>
              <a:t> </a:t>
            </a:r>
            <a:r>
              <a:rPr lang="en-US" sz="1800" spc="-10" dirty="0">
                <a:latin typeface="Arial MT"/>
                <a:cs typeface="Arial MT"/>
              </a:rPr>
              <a:t>NOSQL systems.</a:t>
            </a:r>
            <a:endParaRPr lang="en-US" sz="1800" dirty="0">
              <a:latin typeface="Arial MT"/>
              <a:cs typeface="Arial MT"/>
            </a:endParaRPr>
          </a:p>
          <a:p>
            <a:pPr>
              <a:lnSpc>
                <a:spcPct val="170000"/>
              </a:lnSpc>
            </a:pPr>
            <a:endParaRPr lang="en-US" dirty="0"/>
          </a:p>
        </p:txBody>
      </p:sp>
    </p:spTree>
    <p:extLst>
      <p:ext uri="{BB962C8B-B14F-4D97-AF65-F5344CB8AC3E}">
        <p14:creationId xmlns="" xmlns:p14="http://schemas.microsoft.com/office/powerpoint/2010/main" val="72660770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E5714A-20C8-4EC5-AA12-5763A424D5C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464975CB-7D4F-41E3-93EE-8276AAC84D77}"/>
              </a:ext>
            </a:extLst>
          </p:cNvPr>
          <p:cNvSpPr>
            <a:spLocks noGrp="1"/>
          </p:cNvSpPr>
          <p:nvPr>
            <p:ph idx="1"/>
          </p:nvPr>
        </p:nvSpPr>
        <p:spPr/>
        <p:txBody>
          <a:bodyPr>
            <a:normAutofit lnSpcReduction="10000"/>
          </a:bodyPr>
          <a:lstStyle/>
          <a:p>
            <a:r>
              <a:rPr lang="en-US" b="1" dirty="0"/>
              <a:t>What is the purpose of a data model in database management?</a:t>
            </a:r>
            <a:endParaRPr lang="en-US" dirty="0"/>
          </a:p>
          <a:p>
            <a:r>
              <a:rPr lang="en-US" dirty="0"/>
              <a:t>A) To design user interfaces</a:t>
            </a:r>
          </a:p>
          <a:p>
            <a:r>
              <a:rPr lang="en-US" dirty="0"/>
              <a:t>B)To create visualizations</a:t>
            </a:r>
          </a:p>
          <a:p>
            <a:r>
              <a:rPr lang="en-US" dirty="0"/>
              <a:t>C) To represent the structure and relationships of data</a:t>
            </a:r>
          </a:p>
          <a:p>
            <a:r>
              <a:rPr lang="en-US" dirty="0"/>
              <a:t>D) To manage computer hardware</a:t>
            </a:r>
          </a:p>
          <a:p>
            <a:endParaRPr lang="en-US" dirty="0"/>
          </a:p>
        </p:txBody>
      </p:sp>
    </p:spTree>
    <p:extLst>
      <p:ext uri="{BB962C8B-B14F-4D97-AF65-F5344CB8AC3E}">
        <p14:creationId xmlns="" xmlns:p14="http://schemas.microsoft.com/office/powerpoint/2010/main" val="326612911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E5714A-20C8-4EC5-AA12-5763A424D5C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464975CB-7D4F-41E3-93EE-8276AAC84D77}"/>
              </a:ext>
            </a:extLst>
          </p:cNvPr>
          <p:cNvSpPr>
            <a:spLocks noGrp="1"/>
          </p:cNvSpPr>
          <p:nvPr>
            <p:ph idx="1"/>
          </p:nvPr>
        </p:nvSpPr>
        <p:spPr/>
        <p:txBody>
          <a:bodyPr>
            <a:normAutofit lnSpcReduction="10000"/>
          </a:bodyPr>
          <a:lstStyle/>
          <a:p>
            <a:r>
              <a:rPr lang="en-US" b="1" dirty="0"/>
              <a:t>What is the purpose of a data model in database management?</a:t>
            </a:r>
            <a:endParaRPr lang="en-US" dirty="0"/>
          </a:p>
          <a:p>
            <a:r>
              <a:rPr lang="en-US" dirty="0"/>
              <a:t>A) To design user interfaces</a:t>
            </a:r>
          </a:p>
          <a:p>
            <a:r>
              <a:rPr lang="en-US" dirty="0"/>
              <a:t>B)To create visualizations</a:t>
            </a:r>
          </a:p>
          <a:p>
            <a:r>
              <a:rPr lang="en-US" dirty="0">
                <a:solidFill>
                  <a:srgbClr val="00B050"/>
                </a:solidFill>
              </a:rPr>
              <a:t>C) To represent the structure and relationships of data</a:t>
            </a:r>
          </a:p>
          <a:p>
            <a:r>
              <a:rPr lang="en-US" dirty="0"/>
              <a:t>D) To manage computer hardware</a:t>
            </a:r>
          </a:p>
          <a:p>
            <a:endParaRPr lang="en-US" dirty="0"/>
          </a:p>
        </p:txBody>
      </p:sp>
    </p:spTree>
    <p:extLst>
      <p:ext uri="{BB962C8B-B14F-4D97-AF65-F5344CB8AC3E}">
        <p14:creationId xmlns="" xmlns:p14="http://schemas.microsoft.com/office/powerpoint/2010/main" val="18251869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9961B7-49AF-4BDA-A72E-E0172D0835CE}"/>
              </a:ext>
            </a:extLst>
          </p:cNvPr>
          <p:cNvSpPr>
            <a:spLocks noGrp="1"/>
          </p:cNvSpPr>
          <p:nvPr>
            <p:ph type="title"/>
          </p:nvPr>
        </p:nvSpPr>
        <p:spPr/>
        <p:txBody>
          <a:bodyPr/>
          <a:lstStyle/>
          <a:p>
            <a:r>
              <a:rPr lang="en-US" dirty="0"/>
              <a:t>Schema</a:t>
            </a:r>
          </a:p>
        </p:txBody>
      </p:sp>
      <p:sp>
        <p:nvSpPr>
          <p:cNvPr id="3" name="Content Placeholder 2">
            <a:extLst>
              <a:ext uri="{FF2B5EF4-FFF2-40B4-BE49-F238E27FC236}">
                <a16:creationId xmlns="" xmlns:a16="http://schemas.microsoft.com/office/drawing/2014/main" id="{1DE5D20F-85DC-4F97-B554-21C2E4622165}"/>
              </a:ext>
            </a:extLst>
          </p:cNvPr>
          <p:cNvSpPr>
            <a:spLocks noGrp="1"/>
          </p:cNvSpPr>
          <p:nvPr>
            <p:ph idx="1"/>
          </p:nvPr>
        </p:nvSpPr>
        <p:spPr/>
        <p:txBody>
          <a:bodyPr>
            <a:normAutofit fontScale="77500" lnSpcReduction="20000"/>
          </a:bodyPr>
          <a:lstStyle/>
          <a:p>
            <a:pPr marL="469900" indent="-457200">
              <a:spcBef>
                <a:spcPts val="440"/>
              </a:spcBef>
              <a:buSzPct val="58928"/>
              <a:tabLst>
                <a:tab pos="354965" algn="l"/>
              </a:tabLst>
            </a:pPr>
            <a:r>
              <a:rPr lang="en-US" dirty="0">
                <a:latin typeface="Arial MT"/>
                <a:cs typeface="Arial MT"/>
              </a:rPr>
              <a:t>Database</a:t>
            </a:r>
            <a:r>
              <a:rPr lang="en-US" spc="-125" dirty="0">
                <a:latin typeface="Arial MT"/>
                <a:cs typeface="Arial MT"/>
              </a:rPr>
              <a:t> </a:t>
            </a:r>
            <a:r>
              <a:rPr lang="en-US" spc="-10" dirty="0">
                <a:latin typeface="Arial MT"/>
                <a:cs typeface="Arial MT"/>
              </a:rPr>
              <a:t>Schema:</a:t>
            </a:r>
            <a:endParaRPr lang="en-US" dirty="0">
              <a:latin typeface="Arial MT"/>
              <a:cs typeface="Arial MT"/>
            </a:endParaRPr>
          </a:p>
          <a:p>
            <a:pPr marL="927100" lvl="1" indent="-457200">
              <a:spcBef>
                <a:spcPts val="325"/>
              </a:spcBef>
              <a:buSzPct val="53846"/>
              <a:tabLst>
                <a:tab pos="756285" algn="l"/>
              </a:tabLst>
            </a:pPr>
            <a:r>
              <a:rPr lang="en-US" sz="2600" dirty="0">
                <a:latin typeface="Arial MT"/>
                <a:cs typeface="Arial MT"/>
              </a:rPr>
              <a:t>The</a:t>
            </a:r>
            <a:r>
              <a:rPr lang="en-US" sz="2600" spc="-40" dirty="0">
                <a:latin typeface="Arial MT"/>
                <a:cs typeface="Arial MT"/>
              </a:rPr>
              <a:t> </a:t>
            </a:r>
            <a:r>
              <a:rPr lang="en-US" sz="2600" b="1" i="1" dirty="0">
                <a:cs typeface="Arial"/>
              </a:rPr>
              <a:t>description</a:t>
            </a:r>
            <a:r>
              <a:rPr lang="en-US" sz="2600" b="1" i="1" spc="-30" dirty="0">
                <a:cs typeface="Arial"/>
              </a:rPr>
              <a:t> </a:t>
            </a:r>
            <a:r>
              <a:rPr lang="en-US" sz="2600" dirty="0">
                <a:latin typeface="Arial MT"/>
                <a:cs typeface="Arial MT"/>
              </a:rPr>
              <a:t>of</a:t>
            </a:r>
            <a:r>
              <a:rPr lang="en-US" sz="2600" spc="-25" dirty="0">
                <a:latin typeface="Arial MT"/>
                <a:cs typeface="Arial MT"/>
              </a:rPr>
              <a:t> </a:t>
            </a:r>
            <a:r>
              <a:rPr lang="en-US" sz="2600" dirty="0">
                <a:latin typeface="Arial MT"/>
                <a:cs typeface="Arial MT"/>
              </a:rPr>
              <a:t>a</a:t>
            </a:r>
            <a:r>
              <a:rPr lang="en-US" sz="2600" spc="-25" dirty="0">
                <a:latin typeface="Arial MT"/>
                <a:cs typeface="Arial MT"/>
              </a:rPr>
              <a:t> </a:t>
            </a:r>
            <a:r>
              <a:rPr lang="en-US" sz="2600" spc="-10" dirty="0">
                <a:latin typeface="Arial MT"/>
                <a:cs typeface="Arial MT"/>
              </a:rPr>
              <a:t>database.</a:t>
            </a:r>
            <a:endParaRPr lang="en-US" sz="2600" dirty="0">
              <a:latin typeface="Arial MT"/>
              <a:cs typeface="Arial MT"/>
            </a:endParaRPr>
          </a:p>
          <a:p>
            <a:pPr marL="926465" marR="5080" lvl="1" indent="-457200">
              <a:spcBef>
                <a:spcPts val="660"/>
              </a:spcBef>
              <a:buSzPct val="53846"/>
              <a:tabLst>
                <a:tab pos="756285" algn="l"/>
              </a:tabLst>
            </a:pPr>
            <a:r>
              <a:rPr lang="en-US" sz="2600" dirty="0">
                <a:latin typeface="Arial MT"/>
                <a:cs typeface="Arial MT"/>
              </a:rPr>
              <a:t>Includes</a:t>
            </a:r>
            <a:r>
              <a:rPr lang="en-US" sz="2600" spc="-60" dirty="0">
                <a:latin typeface="Arial MT"/>
                <a:cs typeface="Arial MT"/>
              </a:rPr>
              <a:t> </a:t>
            </a:r>
            <a:r>
              <a:rPr lang="en-US" sz="2600" dirty="0">
                <a:latin typeface="Arial MT"/>
                <a:cs typeface="Arial MT"/>
              </a:rPr>
              <a:t>descriptions</a:t>
            </a:r>
            <a:r>
              <a:rPr lang="en-US" sz="2600" spc="-85" dirty="0">
                <a:latin typeface="Arial MT"/>
                <a:cs typeface="Arial MT"/>
              </a:rPr>
              <a:t> </a:t>
            </a:r>
            <a:r>
              <a:rPr lang="en-US" sz="2600" dirty="0">
                <a:latin typeface="Arial MT"/>
                <a:cs typeface="Arial MT"/>
              </a:rPr>
              <a:t>of</a:t>
            </a:r>
            <a:r>
              <a:rPr lang="en-US" sz="2600" spc="-45" dirty="0">
                <a:latin typeface="Arial MT"/>
                <a:cs typeface="Arial MT"/>
              </a:rPr>
              <a:t> </a:t>
            </a:r>
            <a:r>
              <a:rPr lang="en-US" sz="2600" dirty="0">
                <a:latin typeface="Arial MT"/>
                <a:cs typeface="Arial MT"/>
              </a:rPr>
              <a:t>the</a:t>
            </a:r>
            <a:r>
              <a:rPr lang="en-US" sz="2600" spc="-45" dirty="0">
                <a:latin typeface="Arial MT"/>
                <a:cs typeface="Arial MT"/>
              </a:rPr>
              <a:t> </a:t>
            </a:r>
            <a:r>
              <a:rPr lang="en-US" sz="2600" dirty="0">
                <a:latin typeface="Arial MT"/>
                <a:cs typeface="Arial MT"/>
              </a:rPr>
              <a:t>database</a:t>
            </a:r>
            <a:r>
              <a:rPr lang="en-US" sz="2600" spc="-60" dirty="0">
                <a:latin typeface="Arial MT"/>
                <a:cs typeface="Arial MT"/>
              </a:rPr>
              <a:t> </a:t>
            </a:r>
            <a:r>
              <a:rPr lang="en-US" sz="2600" spc="-10" dirty="0">
                <a:latin typeface="Arial MT"/>
                <a:cs typeface="Arial MT"/>
              </a:rPr>
              <a:t>structure, </a:t>
            </a:r>
            <a:r>
              <a:rPr lang="en-US" sz="2600" dirty="0">
                <a:latin typeface="Arial MT"/>
                <a:cs typeface="Arial MT"/>
              </a:rPr>
              <a:t>data</a:t>
            </a:r>
            <a:r>
              <a:rPr lang="en-US" sz="2600" spc="-45" dirty="0">
                <a:latin typeface="Arial MT"/>
                <a:cs typeface="Arial MT"/>
              </a:rPr>
              <a:t> </a:t>
            </a:r>
            <a:r>
              <a:rPr lang="en-US" sz="2600" dirty="0">
                <a:latin typeface="Arial MT"/>
                <a:cs typeface="Arial MT"/>
              </a:rPr>
              <a:t>types,</a:t>
            </a:r>
            <a:r>
              <a:rPr lang="en-US" sz="2600" spc="-50" dirty="0">
                <a:latin typeface="Arial MT"/>
                <a:cs typeface="Arial MT"/>
              </a:rPr>
              <a:t> </a:t>
            </a:r>
            <a:r>
              <a:rPr lang="en-US" sz="2600" dirty="0">
                <a:latin typeface="Arial MT"/>
                <a:cs typeface="Arial MT"/>
              </a:rPr>
              <a:t>and</a:t>
            </a:r>
            <a:r>
              <a:rPr lang="en-US" sz="2600" spc="-45" dirty="0">
                <a:latin typeface="Arial MT"/>
                <a:cs typeface="Arial MT"/>
              </a:rPr>
              <a:t> </a:t>
            </a:r>
            <a:r>
              <a:rPr lang="en-US" sz="2600" dirty="0">
                <a:latin typeface="Arial MT"/>
                <a:cs typeface="Arial MT"/>
              </a:rPr>
              <a:t>the</a:t>
            </a:r>
            <a:r>
              <a:rPr lang="en-US" sz="2600" spc="-40" dirty="0">
                <a:latin typeface="Arial MT"/>
                <a:cs typeface="Arial MT"/>
              </a:rPr>
              <a:t> </a:t>
            </a:r>
            <a:r>
              <a:rPr lang="en-US" sz="2600" dirty="0">
                <a:latin typeface="Arial MT"/>
                <a:cs typeface="Arial MT"/>
              </a:rPr>
              <a:t>constraints</a:t>
            </a:r>
            <a:r>
              <a:rPr lang="en-US" sz="2600" spc="-60" dirty="0">
                <a:latin typeface="Arial MT"/>
                <a:cs typeface="Arial MT"/>
              </a:rPr>
              <a:t> </a:t>
            </a:r>
            <a:r>
              <a:rPr lang="en-US" sz="2600" dirty="0">
                <a:latin typeface="Arial MT"/>
                <a:cs typeface="Arial MT"/>
              </a:rPr>
              <a:t>on</a:t>
            </a:r>
            <a:r>
              <a:rPr lang="en-US" sz="2600" spc="-35" dirty="0">
                <a:latin typeface="Arial MT"/>
                <a:cs typeface="Arial MT"/>
              </a:rPr>
              <a:t> </a:t>
            </a:r>
            <a:r>
              <a:rPr lang="en-US" sz="2600" dirty="0">
                <a:latin typeface="Arial MT"/>
                <a:cs typeface="Arial MT"/>
              </a:rPr>
              <a:t>the</a:t>
            </a:r>
            <a:r>
              <a:rPr lang="en-US" sz="2600" spc="-40" dirty="0">
                <a:latin typeface="Arial MT"/>
                <a:cs typeface="Arial MT"/>
              </a:rPr>
              <a:t> </a:t>
            </a:r>
            <a:r>
              <a:rPr lang="en-US" sz="2600" spc="-10" dirty="0">
                <a:latin typeface="Arial MT"/>
                <a:cs typeface="Arial MT"/>
              </a:rPr>
              <a:t>database.</a:t>
            </a:r>
            <a:endParaRPr lang="en-US" sz="2600" dirty="0">
              <a:latin typeface="Arial MT"/>
              <a:cs typeface="Arial MT"/>
            </a:endParaRPr>
          </a:p>
          <a:p>
            <a:pPr marL="469900" indent="-457200">
              <a:spcBef>
                <a:spcPts val="285"/>
              </a:spcBef>
              <a:buSzPct val="58928"/>
              <a:tabLst>
                <a:tab pos="354965" algn="l"/>
              </a:tabLst>
            </a:pPr>
            <a:r>
              <a:rPr lang="en-US" dirty="0">
                <a:latin typeface="Arial MT"/>
                <a:cs typeface="Arial MT"/>
              </a:rPr>
              <a:t>Schema</a:t>
            </a:r>
            <a:r>
              <a:rPr lang="en-US" spc="-114" dirty="0">
                <a:latin typeface="Arial MT"/>
                <a:cs typeface="Arial MT"/>
              </a:rPr>
              <a:t> </a:t>
            </a:r>
            <a:r>
              <a:rPr lang="en-US" spc="-10" dirty="0">
                <a:latin typeface="Arial MT"/>
                <a:cs typeface="Arial MT"/>
              </a:rPr>
              <a:t>Diagram:</a:t>
            </a:r>
            <a:endParaRPr lang="en-US" dirty="0">
              <a:latin typeface="Arial MT"/>
              <a:cs typeface="Arial MT"/>
            </a:endParaRPr>
          </a:p>
          <a:p>
            <a:pPr marL="926465" marR="527050" lvl="1" indent="-457200">
              <a:spcBef>
                <a:spcPts val="675"/>
              </a:spcBef>
              <a:buSzPct val="53846"/>
              <a:tabLst>
                <a:tab pos="756285" algn="l"/>
              </a:tabLst>
            </a:pPr>
            <a:r>
              <a:rPr lang="en-US" sz="2600" dirty="0">
                <a:latin typeface="Arial MT"/>
                <a:cs typeface="Arial MT"/>
              </a:rPr>
              <a:t>An</a:t>
            </a:r>
            <a:r>
              <a:rPr lang="en-US" sz="2600" spc="-20" dirty="0">
                <a:latin typeface="Arial MT"/>
                <a:cs typeface="Arial MT"/>
              </a:rPr>
              <a:t> </a:t>
            </a:r>
            <a:r>
              <a:rPr lang="en-US" sz="2600" b="1" i="1" dirty="0">
                <a:cs typeface="Arial"/>
              </a:rPr>
              <a:t>illustrative</a:t>
            </a:r>
            <a:r>
              <a:rPr lang="en-US" sz="2600" b="1" i="1" spc="-10" dirty="0">
                <a:cs typeface="Arial"/>
              </a:rPr>
              <a:t> </a:t>
            </a:r>
            <a:r>
              <a:rPr lang="en-US" sz="2600" dirty="0">
                <a:latin typeface="Arial MT"/>
                <a:cs typeface="Arial MT"/>
              </a:rPr>
              <a:t>display</a:t>
            </a:r>
            <a:r>
              <a:rPr lang="en-US" sz="2600" spc="-40" dirty="0">
                <a:latin typeface="Arial MT"/>
                <a:cs typeface="Arial MT"/>
              </a:rPr>
              <a:t> </a:t>
            </a:r>
            <a:r>
              <a:rPr lang="en-US" sz="2600" dirty="0">
                <a:latin typeface="Arial MT"/>
                <a:cs typeface="Arial MT"/>
              </a:rPr>
              <a:t>of</a:t>
            </a:r>
            <a:r>
              <a:rPr lang="en-US" sz="2600" spc="-15" dirty="0">
                <a:latin typeface="Arial MT"/>
                <a:cs typeface="Arial MT"/>
              </a:rPr>
              <a:t> </a:t>
            </a:r>
            <a:r>
              <a:rPr lang="en-US" sz="2600" dirty="0">
                <a:latin typeface="Arial MT"/>
                <a:cs typeface="Arial MT"/>
              </a:rPr>
              <a:t>(most</a:t>
            </a:r>
            <a:r>
              <a:rPr lang="en-US" sz="2600" spc="-45" dirty="0">
                <a:latin typeface="Arial MT"/>
                <a:cs typeface="Arial MT"/>
              </a:rPr>
              <a:t> </a:t>
            </a:r>
            <a:r>
              <a:rPr lang="en-US" sz="2600" dirty="0">
                <a:latin typeface="Arial MT"/>
                <a:cs typeface="Arial MT"/>
              </a:rPr>
              <a:t>aspects</a:t>
            </a:r>
            <a:r>
              <a:rPr lang="en-US" sz="2600" spc="-45" dirty="0">
                <a:latin typeface="Arial MT"/>
                <a:cs typeface="Arial MT"/>
              </a:rPr>
              <a:t> </a:t>
            </a:r>
            <a:r>
              <a:rPr lang="en-US" sz="2600" dirty="0">
                <a:latin typeface="Arial MT"/>
                <a:cs typeface="Arial MT"/>
              </a:rPr>
              <a:t>of)</a:t>
            </a:r>
            <a:r>
              <a:rPr lang="en-US" sz="2600" spc="-20" dirty="0">
                <a:latin typeface="Arial MT"/>
                <a:cs typeface="Arial MT"/>
              </a:rPr>
              <a:t> </a:t>
            </a:r>
            <a:r>
              <a:rPr lang="en-US" sz="2600" spc="-50" dirty="0">
                <a:latin typeface="Arial MT"/>
                <a:cs typeface="Arial MT"/>
              </a:rPr>
              <a:t>a </a:t>
            </a:r>
            <a:r>
              <a:rPr lang="en-US" sz="2600" dirty="0">
                <a:latin typeface="Arial MT"/>
                <a:cs typeface="Arial MT"/>
              </a:rPr>
              <a:t>database</a:t>
            </a:r>
            <a:r>
              <a:rPr lang="en-US" sz="2600" spc="-114" dirty="0">
                <a:latin typeface="Arial MT"/>
                <a:cs typeface="Arial MT"/>
              </a:rPr>
              <a:t> </a:t>
            </a:r>
            <a:r>
              <a:rPr lang="en-US" sz="2600" spc="-10" dirty="0">
                <a:latin typeface="Arial MT"/>
                <a:cs typeface="Arial MT"/>
              </a:rPr>
              <a:t>schema.</a:t>
            </a:r>
            <a:endParaRPr lang="en-US" sz="2600" dirty="0">
              <a:latin typeface="Arial MT"/>
              <a:cs typeface="Arial MT"/>
            </a:endParaRPr>
          </a:p>
          <a:p>
            <a:pPr marL="469900" indent="-457200">
              <a:spcBef>
                <a:spcPts val="285"/>
              </a:spcBef>
              <a:buSzPct val="58928"/>
              <a:tabLst>
                <a:tab pos="354965" algn="l"/>
              </a:tabLst>
            </a:pPr>
            <a:r>
              <a:rPr lang="en-US" dirty="0">
                <a:latin typeface="Arial MT"/>
                <a:cs typeface="Arial MT"/>
              </a:rPr>
              <a:t>Schema</a:t>
            </a:r>
            <a:r>
              <a:rPr lang="en-US" spc="-105" dirty="0">
                <a:latin typeface="Arial MT"/>
                <a:cs typeface="Arial MT"/>
              </a:rPr>
              <a:t> </a:t>
            </a:r>
            <a:r>
              <a:rPr lang="en-US" spc="-10" dirty="0">
                <a:latin typeface="Arial MT"/>
                <a:cs typeface="Arial MT"/>
              </a:rPr>
              <a:t>Construct:</a:t>
            </a:r>
            <a:endParaRPr lang="en-US" dirty="0">
              <a:latin typeface="Arial MT"/>
              <a:cs typeface="Arial MT"/>
            </a:endParaRPr>
          </a:p>
          <a:p>
            <a:pPr marL="926465" marR="47625" lvl="1" indent="-457200">
              <a:spcBef>
                <a:spcPts val="670"/>
              </a:spcBef>
              <a:buSzPct val="53846"/>
              <a:tabLst>
                <a:tab pos="756285" algn="l"/>
              </a:tabLst>
            </a:pPr>
            <a:r>
              <a:rPr lang="en-US" sz="2600" dirty="0">
                <a:latin typeface="Arial MT"/>
                <a:cs typeface="Arial MT"/>
              </a:rPr>
              <a:t>A</a:t>
            </a:r>
            <a:r>
              <a:rPr lang="en-US" sz="2600" spc="-25" dirty="0">
                <a:latin typeface="Arial MT"/>
                <a:cs typeface="Arial MT"/>
              </a:rPr>
              <a:t> </a:t>
            </a:r>
            <a:r>
              <a:rPr lang="en-US" sz="2600" b="1" i="1" dirty="0">
                <a:cs typeface="Arial"/>
              </a:rPr>
              <a:t>component</a:t>
            </a:r>
            <a:r>
              <a:rPr lang="en-US" sz="2600" b="1" i="1" spc="-55" dirty="0">
                <a:cs typeface="Arial"/>
              </a:rPr>
              <a:t> </a:t>
            </a:r>
            <a:r>
              <a:rPr lang="en-US" sz="2600" dirty="0">
                <a:latin typeface="Arial MT"/>
                <a:cs typeface="Arial MT"/>
              </a:rPr>
              <a:t>of</a:t>
            </a:r>
            <a:r>
              <a:rPr lang="en-US" sz="2600" spc="-15" dirty="0">
                <a:latin typeface="Arial MT"/>
                <a:cs typeface="Arial MT"/>
              </a:rPr>
              <a:t> </a:t>
            </a:r>
            <a:r>
              <a:rPr lang="en-US" sz="2600" dirty="0">
                <a:latin typeface="Arial MT"/>
                <a:cs typeface="Arial MT"/>
              </a:rPr>
              <a:t>the</a:t>
            </a:r>
            <a:r>
              <a:rPr lang="en-US" sz="2600" spc="-10" dirty="0">
                <a:latin typeface="Arial MT"/>
                <a:cs typeface="Arial MT"/>
              </a:rPr>
              <a:t> </a:t>
            </a:r>
            <a:r>
              <a:rPr lang="en-US" sz="2600" dirty="0">
                <a:latin typeface="Arial MT"/>
                <a:cs typeface="Arial MT"/>
              </a:rPr>
              <a:t>schema</a:t>
            </a:r>
            <a:r>
              <a:rPr lang="en-US" sz="2600" spc="-50" dirty="0">
                <a:latin typeface="Arial MT"/>
                <a:cs typeface="Arial MT"/>
              </a:rPr>
              <a:t> </a:t>
            </a:r>
            <a:r>
              <a:rPr lang="en-US" sz="2600" dirty="0">
                <a:latin typeface="Arial MT"/>
                <a:cs typeface="Arial MT"/>
              </a:rPr>
              <a:t>or</a:t>
            </a:r>
            <a:r>
              <a:rPr lang="en-US" sz="2600" spc="-20" dirty="0">
                <a:latin typeface="Arial MT"/>
                <a:cs typeface="Arial MT"/>
              </a:rPr>
              <a:t> </a:t>
            </a:r>
            <a:r>
              <a:rPr lang="en-US" sz="2600" dirty="0">
                <a:latin typeface="Arial MT"/>
                <a:cs typeface="Arial MT"/>
              </a:rPr>
              <a:t>an</a:t>
            </a:r>
            <a:r>
              <a:rPr lang="en-US" sz="2600" spc="-15" dirty="0">
                <a:latin typeface="Arial MT"/>
                <a:cs typeface="Arial MT"/>
              </a:rPr>
              <a:t> </a:t>
            </a:r>
            <a:r>
              <a:rPr lang="en-US" sz="2600" dirty="0">
                <a:latin typeface="Arial MT"/>
                <a:cs typeface="Arial MT"/>
              </a:rPr>
              <a:t>object</a:t>
            </a:r>
            <a:r>
              <a:rPr lang="en-US" sz="2600" spc="-35" dirty="0">
                <a:latin typeface="Arial MT"/>
                <a:cs typeface="Arial MT"/>
              </a:rPr>
              <a:t> </a:t>
            </a:r>
            <a:r>
              <a:rPr lang="en-US" sz="2600" spc="-10" dirty="0">
                <a:latin typeface="Arial MT"/>
                <a:cs typeface="Arial MT"/>
              </a:rPr>
              <a:t>within </a:t>
            </a:r>
            <a:r>
              <a:rPr lang="en-US" sz="2600" dirty="0">
                <a:latin typeface="Arial MT"/>
                <a:cs typeface="Arial MT"/>
              </a:rPr>
              <a:t>the</a:t>
            </a:r>
            <a:r>
              <a:rPr lang="en-US" sz="2600" spc="-35" dirty="0">
                <a:latin typeface="Arial MT"/>
                <a:cs typeface="Arial MT"/>
              </a:rPr>
              <a:t> </a:t>
            </a:r>
            <a:r>
              <a:rPr lang="en-US" sz="2600" dirty="0">
                <a:latin typeface="Arial MT"/>
                <a:cs typeface="Arial MT"/>
              </a:rPr>
              <a:t>schema,</a:t>
            </a:r>
            <a:r>
              <a:rPr lang="en-US" sz="2600" spc="-45" dirty="0">
                <a:latin typeface="Arial MT"/>
                <a:cs typeface="Arial MT"/>
              </a:rPr>
              <a:t> </a:t>
            </a:r>
            <a:r>
              <a:rPr lang="en-US" sz="2600" dirty="0">
                <a:latin typeface="Arial MT"/>
                <a:cs typeface="Arial MT"/>
              </a:rPr>
              <a:t>e.g.,</a:t>
            </a:r>
            <a:r>
              <a:rPr lang="en-US" sz="2600" spc="-30" dirty="0">
                <a:latin typeface="Arial MT"/>
                <a:cs typeface="Arial MT"/>
              </a:rPr>
              <a:t> </a:t>
            </a:r>
            <a:r>
              <a:rPr lang="en-US" sz="2600" dirty="0">
                <a:latin typeface="Arial MT"/>
                <a:cs typeface="Arial MT"/>
              </a:rPr>
              <a:t>STUDENT,</a:t>
            </a:r>
            <a:r>
              <a:rPr lang="en-US" sz="2600" spc="-70" dirty="0">
                <a:latin typeface="Arial MT"/>
                <a:cs typeface="Arial MT"/>
              </a:rPr>
              <a:t> </a:t>
            </a:r>
            <a:r>
              <a:rPr lang="en-US" sz="2600" spc="-10" dirty="0">
                <a:latin typeface="Arial MT"/>
                <a:cs typeface="Arial MT"/>
              </a:rPr>
              <a:t>COURSE.</a:t>
            </a:r>
            <a:endParaRPr lang="en-US" sz="2600" dirty="0">
              <a:latin typeface="Arial MT"/>
              <a:cs typeface="Arial MT"/>
            </a:endParaRPr>
          </a:p>
          <a:p>
            <a:endParaRPr lang="en-US" dirty="0"/>
          </a:p>
        </p:txBody>
      </p:sp>
    </p:spTree>
    <p:extLst>
      <p:ext uri="{BB962C8B-B14F-4D97-AF65-F5344CB8AC3E}">
        <p14:creationId xmlns="" xmlns:p14="http://schemas.microsoft.com/office/powerpoint/2010/main" val="123009188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9961B7-49AF-4BDA-A72E-E0172D0835CE}"/>
              </a:ext>
            </a:extLst>
          </p:cNvPr>
          <p:cNvSpPr>
            <a:spLocks noGrp="1"/>
          </p:cNvSpPr>
          <p:nvPr>
            <p:ph type="title"/>
          </p:nvPr>
        </p:nvSpPr>
        <p:spPr/>
        <p:txBody>
          <a:bodyPr/>
          <a:lstStyle/>
          <a:p>
            <a:r>
              <a:rPr lang="en-US" dirty="0"/>
              <a:t>Schema</a:t>
            </a:r>
          </a:p>
        </p:txBody>
      </p:sp>
      <p:sp>
        <p:nvSpPr>
          <p:cNvPr id="3" name="Content Placeholder 2">
            <a:extLst>
              <a:ext uri="{FF2B5EF4-FFF2-40B4-BE49-F238E27FC236}">
                <a16:creationId xmlns="" xmlns:a16="http://schemas.microsoft.com/office/drawing/2014/main" id="{1DE5D20F-85DC-4F97-B554-21C2E4622165}"/>
              </a:ext>
            </a:extLst>
          </p:cNvPr>
          <p:cNvSpPr>
            <a:spLocks noGrp="1"/>
          </p:cNvSpPr>
          <p:nvPr>
            <p:ph idx="1"/>
          </p:nvPr>
        </p:nvSpPr>
        <p:spPr/>
        <p:txBody>
          <a:bodyPr/>
          <a:lstStyle/>
          <a:p>
            <a:r>
              <a:rPr lang="en-US" dirty="0"/>
              <a:t>Schema Diagram</a:t>
            </a:r>
          </a:p>
        </p:txBody>
      </p:sp>
      <p:pic>
        <p:nvPicPr>
          <p:cNvPr id="4" name="Picture 3">
            <a:extLst>
              <a:ext uri="{FF2B5EF4-FFF2-40B4-BE49-F238E27FC236}">
                <a16:creationId xmlns="" xmlns:a16="http://schemas.microsoft.com/office/drawing/2014/main" id="{B0C9CC37-A0B9-4262-B821-F46D851822BF}"/>
              </a:ext>
            </a:extLst>
          </p:cNvPr>
          <p:cNvPicPr>
            <a:picLocks noChangeAspect="1"/>
          </p:cNvPicPr>
          <p:nvPr/>
        </p:nvPicPr>
        <p:blipFill>
          <a:blip r:embed="rId2"/>
          <a:stretch>
            <a:fillRect/>
          </a:stretch>
        </p:blipFill>
        <p:spPr>
          <a:xfrm>
            <a:off x="3239452" y="2573020"/>
            <a:ext cx="6200775" cy="4143375"/>
          </a:xfrm>
          <a:prstGeom prst="rect">
            <a:avLst/>
          </a:prstGeom>
        </p:spPr>
      </p:pic>
    </p:spTree>
    <p:extLst>
      <p:ext uri="{BB962C8B-B14F-4D97-AF65-F5344CB8AC3E}">
        <p14:creationId xmlns="" xmlns:p14="http://schemas.microsoft.com/office/powerpoint/2010/main" val="214728256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E5714A-20C8-4EC5-AA12-5763A424D5C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464975CB-7D4F-41E3-93EE-8276AAC84D77}"/>
              </a:ext>
            </a:extLst>
          </p:cNvPr>
          <p:cNvSpPr>
            <a:spLocks noGrp="1"/>
          </p:cNvSpPr>
          <p:nvPr>
            <p:ph idx="1"/>
          </p:nvPr>
        </p:nvSpPr>
        <p:spPr/>
        <p:txBody>
          <a:bodyPr>
            <a:normAutofit/>
          </a:bodyPr>
          <a:lstStyle/>
          <a:p>
            <a:r>
              <a:rPr lang="en-US" b="1" dirty="0"/>
              <a:t>What is the primary purpose of a database schema?</a:t>
            </a:r>
            <a:endParaRPr lang="en-US" dirty="0"/>
          </a:p>
          <a:p>
            <a:r>
              <a:rPr lang="en-US" dirty="0"/>
              <a:t>A) To execute SQL queries</a:t>
            </a:r>
          </a:p>
          <a:p>
            <a:r>
              <a:rPr lang="en-US" dirty="0"/>
              <a:t>B) To secure the database</a:t>
            </a:r>
          </a:p>
          <a:p>
            <a:r>
              <a:rPr lang="en-US" dirty="0"/>
              <a:t>C) To define the structure of the database</a:t>
            </a:r>
          </a:p>
          <a:p>
            <a:r>
              <a:rPr lang="en-US" dirty="0"/>
              <a:t>D) To create graphical user interfaces</a:t>
            </a:r>
          </a:p>
          <a:p>
            <a:pPr marL="0" indent="0">
              <a:buNone/>
            </a:pPr>
            <a:endParaRPr lang="en-US" dirty="0"/>
          </a:p>
          <a:p>
            <a:endParaRPr lang="en-US" dirty="0"/>
          </a:p>
        </p:txBody>
      </p:sp>
    </p:spTree>
    <p:extLst>
      <p:ext uri="{BB962C8B-B14F-4D97-AF65-F5344CB8AC3E}">
        <p14:creationId xmlns="" xmlns:p14="http://schemas.microsoft.com/office/powerpoint/2010/main" val="18445830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E5714A-20C8-4EC5-AA12-5763A424D5C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464975CB-7D4F-41E3-93EE-8276AAC84D77}"/>
              </a:ext>
            </a:extLst>
          </p:cNvPr>
          <p:cNvSpPr>
            <a:spLocks noGrp="1"/>
          </p:cNvSpPr>
          <p:nvPr>
            <p:ph idx="1"/>
          </p:nvPr>
        </p:nvSpPr>
        <p:spPr/>
        <p:txBody>
          <a:bodyPr>
            <a:normAutofit/>
          </a:bodyPr>
          <a:lstStyle/>
          <a:p>
            <a:r>
              <a:rPr lang="en-US" b="1" dirty="0"/>
              <a:t>What is the primary purpose of a database schema?</a:t>
            </a:r>
            <a:endParaRPr lang="en-US" dirty="0"/>
          </a:p>
          <a:p>
            <a:r>
              <a:rPr lang="en-US" dirty="0"/>
              <a:t>A) To execute SQL queries</a:t>
            </a:r>
          </a:p>
          <a:p>
            <a:r>
              <a:rPr lang="en-US" dirty="0"/>
              <a:t>B) To secure the database</a:t>
            </a:r>
          </a:p>
          <a:p>
            <a:r>
              <a:rPr lang="en-US" dirty="0">
                <a:solidFill>
                  <a:srgbClr val="00B050"/>
                </a:solidFill>
              </a:rPr>
              <a:t>C) To define the structure of the database</a:t>
            </a:r>
          </a:p>
          <a:p>
            <a:r>
              <a:rPr lang="en-US" dirty="0"/>
              <a:t>D) To create graphical user interfaces</a:t>
            </a:r>
          </a:p>
          <a:p>
            <a:pPr marL="0" indent="0">
              <a:buNone/>
            </a:pPr>
            <a:endParaRPr lang="en-US" dirty="0"/>
          </a:p>
          <a:p>
            <a:endParaRPr lang="en-US" dirty="0"/>
          </a:p>
        </p:txBody>
      </p:sp>
    </p:spTree>
    <p:extLst>
      <p:ext uri="{BB962C8B-B14F-4D97-AF65-F5344CB8AC3E}">
        <p14:creationId xmlns="" xmlns:p14="http://schemas.microsoft.com/office/powerpoint/2010/main" val="294735495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AAD765-FD39-4D73-8C31-536183A5B7BD}"/>
              </a:ext>
            </a:extLst>
          </p:cNvPr>
          <p:cNvSpPr>
            <a:spLocks noGrp="1"/>
          </p:cNvSpPr>
          <p:nvPr>
            <p:ph type="title"/>
          </p:nvPr>
        </p:nvSpPr>
        <p:spPr/>
        <p:txBody>
          <a:bodyPr/>
          <a:lstStyle/>
          <a:p>
            <a:r>
              <a:rPr lang="en-US" dirty="0"/>
              <a:t>Instance</a:t>
            </a:r>
          </a:p>
        </p:txBody>
      </p:sp>
      <p:sp>
        <p:nvSpPr>
          <p:cNvPr id="3" name="Content Placeholder 2">
            <a:extLst>
              <a:ext uri="{FF2B5EF4-FFF2-40B4-BE49-F238E27FC236}">
                <a16:creationId xmlns="" xmlns:a16="http://schemas.microsoft.com/office/drawing/2014/main" id="{78B18470-FC19-4BC8-A5A7-BF63158D2576}"/>
              </a:ext>
            </a:extLst>
          </p:cNvPr>
          <p:cNvSpPr>
            <a:spLocks noGrp="1"/>
          </p:cNvSpPr>
          <p:nvPr>
            <p:ph idx="1"/>
          </p:nvPr>
        </p:nvSpPr>
        <p:spPr/>
        <p:txBody>
          <a:bodyPr>
            <a:normAutofit fontScale="92500"/>
          </a:bodyPr>
          <a:lstStyle/>
          <a:p>
            <a:pPr marL="469900" indent="-457200">
              <a:spcBef>
                <a:spcPts val="775"/>
              </a:spcBef>
              <a:buSzPct val="58928"/>
              <a:tabLst>
                <a:tab pos="354965" algn="l"/>
              </a:tabLst>
            </a:pPr>
            <a:r>
              <a:rPr lang="en-US" dirty="0">
                <a:latin typeface="Arial MT"/>
                <a:cs typeface="Arial MT"/>
              </a:rPr>
              <a:t>Database</a:t>
            </a:r>
            <a:r>
              <a:rPr lang="en-US" spc="-125" dirty="0">
                <a:latin typeface="Arial MT"/>
                <a:cs typeface="Arial MT"/>
              </a:rPr>
              <a:t> </a:t>
            </a:r>
            <a:r>
              <a:rPr lang="en-US" spc="-10" dirty="0">
                <a:latin typeface="Arial MT"/>
                <a:cs typeface="Arial MT"/>
              </a:rPr>
              <a:t>State:</a:t>
            </a:r>
            <a:endParaRPr lang="en-US" dirty="0">
              <a:latin typeface="Arial MT"/>
              <a:cs typeface="Arial MT"/>
            </a:endParaRPr>
          </a:p>
          <a:p>
            <a:pPr marL="926465" marR="376555" lvl="1" indent="-457200">
              <a:spcBef>
                <a:spcPts val="635"/>
              </a:spcBef>
              <a:buSzPct val="53846"/>
              <a:tabLst>
                <a:tab pos="756285" algn="l"/>
              </a:tabLst>
            </a:pPr>
            <a:r>
              <a:rPr lang="en-US" sz="2600" dirty="0">
                <a:latin typeface="Arial MT"/>
                <a:cs typeface="Arial MT"/>
              </a:rPr>
              <a:t>The</a:t>
            </a:r>
            <a:r>
              <a:rPr lang="en-US" sz="2600" spc="-60" dirty="0">
                <a:latin typeface="Arial MT"/>
                <a:cs typeface="Arial MT"/>
              </a:rPr>
              <a:t> </a:t>
            </a:r>
            <a:r>
              <a:rPr lang="en-US" sz="2600" dirty="0">
                <a:latin typeface="Arial MT"/>
                <a:cs typeface="Arial MT"/>
              </a:rPr>
              <a:t>actual</a:t>
            </a:r>
            <a:r>
              <a:rPr lang="en-US" sz="2600" spc="-45" dirty="0">
                <a:latin typeface="Arial MT"/>
                <a:cs typeface="Arial MT"/>
              </a:rPr>
              <a:t> </a:t>
            </a:r>
            <a:r>
              <a:rPr lang="en-US" sz="2600" dirty="0">
                <a:latin typeface="Arial MT"/>
                <a:cs typeface="Arial MT"/>
              </a:rPr>
              <a:t>data</a:t>
            </a:r>
            <a:r>
              <a:rPr lang="en-US" sz="2600" spc="-45" dirty="0">
                <a:latin typeface="Arial MT"/>
                <a:cs typeface="Arial MT"/>
              </a:rPr>
              <a:t> </a:t>
            </a:r>
            <a:r>
              <a:rPr lang="en-US" sz="2600" dirty="0">
                <a:latin typeface="Arial MT"/>
                <a:cs typeface="Arial MT"/>
              </a:rPr>
              <a:t>stored</a:t>
            </a:r>
            <a:r>
              <a:rPr lang="en-US" sz="2600" spc="-45" dirty="0">
                <a:latin typeface="Arial MT"/>
                <a:cs typeface="Arial MT"/>
              </a:rPr>
              <a:t> </a:t>
            </a:r>
            <a:r>
              <a:rPr lang="en-US" sz="2600" dirty="0">
                <a:latin typeface="Arial MT"/>
                <a:cs typeface="Arial MT"/>
              </a:rPr>
              <a:t>in</a:t>
            </a:r>
            <a:r>
              <a:rPr lang="en-US" sz="2600" spc="-45" dirty="0">
                <a:latin typeface="Arial MT"/>
                <a:cs typeface="Arial MT"/>
              </a:rPr>
              <a:t> </a:t>
            </a:r>
            <a:r>
              <a:rPr lang="en-US" sz="2600" dirty="0">
                <a:latin typeface="Arial MT"/>
                <a:cs typeface="Arial MT"/>
              </a:rPr>
              <a:t>a</a:t>
            </a:r>
            <a:r>
              <a:rPr lang="en-US" sz="2600" spc="-40" dirty="0">
                <a:latin typeface="Arial MT"/>
                <a:cs typeface="Arial MT"/>
              </a:rPr>
              <a:t> </a:t>
            </a:r>
            <a:r>
              <a:rPr lang="en-US" sz="2600" dirty="0">
                <a:latin typeface="Arial MT"/>
                <a:cs typeface="Arial MT"/>
              </a:rPr>
              <a:t>database</a:t>
            </a:r>
            <a:r>
              <a:rPr lang="en-US" sz="2600" spc="-55" dirty="0">
                <a:latin typeface="Arial MT"/>
                <a:cs typeface="Arial MT"/>
              </a:rPr>
              <a:t> </a:t>
            </a:r>
            <a:r>
              <a:rPr lang="en-US" sz="2600" dirty="0">
                <a:latin typeface="Arial MT"/>
                <a:cs typeface="Arial MT"/>
              </a:rPr>
              <a:t>at</a:t>
            </a:r>
            <a:r>
              <a:rPr lang="en-US" sz="2600" spc="-40" dirty="0">
                <a:latin typeface="Arial MT"/>
                <a:cs typeface="Arial MT"/>
              </a:rPr>
              <a:t> </a:t>
            </a:r>
            <a:r>
              <a:rPr lang="en-US" sz="2600" spc="-50" dirty="0">
                <a:latin typeface="Arial MT"/>
                <a:cs typeface="Arial MT"/>
              </a:rPr>
              <a:t>a </a:t>
            </a:r>
            <a:r>
              <a:rPr lang="en-US" sz="2600" b="1" i="1" dirty="0">
                <a:cs typeface="Arial"/>
              </a:rPr>
              <a:t>particular</a:t>
            </a:r>
            <a:r>
              <a:rPr lang="en-US" sz="2600" b="1" i="1" spc="-30" dirty="0">
                <a:cs typeface="Arial"/>
              </a:rPr>
              <a:t> </a:t>
            </a:r>
            <a:r>
              <a:rPr lang="en-US" sz="2600" b="1" i="1" dirty="0">
                <a:cs typeface="Arial"/>
              </a:rPr>
              <a:t>moment</a:t>
            </a:r>
            <a:r>
              <a:rPr lang="en-US" sz="2600" b="1" i="1" spc="-55" dirty="0">
                <a:cs typeface="Arial"/>
              </a:rPr>
              <a:t> </a:t>
            </a:r>
            <a:r>
              <a:rPr lang="en-US" sz="2600" b="1" i="1" dirty="0">
                <a:cs typeface="Arial"/>
              </a:rPr>
              <a:t>in</a:t>
            </a:r>
            <a:r>
              <a:rPr lang="en-US" sz="2600" b="1" i="1" spc="-30" dirty="0">
                <a:cs typeface="Arial"/>
              </a:rPr>
              <a:t> </a:t>
            </a:r>
            <a:r>
              <a:rPr lang="en-US" sz="2600" b="1" i="1" dirty="0">
                <a:cs typeface="Arial"/>
              </a:rPr>
              <a:t>time</a:t>
            </a:r>
            <a:r>
              <a:rPr lang="en-US" sz="2600" dirty="0">
                <a:latin typeface="Arial MT"/>
                <a:cs typeface="Arial MT"/>
              </a:rPr>
              <a:t>.</a:t>
            </a:r>
            <a:r>
              <a:rPr lang="en-US" sz="2600" spc="-30" dirty="0">
                <a:latin typeface="Arial MT"/>
                <a:cs typeface="Arial MT"/>
              </a:rPr>
              <a:t> </a:t>
            </a:r>
            <a:r>
              <a:rPr lang="en-US" sz="2600" dirty="0">
                <a:latin typeface="Arial MT"/>
                <a:cs typeface="Arial MT"/>
              </a:rPr>
              <a:t>This</a:t>
            </a:r>
            <a:r>
              <a:rPr lang="en-US" sz="2600" spc="-40" dirty="0">
                <a:latin typeface="Arial MT"/>
                <a:cs typeface="Arial MT"/>
              </a:rPr>
              <a:t> </a:t>
            </a:r>
            <a:r>
              <a:rPr lang="en-US" sz="2600" dirty="0">
                <a:latin typeface="Arial MT"/>
                <a:cs typeface="Arial MT"/>
              </a:rPr>
              <a:t>includes</a:t>
            </a:r>
            <a:r>
              <a:rPr lang="en-US" sz="2600" spc="-50" dirty="0">
                <a:latin typeface="Arial MT"/>
                <a:cs typeface="Arial MT"/>
              </a:rPr>
              <a:t> </a:t>
            </a:r>
            <a:r>
              <a:rPr lang="en-US" sz="2600" spc="-25" dirty="0">
                <a:latin typeface="Arial MT"/>
                <a:cs typeface="Arial MT"/>
              </a:rPr>
              <a:t>the </a:t>
            </a:r>
            <a:r>
              <a:rPr lang="en-US" sz="2600" dirty="0">
                <a:latin typeface="Arial MT"/>
                <a:cs typeface="Arial MT"/>
              </a:rPr>
              <a:t>collection</a:t>
            </a:r>
            <a:r>
              <a:rPr lang="en-US" sz="2600" spc="-55" dirty="0">
                <a:latin typeface="Arial MT"/>
                <a:cs typeface="Arial MT"/>
              </a:rPr>
              <a:t> </a:t>
            </a:r>
            <a:r>
              <a:rPr lang="en-US" sz="2600" dirty="0">
                <a:latin typeface="Arial MT"/>
                <a:cs typeface="Arial MT"/>
              </a:rPr>
              <a:t>of</a:t>
            </a:r>
            <a:r>
              <a:rPr lang="en-US" sz="2600" spc="-35" dirty="0">
                <a:latin typeface="Arial MT"/>
                <a:cs typeface="Arial MT"/>
              </a:rPr>
              <a:t> </a:t>
            </a:r>
            <a:r>
              <a:rPr lang="en-US" sz="2600" dirty="0">
                <a:latin typeface="Arial MT"/>
                <a:cs typeface="Arial MT"/>
              </a:rPr>
              <a:t>all</a:t>
            </a:r>
            <a:r>
              <a:rPr lang="en-US" sz="2600" spc="-35" dirty="0">
                <a:latin typeface="Arial MT"/>
                <a:cs typeface="Arial MT"/>
              </a:rPr>
              <a:t> </a:t>
            </a:r>
            <a:r>
              <a:rPr lang="en-US" sz="2600" dirty="0">
                <a:latin typeface="Arial MT"/>
                <a:cs typeface="Arial MT"/>
              </a:rPr>
              <a:t>the</a:t>
            </a:r>
            <a:r>
              <a:rPr lang="en-US" sz="2600" spc="-20" dirty="0">
                <a:latin typeface="Arial MT"/>
                <a:cs typeface="Arial MT"/>
              </a:rPr>
              <a:t> </a:t>
            </a:r>
            <a:r>
              <a:rPr lang="en-US" sz="2600" dirty="0">
                <a:latin typeface="Arial MT"/>
                <a:cs typeface="Arial MT"/>
              </a:rPr>
              <a:t>data</a:t>
            </a:r>
            <a:r>
              <a:rPr lang="en-US" sz="2600" spc="-35" dirty="0">
                <a:latin typeface="Arial MT"/>
                <a:cs typeface="Arial MT"/>
              </a:rPr>
              <a:t> </a:t>
            </a:r>
            <a:r>
              <a:rPr lang="en-US" sz="2600" dirty="0">
                <a:latin typeface="Arial MT"/>
                <a:cs typeface="Arial MT"/>
              </a:rPr>
              <a:t>in</a:t>
            </a:r>
            <a:r>
              <a:rPr lang="en-US" sz="2600" spc="-35" dirty="0">
                <a:latin typeface="Arial MT"/>
                <a:cs typeface="Arial MT"/>
              </a:rPr>
              <a:t> </a:t>
            </a:r>
            <a:r>
              <a:rPr lang="en-US" sz="2600" dirty="0">
                <a:latin typeface="Arial MT"/>
                <a:cs typeface="Arial MT"/>
              </a:rPr>
              <a:t>the</a:t>
            </a:r>
            <a:r>
              <a:rPr lang="en-US" sz="2600" spc="-20" dirty="0">
                <a:latin typeface="Arial MT"/>
                <a:cs typeface="Arial MT"/>
              </a:rPr>
              <a:t> </a:t>
            </a:r>
            <a:r>
              <a:rPr lang="en-US" sz="2600" spc="-10" dirty="0">
                <a:latin typeface="Arial MT"/>
                <a:cs typeface="Arial MT"/>
              </a:rPr>
              <a:t>database.</a:t>
            </a:r>
            <a:endParaRPr lang="en-US" sz="2600" dirty="0">
              <a:latin typeface="Arial MT"/>
              <a:cs typeface="Arial MT"/>
            </a:endParaRPr>
          </a:p>
          <a:p>
            <a:pPr marL="926465" marR="97790" lvl="1" indent="-457200">
              <a:spcBef>
                <a:spcPts val="625"/>
              </a:spcBef>
              <a:buSzPct val="53846"/>
              <a:tabLst>
                <a:tab pos="756285" algn="l"/>
              </a:tabLst>
            </a:pPr>
            <a:r>
              <a:rPr lang="en-US" sz="2600" dirty="0">
                <a:latin typeface="Arial MT"/>
                <a:cs typeface="Arial MT"/>
              </a:rPr>
              <a:t>Also</a:t>
            </a:r>
            <a:r>
              <a:rPr lang="en-US" sz="2600" spc="-45" dirty="0">
                <a:latin typeface="Arial MT"/>
                <a:cs typeface="Arial MT"/>
              </a:rPr>
              <a:t> </a:t>
            </a:r>
            <a:r>
              <a:rPr lang="en-US" sz="2600" dirty="0">
                <a:latin typeface="Arial MT"/>
                <a:cs typeface="Arial MT"/>
              </a:rPr>
              <a:t>called</a:t>
            </a:r>
            <a:r>
              <a:rPr lang="en-US" sz="2600" spc="-40" dirty="0">
                <a:latin typeface="Arial MT"/>
                <a:cs typeface="Arial MT"/>
              </a:rPr>
              <a:t> </a:t>
            </a:r>
            <a:r>
              <a:rPr lang="en-US" sz="2600" dirty="0">
                <a:latin typeface="Arial MT"/>
                <a:cs typeface="Arial MT"/>
              </a:rPr>
              <a:t>database</a:t>
            </a:r>
            <a:r>
              <a:rPr lang="en-US" sz="2600" spc="-30" dirty="0">
                <a:latin typeface="Arial MT"/>
                <a:cs typeface="Arial MT"/>
              </a:rPr>
              <a:t> </a:t>
            </a:r>
            <a:r>
              <a:rPr lang="en-US" sz="2600" dirty="0">
                <a:latin typeface="Arial MT"/>
                <a:cs typeface="Arial MT"/>
              </a:rPr>
              <a:t>instance</a:t>
            </a:r>
            <a:r>
              <a:rPr lang="en-US" sz="2600" spc="-55" dirty="0">
                <a:latin typeface="Arial MT"/>
                <a:cs typeface="Arial MT"/>
              </a:rPr>
              <a:t> </a:t>
            </a:r>
            <a:r>
              <a:rPr lang="en-US" sz="2600" dirty="0">
                <a:latin typeface="Arial MT"/>
                <a:cs typeface="Arial MT"/>
              </a:rPr>
              <a:t>(or</a:t>
            </a:r>
            <a:r>
              <a:rPr lang="en-US" sz="2600" spc="-40" dirty="0">
                <a:latin typeface="Arial MT"/>
                <a:cs typeface="Arial MT"/>
              </a:rPr>
              <a:t> </a:t>
            </a:r>
            <a:r>
              <a:rPr lang="en-US" sz="2600" dirty="0">
                <a:latin typeface="Arial MT"/>
                <a:cs typeface="Arial MT"/>
              </a:rPr>
              <a:t>occurrence</a:t>
            </a:r>
            <a:r>
              <a:rPr lang="en-US" sz="2600" spc="-50" dirty="0">
                <a:latin typeface="Arial MT"/>
                <a:cs typeface="Arial MT"/>
              </a:rPr>
              <a:t> </a:t>
            </a:r>
            <a:r>
              <a:rPr lang="en-US" sz="2600" spc="-25" dirty="0">
                <a:latin typeface="Arial MT"/>
                <a:cs typeface="Arial MT"/>
              </a:rPr>
              <a:t>or </a:t>
            </a:r>
            <a:r>
              <a:rPr lang="en-US" sz="2600" spc="-10" dirty="0">
                <a:latin typeface="Arial MT"/>
                <a:cs typeface="Arial MT"/>
              </a:rPr>
              <a:t>snapshot).</a:t>
            </a:r>
            <a:endParaRPr lang="en-US" sz="2600" dirty="0">
              <a:latin typeface="Arial MT"/>
              <a:cs typeface="Arial MT"/>
            </a:endParaRPr>
          </a:p>
          <a:p>
            <a:pPr marL="1269365" marR="5080" lvl="2" indent="-342900">
              <a:spcBef>
                <a:spcPts val="585"/>
              </a:spcBef>
              <a:buSzPct val="50000"/>
              <a:tabLst>
                <a:tab pos="1155700" algn="l"/>
                <a:tab pos="3763010" algn="l"/>
              </a:tabLst>
            </a:pPr>
            <a:r>
              <a:rPr lang="en-US" sz="2400" dirty="0">
                <a:latin typeface="Arial MT"/>
                <a:cs typeface="Arial MT"/>
              </a:rPr>
              <a:t>The</a:t>
            </a:r>
            <a:r>
              <a:rPr lang="en-US" sz="2400" spc="-55" dirty="0">
                <a:latin typeface="Arial MT"/>
                <a:cs typeface="Arial MT"/>
              </a:rPr>
              <a:t> </a:t>
            </a:r>
            <a:r>
              <a:rPr lang="en-US" sz="2400" dirty="0">
                <a:latin typeface="Arial MT"/>
                <a:cs typeface="Arial MT"/>
              </a:rPr>
              <a:t>term</a:t>
            </a:r>
            <a:r>
              <a:rPr lang="en-US" sz="2400" spc="-55" dirty="0">
                <a:latin typeface="Arial MT"/>
                <a:cs typeface="Arial MT"/>
              </a:rPr>
              <a:t> </a:t>
            </a:r>
            <a:r>
              <a:rPr lang="en-US" sz="2400" i="1" spc="-10" dirty="0">
                <a:cs typeface="Arial"/>
              </a:rPr>
              <a:t>instance</a:t>
            </a:r>
            <a:r>
              <a:rPr lang="en-US" sz="2400" i="1" dirty="0">
                <a:cs typeface="Arial"/>
              </a:rPr>
              <a:t>	</a:t>
            </a:r>
            <a:r>
              <a:rPr lang="en-US" sz="2400" dirty="0">
                <a:latin typeface="Arial MT"/>
                <a:cs typeface="Arial MT"/>
              </a:rPr>
              <a:t>is</a:t>
            </a:r>
            <a:r>
              <a:rPr lang="en-US" sz="2400" spc="-45" dirty="0">
                <a:latin typeface="Arial MT"/>
                <a:cs typeface="Arial MT"/>
              </a:rPr>
              <a:t> </a:t>
            </a:r>
            <a:r>
              <a:rPr lang="en-US" sz="2400" dirty="0">
                <a:latin typeface="Arial MT"/>
                <a:cs typeface="Arial MT"/>
              </a:rPr>
              <a:t>also</a:t>
            </a:r>
            <a:r>
              <a:rPr lang="en-US" sz="2400" spc="-30" dirty="0">
                <a:latin typeface="Arial MT"/>
                <a:cs typeface="Arial MT"/>
              </a:rPr>
              <a:t> </a:t>
            </a:r>
            <a:r>
              <a:rPr lang="en-US" sz="2400" dirty="0">
                <a:latin typeface="Arial MT"/>
                <a:cs typeface="Arial MT"/>
              </a:rPr>
              <a:t>applied</a:t>
            </a:r>
            <a:r>
              <a:rPr lang="en-US" sz="2400" spc="-15" dirty="0">
                <a:latin typeface="Arial MT"/>
                <a:cs typeface="Arial MT"/>
              </a:rPr>
              <a:t> </a:t>
            </a:r>
            <a:r>
              <a:rPr lang="en-US" sz="2400" dirty="0">
                <a:latin typeface="Arial MT"/>
                <a:cs typeface="Arial MT"/>
              </a:rPr>
              <a:t>to</a:t>
            </a:r>
            <a:r>
              <a:rPr lang="en-US" sz="2400" spc="-45" dirty="0">
                <a:latin typeface="Arial MT"/>
                <a:cs typeface="Arial MT"/>
              </a:rPr>
              <a:t> </a:t>
            </a:r>
            <a:r>
              <a:rPr lang="en-US" sz="2400" spc="-10" dirty="0">
                <a:latin typeface="Arial MT"/>
                <a:cs typeface="Arial MT"/>
              </a:rPr>
              <a:t>individual 	</a:t>
            </a:r>
            <a:r>
              <a:rPr lang="en-US" sz="2400" dirty="0">
                <a:latin typeface="Arial MT"/>
                <a:cs typeface="Arial MT"/>
              </a:rPr>
              <a:t>database</a:t>
            </a:r>
            <a:r>
              <a:rPr lang="en-US" sz="2400" spc="-85" dirty="0">
                <a:latin typeface="Arial MT"/>
                <a:cs typeface="Arial MT"/>
              </a:rPr>
              <a:t> </a:t>
            </a:r>
            <a:r>
              <a:rPr lang="en-US" sz="2400" dirty="0">
                <a:latin typeface="Arial MT"/>
                <a:cs typeface="Arial MT"/>
              </a:rPr>
              <a:t>components,</a:t>
            </a:r>
            <a:r>
              <a:rPr lang="en-US" sz="2400" spc="-80" dirty="0">
                <a:latin typeface="Arial MT"/>
                <a:cs typeface="Arial MT"/>
              </a:rPr>
              <a:t> </a:t>
            </a:r>
            <a:r>
              <a:rPr lang="en-US" sz="2400" dirty="0">
                <a:latin typeface="Arial MT"/>
                <a:cs typeface="Arial MT"/>
              </a:rPr>
              <a:t>e.g.</a:t>
            </a:r>
            <a:r>
              <a:rPr lang="en-US" sz="2400" spc="-80" dirty="0">
                <a:latin typeface="Arial MT"/>
                <a:cs typeface="Arial MT"/>
              </a:rPr>
              <a:t> </a:t>
            </a:r>
            <a:r>
              <a:rPr lang="en-US" sz="2400" i="1" dirty="0">
                <a:cs typeface="Arial"/>
              </a:rPr>
              <a:t>record</a:t>
            </a:r>
            <a:r>
              <a:rPr lang="en-US" sz="2400" i="1" spc="-80" dirty="0">
                <a:cs typeface="Arial"/>
              </a:rPr>
              <a:t> </a:t>
            </a:r>
            <a:r>
              <a:rPr lang="en-US" sz="2400" i="1" dirty="0">
                <a:cs typeface="Arial"/>
              </a:rPr>
              <a:t>instance,</a:t>
            </a:r>
            <a:r>
              <a:rPr lang="en-US" sz="2400" i="1" spc="-80" dirty="0">
                <a:cs typeface="Arial"/>
              </a:rPr>
              <a:t> </a:t>
            </a:r>
            <a:r>
              <a:rPr lang="en-US" sz="2400" i="1" spc="-10" dirty="0">
                <a:cs typeface="Arial"/>
              </a:rPr>
              <a:t>table 	</a:t>
            </a:r>
            <a:r>
              <a:rPr lang="en-US" sz="2400" i="1" dirty="0">
                <a:cs typeface="Arial"/>
              </a:rPr>
              <a:t>instance,</a:t>
            </a:r>
            <a:r>
              <a:rPr lang="en-US" sz="2400" i="1" spc="-55" dirty="0">
                <a:cs typeface="Arial"/>
              </a:rPr>
              <a:t> </a:t>
            </a:r>
            <a:r>
              <a:rPr lang="en-US" sz="2400" i="1" dirty="0">
                <a:cs typeface="Arial"/>
              </a:rPr>
              <a:t>entity</a:t>
            </a:r>
            <a:r>
              <a:rPr lang="en-US" sz="2400" i="1" spc="-55" dirty="0">
                <a:cs typeface="Arial"/>
              </a:rPr>
              <a:t> </a:t>
            </a:r>
            <a:r>
              <a:rPr lang="en-US" sz="2400" i="1" spc="-10" dirty="0">
                <a:cs typeface="Arial"/>
              </a:rPr>
              <a:t>instance</a:t>
            </a:r>
            <a:endParaRPr lang="en-US" sz="2400" dirty="0">
              <a:cs typeface="Arial"/>
            </a:endParaRPr>
          </a:p>
          <a:p>
            <a:endParaRPr lang="en-US" dirty="0"/>
          </a:p>
        </p:txBody>
      </p:sp>
    </p:spTree>
    <p:extLst>
      <p:ext uri="{BB962C8B-B14F-4D97-AF65-F5344CB8AC3E}">
        <p14:creationId xmlns="" xmlns:p14="http://schemas.microsoft.com/office/powerpoint/2010/main" val="176471709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87FB48-C956-40DC-AF55-E0820BEFC6B1}"/>
              </a:ext>
            </a:extLst>
          </p:cNvPr>
          <p:cNvSpPr>
            <a:spLocks noGrp="1"/>
          </p:cNvSpPr>
          <p:nvPr>
            <p:ph type="title"/>
          </p:nvPr>
        </p:nvSpPr>
        <p:spPr/>
        <p:txBody>
          <a:bodyPr/>
          <a:lstStyle/>
          <a:p>
            <a:r>
              <a:rPr lang="en-US" dirty="0"/>
              <a:t>Data Independence</a:t>
            </a:r>
          </a:p>
        </p:txBody>
      </p:sp>
      <p:sp>
        <p:nvSpPr>
          <p:cNvPr id="3" name="Content Placeholder 2">
            <a:extLst>
              <a:ext uri="{FF2B5EF4-FFF2-40B4-BE49-F238E27FC236}">
                <a16:creationId xmlns="" xmlns:a16="http://schemas.microsoft.com/office/drawing/2014/main" id="{C8C5EAAB-14C8-400D-BD35-844B65BAD769}"/>
              </a:ext>
            </a:extLst>
          </p:cNvPr>
          <p:cNvSpPr>
            <a:spLocks noGrp="1"/>
          </p:cNvSpPr>
          <p:nvPr>
            <p:ph idx="1"/>
          </p:nvPr>
        </p:nvSpPr>
        <p:spPr/>
        <p:txBody>
          <a:bodyPr>
            <a:normAutofit fontScale="70000" lnSpcReduction="20000"/>
          </a:bodyPr>
          <a:lstStyle/>
          <a:p>
            <a:pPr>
              <a:lnSpc>
                <a:spcPct val="170000"/>
              </a:lnSpc>
            </a:pPr>
            <a:r>
              <a:rPr lang="en-US" dirty="0"/>
              <a:t>The capacity to change the schema at one level of a database system without having to change the schema at the next higher level.</a:t>
            </a:r>
          </a:p>
          <a:p>
            <a:pPr marL="927100" lvl="1" indent="-457200">
              <a:lnSpc>
                <a:spcPct val="170000"/>
              </a:lnSpc>
              <a:spcBef>
                <a:spcPts val="440"/>
              </a:spcBef>
              <a:buSzPct val="58928"/>
              <a:tabLst>
                <a:tab pos="354965" algn="l"/>
              </a:tabLst>
            </a:pPr>
            <a:r>
              <a:rPr lang="en-US" b="1" dirty="0">
                <a:cs typeface="Arial"/>
              </a:rPr>
              <a:t>Logical</a:t>
            </a:r>
            <a:r>
              <a:rPr lang="en-US" b="1" spc="-80" dirty="0">
                <a:cs typeface="Arial"/>
              </a:rPr>
              <a:t> </a:t>
            </a:r>
            <a:r>
              <a:rPr lang="en-US" b="1" dirty="0">
                <a:cs typeface="Arial"/>
              </a:rPr>
              <a:t>Data</a:t>
            </a:r>
            <a:r>
              <a:rPr lang="en-US" b="1" spc="-80" dirty="0">
                <a:cs typeface="Arial"/>
              </a:rPr>
              <a:t> </a:t>
            </a:r>
            <a:r>
              <a:rPr lang="en-US" b="1" spc="-10" dirty="0">
                <a:cs typeface="Arial"/>
              </a:rPr>
              <a:t>Independence:</a:t>
            </a:r>
            <a:endParaRPr lang="en-US" dirty="0">
              <a:cs typeface="Arial"/>
            </a:endParaRPr>
          </a:p>
          <a:p>
            <a:pPr marL="1383665" marR="534670" lvl="2" indent="-457200">
              <a:lnSpc>
                <a:spcPct val="170000"/>
              </a:lnSpc>
              <a:spcBef>
                <a:spcPts val="675"/>
              </a:spcBef>
              <a:buSzPct val="53846"/>
              <a:tabLst>
                <a:tab pos="756285" algn="l"/>
              </a:tabLst>
            </a:pPr>
            <a:r>
              <a:rPr lang="en-US" sz="2200" dirty="0">
                <a:latin typeface="Arial MT"/>
                <a:cs typeface="Arial MT"/>
              </a:rPr>
              <a:t>The</a:t>
            </a:r>
            <a:r>
              <a:rPr lang="en-US" sz="2200" spc="-70" dirty="0">
                <a:latin typeface="Arial MT"/>
                <a:cs typeface="Arial MT"/>
              </a:rPr>
              <a:t> </a:t>
            </a:r>
            <a:r>
              <a:rPr lang="en-US" sz="2200" dirty="0">
                <a:latin typeface="Arial MT"/>
                <a:cs typeface="Arial MT"/>
              </a:rPr>
              <a:t>capacity</a:t>
            </a:r>
            <a:r>
              <a:rPr lang="en-US" sz="2200" spc="-60" dirty="0">
                <a:latin typeface="Arial MT"/>
                <a:cs typeface="Arial MT"/>
              </a:rPr>
              <a:t> </a:t>
            </a:r>
            <a:r>
              <a:rPr lang="en-US" sz="2200" dirty="0">
                <a:latin typeface="Arial MT"/>
                <a:cs typeface="Arial MT"/>
              </a:rPr>
              <a:t>to</a:t>
            </a:r>
            <a:r>
              <a:rPr lang="en-US" sz="2200" spc="-50" dirty="0">
                <a:latin typeface="Arial MT"/>
                <a:cs typeface="Arial MT"/>
              </a:rPr>
              <a:t> </a:t>
            </a:r>
            <a:r>
              <a:rPr lang="en-US" sz="2200" dirty="0">
                <a:latin typeface="Arial MT"/>
                <a:cs typeface="Arial MT"/>
              </a:rPr>
              <a:t>change</a:t>
            </a:r>
            <a:r>
              <a:rPr lang="en-US" sz="2200" spc="-65" dirty="0">
                <a:latin typeface="Arial MT"/>
                <a:cs typeface="Arial MT"/>
              </a:rPr>
              <a:t> </a:t>
            </a:r>
            <a:r>
              <a:rPr lang="en-US" sz="2200" dirty="0">
                <a:latin typeface="Arial MT"/>
                <a:cs typeface="Arial MT"/>
              </a:rPr>
              <a:t>the</a:t>
            </a:r>
            <a:r>
              <a:rPr lang="en-US" sz="2200" spc="-40" dirty="0">
                <a:latin typeface="Arial MT"/>
                <a:cs typeface="Arial MT"/>
              </a:rPr>
              <a:t> </a:t>
            </a:r>
            <a:r>
              <a:rPr lang="en-US" sz="2200" dirty="0">
                <a:latin typeface="Arial MT"/>
                <a:cs typeface="Arial MT"/>
              </a:rPr>
              <a:t>conceptual</a:t>
            </a:r>
            <a:r>
              <a:rPr lang="en-US" sz="2200" spc="-75" dirty="0">
                <a:latin typeface="Arial MT"/>
                <a:cs typeface="Arial MT"/>
              </a:rPr>
              <a:t> </a:t>
            </a:r>
            <a:r>
              <a:rPr lang="en-US" sz="2200" spc="-10" dirty="0">
                <a:latin typeface="Arial MT"/>
                <a:cs typeface="Arial MT"/>
              </a:rPr>
              <a:t>schema 	</a:t>
            </a:r>
            <a:r>
              <a:rPr lang="en-US" sz="2200" dirty="0">
                <a:latin typeface="Arial MT"/>
                <a:cs typeface="Arial MT"/>
              </a:rPr>
              <a:t>without</a:t>
            </a:r>
            <a:r>
              <a:rPr lang="en-US" sz="2200" spc="-55" dirty="0">
                <a:latin typeface="Arial MT"/>
                <a:cs typeface="Arial MT"/>
              </a:rPr>
              <a:t> </a:t>
            </a:r>
            <a:r>
              <a:rPr lang="en-US" sz="2200" dirty="0">
                <a:latin typeface="Arial MT"/>
                <a:cs typeface="Arial MT"/>
              </a:rPr>
              <a:t>having</a:t>
            </a:r>
            <a:r>
              <a:rPr lang="en-US" sz="2200" spc="-55" dirty="0">
                <a:latin typeface="Arial MT"/>
                <a:cs typeface="Arial MT"/>
              </a:rPr>
              <a:t> </a:t>
            </a:r>
            <a:r>
              <a:rPr lang="en-US" sz="2200" dirty="0">
                <a:latin typeface="Arial MT"/>
                <a:cs typeface="Arial MT"/>
              </a:rPr>
              <a:t>to</a:t>
            </a:r>
            <a:r>
              <a:rPr lang="en-US" sz="2200" spc="-35" dirty="0">
                <a:latin typeface="Arial MT"/>
                <a:cs typeface="Arial MT"/>
              </a:rPr>
              <a:t> </a:t>
            </a:r>
            <a:r>
              <a:rPr lang="en-US" sz="2200" dirty="0">
                <a:latin typeface="Arial MT"/>
                <a:cs typeface="Arial MT"/>
              </a:rPr>
              <a:t>change</a:t>
            </a:r>
            <a:r>
              <a:rPr lang="en-US" sz="2200" spc="-50" dirty="0">
                <a:latin typeface="Arial MT"/>
                <a:cs typeface="Arial MT"/>
              </a:rPr>
              <a:t> </a:t>
            </a:r>
            <a:r>
              <a:rPr lang="en-US" sz="2200" dirty="0">
                <a:latin typeface="Arial MT"/>
                <a:cs typeface="Arial MT"/>
              </a:rPr>
              <a:t>the</a:t>
            </a:r>
            <a:r>
              <a:rPr lang="en-US" sz="2200" spc="-45" dirty="0">
                <a:latin typeface="Arial MT"/>
                <a:cs typeface="Arial MT"/>
              </a:rPr>
              <a:t> </a:t>
            </a:r>
            <a:r>
              <a:rPr lang="en-US" sz="2200" dirty="0">
                <a:latin typeface="Arial MT"/>
                <a:cs typeface="Arial MT"/>
              </a:rPr>
              <a:t>external</a:t>
            </a:r>
            <a:r>
              <a:rPr lang="en-US" sz="2200" spc="-55" dirty="0">
                <a:latin typeface="Arial MT"/>
                <a:cs typeface="Arial MT"/>
              </a:rPr>
              <a:t> </a:t>
            </a:r>
            <a:r>
              <a:rPr lang="en-US" sz="2200" spc="-10" dirty="0">
                <a:latin typeface="Arial MT"/>
                <a:cs typeface="Arial MT"/>
              </a:rPr>
              <a:t>schemas 	</a:t>
            </a:r>
            <a:r>
              <a:rPr lang="en-US" sz="2200" dirty="0">
                <a:latin typeface="Arial MT"/>
                <a:cs typeface="Arial MT"/>
              </a:rPr>
              <a:t>and</a:t>
            </a:r>
            <a:r>
              <a:rPr lang="en-US" sz="2200" spc="-55" dirty="0">
                <a:latin typeface="Arial MT"/>
                <a:cs typeface="Arial MT"/>
              </a:rPr>
              <a:t> </a:t>
            </a:r>
            <a:r>
              <a:rPr lang="en-US" sz="2200" dirty="0">
                <a:latin typeface="Arial MT"/>
                <a:cs typeface="Arial MT"/>
              </a:rPr>
              <a:t>their</a:t>
            </a:r>
            <a:r>
              <a:rPr lang="en-US" sz="2200" spc="-55" dirty="0">
                <a:latin typeface="Arial MT"/>
                <a:cs typeface="Arial MT"/>
              </a:rPr>
              <a:t> </a:t>
            </a:r>
            <a:r>
              <a:rPr lang="en-US" sz="2200" dirty="0">
                <a:latin typeface="Arial MT"/>
                <a:cs typeface="Arial MT"/>
              </a:rPr>
              <a:t>associated</a:t>
            </a:r>
            <a:r>
              <a:rPr lang="en-US" sz="2200" spc="-75" dirty="0">
                <a:latin typeface="Arial MT"/>
                <a:cs typeface="Arial MT"/>
              </a:rPr>
              <a:t> </a:t>
            </a:r>
            <a:r>
              <a:rPr lang="en-US" sz="2200" dirty="0">
                <a:latin typeface="Arial MT"/>
                <a:cs typeface="Arial MT"/>
              </a:rPr>
              <a:t>application</a:t>
            </a:r>
            <a:r>
              <a:rPr lang="en-US" sz="2200" spc="-70" dirty="0">
                <a:latin typeface="Arial MT"/>
                <a:cs typeface="Arial MT"/>
              </a:rPr>
              <a:t> </a:t>
            </a:r>
            <a:r>
              <a:rPr lang="en-US" sz="2200" spc="-10" dirty="0">
                <a:latin typeface="Arial MT"/>
                <a:cs typeface="Arial MT"/>
              </a:rPr>
              <a:t>programs.</a:t>
            </a:r>
            <a:endParaRPr lang="en-US" sz="2200" dirty="0">
              <a:latin typeface="Arial MT"/>
              <a:cs typeface="Arial MT"/>
            </a:endParaRPr>
          </a:p>
          <a:p>
            <a:pPr marL="927100" lvl="1" indent="-457200">
              <a:lnSpc>
                <a:spcPct val="170000"/>
              </a:lnSpc>
              <a:spcBef>
                <a:spcPts val="280"/>
              </a:spcBef>
              <a:buSzPct val="58928"/>
              <a:tabLst>
                <a:tab pos="354965" algn="l"/>
              </a:tabLst>
            </a:pPr>
            <a:r>
              <a:rPr lang="en-US" b="1" dirty="0">
                <a:cs typeface="Arial"/>
              </a:rPr>
              <a:t>Physical</a:t>
            </a:r>
            <a:r>
              <a:rPr lang="en-US" b="1" spc="-70" dirty="0">
                <a:cs typeface="Arial"/>
              </a:rPr>
              <a:t> </a:t>
            </a:r>
            <a:r>
              <a:rPr lang="en-US" b="1" dirty="0">
                <a:cs typeface="Arial"/>
              </a:rPr>
              <a:t>Data</a:t>
            </a:r>
            <a:r>
              <a:rPr lang="en-US" b="1" spc="-85" dirty="0">
                <a:cs typeface="Arial"/>
              </a:rPr>
              <a:t> </a:t>
            </a:r>
            <a:r>
              <a:rPr lang="en-US" b="1" spc="-10" dirty="0">
                <a:cs typeface="Arial"/>
              </a:rPr>
              <a:t>Independence:</a:t>
            </a:r>
            <a:endParaRPr lang="en-US" dirty="0">
              <a:cs typeface="Arial"/>
            </a:endParaRPr>
          </a:p>
          <a:p>
            <a:pPr marL="1383665" marR="203835" lvl="2" indent="-457200">
              <a:lnSpc>
                <a:spcPct val="170000"/>
              </a:lnSpc>
              <a:spcBef>
                <a:spcPts val="675"/>
              </a:spcBef>
              <a:buSzPct val="53846"/>
              <a:tabLst>
                <a:tab pos="756285" algn="l"/>
              </a:tabLst>
            </a:pPr>
            <a:r>
              <a:rPr lang="en-US" sz="2200" dirty="0">
                <a:latin typeface="Arial MT"/>
                <a:cs typeface="Arial MT"/>
              </a:rPr>
              <a:t>The</a:t>
            </a:r>
            <a:r>
              <a:rPr lang="en-US" sz="2200" spc="-60" dirty="0">
                <a:latin typeface="Arial MT"/>
                <a:cs typeface="Arial MT"/>
              </a:rPr>
              <a:t> </a:t>
            </a:r>
            <a:r>
              <a:rPr lang="en-US" sz="2200" dirty="0">
                <a:latin typeface="Arial MT"/>
                <a:cs typeface="Arial MT"/>
              </a:rPr>
              <a:t>capacity</a:t>
            </a:r>
            <a:r>
              <a:rPr lang="en-US" sz="2200" spc="-50" dirty="0">
                <a:latin typeface="Arial MT"/>
                <a:cs typeface="Arial MT"/>
              </a:rPr>
              <a:t> </a:t>
            </a:r>
            <a:r>
              <a:rPr lang="en-US" sz="2200" dirty="0">
                <a:latin typeface="Arial MT"/>
                <a:cs typeface="Arial MT"/>
              </a:rPr>
              <a:t>to</a:t>
            </a:r>
            <a:r>
              <a:rPr lang="en-US" sz="2200" spc="-45" dirty="0">
                <a:latin typeface="Arial MT"/>
                <a:cs typeface="Arial MT"/>
              </a:rPr>
              <a:t> </a:t>
            </a:r>
            <a:r>
              <a:rPr lang="en-US" sz="2200" dirty="0">
                <a:latin typeface="Arial MT"/>
                <a:cs typeface="Arial MT"/>
              </a:rPr>
              <a:t>change</a:t>
            </a:r>
            <a:r>
              <a:rPr lang="en-US" sz="2200" spc="-55" dirty="0">
                <a:latin typeface="Arial MT"/>
                <a:cs typeface="Arial MT"/>
              </a:rPr>
              <a:t> </a:t>
            </a:r>
            <a:r>
              <a:rPr lang="en-US" sz="2200" dirty="0">
                <a:latin typeface="Arial MT"/>
                <a:cs typeface="Arial MT"/>
              </a:rPr>
              <a:t>the</a:t>
            </a:r>
            <a:r>
              <a:rPr lang="en-US" sz="2200" spc="-30" dirty="0">
                <a:latin typeface="Arial MT"/>
                <a:cs typeface="Arial MT"/>
              </a:rPr>
              <a:t> </a:t>
            </a:r>
            <a:r>
              <a:rPr lang="en-US" sz="2200" dirty="0">
                <a:latin typeface="Arial MT"/>
                <a:cs typeface="Arial MT"/>
              </a:rPr>
              <a:t>internal</a:t>
            </a:r>
            <a:r>
              <a:rPr lang="en-US" sz="2200" spc="-45" dirty="0">
                <a:latin typeface="Arial MT"/>
                <a:cs typeface="Arial MT"/>
              </a:rPr>
              <a:t> </a:t>
            </a:r>
            <a:r>
              <a:rPr lang="en-US" sz="2200" spc="-10" dirty="0">
                <a:latin typeface="Arial MT"/>
                <a:cs typeface="Arial MT"/>
              </a:rPr>
              <a:t>schema </a:t>
            </a:r>
            <a:r>
              <a:rPr lang="en-US" sz="2200" dirty="0">
                <a:latin typeface="Arial MT"/>
                <a:cs typeface="Arial MT"/>
              </a:rPr>
              <a:t>without</a:t>
            </a:r>
            <a:r>
              <a:rPr lang="en-US" sz="2200" spc="-65" dirty="0">
                <a:latin typeface="Arial MT"/>
                <a:cs typeface="Arial MT"/>
              </a:rPr>
              <a:t> </a:t>
            </a:r>
            <a:r>
              <a:rPr lang="en-US" sz="2200" dirty="0">
                <a:latin typeface="Arial MT"/>
                <a:cs typeface="Arial MT"/>
              </a:rPr>
              <a:t>having</a:t>
            </a:r>
            <a:r>
              <a:rPr lang="en-US" sz="2200" spc="-65" dirty="0">
                <a:latin typeface="Arial MT"/>
                <a:cs typeface="Arial MT"/>
              </a:rPr>
              <a:t> </a:t>
            </a:r>
            <a:r>
              <a:rPr lang="en-US" sz="2200" dirty="0">
                <a:latin typeface="Arial MT"/>
                <a:cs typeface="Arial MT"/>
              </a:rPr>
              <a:t>to</a:t>
            </a:r>
            <a:r>
              <a:rPr lang="en-US" sz="2200" spc="-50" dirty="0">
                <a:latin typeface="Arial MT"/>
                <a:cs typeface="Arial MT"/>
              </a:rPr>
              <a:t> </a:t>
            </a:r>
            <a:r>
              <a:rPr lang="en-US" sz="2200" dirty="0">
                <a:latin typeface="Arial MT"/>
                <a:cs typeface="Arial MT"/>
              </a:rPr>
              <a:t>change</a:t>
            </a:r>
            <a:r>
              <a:rPr lang="en-US" sz="2200" spc="-60" dirty="0">
                <a:latin typeface="Arial MT"/>
                <a:cs typeface="Arial MT"/>
              </a:rPr>
              <a:t> </a:t>
            </a:r>
            <a:r>
              <a:rPr lang="en-US" sz="2200" dirty="0">
                <a:latin typeface="Arial MT"/>
                <a:cs typeface="Arial MT"/>
              </a:rPr>
              <a:t>the</a:t>
            </a:r>
            <a:r>
              <a:rPr lang="en-US" sz="2200" spc="-55" dirty="0">
                <a:latin typeface="Arial MT"/>
                <a:cs typeface="Arial MT"/>
              </a:rPr>
              <a:t> </a:t>
            </a:r>
            <a:r>
              <a:rPr lang="en-US" sz="2200" dirty="0">
                <a:latin typeface="Arial MT"/>
                <a:cs typeface="Arial MT"/>
              </a:rPr>
              <a:t>conceptual</a:t>
            </a:r>
            <a:r>
              <a:rPr lang="en-US" sz="2200" spc="-75" dirty="0">
                <a:latin typeface="Arial MT"/>
                <a:cs typeface="Arial MT"/>
              </a:rPr>
              <a:t> </a:t>
            </a:r>
            <a:r>
              <a:rPr lang="en-US" sz="2200" spc="-10" dirty="0">
                <a:latin typeface="Arial MT"/>
                <a:cs typeface="Arial MT"/>
              </a:rPr>
              <a:t>schema.</a:t>
            </a:r>
            <a:endParaRPr lang="en-US" sz="2200" dirty="0">
              <a:latin typeface="Arial MT"/>
              <a:cs typeface="Arial MT"/>
            </a:endParaRPr>
          </a:p>
          <a:p>
            <a:pPr marL="1383665" marR="5080" lvl="2" indent="-457200">
              <a:lnSpc>
                <a:spcPct val="170000"/>
              </a:lnSpc>
              <a:spcBef>
                <a:spcPts val="580"/>
              </a:spcBef>
              <a:buSzPct val="53846"/>
              <a:tabLst>
                <a:tab pos="756285" algn="l"/>
              </a:tabLst>
            </a:pPr>
            <a:r>
              <a:rPr lang="en-US" sz="2200" dirty="0">
                <a:latin typeface="Arial MT"/>
                <a:cs typeface="Arial MT"/>
              </a:rPr>
              <a:t>For</a:t>
            </a:r>
            <a:r>
              <a:rPr lang="en-US" sz="2200" spc="-45" dirty="0">
                <a:latin typeface="Arial MT"/>
                <a:cs typeface="Arial MT"/>
              </a:rPr>
              <a:t> </a:t>
            </a:r>
            <a:r>
              <a:rPr lang="en-US" sz="2200" dirty="0">
                <a:latin typeface="Arial MT"/>
                <a:cs typeface="Arial MT"/>
              </a:rPr>
              <a:t>example,</a:t>
            </a:r>
            <a:r>
              <a:rPr lang="en-US" sz="2200" spc="-40" dirty="0">
                <a:latin typeface="Arial MT"/>
                <a:cs typeface="Arial MT"/>
              </a:rPr>
              <a:t> </a:t>
            </a:r>
            <a:r>
              <a:rPr lang="en-US" sz="2200" dirty="0">
                <a:latin typeface="Arial MT"/>
                <a:cs typeface="Arial MT"/>
              </a:rPr>
              <a:t>the</a:t>
            </a:r>
            <a:r>
              <a:rPr lang="en-US" sz="2200" spc="-10" dirty="0">
                <a:latin typeface="Arial MT"/>
                <a:cs typeface="Arial MT"/>
              </a:rPr>
              <a:t> </a:t>
            </a:r>
            <a:r>
              <a:rPr lang="en-US" sz="2200" dirty="0">
                <a:latin typeface="Arial MT"/>
                <a:cs typeface="Arial MT"/>
              </a:rPr>
              <a:t>internal</a:t>
            </a:r>
            <a:r>
              <a:rPr lang="en-US" sz="2200" spc="-30" dirty="0">
                <a:latin typeface="Arial MT"/>
                <a:cs typeface="Arial MT"/>
              </a:rPr>
              <a:t> </a:t>
            </a:r>
            <a:r>
              <a:rPr lang="en-US" sz="2200" dirty="0">
                <a:latin typeface="Arial MT"/>
                <a:cs typeface="Arial MT"/>
              </a:rPr>
              <a:t>schema</a:t>
            </a:r>
            <a:r>
              <a:rPr lang="en-US" sz="2200" spc="-40" dirty="0">
                <a:latin typeface="Arial MT"/>
                <a:cs typeface="Arial MT"/>
              </a:rPr>
              <a:t> </a:t>
            </a:r>
            <a:r>
              <a:rPr lang="en-US" sz="2200" dirty="0">
                <a:latin typeface="Arial MT"/>
                <a:cs typeface="Arial MT"/>
              </a:rPr>
              <a:t>may</a:t>
            </a:r>
            <a:r>
              <a:rPr lang="en-US" sz="2200" spc="-25" dirty="0">
                <a:latin typeface="Arial MT"/>
                <a:cs typeface="Arial MT"/>
              </a:rPr>
              <a:t> </a:t>
            </a:r>
            <a:r>
              <a:rPr lang="en-US" sz="2200" dirty="0">
                <a:latin typeface="Arial MT"/>
                <a:cs typeface="Arial MT"/>
              </a:rPr>
              <a:t>be</a:t>
            </a:r>
            <a:r>
              <a:rPr lang="en-US" sz="2200" spc="-15" dirty="0">
                <a:latin typeface="Arial MT"/>
                <a:cs typeface="Arial MT"/>
              </a:rPr>
              <a:t> </a:t>
            </a:r>
            <a:r>
              <a:rPr lang="en-US" sz="2200" spc="-10" dirty="0">
                <a:latin typeface="Arial MT"/>
                <a:cs typeface="Arial MT"/>
              </a:rPr>
              <a:t>changed </a:t>
            </a:r>
            <a:r>
              <a:rPr lang="en-US" sz="2200" dirty="0">
                <a:latin typeface="Arial MT"/>
                <a:cs typeface="Arial MT"/>
              </a:rPr>
              <a:t>when</a:t>
            </a:r>
            <a:r>
              <a:rPr lang="en-US" sz="2200" spc="-40" dirty="0">
                <a:latin typeface="Arial MT"/>
                <a:cs typeface="Arial MT"/>
              </a:rPr>
              <a:t> </a:t>
            </a:r>
            <a:r>
              <a:rPr lang="en-US" sz="2200" dirty="0">
                <a:latin typeface="Arial MT"/>
                <a:cs typeface="Arial MT"/>
              </a:rPr>
              <a:t>certain</a:t>
            </a:r>
            <a:r>
              <a:rPr lang="en-US" sz="2200" spc="-25" dirty="0">
                <a:latin typeface="Arial MT"/>
                <a:cs typeface="Arial MT"/>
              </a:rPr>
              <a:t> </a:t>
            </a:r>
            <a:r>
              <a:rPr lang="en-US" sz="2200" dirty="0">
                <a:latin typeface="Arial MT"/>
                <a:cs typeface="Arial MT"/>
              </a:rPr>
              <a:t>file</a:t>
            </a:r>
            <a:r>
              <a:rPr lang="en-US" sz="2200" spc="-20" dirty="0">
                <a:latin typeface="Arial MT"/>
                <a:cs typeface="Arial MT"/>
              </a:rPr>
              <a:t> </a:t>
            </a:r>
            <a:r>
              <a:rPr lang="en-US" sz="2200" dirty="0">
                <a:latin typeface="Arial MT"/>
                <a:cs typeface="Arial MT"/>
              </a:rPr>
              <a:t>structures</a:t>
            </a:r>
            <a:r>
              <a:rPr lang="en-US" sz="2200" spc="-35" dirty="0">
                <a:latin typeface="Arial MT"/>
                <a:cs typeface="Arial MT"/>
              </a:rPr>
              <a:t> </a:t>
            </a:r>
            <a:r>
              <a:rPr lang="en-US" sz="2200" dirty="0">
                <a:latin typeface="Arial MT"/>
                <a:cs typeface="Arial MT"/>
              </a:rPr>
              <a:t>are</a:t>
            </a:r>
            <a:r>
              <a:rPr lang="en-US" sz="2200" spc="-20" dirty="0">
                <a:latin typeface="Arial MT"/>
                <a:cs typeface="Arial MT"/>
              </a:rPr>
              <a:t> </a:t>
            </a:r>
            <a:r>
              <a:rPr lang="en-US" sz="2200" dirty="0">
                <a:latin typeface="Arial MT"/>
                <a:cs typeface="Arial MT"/>
              </a:rPr>
              <a:t>reorganized</a:t>
            </a:r>
            <a:r>
              <a:rPr lang="en-US" sz="2200" spc="-50" dirty="0">
                <a:latin typeface="Arial MT"/>
                <a:cs typeface="Arial MT"/>
              </a:rPr>
              <a:t> </a:t>
            </a:r>
            <a:r>
              <a:rPr lang="en-US" sz="2200" dirty="0">
                <a:latin typeface="Arial MT"/>
                <a:cs typeface="Arial MT"/>
              </a:rPr>
              <a:t>or</a:t>
            </a:r>
            <a:r>
              <a:rPr lang="en-US" sz="2200" spc="-20" dirty="0">
                <a:latin typeface="Arial MT"/>
                <a:cs typeface="Arial MT"/>
              </a:rPr>
              <a:t> </a:t>
            </a:r>
            <a:r>
              <a:rPr lang="en-US" sz="2200" spc="-25" dirty="0">
                <a:latin typeface="Arial MT"/>
                <a:cs typeface="Arial MT"/>
              </a:rPr>
              <a:t>new </a:t>
            </a:r>
            <a:r>
              <a:rPr lang="en-US" sz="2200" dirty="0">
                <a:latin typeface="Arial MT"/>
                <a:cs typeface="Arial MT"/>
              </a:rPr>
              <a:t>indexes</a:t>
            </a:r>
            <a:r>
              <a:rPr lang="en-US" sz="2200" spc="-60" dirty="0">
                <a:latin typeface="Arial MT"/>
                <a:cs typeface="Arial MT"/>
              </a:rPr>
              <a:t> </a:t>
            </a:r>
            <a:r>
              <a:rPr lang="en-US" sz="2200" dirty="0">
                <a:latin typeface="Arial MT"/>
                <a:cs typeface="Arial MT"/>
              </a:rPr>
              <a:t>are</a:t>
            </a:r>
            <a:r>
              <a:rPr lang="en-US" sz="2200" spc="-35" dirty="0">
                <a:latin typeface="Arial MT"/>
                <a:cs typeface="Arial MT"/>
              </a:rPr>
              <a:t> </a:t>
            </a:r>
            <a:r>
              <a:rPr lang="en-US" sz="2200" dirty="0">
                <a:latin typeface="Arial MT"/>
                <a:cs typeface="Arial MT"/>
              </a:rPr>
              <a:t>created</a:t>
            </a:r>
            <a:r>
              <a:rPr lang="en-US" sz="2200" spc="-30" dirty="0">
                <a:latin typeface="Arial MT"/>
                <a:cs typeface="Arial MT"/>
              </a:rPr>
              <a:t> </a:t>
            </a:r>
            <a:r>
              <a:rPr lang="en-US" sz="2200" dirty="0">
                <a:latin typeface="Arial MT"/>
                <a:cs typeface="Arial MT"/>
              </a:rPr>
              <a:t>to</a:t>
            </a:r>
            <a:r>
              <a:rPr lang="en-US" sz="2200" spc="-40" dirty="0">
                <a:latin typeface="Arial MT"/>
                <a:cs typeface="Arial MT"/>
              </a:rPr>
              <a:t> </a:t>
            </a:r>
            <a:r>
              <a:rPr lang="en-US" sz="2200" dirty="0">
                <a:latin typeface="Arial MT"/>
                <a:cs typeface="Arial MT"/>
              </a:rPr>
              <a:t>improve</a:t>
            </a:r>
            <a:r>
              <a:rPr lang="en-US" sz="2200" spc="-50" dirty="0">
                <a:latin typeface="Arial MT"/>
                <a:cs typeface="Arial MT"/>
              </a:rPr>
              <a:t> </a:t>
            </a:r>
            <a:r>
              <a:rPr lang="en-US" sz="2200" spc="-10" dirty="0">
                <a:latin typeface="Arial MT"/>
                <a:cs typeface="Arial MT"/>
              </a:rPr>
              <a:t>database performance</a:t>
            </a:r>
            <a:endParaRPr lang="en-US" sz="2200" dirty="0">
              <a:latin typeface="Arial MT"/>
              <a:cs typeface="Arial MT"/>
            </a:endParaRPr>
          </a:p>
          <a:p>
            <a:pPr>
              <a:lnSpc>
                <a:spcPct val="170000"/>
              </a:lnSpc>
            </a:pPr>
            <a:endParaRPr lang="en-US" dirty="0"/>
          </a:p>
        </p:txBody>
      </p:sp>
    </p:spTree>
    <p:extLst>
      <p:ext uri="{BB962C8B-B14F-4D97-AF65-F5344CB8AC3E}">
        <p14:creationId xmlns="" xmlns:p14="http://schemas.microsoft.com/office/powerpoint/2010/main" val="49815840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87FB48-C956-40DC-AF55-E0820BEFC6B1}"/>
              </a:ext>
            </a:extLst>
          </p:cNvPr>
          <p:cNvSpPr>
            <a:spLocks noGrp="1"/>
          </p:cNvSpPr>
          <p:nvPr>
            <p:ph type="title"/>
          </p:nvPr>
        </p:nvSpPr>
        <p:spPr/>
        <p:txBody>
          <a:bodyPr/>
          <a:lstStyle/>
          <a:p>
            <a:r>
              <a:rPr lang="en-US" dirty="0"/>
              <a:t>Data Independence</a:t>
            </a:r>
          </a:p>
        </p:txBody>
      </p:sp>
      <p:sp>
        <p:nvSpPr>
          <p:cNvPr id="3" name="Content Placeholder 2">
            <a:extLst>
              <a:ext uri="{FF2B5EF4-FFF2-40B4-BE49-F238E27FC236}">
                <a16:creationId xmlns="" xmlns:a16="http://schemas.microsoft.com/office/drawing/2014/main" id="{C8C5EAAB-14C8-400D-BD35-844B65BAD769}"/>
              </a:ext>
            </a:extLst>
          </p:cNvPr>
          <p:cNvSpPr>
            <a:spLocks noGrp="1"/>
          </p:cNvSpPr>
          <p:nvPr>
            <p:ph idx="1"/>
          </p:nvPr>
        </p:nvSpPr>
        <p:spPr/>
        <p:txBody>
          <a:bodyPr>
            <a:normAutofit fontScale="92500"/>
          </a:bodyPr>
          <a:lstStyle/>
          <a:p>
            <a:pPr marL="469900" marR="6985" indent="-457200">
              <a:spcBef>
                <a:spcPts val="95"/>
              </a:spcBef>
              <a:buSzPct val="58928"/>
              <a:tabLst>
                <a:tab pos="355600" algn="l"/>
              </a:tabLst>
            </a:pPr>
            <a:r>
              <a:rPr lang="en-US" dirty="0">
                <a:latin typeface="Arial MT"/>
                <a:cs typeface="Arial MT"/>
              </a:rPr>
              <a:t>When</a:t>
            </a:r>
            <a:r>
              <a:rPr lang="en-US" spc="-55" dirty="0">
                <a:latin typeface="Arial MT"/>
                <a:cs typeface="Arial MT"/>
              </a:rPr>
              <a:t> </a:t>
            </a:r>
            <a:r>
              <a:rPr lang="en-US" dirty="0">
                <a:latin typeface="Arial MT"/>
                <a:cs typeface="Arial MT"/>
              </a:rPr>
              <a:t>a</a:t>
            </a:r>
            <a:r>
              <a:rPr lang="en-US" spc="-60" dirty="0">
                <a:latin typeface="Arial MT"/>
                <a:cs typeface="Arial MT"/>
              </a:rPr>
              <a:t> </a:t>
            </a:r>
            <a:r>
              <a:rPr lang="en-US" dirty="0">
                <a:latin typeface="Arial MT"/>
                <a:cs typeface="Arial MT"/>
              </a:rPr>
              <a:t>schema</a:t>
            </a:r>
            <a:r>
              <a:rPr lang="en-US" spc="-60" dirty="0">
                <a:latin typeface="Arial MT"/>
                <a:cs typeface="Arial MT"/>
              </a:rPr>
              <a:t> </a:t>
            </a:r>
            <a:r>
              <a:rPr lang="en-US" dirty="0">
                <a:latin typeface="Arial MT"/>
                <a:cs typeface="Arial MT"/>
              </a:rPr>
              <a:t>at</a:t>
            </a:r>
            <a:r>
              <a:rPr lang="en-US" spc="-55" dirty="0">
                <a:latin typeface="Arial MT"/>
                <a:cs typeface="Arial MT"/>
              </a:rPr>
              <a:t> </a:t>
            </a:r>
            <a:r>
              <a:rPr lang="en-US" dirty="0">
                <a:latin typeface="Arial MT"/>
                <a:cs typeface="Arial MT"/>
              </a:rPr>
              <a:t>a</a:t>
            </a:r>
            <a:r>
              <a:rPr lang="en-US" spc="-60" dirty="0">
                <a:latin typeface="Arial MT"/>
                <a:cs typeface="Arial MT"/>
              </a:rPr>
              <a:t> </a:t>
            </a:r>
            <a:r>
              <a:rPr lang="en-US" dirty="0">
                <a:latin typeface="Arial MT"/>
                <a:cs typeface="Arial MT"/>
              </a:rPr>
              <a:t>lower</a:t>
            </a:r>
            <a:r>
              <a:rPr lang="en-US" spc="-40" dirty="0">
                <a:latin typeface="Arial MT"/>
                <a:cs typeface="Arial MT"/>
              </a:rPr>
              <a:t> </a:t>
            </a:r>
            <a:r>
              <a:rPr lang="en-US" dirty="0">
                <a:latin typeface="Arial MT"/>
                <a:cs typeface="Arial MT"/>
              </a:rPr>
              <a:t>level</a:t>
            </a:r>
            <a:r>
              <a:rPr lang="en-US" spc="-50" dirty="0">
                <a:latin typeface="Arial MT"/>
                <a:cs typeface="Arial MT"/>
              </a:rPr>
              <a:t> </a:t>
            </a:r>
            <a:r>
              <a:rPr lang="en-US" dirty="0">
                <a:latin typeface="Arial MT"/>
                <a:cs typeface="Arial MT"/>
              </a:rPr>
              <a:t>is</a:t>
            </a:r>
            <a:r>
              <a:rPr lang="en-US" spc="-55" dirty="0">
                <a:latin typeface="Arial MT"/>
                <a:cs typeface="Arial MT"/>
              </a:rPr>
              <a:t> </a:t>
            </a:r>
            <a:r>
              <a:rPr lang="en-US" dirty="0">
                <a:latin typeface="Arial MT"/>
                <a:cs typeface="Arial MT"/>
              </a:rPr>
              <a:t>changed,</a:t>
            </a:r>
            <a:r>
              <a:rPr lang="en-US" spc="-40" dirty="0">
                <a:latin typeface="Arial MT"/>
                <a:cs typeface="Arial MT"/>
              </a:rPr>
              <a:t> </a:t>
            </a:r>
            <a:r>
              <a:rPr lang="en-US" spc="-20" dirty="0">
                <a:latin typeface="Arial MT"/>
                <a:cs typeface="Arial MT"/>
              </a:rPr>
              <a:t>only </a:t>
            </a:r>
            <a:r>
              <a:rPr lang="en-US" dirty="0">
                <a:latin typeface="Arial MT"/>
                <a:cs typeface="Arial MT"/>
              </a:rPr>
              <a:t>the</a:t>
            </a:r>
            <a:r>
              <a:rPr lang="en-US" spc="-70" dirty="0">
                <a:latin typeface="Arial MT"/>
                <a:cs typeface="Arial MT"/>
              </a:rPr>
              <a:t> </a:t>
            </a:r>
            <a:r>
              <a:rPr lang="en-US" b="1" dirty="0">
                <a:cs typeface="Arial"/>
              </a:rPr>
              <a:t>mappings</a:t>
            </a:r>
            <a:r>
              <a:rPr lang="en-US" b="1" spc="-60" dirty="0">
                <a:cs typeface="Arial"/>
              </a:rPr>
              <a:t> </a:t>
            </a:r>
            <a:r>
              <a:rPr lang="en-US" dirty="0">
                <a:latin typeface="Arial MT"/>
                <a:cs typeface="Arial MT"/>
              </a:rPr>
              <a:t>between</a:t>
            </a:r>
            <a:r>
              <a:rPr lang="en-US" spc="-70" dirty="0">
                <a:latin typeface="Arial MT"/>
                <a:cs typeface="Arial MT"/>
              </a:rPr>
              <a:t> </a:t>
            </a:r>
            <a:r>
              <a:rPr lang="en-US" dirty="0">
                <a:latin typeface="Arial MT"/>
                <a:cs typeface="Arial MT"/>
              </a:rPr>
              <a:t>this</a:t>
            </a:r>
            <a:r>
              <a:rPr lang="en-US" spc="-85" dirty="0">
                <a:latin typeface="Arial MT"/>
                <a:cs typeface="Arial MT"/>
              </a:rPr>
              <a:t> </a:t>
            </a:r>
            <a:r>
              <a:rPr lang="en-US" dirty="0">
                <a:latin typeface="Arial MT"/>
                <a:cs typeface="Arial MT"/>
              </a:rPr>
              <a:t>schema</a:t>
            </a:r>
            <a:r>
              <a:rPr lang="en-US" spc="-70" dirty="0">
                <a:latin typeface="Arial MT"/>
                <a:cs typeface="Arial MT"/>
              </a:rPr>
              <a:t> </a:t>
            </a:r>
            <a:r>
              <a:rPr lang="en-US" dirty="0">
                <a:latin typeface="Arial MT"/>
                <a:cs typeface="Arial MT"/>
              </a:rPr>
              <a:t>and</a:t>
            </a:r>
            <a:r>
              <a:rPr lang="en-US" spc="-90" dirty="0">
                <a:latin typeface="Arial MT"/>
                <a:cs typeface="Arial MT"/>
              </a:rPr>
              <a:t> </a:t>
            </a:r>
            <a:r>
              <a:rPr lang="en-US" spc="-10" dirty="0">
                <a:latin typeface="Arial MT"/>
                <a:cs typeface="Arial MT"/>
              </a:rPr>
              <a:t>higher- </a:t>
            </a:r>
            <a:r>
              <a:rPr lang="en-US" dirty="0">
                <a:latin typeface="Arial MT"/>
                <a:cs typeface="Arial MT"/>
              </a:rPr>
              <a:t>level</a:t>
            </a:r>
            <a:r>
              <a:rPr lang="en-US" spc="-65" dirty="0">
                <a:latin typeface="Arial MT"/>
                <a:cs typeface="Arial MT"/>
              </a:rPr>
              <a:t> </a:t>
            </a:r>
            <a:r>
              <a:rPr lang="en-US" dirty="0">
                <a:latin typeface="Arial MT"/>
                <a:cs typeface="Arial MT"/>
              </a:rPr>
              <a:t>schemas</a:t>
            </a:r>
            <a:r>
              <a:rPr lang="en-US" spc="-50" dirty="0">
                <a:latin typeface="Arial MT"/>
                <a:cs typeface="Arial MT"/>
              </a:rPr>
              <a:t> </a:t>
            </a:r>
            <a:r>
              <a:rPr lang="en-US" dirty="0">
                <a:latin typeface="Arial MT"/>
                <a:cs typeface="Arial MT"/>
              </a:rPr>
              <a:t>need</a:t>
            </a:r>
            <a:r>
              <a:rPr lang="en-US" spc="-50" dirty="0">
                <a:latin typeface="Arial MT"/>
                <a:cs typeface="Arial MT"/>
              </a:rPr>
              <a:t> </a:t>
            </a:r>
            <a:r>
              <a:rPr lang="en-US" dirty="0">
                <a:latin typeface="Arial MT"/>
                <a:cs typeface="Arial MT"/>
              </a:rPr>
              <a:t>to</a:t>
            </a:r>
            <a:r>
              <a:rPr lang="en-US" spc="-55" dirty="0">
                <a:latin typeface="Arial MT"/>
                <a:cs typeface="Arial MT"/>
              </a:rPr>
              <a:t> </a:t>
            </a:r>
            <a:r>
              <a:rPr lang="en-US" dirty="0">
                <a:latin typeface="Arial MT"/>
                <a:cs typeface="Arial MT"/>
              </a:rPr>
              <a:t>be</a:t>
            </a:r>
            <a:r>
              <a:rPr lang="en-US" spc="-45" dirty="0">
                <a:latin typeface="Arial MT"/>
                <a:cs typeface="Arial MT"/>
              </a:rPr>
              <a:t> </a:t>
            </a:r>
            <a:r>
              <a:rPr lang="en-US" dirty="0">
                <a:latin typeface="Arial MT"/>
                <a:cs typeface="Arial MT"/>
              </a:rPr>
              <a:t>changed</a:t>
            </a:r>
            <a:r>
              <a:rPr lang="en-US" spc="-50" dirty="0">
                <a:latin typeface="Arial MT"/>
                <a:cs typeface="Arial MT"/>
              </a:rPr>
              <a:t> </a:t>
            </a:r>
            <a:r>
              <a:rPr lang="en-US" dirty="0">
                <a:latin typeface="Arial MT"/>
                <a:cs typeface="Arial MT"/>
              </a:rPr>
              <a:t>in</a:t>
            </a:r>
            <a:r>
              <a:rPr lang="en-US" spc="-55" dirty="0">
                <a:latin typeface="Arial MT"/>
                <a:cs typeface="Arial MT"/>
              </a:rPr>
              <a:t> </a:t>
            </a:r>
            <a:r>
              <a:rPr lang="en-US" dirty="0">
                <a:latin typeface="Arial MT"/>
                <a:cs typeface="Arial MT"/>
              </a:rPr>
              <a:t>a</a:t>
            </a:r>
            <a:r>
              <a:rPr lang="en-US" spc="-50" dirty="0">
                <a:latin typeface="Arial MT"/>
                <a:cs typeface="Arial MT"/>
              </a:rPr>
              <a:t> </a:t>
            </a:r>
            <a:r>
              <a:rPr lang="en-US" spc="-20" dirty="0">
                <a:latin typeface="Arial MT"/>
                <a:cs typeface="Arial MT"/>
              </a:rPr>
              <a:t>DBMS </a:t>
            </a:r>
            <a:r>
              <a:rPr lang="en-US" dirty="0">
                <a:latin typeface="Arial MT"/>
                <a:cs typeface="Arial MT"/>
              </a:rPr>
              <a:t>that</a:t>
            </a:r>
            <a:r>
              <a:rPr lang="en-US" spc="-70" dirty="0">
                <a:latin typeface="Arial MT"/>
                <a:cs typeface="Arial MT"/>
              </a:rPr>
              <a:t> </a:t>
            </a:r>
            <a:r>
              <a:rPr lang="en-US" dirty="0">
                <a:latin typeface="Arial MT"/>
                <a:cs typeface="Arial MT"/>
              </a:rPr>
              <a:t>fully</a:t>
            </a:r>
            <a:r>
              <a:rPr lang="en-US" spc="-60" dirty="0">
                <a:latin typeface="Arial MT"/>
                <a:cs typeface="Arial MT"/>
              </a:rPr>
              <a:t> </a:t>
            </a:r>
            <a:r>
              <a:rPr lang="en-US" dirty="0">
                <a:latin typeface="Arial MT"/>
                <a:cs typeface="Arial MT"/>
              </a:rPr>
              <a:t>supports</a:t>
            </a:r>
            <a:r>
              <a:rPr lang="en-US" spc="-65" dirty="0">
                <a:latin typeface="Arial MT"/>
                <a:cs typeface="Arial MT"/>
              </a:rPr>
              <a:t> </a:t>
            </a:r>
            <a:r>
              <a:rPr lang="en-US" dirty="0">
                <a:latin typeface="Arial MT"/>
                <a:cs typeface="Arial MT"/>
              </a:rPr>
              <a:t>data</a:t>
            </a:r>
            <a:r>
              <a:rPr lang="en-US" spc="-55" dirty="0">
                <a:latin typeface="Arial MT"/>
                <a:cs typeface="Arial MT"/>
              </a:rPr>
              <a:t> </a:t>
            </a:r>
            <a:r>
              <a:rPr lang="en-US" spc="-10" dirty="0">
                <a:latin typeface="Arial MT"/>
                <a:cs typeface="Arial MT"/>
              </a:rPr>
              <a:t>independence.</a:t>
            </a:r>
            <a:endParaRPr lang="en-US" dirty="0">
              <a:latin typeface="Arial MT"/>
              <a:cs typeface="Arial MT"/>
            </a:endParaRPr>
          </a:p>
          <a:p>
            <a:pPr marL="469900" indent="-457200">
              <a:spcBef>
                <a:spcPts val="675"/>
              </a:spcBef>
              <a:buSzPct val="58928"/>
              <a:tabLst>
                <a:tab pos="354965" algn="l"/>
              </a:tabLst>
            </a:pPr>
            <a:r>
              <a:rPr lang="en-US" dirty="0">
                <a:latin typeface="Arial MT"/>
                <a:cs typeface="Arial MT"/>
              </a:rPr>
              <a:t>The</a:t>
            </a:r>
            <a:r>
              <a:rPr lang="en-US" spc="-65" dirty="0">
                <a:latin typeface="Arial MT"/>
                <a:cs typeface="Arial MT"/>
              </a:rPr>
              <a:t> </a:t>
            </a:r>
            <a:r>
              <a:rPr lang="en-US" spc="-20" dirty="0">
                <a:latin typeface="Arial MT"/>
                <a:cs typeface="Arial MT"/>
              </a:rPr>
              <a:t>higher-</a:t>
            </a:r>
            <a:r>
              <a:rPr lang="en-US" dirty="0">
                <a:latin typeface="Arial MT"/>
                <a:cs typeface="Arial MT"/>
              </a:rPr>
              <a:t>level</a:t>
            </a:r>
            <a:r>
              <a:rPr lang="en-US" spc="-60" dirty="0">
                <a:latin typeface="Arial MT"/>
                <a:cs typeface="Arial MT"/>
              </a:rPr>
              <a:t> </a:t>
            </a:r>
            <a:r>
              <a:rPr lang="en-US" dirty="0">
                <a:latin typeface="Arial MT"/>
                <a:cs typeface="Arial MT"/>
              </a:rPr>
              <a:t>schemas</a:t>
            </a:r>
            <a:r>
              <a:rPr lang="en-US" spc="-70" dirty="0">
                <a:latin typeface="Arial MT"/>
                <a:cs typeface="Arial MT"/>
              </a:rPr>
              <a:t> </a:t>
            </a:r>
            <a:r>
              <a:rPr lang="en-US" dirty="0">
                <a:latin typeface="Arial MT"/>
                <a:cs typeface="Arial MT"/>
              </a:rPr>
              <a:t>themselves</a:t>
            </a:r>
            <a:r>
              <a:rPr lang="en-US" spc="-65" dirty="0">
                <a:latin typeface="Arial MT"/>
                <a:cs typeface="Arial MT"/>
              </a:rPr>
              <a:t> </a:t>
            </a:r>
            <a:r>
              <a:rPr lang="en-US" spc="-25" dirty="0">
                <a:latin typeface="Arial MT"/>
                <a:cs typeface="Arial MT"/>
              </a:rPr>
              <a:t>are </a:t>
            </a:r>
            <a:r>
              <a:rPr lang="en-US" b="1" spc="-10" dirty="0">
                <a:cs typeface="Arial"/>
              </a:rPr>
              <a:t>unchanged</a:t>
            </a:r>
            <a:r>
              <a:rPr lang="en-US" spc="-10" dirty="0">
                <a:latin typeface="Arial MT"/>
                <a:cs typeface="Arial MT"/>
              </a:rPr>
              <a:t>.</a:t>
            </a:r>
            <a:endParaRPr lang="en-US" dirty="0">
              <a:latin typeface="Arial MT"/>
              <a:cs typeface="Arial MT"/>
            </a:endParaRPr>
          </a:p>
          <a:p>
            <a:pPr marL="926465" marR="5080" lvl="1" indent="-457200">
              <a:spcBef>
                <a:spcPts val="630"/>
              </a:spcBef>
              <a:buSzPct val="53846"/>
              <a:tabLst>
                <a:tab pos="756285" algn="l"/>
              </a:tabLst>
            </a:pPr>
            <a:r>
              <a:rPr lang="en-US" sz="2600" dirty="0">
                <a:latin typeface="Arial MT"/>
                <a:cs typeface="Arial MT"/>
              </a:rPr>
              <a:t>Hence,</a:t>
            </a:r>
            <a:r>
              <a:rPr lang="en-US" sz="2600" spc="-75" dirty="0">
                <a:latin typeface="Arial MT"/>
                <a:cs typeface="Arial MT"/>
              </a:rPr>
              <a:t> </a:t>
            </a:r>
            <a:r>
              <a:rPr lang="en-US" sz="2600" dirty="0">
                <a:latin typeface="Arial MT"/>
                <a:cs typeface="Arial MT"/>
              </a:rPr>
              <a:t>the</a:t>
            </a:r>
            <a:r>
              <a:rPr lang="en-US" sz="2600" spc="-55" dirty="0">
                <a:latin typeface="Arial MT"/>
                <a:cs typeface="Arial MT"/>
              </a:rPr>
              <a:t> </a:t>
            </a:r>
            <a:r>
              <a:rPr lang="en-US" sz="2600" dirty="0">
                <a:latin typeface="Arial MT"/>
                <a:cs typeface="Arial MT"/>
              </a:rPr>
              <a:t>application</a:t>
            </a:r>
            <a:r>
              <a:rPr lang="en-US" sz="2600" spc="-70" dirty="0">
                <a:latin typeface="Arial MT"/>
                <a:cs typeface="Arial MT"/>
              </a:rPr>
              <a:t> </a:t>
            </a:r>
            <a:r>
              <a:rPr lang="en-US" sz="2600" dirty="0">
                <a:latin typeface="Arial MT"/>
                <a:cs typeface="Arial MT"/>
              </a:rPr>
              <a:t>programs</a:t>
            </a:r>
            <a:r>
              <a:rPr lang="en-US" sz="2600" spc="-80" dirty="0">
                <a:latin typeface="Arial MT"/>
                <a:cs typeface="Arial MT"/>
              </a:rPr>
              <a:t> </a:t>
            </a:r>
            <a:r>
              <a:rPr lang="en-US" sz="2600" dirty="0">
                <a:latin typeface="Arial MT"/>
                <a:cs typeface="Arial MT"/>
              </a:rPr>
              <a:t>need</a:t>
            </a:r>
            <a:r>
              <a:rPr lang="en-US" sz="2600" spc="-50" dirty="0">
                <a:latin typeface="Arial MT"/>
                <a:cs typeface="Arial MT"/>
              </a:rPr>
              <a:t> </a:t>
            </a:r>
            <a:r>
              <a:rPr lang="en-US" sz="2600" dirty="0">
                <a:latin typeface="Arial MT"/>
                <a:cs typeface="Arial MT"/>
              </a:rPr>
              <a:t>not</a:t>
            </a:r>
            <a:r>
              <a:rPr lang="en-US" sz="2600" spc="-55" dirty="0">
                <a:latin typeface="Arial MT"/>
                <a:cs typeface="Arial MT"/>
              </a:rPr>
              <a:t> </a:t>
            </a:r>
            <a:r>
              <a:rPr lang="en-US" sz="2600" spc="-25" dirty="0">
                <a:latin typeface="Arial MT"/>
                <a:cs typeface="Arial MT"/>
              </a:rPr>
              <a:t>be </a:t>
            </a:r>
            <a:r>
              <a:rPr lang="en-US" sz="2600" dirty="0">
                <a:latin typeface="Arial MT"/>
                <a:cs typeface="Arial MT"/>
              </a:rPr>
              <a:t>changed</a:t>
            </a:r>
            <a:r>
              <a:rPr lang="en-US" sz="2600" spc="-50" dirty="0">
                <a:latin typeface="Arial MT"/>
                <a:cs typeface="Arial MT"/>
              </a:rPr>
              <a:t> </a:t>
            </a:r>
            <a:r>
              <a:rPr lang="en-US" sz="2600" dirty="0">
                <a:latin typeface="Arial MT"/>
                <a:cs typeface="Arial MT"/>
              </a:rPr>
              <a:t>since</a:t>
            </a:r>
            <a:r>
              <a:rPr lang="en-US" sz="2600" spc="-55" dirty="0">
                <a:latin typeface="Arial MT"/>
                <a:cs typeface="Arial MT"/>
              </a:rPr>
              <a:t> </a:t>
            </a:r>
            <a:r>
              <a:rPr lang="en-US" sz="2600" dirty="0">
                <a:latin typeface="Arial MT"/>
                <a:cs typeface="Arial MT"/>
              </a:rPr>
              <a:t>they</a:t>
            </a:r>
            <a:r>
              <a:rPr lang="en-US" sz="2600" spc="-30" dirty="0">
                <a:latin typeface="Arial MT"/>
                <a:cs typeface="Arial MT"/>
              </a:rPr>
              <a:t> </a:t>
            </a:r>
            <a:r>
              <a:rPr lang="en-US" sz="2600" dirty="0">
                <a:latin typeface="Arial MT"/>
                <a:cs typeface="Arial MT"/>
              </a:rPr>
              <a:t>refer</a:t>
            </a:r>
            <a:r>
              <a:rPr lang="en-US" sz="2600" spc="-35" dirty="0">
                <a:latin typeface="Arial MT"/>
                <a:cs typeface="Arial MT"/>
              </a:rPr>
              <a:t> </a:t>
            </a:r>
            <a:r>
              <a:rPr lang="en-US" sz="2600" dirty="0">
                <a:latin typeface="Arial MT"/>
                <a:cs typeface="Arial MT"/>
              </a:rPr>
              <a:t>to</a:t>
            </a:r>
            <a:r>
              <a:rPr lang="en-US" sz="2600" spc="-35" dirty="0">
                <a:latin typeface="Arial MT"/>
                <a:cs typeface="Arial MT"/>
              </a:rPr>
              <a:t> </a:t>
            </a:r>
            <a:r>
              <a:rPr lang="en-US" sz="2600" dirty="0">
                <a:latin typeface="Arial MT"/>
                <a:cs typeface="Arial MT"/>
              </a:rPr>
              <a:t>the</a:t>
            </a:r>
            <a:r>
              <a:rPr lang="en-US" sz="2600" spc="-30" dirty="0">
                <a:latin typeface="Arial MT"/>
                <a:cs typeface="Arial MT"/>
              </a:rPr>
              <a:t> </a:t>
            </a:r>
            <a:r>
              <a:rPr lang="en-US" sz="2600" dirty="0">
                <a:latin typeface="Arial MT"/>
                <a:cs typeface="Arial MT"/>
              </a:rPr>
              <a:t>external</a:t>
            </a:r>
            <a:r>
              <a:rPr lang="en-US" sz="2600" spc="-45" dirty="0">
                <a:latin typeface="Arial MT"/>
                <a:cs typeface="Arial MT"/>
              </a:rPr>
              <a:t> </a:t>
            </a:r>
            <a:r>
              <a:rPr lang="en-US" sz="2600" spc="-10" dirty="0">
                <a:latin typeface="Arial MT"/>
                <a:cs typeface="Arial MT"/>
              </a:rPr>
              <a:t>schemas.</a:t>
            </a:r>
            <a:endParaRPr lang="en-US" sz="2600" dirty="0">
              <a:latin typeface="Arial MT"/>
              <a:cs typeface="Arial MT"/>
            </a:endParaRPr>
          </a:p>
          <a:p>
            <a:endParaRPr lang="en-US" dirty="0"/>
          </a:p>
        </p:txBody>
      </p:sp>
    </p:spTree>
    <p:extLst>
      <p:ext uri="{BB962C8B-B14F-4D97-AF65-F5344CB8AC3E}">
        <p14:creationId xmlns="" xmlns:p14="http://schemas.microsoft.com/office/powerpoint/2010/main" val="21437010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E93FC0-BF5E-45D9-A2CB-F4950E1D1894}"/>
              </a:ext>
            </a:extLst>
          </p:cNvPr>
          <p:cNvSpPr>
            <a:spLocks noGrp="1"/>
          </p:cNvSpPr>
          <p:nvPr>
            <p:ph type="title"/>
          </p:nvPr>
        </p:nvSpPr>
        <p:spPr/>
        <p:txBody>
          <a:bodyPr/>
          <a:lstStyle/>
          <a:p>
            <a:r>
              <a:rPr lang="en-US" dirty="0"/>
              <a:t>Data Independence</a:t>
            </a:r>
          </a:p>
        </p:txBody>
      </p:sp>
      <p:sp>
        <p:nvSpPr>
          <p:cNvPr id="6" name="Content Placeholder 5">
            <a:extLst>
              <a:ext uri="{FF2B5EF4-FFF2-40B4-BE49-F238E27FC236}">
                <a16:creationId xmlns="" xmlns:a16="http://schemas.microsoft.com/office/drawing/2014/main" id="{BA7B1294-16B8-422C-826E-65B79F0C9F1E}"/>
              </a:ext>
            </a:extLst>
          </p:cNvPr>
          <p:cNvSpPr>
            <a:spLocks noGrp="1"/>
          </p:cNvSpPr>
          <p:nvPr>
            <p:ph idx="1"/>
          </p:nvPr>
        </p:nvSpPr>
        <p:spPr/>
        <p:txBody>
          <a:bodyPr/>
          <a:lstStyle/>
          <a:p>
            <a:endParaRPr lang="en-US" dirty="0"/>
          </a:p>
        </p:txBody>
      </p:sp>
      <p:pic>
        <p:nvPicPr>
          <p:cNvPr id="7" name="Picture 6">
            <a:extLst>
              <a:ext uri="{FF2B5EF4-FFF2-40B4-BE49-F238E27FC236}">
                <a16:creationId xmlns="" xmlns:a16="http://schemas.microsoft.com/office/drawing/2014/main" id="{D0528AAA-5046-4E1E-8D43-AA71E14870C7}"/>
              </a:ext>
            </a:extLst>
          </p:cNvPr>
          <p:cNvPicPr>
            <a:picLocks noChangeAspect="1"/>
          </p:cNvPicPr>
          <p:nvPr/>
        </p:nvPicPr>
        <p:blipFill>
          <a:blip r:embed="rId2"/>
          <a:stretch>
            <a:fillRect/>
          </a:stretch>
        </p:blipFill>
        <p:spPr>
          <a:xfrm>
            <a:off x="2085975" y="1361440"/>
            <a:ext cx="7550425" cy="5362416"/>
          </a:xfrm>
          <a:prstGeom prst="rect">
            <a:avLst/>
          </a:prstGeom>
        </p:spPr>
      </p:pic>
    </p:spTree>
    <p:extLst>
      <p:ext uri="{BB962C8B-B14F-4D97-AF65-F5344CB8AC3E}">
        <p14:creationId xmlns="" xmlns:p14="http://schemas.microsoft.com/office/powerpoint/2010/main" val="406288818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F73749-5F55-4405-80C1-909B3B0FA17D}"/>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1E3259FA-3A30-4372-8A7B-B72DB455B084}"/>
              </a:ext>
            </a:extLst>
          </p:cNvPr>
          <p:cNvSpPr>
            <a:spLocks noGrp="1"/>
          </p:cNvSpPr>
          <p:nvPr>
            <p:ph idx="1"/>
          </p:nvPr>
        </p:nvSpPr>
        <p:spPr/>
        <p:txBody>
          <a:bodyPr>
            <a:normAutofit lnSpcReduction="10000"/>
          </a:bodyPr>
          <a:lstStyle/>
          <a:p>
            <a:r>
              <a:rPr lang="en-US" b="1" dirty="0"/>
              <a:t>What does the term "data independence" refer to in the context of a Database Management System (DBMS)?</a:t>
            </a:r>
          </a:p>
          <a:p>
            <a:r>
              <a:rPr lang="en-US" dirty="0"/>
              <a:t>A) The ability to store data in an independent format</a:t>
            </a:r>
          </a:p>
          <a:p>
            <a:r>
              <a:rPr lang="en-US" dirty="0"/>
              <a:t>B) The dependence of data on external sources</a:t>
            </a:r>
          </a:p>
          <a:p>
            <a:r>
              <a:rPr lang="en-US" dirty="0"/>
              <a:t>C) The separation of data from the application programs</a:t>
            </a:r>
          </a:p>
          <a:p>
            <a:r>
              <a:rPr lang="en-US" dirty="0"/>
              <a:t>D) The integration of data with the operating system</a:t>
            </a:r>
          </a:p>
        </p:txBody>
      </p:sp>
    </p:spTree>
    <p:extLst>
      <p:ext uri="{BB962C8B-B14F-4D97-AF65-F5344CB8AC3E}">
        <p14:creationId xmlns="" xmlns:p14="http://schemas.microsoft.com/office/powerpoint/2010/main" val="34138920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F73749-5F55-4405-80C1-909B3B0FA17D}"/>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1E3259FA-3A30-4372-8A7B-B72DB455B084}"/>
              </a:ext>
            </a:extLst>
          </p:cNvPr>
          <p:cNvSpPr>
            <a:spLocks noGrp="1"/>
          </p:cNvSpPr>
          <p:nvPr>
            <p:ph idx="1"/>
          </p:nvPr>
        </p:nvSpPr>
        <p:spPr/>
        <p:txBody>
          <a:bodyPr>
            <a:normAutofit lnSpcReduction="10000"/>
          </a:bodyPr>
          <a:lstStyle/>
          <a:p>
            <a:r>
              <a:rPr lang="en-US" b="1" dirty="0"/>
              <a:t>What does the term "data independence" refer to in the context of a Database Management System (DBMS)?</a:t>
            </a:r>
          </a:p>
          <a:p>
            <a:r>
              <a:rPr lang="en-US" dirty="0"/>
              <a:t>A) The ability to store data in an independent format</a:t>
            </a:r>
          </a:p>
          <a:p>
            <a:r>
              <a:rPr lang="en-US" dirty="0"/>
              <a:t>B) The dependence of data on external sources</a:t>
            </a:r>
          </a:p>
          <a:p>
            <a:r>
              <a:rPr lang="en-US" dirty="0">
                <a:solidFill>
                  <a:srgbClr val="00B050"/>
                </a:solidFill>
              </a:rPr>
              <a:t>C) The separation of data from the application programs</a:t>
            </a:r>
          </a:p>
          <a:p>
            <a:r>
              <a:rPr lang="en-US" dirty="0"/>
              <a:t>D) The integration of data with the operating system</a:t>
            </a:r>
          </a:p>
        </p:txBody>
      </p:sp>
    </p:spTree>
    <p:extLst>
      <p:ext uri="{BB962C8B-B14F-4D97-AF65-F5344CB8AC3E}">
        <p14:creationId xmlns="" xmlns:p14="http://schemas.microsoft.com/office/powerpoint/2010/main" val="377052895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F73749-5F55-4405-80C1-909B3B0FA17D}"/>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1E3259FA-3A30-4372-8A7B-B72DB455B084}"/>
              </a:ext>
            </a:extLst>
          </p:cNvPr>
          <p:cNvSpPr>
            <a:spLocks noGrp="1"/>
          </p:cNvSpPr>
          <p:nvPr>
            <p:ph idx="1"/>
          </p:nvPr>
        </p:nvSpPr>
        <p:spPr/>
        <p:txBody>
          <a:bodyPr>
            <a:normAutofit fontScale="92500" lnSpcReduction="20000"/>
          </a:bodyPr>
          <a:lstStyle/>
          <a:p>
            <a:r>
              <a:rPr lang="en-US" b="1" dirty="0"/>
              <a:t>How does data independence contribute to the flexibility of a database system?</a:t>
            </a:r>
          </a:p>
          <a:p>
            <a:r>
              <a:rPr lang="en-US" dirty="0"/>
              <a:t>A) It simplifies data retrieval</a:t>
            </a:r>
          </a:p>
          <a:p>
            <a:r>
              <a:rPr lang="en-US" dirty="0"/>
              <a:t>B) It enables dynamic data encryption</a:t>
            </a:r>
          </a:p>
          <a:p>
            <a:r>
              <a:rPr lang="en-US" dirty="0"/>
              <a:t>C) It allows changes to the data structure without affecting applications</a:t>
            </a:r>
          </a:p>
          <a:p>
            <a:r>
              <a:rPr lang="en-US" dirty="0"/>
              <a:t>D) It reduces the need for data normalization</a:t>
            </a:r>
          </a:p>
        </p:txBody>
      </p:sp>
    </p:spTree>
    <p:extLst>
      <p:ext uri="{BB962C8B-B14F-4D97-AF65-F5344CB8AC3E}">
        <p14:creationId xmlns="" xmlns:p14="http://schemas.microsoft.com/office/powerpoint/2010/main" val="96547369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F73749-5F55-4405-80C1-909B3B0FA17D}"/>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1E3259FA-3A30-4372-8A7B-B72DB455B084}"/>
              </a:ext>
            </a:extLst>
          </p:cNvPr>
          <p:cNvSpPr>
            <a:spLocks noGrp="1"/>
          </p:cNvSpPr>
          <p:nvPr>
            <p:ph idx="1"/>
          </p:nvPr>
        </p:nvSpPr>
        <p:spPr/>
        <p:txBody>
          <a:bodyPr>
            <a:normAutofit fontScale="92500" lnSpcReduction="20000"/>
          </a:bodyPr>
          <a:lstStyle/>
          <a:p>
            <a:r>
              <a:rPr lang="en-US" b="1" dirty="0"/>
              <a:t>How does data independence contribute to the flexibility of a database system?</a:t>
            </a:r>
          </a:p>
          <a:p>
            <a:r>
              <a:rPr lang="en-US" dirty="0"/>
              <a:t>A) It simplifies data retrieval</a:t>
            </a:r>
          </a:p>
          <a:p>
            <a:r>
              <a:rPr lang="en-US" dirty="0"/>
              <a:t>B) It enables dynamic data encryption</a:t>
            </a:r>
          </a:p>
          <a:p>
            <a:r>
              <a:rPr lang="en-US" dirty="0">
                <a:solidFill>
                  <a:srgbClr val="00B050"/>
                </a:solidFill>
              </a:rPr>
              <a:t>C) It allows changes to the data structure without affecting applications</a:t>
            </a:r>
          </a:p>
          <a:p>
            <a:r>
              <a:rPr lang="en-US" dirty="0"/>
              <a:t>D) It reduces the need for data normalization</a:t>
            </a:r>
          </a:p>
        </p:txBody>
      </p:sp>
    </p:spTree>
    <p:extLst>
      <p:ext uri="{BB962C8B-B14F-4D97-AF65-F5344CB8AC3E}">
        <p14:creationId xmlns="" xmlns:p14="http://schemas.microsoft.com/office/powerpoint/2010/main" val="25141563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p:txBody>
          <a:bodyPr/>
          <a:lstStyle/>
          <a:p>
            <a:r>
              <a:rPr lang="en-US" spc="-10" dirty="0"/>
              <a:t>Three-</a:t>
            </a:r>
            <a:r>
              <a:rPr lang="en-US" dirty="0"/>
              <a:t>Schema</a:t>
            </a:r>
            <a:r>
              <a:rPr lang="en-US" spc="5" dirty="0"/>
              <a:t> </a:t>
            </a:r>
            <a:r>
              <a:rPr lang="en-US" spc="-10" dirty="0"/>
              <a:t>Architecture</a:t>
            </a:r>
            <a:endParaRPr lang="en-US" dirty="0"/>
          </a:p>
        </p:txBody>
      </p:sp>
      <p:sp>
        <p:nvSpPr>
          <p:cNvPr id="3" name="Content Placeholder 2">
            <a:extLst>
              <a:ext uri="{FF2B5EF4-FFF2-40B4-BE49-F238E27FC236}">
                <a16:creationId xmlns="" xmlns:a16="http://schemas.microsoft.com/office/drawing/2014/main" id="{7DB454AC-3437-4231-975E-1F67C0FBC5D2}"/>
              </a:ext>
            </a:extLst>
          </p:cNvPr>
          <p:cNvSpPr>
            <a:spLocks noGrp="1"/>
          </p:cNvSpPr>
          <p:nvPr>
            <p:ph idx="1"/>
          </p:nvPr>
        </p:nvSpPr>
        <p:spPr/>
        <p:txBody>
          <a:bodyPr/>
          <a:lstStyle/>
          <a:p>
            <a:pPr marL="469900" indent="-457200">
              <a:spcBef>
                <a:spcPts val="775"/>
              </a:spcBef>
              <a:buSzPct val="58928"/>
              <a:tabLst>
                <a:tab pos="354965" algn="l"/>
              </a:tabLst>
            </a:pPr>
            <a:r>
              <a:rPr lang="en-US" dirty="0"/>
              <a:t>Proposed</a:t>
            </a:r>
            <a:r>
              <a:rPr lang="en-US" spc="-90" dirty="0"/>
              <a:t> </a:t>
            </a:r>
            <a:r>
              <a:rPr lang="en-US" dirty="0"/>
              <a:t>to</a:t>
            </a:r>
            <a:r>
              <a:rPr lang="en-US" spc="-100" dirty="0"/>
              <a:t> </a:t>
            </a:r>
            <a:r>
              <a:rPr lang="en-US" dirty="0"/>
              <a:t>support</a:t>
            </a:r>
            <a:r>
              <a:rPr lang="en-US" spc="-95" dirty="0"/>
              <a:t> </a:t>
            </a:r>
            <a:r>
              <a:rPr lang="en-US" dirty="0"/>
              <a:t>DBMS</a:t>
            </a:r>
            <a:r>
              <a:rPr lang="en-US" spc="-100" dirty="0"/>
              <a:t> </a:t>
            </a:r>
            <a:r>
              <a:rPr lang="en-US" dirty="0"/>
              <a:t>characteristics</a:t>
            </a:r>
            <a:r>
              <a:rPr lang="en-US" spc="-100" dirty="0"/>
              <a:t> </a:t>
            </a:r>
            <a:r>
              <a:rPr lang="en-US" spc="-25" dirty="0"/>
              <a:t>of:</a:t>
            </a:r>
            <a:endParaRPr lang="en-US" dirty="0"/>
          </a:p>
          <a:p>
            <a:pPr marL="927100" lvl="1" indent="-457200">
              <a:spcBef>
                <a:spcPts val="635"/>
              </a:spcBef>
              <a:buSzPct val="53846"/>
              <a:tabLst>
                <a:tab pos="756285" algn="l"/>
              </a:tabLst>
            </a:pPr>
            <a:r>
              <a:rPr lang="en-US" sz="2600" b="1" spc="-10" dirty="0">
                <a:cs typeface="Arial"/>
              </a:rPr>
              <a:t>Program-</a:t>
            </a:r>
            <a:r>
              <a:rPr lang="en-US" sz="2600" b="1" dirty="0">
                <a:cs typeface="Arial"/>
              </a:rPr>
              <a:t>data</a:t>
            </a:r>
            <a:r>
              <a:rPr lang="en-US" sz="2600" b="1" spc="30" dirty="0">
                <a:cs typeface="Arial"/>
              </a:rPr>
              <a:t> </a:t>
            </a:r>
            <a:r>
              <a:rPr lang="en-US" sz="2600" b="1" spc="-10" dirty="0">
                <a:cs typeface="Arial"/>
              </a:rPr>
              <a:t>independence.</a:t>
            </a:r>
            <a:endParaRPr lang="en-US" sz="2600" dirty="0">
              <a:cs typeface="Arial"/>
            </a:endParaRPr>
          </a:p>
          <a:p>
            <a:pPr marL="927100" lvl="1" indent="-457200">
              <a:spcBef>
                <a:spcPts val="625"/>
              </a:spcBef>
              <a:buSzPct val="53846"/>
              <a:tabLst>
                <a:tab pos="756285" algn="l"/>
              </a:tabLst>
            </a:pPr>
            <a:r>
              <a:rPr lang="en-US" sz="2600" dirty="0">
                <a:latin typeface="Arial MT"/>
                <a:cs typeface="Arial MT"/>
              </a:rPr>
              <a:t>Support</a:t>
            </a:r>
            <a:r>
              <a:rPr lang="en-US" sz="2600" spc="-55" dirty="0">
                <a:latin typeface="Arial MT"/>
                <a:cs typeface="Arial MT"/>
              </a:rPr>
              <a:t> </a:t>
            </a:r>
            <a:r>
              <a:rPr lang="en-US" sz="2600" dirty="0">
                <a:latin typeface="Arial MT"/>
                <a:cs typeface="Arial MT"/>
              </a:rPr>
              <a:t>of</a:t>
            </a:r>
            <a:r>
              <a:rPr lang="en-US" sz="2600" spc="-30" dirty="0">
                <a:latin typeface="Arial MT"/>
                <a:cs typeface="Arial MT"/>
              </a:rPr>
              <a:t> </a:t>
            </a:r>
            <a:r>
              <a:rPr lang="en-US" sz="2600" b="1" dirty="0">
                <a:cs typeface="Arial"/>
              </a:rPr>
              <a:t>multiple</a:t>
            </a:r>
            <a:r>
              <a:rPr lang="en-US" sz="2600" b="1" spc="-55" dirty="0">
                <a:cs typeface="Arial"/>
              </a:rPr>
              <a:t> </a:t>
            </a:r>
            <a:r>
              <a:rPr lang="en-US" sz="2600" b="1" dirty="0">
                <a:cs typeface="Arial"/>
              </a:rPr>
              <a:t>views</a:t>
            </a:r>
            <a:r>
              <a:rPr lang="en-US" sz="2600" b="1" spc="-60" dirty="0">
                <a:cs typeface="Arial"/>
              </a:rPr>
              <a:t> </a:t>
            </a:r>
            <a:r>
              <a:rPr lang="en-US" sz="2600" dirty="0">
                <a:latin typeface="Arial MT"/>
                <a:cs typeface="Arial MT"/>
              </a:rPr>
              <a:t>of</a:t>
            </a:r>
            <a:r>
              <a:rPr lang="en-US" sz="2600" spc="-35" dirty="0">
                <a:latin typeface="Arial MT"/>
                <a:cs typeface="Arial MT"/>
              </a:rPr>
              <a:t> </a:t>
            </a:r>
            <a:r>
              <a:rPr lang="en-US" sz="2600" dirty="0">
                <a:latin typeface="Arial MT"/>
                <a:cs typeface="Arial MT"/>
              </a:rPr>
              <a:t>the</a:t>
            </a:r>
            <a:r>
              <a:rPr lang="en-US" sz="2600" spc="-45" dirty="0">
                <a:latin typeface="Arial MT"/>
                <a:cs typeface="Arial MT"/>
              </a:rPr>
              <a:t> </a:t>
            </a:r>
            <a:r>
              <a:rPr lang="en-US" sz="2600" spc="-10" dirty="0">
                <a:latin typeface="Arial MT"/>
                <a:cs typeface="Arial MT"/>
              </a:rPr>
              <a:t>data.</a:t>
            </a:r>
            <a:endParaRPr lang="en-US" sz="2600" dirty="0">
              <a:latin typeface="Arial MT"/>
              <a:cs typeface="Arial MT"/>
            </a:endParaRPr>
          </a:p>
          <a:p>
            <a:pPr marL="469900" marR="5080" indent="-457200">
              <a:spcBef>
                <a:spcPts val="665"/>
              </a:spcBef>
              <a:buSzPct val="58928"/>
              <a:tabLst>
                <a:tab pos="355600" algn="l"/>
              </a:tabLst>
            </a:pPr>
            <a:r>
              <a:rPr lang="en-US" dirty="0"/>
              <a:t>Not</a:t>
            </a:r>
            <a:r>
              <a:rPr lang="en-US" spc="-80" dirty="0"/>
              <a:t> </a:t>
            </a:r>
            <a:r>
              <a:rPr lang="en-US" dirty="0"/>
              <a:t>explicitly</a:t>
            </a:r>
            <a:r>
              <a:rPr lang="en-US" spc="-75" dirty="0"/>
              <a:t> </a:t>
            </a:r>
            <a:r>
              <a:rPr lang="en-US" dirty="0"/>
              <a:t>used</a:t>
            </a:r>
            <a:r>
              <a:rPr lang="en-US" spc="-80" dirty="0"/>
              <a:t> </a:t>
            </a:r>
            <a:r>
              <a:rPr lang="en-US" dirty="0"/>
              <a:t>in</a:t>
            </a:r>
            <a:r>
              <a:rPr lang="en-US" spc="-85" dirty="0"/>
              <a:t> </a:t>
            </a:r>
            <a:r>
              <a:rPr lang="en-US" dirty="0"/>
              <a:t>commercial</a:t>
            </a:r>
            <a:r>
              <a:rPr lang="en-US" spc="-60" dirty="0"/>
              <a:t> </a:t>
            </a:r>
            <a:r>
              <a:rPr lang="en-US" dirty="0"/>
              <a:t>DBMS</a:t>
            </a:r>
            <a:r>
              <a:rPr lang="en-US" spc="-70" dirty="0"/>
              <a:t> </a:t>
            </a:r>
            <a:r>
              <a:rPr lang="en-US" spc="-10" dirty="0"/>
              <a:t>products, </a:t>
            </a:r>
            <a:r>
              <a:rPr lang="en-US" dirty="0"/>
              <a:t>but</a:t>
            </a:r>
            <a:r>
              <a:rPr lang="en-US" spc="-65" dirty="0"/>
              <a:t> </a:t>
            </a:r>
            <a:r>
              <a:rPr lang="en-US" dirty="0"/>
              <a:t>has</a:t>
            </a:r>
            <a:r>
              <a:rPr lang="en-US" spc="-65" dirty="0"/>
              <a:t> </a:t>
            </a:r>
            <a:r>
              <a:rPr lang="en-US" dirty="0"/>
              <a:t>been</a:t>
            </a:r>
            <a:r>
              <a:rPr lang="en-US" spc="-45" dirty="0"/>
              <a:t> </a:t>
            </a:r>
            <a:r>
              <a:rPr lang="en-US" dirty="0"/>
              <a:t>useful</a:t>
            </a:r>
            <a:r>
              <a:rPr lang="en-US" spc="-65" dirty="0"/>
              <a:t> </a:t>
            </a:r>
            <a:r>
              <a:rPr lang="en-US" dirty="0"/>
              <a:t>in</a:t>
            </a:r>
            <a:r>
              <a:rPr lang="en-US" spc="-65" dirty="0"/>
              <a:t> </a:t>
            </a:r>
            <a:r>
              <a:rPr lang="en-US" dirty="0"/>
              <a:t>explaining</a:t>
            </a:r>
            <a:r>
              <a:rPr lang="en-US" spc="-45" dirty="0"/>
              <a:t> </a:t>
            </a:r>
            <a:r>
              <a:rPr lang="en-US" spc="-10" dirty="0"/>
              <a:t>database </a:t>
            </a:r>
            <a:r>
              <a:rPr lang="en-US" dirty="0"/>
              <a:t>system</a:t>
            </a:r>
            <a:r>
              <a:rPr lang="en-US" spc="-85" dirty="0"/>
              <a:t> </a:t>
            </a:r>
            <a:r>
              <a:rPr lang="en-US" spc="-10" dirty="0"/>
              <a:t>organization</a:t>
            </a:r>
            <a:endParaRPr lang="en-US" dirty="0"/>
          </a:p>
          <a:p>
            <a:endParaRPr lang="en-US" dirty="0"/>
          </a:p>
        </p:txBody>
      </p:sp>
    </p:spTree>
    <p:extLst>
      <p:ext uri="{BB962C8B-B14F-4D97-AF65-F5344CB8AC3E}">
        <p14:creationId xmlns="" xmlns:p14="http://schemas.microsoft.com/office/powerpoint/2010/main" val="385037679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p:txBody>
          <a:bodyPr/>
          <a:lstStyle/>
          <a:p>
            <a:r>
              <a:rPr lang="en-US" spc="-10" dirty="0"/>
              <a:t>Three-</a:t>
            </a:r>
            <a:r>
              <a:rPr lang="en-US" dirty="0"/>
              <a:t>Schema</a:t>
            </a:r>
            <a:r>
              <a:rPr lang="en-US" spc="5" dirty="0"/>
              <a:t> </a:t>
            </a:r>
            <a:r>
              <a:rPr lang="en-US" spc="-10" dirty="0"/>
              <a:t>Architecture</a:t>
            </a:r>
            <a:endParaRPr lang="en-US" dirty="0"/>
          </a:p>
        </p:txBody>
      </p:sp>
      <p:sp>
        <p:nvSpPr>
          <p:cNvPr id="3" name="Content Placeholder 2">
            <a:extLst>
              <a:ext uri="{FF2B5EF4-FFF2-40B4-BE49-F238E27FC236}">
                <a16:creationId xmlns="" xmlns:a16="http://schemas.microsoft.com/office/drawing/2014/main" id="{7DB454AC-3437-4231-975E-1F67C0FBC5D2}"/>
              </a:ext>
            </a:extLst>
          </p:cNvPr>
          <p:cNvSpPr>
            <a:spLocks noGrp="1"/>
          </p:cNvSpPr>
          <p:nvPr>
            <p:ph idx="1"/>
          </p:nvPr>
        </p:nvSpPr>
        <p:spPr/>
        <p:txBody>
          <a:bodyPr>
            <a:normAutofit fontScale="92500" lnSpcReduction="10000"/>
          </a:bodyPr>
          <a:lstStyle/>
          <a:p>
            <a:pPr marL="355600" indent="-342900">
              <a:spcBef>
                <a:spcPts val="680"/>
              </a:spcBef>
              <a:buSzPct val="60416"/>
              <a:tabLst>
                <a:tab pos="354965" algn="l"/>
              </a:tabLst>
            </a:pPr>
            <a:r>
              <a:rPr lang="en-US" sz="2400" dirty="0">
                <a:latin typeface="Arial MT"/>
                <a:cs typeface="Arial MT"/>
              </a:rPr>
              <a:t>Defines</a:t>
            </a:r>
            <a:r>
              <a:rPr lang="en-US" sz="2400" spc="-55" dirty="0">
                <a:latin typeface="Arial MT"/>
                <a:cs typeface="Arial MT"/>
              </a:rPr>
              <a:t> </a:t>
            </a:r>
            <a:r>
              <a:rPr lang="en-US" sz="2400" dirty="0">
                <a:latin typeface="Arial MT"/>
                <a:cs typeface="Arial MT"/>
              </a:rPr>
              <a:t>DBMS</a:t>
            </a:r>
            <a:r>
              <a:rPr lang="en-US" sz="2400" spc="-55" dirty="0">
                <a:latin typeface="Arial MT"/>
                <a:cs typeface="Arial MT"/>
              </a:rPr>
              <a:t> </a:t>
            </a:r>
            <a:r>
              <a:rPr lang="en-US" sz="2400" dirty="0">
                <a:latin typeface="Arial MT"/>
                <a:cs typeface="Arial MT"/>
              </a:rPr>
              <a:t>schemas</a:t>
            </a:r>
            <a:r>
              <a:rPr lang="en-US" sz="2400" spc="-60" dirty="0">
                <a:latin typeface="Arial MT"/>
                <a:cs typeface="Arial MT"/>
              </a:rPr>
              <a:t> </a:t>
            </a:r>
            <a:r>
              <a:rPr lang="en-US" sz="2400" dirty="0">
                <a:latin typeface="Arial MT"/>
                <a:cs typeface="Arial MT"/>
              </a:rPr>
              <a:t>at</a:t>
            </a:r>
            <a:r>
              <a:rPr lang="en-US" sz="2400" spc="-60" dirty="0">
                <a:latin typeface="Arial MT"/>
                <a:cs typeface="Arial MT"/>
              </a:rPr>
              <a:t> </a:t>
            </a:r>
            <a:r>
              <a:rPr lang="en-US" sz="2400" b="1" i="1" dirty="0">
                <a:cs typeface="Arial"/>
              </a:rPr>
              <a:t>three</a:t>
            </a:r>
            <a:r>
              <a:rPr lang="en-US" sz="2400" b="1" i="1" spc="-55" dirty="0">
                <a:cs typeface="Arial"/>
              </a:rPr>
              <a:t> </a:t>
            </a:r>
            <a:r>
              <a:rPr lang="en-US" sz="2400" spc="-10" dirty="0">
                <a:latin typeface="Arial MT"/>
                <a:cs typeface="Arial MT"/>
              </a:rPr>
              <a:t>levels:</a:t>
            </a:r>
            <a:endParaRPr lang="en-US" sz="2400" dirty="0">
              <a:latin typeface="Arial MT"/>
              <a:cs typeface="Arial MT"/>
            </a:endParaRPr>
          </a:p>
          <a:p>
            <a:pPr marL="812165" marR="333375" lvl="1" indent="-342900">
              <a:spcBef>
                <a:spcPts val="525"/>
              </a:spcBef>
              <a:buSzPct val="54545"/>
              <a:tabLst>
                <a:tab pos="756285" algn="l"/>
              </a:tabLst>
            </a:pPr>
            <a:r>
              <a:rPr lang="en-US" sz="2200" b="1" dirty="0">
                <a:cs typeface="Arial"/>
              </a:rPr>
              <a:t>Internal</a:t>
            </a:r>
            <a:r>
              <a:rPr lang="en-US" sz="2200" b="1" spc="-40" dirty="0">
                <a:cs typeface="Arial"/>
              </a:rPr>
              <a:t> </a:t>
            </a:r>
            <a:r>
              <a:rPr lang="en-US" sz="2200" b="1" dirty="0">
                <a:cs typeface="Arial"/>
              </a:rPr>
              <a:t>schema</a:t>
            </a:r>
            <a:r>
              <a:rPr lang="en-US" sz="2200" b="1" spc="-55" dirty="0">
                <a:cs typeface="Arial"/>
              </a:rPr>
              <a:t> </a:t>
            </a:r>
            <a:r>
              <a:rPr lang="en-US" sz="2200" dirty="0">
                <a:latin typeface="Arial MT"/>
                <a:cs typeface="Arial MT"/>
              </a:rPr>
              <a:t>at</a:t>
            </a:r>
            <a:r>
              <a:rPr lang="en-US" sz="2200" spc="-65" dirty="0">
                <a:latin typeface="Arial MT"/>
                <a:cs typeface="Arial MT"/>
              </a:rPr>
              <a:t> </a:t>
            </a:r>
            <a:r>
              <a:rPr lang="en-US" sz="2200" dirty="0">
                <a:latin typeface="Arial MT"/>
                <a:cs typeface="Arial MT"/>
              </a:rPr>
              <a:t>the</a:t>
            </a:r>
            <a:r>
              <a:rPr lang="en-US" sz="2200" spc="-60" dirty="0">
                <a:latin typeface="Arial MT"/>
                <a:cs typeface="Arial MT"/>
              </a:rPr>
              <a:t> </a:t>
            </a:r>
            <a:r>
              <a:rPr lang="en-US" sz="2200" dirty="0">
                <a:latin typeface="Arial MT"/>
                <a:cs typeface="Arial MT"/>
              </a:rPr>
              <a:t>internal</a:t>
            </a:r>
            <a:r>
              <a:rPr lang="en-US" sz="2200" spc="-55" dirty="0">
                <a:latin typeface="Arial MT"/>
                <a:cs typeface="Arial MT"/>
              </a:rPr>
              <a:t> </a:t>
            </a:r>
            <a:r>
              <a:rPr lang="en-US" sz="2200" dirty="0">
                <a:latin typeface="Arial MT"/>
                <a:cs typeface="Arial MT"/>
              </a:rPr>
              <a:t>level</a:t>
            </a:r>
            <a:r>
              <a:rPr lang="en-US" sz="2200" spc="-65" dirty="0">
                <a:latin typeface="Arial MT"/>
                <a:cs typeface="Arial MT"/>
              </a:rPr>
              <a:t> </a:t>
            </a:r>
            <a:r>
              <a:rPr lang="en-US" sz="2200" dirty="0">
                <a:latin typeface="Arial MT"/>
                <a:cs typeface="Arial MT"/>
              </a:rPr>
              <a:t>to</a:t>
            </a:r>
            <a:r>
              <a:rPr lang="en-US" sz="2200" spc="-60" dirty="0">
                <a:latin typeface="Arial MT"/>
                <a:cs typeface="Arial MT"/>
              </a:rPr>
              <a:t> </a:t>
            </a:r>
            <a:r>
              <a:rPr lang="en-US" sz="2200" dirty="0">
                <a:latin typeface="Arial MT"/>
                <a:cs typeface="Arial MT"/>
              </a:rPr>
              <a:t>describe</a:t>
            </a:r>
            <a:r>
              <a:rPr lang="en-US" sz="2200" spc="-65" dirty="0">
                <a:latin typeface="Arial MT"/>
                <a:cs typeface="Arial MT"/>
              </a:rPr>
              <a:t> </a:t>
            </a:r>
            <a:r>
              <a:rPr lang="en-US" sz="2200" spc="-10" dirty="0">
                <a:latin typeface="Arial MT"/>
                <a:cs typeface="Arial MT"/>
              </a:rPr>
              <a:t>physical </a:t>
            </a:r>
            <a:r>
              <a:rPr lang="en-US" sz="2200" dirty="0">
                <a:latin typeface="Arial MT"/>
                <a:cs typeface="Arial MT"/>
              </a:rPr>
              <a:t>storage</a:t>
            </a:r>
            <a:r>
              <a:rPr lang="en-US" sz="2200" spc="-55" dirty="0">
                <a:latin typeface="Arial MT"/>
                <a:cs typeface="Arial MT"/>
              </a:rPr>
              <a:t> </a:t>
            </a:r>
            <a:r>
              <a:rPr lang="en-US" sz="2200" dirty="0">
                <a:latin typeface="Arial MT"/>
                <a:cs typeface="Arial MT"/>
              </a:rPr>
              <a:t>structures</a:t>
            </a:r>
            <a:r>
              <a:rPr lang="en-US" sz="2200" spc="-65" dirty="0">
                <a:latin typeface="Arial MT"/>
                <a:cs typeface="Arial MT"/>
              </a:rPr>
              <a:t> </a:t>
            </a:r>
            <a:r>
              <a:rPr lang="en-US" sz="2200" dirty="0">
                <a:latin typeface="Arial MT"/>
                <a:cs typeface="Arial MT"/>
              </a:rPr>
              <a:t>and</a:t>
            </a:r>
            <a:r>
              <a:rPr lang="en-US" sz="2200" spc="-60" dirty="0">
                <a:latin typeface="Arial MT"/>
                <a:cs typeface="Arial MT"/>
              </a:rPr>
              <a:t> </a:t>
            </a:r>
            <a:r>
              <a:rPr lang="en-US" sz="2200" dirty="0">
                <a:latin typeface="Arial MT"/>
                <a:cs typeface="Arial MT"/>
              </a:rPr>
              <a:t>access</a:t>
            </a:r>
            <a:r>
              <a:rPr lang="en-US" sz="2200" spc="-70" dirty="0">
                <a:latin typeface="Arial MT"/>
                <a:cs typeface="Arial MT"/>
              </a:rPr>
              <a:t> </a:t>
            </a:r>
            <a:r>
              <a:rPr lang="en-US" sz="2200" dirty="0">
                <a:latin typeface="Arial MT"/>
                <a:cs typeface="Arial MT"/>
              </a:rPr>
              <a:t>paths</a:t>
            </a:r>
            <a:r>
              <a:rPr lang="en-US" sz="2200" spc="-60" dirty="0">
                <a:latin typeface="Arial MT"/>
                <a:cs typeface="Arial MT"/>
              </a:rPr>
              <a:t> </a:t>
            </a:r>
            <a:r>
              <a:rPr lang="en-US" sz="2200" dirty="0">
                <a:latin typeface="Arial MT"/>
                <a:cs typeface="Arial MT"/>
              </a:rPr>
              <a:t>(</a:t>
            </a:r>
            <a:r>
              <a:rPr lang="en-US" sz="2200" dirty="0" err="1">
                <a:latin typeface="Arial MT"/>
                <a:cs typeface="Arial MT"/>
              </a:rPr>
              <a:t>e.g</a:t>
            </a:r>
            <a:r>
              <a:rPr lang="en-US" sz="2200" spc="-55" dirty="0">
                <a:latin typeface="Arial MT"/>
                <a:cs typeface="Arial MT"/>
              </a:rPr>
              <a:t> </a:t>
            </a:r>
            <a:r>
              <a:rPr lang="en-US" sz="2200" spc="-10" dirty="0">
                <a:latin typeface="Arial MT"/>
                <a:cs typeface="Arial MT"/>
              </a:rPr>
              <a:t>indexes).</a:t>
            </a:r>
            <a:endParaRPr lang="en-US" sz="2200" dirty="0">
              <a:latin typeface="Arial MT"/>
              <a:cs typeface="Arial MT"/>
            </a:endParaRPr>
          </a:p>
          <a:p>
            <a:pPr marL="1270000" lvl="2" indent="-342900">
              <a:spcBef>
                <a:spcPts val="490"/>
              </a:spcBef>
              <a:buSzPct val="50000"/>
              <a:tabLst>
                <a:tab pos="1155065" algn="l"/>
              </a:tabLst>
            </a:pPr>
            <a:r>
              <a:rPr lang="en-US" dirty="0">
                <a:latin typeface="Arial MT"/>
                <a:cs typeface="Arial MT"/>
              </a:rPr>
              <a:t>Typically</a:t>
            </a:r>
            <a:r>
              <a:rPr lang="en-US" spc="-30" dirty="0">
                <a:latin typeface="Arial MT"/>
                <a:cs typeface="Arial MT"/>
              </a:rPr>
              <a:t> </a:t>
            </a:r>
            <a:r>
              <a:rPr lang="en-US" dirty="0">
                <a:latin typeface="Arial MT"/>
                <a:cs typeface="Arial MT"/>
              </a:rPr>
              <a:t>uses</a:t>
            </a:r>
            <a:r>
              <a:rPr lang="en-US" spc="-45" dirty="0">
                <a:latin typeface="Arial MT"/>
                <a:cs typeface="Arial MT"/>
              </a:rPr>
              <a:t> </a:t>
            </a:r>
            <a:r>
              <a:rPr lang="en-US" dirty="0">
                <a:latin typeface="Arial MT"/>
                <a:cs typeface="Arial MT"/>
              </a:rPr>
              <a:t>a</a:t>
            </a:r>
            <a:r>
              <a:rPr lang="en-US" spc="-35" dirty="0">
                <a:latin typeface="Arial MT"/>
                <a:cs typeface="Arial MT"/>
              </a:rPr>
              <a:t> </a:t>
            </a:r>
            <a:r>
              <a:rPr lang="en-US" b="1" dirty="0">
                <a:cs typeface="Arial"/>
              </a:rPr>
              <a:t>physical</a:t>
            </a:r>
            <a:r>
              <a:rPr lang="en-US" b="1" spc="-15" dirty="0">
                <a:cs typeface="Arial"/>
              </a:rPr>
              <a:t> </a:t>
            </a:r>
            <a:r>
              <a:rPr lang="en-US" dirty="0">
                <a:latin typeface="Arial MT"/>
                <a:cs typeface="Arial MT"/>
              </a:rPr>
              <a:t>data</a:t>
            </a:r>
            <a:r>
              <a:rPr lang="en-US" spc="-40" dirty="0">
                <a:latin typeface="Arial MT"/>
                <a:cs typeface="Arial MT"/>
              </a:rPr>
              <a:t> </a:t>
            </a:r>
            <a:r>
              <a:rPr lang="en-US" spc="-10" dirty="0">
                <a:latin typeface="Arial MT"/>
                <a:cs typeface="Arial MT"/>
              </a:rPr>
              <a:t>model.</a:t>
            </a:r>
            <a:endParaRPr lang="en-US" dirty="0">
              <a:latin typeface="Arial MT"/>
              <a:cs typeface="Arial MT"/>
            </a:endParaRPr>
          </a:p>
          <a:p>
            <a:pPr marL="812165" marR="5080" lvl="1" indent="-342900">
              <a:spcBef>
                <a:spcPts val="520"/>
              </a:spcBef>
              <a:buSzPct val="54545"/>
              <a:tabLst>
                <a:tab pos="756285" algn="l"/>
              </a:tabLst>
            </a:pPr>
            <a:r>
              <a:rPr lang="en-US" sz="2200" b="1" dirty="0">
                <a:cs typeface="Arial"/>
              </a:rPr>
              <a:t>Conceptual</a:t>
            </a:r>
            <a:r>
              <a:rPr lang="en-US" sz="2200" b="1" spc="-40" dirty="0">
                <a:cs typeface="Arial"/>
              </a:rPr>
              <a:t> </a:t>
            </a:r>
            <a:r>
              <a:rPr lang="en-US" sz="2200" b="1" dirty="0">
                <a:cs typeface="Arial"/>
              </a:rPr>
              <a:t>schema</a:t>
            </a:r>
            <a:r>
              <a:rPr lang="en-US" sz="2200" b="1" spc="-55" dirty="0">
                <a:cs typeface="Arial"/>
              </a:rPr>
              <a:t> </a:t>
            </a:r>
            <a:r>
              <a:rPr lang="en-US" sz="2200" dirty="0">
                <a:latin typeface="Arial MT"/>
                <a:cs typeface="Arial MT"/>
              </a:rPr>
              <a:t>at</a:t>
            </a:r>
            <a:r>
              <a:rPr lang="en-US" sz="2200" spc="-55" dirty="0">
                <a:latin typeface="Arial MT"/>
                <a:cs typeface="Arial MT"/>
              </a:rPr>
              <a:t> </a:t>
            </a:r>
            <a:r>
              <a:rPr lang="en-US" sz="2200" dirty="0">
                <a:latin typeface="Arial MT"/>
                <a:cs typeface="Arial MT"/>
              </a:rPr>
              <a:t>the</a:t>
            </a:r>
            <a:r>
              <a:rPr lang="en-US" sz="2200" spc="-70" dirty="0">
                <a:latin typeface="Arial MT"/>
                <a:cs typeface="Arial MT"/>
              </a:rPr>
              <a:t> </a:t>
            </a:r>
            <a:r>
              <a:rPr lang="en-US" sz="2200" dirty="0">
                <a:latin typeface="Arial MT"/>
                <a:cs typeface="Arial MT"/>
              </a:rPr>
              <a:t>conceptual</a:t>
            </a:r>
            <a:r>
              <a:rPr lang="en-US" sz="2200" spc="-75" dirty="0">
                <a:latin typeface="Arial MT"/>
                <a:cs typeface="Arial MT"/>
              </a:rPr>
              <a:t> </a:t>
            </a:r>
            <a:r>
              <a:rPr lang="en-US" sz="2200" dirty="0">
                <a:latin typeface="Arial MT"/>
                <a:cs typeface="Arial MT"/>
              </a:rPr>
              <a:t>level</a:t>
            </a:r>
            <a:r>
              <a:rPr lang="en-US" sz="2200" spc="-60" dirty="0">
                <a:latin typeface="Arial MT"/>
                <a:cs typeface="Arial MT"/>
              </a:rPr>
              <a:t> </a:t>
            </a:r>
            <a:r>
              <a:rPr lang="en-US" sz="2200" dirty="0">
                <a:latin typeface="Arial MT"/>
                <a:cs typeface="Arial MT"/>
              </a:rPr>
              <a:t>to</a:t>
            </a:r>
            <a:r>
              <a:rPr lang="en-US" sz="2200" spc="-75" dirty="0">
                <a:latin typeface="Arial MT"/>
                <a:cs typeface="Arial MT"/>
              </a:rPr>
              <a:t> </a:t>
            </a:r>
            <a:r>
              <a:rPr lang="en-US" sz="2200" dirty="0">
                <a:latin typeface="Arial MT"/>
                <a:cs typeface="Arial MT"/>
              </a:rPr>
              <a:t>describe</a:t>
            </a:r>
            <a:r>
              <a:rPr lang="en-US" sz="2200" spc="-70" dirty="0">
                <a:latin typeface="Arial MT"/>
                <a:cs typeface="Arial MT"/>
              </a:rPr>
              <a:t> </a:t>
            </a:r>
            <a:r>
              <a:rPr lang="en-US" sz="2200" spc="-25" dirty="0">
                <a:latin typeface="Arial MT"/>
                <a:cs typeface="Arial MT"/>
              </a:rPr>
              <a:t>the </a:t>
            </a:r>
            <a:r>
              <a:rPr lang="en-US" sz="2200" dirty="0">
                <a:latin typeface="Arial MT"/>
                <a:cs typeface="Arial MT"/>
              </a:rPr>
              <a:t>structure</a:t>
            </a:r>
            <a:r>
              <a:rPr lang="en-US" sz="2200" spc="-65" dirty="0">
                <a:latin typeface="Arial MT"/>
                <a:cs typeface="Arial MT"/>
              </a:rPr>
              <a:t> </a:t>
            </a:r>
            <a:r>
              <a:rPr lang="en-US" sz="2200" dirty="0">
                <a:latin typeface="Arial MT"/>
                <a:cs typeface="Arial MT"/>
              </a:rPr>
              <a:t>and</a:t>
            </a:r>
            <a:r>
              <a:rPr lang="en-US" sz="2200" spc="-70" dirty="0">
                <a:latin typeface="Arial MT"/>
                <a:cs typeface="Arial MT"/>
              </a:rPr>
              <a:t> </a:t>
            </a:r>
            <a:r>
              <a:rPr lang="en-US" sz="2200" dirty="0">
                <a:latin typeface="Arial MT"/>
                <a:cs typeface="Arial MT"/>
              </a:rPr>
              <a:t>constraints</a:t>
            </a:r>
            <a:r>
              <a:rPr lang="en-US" sz="2200" spc="-75" dirty="0">
                <a:latin typeface="Arial MT"/>
                <a:cs typeface="Arial MT"/>
              </a:rPr>
              <a:t> </a:t>
            </a:r>
            <a:r>
              <a:rPr lang="en-US" sz="2200" dirty="0">
                <a:latin typeface="Arial MT"/>
                <a:cs typeface="Arial MT"/>
              </a:rPr>
              <a:t>for</a:t>
            </a:r>
            <a:r>
              <a:rPr lang="en-US" sz="2200" spc="-65" dirty="0">
                <a:latin typeface="Arial MT"/>
                <a:cs typeface="Arial MT"/>
              </a:rPr>
              <a:t> </a:t>
            </a:r>
            <a:r>
              <a:rPr lang="en-US" sz="2200" dirty="0">
                <a:latin typeface="Arial MT"/>
                <a:cs typeface="Arial MT"/>
              </a:rPr>
              <a:t>the</a:t>
            </a:r>
            <a:r>
              <a:rPr lang="en-US" sz="2200" spc="-75" dirty="0">
                <a:latin typeface="Arial MT"/>
                <a:cs typeface="Arial MT"/>
              </a:rPr>
              <a:t> </a:t>
            </a:r>
            <a:r>
              <a:rPr lang="en-US" sz="2200" dirty="0">
                <a:latin typeface="Arial MT"/>
                <a:cs typeface="Arial MT"/>
              </a:rPr>
              <a:t>whole</a:t>
            </a:r>
            <a:r>
              <a:rPr lang="en-US" sz="2200" spc="-60" dirty="0">
                <a:latin typeface="Arial MT"/>
                <a:cs typeface="Arial MT"/>
              </a:rPr>
              <a:t> </a:t>
            </a:r>
            <a:r>
              <a:rPr lang="en-US" sz="2200" dirty="0">
                <a:latin typeface="Arial MT"/>
                <a:cs typeface="Arial MT"/>
              </a:rPr>
              <a:t>database</a:t>
            </a:r>
            <a:r>
              <a:rPr lang="en-US" sz="2200" spc="-65" dirty="0">
                <a:latin typeface="Arial MT"/>
                <a:cs typeface="Arial MT"/>
              </a:rPr>
              <a:t> </a:t>
            </a:r>
            <a:r>
              <a:rPr lang="en-US" sz="2200" dirty="0">
                <a:latin typeface="Arial MT"/>
                <a:cs typeface="Arial MT"/>
              </a:rPr>
              <a:t>for</a:t>
            </a:r>
            <a:r>
              <a:rPr lang="en-US" sz="2200" spc="-70" dirty="0">
                <a:latin typeface="Arial MT"/>
                <a:cs typeface="Arial MT"/>
              </a:rPr>
              <a:t> </a:t>
            </a:r>
            <a:r>
              <a:rPr lang="en-US" sz="2200" spc="-50" dirty="0">
                <a:latin typeface="Arial MT"/>
                <a:cs typeface="Arial MT"/>
              </a:rPr>
              <a:t>a </a:t>
            </a:r>
            <a:r>
              <a:rPr lang="en-US" sz="2200" dirty="0">
                <a:latin typeface="Arial MT"/>
                <a:cs typeface="Arial MT"/>
              </a:rPr>
              <a:t>community</a:t>
            </a:r>
            <a:r>
              <a:rPr lang="en-US" sz="2200" spc="-45" dirty="0">
                <a:latin typeface="Arial MT"/>
                <a:cs typeface="Arial MT"/>
              </a:rPr>
              <a:t> </a:t>
            </a:r>
            <a:r>
              <a:rPr lang="en-US" sz="2200" dirty="0">
                <a:latin typeface="Arial MT"/>
                <a:cs typeface="Arial MT"/>
              </a:rPr>
              <a:t>of</a:t>
            </a:r>
            <a:r>
              <a:rPr lang="en-US" sz="2200" spc="-75" dirty="0">
                <a:latin typeface="Arial MT"/>
                <a:cs typeface="Arial MT"/>
              </a:rPr>
              <a:t> </a:t>
            </a:r>
            <a:r>
              <a:rPr lang="en-US" sz="2200" spc="-10" dirty="0">
                <a:latin typeface="Arial MT"/>
                <a:cs typeface="Arial MT"/>
              </a:rPr>
              <a:t>users.</a:t>
            </a:r>
            <a:endParaRPr lang="en-US" sz="2200" dirty="0">
              <a:latin typeface="Arial MT"/>
              <a:cs typeface="Arial MT"/>
            </a:endParaRPr>
          </a:p>
          <a:p>
            <a:pPr marL="1270000" lvl="2" indent="-342900">
              <a:spcBef>
                <a:spcPts val="490"/>
              </a:spcBef>
              <a:buSzPct val="50000"/>
              <a:tabLst>
                <a:tab pos="1155065" algn="l"/>
              </a:tabLst>
            </a:pPr>
            <a:r>
              <a:rPr lang="en-US" dirty="0">
                <a:latin typeface="Arial MT"/>
                <a:cs typeface="Arial MT"/>
              </a:rPr>
              <a:t>Uses</a:t>
            </a:r>
            <a:r>
              <a:rPr lang="en-US" spc="-40" dirty="0">
                <a:latin typeface="Arial MT"/>
                <a:cs typeface="Arial MT"/>
              </a:rPr>
              <a:t> </a:t>
            </a:r>
            <a:r>
              <a:rPr lang="en-US" dirty="0">
                <a:latin typeface="Arial MT"/>
                <a:cs typeface="Arial MT"/>
              </a:rPr>
              <a:t>a</a:t>
            </a:r>
            <a:r>
              <a:rPr lang="en-US" spc="-15" dirty="0">
                <a:latin typeface="Arial MT"/>
                <a:cs typeface="Arial MT"/>
              </a:rPr>
              <a:t> </a:t>
            </a:r>
            <a:r>
              <a:rPr lang="en-US" b="1" dirty="0">
                <a:cs typeface="Arial"/>
              </a:rPr>
              <a:t>conceptual</a:t>
            </a:r>
            <a:r>
              <a:rPr lang="en-US" b="1" spc="-40" dirty="0">
                <a:cs typeface="Arial"/>
              </a:rPr>
              <a:t> </a:t>
            </a:r>
            <a:r>
              <a:rPr lang="en-US" dirty="0">
                <a:latin typeface="Arial MT"/>
                <a:cs typeface="Arial MT"/>
              </a:rPr>
              <a:t>or</a:t>
            </a:r>
            <a:r>
              <a:rPr lang="en-US" spc="-40" dirty="0">
                <a:latin typeface="Arial MT"/>
                <a:cs typeface="Arial MT"/>
              </a:rPr>
              <a:t> </a:t>
            </a:r>
            <a:r>
              <a:rPr lang="en-US" dirty="0">
                <a:latin typeface="Arial MT"/>
                <a:cs typeface="Arial MT"/>
              </a:rPr>
              <a:t>an</a:t>
            </a:r>
            <a:r>
              <a:rPr lang="en-US" spc="-5" dirty="0">
                <a:latin typeface="Arial MT"/>
                <a:cs typeface="Arial MT"/>
              </a:rPr>
              <a:t> </a:t>
            </a:r>
            <a:r>
              <a:rPr lang="en-US" b="1" dirty="0">
                <a:cs typeface="Arial"/>
              </a:rPr>
              <a:t>implementation</a:t>
            </a:r>
            <a:r>
              <a:rPr lang="en-US" b="1" spc="-50" dirty="0">
                <a:cs typeface="Arial"/>
              </a:rPr>
              <a:t> </a:t>
            </a:r>
            <a:r>
              <a:rPr lang="en-US" dirty="0">
                <a:latin typeface="Arial MT"/>
                <a:cs typeface="Arial MT"/>
              </a:rPr>
              <a:t>data</a:t>
            </a:r>
            <a:r>
              <a:rPr lang="en-US" spc="-40" dirty="0">
                <a:latin typeface="Arial MT"/>
                <a:cs typeface="Arial MT"/>
              </a:rPr>
              <a:t> </a:t>
            </a:r>
            <a:r>
              <a:rPr lang="en-US" spc="-10" dirty="0">
                <a:latin typeface="Arial MT"/>
                <a:cs typeface="Arial MT"/>
              </a:rPr>
              <a:t>model.</a:t>
            </a:r>
            <a:endParaRPr lang="en-US" dirty="0">
              <a:latin typeface="Arial MT"/>
              <a:cs typeface="Arial MT"/>
            </a:endParaRPr>
          </a:p>
          <a:p>
            <a:pPr marL="812800" lvl="1" indent="-342900">
              <a:spcBef>
                <a:spcPts val="520"/>
              </a:spcBef>
              <a:buSzPct val="54545"/>
              <a:tabLst>
                <a:tab pos="756285" algn="l"/>
              </a:tabLst>
            </a:pPr>
            <a:r>
              <a:rPr lang="en-US" sz="2200" b="1" dirty="0">
                <a:cs typeface="Arial"/>
              </a:rPr>
              <a:t>External</a:t>
            </a:r>
            <a:r>
              <a:rPr lang="en-US" sz="2200" b="1" spc="-60" dirty="0">
                <a:cs typeface="Arial"/>
              </a:rPr>
              <a:t> </a:t>
            </a:r>
            <a:r>
              <a:rPr lang="en-US" sz="2200" b="1" dirty="0">
                <a:cs typeface="Arial"/>
              </a:rPr>
              <a:t>schemas</a:t>
            </a:r>
            <a:r>
              <a:rPr lang="en-US" sz="2200" b="1" spc="-55" dirty="0">
                <a:cs typeface="Arial"/>
              </a:rPr>
              <a:t> </a:t>
            </a:r>
            <a:r>
              <a:rPr lang="en-US" sz="2200" dirty="0">
                <a:latin typeface="Arial MT"/>
                <a:cs typeface="Arial MT"/>
              </a:rPr>
              <a:t>at</a:t>
            </a:r>
            <a:r>
              <a:rPr lang="en-US" sz="2200" spc="-55" dirty="0">
                <a:latin typeface="Arial MT"/>
                <a:cs typeface="Arial MT"/>
              </a:rPr>
              <a:t> </a:t>
            </a:r>
            <a:r>
              <a:rPr lang="en-US" sz="2200" dirty="0">
                <a:latin typeface="Arial MT"/>
                <a:cs typeface="Arial MT"/>
              </a:rPr>
              <a:t>the</a:t>
            </a:r>
            <a:r>
              <a:rPr lang="en-US" sz="2200" spc="-70" dirty="0">
                <a:latin typeface="Arial MT"/>
                <a:cs typeface="Arial MT"/>
              </a:rPr>
              <a:t> </a:t>
            </a:r>
            <a:r>
              <a:rPr lang="en-US" sz="2200" dirty="0">
                <a:latin typeface="Arial MT"/>
                <a:cs typeface="Arial MT"/>
              </a:rPr>
              <a:t>external</a:t>
            </a:r>
            <a:r>
              <a:rPr lang="en-US" sz="2200" spc="-60" dirty="0">
                <a:latin typeface="Arial MT"/>
                <a:cs typeface="Arial MT"/>
              </a:rPr>
              <a:t> </a:t>
            </a:r>
            <a:r>
              <a:rPr lang="en-US" sz="2200" dirty="0">
                <a:latin typeface="Arial MT"/>
                <a:cs typeface="Arial MT"/>
              </a:rPr>
              <a:t>level</a:t>
            </a:r>
            <a:r>
              <a:rPr lang="en-US" sz="2200" spc="-70" dirty="0">
                <a:latin typeface="Arial MT"/>
                <a:cs typeface="Arial MT"/>
              </a:rPr>
              <a:t> </a:t>
            </a:r>
            <a:r>
              <a:rPr lang="en-US" sz="2200" dirty="0">
                <a:latin typeface="Arial MT"/>
                <a:cs typeface="Arial MT"/>
              </a:rPr>
              <a:t>to</a:t>
            </a:r>
            <a:r>
              <a:rPr lang="en-US" sz="2200" spc="-70" dirty="0">
                <a:latin typeface="Arial MT"/>
                <a:cs typeface="Arial MT"/>
              </a:rPr>
              <a:t> </a:t>
            </a:r>
            <a:r>
              <a:rPr lang="en-US" sz="2200" dirty="0">
                <a:latin typeface="Arial MT"/>
                <a:cs typeface="Arial MT"/>
              </a:rPr>
              <a:t>describe</a:t>
            </a:r>
            <a:r>
              <a:rPr lang="en-US" sz="2200" spc="-75" dirty="0">
                <a:latin typeface="Arial MT"/>
                <a:cs typeface="Arial MT"/>
              </a:rPr>
              <a:t> </a:t>
            </a:r>
            <a:r>
              <a:rPr lang="en-US" sz="2200" spc="-25" dirty="0">
                <a:latin typeface="Arial MT"/>
                <a:cs typeface="Arial MT"/>
              </a:rPr>
              <a:t>the </a:t>
            </a:r>
            <a:r>
              <a:rPr lang="en-US" sz="2200" dirty="0">
                <a:latin typeface="Arial MT"/>
                <a:cs typeface="Arial MT"/>
              </a:rPr>
              <a:t>various</a:t>
            </a:r>
            <a:r>
              <a:rPr lang="en-US" sz="2200" spc="-60" dirty="0">
                <a:latin typeface="Arial MT"/>
                <a:cs typeface="Arial MT"/>
              </a:rPr>
              <a:t> </a:t>
            </a:r>
            <a:r>
              <a:rPr lang="en-US" sz="2200" dirty="0">
                <a:latin typeface="Arial MT"/>
                <a:cs typeface="Arial MT"/>
              </a:rPr>
              <a:t>user</a:t>
            </a:r>
            <a:r>
              <a:rPr lang="en-US" sz="2200" spc="-75" dirty="0">
                <a:latin typeface="Arial MT"/>
                <a:cs typeface="Arial MT"/>
              </a:rPr>
              <a:t> </a:t>
            </a:r>
            <a:r>
              <a:rPr lang="en-US" sz="2200" spc="-10" dirty="0">
                <a:latin typeface="Arial MT"/>
                <a:cs typeface="Arial MT"/>
              </a:rPr>
              <a:t>views.</a:t>
            </a:r>
            <a:endParaRPr lang="en-US" sz="2200" dirty="0">
              <a:latin typeface="Arial MT"/>
              <a:cs typeface="Arial MT"/>
            </a:endParaRPr>
          </a:p>
          <a:p>
            <a:pPr marL="1270000" lvl="2" indent="-342900">
              <a:spcBef>
                <a:spcPts val="490"/>
              </a:spcBef>
              <a:buSzPct val="50000"/>
              <a:tabLst>
                <a:tab pos="1155065" algn="l"/>
              </a:tabLst>
            </a:pPr>
            <a:r>
              <a:rPr lang="en-US" dirty="0">
                <a:latin typeface="Arial MT"/>
                <a:cs typeface="Arial MT"/>
              </a:rPr>
              <a:t>Usually</a:t>
            </a:r>
            <a:r>
              <a:rPr lang="en-US" spc="-30" dirty="0">
                <a:latin typeface="Arial MT"/>
                <a:cs typeface="Arial MT"/>
              </a:rPr>
              <a:t> </a:t>
            </a:r>
            <a:r>
              <a:rPr lang="en-US" dirty="0">
                <a:latin typeface="Arial MT"/>
                <a:cs typeface="Arial MT"/>
              </a:rPr>
              <a:t>uses</a:t>
            </a:r>
            <a:r>
              <a:rPr lang="en-US" spc="-40" dirty="0">
                <a:latin typeface="Arial MT"/>
                <a:cs typeface="Arial MT"/>
              </a:rPr>
              <a:t> </a:t>
            </a:r>
            <a:r>
              <a:rPr lang="en-US" dirty="0">
                <a:latin typeface="Arial MT"/>
                <a:cs typeface="Arial MT"/>
              </a:rPr>
              <a:t>the</a:t>
            </a:r>
            <a:r>
              <a:rPr lang="en-US" spc="-40" dirty="0">
                <a:latin typeface="Arial MT"/>
                <a:cs typeface="Arial MT"/>
              </a:rPr>
              <a:t> </a:t>
            </a:r>
            <a:r>
              <a:rPr lang="en-US" dirty="0">
                <a:latin typeface="Arial MT"/>
                <a:cs typeface="Arial MT"/>
              </a:rPr>
              <a:t>same</a:t>
            </a:r>
            <a:r>
              <a:rPr lang="en-US" spc="-45" dirty="0">
                <a:latin typeface="Arial MT"/>
                <a:cs typeface="Arial MT"/>
              </a:rPr>
              <a:t> </a:t>
            </a:r>
            <a:r>
              <a:rPr lang="en-US" dirty="0">
                <a:latin typeface="Arial MT"/>
                <a:cs typeface="Arial MT"/>
              </a:rPr>
              <a:t>data</a:t>
            </a:r>
            <a:r>
              <a:rPr lang="en-US" spc="-30" dirty="0">
                <a:latin typeface="Arial MT"/>
                <a:cs typeface="Arial MT"/>
              </a:rPr>
              <a:t> </a:t>
            </a:r>
            <a:r>
              <a:rPr lang="en-US" dirty="0">
                <a:latin typeface="Arial MT"/>
                <a:cs typeface="Arial MT"/>
              </a:rPr>
              <a:t>model</a:t>
            </a:r>
            <a:r>
              <a:rPr lang="en-US" spc="-30" dirty="0">
                <a:latin typeface="Arial MT"/>
                <a:cs typeface="Arial MT"/>
              </a:rPr>
              <a:t> </a:t>
            </a:r>
            <a:r>
              <a:rPr lang="en-US" dirty="0">
                <a:latin typeface="Arial MT"/>
                <a:cs typeface="Arial MT"/>
              </a:rPr>
              <a:t>as</a:t>
            </a:r>
            <a:r>
              <a:rPr lang="en-US" spc="-35" dirty="0">
                <a:latin typeface="Arial MT"/>
                <a:cs typeface="Arial MT"/>
              </a:rPr>
              <a:t> </a:t>
            </a:r>
            <a:r>
              <a:rPr lang="en-US" dirty="0">
                <a:latin typeface="Arial MT"/>
                <a:cs typeface="Arial MT"/>
              </a:rPr>
              <a:t>the</a:t>
            </a:r>
            <a:r>
              <a:rPr lang="en-US" spc="-35" dirty="0">
                <a:latin typeface="Arial MT"/>
                <a:cs typeface="Arial MT"/>
              </a:rPr>
              <a:t> </a:t>
            </a:r>
            <a:r>
              <a:rPr lang="en-US" dirty="0">
                <a:latin typeface="Arial MT"/>
                <a:cs typeface="Arial MT"/>
              </a:rPr>
              <a:t>conceptual</a:t>
            </a:r>
            <a:r>
              <a:rPr lang="en-US" spc="-45" dirty="0">
                <a:latin typeface="Arial MT"/>
                <a:cs typeface="Arial MT"/>
              </a:rPr>
              <a:t> </a:t>
            </a:r>
            <a:r>
              <a:rPr lang="en-US" spc="-10" dirty="0">
                <a:latin typeface="Arial MT"/>
                <a:cs typeface="Arial MT"/>
              </a:rPr>
              <a:t>schema.</a:t>
            </a:r>
            <a:endParaRPr lang="en-US" dirty="0">
              <a:latin typeface="Arial MT"/>
              <a:cs typeface="Arial MT"/>
            </a:endParaRPr>
          </a:p>
          <a:p>
            <a:endParaRPr lang="en-US" dirty="0"/>
          </a:p>
        </p:txBody>
      </p:sp>
    </p:spTree>
    <p:extLst>
      <p:ext uri="{BB962C8B-B14F-4D97-AF65-F5344CB8AC3E}">
        <p14:creationId xmlns="" xmlns:p14="http://schemas.microsoft.com/office/powerpoint/2010/main" val="284346394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p:txBody>
          <a:bodyPr/>
          <a:lstStyle/>
          <a:p>
            <a:r>
              <a:rPr lang="en-US" spc="-10" dirty="0"/>
              <a:t>Three-</a:t>
            </a:r>
            <a:r>
              <a:rPr lang="en-US" dirty="0"/>
              <a:t>Schema</a:t>
            </a:r>
            <a:r>
              <a:rPr lang="en-US" spc="5" dirty="0"/>
              <a:t> </a:t>
            </a:r>
            <a:r>
              <a:rPr lang="en-US" spc="-10" dirty="0"/>
              <a:t>Architecture</a:t>
            </a:r>
            <a:endParaRPr lang="en-US" dirty="0"/>
          </a:p>
        </p:txBody>
      </p:sp>
      <p:pic>
        <p:nvPicPr>
          <p:cNvPr id="4" name="Content Placeholder 3">
            <a:extLst>
              <a:ext uri="{FF2B5EF4-FFF2-40B4-BE49-F238E27FC236}">
                <a16:creationId xmlns="" xmlns:a16="http://schemas.microsoft.com/office/drawing/2014/main" id="{81C2A353-A956-4312-B61F-5232C2F6D602}"/>
              </a:ext>
            </a:extLst>
          </p:cNvPr>
          <p:cNvPicPr>
            <a:picLocks noGrp="1" noChangeAspect="1"/>
          </p:cNvPicPr>
          <p:nvPr>
            <p:ph idx="1"/>
          </p:nvPr>
        </p:nvPicPr>
        <p:blipFill>
          <a:blip r:embed="rId2"/>
          <a:stretch>
            <a:fillRect/>
          </a:stretch>
        </p:blipFill>
        <p:spPr>
          <a:xfrm>
            <a:off x="3014142" y="1892300"/>
            <a:ext cx="6163715" cy="4351338"/>
          </a:xfrm>
          <a:prstGeom prst="rect">
            <a:avLst/>
          </a:prstGeom>
        </p:spPr>
      </p:pic>
    </p:spTree>
    <p:extLst>
      <p:ext uri="{BB962C8B-B14F-4D97-AF65-F5344CB8AC3E}">
        <p14:creationId xmlns="" xmlns:p14="http://schemas.microsoft.com/office/powerpoint/2010/main" val="342594265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p:txBody>
          <a:bodyPr/>
          <a:lstStyle/>
          <a:p>
            <a:r>
              <a:rPr lang="en-US" spc="-10" dirty="0"/>
              <a:t>Three-</a:t>
            </a:r>
            <a:r>
              <a:rPr lang="en-US" dirty="0"/>
              <a:t>Schema</a:t>
            </a:r>
            <a:r>
              <a:rPr lang="en-US" spc="5" dirty="0"/>
              <a:t> </a:t>
            </a:r>
            <a:r>
              <a:rPr lang="en-US" spc="-10" dirty="0"/>
              <a:t>Architecture</a:t>
            </a:r>
            <a:endParaRPr lang="en-US" dirty="0"/>
          </a:p>
        </p:txBody>
      </p:sp>
      <p:sp>
        <p:nvSpPr>
          <p:cNvPr id="3" name="Content Placeholder 2">
            <a:extLst>
              <a:ext uri="{FF2B5EF4-FFF2-40B4-BE49-F238E27FC236}">
                <a16:creationId xmlns="" xmlns:a16="http://schemas.microsoft.com/office/drawing/2014/main" id="{7DB454AC-3437-4231-975E-1F67C0FBC5D2}"/>
              </a:ext>
            </a:extLst>
          </p:cNvPr>
          <p:cNvSpPr>
            <a:spLocks noGrp="1"/>
          </p:cNvSpPr>
          <p:nvPr>
            <p:ph idx="1"/>
          </p:nvPr>
        </p:nvSpPr>
        <p:spPr/>
        <p:txBody>
          <a:bodyPr>
            <a:normAutofit lnSpcReduction="10000"/>
          </a:bodyPr>
          <a:lstStyle/>
          <a:p>
            <a:pPr marL="469900" marR="372110" indent="-457200">
              <a:spcBef>
                <a:spcPts val="95"/>
              </a:spcBef>
              <a:buSzPct val="58928"/>
              <a:tabLst>
                <a:tab pos="355600" algn="l"/>
              </a:tabLst>
            </a:pPr>
            <a:r>
              <a:rPr lang="en-US" dirty="0">
                <a:latin typeface="Arial MT"/>
                <a:cs typeface="Arial MT"/>
              </a:rPr>
              <a:t>Mappings</a:t>
            </a:r>
            <a:r>
              <a:rPr lang="en-US" spc="-80" dirty="0">
                <a:latin typeface="Arial MT"/>
                <a:cs typeface="Arial MT"/>
              </a:rPr>
              <a:t> </a:t>
            </a:r>
            <a:r>
              <a:rPr lang="en-US" dirty="0">
                <a:latin typeface="Arial MT"/>
                <a:cs typeface="Arial MT"/>
              </a:rPr>
              <a:t>among</a:t>
            </a:r>
            <a:r>
              <a:rPr lang="en-US" spc="-85" dirty="0">
                <a:latin typeface="Arial MT"/>
                <a:cs typeface="Arial MT"/>
              </a:rPr>
              <a:t> </a:t>
            </a:r>
            <a:r>
              <a:rPr lang="en-US" dirty="0">
                <a:latin typeface="Arial MT"/>
                <a:cs typeface="Arial MT"/>
              </a:rPr>
              <a:t>schema</a:t>
            </a:r>
            <a:r>
              <a:rPr lang="en-US" spc="-80" dirty="0">
                <a:latin typeface="Arial MT"/>
                <a:cs typeface="Arial MT"/>
              </a:rPr>
              <a:t> </a:t>
            </a:r>
            <a:r>
              <a:rPr lang="en-US" dirty="0">
                <a:latin typeface="Arial MT"/>
                <a:cs typeface="Arial MT"/>
              </a:rPr>
              <a:t>levels</a:t>
            </a:r>
            <a:r>
              <a:rPr lang="en-US" spc="-95" dirty="0">
                <a:latin typeface="Arial MT"/>
                <a:cs typeface="Arial MT"/>
              </a:rPr>
              <a:t> </a:t>
            </a:r>
            <a:r>
              <a:rPr lang="en-US" dirty="0">
                <a:latin typeface="Arial MT"/>
                <a:cs typeface="Arial MT"/>
              </a:rPr>
              <a:t>are</a:t>
            </a:r>
            <a:r>
              <a:rPr lang="en-US" spc="-85" dirty="0">
                <a:latin typeface="Arial MT"/>
                <a:cs typeface="Arial MT"/>
              </a:rPr>
              <a:t> </a:t>
            </a:r>
            <a:r>
              <a:rPr lang="en-US" dirty="0">
                <a:latin typeface="Arial MT"/>
                <a:cs typeface="Arial MT"/>
              </a:rPr>
              <a:t>needed</a:t>
            </a:r>
            <a:r>
              <a:rPr lang="en-US" spc="-85" dirty="0">
                <a:latin typeface="Arial MT"/>
                <a:cs typeface="Arial MT"/>
              </a:rPr>
              <a:t> </a:t>
            </a:r>
            <a:r>
              <a:rPr lang="en-US" spc="-25" dirty="0">
                <a:latin typeface="Arial MT"/>
                <a:cs typeface="Arial MT"/>
              </a:rPr>
              <a:t>to </a:t>
            </a:r>
            <a:r>
              <a:rPr lang="en-US" dirty="0">
                <a:latin typeface="Arial MT"/>
                <a:cs typeface="Arial MT"/>
              </a:rPr>
              <a:t>transform</a:t>
            </a:r>
            <a:r>
              <a:rPr lang="en-US" spc="-90" dirty="0">
                <a:latin typeface="Arial MT"/>
                <a:cs typeface="Arial MT"/>
              </a:rPr>
              <a:t> </a:t>
            </a:r>
            <a:r>
              <a:rPr lang="en-US" dirty="0">
                <a:latin typeface="Arial MT"/>
                <a:cs typeface="Arial MT"/>
              </a:rPr>
              <a:t>requests</a:t>
            </a:r>
            <a:r>
              <a:rPr lang="en-US" spc="-85" dirty="0">
                <a:latin typeface="Arial MT"/>
                <a:cs typeface="Arial MT"/>
              </a:rPr>
              <a:t> </a:t>
            </a:r>
            <a:r>
              <a:rPr lang="en-US" dirty="0">
                <a:latin typeface="Arial MT"/>
                <a:cs typeface="Arial MT"/>
              </a:rPr>
              <a:t>and</a:t>
            </a:r>
            <a:r>
              <a:rPr lang="en-US" spc="-90" dirty="0">
                <a:latin typeface="Arial MT"/>
                <a:cs typeface="Arial MT"/>
              </a:rPr>
              <a:t> </a:t>
            </a:r>
            <a:r>
              <a:rPr lang="en-US" spc="-10" dirty="0">
                <a:latin typeface="Arial MT"/>
                <a:cs typeface="Arial MT"/>
              </a:rPr>
              <a:t>data.</a:t>
            </a:r>
            <a:endParaRPr lang="en-US" dirty="0">
              <a:latin typeface="Arial MT"/>
              <a:cs typeface="Arial MT"/>
            </a:endParaRPr>
          </a:p>
          <a:p>
            <a:pPr marL="926465" marR="298450" lvl="1" indent="-457200">
              <a:spcBef>
                <a:spcPts val="635"/>
              </a:spcBef>
              <a:buSzPct val="53846"/>
              <a:tabLst>
                <a:tab pos="756285" algn="l"/>
              </a:tabLst>
            </a:pPr>
            <a:r>
              <a:rPr lang="en-US" sz="2600" dirty="0">
                <a:latin typeface="Arial MT"/>
                <a:cs typeface="Arial MT"/>
              </a:rPr>
              <a:t>Programs</a:t>
            </a:r>
            <a:r>
              <a:rPr lang="en-US" sz="2600" spc="-60" dirty="0">
                <a:latin typeface="Arial MT"/>
                <a:cs typeface="Arial MT"/>
              </a:rPr>
              <a:t> </a:t>
            </a:r>
            <a:r>
              <a:rPr lang="en-US" sz="2600" dirty="0">
                <a:latin typeface="Arial MT"/>
                <a:cs typeface="Arial MT"/>
              </a:rPr>
              <a:t>refer</a:t>
            </a:r>
            <a:r>
              <a:rPr lang="en-US" sz="2600" spc="-35" dirty="0">
                <a:latin typeface="Arial MT"/>
                <a:cs typeface="Arial MT"/>
              </a:rPr>
              <a:t> </a:t>
            </a:r>
            <a:r>
              <a:rPr lang="en-US" sz="2600" dirty="0">
                <a:latin typeface="Arial MT"/>
                <a:cs typeface="Arial MT"/>
              </a:rPr>
              <a:t>to</a:t>
            </a:r>
            <a:r>
              <a:rPr lang="en-US" sz="2600" spc="-30" dirty="0">
                <a:latin typeface="Arial MT"/>
                <a:cs typeface="Arial MT"/>
              </a:rPr>
              <a:t> </a:t>
            </a:r>
            <a:r>
              <a:rPr lang="en-US" sz="2600" dirty="0">
                <a:latin typeface="Arial MT"/>
                <a:cs typeface="Arial MT"/>
              </a:rPr>
              <a:t>an</a:t>
            </a:r>
            <a:r>
              <a:rPr lang="en-US" sz="2600" spc="-30" dirty="0">
                <a:latin typeface="Arial MT"/>
                <a:cs typeface="Arial MT"/>
              </a:rPr>
              <a:t> </a:t>
            </a:r>
            <a:r>
              <a:rPr lang="en-US" sz="2600" dirty="0">
                <a:latin typeface="Arial MT"/>
                <a:cs typeface="Arial MT"/>
              </a:rPr>
              <a:t>external</a:t>
            </a:r>
            <a:r>
              <a:rPr lang="en-US" sz="2600" spc="-60" dirty="0">
                <a:latin typeface="Arial MT"/>
                <a:cs typeface="Arial MT"/>
              </a:rPr>
              <a:t> </a:t>
            </a:r>
            <a:r>
              <a:rPr lang="en-US" sz="2600" dirty="0">
                <a:latin typeface="Arial MT"/>
                <a:cs typeface="Arial MT"/>
              </a:rPr>
              <a:t>schema,</a:t>
            </a:r>
            <a:r>
              <a:rPr lang="en-US" sz="2600" spc="-50" dirty="0">
                <a:latin typeface="Arial MT"/>
                <a:cs typeface="Arial MT"/>
              </a:rPr>
              <a:t> </a:t>
            </a:r>
            <a:r>
              <a:rPr lang="en-US" sz="2600" dirty="0">
                <a:latin typeface="Arial MT"/>
                <a:cs typeface="Arial MT"/>
              </a:rPr>
              <a:t>and</a:t>
            </a:r>
            <a:r>
              <a:rPr lang="en-US" sz="2600" spc="-55" dirty="0">
                <a:latin typeface="Arial MT"/>
                <a:cs typeface="Arial MT"/>
              </a:rPr>
              <a:t> </a:t>
            </a:r>
            <a:r>
              <a:rPr lang="en-US" sz="2600" spc="-25" dirty="0">
                <a:latin typeface="Arial MT"/>
                <a:cs typeface="Arial MT"/>
              </a:rPr>
              <a:t>are </a:t>
            </a:r>
            <a:r>
              <a:rPr lang="en-US" sz="2600" dirty="0">
                <a:latin typeface="Arial MT"/>
                <a:cs typeface="Arial MT"/>
              </a:rPr>
              <a:t>mapped</a:t>
            </a:r>
            <a:r>
              <a:rPr lang="en-US" sz="2600" spc="-50" dirty="0">
                <a:latin typeface="Arial MT"/>
                <a:cs typeface="Arial MT"/>
              </a:rPr>
              <a:t> </a:t>
            </a:r>
            <a:r>
              <a:rPr lang="en-US" sz="2600" dirty="0">
                <a:latin typeface="Arial MT"/>
                <a:cs typeface="Arial MT"/>
              </a:rPr>
              <a:t>by</a:t>
            </a:r>
            <a:r>
              <a:rPr lang="en-US" sz="2600" spc="-40" dirty="0">
                <a:latin typeface="Arial MT"/>
                <a:cs typeface="Arial MT"/>
              </a:rPr>
              <a:t> </a:t>
            </a:r>
            <a:r>
              <a:rPr lang="en-US" sz="2600" dirty="0">
                <a:latin typeface="Arial MT"/>
                <a:cs typeface="Arial MT"/>
              </a:rPr>
              <a:t>the</a:t>
            </a:r>
            <a:r>
              <a:rPr lang="en-US" sz="2600" spc="-20" dirty="0">
                <a:latin typeface="Arial MT"/>
                <a:cs typeface="Arial MT"/>
              </a:rPr>
              <a:t> </a:t>
            </a:r>
            <a:r>
              <a:rPr lang="en-US" sz="2600" dirty="0">
                <a:latin typeface="Arial MT"/>
                <a:cs typeface="Arial MT"/>
              </a:rPr>
              <a:t>DBMS</a:t>
            </a:r>
            <a:r>
              <a:rPr lang="en-US" sz="2600" spc="-55" dirty="0">
                <a:latin typeface="Arial MT"/>
                <a:cs typeface="Arial MT"/>
              </a:rPr>
              <a:t> </a:t>
            </a:r>
            <a:r>
              <a:rPr lang="en-US" sz="2600" dirty="0">
                <a:latin typeface="Arial MT"/>
                <a:cs typeface="Arial MT"/>
              </a:rPr>
              <a:t>to</a:t>
            </a:r>
            <a:r>
              <a:rPr lang="en-US" sz="2600" spc="-30" dirty="0">
                <a:latin typeface="Arial MT"/>
                <a:cs typeface="Arial MT"/>
              </a:rPr>
              <a:t> </a:t>
            </a:r>
            <a:r>
              <a:rPr lang="en-US" sz="2600" dirty="0">
                <a:latin typeface="Arial MT"/>
                <a:cs typeface="Arial MT"/>
              </a:rPr>
              <a:t>the</a:t>
            </a:r>
            <a:r>
              <a:rPr lang="en-US" sz="2600" spc="-20" dirty="0">
                <a:latin typeface="Arial MT"/>
                <a:cs typeface="Arial MT"/>
              </a:rPr>
              <a:t> </a:t>
            </a:r>
            <a:r>
              <a:rPr lang="en-US" sz="2600" dirty="0">
                <a:latin typeface="Arial MT"/>
                <a:cs typeface="Arial MT"/>
              </a:rPr>
              <a:t>internal</a:t>
            </a:r>
            <a:r>
              <a:rPr lang="en-US" sz="2600" spc="-40" dirty="0">
                <a:latin typeface="Arial MT"/>
                <a:cs typeface="Arial MT"/>
              </a:rPr>
              <a:t> </a:t>
            </a:r>
            <a:r>
              <a:rPr lang="en-US" sz="2600" dirty="0">
                <a:latin typeface="Arial MT"/>
                <a:cs typeface="Arial MT"/>
              </a:rPr>
              <a:t>schema</a:t>
            </a:r>
            <a:r>
              <a:rPr lang="en-US" sz="2600" spc="-50" dirty="0">
                <a:latin typeface="Arial MT"/>
                <a:cs typeface="Arial MT"/>
              </a:rPr>
              <a:t> </a:t>
            </a:r>
            <a:r>
              <a:rPr lang="en-US" sz="2600" spc="-25" dirty="0">
                <a:latin typeface="Arial MT"/>
                <a:cs typeface="Arial MT"/>
              </a:rPr>
              <a:t>for </a:t>
            </a:r>
            <a:r>
              <a:rPr lang="en-US" sz="2600" spc="-10" dirty="0">
                <a:latin typeface="Arial MT"/>
                <a:cs typeface="Arial MT"/>
              </a:rPr>
              <a:t>execution.</a:t>
            </a:r>
            <a:endParaRPr lang="en-US" sz="2600" dirty="0">
              <a:latin typeface="Arial MT"/>
              <a:cs typeface="Arial MT"/>
            </a:endParaRPr>
          </a:p>
          <a:p>
            <a:pPr marL="926465" marR="5080" lvl="1" indent="-457200">
              <a:spcBef>
                <a:spcPts val="630"/>
              </a:spcBef>
              <a:buSzPct val="53846"/>
              <a:tabLst>
                <a:tab pos="756285" algn="l"/>
              </a:tabLst>
            </a:pPr>
            <a:r>
              <a:rPr lang="en-US" sz="2600" dirty="0">
                <a:latin typeface="Arial MT"/>
                <a:cs typeface="Arial MT"/>
              </a:rPr>
              <a:t>Data</a:t>
            </a:r>
            <a:r>
              <a:rPr lang="en-US" sz="2600" spc="-25" dirty="0">
                <a:latin typeface="Arial MT"/>
                <a:cs typeface="Arial MT"/>
              </a:rPr>
              <a:t> </a:t>
            </a:r>
            <a:r>
              <a:rPr lang="en-US" sz="2600" dirty="0">
                <a:latin typeface="Arial MT"/>
                <a:cs typeface="Arial MT"/>
              </a:rPr>
              <a:t>extracted</a:t>
            </a:r>
            <a:r>
              <a:rPr lang="en-US" sz="2600" spc="-35" dirty="0">
                <a:latin typeface="Arial MT"/>
                <a:cs typeface="Arial MT"/>
              </a:rPr>
              <a:t> </a:t>
            </a:r>
            <a:r>
              <a:rPr lang="en-US" sz="2600" dirty="0">
                <a:latin typeface="Arial MT"/>
                <a:cs typeface="Arial MT"/>
              </a:rPr>
              <a:t>from</a:t>
            </a:r>
            <a:r>
              <a:rPr lang="en-US" sz="2600" spc="-20" dirty="0">
                <a:latin typeface="Arial MT"/>
                <a:cs typeface="Arial MT"/>
              </a:rPr>
              <a:t> </a:t>
            </a:r>
            <a:r>
              <a:rPr lang="en-US" sz="2600" dirty="0">
                <a:latin typeface="Arial MT"/>
                <a:cs typeface="Arial MT"/>
              </a:rPr>
              <a:t>the</a:t>
            </a:r>
            <a:r>
              <a:rPr lang="en-US" sz="2600" spc="-20" dirty="0">
                <a:latin typeface="Arial MT"/>
                <a:cs typeface="Arial MT"/>
              </a:rPr>
              <a:t> </a:t>
            </a:r>
            <a:r>
              <a:rPr lang="en-US" sz="2600" dirty="0">
                <a:latin typeface="Arial MT"/>
                <a:cs typeface="Arial MT"/>
              </a:rPr>
              <a:t>internal</a:t>
            </a:r>
            <a:r>
              <a:rPr lang="en-US" sz="2600" spc="-20" dirty="0">
                <a:latin typeface="Arial MT"/>
                <a:cs typeface="Arial MT"/>
              </a:rPr>
              <a:t> </a:t>
            </a:r>
            <a:r>
              <a:rPr lang="en-US" sz="2600" dirty="0">
                <a:latin typeface="Arial MT"/>
                <a:cs typeface="Arial MT"/>
              </a:rPr>
              <a:t>DBMS</a:t>
            </a:r>
            <a:r>
              <a:rPr lang="en-US" sz="2600" spc="-45" dirty="0">
                <a:latin typeface="Arial MT"/>
                <a:cs typeface="Arial MT"/>
              </a:rPr>
              <a:t> </a:t>
            </a:r>
            <a:r>
              <a:rPr lang="en-US" sz="2600" dirty="0">
                <a:latin typeface="Arial MT"/>
                <a:cs typeface="Arial MT"/>
              </a:rPr>
              <a:t>level</a:t>
            </a:r>
            <a:r>
              <a:rPr lang="en-US" sz="2600" spc="-20" dirty="0">
                <a:latin typeface="Arial MT"/>
                <a:cs typeface="Arial MT"/>
              </a:rPr>
              <a:t> </a:t>
            </a:r>
            <a:r>
              <a:rPr lang="en-US" sz="2600" spc="-25" dirty="0">
                <a:latin typeface="Arial MT"/>
                <a:cs typeface="Arial MT"/>
              </a:rPr>
              <a:t>is </a:t>
            </a:r>
            <a:r>
              <a:rPr lang="en-US" sz="2600" dirty="0">
                <a:latin typeface="Arial MT"/>
                <a:cs typeface="Arial MT"/>
              </a:rPr>
              <a:t>reformatted</a:t>
            </a:r>
            <a:r>
              <a:rPr lang="en-US" sz="2600" spc="-35" dirty="0">
                <a:latin typeface="Arial MT"/>
                <a:cs typeface="Arial MT"/>
              </a:rPr>
              <a:t> </a:t>
            </a:r>
            <a:r>
              <a:rPr lang="en-US" sz="2600" dirty="0">
                <a:latin typeface="Arial MT"/>
                <a:cs typeface="Arial MT"/>
              </a:rPr>
              <a:t>to</a:t>
            </a:r>
            <a:r>
              <a:rPr lang="en-US" sz="2600" spc="-30" dirty="0">
                <a:latin typeface="Arial MT"/>
                <a:cs typeface="Arial MT"/>
              </a:rPr>
              <a:t> </a:t>
            </a:r>
            <a:r>
              <a:rPr lang="en-US" sz="2600" dirty="0">
                <a:latin typeface="Arial MT"/>
                <a:cs typeface="Arial MT"/>
              </a:rPr>
              <a:t>match</a:t>
            </a:r>
            <a:r>
              <a:rPr lang="en-US" sz="2600" spc="-30" dirty="0">
                <a:latin typeface="Arial MT"/>
                <a:cs typeface="Arial MT"/>
              </a:rPr>
              <a:t> </a:t>
            </a:r>
            <a:r>
              <a:rPr lang="en-US" sz="2600" dirty="0">
                <a:latin typeface="Arial MT"/>
                <a:cs typeface="Arial MT"/>
              </a:rPr>
              <a:t>the</a:t>
            </a:r>
            <a:r>
              <a:rPr lang="en-US" sz="2600" spc="-25" dirty="0">
                <a:latin typeface="Arial MT"/>
                <a:cs typeface="Arial MT"/>
              </a:rPr>
              <a:t> </a:t>
            </a:r>
            <a:r>
              <a:rPr lang="en-US" sz="2600" dirty="0">
                <a:latin typeface="Arial MT"/>
                <a:cs typeface="Arial MT"/>
              </a:rPr>
              <a:t>user’s</a:t>
            </a:r>
            <a:r>
              <a:rPr lang="en-US" sz="2600" spc="-50" dirty="0">
                <a:latin typeface="Arial MT"/>
                <a:cs typeface="Arial MT"/>
              </a:rPr>
              <a:t> </a:t>
            </a:r>
            <a:r>
              <a:rPr lang="en-US" sz="2600" dirty="0">
                <a:latin typeface="Arial MT"/>
                <a:cs typeface="Arial MT"/>
              </a:rPr>
              <a:t>external</a:t>
            </a:r>
            <a:r>
              <a:rPr lang="en-US" sz="2600" spc="-45" dirty="0">
                <a:latin typeface="Arial MT"/>
                <a:cs typeface="Arial MT"/>
              </a:rPr>
              <a:t> </a:t>
            </a:r>
            <a:r>
              <a:rPr lang="en-US" sz="2600" dirty="0">
                <a:latin typeface="Arial MT"/>
                <a:cs typeface="Arial MT"/>
              </a:rPr>
              <a:t>view</a:t>
            </a:r>
            <a:r>
              <a:rPr lang="en-US" sz="2600" spc="-45" dirty="0">
                <a:latin typeface="Arial MT"/>
                <a:cs typeface="Arial MT"/>
              </a:rPr>
              <a:t> </a:t>
            </a:r>
            <a:r>
              <a:rPr lang="en-US" sz="2600" spc="-10" dirty="0">
                <a:latin typeface="Arial MT"/>
                <a:cs typeface="Arial MT"/>
              </a:rPr>
              <a:t>(e.g. </a:t>
            </a:r>
            <a:r>
              <a:rPr lang="en-US" sz="2600" dirty="0">
                <a:latin typeface="Arial MT"/>
                <a:cs typeface="Arial MT"/>
              </a:rPr>
              <a:t>formatting</a:t>
            </a:r>
            <a:r>
              <a:rPr lang="en-US" sz="2600" spc="-30" dirty="0">
                <a:latin typeface="Arial MT"/>
                <a:cs typeface="Arial MT"/>
              </a:rPr>
              <a:t> </a:t>
            </a:r>
            <a:r>
              <a:rPr lang="en-US" sz="2600" dirty="0">
                <a:latin typeface="Arial MT"/>
                <a:cs typeface="Arial MT"/>
              </a:rPr>
              <a:t>the</a:t>
            </a:r>
            <a:r>
              <a:rPr lang="en-US" sz="2600" spc="-25" dirty="0">
                <a:latin typeface="Arial MT"/>
                <a:cs typeface="Arial MT"/>
              </a:rPr>
              <a:t> </a:t>
            </a:r>
            <a:r>
              <a:rPr lang="en-US" sz="2600" dirty="0">
                <a:latin typeface="Arial MT"/>
                <a:cs typeface="Arial MT"/>
              </a:rPr>
              <a:t>results</a:t>
            </a:r>
            <a:r>
              <a:rPr lang="en-US" sz="2600" spc="-60" dirty="0">
                <a:latin typeface="Arial MT"/>
                <a:cs typeface="Arial MT"/>
              </a:rPr>
              <a:t> </a:t>
            </a:r>
            <a:r>
              <a:rPr lang="en-US" sz="2600" dirty="0">
                <a:latin typeface="Arial MT"/>
                <a:cs typeface="Arial MT"/>
              </a:rPr>
              <a:t>of</a:t>
            </a:r>
            <a:r>
              <a:rPr lang="en-US" sz="2600" spc="-25" dirty="0">
                <a:latin typeface="Arial MT"/>
                <a:cs typeface="Arial MT"/>
              </a:rPr>
              <a:t> </a:t>
            </a:r>
            <a:r>
              <a:rPr lang="en-US" sz="2600" dirty="0">
                <a:latin typeface="Arial MT"/>
                <a:cs typeface="Arial MT"/>
              </a:rPr>
              <a:t>an</a:t>
            </a:r>
            <a:r>
              <a:rPr lang="en-US" sz="2600" spc="-25" dirty="0">
                <a:latin typeface="Arial MT"/>
                <a:cs typeface="Arial MT"/>
              </a:rPr>
              <a:t> </a:t>
            </a:r>
            <a:r>
              <a:rPr lang="en-US" sz="2600" dirty="0">
                <a:latin typeface="Arial MT"/>
                <a:cs typeface="Arial MT"/>
              </a:rPr>
              <a:t>SQL</a:t>
            </a:r>
            <a:r>
              <a:rPr lang="en-US" sz="2600" spc="-30" dirty="0">
                <a:latin typeface="Arial MT"/>
                <a:cs typeface="Arial MT"/>
              </a:rPr>
              <a:t> </a:t>
            </a:r>
            <a:r>
              <a:rPr lang="en-US" sz="2600" dirty="0">
                <a:latin typeface="Arial MT"/>
                <a:cs typeface="Arial MT"/>
              </a:rPr>
              <a:t>query</a:t>
            </a:r>
            <a:r>
              <a:rPr lang="en-US" sz="2600" spc="-40" dirty="0">
                <a:latin typeface="Arial MT"/>
                <a:cs typeface="Arial MT"/>
              </a:rPr>
              <a:t> </a:t>
            </a:r>
            <a:r>
              <a:rPr lang="en-US" sz="2600" dirty="0">
                <a:latin typeface="Arial MT"/>
                <a:cs typeface="Arial MT"/>
              </a:rPr>
              <a:t>for</a:t>
            </a:r>
            <a:r>
              <a:rPr lang="en-US" sz="2600" spc="-30" dirty="0">
                <a:latin typeface="Arial MT"/>
                <a:cs typeface="Arial MT"/>
              </a:rPr>
              <a:t> </a:t>
            </a:r>
            <a:r>
              <a:rPr lang="en-US" sz="2600" spc="-10" dirty="0">
                <a:latin typeface="Arial MT"/>
                <a:cs typeface="Arial MT"/>
              </a:rPr>
              <a:t>display </a:t>
            </a:r>
            <a:r>
              <a:rPr lang="en-US" sz="2600" dirty="0">
                <a:latin typeface="Arial MT"/>
                <a:cs typeface="Arial MT"/>
              </a:rPr>
              <a:t>in</a:t>
            </a:r>
            <a:r>
              <a:rPr lang="en-US" sz="2600" spc="-10" dirty="0">
                <a:latin typeface="Arial MT"/>
                <a:cs typeface="Arial MT"/>
              </a:rPr>
              <a:t> </a:t>
            </a:r>
            <a:r>
              <a:rPr lang="en-US" sz="2600" dirty="0">
                <a:latin typeface="Arial MT"/>
                <a:cs typeface="Arial MT"/>
              </a:rPr>
              <a:t>a</a:t>
            </a:r>
            <a:r>
              <a:rPr lang="en-US" sz="2600" spc="-10" dirty="0">
                <a:latin typeface="Arial MT"/>
                <a:cs typeface="Arial MT"/>
              </a:rPr>
              <a:t> </a:t>
            </a:r>
            <a:r>
              <a:rPr lang="en-US" sz="2600" dirty="0">
                <a:latin typeface="Arial MT"/>
                <a:cs typeface="Arial MT"/>
              </a:rPr>
              <a:t>Web</a:t>
            </a:r>
            <a:r>
              <a:rPr lang="en-US" sz="2600" spc="-10" dirty="0">
                <a:latin typeface="Arial MT"/>
                <a:cs typeface="Arial MT"/>
              </a:rPr>
              <a:t> page)</a:t>
            </a:r>
            <a:endParaRPr lang="en-US" sz="2600" dirty="0">
              <a:latin typeface="Arial MT"/>
              <a:cs typeface="Arial MT"/>
            </a:endParaRPr>
          </a:p>
        </p:txBody>
      </p:sp>
    </p:spTree>
    <p:extLst>
      <p:ext uri="{BB962C8B-B14F-4D97-AF65-F5344CB8AC3E}">
        <p14:creationId xmlns="" xmlns:p14="http://schemas.microsoft.com/office/powerpoint/2010/main" val="98429079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a:xfrm>
            <a:off x="412518" y="-60557"/>
            <a:ext cx="10515600" cy="1325563"/>
          </a:xfrm>
        </p:spPr>
        <p:txBody>
          <a:bodyPr/>
          <a:lstStyle/>
          <a:p>
            <a:r>
              <a:rPr lang="en-IN" dirty="0"/>
              <a:t>Various Components of a DBMS</a:t>
            </a:r>
            <a:endParaRPr lang="en-US" dirty="0"/>
          </a:p>
        </p:txBody>
      </p:sp>
      <p:pic>
        <p:nvPicPr>
          <p:cNvPr id="59394" name="Picture 2" descr="Lightbox"/>
          <p:cNvPicPr>
            <a:picLocks noChangeAspect="1" noChangeArrowheads="1"/>
          </p:cNvPicPr>
          <p:nvPr/>
        </p:nvPicPr>
        <p:blipFill>
          <a:blip r:embed="rId2"/>
          <a:srcRect/>
          <a:stretch>
            <a:fillRect/>
          </a:stretch>
        </p:blipFill>
        <p:spPr bwMode="auto">
          <a:xfrm>
            <a:off x="2687429" y="1087821"/>
            <a:ext cx="6803412" cy="5705031"/>
          </a:xfrm>
          <a:prstGeom prst="rect">
            <a:avLst/>
          </a:prstGeom>
          <a:noFill/>
        </p:spPr>
      </p:pic>
    </p:spTree>
    <p:extLst>
      <p:ext uri="{BB962C8B-B14F-4D97-AF65-F5344CB8AC3E}">
        <p14:creationId xmlns="" xmlns:p14="http://schemas.microsoft.com/office/powerpoint/2010/main" val="359208589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a:xfrm>
            <a:off x="176028" y="-139387"/>
            <a:ext cx="10515600" cy="1325563"/>
          </a:xfrm>
        </p:spPr>
        <p:txBody>
          <a:bodyPr/>
          <a:lstStyle/>
          <a:p>
            <a:r>
              <a:rPr lang="en-IN" dirty="0"/>
              <a:t>Various Components of a DBMS</a:t>
            </a:r>
            <a:endParaRPr lang="en-US" dirty="0"/>
          </a:p>
        </p:txBody>
      </p:sp>
      <p:sp>
        <p:nvSpPr>
          <p:cNvPr id="3" name="Content Placeholder 2">
            <a:extLst>
              <a:ext uri="{FF2B5EF4-FFF2-40B4-BE49-F238E27FC236}">
                <a16:creationId xmlns="" xmlns:a16="http://schemas.microsoft.com/office/drawing/2014/main" id="{7DB454AC-3437-4231-975E-1F67C0FBC5D2}"/>
              </a:ext>
            </a:extLst>
          </p:cNvPr>
          <p:cNvSpPr>
            <a:spLocks noGrp="1"/>
          </p:cNvSpPr>
          <p:nvPr>
            <p:ph idx="1"/>
          </p:nvPr>
        </p:nvSpPr>
        <p:spPr>
          <a:xfrm>
            <a:off x="425667" y="1150886"/>
            <a:ext cx="11461531" cy="5202427"/>
          </a:xfrm>
        </p:spPr>
        <p:txBody>
          <a:bodyPr>
            <a:normAutofit fontScale="70000" lnSpcReduction="20000"/>
          </a:bodyPr>
          <a:lstStyle/>
          <a:p>
            <a:pPr marL="361950" indent="-361950">
              <a:buFont typeface="Wingdings" pitchFamily="2" charset="2"/>
              <a:buChar char="ü"/>
            </a:pPr>
            <a:r>
              <a:rPr lang="en-IN" dirty="0" smtClean="0"/>
              <a:t>A Database Management System (DBMS) is software that allows users to define, store, maintain, and manage data in a structured and efficient manner. </a:t>
            </a:r>
          </a:p>
          <a:p>
            <a:pPr marL="361950" indent="-361950">
              <a:buFont typeface="Wingdings" pitchFamily="2" charset="2"/>
              <a:buChar char="ü"/>
            </a:pPr>
            <a:r>
              <a:rPr lang="en-IN" dirty="0" smtClean="0"/>
              <a:t>It acts as an intermediary between data and users, allowing disparate data from different applications to be managed. </a:t>
            </a:r>
          </a:p>
          <a:p>
            <a:pPr marL="361950" indent="-361950">
              <a:buFont typeface="Wingdings" pitchFamily="2" charset="2"/>
              <a:buChar char="ü"/>
            </a:pPr>
            <a:r>
              <a:rPr lang="en-IN" dirty="0" smtClean="0"/>
              <a:t>A DBMS simplifies the complexity of data processing by providing tools to organize data, ensure its integrity, and prevent unauthorized access or loss of data. </a:t>
            </a:r>
          </a:p>
          <a:p>
            <a:pPr marL="361950" indent="-361950">
              <a:buFont typeface="Wingdings" pitchFamily="2" charset="2"/>
              <a:buChar char="ü"/>
            </a:pPr>
            <a:r>
              <a:rPr lang="en-IN" dirty="0" smtClean="0"/>
              <a:t>In today’s data-driven world, DBMS are essential for applications such as banking systems, e-commerce platforms, education, and medical systems. </a:t>
            </a:r>
          </a:p>
          <a:p>
            <a:pPr marL="361950" indent="-361950">
              <a:buFont typeface="Wingdings" pitchFamily="2" charset="2"/>
              <a:buChar char="ü"/>
            </a:pPr>
            <a:r>
              <a:rPr lang="en-IN" dirty="0" smtClean="0"/>
              <a:t>They not only store and manage large amounts of data, but also provide functionality that provides performance, security, and scalability for multiple users with multiple access levels.</a:t>
            </a:r>
            <a:endParaRPr lang="en-US" dirty="0"/>
          </a:p>
        </p:txBody>
      </p:sp>
    </p:spTree>
    <p:extLst>
      <p:ext uri="{BB962C8B-B14F-4D97-AF65-F5344CB8AC3E}">
        <p14:creationId xmlns="" xmlns:p14="http://schemas.microsoft.com/office/powerpoint/2010/main" val="311863082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a:xfrm>
            <a:off x="176028" y="-139387"/>
            <a:ext cx="10515600" cy="1325563"/>
          </a:xfrm>
        </p:spPr>
        <p:txBody>
          <a:bodyPr/>
          <a:lstStyle/>
          <a:p>
            <a:r>
              <a:rPr lang="en-IN" dirty="0"/>
              <a:t>Various Components of a DBMS</a:t>
            </a:r>
            <a:endParaRPr lang="en-US" dirty="0"/>
          </a:p>
        </p:txBody>
      </p:sp>
      <p:sp>
        <p:nvSpPr>
          <p:cNvPr id="3" name="Content Placeholder 2">
            <a:extLst>
              <a:ext uri="{FF2B5EF4-FFF2-40B4-BE49-F238E27FC236}">
                <a16:creationId xmlns="" xmlns:a16="http://schemas.microsoft.com/office/drawing/2014/main" id="{7DB454AC-3437-4231-975E-1F67C0FBC5D2}"/>
              </a:ext>
            </a:extLst>
          </p:cNvPr>
          <p:cNvSpPr>
            <a:spLocks noGrp="1"/>
          </p:cNvSpPr>
          <p:nvPr>
            <p:ph idx="1"/>
          </p:nvPr>
        </p:nvSpPr>
        <p:spPr>
          <a:xfrm>
            <a:off x="425667" y="1150886"/>
            <a:ext cx="11461531" cy="5202427"/>
          </a:xfrm>
        </p:spPr>
        <p:txBody>
          <a:bodyPr>
            <a:normAutofit/>
          </a:bodyPr>
          <a:lstStyle/>
          <a:p>
            <a:pPr marL="0" indent="0">
              <a:buNone/>
            </a:pPr>
            <a:r>
              <a:rPr lang="en-IN" sz="2000" b="1" dirty="0" smtClean="0"/>
              <a:t>It also allows access to data stored in a database and provides an easy and effective method of – </a:t>
            </a:r>
          </a:p>
          <a:p>
            <a:pPr marL="361950" indent="-361950">
              <a:buFont typeface="Wingdings" pitchFamily="2" charset="2"/>
              <a:buChar char="ü"/>
            </a:pPr>
            <a:r>
              <a:rPr lang="en-IN" sz="2000" dirty="0" smtClean="0"/>
              <a:t>Defining the information.</a:t>
            </a:r>
          </a:p>
          <a:p>
            <a:pPr marL="361950" indent="-361950">
              <a:buFont typeface="Wingdings" pitchFamily="2" charset="2"/>
              <a:buChar char="ü"/>
            </a:pPr>
            <a:r>
              <a:rPr lang="en-IN" sz="2000" dirty="0" smtClean="0"/>
              <a:t>Storing the information.</a:t>
            </a:r>
          </a:p>
          <a:p>
            <a:pPr marL="361950" indent="-361950">
              <a:buFont typeface="Wingdings" pitchFamily="2" charset="2"/>
              <a:buChar char="ü"/>
            </a:pPr>
            <a:r>
              <a:rPr lang="en-IN" sz="2000" dirty="0" smtClean="0"/>
              <a:t>Manipulating the information.</a:t>
            </a:r>
          </a:p>
          <a:p>
            <a:pPr marL="361950" indent="-361950">
              <a:buFont typeface="Wingdings" pitchFamily="2" charset="2"/>
              <a:buChar char="ü"/>
            </a:pPr>
            <a:r>
              <a:rPr lang="en-IN" sz="2000" dirty="0" smtClean="0"/>
              <a:t>We are protecting the information from system crashes or data theft.</a:t>
            </a:r>
          </a:p>
          <a:p>
            <a:pPr marL="361950" indent="-361950">
              <a:buFont typeface="Wingdings" pitchFamily="2" charset="2"/>
              <a:buChar char="ü"/>
            </a:pPr>
            <a:r>
              <a:rPr lang="en-IN" sz="2000" dirty="0" smtClean="0"/>
              <a:t>Differentiating access permissions for different users.</a:t>
            </a:r>
          </a:p>
        </p:txBody>
      </p:sp>
    </p:spTree>
    <p:extLst>
      <p:ext uri="{BB962C8B-B14F-4D97-AF65-F5344CB8AC3E}">
        <p14:creationId xmlns="" xmlns:p14="http://schemas.microsoft.com/office/powerpoint/2010/main" val="311863082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a:xfrm>
            <a:off x="176028" y="-139387"/>
            <a:ext cx="10515600" cy="1325563"/>
          </a:xfrm>
        </p:spPr>
        <p:txBody>
          <a:bodyPr/>
          <a:lstStyle/>
          <a:p>
            <a:r>
              <a:rPr lang="en-IN" dirty="0"/>
              <a:t>Various Components of a DBMS</a:t>
            </a:r>
            <a:endParaRPr lang="en-US" dirty="0"/>
          </a:p>
        </p:txBody>
      </p:sp>
      <p:pic>
        <p:nvPicPr>
          <p:cNvPr id="158722" name="Picture 2"/>
          <p:cNvPicPr>
            <a:picLocks noChangeAspect="1" noChangeArrowheads="1"/>
          </p:cNvPicPr>
          <p:nvPr/>
        </p:nvPicPr>
        <p:blipFill>
          <a:blip r:embed="rId2"/>
          <a:srcRect/>
          <a:stretch>
            <a:fillRect/>
          </a:stretch>
        </p:blipFill>
        <p:spPr bwMode="auto">
          <a:xfrm>
            <a:off x="894053" y="1115533"/>
            <a:ext cx="9984154" cy="5159148"/>
          </a:xfrm>
          <a:prstGeom prst="rect">
            <a:avLst/>
          </a:prstGeom>
          <a:noFill/>
          <a:ln w="9525">
            <a:noFill/>
            <a:miter lim="800000"/>
            <a:headEnd/>
            <a:tailEnd/>
          </a:ln>
          <a:effectLst/>
        </p:spPr>
      </p:pic>
    </p:spTree>
    <p:extLst>
      <p:ext uri="{BB962C8B-B14F-4D97-AF65-F5344CB8AC3E}">
        <p14:creationId xmlns="" xmlns:p14="http://schemas.microsoft.com/office/powerpoint/2010/main" val="311863082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a:xfrm>
            <a:off x="176028" y="-297047"/>
            <a:ext cx="10515600" cy="1325563"/>
          </a:xfrm>
        </p:spPr>
        <p:txBody>
          <a:bodyPr/>
          <a:lstStyle/>
          <a:p>
            <a:r>
              <a:rPr lang="en-IN" dirty="0"/>
              <a:t>Various Components of a DBMS</a:t>
            </a:r>
            <a:endParaRPr lang="en-US" dirty="0"/>
          </a:p>
        </p:txBody>
      </p:sp>
      <p:pic>
        <p:nvPicPr>
          <p:cNvPr id="159746" name="Picture 2"/>
          <p:cNvPicPr>
            <a:picLocks noChangeAspect="1" noChangeArrowheads="1"/>
          </p:cNvPicPr>
          <p:nvPr/>
        </p:nvPicPr>
        <p:blipFill>
          <a:blip r:embed="rId2"/>
          <a:srcRect/>
          <a:stretch>
            <a:fillRect/>
          </a:stretch>
        </p:blipFill>
        <p:spPr bwMode="auto">
          <a:xfrm>
            <a:off x="504497" y="859894"/>
            <a:ext cx="10216055" cy="5808923"/>
          </a:xfrm>
          <a:prstGeom prst="rect">
            <a:avLst/>
          </a:prstGeom>
          <a:noFill/>
          <a:ln w="9525">
            <a:noFill/>
            <a:miter lim="800000"/>
            <a:headEnd/>
            <a:tailEnd/>
          </a:ln>
          <a:effectLst/>
        </p:spPr>
      </p:pic>
    </p:spTree>
    <p:extLst>
      <p:ext uri="{BB962C8B-B14F-4D97-AF65-F5344CB8AC3E}">
        <p14:creationId xmlns="" xmlns:p14="http://schemas.microsoft.com/office/powerpoint/2010/main" val="311863082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a:xfrm>
            <a:off x="176028" y="-139387"/>
            <a:ext cx="10515600" cy="1325563"/>
          </a:xfrm>
        </p:spPr>
        <p:txBody>
          <a:bodyPr/>
          <a:lstStyle/>
          <a:p>
            <a:r>
              <a:rPr lang="en-IN" dirty="0"/>
              <a:t>Various Components of a DBMS</a:t>
            </a:r>
            <a:endParaRPr lang="en-US" dirty="0"/>
          </a:p>
        </p:txBody>
      </p:sp>
      <p:pic>
        <p:nvPicPr>
          <p:cNvPr id="160770" name="Picture 2"/>
          <p:cNvPicPr>
            <a:picLocks noChangeAspect="1" noChangeArrowheads="1"/>
          </p:cNvPicPr>
          <p:nvPr/>
        </p:nvPicPr>
        <p:blipFill>
          <a:blip r:embed="rId2"/>
          <a:srcRect/>
          <a:stretch>
            <a:fillRect/>
          </a:stretch>
        </p:blipFill>
        <p:spPr bwMode="auto">
          <a:xfrm>
            <a:off x="408201" y="1308531"/>
            <a:ext cx="11116375" cy="4225158"/>
          </a:xfrm>
          <a:prstGeom prst="rect">
            <a:avLst/>
          </a:prstGeom>
          <a:noFill/>
          <a:ln w="9525">
            <a:noFill/>
            <a:miter lim="800000"/>
            <a:headEnd/>
            <a:tailEnd/>
          </a:ln>
          <a:effectLst/>
        </p:spPr>
      </p:pic>
    </p:spTree>
    <p:extLst>
      <p:ext uri="{BB962C8B-B14F-4D97-AF65-F5344CB8AC3E}">
        <p14:creationId xmlns="" xmlns:p14="http://schemas.microsoft.com/office/powerpoint/2010/main" val="311863082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a:xfrm>
            <a:off x="176028" y="-139387"/>
            <a:ext cx="10515600" cy="1325563"/>
          </a:xfrm>
        </p:spPr>
        <p:txBody>
          <a:bodyPr/>
          <a:lstStyle/>
          <a:p>
            <a:r>
              <a:rPr lang="en-IN" dirty="0"/>
              <a:t>Various Components of a DBMS</a:t>
            </a:r>
            <a:endParaRPr lang="en-US" dirty="0"/>
          </a:p>
        </p:txBody>
      </p:sp>
      <p:pic>
        <p:nvPicPr>
          <p:cNvPr id="161794" name="Picture 2"/>
          <p:cNvPicPr>
            <a:picLocks noChangeAspect="1" noChangeArrowheads="1"/>
          </p:cNvPicPr>
          <p:nvPr/>
        </p:nvPicPr>
        <p:blipFill>
          <a:blip r:embed="rId2"/>
          <a:srcRect/>
          <a:stretch>
            <a:fillRect/>
          </a:stretch>
        </p:blipFill>
        <p:spPr bwMode="auto">
          <a:xfrm>
            <a:off x="488731" y="901108"/>
            <a:ext cx="10137227" cy="5686425"/>
          </a:xfrm>
          <a:prstGeom prst="rect">
            <a:avLst/>
          </a:prstGeom>
          <a:noFill/>
          <a:ln w="9525">
            <a:noFill/>
            <a:miter lim="800000"/>
            <a:headEnd/>
            <a:tailEnd/>
          </a:ln>
          <a:effectLst/>
        </p:spPr>
      </p:pic>
    </p:spTree>
    <p:extLst>
      <p:ext uri="{BB962C8B-B14F-4D97-AF65-F5344CB8AC3E}">
        <p14:creationId xmlns="" xmlns:p14="http://schemas.microsoft.com/office/powerpoint/2010/main" val="311863082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E23A4-760B-4D94-A9BA-A24A77591BEB}"/>
              </a:ext>
            </a:extLst>
          </p:cNvPr>
          <p:cNvSpPr>
            <a:spLocks noGrp="1"/>
          </p:cNvSpPr>
          <p:nvPr>
            <p:ph type="title"/>
          </p:nvPr>
        </p:nvSpPr>
        <p:spPr/>
        <p:txBody>
          <a:bodyPr/>
          <a:lstStyle/>
          <a:p>
            <a:r>
              <a:rPr lang="en-IN" dirty="0"/>
              <a:t>Various Components of a DBMS</a:t>
            </a:r>
            <a:endParaRPr lang="en-US" dirty="0"/>
          </a:p>
        </p:txBody>
      </p:sp>
      <p:pic>
        <p:nvPicPr>
          <p:cNvPr id="57345" name="Picture 1"/>
          <p:cNvPicPr>
            <a:picLocks noChangeAspect="1" noChangeArrowheads="1"/>
          </p:cNvPicPr>
          <p:nvPr/>
        </p:nvPicPr>
        <p:blipFill>
          <a:blip r:embed="rId2"/>
          <a:srcRect/>
          <a:stretch>
            <a:fillRect/>
          </a:stretch>
        </p:blipFill>
        <p:spPr bwMode="auto">
          <a:xfrm>
            <a:off x="366203" y="2014694"/>
            <a:ext cx="11589377" cy="3534760"/>
          </a:xfrm>
          <a:prstGeom prst="rect">
            <a:avLst/>
          </a:prstGeom>
          <a:noFill/>
          <a:ln w="9525">
            <a:noFill/>
            <a:miter lim="800000"/>
            <a:headEnd/>
            <a:tailEnd/>
          </a:ln>
          <a:effectLst/>
        </p:spPr>
      </p:pic>
    </p:spTree>
    <p:extLst>
      <p:ext uri="{BB962C8B-B14F-4D97-AF65-F5344CB8AC3E}">
        <p14:creationId xmlns="" xmlns:p14="http://schemas.microsoft.com/office/powerpoint/2010/main" val="54179282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95999A-227F-4F6D-B55C-08FC1E4C190F}"/>
              </a:ext>
            </a:extLst>
          </p:cNvPr>
          <p:cNvSpPr>
            <a:spLocks noGrp="1"/>
          </p:cNvSpPr>
          <p:nvPr>
            <p:ph type="title"/>
          </p:nvPr>
        </p:nvSpPr>
        <p:spPr/>
        <p:txBody>
          <a:bodyPr/>
          <a:lstStyle/>
          <a:p>
            <a:r>
              <a:rPr lang="en-US" dirty="0"/>
              <a:t>Entity Relationship Model</a:t>
            </a:r>
          </a:p>
        </p:txBody>
      </p:sp>
      <p:sp>
        <p:nvSpPr>
          <p:cNvPr id="3" name="Content Placeholder 2">
            <a:extLst>
              <a:ext uri="{FF2B5EF4-FFF2-40B4-BE49-F238E27FC236}">
                <a16:creationId xmlns="" xmlns:a16="http://schemas.microsoft.com/office/drawing/2014/main" id="{405995C5-FFE5-4082-AB55-220E30F9FED1}"/>
              </a:ext>
            </a:extLst>
          </p:cNvPr>
          <p:cNvSpPr>
            <a:spLocks noGrp="1"/>
          </p:cNvSpPr>
          <p:nvPr>
            <p:ph idx="1"/>
          </p:nvPr>
        </p:nvSpPr>
        <p:spPr>
          <a:xfrm>
            <a:off x="838200" y="1690688"/>
            <a:ext cx="10515600" cy="5167312"/>
          </a:xfrm>
        </p:spPr>
        <p:txBody>
          <a:bodyPr>
            <a:normAutofit fontScale="62500" lnSpcReduction="20000"/>
          </a:bodyPr>
          <a:lstStyle/>
          <a:p>
            <a:pPr>
              <a:lnSpc>
                <a:spcPct val="170000"/>
              </a:lnSpc>
            </a:pPr>
            <a:r>
              <a:rPr lang="en-US" dirty="0"/>
              <a:t>ER model develops a conceptual view of the data hence it can be used as a blueprint to implement the database in the future.</a:t>
            </a:r>
          </a:p>
          <a:p>
            <a:pPr>
              <a:lnSpc>
                <a:spcPct val="170000"/>
              </a:lnSpc>
            </a:pPr>
            <a:r>
              <a:rPr lang="en-US" dirty="0"/>
              <a:t>Developers can easily understand the system just by looking at ER diagram. </a:t>
            </a:r>
          </a:p>
          <a:p>
            <a:pPr>
              <a:lnSpc>
                <a:spcPct val="170000"/>
              </a:lnSpc>
            </a:pPr>
            <a:r>
              <a:rPr lang="en-US" dirty="0"/>
              <a:t>Components of an ER diagram.</a:t>
            </a:r>
          </a:p>
          <a:p>
            <a:pPr lvl="1">
              <a:lnSpc>
                <a:spcPct val="170000"/>
              </a:lnSpc>
            </a:pPr>
            <a:r>
              <a:rPr lang="en-US" dirty="0"/>
              <a:t>Entity - Anything that has an independent existence about which we collect the data. To learn more about Entity in DBMS click here.</a:t>
            </a:r>
          </a:p>
          <a:p>
            <a:pPr lvl="1">
              <a:lnSpc>
                <a:spcPct val="170000"/>
              </a:lnSpc>
            </a:pPr>
            <a:r>
              <a:rPr lang="en-US" dirty="0"/>
              <a:t>They are represented as rectangles in the ER diagram. For example - Car, house, employee.</a:t>
            </a:r>
          </a:p>
          <a:p>
            <a:pPr lvl="1">
              <a:lnSpc>
                <a:spcPct val="170000"/>
              </a:lnSpc>
            </a:pPr>
            <a:r>
              <a:rPr lang="en-US" dirty="0"/>
              <a:t>Entity Set - A set of the same type of entities is known as an entity set. For example - Set of students studying in a college.</a:t>
            </a:r>
          </a:p>
          <a:p>
            <a:pPr lvl="1">
              <a:lnSpc>
                <a:spcPct val="170000"/>
              </a:lnSpc>
            </a:pPr>
            <a:r>
              <a:rPr lang="en-US" dirty="0"/>
              <a:t>Attributes - Properties that define entities are called attributes. They are represented by an ellipse shape.</a:t>
            </a:r>
          </a:p>
          <a:p>
            <a:pPr lvl="1">
              <a:lnSpc>
                <a:spcPct val="170000"/>
              </a:lnSpc>
            </a:pPr>
            <a:r>
              <a:rPr lang="en-US" dirty="0"/>
              <a:t>Relationships - A relationship in DBMS is used to describe the association between entities. They are represented as diamond or rhombus shapes in the ER diagram.</a:t>
            </a:r>
          </a:p>
        </p:txBody>
      </p:sp>
    </p:spTree>
    <p:extLst>
      <p:ext uri="{BB962C8B-B14F-4D97-AF65-F5344CB8AC3E}">
        <p14:creationId xmlns="" xmlns:p14="http://schemas.microsoft.com/office/powerpoint/2010/main" val="274880135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AutoShape 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325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9" name="Picture 8" descr="Introduction-to-ER-Model-2-768.jpeg"/>
          <p:cNvPicPr>
            <a:picLocks noChangeAspect="1"/>
          </p:cNvPicPr>
          <p:nvPr/>
        </p:nvPicPr>
        <p:blipFill>
          <a:blip r:embed="rId2"/>
          <a:stretch>
            <a:fillRect/>
          </a:stretch>
        </p:blipFill>
        <p:spPr>
          <a:xfrm>
            <a:off x="1219535" y="819816"/>
            <a:ext cx="9755191" cy="5360274"/>
          </a:xfrm>
          <a:prstGeom prst="rect">
            <a:avLst/>
          </a:prstGeom>
        </p:spPr>
      </p:pic>
    </p:spTree>
    <p:extLst>
      <p:ext uri="{BB962C8B-B14F-4D97-AF65-F5344CB8AC3E}">
        <p14:creationId xmlns="" xmlns:p14="http://schemas.microsoft.com/office/powerpoint/2010/main" val="392401116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AutoShape 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325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61794" name="Picture 2"/>
          <p:cNvPicPr>
            <a:picLocks noChangeAspect="1" noChangeArrowheads="1"/>
          </p:cNvPicPr>
          <p:nvPr/>
        </p:nvPicPr>
        <p:blipFill>
          <a:blip r:embed="rId2"/>
          <a:srcRect/>
          <a:stretch>
            <a:fillRect/>
          </a:stretch>
        </p:blipFill>
        <p:spPr bwMode="auto">
          <a:xfrm>
            <a:off x="737192" y="1418897"/>
            <a:ext cx="11053938" cy="3619828"/>
          </a:xfrm>
          <a:prstGeom prst="rect">
            <a:avLst/>
          </a:prstGeom>
          <a:noFill/>
          <a:ln w="9525">
            <a:noFill/>
            <a:miter lim="800000"/>
            <a:headEnd/>
            <a:tailEnd/>
          </a:ln>
          <a:effectLst/>
        </p:spPr>
      </p:pic>
    </p:spTree>
    <p:extLst>
      <p:ext uri="{BB962C8B-B14F-4D97-AF65-F5344CB8AC3E}">
        <p14:creationId xmlns="" xmlns:p14="http://schemas.microsoft.com/office/powerpoint/2010/main" val="392401116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5433D3-365D-41BF-BCA5-AF192A4BDB74}"/>
              </a:ext>
            </a:extLst>
          </p:cNvPr>
          <p:cNvSpPr>
            <a:spLocks noGrp="1"/>
          </p:cNvSpPr>
          <p:nvPr>
            <p:ph type="title"/>
          </p:nvPr>
        </p:nvSpPr>
        <p:spPr/>
        <p:txBody>
          <a:bodyPr/>
          <a:lstStyle/>
          <a:p>
            <a:r>
              <a:rPr lang="en-IN" dirty="0"/>
              <a:t>Entity Types</a:t>
            </a:r>
            <a:endParaRPr lang="en-US" dirty="0"/>
          </a:p>
        </p:txBody>
      </p:sp>
      <p:sp>
        <p:nvSpPr>
          <p:cNvPr id="3" name="Content Placeholder 2">
            <a:extLst>
              <a:ext uri="{FF2B5EF4-FFF2-40B4-BE49-F238E27FC236}">
                <a16:creationId xmlns="" xmlns:a16="http://schemas.microsoft.com/office/drawing/2014/main" id="{43E441D6-44A2-4D8D-9E71-B34F5849D5D0}"/>
              </a:ext>
            </a:extLst>
          </p:cNvPr>
          <p:cNvSpPr>
            <a:spLocks noGrp="1"/>
          </p:cNvSpPr>
          <p:nvPr>
            <p:ph idx="1"/>
          </p:nvPr>
        </p:nvSpPr>
        <p:spPr/>
        <p:txBody>
          <a:bodyPr/>
          <a:lstStyle/>
          <a:p>
            <a:pPr>
              <a:defRPr/>
            </a:pPr>
            <a:r>
              <a:rPr lang="en-US" sz="1800" dirty="0">
                <a:latin typeface="Times New Roman" panose="02020603050405020304" pitchFamily="18" charset="0"/>
                <a:cs typeface="Times New Roman" panose="02020603050405020304" pitchFamily="18" charset="0"/>
              </a:rPr>
              <a:t>A </a:t>
            </a:r>
            <a:r>
              <a:rPr lang="en-US" sz="1800" i="1" dirty="0">
                <a:latin typeface="Times New Roman" panose="02020603050405020304" pitchFamily="18" charset="0"/>
                <a:cs typeface="Times New Roman" panose="02020603050405020304" pitchFamily="18" charset="0"/>
              </a:rPr>
              <a:t>database</a:t>
            </a:r>
            <a:r>
              <a:rPr lang="en-US" sz="1800" dirty="0">
                <a:latin typeface="Times New Roman" panose="02020603050405020304" pitchFamily="18" charset="0"/>
                <a:cs typeface="Times New Roman" panose="02020603050405020304" pitchFamily="18" charset="0"/>
              </a:rPr>
              <a:t> can be modeled as:</a:t>
            </a:r>
          </a:p>
          <a:p>
            <a:pPr lvl="1">
              <a:defRPr/>
            </a:pPr>
            <a:r>
              <a:rPr lang="en-US" dirty="0">
                <a:latin typeface="Times New Roman" panose="02020603050405020304" pitchFamily="18" charset="0"/>
                <a:cs typeface="Times New Roman" panose="02020603050405020304" pitchFamily="18" charset="0"/>
              </a:rPr>
              <a:t>a collection of entities,</a:t>
            </a:r>
          </a:p>
          <a:p>
            <a:pPr lvl="1">
              <a:defRPr/>
            </a:pPr>
            <a:r>
              <a:rPr lang="en-US" dirty="0">
                <a:latin typeface="Times New Roman" panose="02020603050405020304" pitchFamily="18" charset="0"/>
                <a:cs typeface="Times New Roman" panose="02020603050405020304" pitchFamily="18" charset="0"/>
              </a:rPr>
              <a:t>relationship among entities.</a:t>
            </a:r>
          </a:p>
          <a:p>
            <a:pPr>
              <a:defRPr/>
            </a:pPr>
            <a:r>
              <a:rPr lang="en-US" sz="1800" dirty="0">
                <a:latin typeface="Times New Roman" panose="02020603050405020304" pitchFamily="18" charset="0"/>
                <a:cs typeface="Times New Roman" panose="02020603050405020304" pitchFamily="18" charset="0"/>
              </a:rPr>
              <a:t>Entity : An </a:t>
            </a:r>
            <a:r>
              <a:rPr lang="en-US" sz="1800" i="1" dirty="0">
                <a:solidFill>
                  <a:schemeClr val="tx2"/>
                </a:solidFill>
                <a:latin typeface="Times New Roman" panose="02020603050405020304" pitchFamily="18" charset="0"/>
                <a:cs typeface="Times New Roman" panose="02020603050405020304" pitchFamily="18" charset="0"/>
              </a:rPr>
              <a:t>entity</a:t>
            </a:r>
            <a:r>
              <a:rPr lang="en-US" sz="1800" dirty="0">
                <a:latin typeface="Times New Roman" panose="02020603050405020304" pitchFamily="18" charset="0"/>
                <a:cs typeface="Times New Roman" panose="02020603050405020304" pitchFamily="18" charset="0"/>
              </a:rPr>
              <a:t> is an object that exists and is distinguishable from other objects.</a:t>
            </a:r>
          </a:p>
          <a:p>
            <a:pPr lvl="1">
              <a:defRPr/>
            </a:pPr>
            <a:r>
              <a:rPr lang="en-US" dirty="0">
                <a:latin typeface="Times New Roman" panose="02020603050405020304" pitchFamily="18" charset="0"/>
                <a:cs typeface="Times New Roman" panose="02020603050405020304" pitchFamily="18" charset="0"/>
              </a:rPr>
              <a:t>Example:  specific person, company, event, course.</a:t>
            </a:r>
          </a:p>
        </p:txBody>
      </p:sp>
    </p:spTree>
    <p:extLst>
      <p:ext uri="{BB962C8B-B14F-4D97-AF65-F5344CB8AC3E}">
        <p14:creationId xmlns="" xmlns:p14="http://schemas.microsoft.com/office/powerpoint/2010/main" val="392401116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3DC42B-877F-49BB-965C-D029BA2F889F}"/>
              </a:ext>
            </a:extLst>
          </p:cNvPr>
          <p:cNvSpPr>
            <a:spLocks noGrp="1"/>
          </p:cNvSpPr>
          <p:nvPr>
            <p:ph type="title"/>
          </p:nvPr>
        </p:nvSpPr>
        <p:spPr/>
        <p:txBody>
          <a:bodyPr/>
          <a:lstStyle/>
          <a:p>
            <a:r>
              <a:rPr lang="en-US" dirty="0"/>
              <a:t>Entity Sets</a:t>
            </a:r>
          </a:p>
        </p:txBody>
      </p:sp>
      <p:sp>
        <p:nvSpPr>
          <p:cNvPr id="3" name="Content Placeholder 2">
            <a:extLst>
              <a:ext uri="{FF2B5EF4-FFF2-40B4-BE49-F238E27FC236}">
                <a16:creationId xmlns="" xmlns:a16="http://schemas.microsoft.com/office/drawing/2014/main" id="{52146BBE-44C9-4729-B65F-5F5FADA093C1}"/>
              </a:ext>
            </a:extLst>
          </p:cNvPr>
          <p:cNvSpPr>
            <a:spLocks noGrp="1"/>
          </p:cNvSpPr>
          <p:nvPr>
            <p:ph idx="1"/>
          </p:nvPr>
        </p:nvSpPr>
        <p:spPr/>
        <p:txBody>
          <a:bodyPr/>
          <a:lstStyle/>
          <a:p>
            <a:r>
              <a:rPr lang="en-US" dirty="0"/>
              <a:t>The collection of all entities of a particular entity type in the database at any point in time is called an entity set or entity collection; the entity set is usually referred to using the same name as the entity type, even though they are two separate concepts.</a:t>
            </a:r>
          </a:p>
        </p:txBody>
      </p:sp>
    </p:spTree>
    <p:extLst>
      <p:ext uri="{BB962C8B-B14F-4D97-AF65-F5344CB8AC3E}">
        <p14:creationId xmlns="" xmlns:p14="http://schemas.microsoft.com/office/powerpoint/2010/main" val="32070334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3C31D8-712E-40EC-A6E4-CE7ED892F342}"/>
              </a:ext>
            </a:extLst>
          </p:cNvPr>
          <p:cNvSpPr>
            <a:spLocks noGrp="1"/>
          </p:cNvSpPr>
          <p:nvPr>
            <p:ph type="title"/>
          </p:nvPr>
        </p:nvSpPr>
        <p:spPr/>
        <p:txBody>
          <a:bodyPr/>
          <a:lstStyle/>
          <a:p>
            <a:r>
              <a:rPr lang="en-US" dirty="0"/>
              <a:t>Entity Sets</a:t>
            </a:r>
          </a:p>
        </p:txBody>
      </p:sp>
      <p:sp>
        <p:nvSpPr>
          <p:cNvPr id="3" name="Content Placeholder 2">
            <a:extLst>
              <a:ext uri="{FF2B5EF4-FFF2-40B4-BE49-F238E27FC236}">
                <a16:creationId xmlns="" xmlns:a16="http://schemas.microsoft.com/office/drawing/2014/main" id="{95FCFCB8-1CF8-45B3-95D7-91ECEBCCEA6C}"/>
              </a:ext>
            </a:extLst>
          </p:cNvPr>
          <p:cNvSpPr>
            <a:spLocks noGrp="1"/>
          </p:cNvSpPr>
          <p:nvPr>
            <p:ph idx="1"/>
          </p:nvPr>
        </p:nvSpPr>
        <p:spPr/>
        <p:txBody>
          <a:bodyPr/>
          <a:lstStyle/>
          <a:p>
            <a:r>
              <a:rPr lang="en-US" dirty="0"/>
              <a:t>Two entity types, EMPLOYEE and COMPANY, and some member entities of each. </a:t>
            </a:r>
          </a:p>
        </p:txBody>
      </p:sp>
      <p:pic>
        <p:nvPicPr>
          <p:cNvPr id="4" name="Picture 3">
            <a:extLst>
              <a:ext uri="{FF2B5EF4-FFF2-40B4-BE49-F238E27FC236}">
                <a16:creationId xmlns="" xmlns:a16="http://schemas.microsoft.com/office/drawing/2014/main" id="{E9911845-DD5F-40BC-8943-91749EF30424}"/>
              </a:ext>
            </a:extLst>
          </p:cNvPr>
          <p:cNvPicPr>
            <a:picLocks noChangeAspect="1"/>
          </p:cNvPicPr>
          <p:nvPr/>
        </p:nvPicPr>
        <p:blipFill>
          <a:blip r:embed="rId2"/>
          <a:stretch>
            <a:fillRect/>
          </a:stretch>
        </p:blipFill>
        <p:spPr>
          <a:xfrm>
            <a:off x="3231197" y="3142732"/>
            <a:ext cx="5729605" cy="3573028"/>
          </a:xfrm>
          <a:prstGeom prst="rect">
            <a:avLst/>
          </a:prstGeom>
        </p:spPr>
      </p:pic>
    </p:spTree>
    <p:extLst>
      <p:ext uri="{BB962C8B-B14F-4D97-AF65-F5344CB8AC3E}">
        <p14:creationId xmlns="" xmlns:p14="http://schemas.microsoft.com/office/powerpoint/2010/main" val="7994214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BF1967-27CC-478C-9213-AAC1D1EC8614}"/>
              </a:ext>
            </a:extLst>
          </p:cNvPr>
          <p:cNvSpPr>
            <a:spLocks noGrp="1"/>
          </p:cNvSpPr>
          <p:nvPr>
            <p:ph type="title"/>
          </p:nvPr>
        </p:nvSpPr>
        <p:spPr/>
        <p:txBody>
          <a:bodyPr/>
          <a:lstStyle/>
          <a:p>
            <a:r>
              <a:rPr lang="en-US" dirty="0"/>
              <a:t>Entity Sets</a:t>
            </a:r>
          </a:p>
        </p:txBody>
      </p:sp>
      <p:pic>
        <p:nvPicPr>
          <p:cNvPr id="4" name="Content Placeholder 3">
            <a:extLst>
              <a:ext uri="{FF2B5EF4-FFF2-40B4-BE49-F238E27FC236}">
                <a16:creationId xmlns="" xmlns:a16="http://schemas.microsoft.com/office/drawing/2014/main" id="{F0C9E305-E59A-4159-B41C-D5EF24664F24}"/>
              </a:ext>
            </a:extLst>
          </p:cNvPr>
          <p:cNvPicPr>
            <a:picLocks noGrp="1" noChangeAspect="1"/>
          </p:cNvPicPr>
          <p:nvPr>
            <p:ph idx="1"/>
          </p:nvPr>
        </p:nvPicPr>
        <p:blipFill>
          <a:blip r:embed="rId2"/>
          <a:stretch>
            <a:fillRect/>
          </a:stretch>
        </p:blipFill>
        <p:spPr>
          <a:xfrm>
            <a:off x="3243262" y="1972469"/>
            <a:ext cx="5705475" cy="4191000"/>
          </a:xfrm>
          <a:prstGeom prst="rect">
            <a:avLst/>
          </a:prstGeom>
        </p:spPr>
      </p:pic>
    </p:spTree>
    <p:extLst>
      <p:ext uri="{BB962C8B-B14F-4D97-AF65-F5344CB8AC3E}">
        <p14:creationId xmlns="" xmlns:p14="http://schemas.microsoft.com/office/powerpoint/2010/main" val="1498049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5B2965-86AF-43FE-B218-12C214728DDF}"/>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C5C57740-7409-439E-B290-2C15FFD009E2}"/>
              </a:ext>
            </a:extLst>
          </p:cNvPr>
          <p:cNvSpPr>
            <a:spLocks noGrp="1"/>
          </p:cNvSpPr>
          <p:nvPr>
            <p:ph idx="1"/>
          </p:nvPr>
        </p:nvSpPr>
        <p:spPr/>
        <p:txBody>
          <a:bodyPr/>
          <a:lstStyle/>
          <a:p>
            <a:pPr>
              <a:defRPr/>
            </a:pPr>
            <a:r>
              <a:rPr lang="en-US" sz="1800" dirty="0">
                <a:latin typeface="Times New Roman" panose="02020603050405020304" pitchFamily="18" charset="0"/>
                <a:cs typeface="Times New Roman" panose="02020603050405020304" pitchFamily="18" charset="0"/>
              </a:rPr>
              <a:t>Entities have </a:t>
            </a:r>
            <a:r>
              <a:rPr lang="en-US" sz="1800" i="1" dirty="0">
                <a:latin typeface="Times New Roman" panose="02020603050405020304" pitchFamily="18" charset="0"/>
                <a:cs typeface="Times New Roman" panose="02020603050405020304" pitchFamily="18" charset="0"/>
              </a:rPr>
              <a:t>attributes</a:t>
            </a:r>
          </a:p>
          <a:p>
            <a:pPr lvl="1">
              <a:defRPr/>
            </a:pPr>
            <a:r>
              <a:rPr lang="en-US" dirty="0">
                <a:latin typeface="Times New Roman" panose="02020603050405020304" pitchFamily="18" charset="0"/>
                <a:cs typeface="Times New Roman" panose="02020603050405020304" pitchFamily="18" charset="0"/>
              </a:rPr>
              <a:t>Example: people have </a:t>
            </a:r>
            <a:r>
              <a:rPr lang="en-US" i="1" dirty="0">
                <a:latin typeface="Times New Roman" panose="02020603050405020304" pitchFamily="18" charset="0"/>
                <a:cs typeface="Times New Roman" panose="02020603050405020304" pitchFamily="18" charset="0"/>
              </a:rPr>
              <a:t>names </a:t>
            </a:r>
            <a:r>
              <a:rPr lang="en-US" dirty="0">
                <a:latin typeface="Times New Roman" panose="02020603050405020304" pitchFamily="18" charset="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rPr>
              <a:t>addresses	</a:t>
            </a:r>
          </a:p>
          <a:p>
            <a:pPr>
              <a:defRPr/>
            </a:pPr>
            <a:r>
              <a:rPr lang="en-US" sz="1800" dirty="0">
                <a:latin typeface="Times New Roman" panose="02020603050405020304" pitchFamily="18" charset="0"/>
                <a:cs typeface="Times New Roman" panose="02020603050405020304" pitchFamily="18" charset="0"/>
              </a:rPr>
              <a:t>Attributes : Attributes are characteristics of entity.</a:t>
            </a:r>
          </a:p>
          <a:p>
            <a:pPr marL="342900" lvl="1" indent="0">
              <a:buNone/>
              <a:defRPr/>
            </a:pPr>
            <a:r>
              <a:rPr lang="en-US" dirty="0">
                <a:latin typeface="Times New Roman" panose="02020603050405020304" pitchFamily="18" charset="0"/>
                <a:cs typeface="Times New Roman" panose="02020603050405020304" pitchFamily="18" charset="0"/>
              </a:rPr>
              <a:t>Example: </a:t>
            </a:r>
          </a:p>
          <a:p>
            <a:pPr lvl="1">
              <a:defRPr/>
            </a:pPr>
            <a:r>
              <a:rPr lang="en-US" dirty="0">
                <a:latin typeface="Times New Roman" panose="02020603050405020304" pitchFamily="18" charset="0"/>
                <a:cs typeface="Times New Roman" panose="02020603050405020304" pitchFamily="18" charset="0"/>
              </a:rPr>
              <a:t>Student Attributes : </a:t>
            </a:r>
            <a:r>
              <a:rPr lang="en-US" b="1" dirty="0">
                <a:latin typeface="Times New Roman" panose="02020603050405020304" pitchFamily="18" charset="0"/>
                <a:cs typeface="Times New Roman" panose="02020603050405020304" pitchFamily="18" charset="0"/>
              </a:rPr>
              <a:t>roll no , </a:t>
            </a:r>
            <a:r>
              <a:rPr lang="en-US" b="1" dirty="0" err="1">
                <a:latin typeface="Times New Roman" panose="02020603050405020304" pitchFamily="18" charset="0"/>
                <a:cs typeface="Times New Roman" panose="02020603050405020304" pitchFamily="18" charset="0"/>
              </a:rPr>
              <a:t>studentname</a:t>
            </a:r>
            <a:endParaRPr lang="en-US" b="1" dirty="0">
              <a:latin typeface="Times New Roman" panose="02020603050405020304" pitchFamily="18" charset="0"/>
              <a:cs typeface="Times New Roman" panose="02020603050405020304" pitchFamily="18" charset="0"/>
            </a:endParaRPr>
          </a:p>
          <a:p>
            <a:pPr lvl="1">
              <a:defRPr/>
            </a:pPr>
            <a:r>
              <a:rPr lang="en-US" dirty="0">
                <a:latin typeface="Times New Roman" panose="02020603050405020304" pitchFamily="18" charset="0"/>
                <a:cs typeface="Times New Roman" panose="02020603050405020304" pitchFamily="18" charset="0"/>
              </a:rPr>
              <a:t>Project Attributes : </a:t>
            </a:r>
            <a:r>
              <a:rPr lang="en-US" b="1" dirty="0" err="1">
                <a:latin typeface="Times New Roman" panose="02020603050405020304" pitchFamily="18" charset="0"/>
                <a:cs typeface="Times New Roman" panose="02020603050405020304" pitchFamily="18" charset="0"/>
              </a:rPr>
              <a:t>projectno</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projectname</a:t>
            </a:r>
            <a:r>
              <a:rPr lang="en-US" b="1" dirty="0">
                <a:latin typeface="Times New Roman" panose="02020603050405020304" pitchFamily="18" charset="0"/>
                <a:cs typeface="Times New Roman" panose="02020603050405020304" pitchFamily="18" charset="0"/>
              </a:rPr>
              <a:t> ,Dept.</a:t>
            </a:r>
            <a:endParaRPr lang="en-US" b="1" i="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6661386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5B2965-86AF-43FE-B218-12C214728DDF}"/>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C5C57740-7409-439E-B290-2C15FFD009E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An entity is represented by a set of attributes, that is descriptive properties possessed by all members of an entity set.</a:t>
            </a:r>
          </a:p>
          <a:p>
            <a:endParaRPr lang="en-US" dirty="0"/>
          </a:p>
        </p:txBody>
      </p:sp>
      <p:sp>
        <p:nvSpPr>
          <p:cNvPr id="4" name="Text Box 6">
            <a:extLst>
              <a:ext uri="{FF2B5EF4-FFF2-40B4-BE49-F238E27FC236}">
                <a16:creationId xmlns="" xmlns:a16="http://schemas.microsoft.com/office/drawing/2014/main" id="{5B568453-8792-4C64-851D-12772E6D8D63}"/>
              </a:ext>
            </a:extLst>
          </p:cNvPr>
          <p:cNvSpPr txBox="1">
            <a:spLocks noChangeArrowheads="1"/>
          </p:cNvSpPr>
          <p:nvPr/>
        </p:nvSpPr>
        <p:spPr bwMode="auto">
          <a:xfrm>
            <a:off x="1721645" y="3242391"/>
            <a:ext cx="6431756" cy="21259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9pPr>
          </a:lstStyle>
          <a:p>
            <a:pPr>
              <a:lnSpc>
                <a:spcPct val="90000"/>
              </a:lnSpc>
              <a:buFont typeface="Monotype Sorts" pitchFamily="2" charset="2"/>
              <a:buNone/>
            </a:pPr>
            <a:endParaRPr lang="en-US" altLang="en-US" sz="1500" dirty="0">
              <a:latin typeface="Times New Roman" panose="02020603050405020304" pitchFamily="18" charset="0"/>
              <a:cs typeface="Times New Roman" panose="02020603050405020304" pitchFamily="18" charset="0"/>
            </a:endParaRPr>
          </a:p>
          <a:p>
            <a:pPr>
              <a:lnSpc>
                <a:spcPct val="90000"/>
              </a:lnSpc>
              <a:buFont typeface="Monotype Sorts" pitchFamily="2" charset="2"/>
              <a:buNone/>
            </a:pPr>
            <a:endParaRPr lang="en-US" altLang="en-US" sz="1500" dirty="0">
              <a:latin typeface="Times New Roman" panose="02020603050405020304" pitchFamily="18" charset="0"/>
              <a:cs typeface="Times New Roman" panose="02020603050405020304" pitchFamily="18" charset="0"/>
            </a:endParaRPr>
          </a:p>
          <a:p>
            <a:pPr>
              <a:lnSpc>
                <a:spcPct val="90000"/>
              </a:lnSpc>
              <a:buFont typeface="Monotype Sorts" pitchFamily="2" charset="2"/>
              <a:buNone/>
            </a:pPr>
            <a:r>
              <a:rPr lang="en-US" altLang="en-US" sz="1800" dirty="0">
                <a:latin typeface="Times New Roman" panose="02020603050405020304" pitchFamily="18" charset="0"/>
                <a:cs typeface="Times New Roman" panose="02020603050405020304" pitchFamily="18" charset="0"/>
              </a:rPr>
              <a:t>Example: </a:t>
            </a:r>
          </a:p>
          <a:p>
            <a:pPr>
              <a:lnSpc>
                <a:spcPct val="90000"/>
              </a:lnSpc>
              <a:buFont typeface="Monotype Sorts" pitchFamily="2" charset="2"/>
              <a:buNone/>
            </a:pPr>
            <a:r>
              <a:rPr lang="en-US" altLang="en-US" sz="1800" i="1" dirty="0">
                <a:latin typeface="Times New Roman" panose="02020603050405020304" pitchFamily="18" charset="0"/>
                <a:cs typeface="Times New Roman" panose="02020603050405020304" pitchFamily="18" charset="0"/>
              </a:rPr>
              <a:t>1)  customer = (customer-id, customer-name, 		  customer-street, customer-city)</a:t>
            </a:r>
          </a:p>
          <a:p>
            <a:pPr>
              <a:lnSpc>
                <a:spcPct val="90000"/>
              </a:lnSpc>
              <a:buFont typeface="Monotype Sorts" pitchFamily="2" charset="2"/>
              <a:buNone/>
            </a:pPr>
            <a:r>
              <a:rPr lang="en-US" altLang="en-US" sz="1800" i="1" dirty="0">
                <a:latin typeface="Times New Roman" panose="02020603050405020304" pitchFamily="18" charset="0"/>
                <a:cs typeface="Times New Roman" panose="02020603050405020304" pitchFamily="18" charset="0"/>
              </a:rPr>
              <a:t/>
            </a:r>
            <a:br>
              <a:rPr lang="en-US" altLang="en-US" sz="1800" i="1" dirty="0">
                <a:latin typeface="Times New Roman" panose="02020603050405020304" pitchFamily="18" charset="0"/>
                <a:cs typeface="Times New Roman" panose="02020603050405020304" pitchFamily="18" charset="0"/>
              </a:rPr>
            </a:br>
            <a:r>
              <a:rPr lang="en-US" altLang="en-US" sz="1800" i="1" dirty="0">
                <a:latin typeface="Times New Roman" panose="02020603050405020304" pitchFamily="18" charset="0"/>
                <a:cs typeface="Times New Roman" panose="02020603050405020304" pitchFamily="18" charset="0"/>
              </a:rPr>
              <a:t>2)  loan = (loan-number, amount</a:t>
            </a:r>
            <a:r>
              <a:rPr lang="en-US" altLang="en-US" sz="1500" i="1" dirty="0">
                <a:latin typeface="Times New Roman" panose="02020603050405020304" pitchFamily="18" charset="0"/>
                <a:cs typeface="Times New Roman" panose="02020603050405020304" pitchFamily="18" charset="0"/>
              </a:rPr>
              <a:t>)</a:t>
            </a:r>
          </a:p>
        </p:txBody>
      </p:sp>
    </p:spTree>
    <p:extLst>
      <p:ext uri="{BB962C8B-B14F-4D97-AF65-F5344CB8AC3E}">
        <p14:creationId xmlns="" xmlns:p14="http://schemas.microsoft.com/office/powerpoint/2010/main" val="13146939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5B2965-86AF-43FE-B218-12C214728DDF}"/>
              </a:ext>
            </a:extLst>
          </p:cNvPr>
          <p:cNvSpPr>
            <a:spLocks noGrp="1"/>
          </p:cNvSpPr>
          <p:nvPr>
            <p:ph type="title"/>
          </p:nvPr>
        </p:nvSpPr>
        <p:spPr/>
        <p:txBody>
          <a:bodyPr/>
          <a:lstStyle/>
          <a:p>
            <a:r>
              <a:rPr lang="en-IN" dirty="0"/>
              <a:t>Attributes</a:t>
            </a:r>
            <a:endParaRPr lang="en-US" dirty="0"/>
          </a:p>
        </p:txBody>
      </p:sp>
      <p:pic>
        <p:nvPicPr>
          <p:cNvPr id="4" name="Content Placeholder 3">
            <a:extLst>
              <a:ext uri="{FF2B5EF4-FFF2-40B4-BE49-F238E27FC236}">
                <a16:creationId xmlns="" xmlns:a16="http://schemas.microsoft.com/office/drawing/2014/main" id="{6EAAC469-22A7-4E14-8EBB-D0EDFC5AF5E7}"/>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1800225" y="1939131"/>
            <a:ext cx="8591550" cy="4257675"/>
          </a:xfr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37906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5B2965-86AF-43FE-B218-12C214728DDF}"/>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C5C57740-7409-439E-B290-2C15FFD009E2}"/>
              </a:ext>
            </a:extLst>
          </p:cNvPr>
          <p:cNvSpPr>
            <a:spLocks noGrp="1"/>
          </p:cNvSpPr>
          <p:nvPr>
            <p:ph idx="1"/>
          </p:nvPr>
        </p:nvSpPr>
        <p:spPr/>
        <p:txBody>
          <a:bodyPr/>
          <a:lstStyle/>
          <a:p>
            <a:r>
              <a:rPr lang="en-GB" dirty="0"/>
              <a:t>Simple Attribute</a:t>
            </a:r>
          </a:p>
          <a:p>
            <a:pPr marL="342900" lvl="1" indent="0">
              <a:buNone/>
            </a:pPr>
            <a:r>
              <a:rPr lang="en-US" altLang="en-US" dirty="0">
                <a:latin typeface="Times New Roman" panose="02020603050405020304" pitchFamily="18" charset="0"/>
                <a:cs typeface="Times New Roman" panose="02020603050405020304" pitchFamily="18" charset="0"/>
              </a:rPr>
              <a:t>Simple attributes are those that are atomic (Not  Divisible).</a:t>
            </a:r>
          </a:p>
          <a:p>
            <a:pPr marL="342900" lvl="1" indent="0">
              <a:buNone/>
            </a:pPr>
            <a:r>
              <a:rPr lang="en-US" altLang="en-US" dirty="0">
                <a:latin typeface="Times New Roman" panose="02020603050405020304" pitchFamily="18" charset="0"/>
                <a:cs typeface="Times New Roman" panose="02020603050405020304" pitchFamily="18" charset="0"/>
              </a:rPr>
              <a:t>Example: </a:t>
            </a:r>
            <a:r>
              <a:rPr lang="en-US" altLang="en-US" dirty="0" err="1">
                <a:latin typeface="Times New Roman" panose="02020603050405020304" pitchFamily="18" charset="0"/>
                <a:cs typeface="Times New Roman" panose="02020603050405020304" pitchFamily="18" charset="0"/>
              </a:rPr>
              <a:t>Roll_no</a:t>
            </a:r>
            <a:r>
              <a:rPr lang="en-US" altLang="en-US" dirty="0">
                <a:latin typeface="Times New Roman" panose="02020603050405020304" pitchFamily="18" charset="0"/>
                <a:cs typeface="Times New Roman" panose="02020603050405020304" pitchFamily="18" charset="0"/>
              </a:rPr>
              <a:t>, Class and Age.</a:t>
            </a:r>
          </a:p>
          <a:p>
            <a:endParaRPr lang="en-US" dirty="0"/>
          </a:p>
        </p:txBody>
      </p:sp>
      <p:pic>
        <p:nvPicPr>
          <p:cNvPr id="4" name="Picture 3">
            <a:extLst>
              <a:ext uri="{FF2B5EF4-FFF2-40B4-BE49-F238E27FC236}">
                <a16:creationId xmlns="" xmlns:a16="http://schemas.microsoft.com/office/drawing/2014/main" id="{B0D7FBAA-59EA-483D-A782-58FD2CE21958}"/>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373120" y="4092682"/>
            <a:ext cx="4572000" cy="19788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857396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5B2965-86AF-43FE-B218-12C214728DDF}"/>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C5C57740-7409-439E-B290-2C15FFD009E2}"/>
              </a:ext>
            </a:extLst>
          </p:cNvPr>
          <p:cNvSpPr>
            <a:spLocks noGrp="1"/>
          </p:cNvSpPr>
          <p:nvPr>
            <p:ph idx="1"/>
          </p:nvPr>
        </p:nvSpPr>
        <p:spPr/>
        <p:txBody>
          <a:bodyPr/>
          <a:lstStyle/>
          <a:p>
            <a:r>
              <a:rPr lang="en-GB" dirty="0"/>
              <a:t>Composite Attributes</a:t>
            </a:r>
          </a:p>
          <a:p>
            <a:r>
              <a:rPr lang="en-US" altLang="en-US" sz="2000" dirty="0">
                <a:latin typeface="Times New Roman" panose="02020603050405020304" pitchFamily="18" charset="0"/>
                <a:cs typeface="Times New Roman" panose="02020603050405020304" pitchFamily="18" charset="0"/>
              </a:rPr>
              <a:t>Composite attributes are those that can be further subdivided into simpler parts.</a:t>
            </a:r>
            <a:r>
              <a:rPr lang="en-IN" altLang="en-US" sz="2000" dirty="0">
                <a:latin typeface="Times New Roman" panose="02020603050405020304" pitchFamily="18" charset="0"/>
                <a:cs typeface="Times New Roman" panose="02020603050405020304" pitchFamily="18" charset="0"/>
              </a:rPr>
              <a:t> Here, the attributes “Name” and “Address” are composite attributes as they are composed of many other simple attributes.</a:t>
            </a:r>
            <a:endParaRPr lang="en-US" sz="2000" dirty="0"/>
          </a:p>
        </p:txBody>
      </p:sp>
      <p:pic>
        <p:nvPicPr>
          <p:cNvPr id="4" name="Picture 2">
            <a:extLst>
              <a:ext uri="{FF2B5EF4-FFF2-40B4-BE49-F238E27FC236}">
                <a16:creationId xmlns="" xmlns:a16="http://schemas.microsoft.com/office/drawing/2014/main" id="{87E11310-38BE-4026-AEF6-1CF892C8AEC7}"/>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348648" y="3949070"/>
            <a:ext cx="6036469" cy="26789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976009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5B2965-86AF-43FE-B218-12C214728DDF}"/>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C5C57740-7409-439E-B290-2C15FFD009E2}"/>
              </a:ext>
            </a:extLst>
          </p:cNvPr>
          <p:cNvSpPr>
            <a:spLocks noGrp="1"/>
          </p:cNvSpPr>
          <p:nvPr>
            <p:ph idx="1"/>
          </p:nvPr>
        </p:nvSpPr>
        <p:spPr/>
        <p:txBody>
          <a:bodyPr/>
          <a:lstStyle/>
          <a:p>
            <a:r>
              <a:rPr lang="en-GB" dirty="0"/>
              <a:t>Single Valued Attribute</a:t>
            </a:r>
          </a:p>
          <a:p>
            <a:r>
              <a:rPr lang="en-IN" altLang="en-US" sz="2000" dirty="0">
                <a:latin typeface="Times New Roman" panose="02020603050405020304" pitchFamily="18" charset="0"/>
                <a:cs typeface="Times New Roman" panose="02020603050405020304" pitchFamily="18" charset="0"/>
              </a:rPr>
              <a:t>Single valued attributes are those attributes which can take only one value for a given entity from an entity set.</a:t>
            </a:r>
          </a:p>
          <a:p>
            <a:r>
              <a:rPr lang="en-IN" altLang="en-US" sz="2000" dirty="0">
                <a:latin typeface="Times New Roman" panose="02020603050405020304" pitchFamily="18" charset="0"/>
                <a:cs typeface="Times New Roman" panose="02020603050405020304" pitchFamily="18" charset="0"/>
              </a:rPr>
              <a:t>Here, all the attributes are single valued attributes as they can take only one specific value for each entity. </a:t>
            </a:r>
          </a:p>
          <a:p>
            <a:endParaRPr lang="en-US" dirty="0"/>
          </a:p>
        </p:txBody>
      </p:sp>
      <p:pic>
        <p:nvPicPr>
          <p:cNvPr id="4" name="Picture 2">
            <a:extLst>
              <a:ext uri="{FF2B5EF4-FFF2-40B4-BE49-F238E27FC236}">
                <a16:creationId xmlns="" xmlns:a16="http://schemas.microsoft.com/office/drawing/2014/main" id="{562C8B05-94D3-4905-8AF3-B495BACA8D76}"/>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399155" y="4473446"/>
            <a:ext cx="4743450" cy="2114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130057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0D252B-E8B2-47B1-A43B-FEEA81FCC0EE}"/>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71F64ABE-F364-4B34-9B0D-64645145D287}"/>
              </a:ext>
            </a:extLst>
          </p:cNvPr>
          <p:cNvSpPr>
            <a:spLocks noGrp="1"/>
          </p:cNvSpPr>
          <p:nvPr>
            <p:ph idx="1"/>
          </p:nvPr>
        </p:nvSpPr>
        <p:spPr/>
        <p:txBody>
          <a:bodyPr/>
          <a:lstStyle/>
          <a:p>
            <a:r>
              <a:rPr lang="en-GB" dirty="0"/>
              <a:t>Multi-Valued Attributes</a:t>
            </a:r>
          </a:p>
          <a:p>
            <a:r>
              <a:rPr lang="en-IN" altLang="en-US" sz="1800" dirty="0">
                <a:latin typeface="Times New Roman" panose="02020603050405020304" pitchFamily="18" charset="0"/>
                <a:cs typeface="Times New Roman" panose="02020603050405020304" pitchFamily="18" charset="0"/>
              </a:rPr>
              <a:t>Multi valued attributes are those attributes which can take more than one value for a given entity from an entity set.</a:t>
            </a:r>
          </a:p>
          <a:p>
            <a:r>
              <a:rPr lang="en-IN" altLang="en-US" sz="1800" dirty="0">
                <a:latin typeface="Times New Roman" panose="02020603050405020304" pitchFamily="18" charset="0"/>
                <a:cs typeface="Times New Roman" panose="02020603050405020304" pitchFamily="18" charset="0"/>
              </a:rPr>
              <a:t>Here, the attributes “</a:t>
            </a:r>
            <a:r>
              <a:rPr lang="en-IN" altLang="en-US" sz="1800" dirty="0" err="1">
                <a:latin typeface="Times New Roman" panose="02020603050405020304" pitchFamily="18" charset="0"/>
                <a:cs typeface="Times New Roman" panose="02020603050405020304" pitchFamily="18" charset="0"/>
              </a:rPr>
              <a:t>Mob_no</a:t>
            </a:r>
            <a:r>
              <a:rPr lang="en-IN" altLang="en-US" sz="1800" dirty="0">
                <a:latin typeface="Times New Roman" panose="02020603050405020304" pitchFamily="18" charset="0"/>
                <a:cs typeface="Times New Roman" panose="02020603050405020304" pitchFamily="18" charset="0"/>
              </a:rPr>
              <a:t>” and “</a:t>
            </a:r>
            <a:r>
              <a:rPr lang="en-IN" altLang="en-US" sz="1800" dirty="0" err="1">
                <a:latin typeface="Times New Roman" panose="02020603050405020304" pitchFamily="18" charset="0"/>
                <a:cs typeface="Times New Roman" panose="02020603050405020304" pitchFamily="18" charset="0"/>
              </a:rPr>
              <a:t>Email_id</a:t>
            </a:r>
            <a:r>
              <a:rPr lang="en-IN" altLang="en-US" sz="1800" dirty="0">
                <a:latin typeface="Times New Roman" panose="02020603050405020304" pitchFamily="18" charset="0"/>
                <a:cs typeface="Times New Roman" panose="02020603050405020304" pitchFamily="18" charset="0"/>
              </a:rPr>
              <a:t>” are multi valued attributes as they can take more than one values for a given entity.</a:t>
            </a:r>
            <a:endParaRPr lang="en-GB" altLang="en-US" sz="1800" dirty="0">
              <a:latin typeface="Times New Roman" panose="02020603050405020304" pitchFamily="18" charset="0"/>
              <a:cs typeface="Times New Roman" panose="02020603050405020304" pitchFamily="18" charset="0"/>
            </a:endParaRPr>
          </a:p>
        </p:txBody>
      </p:sp>
      <p:pic>
        <p:nvPicPr>
          <p:cNvPr id="4" name="Picture 2">
            <a:extLst>
              <a:ext uri="{FF2B5EF4-FFF2-40B4-BE49-F238E27FC236}">
                <a16:creationId xmlns="" xmlns:a16="http://schemas.microsoft.com/office/drawing/2014/main" id="{CAEDCC04-7D38-497F-81B6-AF74150A70FC}"/>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063943" y="4549775"/>
            <a:ext cx="5743575" cy="1943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 xmlns:a16="http://schemas.microsoft.com/office/drawing/2014/main" id="{24150D7D-1DFA-4091-90AC-9202EA1707ED}"/>
              </a:ext>
            </a:extLst>
          </p:cNvPr>
          <p:cNvPicPr>
            <a:picLocks noChangeAspect="1"/>
          </p:cNvPicPr>
          <p:nvPr/>
        </p:nvPicPr>
        <p:blipFill>
          <a:blip r:embed="rId4"/>
          <a:stretch>
            <a:fillRect/>
          </a:stretch>
        </p:blipFill>
        <p:spPr>
          <a:xfrm>
            <a:off x="6807518" y="4767476"/>
            <a:ext cx="4371975" cy="1676400"/>
          </a:xfrm>
          <a:prstGeom prst="rect">
            <a:avLst/>
          </a:prstGeom>
        </p:spPr>
      </p:pic>
    </p:spTree>
    <p:extLst>
      <p:ext uri="{BB962C8B-B14F-4D97-AF65-F5344CB8AC3E}">
        <p14:creationId xmlns="" xmlns:p14="http://schemas.microsoft.com/office/powerpoint/2010/main" val="31147952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E560E5-A48F-4FAF-BF5D-C2C9B69854AF}"/>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2FE2F105-6ABF-480D-8289-8A5F75B71229}"/>
              </a:ext>
            </a:extLst>
          </p:cNvPr>
          <p:cNvSpPr>
            <a:spLocks noGrp="1"/>
          </p:cNvSpPr>
          <p:nvPr>
            <p:ph idx="1"/>
          </p:nvPr>
        </p:nvSpPr>
        <p:spPr/>
        <p:txBody>
          <a:bodyPr/>
          <a:lstStyle/>
          <a:p>
            <a:r>
              <a:rPr lang="en-GB" dirty="0"/>
              <a:t>Derived Attributes</a:t>
            </a:r>
          </a:p>
          <a:p>
            <a:r>
              <a:rPr lang="en-IN" altLang="en-US" sz="2000" dirty="0"/>
              <a:t>Derived attributes are those attributes which can be derived from other attribute(s).</a:t>
            </a:r>
          </a:p>
          <a:p>
            <a:r>
              <a:rPr lang="en-IN" altLang="en-US" sz="2000" dirty="0"/>
              <a:t>Here, the attribute “Age” is a derived attribute as it can be derived from the attribute “DOB”.</a:t>
            </a:r>
          </a:p>
        </p:txBody>
      </p:sp>
      <p:pic>
        <p:nvPicPr>
          <p:cNvPr id="4" name="Picture 2">
            <a:extLst>
              <a:ext uri="{FF2B5EF4-FFF2-40B4-BE49-F238E27FC236}">
                <a16:creationId xmlns="" xmlns:a16="http://schemas.microsoft.com/office/drawing/2014/main" id="{A0DA6362-CD69-437F-AE8B-009AD7293AA4}"/>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451497" y="4206982"/>
            <a:ext cx="4221956" cy="20359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 xmlns:a16="http://schemas.microsoft.com/office/drawing/2014/main" id="{4437C851-41FF-4B8D-BEC6-1A549721E54B}"/>
              </a:ext>
            </a:extLst>
          </p:cNvPr>
          <p:cNvPicPr>
            <a:picLocks noChangeAspect="1"/>
          </p:cNvPicPr>
          <p:nvPr/>
        </p:nvPicPr>
        <p:blipFill>
          <a:blip r:embed="rId3"/>
          <a:stretch>
            <a:fillRect/>
          </a:stretch>
        </p:blipFill>
        <p:spPr>
          <a:xfrm>
            <a:off x="7758430" y="4443626"/>
            <a:ext cx="3067050" cy="2000250"/>
          </a:xfrm>
          <a:prstGeom prst="rect">
            <a:avLst/>
          </a:prstGeom>
        </p:spPr>
      </p:pic>
    </p:spTree>
    <p:extLst>
      <p:ext uri="{BB962C8B-B14F-4D97-AF65-F5344CB8AC3E}">
        <p14:creationId xmlns="" xmlns:p14="http://schemas.microsoft.com/office/powerpoint/2010/main" val="2214115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E560E5-A48F-4FAF-BF5D-C2C9B69854AF}"/>
              </a:ext>
            </a:extLst>
          </p:cNvPr>
          <p:cNvSpPr>
            <a:spLocks noGrp="1"/>
          </p:cNvSpPr>
          <p:nvPr>
            <p:ph type="title"/>
          </p:nvPr>
        </p:nvSpPr>
        <p:spPr/>
        <p:txBody>
          <a:bodyPr/>
          <a:lstStyle/>
          <a:p>
            <a:r>
              <a:rPr lang="en-IN" dirty="0"/>
              <a:t>Attributes</a:t>
            </a:r>
            <a:endParaRPr lang="en-US" dirty="0"/>
          </a:p>
        </p:txBody>
      </p:sp>
      <p:sp>
        <p:nvSpPr>
          <p:cNvPr id="3" name="Content Placeholder 2">
            <a:extLst>
              <a:ext uri="{FF2B5EF4-FFF2-40B4-BE49-F238E27FC236}">
                <a16:creationId xmlns="" xmlns:a16="http://schemas.microsoft.com/office/drawing/2014/main" id="{2FE2F105-6ABF-480D-8289-8A5F75B71229}"/>
              </a:ext>
            </a:extLst>
          </p:cNvPr>
          <p:cNvSpPr>
            <a:spLocks noGrp="1"/>
          </p:cNvSpPr>
          <p:nvPr>
            <p:ph idx="1"/>
          </p:nvPr>
        </p:nvSpPr>
        <p:spPr/>
        <p:txBody>
          <a:bodyPr/>
          <a:lstStyle/>
          <a:p>
            <a:r>
              <a:rPr lang="en-GB" dirty="0"/>
              <a:t>Key Attributes</a:t>
            </a:r>
          </a:p>
          <a:p>
            <a:r>
              <a:rPr lang="en-IN" altLang="en-US" sz="2000" dirty="0">
                <a:latin typeface="Times New Roman" panose="02020603050405020304" pitchFamily="18" charset="0"/>
                <a:cs typeface="Times New Roman" panose="02020603050405020304" pitchFamily="18" charset="0"/>
              </a:rPr>
              <a:t>Key attributes are those attributes which can identify an entity uniquely in an entity set.</a:t>
            </a:r>
          </a:p>
          <a:p>
            <a:r>
              <a:rPr lang="en-IN" altLang="en-US" sz="2000" dirty="0">
                <a:latin typeface="Times New Roman" panose="02020603050405020304" pitchFamily="18" charset="0"/>
                <a:cs typeface="Times New Roman" panose="02020603050405020304" pitchFamily="18" charset="0"/>
              </a:rPr>
              <a:t>Here, the attribute “</a:t>
            </a:r>
            <a:r>
              <a:rPr lang="en-IN" altLang="en-US" sz="2000" dirty="0" err="1">
                <a:latin typeface="Times New Roman" panose="02020603050405020304" pitchFamily="18" charset="0"/>
                <a:cs typeface="Times New Roman" panose="02020603050405020304" pitchFamily="18" charset="0"/>
              </a:rPr>
              <a:t>Roll_no</a:t>
            </a:r>
            <a:r>
              <a:rPr lang="en-IN" altLang="en-US" sz="2000" dirty="0">
                <a:latin typeface="Times New Roman" panose="02020603050405020304" pitchFamily="18" charset="0"/>
                <a:cs typeface="Times New Roman" panose="02020603050405020304" pitchFamily="18" charset="0"/>
              </a:rPr>
              <a:t>” is a key attribute as it can identify any student uniquely.</a:t>
            </a:r>
          </a:p>
          <a:p>
            <a:endParaRPr lang="en-US" dirty="0"/>
          </a:p>
        </p:txBody>
      </p:sp>
      <p:pic>
        <p:nvPicPr>
          <p:cNvPr id="4" name="Picture 3">
            <a:extLst>
              <a:ext uri="{FF2B5EF4-FFF2-40B4-BE49-F238E27FC236}">
                <a16:creationId xmlns="" xmlns:a16="http://schemas.microsoft.com/office/drawing/2014/main" id="{759A573B-ADD9-415C-94ED-0586CBBCB158}"/>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512939" y="4067282"/>
            <a:ext cx="5166122" cy="21097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864887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1F5BE7-3860-4E9E-AAF3-C1023C7C0546}"/>
              </a:ext>
            </a:extLst>
          </p:cNvPr>
          <p:cNvSpPr>
            <a:spLocks noGrp="1"/>
          </p:cNvSpPr>
          <p:nvPr>
            <p:ph type="title"/>
          </p:nvPr>
        </p:nvSpPr>
        <p:spPr/>
        <p:txBody>
          <a:bodyPr/>
          <a:lstStyle/>
          <a:p>
            <a:r>
              <a:rPr lang="en-US" dirty="0"/>
              <a:t>Attributes</a:t>
            </a:r>
          </a:p>
        </p:txBody>
      </p:sp>
      <p:sp>
        <p:nvSpPr>
          <p:cNvPr id="3" name="Content Placeholder 2">
            <a:extLst>
              <a:ext uri="{FF2B5EF4-FFF2-40B4-BE49-F238E27FC236}">
                <a16:creationId xmlns="" xmlns:a16="http://schemas.microsoft.com/office/drawing/2014/main" id="{2C606F1B-1E99-41B1-8F14-85B6707A775E}"/>
              </a:ext>
            </a:extLst>
          </p:cNvPr>
          <p:cNvSpPr>
            <a:spLocks noGrp="1"/>
          </p:cNvSpPr>
          <p:nvPr>
            <p:ph idx="1"/>
          </p:nvPr>
        </p:nvSpPr>
        <p:spPr/>
        <p:txBody>
          <a:bodyPr>
            <a:normAutofit fontScale="85000" lnSpcReduction="20000"/>
          </a:bodyPr>
          <a:lstStyle/>
          <a:p>
            <a:pPr>
              <a:lnSpc>
                <a:spcPct val="90000"/>
              </a:lnSpc>
              <a:defRPr/>
            </a:pPr>
            <a:r>
              <a:rPr lang="en-US" dirty="0">
                <a:latin typeface="Times New Roman" panose="02020603050405020304" pitchFamily="18" charset="0"/>
                <a:cs typeface="Times New Roman" panose="02020603050405020304" pitchFamily="18" charset="0"/>
              </a:rPr>
              <a:t>Domain:</a:t>
            </a:r>
          </a:p>
          <a:p>
            <a:pPr lvl="1">
              <a:lnSpc>
                <a:spcPct val="90000"/>
              </a:lnSpc>
              <a:defRPr/>
            </a:pPr>
            <a:r>
              <a:rPr lang="en-US" sz="1500" b="1" i="1" dirty="0">
                <a:latin typeface="Times New Roman" panose="02020603050405020304" pitchFamily="18" charset="0"/>
                <a:cs typeface="Times New Roman" panose="02020603050405020304" pitchFamily="18" charset="0"/>
              </a:rPr>
              <a:t>Domain</a:t>
            </a:r>
            <a:r>
              <a:rPr lang="en-US" sz="1500" i="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 of an attribute is the set of all values that the attribute can take.  </a:t>
            </a:r>
          </a:p>
          <a:p>
            <a:pPr marL="342900" lvl="1" indent="0">
              <a:buNone/>
              <a:defRPr/>
            </a:pPr>
            <a:r>
              <a:rPr lang="en-US" sz="1500" dirty="0">
                <a:latin typeface="Times New Roman" panose="02020603050405020304" pitchFamily="18" charset="0"/>
                <a:cs typeface="Times New Roman" panose="02020603050405020304" pitchFamily="18" charset="0"/>
              </a:rPr>
              <a:t>Ex : AGE  of an employee can take values from 20 to 60 .</a:t>
            </a:r>
          </a:p>
          <a:p>
            <a:pPr marL="342900" lvl="1" indent="0">
              <a:buNone/>
              <a:defRPr/>
            </a:pPr>
            <a:r>
              <a:rPr lang="en-US" sz="1500" dirty="0">
                <a:latin typeface="Times New Roman" panose="02020603050405020304" pitchFamily="18" charset="0"/>
                <a:cs typeface="Times New Roman" panose="02020603050405020304" pitchFamily="18" charset="0"/>
              </a:rPr>
              <a:t>       Domain set of AGE attribute for the employee is {20,21. …. 59,60}.</a:t>
            </a:r>
          </a:p>
          <a:p>
            <a:pPr marL="342900" lvl="1" indent="0">
              <a:buNone/>
              <a:defRPr/>
            </a:pPr>
            <a:endParaRPr lang="en-US" sz="1500" dirty="0">
              <a:latin typeface="Times New Roman" panose="02020603050405020304" pitchFamily="18" charset="0"/>
              <a:cs typeface="Times New Roman" panose="02020603050405020304" pitchFamily="18" charset="0"/>
            </a:endParaRPr>
          </a:p>
          <a:p>
            <a:pPr marL="342900" lvl="1" indent="0">
              <a:buNone/>
              <a:defRPr/>
            </a:pPr>
            <a:endParaRPr lang="en-US" sz="1500" dirty="0">
              <a:latin typeface="Times New Roman" panose="02020603050405020304" pitchFamily="18" charset="0"/>
              <a:cs typeface="Times New Roman" panose="02020603050405020304" pitchFamily="18" charset="0"/>
            </a:endParaRPr>
          </a:p>
          <a:p>
            <a:pPr marL="342900" lvl="1" indent="0">
              <a:buNone/>
              <a:defRPr/>
            </a:pPr>
            <a:endParaRPr lang="en-US" sz="1500" dirty="0">
              <a:latin typeface="Times New Roman" panose="02020603050405020304" pitchFamily="18" charset="0"/>
              <a:cs typeface="Times New Roman" panose="02020603050405020304" pitchFamily="18" charset="0"/>
            </a:endParaRPr>
          </a:p>
          <a:p>
            <a:pPr marL="342900" lvl="1" indent="0">
              <a:buNone/>
              <a:defRPr/>
            </a:pPr>
            <a:endParaRPr lang="en-US" sz="1350" dirty="0"/>
          </a:p>
          <a:p>
            <a:pPr marL="342900" lvl="1" indent="0">
              <a:buNone/>
              <a:defRPr/>
            </a:pPr>
            <a:endParaRPr lang="en-US" sz="1350" dirty="0"/>
          </a:p>
          <a:p>
            <a:pPr marL="342900" lvl="1" indent="0">
              <a:buNone/>
              <a:defRPr/>
            </a:pPr>
            <a:endParaRPr lang="en-US" sz="1350" dirty="0"/>
          </a:p>
          <a:p>
            <a:pPr marL="342900" lvl="1" indent="0">
              <a:buNone/>
              <a:defRPr/>
            </a:pPr>
            <a:endParaRPr lang="en-US" sz="1350" dirty="0"/>
          </a:p>
          <a:p>
            <a:pPr marL="342900" lvl="1" indent="0">
              <a:buNone/>
              <a:defRPr/>
            </a:pPr>
            <a:r>
              <a:rPr lang="en-US" sz="1350" dirty="0"/>
              <a:t>Entity                   - EMPLOYEE</a:t>
            </a:r>
          </a:p>
          <a:p>
            <a:pPr marL="342900" lvl="1" indent="0">
              <a:buNone/>
              <a:defRPr/>
            </a:pPr>
            <a:r>
              <a:rPr lang="en-US" sz="1350" dirty="0"/>
              <a:t>Attributes             - ENO,ENAME,AGE,DNO</a:t>
            </a:r>
          </a:p>
          <a:p>
            <a:pPr marL="342900" lvl="1" indent="0">
              <a:buNone/>
              <a:defRPr/>
            </a:pPr>
            <a:r>
              <a:rPr lang="en-US" sz="1350" dirty="0"/>
              <a:t>Domain of AGE   - {34,45,26,24}</a:t>
            </a:r>
          </a:p>
          <a:p>
            <a:endParaRPr lang="en-US" dirty="0"/>
          </a:p>
        </p:txBody>
      </p:sp>
      <p:pic>
        <p:nvPicPr>
          <p:cNvPr id="4" name="Picture 3">
            <a:extLst>
              <a:ext uri="{FF2B5EF4-FFF2-40B4-BE49-F238E27FC236}">
                <a16:creationId xmlns="" xmlns:a16="http://schemas.microsoft.com/office/drawing/2014/main" id="{4D9084A1-D8A4-4536-BB7B-F3AEA7DCCFDB}"/>
              </a:ext>
            </a:extLst>
          </p:cNvPr>
          <p:cNvPicPr>
            <a:picLocks noChangeAspect="1"/>
          </p:cNvPicPr>
          <p:nvPr/>
        </p:nvPicPr>
        <p:blipFill>
          <a:blip r:embed="rId2"/>
          <a:stretch>
            <a:fillRect/>
          </a:stretch>
        </p:blipFill>
        <p:spPr>
          <a:xfrm>
            <a:off x="2906395" y="3352907"/>
            <a:ext cx="4591050" cy="1428750"/>
          </a:xfrm>
          <a:prstGeom prst="rect">
            <a:avLst/>
          </a:prstGeom>
        </p:spPr>
      </p:pic>
    </p:spTree>
    <p:extLst>
      <p:ext uri="{BB962C8B-B14F-4D97-AF65-F5344CB8AC3E}">
        <p14:creationId xmlns="" xmlns:p14="http://schemas.microsoft.com/office/powerpoint/2010/main" val="41396304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normAutofit fontScale="77500" lnSpcReduction="20000"/>
          </a:bodyPr>
          <a:lstStyle/>
          <a:p>
            <a:r>
              <a:rPr lang="en-US" dirty="0"/>
              <a:t>A relationship type R among n entity types E</a:t>
            </a:r>
            <a:r>
              <a:rPr lang="en-US" baseline="-25000" dirty="0"/>
              <a:t>1</a:t>
            </a:r>
            <a:r>
              <a:rPr lang="en-US" dirty="0"/>
              <a:t>, E</a:t>
            </a:r>
            <a:r>
              <a:rPr lang="en-US" baseline="-25000" dirty="0"/>
              <a:t>2</a:t>
            </a:r>
            <a:r>
              <a:rPr lang="en-US" dirty="0"/>
              <a:t>, . . . , </a:t>
            </a:r>
            <a:r>
              <a:rPr lang="en-US" dirty="0" err="1"/>
              <a:t>E</a:t>
            </a:r>
            <a:r>
              <a:rPr lang="en-US" baseline="-25000" dirty="0" err="1"/>
              <a:t>n</a:t>
            </a:r>
            <a:r>
              <a:rPr lang="en-US" dirty="0"/>
              <a:t> defines a set of associations—or a relationship set—among entities from these entity types. </a:t>
            </a:r>
          </a:p>
          <a:p>
            <a:r>
              <a:rPr lang="en-US" dirty="0"/>
              <a:t>Similar to the case of entity types and entity sets, a relationship type and its corresponding relationship set are customarily referred to by the same name, R.</a:t>
            </a:r>
          </a:p>
          <a:p>
            <a:r>
              <a:rPr lang="en-US" dirty="0"/>
              <a:t>Mathematically, the relationship set R is a set of relationship instances </a:t>
            </a:r>
            <a:r>
              <a:rPr lang="en-US" dirty="0" err="1"/>
              <a:t>r</a:t>
            </a:r>
            <a:r>
              <a:rPr lang="en-US" baseline="-25000" dirty="0" err="1"/>
              <a:t>i</a:t>
            </a:r>
            <a:r>
              <a:rPr lang="en-US" dirty="0"/>
              <a:t>, where each </a:t>
            </a:r>
            <a:r>
              <a:rPr lang="en-US" dirty="0" err="1"/>
              <a:t>r</a:t>
            </a:r>
            <a:r>
              <a:rPr lang="en-US" baseline="-25000" dirty="0" err="1"/>
              <a:t>i</a:t>
            </a:r>
            <a:r>
              <a:rPr lang="en-US" dirty="0"/>
              <a:t> associates n individual entities (e</a:t>
            </a:r>
            <a:r>
              <a:rPr lang="en-US" baseline="-25000" dirty="0"/>
              <a:t>1</a:t>
            </a:r>
            <a:r>
              <a:rPr lang="en-US" dirty="0"/>
              <a:t>, e</a:t>
            </a:r>
            <a:r>
              <a:rPr lang="en-US" baseline="-25000" dirty="0"/>
              <a:t>2</a:t>
            </a:r>
            <a:r>
              <a:rPr lang="en-US" dirty="0"/>
              <a:t>, . . . , </a:t>
            </a:r>
            <a:r>
              <a:rPr lang="en-US" dirty="0" err="1"/>
              <a:t>e</a:t>
            </a:r>
            <a:r>
              <a:rPr lang="en-US" baseline="-25000" dirty="0" err="1"/>
              <a:t>n</a:t>
            </a:r>
            <a:r>
              <a:rPr lang="en-US" dirty="0"/>
              <a:t>), and each entity </a:t>
            </a:r>
            <a:r>
              <a:rPr lang="en-US" dirty="0" err="1"/>
              <a:t>e</a:t>
            </a:r>
            <a:r>
              <a:rPr lang="en-US" baseline="-25000" dirty="0" err="1"/>
              <a:t>j</a:t>
            </a:r>
            <a:r>
              <a:rPr lang="en-US" dirty="0"/>
              <a:t> in </a:t>
            </a:r>
            <a:r>
              <a:rPr lang="en-US" dirty="0" err="1"/>
              <a:t>r</a:t>
            </a:r>
            <a:r>
              <a:rPr lang="en-US" baseline="-25000" dirty="0" err="1"/>
              <a:t>i</a:t>
            </a:r>
            <a:r>
              <a:rPr lang="en-US" dirty="0"/>
              <a:t> is a member of entity set </a:t>
            </a:r>
            <a:r>
              <a:rPr lang="en-US" dirty="0" err="1"/>
              <a:t>E</a:t>
            </a:r>
            <a:r>
              <a:rPr lang="en-US" baseline="-25000" dirty="0" err="1"/>
              <a:t>j</a:t>
            </a:r>
            <a:r>
              <a:rPr lang="en-US" dirty="0"/>
              <a:t> , 1 ≤ j ≤ n. </a:t>
            </a:r>
          </a:p>
        </p:txBody>
      </p:sp>
    </p:spTree>
    <p:extLst>
      <p:ext uri="{BB962C8B-B14F-4D97-AF65-F5344CB8AC3E}">
        <p14:creationId xmlns="" xmlns:p14="http://schemas.microsoft.com/office/powerpoint/2010/main" val="4673096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normAutofit/>
          </a:bodyPr>
          <a:lstStyle/>
          <a:p>
            <a:r>
              <a:rPr lang="en-US" sz="1600" dirty="0"/>
              <a:t>Some instances in the WORKS_FOR relationship set, which represents a relationship type WORKS_FOR between EMPLOYEE and DEPARTMENT. </a:t>
            </a:r>
          </a:p>
        </p:txBody>
      </p:sp>
      <p:pic>
        <p:nvPicPr>
          <p:cNvPr id="4" name="Picture 3">
            <a:extLst>
              <a:ext uri="{FF2B5EF4-FFF2-40B4-BE49-F238E27FC236}">
                <a16:creationId xmlns="" xmlns:a16="http://schemas.microsoft.com/office/drawing/2014/main" id="{F951DCF8-BE73-491A-83FE-CE0A60A0BFB1}"/>
              </a:ext>
            </a:extLst>
          </p:cNvPr>
          <p:cNvPicPr>
            <a:picLocks noChangeAspect="1"/>
          </p:cNvPicPr>
          <p:nvPr/>
        </p:nvPicPr>
        <p:blipFill>
          <a:blip r:embed="rId2"/>
          <a:stretch>
            <a:fillRect/>
          </a:stretch>
        </p:blipFill>
        <p:spPr>
          <a:xfrm>
            <a:off x="3680777" y="2960266"/>
            <a:ext cx="4354513" cy="3483610"/>
          </a:xfrm>
          <a:prstGeom prst="rect">
            <a:avLst/>
          </a:prstGeom>
        </p:spPr>
      </p:pic>
    </p:spTree>
    <p:extLst>
      <p:ext uri="{BB962C8B-B14F-4D97-AF65-F5344CB8AC3E}">
        <p14:creationId xmlns="" xmlns:p14="http://schemas.microsoft.com/office/powerpoint/2010/main" val="37416436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pic>
        <p:nvPicPr>
          <p:cNvPr id="4" name="Content Placeholder 3">
            <a:extLst>
              <a:ext uri="{FF2B5EF4-FFF2-40B4-BE49-F238E27FC236}">
                <a16:creationId xmlns="" xmlns:a16="http://schemas.microsoft.com/office/drawing/2014/main" id="{C57AE82C-DE36-4FB2-9C7C-01BC31A4382D}"/>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l="1250" t="7619" r="1428" b="8809"/>
          <a:stretch>
            <a:fillRect/>
          </a:stretch>
        </p:blipFill>
        <p:spPr bwMode="auto">
          <a:xfrm>
            <a:off x="2717828" y="1892300"/>
            <a:ext cx="6756344" cy="4351338"/>
          </a:xfrm>
          <a:prstGeom prst="rect">
            <a:avLst/>
          </a:prstGeom>
          <a:noFill/>
          <a:ln w="76200" cmpd="tri">
            <a:solidFill>
              <a:schemeClr val="tx2"/>
            </a:solidFill>
            <a:miter lim="800000"/>
            <a:headEnd/>
            <a:tailEnd/>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6674388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lstStyle/>
          <a:p>
            <a:pPr>
              <a:tabLst>
                <a:tab pos="1152525" algn="ctr"/>
                <a:tab pos="2657475" algn="ctr"/>
                <a:tab pos="4111229" algn="ctr"/>
              </a:tabLst>
            </a:pPr>
            <a:r>
              <a:rPr lang="en-US" altLang="en-US" sz="1800" dirty="0"/>
              <a:t>The  </a:t>
            </a:r>
            <a:r>
              <a:rPr lang="en-US" altLang="en-US" sz="1800" i="1" dirty="0">
                <a:solidFill>
                  <a:schemeClr val="tx2"/>
                </a:solidFill>
              </a:rPr>
              <a:t>relationship </a:t>
            </a:r>
            <a:r>
              <a:rPr lang="en-US" altLang="en-US" sz="1800" dirty="0"/>
              <a:t> can be described by certain characteristics.</a:t>
            </a:r>
            <a:r>
              <a:rPr lang="en-US" altLang="en-US" dirty="0">
                <a:sym typeface="Symbol" panose="05050102010706020507" pitchFamily="18" charset="2"/>
              </a:rPr>
              <a:t>		</a:t>
            </a:r>
            <a:endParaRPr lang="en-US" altLang="en-US" sz="1350" dirty="0">
              <a:sym typeface="Symbol" panose="05050102010706020507" pitchFamily="18" charset="2"/>
            </a:endParaRPr>
          </a:p>
          <a:p>
            <a:pPr lvl="1">
              <a:tabLst>
                <a:tab pos="1152525" algn="ctr"/>
                <a:tab pos="2657475" algn="ctr"/>
                <a:tab pos="4111229" algn="ctr"/>
              </a:tabLst>
            </a:pPr>
            <a:r>
              <a:rPr lang="en-US" altLang="en-US" b="1" dirty="0">
                <a:sym typeface="Symbol" panose="05050102010706020507" pitchFamily="18" charset="2"/>
              </a:rPr>
              <a:t>Degree of the relationship.</a:t>
            </a:r>
          </a:p>
          <a:p>
            <a:pPr lvl="1">
              <a:tabLst>
                <a:tab pos="1152525" algn="ctr"/>
                <a:tab pos="2657475" algn="ctr"/>
                <a:tab pos="4111229" algn="ctr"/>
              </a:tabLst>
            </a:pPr>
            <a:r>
              <a:rPr lang="en-US" altLang="en-US" b="1" dirty="0">
                <a:sym typeface="Symbol" panose="05050102010706020507" pitchFamily="18" charset="2"/>
              </a:rPr>
              <a:t>Role.</a:t>
            </a:r>
          </a:p>
          <a:p>
            <a:pPr lvl="1">
              <a:tabLst>
                <a:tab pos="1152525" algn="ctr"/>
                <a:tab pos="2657475" algn="ctr"/>
                <a:tab pos="4111229" algn="ctr"/>
              </a:tabLst>
            </a:pPr>
            <a:r>
              <a:rPr lang="en-US" altLang="en-US" b="1" dirty="0">
                <a:sym typeface="Symbol" panose="05050102010706020507" pitchFamily="18" charset="2"/>
              </a:rPr>
              <a:t>Recursive Relationship.</a:t>
            </a:r>
          </a:p>
          <a:p>
            <a:pPr lvl="1">
              <a:tabLst>
                <a:tab pos="1152525" algn="ctr"/>
                <a:tab pos="2657475" algn="ctr"/>
                <a:tab pos="4111229" algn="ctr"/>
              </a:tabLst>
            </a:pPr>
            <a:r>
              <a:rPr lang="en-US" altLang="en-US" b="1" dirty="0">
                <a:sym typeface="Symbol" panose="05050102010706020507" pitchFamily="18" charset="2"/>
              </a:rPr>
              <a:t>Cardinality.</a:t>
            </a:r>
          </a:p>
          <a:p>
            <a:pPr lvl="1">
              <a:tabLst>
                <a:tab pos="1152525" algn="ctr"/>
                <a:tab pos="2657475" algn="ctr"/>
                <a:tab pos="4111229" algn="ctr"/>
              </a:tabLst>
            </a:pPr>
            <a:r>
              <a:rPr lang="en-US" altLang="en-US" b="1" dirty="0">
                <a:sym typeface="Symbol" panose="05050102010706020507" pitchFamily="18" charset="2"/>
              </a:rPr>
              <a:t>Participation Constraint.</a:t>
            </a:r>
            <a:endParaRPr lang="en-US" altLang="en-US" b="1" i="1" dirty="0">
              <a:sym typeface="Symbol" panose="05050102010706020507" pitchFamily="18" charset="2"/>
            </a:endParaRPr>
          </a:p>
          <a:p>
            <a:endParaRPr lang="en-US" dirty="0"/>
          </a:p>
        </p:txBody>
      </p:sp>
    </p:spTree>
    <p:extLst>
      <p:ext uri="{BB962C8B-B14F-4D97-AF65-F5344CB8AC3E}">
        <p14:creationId xmlns="" xmlns:p14="http://schemas.microsoft.com/office/powerpoint/2010/main" val="2483747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lstStyle/>
          <a:p>
            <a:r>
              <a:rPr lang="en-US" dirty="0"/>
              <a:t>Degree of The Relationship</a:t>
            </a:r>
          </a:p>
          <a:p>
            <a:pPr>
              <a:tabLst>
                <a:tab pos="1152525" algn="ctr"/>
                <a:tab pos="2657475" algn="ctr"/>
                <a:tab pos="4111229" algn="ctr"/>
              </a:tabLst>
            </a:pPr>
            <a:r>
              <a:rPr lang="en-US" altLang="en-US" sz="2400" dirty="0">
                <a:latin typeface="Times New Roman" panose="02020603050405020304" pitchFamily="18" charset="0"/>
                <a:cs typeface="Times New Roman" panose="02020603050405020304" pitchFamily="18" charset="0"/>
              </a:rPr>
              <a:t>The  total number of entities participating in the relation is called </a:t>
            </a:r>
            <a:r>
              <a:rPr lang="en-US" altLang="en-US" sz="2400" dirty="0">
                <a:solidFill>
                  <a:srgbClr val="FF0000"/>
                </a:solidFill>
                <a:latin typeface="Times New Roman" panose="02020603050405020304" pitchFamily="18" charset="0"/>
                <a:cs typeface="Times New Roman" panose="02020603050405020304" pitchFamily="18" charset="0"/>
              </a:rPr>
              <a:t>degree of the Relationship</a:t>
            </a:r>
            <a:r>
              <a:rPr lang="en-US" altLang="en-US" sz="2400" dirty="0">
                <a:latin typeface="Times New Roman" panose="02020603050405020304" pitchFamily="18" charset="0"/>
                <a:cs typeface="Times New Roman" panose="02020603050405020304" pitchFamily="18" charset="0"/>
              </a:rPr>
              <a:t>.</a:t>
            </a:r>
          </a:p>
          <a:p>
            <a:pPr marL="342900" lvl="1" indent="0">
              <a:buNone/>
              <a:tabLst>
                <a:tab pos="1152525" algn="ctr"/>
                <a:tab pos="2657475" algn="ctr"/>
                <a:tab pos="4111229" algn="ctr"/>
              </a:tabLst>
            </a:pPr>
            <a:r>
              <a:rPr lang="en-US" altLang="en-US" b="1" dirty="0">
                <a:latin typeface="Times New Roman" panose="02020603050405020304" pitchFamily="18" charset="0"/>
                <a:cs typeface="Times New Roman" panose="02020603050405020304" pitchFamily="18" charset="0"/>
                <a:sym typeface="Symbol" panose="05050102010706020507" pitchFamily="18" charset="2"/>
              </a:rPr>
              <a:t>1.Unary Relationship.</a:t>
            </a:r>
          </a:p>
          <a:p>
            <a:pPr marL="342900" lvl="1" indent="0">
              <a:buNone/>
              <a:tabLst>
                <a:tab pos="1152525" algn="ctr"/>
                <a:tab pos="2657475" algn="ctr"/>
                <a:tab pos="4111229" algn="ctr"/>
              </a:tabLst>
            </a:pPr>
            <a:r>
              <a:rPr lang="en-US" altLang="en-US" b="1" dirty="0">
                <a:latin typeface="Times New Roman" panose="02020603050405020304" pitchFamily="18" charset="0"/>
                <a:cs typeface="Times New Roman" panose="02020603050405020304" pitchFamily="18" charset="0"/>
                <a:sym typeface="Symbol" panose="05050102010706020507" pitchFamily="18" charset="2"/>
              </a:rPr>
              <a:t>2. Binary Relationship.</a:t>
            </a:r>
          </a:p>
          <a:p>
            <a:pPr marL="342900" lvl="1" indent="0">
              <a:buNone/>
              <a:tabLst>
                <a:tab pos="1152525" algn="ctr"/>
                <a:tab pos="2657475" algn="ctr"/>
                <a:tab pos="4111229" algn="ctr"/>
              </a:tabLst>
            </a:pPr>
            <a:r>
              <a:rPr lang="en-US" altLang="en-US" b="1" dirty="0">
                <a:latin typeface="Times New Roman" panose="02020603050405020304" pitchFamily="18" charset="0"/>
                <a:cs typeface="Times New Roman" panose="02020603050405020304" pitchFamily="18" charset="0"/>
                <a:sym typeface="Symbol" panose="05050102010706020507" pitchFamily="18" charset="2"/>
              </a:rPr>
              <a:t>3. Ternary Relationship.</a:t>
            </a:r>
          </a:p>
          <a:p>
            <a:endParaRPr lang="en-US" dirty="0"/>
          </a:p>
        </p:txBody>
      </p:sp>
    </p:spTree>
    <p:extLst>
      <p:ext uri="{BB962C8B-B14F-4D97-AF65-F5344CB8AC3E}">
        <p14:creationId xmlns="" xmlns:p14="http://schemas.microsoft.com/office/powerpoint/2010/main" val="3087008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normAutofit/>
          </a:bodyPr>
          <a:lstStyle/>
          <a:p>
            <a:r>
              <a:rPr lang="en-US" dirty="0">
                <a:latin typeface="Times New Roman" pitchFamily="18" charset="0"/>
                <a:cs typeface="Times New Roman" pitchFamily="18" charset="0"/>
                <a:sym typeface="Symbol" pitchFamily="18" charset="2"/>
              </a:rPr>
              <a:t>Unary Relationship</a:t>
            </a:r>
          </a:p>
          <a:p>
            <a:pPr>
              <a:defRPr/>
            </a:pPr>
            <a:r>
              <a:rPr lang="en-IN" altLang="en-US" sz="1700" dirty="0"/>
              <a:t>When there is a relationship between two entities of the same type, it is known as a unary or recursive relationship. This means that the relationship is between different instances of the same entity type.</a:t>
            </a:r>
          </a:p>
          <a:p>
            <a:pPr>
              <a:defRPr/>
            </a:pPr>
            <a:r>
              <a:rPr lang="en-IN" altLang="en-US" sz="1700" dirty="0"/>
              <a:t> When both participants in the relationship are the same entity.</a:t>
            </a:r>
          </a:p>
          <a:p>
            <a:pPr marL="0" indent="0">
              <a:buNone/>
              <a:defRPr/>
            </a:pPr>
            <a:r>
              <a:rPr lang="en-IN" sz="1700" dirty="0">
                <a:solidFill>
                  <a:srgbClr val="000000"/>
                </a:solidFill>
                <a:latin typeface="Verdana" panose="020B0604030504040204" pitchFamily="34" charset="0"/>
              </a:rPr>
              <a:t>Ex: </a:t>
            </a:r>
            <a:r>
              <a:rPr lang="en-US" sz="1700" dirty="0">
                <a:solidFill>
                  <a:srgbClr val="000000"/>
                </a:solidFill>
                <a:latin typeface="Verdana" panose="020B0604030504040204" pitchFamily="34" charset="0"/>
              </a:rPr>
              <a:t>Subjects may be prerequisites for other subjects</a:t>
            </a:r>
            <a:endParaRPr lang="en-US" sz="1700" dirty="0"/>
          </a:p>
        </p:txBody>
      </p:sp>
      <p:pic>
        <p:nvPicPr>
          <p:cNvPr id="4" name="Picture 3">
            <a:extLst>
              <a:ext uri="{FF2B5EF4-FFF2-40B4-BE49-F238E27FC236}">
                <a16:creationId xmlns="" xmlns:a16="http://schemas.microsoft.com/office/drawing/2014/main" id="{6CAB6AA0-9878-48D4-8BD6-A53C8412BC49}"/>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230085" y="4735620"/>
            <a:ext cx="2786063" cy="1507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0411264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lstStyle/>
          <a:p>
            <a:r>
              <a:rPr lang="en-GB" dirty="0"/>
              <a:t>Binary Relationship</a:t>
            </a:r>
          </a:p>
          <a:p>
            <a:r>
              <a:rPr lang="en-IN" altLang="en-US" dirty="0"/>
              <a:t>When there is a relationship between two different entities, it is known as a binary relationship.</a:t>
            </a:r>
            <a:endParaRPr lang="en-GB" altLang="en-US" dirty="0"/>
          </a:p>
          <a:p>
            <a:endParaRPr lang="en-US" dirty="0"/>
          </a:p>
        </p:txBody>
      </p:sp>
      <p:pic>
        <p:nvPicPr>
          <p:cNvPr id="4" name="Picture 2">
            <a:extLst>
              <a:ext uri="{FF2B5EF4-FFF2-40B4-BE49-F238E27FC236}">
                <a16:creationId xmlns="" xmlns:a16="http://schemas.microsoft.com/office/drawing/2014/main" id="{DDBE16E3-EA18-4D35-A14B-BFBFD245E056}"/>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38231" y="3993608"/>
            <a:ext cx="5736431" cy="1343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 name="Picture 2">
            <a:extLst>
              <a:ext uri="{FF2B5EF4-FFF2-40B4-BE49-F238E27FC236}">
                <a16:creationId xmlns="" xmlns:a16="http://schemas.microsoft.com/office/drawing/2014/main" id="{1A97020A-8C76-4563-B44A-15326CADE5C4}"/>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a:xfrm>
            <a:off x="3409355" y="5336633"/>
            <a:ext cx="5373290" cy="1420415"/>
          </a:xfrm>
          <a:prstGeom prst="rect">
            <a:avLst/>
          </a:prstGeo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6" name="Picture 3">
            <a:extLst>
              <a:ext uri="{FF2B5EF4-FFF2-40B4-BE49-F238E27FC236}">
                <a16:creationId xmlns="" xmlns:a16="http://schemas.microsoft.com/office/drawing/2014/main" id="{7FC9F9E2-2DA9-49B8-9AF6-BA56F5FF8FFA}"/>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6334125" y="4155678"/>
            <a:ext cx="5857875" cy="14430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991418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lstStyle/>
          <a:p>
            <a:r>
              <a:rPr lang="en-GB" dirty="0"/>
              <a:t>Ternary Relationship</a:t>
            </a:r>
          </a:p>
          <a:p>
            <a:r>
              <a:rPr lang="en-IN" altLang="en-US" sz="2000" dirty="0"/>
              <a:t>When there is a relationship between three different entities, it is known as a ternary relationship. An example of a ternary relationship can be shown as follows </a:t>
            </a:r>
          </a:p>
          <a:p>
            <a:endParaRPr lang="en-US" dirty="0"/>
          </a:p>
        </p:txBody>
      </p:sp>
      <p:pic>
        <p:nvPicPr>
          <p:cNvPr id="4" name="Picture 2">
            <a:extLst>
              <a:ext uri="{FF2B5EF4-FFF2-40B4-BE49-F238E27FC236}">
                <a16:creationId xmlns="" xmlns:a16="http://schemas.microsoft.com/office/drawing/2014/main" id="{FD4C67C0-BFAB-4BF5-91B0-6487872F9F15}"/>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432494" y="3885513"/>
            <a:ext cx="5093494" cy="23574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861154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lstStyle/>
          <a:p>
            <a:r>
              <a:rPr lang="en-US" dirty="0"/>
              <a:t>Role</a:t>
            </a:r>
          </a:p>
          <a:p>
            <a:pPr lvl="1">
              <a:tabLst>
                <a:tab pos="1152525" algn="ctr"/>
                <a:tab pos="2657475" algn="ctr"/>
                <a:tab pos="4111229" algn="ctr"/>
              </a:tabLst>
            </a:pPr>
            <a:r>
              <a:rPr lang="en-US" altLang="en-US" sz="1800" dirty="0"/>
              <a:t>Role is the function an entity plays in the relationship.</a:t>
            </a:r>
          </a:p>
          <a:p>
            <a:pPr lvl="1">
              <a:tabLst>
                <a:tab pos="1152525" algn="ctr"/>
                <a:tab pos="2657475" algn="ctr"/>
                <a:tab pos="4111229" algn="ctr"/>
              </a:tabLst>
            </a:pPr>
            <a:r>
              <a:rPr lang="en-US" altLang="en-US" sz="1800" dirty="0"/>
              <a:t>Roles are optional.</a:t>
            </a:r>
          </a:p>
          <a:p>
            <a:pPr lvl="1">
              <a:tabLst>
                <a:tab pos="1152525" algn="ctr"/>
                <a:tab pos="2657475" algn="ctr"/>
                <a:tab pos="4111229" algn="ctr"/>
              </a:tabLst>
            </a:pPr>
            <a:r>
              <a:rPr lang="en-US" altLang="en-US" sz="1800" dirty="0"/>
              <a:t>They help in clarifying the semantics of a relationship.</a:t>
            </a:r>
          </a:p>
          <a:p>
            <a:pPr lvl="1">
              <a:tabLst>
                <a:tab pos="1152525" algn="ctr"/>
                <a:tab pos="2657475" algn="ctr"/>
                <a:tab pos="4111229" algn="ctr"/>
              </a:tabLst>
            </a:pPr>
            <a:r>
              <a:rPr lang="en-US" altLang="en-US" sz="1800" dirty="0"/>
              <a:t>EMPLOYEE  entity is playing the role of worker.</a:t>
            </a:r>
          </a:p>
          <a:p>
            <a:endParaRPr lang="en-US" dirty="0"/>
          </a:p>
        </p:txBody>
      </p:sp>
      <p:pic>
        <p:nvPicPr>
          <p:cNvPr id="4" name="Picture 3">
            <a:extLst>
              <a:ext uri="{FF2B5EF4-FFF2-40B4-BE49-F238E27FC236}">
                <a16:creationId xmlns="" xmlns:a16="http://schemas.microsoft.com/office/drawing/2014/main" id="{552C279E-8E92-4185-BACC-D588941AFA3C}"/>
              </a:ext>
            </a:extLst>
          </p:cNvPr>
          <p:cNvPicPr>
            <a:picLocks noChangeAspect="1"/>
          </p:cNvPicPr>
          <p:nvPr/>
        </p:nvPicPr>
        <p:blipFill>
          <a:blip r:embed="rId2"/>
          <a:stretch>
            <a:fillRect/>
          </a:stretch>
        </p:blipFill>
        <p:spPr>
          <a:xfrm>
            <a:off x="3081020" y="4728476"/>
            <a:ext cx="5867400" cy="1514475"/>
          </a:xfrm>
          <a:prstGeom prst="rect">
            <a:avLst/>
          </a:prstGeom>
        </p:spPr>
      </p:pic>
    </p:spTree>
    <p:extLst>
      <p:ext uri="{BB962C8B-B14F-4D97-AF65-F5344CB8AC3E}">
        <p14:creationId xmlns="" xmlns:p14="http://schemas.microsoft.com/office/powerpoint/2010/main" val="25197003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6A5424-3C2C-424F-86A1-26BF64AEC178}"/>
              </a:ext>
            </a:extLst>
          </p:cNvPr>
          <p:cNvSpPr>
            <a:spLocks noGrp="1"/>
          </p:cNvSpPr>
          <p:nvPr>
            <p:ph type="title"/>
          </p:nvPr>
        </p:nvSpPr>
        <p:spPr/>
        <p:txBody>
          <a:bodyPr/>
          <a:lstStyle/>
          <a:p>
            <a:r>
              <a:rPr lang="en-IN" dirty="0"/>
              <a:t>Relationship Types and Sets</a:t>
            </a:r>
            <a:endParaRPr lang="en-US" dirty="0"/>
          </a:p>
        </p:txBody>
      </p:sp>
      <p:sp>
        <p:nvSpPr>
          <p:cNvPr id="3" name="Content Placeholder 2">
            <a:extLst>
              <a:ext uri="{FF2B5EF4-FFF2-40B4-BE49-F238E27FC236}">
                <a16:creationId xmlns="" xmlns:a16="http://schemas.microsoft.com/office/drawing/2014/main" id="{1A9FC2A2-A683-47CF-B248-4C0BA7E6D185}"/>
              </a:ext>
            </a:extLst>
          </p:cNvPr>
          <p:cNvSpPr>
            <a:spLocks noGrp="1"/>
          </p:cNvSpPr>
          <p:nvPr>
            <p:ph idx="1"/>
          </p:nvPr>
        </p:nvSpPr>
        <p:spPr/>
        <p:txBody>
          <a:bodyPr>
            <a:normAutofit/>
          </a:bodyPr>
          <a:lstStyle/>
          <a:p>
            <a:r>
              <a:rPr lang="en-US" dirty="0"/>
              <a:t>Recursive Relationship</a:t>
            </a:r>
          </a:p>
          <a:p>
            <a:pPr lvl="1">
              <a:tabLst>
                <a:tab pos="1152525" algn="ctr"/>
                <a:tab pos="2657475" algn="ctr"/>
                <a:tab pos="4111229" algn="ctr"/>
              </a:tabLst>
            </a:pPr>
            <a:r>
              <a:rPr lang="en-US" altLang="en-US" sz="1600" dirty="0"/>
              <a:t>When the relationship occurs within the same entity.it is called </a:t>
            </a:r>
            <a:r>
              <a:rPr lang="en-US" altLang="en-US" sz="1600" dirty="0">
                <a:solidFill>
                  <a:srgbClr val="FF0000"/>
                </a:solidFill>
              </a:rPr>
              <a:t>Recursive Relationship</a:t>
            </a:r>
            <a:r>
              <a:rPr lang="en-US" altLang="en-US" sz="1600" dirty="0"/>
              <a:t>.</a:t>
            </a:r>
          </a:p>
          <a:p>
            <a:pPr lvl="1">
              <a:tabLst>
                <a:tab pos="1152525" algn="ctr"/>
                <a:tab pos="2657475" algn="ctr"/>
                <a:tab pos="4111229" algn="ctr"/>
              </a:tabLst>
            </a:pPr>
            <a:r>
              <a:rPr lang="en-US" altLang="en-US" sz="1600" dirty="0"/>
              <a:t>An entity related to itself is the recursive relationship.</a:t>
            </a:r>
          </a:p>
          <a:p>
            <a:pPr lvl="1">
              <a:tabLst>
                <a:tab pos="1152525" algn="ctr"/>
                <a:tab pos="2657475" algn="ctr"/>
                <a:tab pos="4111229" algn="ctr"/>
              </a:tabLst>
            </a:pPr>
            <a:r>
              <a:rPr lang="en-US" altLang="en-US" sz="1600" dirty="0"/>
              <a:t>The same entity performs different roles.</a:t>
            </a:r>
          </a:p>
          <a:p>
            <a:pPr lvl="1">
              <a:tabLst>
                <a:tab pos="1152525" algn="ctr"/>
                <a:tab pos="2657475" algn="ctr"/>
                <a:tab pos="4111229" algn="ctr"/>
              </a:tabLst>
            </a:pPr>
            <a:r>
              <a:rPr lang="en-US" altLang="en-US" sz="1600" dirty="0"/>
              <a:t>EMPLOYEE  entity is playing the role of worker.</a:t>
            </a:r>
          </a:p>
          <a:p>
            <a:pPr lvl="1">
              <a:tabLst>
                <a:tab pos="1152525" algn="ctr"/>
                <a:tab pos="2657475" algn="ctr"/>
                <a:tab pos="4111229" algn="ctr"/>
              </a:tabLst>
            </a:pPr>
            <a:r>
              <a:rPr lang="en-US" altLang="en-US" sz="1600" dirty="0"/>
              <a:t>EMPLOYEE  entity is playing the role of manager.</a:t>
            </a:r>
          </a:p>
          <a:p>
            <a:endParaRPr lang="en-US" dirty="0"/>
          </a:p>
        </p:txBody>
      </p:sp>
      <p:pic>
        <p:nvPicPr>
          <p:cNvPr id="4" name="Picture 3">
            <a:extLst>
              <a:ext uri="{FF2B5EF4-FFF2-40B4-BE49-F238E27FC236}">
                <a16:creationId xmlns="" xmlns:a16="http://schemas.microsoft.com/office/drawing/2014/main" id="{5543AA2F-65FD-4E16-B5FB-B26CC6ED712C}"/>
              </a:ext>
            </a:extLst>
          </p:cNvPr>
          <p:cNvPicPr>
            <a:picLocks noChangeAspect="1"/>
          </p:cNvPicPr>
          <p:nvPr/>
        </p:nvPicPr>
        <p:blipFill>
          <a:blip r:embed="rId2"/>
          <a:stretch>
            <a:fillRect/>
          </a:stretch>
        </p:blipFill>
        <p:spPr>
          <a:xfrm>
            <a:off x="370522" y="5121275"/>
            <a:ext cx="6086475" cy="1371600"/>
          </a:xfrm>
          <a:prstGeom prst="rect">
            <a:avLst/>
          </a:prstGeom>
        </p:spPr>
      </p:pic>
      <p:pic>
        <p:nvPicPr>
          <p:cNvPr id="5" name="Picture 4">
            <a:extLst>
              <a:ext uri="{FF2B5EF4-FFF2-40B4-BE49-F238E27FC236}">
                <a16:creationId xmlns="" xmlns:a16="http://schemas.microsoft.com/office/drawing/2014/main" id="{10AA79A6-EBF0-44A2-AE7C-5E2155A627B0}"/>
              </a:ext>
            </a:extLst>
          </p:cNvPr>
          <p:cNvPicPr>
            <a:picLocks noChangeAspect="1"/>
          </p:cNvPicPr>
          <p:nvPr/>
        </p:nvPicPr>
        <p:blipFill>
          <a:blip r:embed="rId3"/>
          <a:stretch>
            <a:fillRect/>
          </a:stretch>
        </p:blipFill>
        <p:spPr>
          <a:xfrm>
            <a:off x="7000875" y="4067282"/>
            <a:ext cx="4352925" cy="2133600"/>
          </a:xfrm>
          <a:prstGeom prst="rect">
            <a:avLst/>
          </a:prstGeom>
        </p:spPr>
      </p:pic>
    </p:spTree>
    <p:extLst>
      <p:ext uri="{BB962C8B-B14F-4D97-AF65-F5344CB8AC3E}">
        <p14:creationId xmlns="" xmlns:p14="http://schemas.microsoft.com/office/powerpoint/2010/main" val="30450378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 xmlns:a16="http://schemas.microsoft.com/office/drawing/2014/main" id="{B5E3DFAA-060E-4DD0-88EB-C87CF802D184}"/>
              </a:ext>
            </a:extLst>
          </p:cNvPr>
          <p:cNvSpPr>
            <a:spLocks noGrp="1" noChangeArrowheads="1"/>
          </p:cNvSpPr>
          <p:nvPr>
            <p:ph type="title"/>
          </p:nvPr>
        </p:nvSpPr>
        <p:spPr/>
        <p:txBody>
          <a:bodyPr/>
          <a:lstStyle/>
          <a:p>
            <a:pPr>
              <a:defRPr/>
            </a:pPr>
            <a:r>
              <a:rPr lang="en-US"/>
              <a:t>Mapping Cardinalities</a:t>
            </a:r>
          </a:p>
        </p:txBody>
      </p:sp>
      <p:sp>
        <p:nvSpPr>
          <p:cNvPr id="52227" name="Rectangle 3">
            <a:extLst>
              <a:ext uri="{FF2B5EF4-FFF2-40B4-BE49-F238E27FC236}">
                <a16:creationId xmlns="" xmlns:a16="http://schemas.microsoft.com/office/drawing/2014/main" id="{88420CA1-EE28-4E6A-B74D-1EA497FAEF58}"/>
              </a:ext>
            </a:extLst>
          </p:cNvPr>
          <p:cNvSpPr>
            <a:spLocks noGrp="1" noChangeArrowheads="1"/>
          </p:cNvSpPr>
          <p:nvPr>
            <p:ph type="body" idx="1"/>
          </p:nvPr>
        </p:nvSpPr>
        <p:spPr>
          <a:xfrm>
            <a:off x="1199456" y="2084851"/>
            <a:ext cx="10273141" cy="5637213"/>
          </a:xfrm>
        </p:spPr>
        <p:txBody>
          <a:bodyPr/>
          <a:lstStyle/>
          <a:p>
            <a:pPr algn="just">
              <a:lnSpc>
                <a:spcPct val="150000"/>
              </a:lnSpc>
            </a:pPr>
            <a:r>
              <a:rPr lang="en-US" altLang="en-US" dirty="0"/>
              <a:t>The number of instances of an entity in the entity set related with the number of instances of another entity in its entity set through a relationship set is called </a:t>
            </a:r>
            <a:r>
              <a:rPr lang="en-US" altLang="en-US" dirty="0">
                <a:solidFill>
                  <a:srgbClr val="FF0000"/>
                </a:solidFill>
              </a:rPr>
              <a:t>Cardinality ratio</a:t>
            </a:r>
            <a:r>
              <a:rPr lang="en-US" altLang="en-US" dirty="0"/>
              <a:t>.</a:t>
            </a:r>
          </a:p>
          <a:p>
            <a:pPr algn="just">
              <a:lnSpc>
                <a:spcPct val="150000"/>
              </a:lnSpc>
            </a:pPr>
            <a:r>
              <a:rPr lang="en-US" altLang="en-US" dirty="0"/>
              <a:t>Express the number of entities to which another entity can be associated via a relationship set.</a:t>
            </a:r>
          </a:p>
          <a:p>
            <a:pPr algn="just">
              <a:lnSpc>
                <a:spcPct val="150000"/>
              </a:lnSpc>
            </a:pPr>
            <a:r>
              <a:rPr lang="en-US" altLang="en-US" dirty="0"/>
              <a:t>Most useful in describing binary relationship sets.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4E3445-A1FD-4C91-B9B7-D25218CB898C}"/>
              </a:ext>
            </a:extLst>
          </p:cNvPr>
          <p:cNvSpPr>
            <a:spLocks noGrp="1"/>
          </p:cNvSpPr>
          <p:nvPr>
            <p:ph type="title"/>
          </p:nvPr>
        </p:nvSpPr>
        <p:spPr/>
        <p:txBody>
          <a:bodyPr/>
          <a:lstStyle/>
          <a:p>
            <a:pPr>
              <a:defRPr/>
            </a:pPr>
            <a:r>
              <a:rPr lang="en-GB" dirty="0"/>
              <a:t>Cardinality Ratios</a:t>
            </a:r>
          </a:p>
        </p:txBody>
      </p:sp>
      <p:pic>
        <p:nvPicPr>
          <p:cNvPr id="53251" name="Picture 2">
            <a:extLst>
              <a:ext uri="{FF2B5EF4-FFF2-40B4-BE49-F238E27FC236}">
                <a16:creationId xmlns="" xmlns:a16="http://schemas.microsoft.com/office/drawing/2014/main" id="{FF6F0F73-CAEA-49DF-BE61-F888C43BD7EB}"/>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1775520" y="1750609"/>
            <a:ext cx="8544949" cy="4737511"/>
          </a:xfr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 xmlns:a16="http://schemas.microsoft.com/office/drawing/2014/main" id="{99ED12A0-E129-4151-91AA-B38E4301D246}"/>
              </a:ext>
            </a:extLst>
          </p:cNvPr>
          <p:cNvSpPr>
            <a:spLocks noGrp="1" noChangeArrowheads="1"/>
          </p:cNvSpPr>
          <p:nvPr>
            <p:ph type="title"/>
          </p:nvPr>
        </p:nvSpPr>
        <p:spPr>
          <a:xfrm>
            <a:off x="431371" y="983140"/>
            <a:ext cx="10515600" cy="684848"/>
          </a:xfrm>
        </p:spPr>
        <p:txBody>
          <a:bodyPr>
            <a:normAutofit fontScale="90000"/>
          </a:bodyPr>
          <a:lstStyle/>
          <a:p>
            <a:pPr>
              <a:defRPr/>
            </a:pPr>
            <a:r>
              <a:rPr lang="en-US" dirty="0"/>
              <a:t>Mapping Cardinalities</a:t>
            </a:r>
          </a:p>
        </p:txBody>
      </p:sp>
      <p:pic>
        <p:nvPicPr>
          <p:cNvPr id="54275" name="Picture 3">
            <a:extLst>
              <a:ext uri="{FF2B5EF4-FFF2-40B4-BE49-F238E27FC236}">
                <a16:creationId xmlns="" xmlns:a16="http://schemas.microsoft.com/office/drawing/2014/main" id="{841B7B1D-8BDA-421E-9C2B-A1CF25C49AED}"/>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l="1100" t="10025" r="1834" b="10269"/>
          <a:stretch>
            <a:fillRect/>
          </a:stretch>
        </p:blipFill>
        <p:spPr bwMode="auto">
          <a:xfrm>
            <a:off x="2717800" y="1714022"/>
            <a:ext cx="6756400" cy="4160839"/>
          </a:xfrm>
          <a:prstGeom prst="rect">
            <a:avLst/>
          </a:prstGeom>
          <a:noFill/>
          <a:ln w="76200" cmpd="tri">
            <a:solidFill>
              <a:schemeClr val="tx2"/>
            </a:solidFill>
            <a:miter lim="800000"/>
            <a:headEnd/>
            <a:tailEnd/>
          </a:ln>
          <a:extLst>
            <a:ext uri="{909E8E84-426E-40DD-AFC4-6F175D3DCCD1}">
              <a14:hiddenFill xmlns="" xmlns:a14="http://schemas.microsoft.com/office/drawing/2010/main">
                <a:solidFill>
                  <a:srgbClr val="FFFFFF"/>
                </a:solidFill>
              </a14:hiddenFill>
            </a:ext>
          </a:extLst>
        </p:spPr>
      </p:pic>
      <p:sp>
        <p:nvSpPr>
          <p:cNvPr id="54276" name="Text Box 4">
            <a:extLst>
              <a:ext uri="{FF2B5EF4-FFF2-40B4-BE49-F238E27FC236}">
                <a16:creationId xmlns="" xmlns:a16="http://schemas.microsoft.com/office/drawing/2014/main" id="{A0CDFCB6-8E5D-415D-B8D3-D77B8B0CFD1E}"/>
              </a:ext>
            </a:extLst>
          </p:cNvPr>
          <p:cNvSpPr txBox="1">
            <a:spLocks noChangeArrowheads="1"/>
          </p:cNvSpPr>
          <p:nvPr/>
        </p:nvSpPr>
        <p:spPr bwMode="auto">
          <a:xfrm>
            <a:off x="3407701" y="6065113"/>
            <a:ext cx="141605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2" charset="2"/>
              <a:buChar char="n"/>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9pPr>
          </a:lstStyle>
          <a:p>
            <a:pPr algn="ctr">
              <a:spcBef>
                <a:spcPct val="50000"/>
              </a:spcBef>
              <a:buClrTx/>
              <a:buSzTx/>
              <a:buFontTx/>
              <a:buNone/>
            </a:pPr>
            <a:r>
              <a:rPr kumimoji="0" lang="en-US" altLang="en-US" sz="1800" dirty="0"/>
              <a:t>One to one</a:t>
            </a:r>
          </a:p>
        </p:txBody>
      </p:sp>
      <p:sp>
        <p:nvSpPr>
          <p:cNvPr id="54277" name="Text Box 5">
            <a:extLst>
              <a:ext uri="{FF2B5EF4-FFF2-40B4-BE49-F238E27FC236}">
                <a16:creationId xmlns="" xmlns:a16="http://schemas.microsoft.com/office/drawing/2014/main" id="{0C95E4C2-772C-4EAD-8F5A-95697F322885}"/>
              </a:ext>
            </a:extLst>
          </p:cNvPr>
          <p:cNvSpPr txBox="1">
            <a:spLocks noChangeArrowheads="1"/>
          </p:cNvSpPr>
          <p:nvPr/>
        </p:nvSpPr>
        <p:spPr bwMode="auto">
          <a:xfrm>
            <a:off x="7376150" y="6082172"/>
            <a:ext cx="150554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9pPr>
          </a:lstStyle>
          <a:p>
            <a:pPr algn="ctr">
              <a:spcBef>
                <a:spcPct val="50000"/>
              </a:spcBef>
              <a:buClrTx/>
              <a:buSzTx/>
              <a:buFontTx/>
              <a:buNone/>
            </a:pPr>
            <a:r>
              <a:rPr kumimoji="0" lang="en-US" altLang="en-US" sz="1800" dirty="0"/>
              <a:t>One to many</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 xmlns:a16="http://schemas.microsoft.com/office/drawing/2014/main" id="{094AAA24-BECF-437A-B5D1-92C8F98344D4}"/>
              </a:ext>
            </a:extLst>
          </p:cNvPr>
          <p:cNvSpPr>
            <a:spLocks noGrp="1" noChangeArrowheads="1"/>
          </p:cNvSpPr>
          <p:nvPr>
            <p:ph type="title"/>
          </p:nvPr>
        </p:nvSpPr>
        <p:spPr>
          <a:xfrm>
            <a:off x="335360" y="963367"/>
            <a:ext cx="10515600" cy="684848"/>
          </a:xfrm>
        </p:spPr>
        <p:txBody>
          <a:bodyPr>
            <a:normAutofit fontScale="90000"/>
          </a:bodyPr>
          <a:lstStyle/>
          <a:p>
            <a:pPr>
              <a:defRPr/>
            </a:pPr>
            <a:r>
              <a:rPr lang="en-US" dirty="0"/>
              <a:t>Mapping Cardinalities </a:t>
            </a:r>
          </a:p>
        </p:txBody>
      </p:sp>
      <p:pic>
        <p:nvPicPr>
          <p:cNvPr id="55299" name="Picture 3">
            <a:extLst>
              <a:ext uri="{FF2B5EF4-FFF2-40B4-BE49-F238E27FC236}">
                <a16:creationId xmlns="" xmlns:a16="http://schemas.microsoft.com/office/drawing/2014/main" id="{CA9B5C51-D0E5-476B-808F-F771BB1E74FE}"/>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l="2472" t="10165" r="1236" b="8791"/>
          <a:stretch>
            <a:fillRect/>
          </a:stretch>
        </p:blipFill>
        <p:spPr bwMode="auto">
          <a:xfrm>
            <a:off x="2848769" y="1785288"/>
            <a:ext cx="6494463" cy="4098925"/>
          </a:xfrm>
          <a:prstGeom prst="rect">
            <a:avLst/>
          </a:prstGeom>
          <a:noFill/>
          <a:ln w="76200" cmpd="tri">
            <a:solidFill>
              <a:schemeClr val="tx2"/>
            </a:solidFill>
            <a:miter lim="800000"/>
            <a:headEnd/>
            <a:tailEnd/>
          </a:ln>
          <a:extLst>
            <a:ext uri="{909E8E84-426E-40DD-AFC4-6F175D3DCCD1}">
              <a14:hiddenFill xmlns="" xmlns:a14="http://schemas.microsoft.com/office/drawing/2010/main">
                <a:solidFill>
                  <a:srgbClr val="FFFFFF"/>
                </a:solidFill>
              </a14:hiddenFill>
            </a:ext>
          </a:extLst>
        </p:spPr>
      </p:pic>
      <p:sp>
        <p:nvSpPr>
          <p:cNvPr id="55300" name="Text Box 4">
            <a:extLst>
              <a:ext uri="{FF2B5EF4-FFF2-40B4-BE49-F238E27FC236}">
                <a16:creationId xmlns="" xmlns:a16="http://schemas.microsoft.com/office/drawing/2014/main" id="{2357906C-9808-4221-A6CD-9D311B09D91A}"/>
              </a:ext>
            </a:extLst>
          </p:cNvPr>
          <p:cNvSpPr txBox="1">
            <a:spLocks noChangeArrowheads="1"/>
          </p:cNvSpPr>
          <p:nvPr/>
        </p:nvSpPr>
        <p:spPr bwMode="auto">
          <a:xfrm>
            <a:off x="3438479" y="6021288"/>
            <a:ext cx="1454244"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9pPr>
          </a:lstStyle>
          <a:p>
            <a:pPr algn="ctr">
              <a:spcBef>
                <a:spcPct val="50000"/>
              </a:spcBef>
              <a:buClrTx/>
              <a:buSzTx/>
              <a:buFontTx/>
              <a:buNone/>
            </a:pPr>
            <a:r>
              <a:rPr kumimoji="0" lang="en-US" altLang="en-US" sz="1800" dirty="0"/>
              <a:t>Many to one</a:t>
            </a:r>
          </a:p>
        </p:txBody>
      </p:sp>
      <p:sp>
        <p:nvSpPr>
          <p:cNvPr id="55301" name="Text Box 5">
            <a:extLst>
              <a:ext uri="{FF2B5EF4-FFF2-40B4-BE49-F238E27FC236}">
                <a16:creationId xmlns="" xmlns:a16="http://schemas.microsoft.com/office/drawing/2014/main" id="{E3FA48C1-B8DD-4731-A632-D5F7F130EB3A}"/>
              </a:ext>
            </a:extLst>
          </p:cNvPr>
          <p:cNvSpPr txBox="1">
            <a:spLocks noChangeArrowheads="1"/>
          </p:cNvSpPr>
          <p:nvPr/>
        </p:nvSpPr>
        <p:spPr bwMode="auto">
          <a:xfrm>
            <a:off x="7299278" y="6021288"/>
            <a:ext cx="163378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9pPr>
          </a:lstStyle>
          <a:p>
            <a:pPr algn="ctr">
              <a:spcBef>
                <a:spcPct val="50000"/>
              </a:spcBef>
              <a:buClrTx/>
              <a:buSzTx/>
              <a:buFontTx/>
              <a:buNone/>
            </a:pPr>
            <a:r>
              <a:rPr kumimoji="0" lang="en-US" altLang="en-US" sz="1800" dirty="0"/>
              <a:t>Many to many</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FD47D0-59DC-4A51-B5B6-188072050AB7}"/>
              </a:ext>
            </a:extLst>
          </p:cNvPr>
          <p:cNvSpPr>
            <a:spLocks noGrp="1"/>
          </p:cNvSpPr>
          <p:nvPr>
            <p:ph type="title"/>
          </p:nvPr>
        </p:nvSpPr>
        <p:spPr>
          <a:xfrm>
            <a:off x="133350" y="-123395"/>
            <a:ext cx="11925300" cy="685800"/>
          </a:xfrm>
        </p:spPr>
        <p:txBody>
          <a:bodyPr>
            <a:normAutofit fontScale="90000"/>
          </a:bodyPr>
          <a:lstStyle/>
          <a:p>
            <a:pPr>
              <a:defRPr/>
            </a:pP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Cardinality Ratio</a:t>
            </a:r>
            <a:endParaRPr lang="en-GB" dirty="0"/>
          </a:p>
        </p:txBody>
      </p:sp>
      <p:pic>
        <p:nvPicPr>
          <p:cNvPr id="56323" name="Picture 2">
            <a:extLst>
              <a:ext uri="{FF2B5EF4-FFF2-40B4-BE49-F238E27FC236}">
                <a16:creationId xmlns="" xmlns:a16="http://schemas.microsoft.com/office/drawing/2014/main" id="{8D52C1D6-77CC-4C5D-AAA5-5A26ABE9D632}"/>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3839750" y="4197086"/>
            <a:ext cx="4512501" cy="2286749"/>
          </a:xfr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6324" name="Rectangle 3">
            <a:extLst>
              <a:ext uri="{FF2B5EF4-FFF2-40B4-BE49-F238E27FC236}">
                <a16:creationId xmlns="" xmlns:a16="http://schemas.microsoft.com/office/drawing/2014/main" id="{E5A1583E-58F4-4B1A-AFE8-8C58AAE8CD01}"/>
              </a:ext>
            </a:extLst>
          </p:cNvPr>
          <p:cNvSpPr>
            <a:spLocks noChangeArrowheads="1"/>
          </p:cNvSpPr>
          <p:nvPr/>
        </p:nvSpPr>
        <p:spPr bwMode="auto">
          <a:xfrm>
            <a:off x="719404" y="2227315"/>
            <a:ext cx="10364785" cy="19389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tabLst>
                <a:tab pos="1536700" algn="ctr"/>
                <a:tab pos="3543300" algn="ctr"/>
                <a:tab pos="5481638" algn="ctr"/>
              </a:tabLst>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tabLst>
                <a:tab pos="1536700" algn="ctr"/>
                <a:tab pos="3543300" algn="ctr"/>
                <a:tab pos="5481638" algn="ctr"/>
              </a:tabLst>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tabLst>
                <a:tab pos="1536700" algn="ctr"/>
                <a:tab pos="3543300" algn="ctr"/>
                <a:tab pos="5481638" algn="ctr"/>
              </a:tabLst>
              <a:defRPr kumimoji="1" sz="2400">
                <a:solidFill>
                  <a:schemeClr val="tx1"/>
                </a:solidFill>
                <a:latin typeface="Helvetica" panose="020B0604020202020204" pitchFamily="34" charset="0"/>
              </a:defRPr>
            </a:lvl3pPr>
            <a:lvl4pPr marL="1600200" indent="-228600">
              <a:spcBef>
                <a:spcPct val="35000"/>
              </a:spcBef>
              <a:buClr>
                <a:schemeClr val="hlink"/>
              </a:buClr>
              <a:buChar char="–"/>
              <a:tabLst>
                <a:tab pos="1536700" algn="ctr"/>
                <a:tab pos="3543300" algn="ctr"/>
                <a:tab pos="5481638" algn="ctr"/>
              </a:tabLst>
              <a:defRPr kumimoji="1" sz="2000">
                <a:solidFill>
                  <a:schemeClr val="tx1"/>
                </a:solidFill>
                <a:latin typeface="Helvetica" panose="020B0604020202020204" pitchFamily="34" charset="0"/>
              </a:defRPr>
            </a:lvl4pPr>
            <a:lvl5pPr marL="2057400" indent="-228600">
              <a:spcBef>
                <a:spcPct val="35000"/>
              </a:spcBef>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9pPr>
          </a:lstStyle>
          <a:p>
            <a:pPr algn="ctr">
              <a:spcBef>
                <a:spcPct val="0"/>
              </a:spcBef>
              <a:buClrTx/>
              <a:buSzTx/>
              <a:buFontTx/>
              <a:buNone/>
            </a:pPr>
            <a:r>
              <a:rPr kumimoji="0" lang="en-US" altLang="en-US" sz="2400" b="1" dirty="0"/>
              <a:t>One to One (1:1) : </a:t>
            </a:r>
            <a:r>
              <a:rPr kumimoji="0" lang="en-US" altLang="en-US" sz="2400" dirty="0"/>
              <a:t>one instance of an entity is related with one instance of another entity is called One-to-One relationship.</a:t>
            </a:r>
          </a:p>
          <a:p>
            <a:pPr algn="ctr">
              <a:spcBef>
                <a:spcPct val="0"/>
              </a:spcBef>
              <a:buClrTx/>
              <a:buSzTx/>
              <a:buFontTx/>
              <a:buNone/>
            </a:pPr>
            <a:endParaRPr kumimoji="0" lang="en-US" altLang="en-US" sz="2400" dirty="0"/>
          </a:p>
          <a:p>
            <a:pPr algn="ctr">
              <a:spcBef>
                <a:spcPct val="0"/>
              </a:spcBef>
              <a:buClrTx/>
              <a:buSzTx/>
              <a:buFontTx/>
              <a:buNone/>
            </a:pPr>
            <a:endParaRPr kumimoji="0" lang="en-US" altLang="en-US" sz="2400" dirty="0"/>
          </a:p>
          <a:p>
            <a:pPr algn="ctr">
              <a:spcBef>
                <a:spcPct val="0"/>
              </a:spcBef>
              <a:buClrTx/>
              <a:buSzTx/>
              <a:buFontTx/>
              <a:buNone/>
            </a:pPr>
            <a:r>
              <a:rPr kumimoji="0" lang="en-US" altLang="en-US" sz="2400" dirty="0"/>
              <a:t>Cardinality ratio is 1:1</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8E3064-96CD-4073-BD09-10DF90B04C99}"/>
              </a:ext>
            </a:extLst>
          </p:cNvPr>
          <p:cNvSpPr>
            <a:spLocks noGrp="1"/>
          </p:cNvSpPr>
          <p:nvPr>
            <p:ph type="title"/>
          </p:nvPr>
        </p:nvSpPr>
        <p:spPr>
          <a:xfrm>
            <a:off x="133350" y="0"/>
            <a:ext cx="11925300" cy="685800"/>
          </a:xfrm>
        </p:spPr>
        <p:txBody>
          <a:bodyPr>
            <a:normAutofit fontScale="90000"/>
          </a:bodyPr>
          <a:lstStyle/>
          <a:p>
            <a:pPr>
              <a:defRPr/>
            </a:pP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Cardinality Ratio</a:t>
            </a:r>
            <a:endParaRPr lang="en-GB" dirty="0"/>
          </a:p>
        </p:txBody>
      </p:sp>
      <p:sp>
        <p:nvSpPr>
          <p:cNvPr id="57347" name="Content Placeholder 2">
            <a:extLst>
              <a:ext uri="{FF2B5EF4-FFF2-40B4-BE49-F238E27FC236}">
                <a16:creationId xmlns="" xmlns:a16="http://schemas.microsoft.com/office/drawing/2014/main" id="{AFAB89E0-2249-42DC-B32F-7C1DC59EBB8C}"/>
              </a:ext>
            </a:extLst>
          </p:cNvPr>
          <p:cNvSpPr>
            <a:spLocks noGrp="1" noChangeArrowheads="1"/>
          </p:cNvSpPr>
          <p:nvPr>
            <p:ph idx="1"/>
          </p:nvPr>
        </p:nvSpPr>
        <p:spPr/>
        <p:txBody>
          <a:bodyPr/>
          <a:lstStyle/>
          <a:p>
            <a:pPr>
              <a:tabLst>
                <a:tab pos="1536662" algn="ctr"/>
                <a:tab pos="3543211" algn="ctr"/>
                <a:tab pos="5481502" algn="ctr"/>
              </a:tabLst>
            </a:pPr>
            <a:r>
              <a:rPr lang="en-US" altLang="en-US" sz="2400" b="1"/>
              <a:t>One to Many (1:M</a:t>
            </a:r>
            <a:r>
              <a:rPr lang="en-US" altLang="en-US" sz="2400"/>
              <a:t>) : one instance of an entity is related with many instance of another entity is called One-to-Many relationship.</a:t>
            </a:r>
          </a:p>
          <a:p>
            <a:pPr>
              <a:tabLst>
                <a:tab pos="1536662" algn="ctr"/>
                <a:tab pos="3543211" algn="ctr"/>
                <a:tab pos="5481502" algn="ctr"/>
              </a:tabLst>
            </a:pPr>
            <a:r>
              <a:rPr lang="en-US" altLang="en-US" sz="2400"/>
              <a:t>Cardinality ratio is 1:M</a:t>
            </a:r>
          </a:p>
          <a:p>
            <a:pPr>
              <a:tabLst>
                <a:tab pos="1536662" algn="ctr"/>
                <a:tab pos="3543211" algn="ctr"/>
                <a:tab pos="5481502" algn="ctr"/>
              </a:tabLst>
            </a:pPr>
            <a:endParaRPr lang="en-GB" altLang="en-US"/>
          </a:p>
        </p:txBody>
      </p:sp>
      <p:pic>
        <p:nvPicPr>
          <p:cNvPr id="57348" name="Picture 3">
            <a:extLst>
              <a:ext uri="{FF2B5EF4-FFF2-40B4-BE49-F238E27FC236}">
                <a16:creationId xmlns="" xmlns:a16="http://schemas.microsoft.com/office/drawing/2014/main" id="{1A841B40-D379-4920-8A25-E8F8E5550C8E}"/>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247902" y="3838575"/>
            <a:ext cx="7789863" cy="200183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6DB3D8-C51C-48FB-9AF1-0854353052F6}"/>
              </a:ext>
            </a:extLst>
          </p:cNvPr>
          <p:cNvSpPr>
            <a:spLocks noGrp="1"/>
          </p:cNvSpPr>
          <p:nvPr>
            <p:ph type="title"/>
          </p:nvPr>
        </p:nvSpPr>
        <p:spPr/>
        <p:txBody>
          <a:bodyPr>
            <a:normAutofit/>
          </a:bodyPr>
          <a:lstStyle/>
          <a:p>
            <a:pPr>
              <a:defRPr/>
            </a:pPr>
            <a:r>
              <a:rPr lang="en-US" dirty="0"/>
              <a:t>Cardinality Ratio</a:t>
            </a:r>
            <a:endParaRPr lang="en-GB" dirty="0"/>
          </a:p>
        </p:txBody>
      </p:sp>
      <p:sp>
        <p:nvSpPr>
          <p:cNvPr id="58371" name="Content Placeholder 2">
            <a:extLst>
              <a:ext uri="{FF2B5EF4-FFF2-40B4-BE49-F238E27FC236}">
                <a16:creationId xmlns="" xmlns:a16="http://schemas.microsoft.com/office/drawing/2014/main" id="{3820C898-1830-468B-AC60-67CFF32E932B}"/>
              </a:ext>
            </a:extLst>
          </p:cNvPr>
          <p:cNvSpPr>
            <a:spLocks noGrp="1" noChangeArrowheads="1"/>
          </p:cNvSpPr>
          <p:nvPr>
            <p:ph idx="1"/>
          </p:nvPr>
        </p:nvSpPr>
        <p:spPr/>
        <p:txBody>
          <a:bodyPr/>
          <a:lstStyle/>
          <a:p>
            <a:pPr>
              <a:tabLst>
                <a:tab pos="1536662" algn="ctr"/>
                <a:tab pos="3543211" algn="ctr"/>
                <a:tab pos="5481502" algn="ctr"/>
              </a:tabLst>
            </a:pPr>
            <a:r>
              <a:rPr lang="en-US" altLang="en-US" sz="2400" b="1"/>
              <a:t>Many  to One (N:1)</a:t>
            </a:r>
            <a:r>
              <a:rPr lang="en-US" altLang="en-US" sz="2400"/>
              <a:t> : Many instances of an entity is related with one instance of another entity is called Many-to-One relationship.</a:t>
            </a:r>
          </a:p>
          <a:p>
            <a:pPr>
              <a:tabLst>
                <a:tab pos="1536662" algn="ctr"/>
                <a:tab pos="3543211" algn="ctr"/>
                <a:tab pos="5481502" algn="ctr"/>
              </a:tabLst>
            </a:pPr>
            <a:r>
              <a:rPr lang="en-US" altLang="en-US" sz="2400"/>
              <a:t>Cardinality ratio is N:1</a:t>
            </a:r>
          </a:p>
          <a:p>
            <a:pPr>
              <a:tabLst>
                <a:tab pos="1536662" algn="ctr"/>
                <a:tab pos="3543211" algn="ctr"/>
                <a:tab pos="5481502" algn="ctr"/>
              </a:tabLst>
            </a:pPr>
            <a:endParaRPr lang="en-GB" altLang="en-US"/>
          </a:p>
        </p:txBody>
      </p:sp>
      <p:pic>
        <p:nvPicPr>
          <p:cNvPr id="58372" name="Picture 3">
            <a:extLst>
              <a:ext uri="{FF2B5EF4-FFF2-40B4-BE49-F238E27FC236}">
                <a16:creationId xmlns="" xmlns:a16="http://schemas.microsoft.com/office/drawing/2014/main" id="{DD8B2C33-8D5C-4BCE-9A70-8DE80F95320D}"/>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109787" y="3968750"/>
            <a:ext cx="7972425" cy="2524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5B3477-1F37-43CA-9D18-E7CBA380CDEC}"/>
              </a:ext>
            </a:extLst>
          </p:cNvPr>
          <p:cNvSpPr>
            <a:spLocks noGrp="1"/>
          </p:cNvSpPr>
          <p:nvPr>
            <p:ph type="title"/>
          </p:nvPr>
        </p:nvSpPr>
        <p:spPr/>
        <p:txBody>
          <a:bodyPr>
            <a:normAutofit/>
          </a:bodyPr>
          <a:lstStyle/>
          <a:p>
            <a:pPr>
              <a:defRPr/>
            </a:pPr>
            <a:r>
              <a:rPr lang="en-US" dirty="0"/>
              <a:t>Cardinality Ratio</a:t>
            </a:r>
            <a:endParaRPr lang="en-GB" dirty="0"/>
          </a:p>
        </p:txBody>
      </p:sp>
      <p:pic>
        <p:nvPicPr>
          <p:cNvPr id="59395" name="Picture 2">
            <a:extLst>
              <a:ext uri="{FF2B5EF4-FFF2-40B4-BE49-F238E27FC236}">
                <a16:creationId xmlns="" xmlns:a16="http://schemas.microsoft.com/office/drawing/2014/main" id="{675A37ED-473E-4486-9E51-1B3A96D1BEA7}"/>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1970087" y="4293096"/>
            <a:ext cx="8315325" cy="2055813"/>
          </a:xfr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solidFill>
                  <a:schemeClr val="tx1"/>
                </a:solidFill>
                <a:prstDash val="solid"/>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9396" name="Rectangle 3">
            <a:extLst>
              <a:ext uri="{FF2B5EF4-FFF2-40B4-BE49-F238E27FC236}">
                <a16:creationId xmlns="" xmlns:a16="http://schemas.microsoft.com/office/drawing/2014/main" id="{DCC1E605-9438-44B1-AF34-7172553FAD98}"/>
              </a:ext>
            </a:extLst>
          </p:cNvPr>
          <p:cNvSpPr>
            <a:spLocks noChangeArrowheads="1"/>
          </p:cNvSpPr>
          <p:nvPr/>
        </p:nvSpPr>
        <p:spPr bwMode="auto">
          <a:xfrm>
            <a:off x="1039184" y="1750608"/>
            <a:ext cx="10177131" cy="19389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tabLst>
                <a:tab pos="1536700" algn="ctr"/>
                <a:tab pos="3543300" algn="ctr"/>
                <a:tab pos="5481638" algn="ctr"/>
              </a:tabLst>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tabLst>
                <a:tab pos="1536700" algn="ctr"/>
                <a:tab pos="3543300" algn="ctr"/>
                <a:tab pos="5481638" algn="ctr"/>
              </a:tabLst>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tabLst>
                <a:tab pos="1536700" algn="ctr"/>
                <a:tab pos="3543300" algn="ctr"/>
                <a:tab pos="5481638" algn="ctr"/>
              </a:tabLst>
              <a:defRPr kumimoji="1" sz="2400">
                <a:solidFill>
                  <a:schemeClr val="tx1"/>
                </a:solidFill>
                <a:latin typeface="Helvetica" panose="020B0604020202020204" pitchFamily="34" charset="0"/>
              </a:defRPr>
            </a:lvl3pPr>
            <a:lvl4pPr marL="1600200" indent="-228600">
              <a:spcBef>
                <a:spcPct val="35000"/>
              </a:spcBef>
              <a:buClr>
                <a:schemeClr val="hlink"/>
              </a:buClr>
              <a:buChar char="–"/>
              <a:tabLst>
                <a:tab pos="1536700" algn="ctr"/>
                <a:tab pos="3543300" algn="ctr"/>
                <a:tab pos="5481638" algn="ctr"/>
              </a:tabLst>
              <a:defRPr kumimoji="1" sz="2000">
                <a:solidFill>
                  <a:schemeClr val="tx1"/>
                </a:solidFill>
                <a:latin typeface="Helvetica" panose="020B0604020202020204" pitchFamily="34" charset="0"/>
              </a:defRPr>
            </a:lvl4pPr>
            <a:lvl5pPr marL="2057400" indent="-228600">
              <a:spcBef>
                <a:spcPct val="35000"/>
              </a:spcBef>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tabLst>
                <a:tab pos="1536700" algn="ctr"/>
                <a:tab pos="3543300" algn="ctr"/>
                <a:tab pos="5481638" algn="ctr"/>
              </a:tabLst>
              <a:defRPr kumimoji="1" sz="2000">
                <a:solidFill>
                  <a:schemeClr val="tx1"/>
                </a:solidFill>
                <a:latin typeface="Helvetica" panose="020B0604020202020204" pitchFamily="34" charset="0"/>
              </a:defRPr>
            </a:lvl9pPr>
          </a:lstStyle>
          <a:p>
            <a:pPr algn="just">
              <a:spcBef>
                <a:spcPct val="0"/>
              </a:spcBef>
              <a:buClrTx/>
              <a:buSzTx/>
              <a:buFontTx/>
              <a:buNone/>
            </a:pPr>
            <a:r>
              <a:rPr kumimoji="0" lang="en-US" altLang="en-US" sz="2400" b="1" dirty="0"/>
              <a:t>Many  to Many (M:N</a:t>
            </a:r>
            <a:r>
              <a:rPr kumimoji="0" lang="en-US" altLang="en-US" sz="2400" dirty="0"/>
              <a:t>) : Many instances of an entity is related with Many instances of another entity is called Many-to-Many relationship.</a:t>
            </a:r>
          </a:p>
          <a:p>
            <a:pPr algn="just">
              <a:spcBef>
                <a:spcPct val="0"/>
              </a:spcBef>
              <a:buClrTx/>
              <a:buSzTx/>
              <a:buFontTx/>
              <a:buNone/>
            </a:pPr>
            <a:endParaRPr kumimoji="0" lang="en-US" altLang="en-US" sz="2400" dirty="0"/>
          </a:p>
          <a:p>
            <a:pPr algn="just">
              <a:spcBef>
                <a:spcPct val="0"/>
              </a:spcBef>
              <a:buClrTx/>
              <a:buSzTx/>
              <a:buFontTx/>
              <a:buNone/>
            </a:pPr>
            <a:endParaRPr kumimoji="0" lang="en-US" altLang="en-US" sz="2400" dirty="0"/>
          </a:p>
          <a:p>
            <a:pPr algn="just">
              <a:spcBef>
                <a:spcPct val="0"/>
              </a:spcBef>
              <a:buClrTx/>
              <a:buSzTx/>
              <a:buFontTx/>
              <a:buNone/>
            </a:pPr>
            <a:r>
              <a:rPr kumimoji="0" lang="en-US" altLang="en-US" sz="2400" dirty="0"/>
              <a:t>Cardinality ratio is M:N</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 xmlns:a16="http://schemas.microsoft.com/office/drawing/2014/main" id="{5B324659-EEDB-4EE7-8C58-27B5C3D8591B}"/>
              </a:ext>
            </a:extLst>
          </p:cNvPr>
          <p:cNvSpPr>
            <a:spLocks noGrp="1" noChangeArrowheads="1"/>
          </p:cNvSpPr>
          <p:nvPr>
            <p:ph type="title"/>
          </p:nvPr>
        </p:nvSpPr>
        <p:spPr/>
        <p:txBody>
          <a:bodyPr/>
          <a:lstStyle/>
          <a:p>
            <a:pPr>
              <a:defRPr/>
            </a:pPr>
            <a:r>
              <a:rPr lang="en-US" dirty="0"/>
              <a:t>Participation Constraint</a:t>
            </a:r>
          </a:p>
        </p:txBody>
      </p:sp>
      <p:sp>
        <p:nvSpPr>
          <p:cNvPr id="60419" name="Rectangle 3">
            <a:extLst>
              <a:ext uri="{FF2B5EF4-FFF2-40B4-BE49-F238E27FC236}">
                <a16:creationId xmlns="" xmlns:a16="http://schemas.microsoft.com/office/drawing/2014/main" id="{38873741-6A85-49CA-B9C6-F9E4CDF0E530}"/>
              </a:ext>
            </a:extLst>
          </p:cNvPr>
          <p:cNvSpPr>
            <a:spLocks noGrp="1" noChangeArrowheads="1"/>
          </p:cNvSpPr>
          <p:nvPr>
            <p:ph type="body" idx="1"/>
          </p:nvPr>
        </p:nvSpPr>
        <p:spPr>
          <a:xfrm>
            <a:off x="459016" y="1945640"/>
            <a:ext cx="11273968" cy="4075256"/>
          </a:xfrm>
        </p:spPr>
        <p:txBody>
          <a:bodyPr>
            <a:normAutofit fontScale="77500" lnSpcReduction="20000"/>
          </a:bodyPr>
          <a:lstStyle/>
          <a:p>
            <a:pPr>
              <a:tabLst>
                <a:tab pos="1536662" algn="ctr"/>
                <a:tab pos="3543211" algn="ctr"/>
                <a:tab pos="5481502" algn="ctr"/>
              </a:tabLst>
            </a:pPr>
            <a:r>
              <a:rPr lang="en-US" altLang="en-US" sz="2400" dirty="0"/>
              <a:t>Participation Constraint : Participation Constraint describe the participation of an entity in the relationship set.</a:t>
            </a:r>
          </a:p>
          <a:p>
            <a:pPr>
              <a:tabLst>
                <a:tab pos="1536662" algn="ctr"/>
                <a:tab pos="3543211" algn="ctr"/>
                <a:tab pos="5481502" algn="ctr"/>
              </a:tabLst>
            </a:pPr>
            <a:r>
              <a:rPr lang="en-US" altLang="en-US" sz="2400" dirty="0"/>
              <a:t>Participation is of Two Types</a:t>
            </a:r>
          </a:p>
          <a:p>
            <a:pPr lvl="1">
              <a:buFont typeface="Wingdings" panose="05000000000000000000" pitchFamily="2" charset="2"/>
              <a:buChar char="Ø"/>
              <a:tabLst>
                <a:tab pos="1536662" algn="ctr"/>
                <a:tab pos="3543211" algn="ctr"/>
                <a:tab pos="5481502" algn="ctr"/>
              </a:tabLst>
            </a:pPr>
            <a:r>
              <a:rPr lang="en-US" altLang="en-US" dirty="0"/>
              <a:t>Total Participation</a:t>
            </a:r>
          </a:p>
          <a:p>
            <a:pPr lvl="1">
              <a:buFont typeface="Wingdings" panose="05000000000000000000" pitchFamily="2" charset="2"/>
              <a:buChar char="Ø"/>
              <a:tabLst>
                <a:tab pos="1536662" algn="ctr"/>
                <a:tab pos="3543211" algn="ctr"/>
                <a:tab pos="5481502" algn="ctr"/>
              </a:tabLst>
            </a:pPr>
            <a:r>
              <a:rPr lang="en-US" altLang="en-US" dirty="0"/>
              <a:t>Partial Participation</a:t>
            </a:r>
          </a:p>
          <a:p>
            <a:pPr>
              <a:tabLst>
                <a:tab pos="1536662" algn="ctr"/>
                <a:tab pos="3543211" algn="ctr"/>
                <a:tab pos="5481502" algn="ctr"/>
              </a:tabLst>
            </a:pPr>
            <a:r>
              <a:rPr lang="en-IN" altLang="en-US" sz="2400" b="1" dirty="0"/>
              <a:t>Total Participation</a:t>
            </a:r>
            <a:r>
              <a:rPr lang="en-IN" altLang="en-US" sz="2400" dirty="0"/>
              <a:t> − Each entity is involved in the relationship. Total participation is represented by double lines.</a:t>
            </a:r>
          </a:p>
          <a:p>
            <a:pPr>
              <a:tabLst>
                <a:tab pos="1536662" algn="ctr"/>
                <a:tab pos="3543211" algn="ctr"/>
                <a:tab pos="5481502" algn="ctr"/>
              </a:tabLst>
            </a:pPr>
            <a:r>
              <a:rPr lang="en-IN" altLang="en-US" sz="2400" b="1" dirty="0"/>
              <a:t>Partial participation</a:t>
            </a:r>
            <a:r>
              <a:rPr lang="en-IN" altLang="en-US" sz="2400" dirty="0"/>
              <a:t> − Not all entities are involved in the relationship. Partial participation is represented by single lines.</a:t>
            </a:r>
          </a:p>
          <a:p>
            <a:pPr lvl="1">
              <a:buFont typeface="Wingdings" panose="05000000000000000000" pitchFamily="2" charset="2"/>
              <a:buChar char="Ø"/>
              <a:tabLst>
                <a:tab pos="1536662" algn="ctr"/>
                <a:tab pos="3543211" algn="ctr"/>
                <a:tab pos="5481502" algn="ctr"/>
              </a:tabLst>
            </a:pPr>
            <a:endParaRPr lang="en-US"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Content Placeholder 4">
            <a:extLst>
              <a:ext uri="{FF2B5EF4-FFF2-40B4-BE49-F238E27FC236}">
                <a16:creationId xmlns="" xmlns:a16="http://schemas.microsoft.com/office/drawing/2014/main" id="{DB1D27BB-F11D-49AF-8A85-31C9E03433D3}"/>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719403" y="1124744"/>
            <a:ext cx="10081120" cy="5536091"/>
          </a:xfr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Content Placeholder 4">
            <a:extLst>
              <a:ext uri="{FF2B5EF4-FFF2-40B4-BE49-F238E27FC236}">
                <a16:creationId xmlns="" xmlns:a16="http://schemas.microsoft.com/office/drawing/2014/main" id="{3D2F484C-2B68-4DC6-8DE9-4570179CBCCB}"/>
              </a:ext>
            </a:extLst>
          </p:cNvPr>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a:xfrm>
            <a:off x="1103445" y="1190627"/>
            <a:ext cx="7848600" cy="2255837"/>
          </a:xfrm>
        </p:spPr>
      </p:pic>
      <p:sp>
        <p:nvSpPr>
          <p:cNvPr id="62467" name="TextBox 6">
            <a:extLst>
              <a:ext uri="{FF2B5EF4-FFF2-40B4-BE49-F238E27FC236}">
                <a16:creationId xmlns="" xmlns:a16="http://schemas.microsoft.com/office/drawing/2014/main" id="{BC4AA540-AFE4-4C00-A3BF-B2F9AF679E4D}"/>
              </a:ext>
            </a:extLst>
          </p:cNvPr>
          <p:cNvSpPr txBox="1">
            <a:spLocks noChangeArrowheads="1"/>
          </p:cNvSpPr>
          <p:nvPr/>
        </p:nvSpPr>
        <p:spPr bwMode="auto">
          <a:xfrm>
            <a:off x="1100175" y="3717033"/>
            <a:ext cx="9889099" cy="20621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2" charset="2"/>
              <a:buChar char="n"/>
              <a:defRPr kumimoji="1" sz="2000">
                <a:solidFill>
                  <a:schemeClr val="tx1"/>
                </a:solidFill>
                <a:latin typeface="Helvetica" panose="020B0604020202020204" pitchFamily="34" charset="0"/>
              </a:defRPr>
            </a:lvl1pPr>
            <a:lvl2pPr marL="742950" indent="-285750">
              <a:spcBef>
                <a:spcPct val="35000"/>
              </a:spcBef>
              <a:buClr>
                <a:srgbClr val="CC6600"/>
              </a:buClr>
              <a:buSzPct val="105000"/>
              <a:buFont typeface="Monotype Sorts" pitchFamily="2" charset="2"/>
              <a:buChar char="H"/>
              <a:defRPr kumimoji="1" sz="2800">
                <a:solidFill>
                  <a:schemeClr val="tx1"/>
                </a:solidFill>
                <a:latin typeface="Helvetica" panose="020B0604020202020204" pitchFamily="34" charset="0"/>
              </a:defRPr>
            </a:lvl2pPr>
            <a:lvl3pPr marL="1143000" indent="-228600">
              <a:spcBef>
                <a:spcPct val="35000"/>
              </a:spcBef>
              <a:buClr>
                <a:srgbClr val="000099"/>
              </a:buClr>
              <a:buSzPct val="85000"/>
              <a:buFont typeface="Monotype Sorts" pitchFamily="2"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Char char="»"/>
              <a:defRPr kumimoji="1" sz="2000">
                <a:solidFill>
                  <a:schemeClr val="tx1"/>
                </a:solidFill>
                <a:latin typeface="Helvetica" panose="020B0604020202020204" pitchFamily="34" charset="0"/>
              </a:defRPr>
            </a:lvl9pPr>
          </a:lstStyle>
          <a:p>
            <a:pPr algn="just">
              <a:spcBef>
                <a:spcPct val="0"/>
              </a:spcBef>
              <a:buClrTx/>
              <a:buSzTx/>
              <a:buFont typeface="Arial" panose="020B0604020202020204" pitchFamily="34" charset="0"/>
              <a:buChar char="•"/>
            </a:pPr>
            <a:r>
              <a:rPr kumimoji="0" lang="en-US" altLang="en-US" sz="3200" dirty="0">
                <a:solidFill>
                  <a:srgbClr val="303030"/>
                </a:solidFill>
                <a:latin typeface="Arimo"/>
              </a:rPr>
              <a:t>Double line between the entity set “Student” and relationship set “Enrolled in” signifies total participation.</a:t>
            </a:r>
          </a:p>
          <a:p>
            <a:pPr algn="just">
              <a:spcBef>
                <a:spcPct val="0"/>
              </a:spcBef>
              <a:buClrTx/>
              <a:buSzTx/>
              <a:buFont typeface="Arial" panose="020B0604020202020204" pitchFamily="34" charset="0"/>
              <a:buChar char="•"/>
            </a:pPr>
            <a:r>
              <a:rPr kumimoji="0" lang="en-US" altLang="en-US" sz="3200" dirty="0">
                <a:solidFill>
                  <a:srgbClr val="303030"/>
                </a:solidFill>
                <a:latin typeface="Arimo"/>
              </a:rPr>
              <a:t>It specifies that each student must be enrolled in at least one course.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a:extLst>
              <a:ext uri="{FF2B5EF4-FFF2-40B4-BE49-F238E27FC236}">
                <a16:creationId xmlns="" xmlns:a16="http://schemas.microsoft.com/office/drawing/2014/main" id="{2E73046F-6BD9-4F6B-90DD-EDE2785D15AC}"/>
              </a:ext>
            </a:extLst>
          </p:cNvPr>
          <p:cNvSpPr>
            <a:spLocks noGrp="1" noChangeArrowheads="1"/>
          </p:cNvSpPr>
          <p:nvPr>
            <p:ph idx="1"/>
          </p:nvPr>
        </p:nvSpPr>
        <p:spPr/>
        <p:txBody>
          <a:bodyPr/>
          <a:lstStyle/>
          <a:p>
            <a:endParaRPr lang="en-IN" altLang="en-US"/>
          </a:p>
        </p:txBody>
      </p:sp>
      <p:pic>
        <p:nvPicPr>
          <p:cNvPr id="64515" name="Picture 4">
            <a:extLst>
              <a:ext uri="{FF2B5EF4-FFF2-40B4-BE49-F238E27FC236}">
                <a16:creationId xmlns="" xmlns:a16="http://schemas.microsoft.com/office/drawing/2014/main" id="{AA5BFDCB-6B6B-4D63-AA2D-4E1C5A7A7CD3}"/>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81000" y="1124745"/>
            <a:ext cx="10227501" cy="5311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B565D37-72D1-4E46-B1B3-C628802F213E}"/>
              </a:ext>
            </a:extLst>
          </p:cNvPr>
          <p:cNvSpPr>
            <a:spLocks noGrp="1"/>
          </p:cNvSpPr>
          <p:nvPr>
            <p:ph idx="1"/>
          </p:nvPr>
        </p:nvSpPr>
        <p:spPr/>
        <p:txBody>
          <a:bodyPr>
            <a:normAutofit fontScale="62500" lnSpcReduction="20000"/>
          </a:bodyPr>
          <a:lstStyle/>
          <a:p>
            <a:pPr>
              <a:defRPr/>
            </a:pPr>
            <a:endParaRPr lang="en-US" dirty="0"/>
          </a:p>
          <a:p>
            <a:pPr>
              <a:defRPr/>
            </a:pPr>
            <a:endParaRPr lang="en-US" dirty="0"/>
          </a:p>
          <a:p>
            <a:pPr>
              <a:defRPr/>
            </a:pPr>
            <a:endParaRPr lang="en-US" dirty="0"/>
          </a:p>
          <a:p>
            <a:pPr>
              <a:defRPr/>
            </a:pPr>
            <a:endParaRPr lang="en-US" dirty="0"/>
          </a:p>
          <a:p>
            <a:pPr>
              <a:defRPr/>
            </a:pPr>
            <a:endParaRPr lang="en-US" dirty="0"/>
          </a:p>
          <a:p>
            <a:pPr marL="0" indent="0">
              <a:buNone/>
              <a:defRPr/>
            </a:pPr>
            <a:endParaRPr lang="en-US" dirty="0"/>
          </a:p>
          <a:p>
            <a:pPr>
              <a:defRPr/>
            </a:pPr>
            <a:endParaRPr lang="en-US" dirty="0"/>
          </a:p>
          <a:p>
            <a:pPr algn="just">
              <a:defRPr/>
            </a:pPr>
            <a:r>
              <a:rPr lang="en-US" sz="2400" dirty="0"/>
              <a:t>Single line between the entity set “Course” and relationship set “Enrolled in” signifies partial participation.</a:t>
            </a:r>
          </a:p>
          <a:p>
            <a:pPr algn="just">
              <a:defRPr/>
            </a:pPr>
            <a:r>
              <a:rPr lang="en-US" sz="2400" dirty="0"/>
              <a:t>It specifies that there might exist some courses for which no enrollments are made.</a:t>
            </a:r>
          </a:p>
        </p:txBody>
      </p:sp>
      <p:pic>
        <p:nvPicPr>
          <p:cNvPr id="65539" name="Picture 4">
            <a:extLst>
              <a:ext uri="{FF2B5EF4-FFF2-40B4-BE49-F238E27FC236}">
                <a16:creationId xmlns="" xmlns:a16="http://schemas.microsoft.com/office/drawing/2014/main" id="{A3F60EEC-FA3E-405E-9EE8-CEB4AE43364A}"/>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23392" y="1316765"/>
            <a:ext cx="8661400" cy="2398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EA89E0-7E24-4D4F-8130-FA730FDD6D21}"/>
              </a:ext>
            </a:extLst>
          </p:cNvPr>
          <p:cNvSpPr>
            <a:spLocks noGrp="1"/>
          </p:cNvSpPr>
          <p:nvPr>
            <p:ph type="title"/>
          </p:nvPr>
        </p:nvSpPr>
        <p:spPr/>
        <p:txBody>
          <a:bodyPr/>
          <a:lstStyle/>
          <a:p>
            <a:r>
              <a:rPr lang="en-US" dirty="0"/>
              <a:t>Structural Constraints</a:t>
            </a:r>
          </a:p>
        </p:txBody>
      </p:sp>
      <p:sp>
        <p:nvSpPr>
          <p:cNvPr id="3" name="Content Placeholder 2">
            <a:extLst>
              <a:ext uri="{FF2B5EF4-FFF2-40B4-BE49-F238E27FC236}">
                <a16:creationId xmlns="" xmlns:a16="http://schemas.microsoft.com/office/drawing/2014/main" id="{47924286-E5AB-4C1C-AB05-7B064B4906F2}"/>
              </a:ext>
            </a:extLst>
          </p:cNvPr>
          <p:cNvSpPr>
            <a:spLocks noGrp="1"/>
          </p:cNvSpPr>
          <p:nvPr>
            <p:ph idx="1"/>
          </p:nvPr>
        </p:nvSpPr>
        <p:spPr>
          <a:xfrm>
            <a:off x="838200" y="1962733"/>
            <a:ext cx="10515600" cy="4351338"/>
          </a:xfrm>
        </p:spPr>
        <p:txBody>
          <a:bodyPr/>
          <a:lstStyle/>
          <a:p>
            <a:r>
              <a:rPr lang="en-US" dirty="0"/>
              <a:t>cardinality ratio and participation constraints, taken together, as the structural constraints of a relationship type.</a:t>
            </a:r>
          </a:p>
        </p:txBody>
      </p:sp>
    </p:spTree>
    <p:extLst>
      <p:ext uri="{BB962C8B-B14F-4D97-AF65-F5344CB8AC3E}">
        <p14:creationId xmlns="" xmlns:p14="http://schemas.microsoft.com/office/powerpoint/2010/main" val="155086095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61584D-E09A-4B14-9B2F-E3346DFF19AB}"/>
              </a:ext>
            </a:extLst>
          </p:cNvPr>
          <p:cNvSpPr>
            <a:spLocks noGrp="1"/>
          </p:cNvSpPr>
          <p:nvPr>
            <p:ph type="title"/>
          </p:nvPr>
        </p:nvSpPr>
        <p:spPr/>
        <p:txBody>
          <a:bodyPr/>
          <a:lstStyle/>
          <a:p>
            <a:r>
              <a:rPr lang="en-US" dirty="0"/>
              <a:t>Notations of ER Diagram</a:t>
            </a:r>
          </a:p>
        </p:txBody>
      </p:sp>
      <p:pic>
        <p:nvPicPr>
          <p:cNvPr id="8" name="Content Placeholder 7">
            <a:extLst>
              <a:ext uri="{FF2B5EF4-FFF2-40B4-BE49-F238E27FC236}">
                <a16:creationId xmlns="" xmlns:a16="http://schemas.microsoft.com/office/drawing/2014/main" id="{68F01DC3-438A-43C5-AFFF-8A98907EF864}"/>
              </a:ext>
            </a:extLst>
          </p:cNvPr>
          <p:cNvPicPr>
            <a:picLocks noGrp="1" noChangeAspect="1"/>
          </p:cNvPicPr>
          <p:nvPr>
            <p:ph idx="1"/>
          </p:nvPr>
        </p:nvPicPr>
        <p:blipFill>
          <a:blip r:embed="rId2"/>
          <a:stretch>
            <a:fillRect/>
          </a:stretch>
        </p:blipFill>
        <p:spPr>
          <a:xfrm>
            <a:off x="496231" y="1983740"/>
            <a:ext cx="5103538" cy="4351338"/>
          </a:xfrm>
          <a:prstGeom prst="rect">
            <a:avLst/>
          </a:prstGeom>
        </p:spPr>
      </p:pic>
      <p:pic>
        <p:nvPicPr>
          <p:cNvPr id="9" name="Picture 8">
            <a:extLst>
              <a:ext uri="{FF2B5EF4-FFF2-40B4-BE49-F238E27FC236}">
                <a16:creationId xmlns="" xmlns:a16="http://schemas.microsoft.com/office/drawing/2014/main" id="{AB833B78-89E9-41A4-83D5-506DDA9BD3A7}"/>
              </a:ext>
            </a:extLst>
          </p:cNvPr>
          <p:cNvPicPr>
            <a:picLocks noChangeAspect="1"/>
          </p:cNvPicPr>
          <p:nvPr/>
        </p:nvPicPr>
        <p:blipFill>
          <a:blip r:embed="rId3"/>
          <a:stretch>
            <a:fillRect/>
          </a:stretch>
        </p:blipFill>
        <p:spPr>
          <a:xfrm>
            <a:off x="5599769" y="2054384"/>
            <a:ext cx="6153150" cy="4210050"/>
          </a:xfrm>
          <a:prstGeom prst="rect">
            <a:avLst/>
          </a:prstGeom>
        </p:spPr>
      </p:pic>
    </p:spTree>
    <p:extLst>
      <p:ext uri="{BB962C8B-B14F-4D97-AF65-F5344CB8AC3E}">
        <p14:creationId xmlns="" xmlns:p14="http://schemas.microsoft.com/office/powerpoint/2010/main" val="17996345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61584D-E09A-4B14-9B2F-E3346DFF19AB}"/>
              </a:ext>
            </a:extLst>
          </p:cNvPr>
          <p:cNvSpPr>
            <a:spLocks noGrp="1"/>
          </p:cNvSpPr>
          <p:nvPr>
            <p:ph type="title"/>
          </p:nvPr>
        </p:nvSpPr>
        <p:spPr/>
        <p:txBody>
          <a:bodyPr/>
          <a:lstStyle/>
          <a:p>
            <a:r>
              <a:rPr lang="en-US" dirty="0"/>
              <a:t>ER Diagram</a:t>
            </a:r>
          </a:p>
        </p:txBody>
      </p:sp>
      <p:sp>
        <p:nvSpPr>
          <p:cNvPr id="3" name="Content Placeholder 2">
            <a:extLst>
              <a:ext uri="{FF2B5EF4-FFF2-40B4-BE49-F238E27FC236}">
                <a16:creationId xmlns="" xmlns:a16="http://schemas.microsoft.com/office/drawing/2014/main" id="{13AF6FF2-4556-4675-AEC2-C19C72575E9E}"/>
              </a:ext>
            </a:extLst>
          </p:cNvPr>
          <p:cNvSpPr>
            <a:spLocks noGrp="1"/>
          </p:cNvSpPr>
          <p:nvPr>
            <p:ph idx="1"/>
          </p:nvPr>
        </p:nvSpPr>
        <p:spPr/>
        <p:txBody>
          <a:bodyPr/>
          <a:lstStyle/>
          <a:p>
            <a:r>
              <a:rPr lang="en-US" dirty="0"/>
              <a:t>The CAR entity type with two key attributes, Registration and </a:t>
            </a:r>
            <a:r>
              <a:rPr lang="en-US" dirty="0" err="1"/>
              <a:t>Vehicle_id</a:t>
            </a:r>
            <a:r>
              <a:rPr lang="en-US" dirty="0"/>
              <a:t>. (a) ER diagram notation. (b) Entity set with three entities. </a:t>
            </a:r>
          </a:p>
        </p:txBody>
      </p:sp>
      <p:pic>
        <p:nvPicPr>
          <p:cNvPr id="5" name="Picture 4">
            <a:extLst>
              <a:ext uri="{FF2B5EF4-FFF2-40B4-BE49-F238E27FC236}">
                <a16:creationId xmlns="" xmlns:a16="http://schemas.microsoft.com/office/drawing/2014/main" id="{0099105B-8C64-417A-8CA3-89DBCF844F30}"/>
              </a:ext>
            </a:extLst>
          </p:cNvPr>
          <p:cNvPicPr>
            <a:picLocks noChangeAspect="1"/>
          </p:cNvPicPr>
          <p:nvPr/>
        </p:nvPicPr>
        <p:blipFill>
          <a:blip r:embed="rId2"/>
          <a:stretch>
            <a:fillRect/>
          </a:stretch>
        </p:blipFill>
        <p:spPr>
          <a:xfrm>
            <a:off x="838200" y="3986212"/>
            <a:ext cx="5581650" cy="1933575"/>
          </a:xfrm>
          <a:prstGeom prst="rect">
            <a:avLst/>
          </a:prstGeom>
        </p:spPr>
      </p:pic>
      <p:pic>
        <p:nvPicPr>
          <p:cNvPr id="6" name="Picture 5">
            <a:extLst>
              <a:ext uri="{FF2B5EF4-FFF2-40B4-BE49-F238E27FC236}">
                <a16:creationId xmlns="" xmlns:a16="http://schemas.microsoft.com/office/drawing/2014/main" id="{203240E5-9563-4C87-917E-BB9BA565EBB7}"/>
              </a:ext>
            </a:extLst>
          </p:cNvPr>
          <p:cNvPicPr>
            <a:picLocks noChangeAspect="1"/>
          </p:cNvPicPr>
          <p:nvPr/>
        </p:nvPicPr>
        <p:blipFill>
          <a:blip r:embed="rId3"/>
          <a:stretch>
            <a:fillRect/>
          </a:stretch>
        </p:blipFill>
        <p:spPr>
          <a:xfrm>
            <a:off x="6096000" y="3762057"/>
            <a:ext cx="5819775" cy="2828925"/>
          </a:xfrm>
          <a:prstGeom prst="rect">
            <a:avLst/>
          </a:prstGeom>
        </p:spPr>
      </p:pic>
    </p:spTree>
    <p:extLst>
      <p:ext uri="{BB962C8B-B14F-4D97-AF65-F5344CB8AC3E}">
        <p14:creationId xmlns="" xmlns:p14="http://schemas.microsoft.com/office/powerpoint/2010/main" val="29920420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61584D-E09A-4B14-9B2F-E3346DFF19AB}"/>
              </a:ext>
            </a:extLst>
          </p:cNvPr>
          <p:cNvSpPr>
            <a:spLocks noGrp="1"/>
          </p:cNvSpPr>
          <p:nvPr>
            <p:ph type="title"/>
          </p:nvPr>
        </p:nvSpPr>
        <p:spPr/>
        <p:txBody>
          <a:bodyPr/>
          <a:lstStyle/>
          <a:p>
            <a:r>
              <a:rPr lang="en-US" dirty="0"/>
              <a:t>ER Diagram</a:t>
            </a:r>
          </a:p>
        </p:txBody>
      </p:sp>
      <p:sp>
        <p:nvSpPr>
          <p:cNvPr id="3" name="Content Placeholder 2">
            <a:extLst>
              <a:ext uri="{FF2B5EF4-FFF2-40B4-BE49-F238E27FC236}">
                <a16:creationId xmlns="" xmlns:a16="http://schemas.microsoft.com/office/drawing/2014/main" id="{13AF6FF2-4556-4675-AEC2-C19C72575E9E}"/>
              </a:ext>
            </a:extLst>
          </p:cNvPr>
          <p:cNvSpPr>
            <a:spLocks noGrp="1"/>
          </p:cNvSpPr>
          <p:nvPr>
            <p:ph idx="1"/>
          </p:nvPr>
        </p:nvSpPr>
        <p:spPr/>
        <p:txBody>
          <a:bodyPr/>
          <a:lstStyle/>
          <a:p>
            <a:r>
              <a:rPr lang="en-US" dirty="0"/>
              <a:t>Preliminary design of entity types for the COMPANY database. Some of the shown attributes will be refined into relationships. </a:t>
            </a:r>
          </a:p>
        </p:txBody>
      </p:sp>
      <p:pic>
        <p:nvPicPr>
          <p:cNvPr id="4" name="Picture 3">
            <a:extLst>
              <a:ext uri="{FF2B5EF4-FFF2-40B4-BE49-F238E27FC236}">
                <a16:creationId xmlns="" xmlns:a16="http://schemas.microsoft.com/office/drawing/2014/main" id="{364BFA86-3335-416A-9E3E-AF6F6B80942E}"/>
              </a:ext>
            </a:extLst>
          </p:cNvPr>
          <p:cNvPicPr>
            <a:picLocks noChangeAspect="1"/>
          </p:cNvPicPr>
          <p:nvPr/>
        </p:nvPicPr>
        <p:blipFill>
          <a:blip r:embed="rId2"/>
          <a:stretch>
            <a:fillRect/>
          </a:stretch>
        </p:blipFill>
        <p:spPr>
          <a:xfrm>
            <a:off x="763270" y="3359150"/>
            <a:ext cx="4000500" cy="3133725"/>
          </a:xfrm>
          <a:prstGeom prst="rect">
            <a:avLst/>
          </a:prstGeom>
        </p:spPr>
      </p:pic>
      <p:pic>
        <p:nvPicPr>
          <p:cNvPr id="5" name="Picture 4">
            <a:extLst>
              <a:ext uri="{FF2B5EF4-FFF2-40B4-BE49-F238E27FC236}">
                <a16:creationId xmlns="" xmlns:a16="http://schemas.microsoft.com/office/drawing/2014/main" id="{D05FCDDF-B7B4-40AB-BD90-A7C71D44A96F}"/>
              </a:ext>
            </a:extLst>
          </p:cNvPr>
          <p:cNvPicPr>
            <a:picLocks noChangeAspect="1"/>
          </p:cNvPicPr>
          <p:nvPr/>
        </p:nvPicPr>
        <p:blipFill>
          <a:blip r:embed="rId3"/>
          <a:stretch>
            <a:fillRect/>
          </a:stretch>
        </p:blipFill>
        <p:spPr>
          <a:xfrm>
            <a:off x="5890260" y="3235325"/>
            <a:ext cx="5105400" cy="3257550"/>
          </a:xfrm>
          <a:prstGeom prst="rect">
            <a:avLst/>
          </a:prstGeom>
        </p:spPr>
      </p:pic>
    </p:spTree>
    <p:extLst>
      <p:ext uri="{BB962C8B-B14F-4D97-AF65-F5344CB8AC3E}">
        <p14:creationId xmlns="" xmlns:p14="http://schemas.microsoft.com/office/powerpoint/2010/main" val="60439115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61584D-E09A-4B14-9B2F-E3346DFF19AB}"/>
              </a:ext>
            </a:extLst>
          </p:cNvPr>
          <p:cNvSpPr>
            <a:spLocks noGrp="1"/>
          </p:cNvSpPr>
          <p:nvPr>
            <p:ph type="title"/>
          </p:nvPr>
        </p:nvSpPr>
        <p:spPr/>
        <p:txBody>
          <a:bodyPr/>
          <a:lstStyle/>
          <a:p>
            <a:r>
              <a:rPr lang="en-US" dirty="0"/>
              <a:t>ER Diagram</a:t>
            </a:r>
          </a:p>
        </p:txBody>
      </p:sp>
      <p:pic>
        <p:nvPicPr>
          <p:cNvPr id="4" name="Content Placeholder 3">
            <a:extLst>
              <a:ext uri="{FF2B5EF4-FFF2-40B4-BE49-F238E27FC236}">
                <a16:creationId xmlns="" xmlns:a16="http://schemas.microsoft.com/office/drawing/2014/main" id="{B344F3ED-565A-4AF1-94C4-CFABBEE62341}"/>
              </a:ext>
            </a:extLst>
          </p:cNvPr>
          <p:cNvPicPr>
            <a:picLocks noGrp="1" noChangeAspect="1"/>
          </p:cNvPicPr>
          <p:nvPr>
            <p:ph idx="1"/>
          </p:nvPr>
        </p:nvPicPr>
        <p:blipFill>
          <a:blip r:embed="rId2"/>
          <a:stretch>
            <a:fillRect/>
          </a:stretch>
        </p:blipFill>
        <p:spPr>
          <a:xfrm>
            <a:off x="3519487" y="1915319"/>
            <a:ext cx="5153025" cy="4305300"/>
          </a:xfrm>
          <a:prstGeom prst="rect">
            <a:avLst/>
          </a:prstGeom>
        </p:spPr>
      </p:pic>
    </p:spTree>
    <p:extLst>
      <p:ext uri="{BB962C8B-B14F-4D97-AF65-F5344CB8AC3E}">
        <p14:creationId xmlns="" xmlns:p14="http://schemas.microsoft.com/office/powerpoint/2010/main" val="367692484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3AF6FF2-4556-4675-AEC2-C19C72575E9E}"/>
              </a:ext>
            </a:extLst>
          </p:cNvPr>
          <p:cNvSpPr>
            <a:spLocks noGrp="1"/>
          </p:cNvSpPr>
          <p:nvPr>
            <p:ph idx="1"/>
          </p:nvPr>
        </p:nvSpPr>
        <p:spPr>
          <a:xfrm>
            <a:off x="254000" y="1891613"/>
            <a:ext cx="2357120" cy="4351338"/>
          </a:xfrm>
        </p:spPr>
        <p:txBody>
          <a:bodyPr>
            <a:normAutofit/>
          </a:bodyPr>
          <a:lstStyle/>
          <a:p>
            <a:r>
              <a:rPr lang="en-US" sz="1400" dirty="0"/>
              <a:t>ER diagrams for the company schema, with structural constraints specified using (min, max) notation and role names. </a:t>
            </a:r>
          </a:p>
        </p:txBody>
      </p:sp>
      <p:pic>
        <p:nvPicPr>
          <p:cNvPr id="4" name="Picture 3">
            <a:extLst>
              <a:ext uri="{FF2B5EF4-FFF2-40B4-BE49-F238E27FC236}">
                <a16:creationId xmlns="" xmlns:a16="http://schemas.microsoft.com/office/drawing/2014/main" id="{88DF182A-2AA9-4368-B3AF-5E7693C9D1A7}"/>
              </a:ext>
            </a:extLst>
          </p:cNvPr>
          <p:cNvPicPr>
            <a:picLocks noChangeAspect="1"/>
          </p:cNvPicPr>
          <p:nvPr/>
        </p:nvPicPr>
        <p:blipFill>
          <a:blip r:embed="rId2"/>
          <a:stretch>
            <a:fillRect/>
          </a:stretch>
        </p:blipFill>
        <p:spPr>
          <a:xfrm>
            <a:off x="2810136" y="0"/>
            <a:ext cx="7100047" cy="6858000"/>
          </a:xfrm>
          <a:prstGeom prst="rect">
            <a:avLst/>
          </a:prstGeom>
        </p:spPr>
      </p:pic>
    </p:spTree>
    <p:extLst>
      <p:ext uri="{BB962C8B-B14F-4D97-AF65-F5344CB8AC3E}">
        <p14:creationId xmlns="" xmlns:p14="http://schemas.microsoft.com/office/powerpoint/2010/main" val="168632456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61584D-E09A-4B14-9B2F-E3346DFF19AB}"/>
              </a:ext>
            </a:extLst>
          </p:cNvPr>
          <p:cNvSpPr>
            <a:spLocks noGrp="1"/>
          </p:cNvSpPr>
          <p:nvPr>
            <p:ph type="title"/>
          </p:nvPr>
        </p:nvSpPr>
        <p:spPr/>
        <p:txBody>
          <a:bodyPr/>
          <a:lstStyle/>
          <a:p>
            <a:r>
              <a:rPr lang="en-US" dirty="0"/>
              <a:t>Weak</a:t>
            </a:r>
            <a:r>
              <a:rPr lang="en-US" spc="100" dirty="0">
                <a:cs typeface="Times New Roman"/>
              </a:rPr>
              <a:t> </a:t>
            </a:r>
            <a:r>
              <a:rPr lang="en-US" dirty="0"/>
              <a:t>Entity</a:t>
            </a:r>
            <a:r>
              <a:rPr lang="en-US" spc="100" dirty="0">
                <a:cs typeface="Times New Roman"/>
              </a:rPr>
              <a:t> </a:t>
            </a:r>
            <a:r>
              <a:rPr lang="en-US" spc="-10" dirty="0"/>
              <a:t>Types</a:t>
            </a:r>
            <a:endParaRPr lang="en-US" dirty="0"/>
          </a:p>
        </p:txBody>
      </p:sp>
      <p:sp>
        <p:nvSpPr>
          <p:cNvPr id="3" name="Content Placeholder 2">
            <a:extLst>
              <a:ext uri="{FF2B5EF4-FFF2-40B4-BE49-F238E27FC236}">
                <a16:creationId xmlns="" xmlns:a16="http://schemas.microsoft.com/office/drawing/2014/main" id="{13AF6FF2-4556-4675-AEC2-C19C72575E9E}"/>
              </a:ext>
            </a:extLst>
          </p:cNvPr>
          <p:cNvSpPr>
            <a:spLocks noGrp="1"/>
          </p:cNvSpPr>
          <p:nvPr>
            <p:ph idx="1"/>
          </p:nvPr>
        </p:nvSpPr>
        <p:spPr>
          <a:xfrm>
            <a:off x="838200" y="1891613"/>
            <a:ext cx="10515600" cy="4601262"/>
          </a:xfrm>
        </p:spPr>
        <p:txBody>
          <a:bodyPr>
            <a:normAutofit fontScale="85000" lnSpcReduction="10000"/>
          </a:bodyPr>
          <a:lstStyle/>
          <a:p>
            <a:pPr marL="355600" indent="-342900">
              <a:spcBef>
                <a:spcPts val="105"/>
              </a:spcBef>
              <a:buSzPct val="60000"/>
              <a:tabLst>
                <a:tab pos="354965" algn="l"/>
              </a:tabLst>
            </a:pPr>
            <a:r>
              <a:rPr lang="en-US" sz="2000" dirty="0">
                <a:latin typeface="Arial MT"/>
                <a:cs typeface="Arial MT"/>
              </a:rPr>
              <a:t>An</a:t>
            </a:r>
            <a:r>
              <a:rPr lang="en-US" sz="2000" spc="35" dirty="0">
                <a:latin typeface="Times New Roman"/>
                <a:cs typeface="Times New Roman"/>
              </a:rPr>
              <a:t> </a:t>
            </a:r>
            <a:r>
              <a:rPr lang="en-US" sz="2000" dirty="0">
                <a:latin typeface="Arial MT"/>
                <a:cs typeface="Arial MT"/>
              </a:rPr>
              <a:t>entity</a:t>
            </a:r>
            <a:r>
              <a:rPr lang="en-US" sz="2000" spc="40" dirty="0">
                <a:latin typeface="Times New Roman"/>
                <a:cs typeface="Times New Roman"/>
              </a:rPr>
              <a:t> </a:t>
            </a:r>
            <a:r>
              <a:rPr lang="en-US" sz="2000" dirty="0">
                <a:latin typeface="Arial MT"/>
                <a:cs typeface="Arial MT"/>
              </a:rPr>
              <a:t>that</a:t>
            </a:r>
            <a:r>
              <a:rPr lang="en-US" sz="2000" spc="25" dirty="0">
                <a:latin typeface="Times New Roman"/>
                <a:cs typeface="Times New Roman"/>
              </a:rPr>
              <a:t> </a:t>
            </a:r>
            <a:r>
              <a:rPr lang="en-US" sz="2000" dirty="0">
                <a:latin typeface="Arial MT"/>
                <a:cs typeface="Arial MT"/>
              </a:rPr>
              <a:t>does</a:t>
            </a:r>
            <a:r>
              <a:rPr lang="en-US" sz="2000" spc="25" dirty="0">
                <a:latin typeface="Times New Roman"/>
                <a:cs typeface="Times New Roman"/>
              </a:rPr>
              <a:t> </a:t>
            </a:r>
            <a:r>
              <a:rPr lang="en-US" sz="2000" dirty="0">
                <a:latin typeface="Arial MT"/>
                <a:cs typeface="Arial MT"/>
              </a:rPr>
              <a:t>not</a:t>
            </a:r>
            <a:r>
              <a:rPr lang="en-US" sz="2000" spc="30" dirty="0">
                <a:latin typeface="Times New Roman"/>
                <a:cs typeface="Times New Roman"/>
              </a:rPr>
              <a:t> </a:t>
            </a:r>
            <a:r>
              <a:rPr lang="en-US" sz="2000" dirty="0">
                <a:latin typeface="Arial MT"/>
                <a:cs typeface="Arial MT"/>
              </a:rPr>
              <a:t>have</a:t>
            </a:r>
            <a:r>
              <a:rPr lang="en-US" sz="2000" spc="30" dirty="0">
                <a:latin typeface="Times New Roman"/>
                <a:cs typeface="Times New Roman"/>
              </a:rPr>
              <a:t> </a:t>
            </a:r>
            <a:r>
              <a:rPr lang="en-US" sz="2000" dirty="0">
                <a:latin typeface="Arial MT"/>
                <a:cs typeface="Arial MT"/>
              </a:rPr>
              <a:t>a</a:t>
            </a:r>
            <a:r>
              <a:rPr lang="en-US" sz="2000" spc="45" dirty="0">
                <a:latin typeface="Times New Roman"/>
                <a:cs typeface="Times New Roman"/>
              </a:rPr>
              <a:t> </a:t>
            </a:r>
            <a:r>
              <a:rPr lang="en-US" sz="2000" dirty="0">
                <a:latin typeface="Arial MT"/>
                <a:cs typeface="Arial MT"/>
              </a:rPr>
              <a:t>key</a:t>
            </a:r>
            <a:r>
              <a:rPr lang="en-US" sz="2000" spc="30" dirty="0">
                <a:latin typeface="Times New Roman"/>
                <a:cs typeface="Times New Roman"/>
              </a:rPr>
              <a:t> </a:t>
            </a:r>
            <a:r>
              <a:rPr lang="en-US" sz="2000" dirty="0">
                <a:latin typeface="Arial MT"/>
                <a:cs typeface="Arial MT"/>
              </a:rPr>
              <a:t>attribute</a:t>
            </a:r>
            <a:r>
              <a:rPr lang="en-US" sz="2000" spc="15" dirty="0">
                <a:latin typeface="Times New Roman"/>
                <a:cs typeface="Times New Roman"/>
              </a:rPr>
              <a:t> </a:t>
            </a:r>
            <a:r>
              <a:rPr lang="en-US" sz="2000" dirty="0">
                <a:latin typeface="Arial MT"/>
                <a:cs typeface="Arial MT"/>
              </a:rPr>
              <a:t>and</a:t>
            </a:r>
            <a:r>
              <a:rPr lang="en-US" sz="2000" spc="30" dirty="0">
                <a:latin typeface="Times New Roman"/>
                <a:cs typeface="Times New Roman"/>
              </a:rPr>
              <a:t> </a:t>
            </a:r>
            <a:r>
              <a:rPr lang="en-US" sz="2000" dirty="0">
                <a:latin typeface="Arial MT"/>
                <a:cs typeface="Arial MT"/>
              </a:rPr>
              <a:t>that</a:t>
            </a:r>
            <a:r>
              <a:rPr lang="en-US" sz="2000" spc="25" dirty="0">
                <a:latin typeface="Times New Roman"/>
                <a:cs typeface="Times New Roman"/>
              </a:rPr>
              <a:t> </a:t>
            </a:r>
            <a:r>
              <a:rPr lang="en-US" sz="2000" dirty="0">
                <a:latin typeface="Arial MT"/>
                <a:cs typeface="Arial MT"/>
              </a:rPr>
              <a:t>is</a:t>
            </a:r>
            <a:r>
              <a:rPr lang="en-US" sz="2000" spc="50" dirty="0">
                <a:latin typeface="Times New Roman"/>
                <a:cs typeface="Times New Roman"/>
              </a:rPr>
              <a:t> </a:t>
            </a:r>
            <a:r>
              <a:rPr lang="en-US" sz="2000" spc="-10" dirty="0">
                <a:latin typeface="Arial MT"/>
                <a:cs typeface="Arial MT"/>
              </a:rPr>
              <a:t>identification- </a:t>
            </a:r>
            <a:r>
              <a:rPr lang="en-US" sz="2000" dirty="0">
                <a:latin typeface="Arial MT"/>
                <a:cs typeface="Arial MT"/>
              </a:rPr>
              <a:t>dependent</a:t>
            </a:r>
            <a:r>
              <a:rPr lang="en-US" sz="2000" dirty="0">
                <a:latin typeface="Times New Roman"/>
                <a:cs typeface="Times New Roman"/>
              </a:rPr>
              <a:t> </a:t>
            </a:r>
            <a:r>
              <a:rPr lang="en-US" sz="2000" dirty="0">
                <a:latin typeface="Arial MT"/>
                <a:cs typeface="Arial MT"/>
              </a:rPr>
              <a:t>on</a:t>
            </a:r>
            <a:r>
              <a:rPr lang="en-US" sz="2000" spc="45" dirty="0">
                <a:latin typeface="Times New Roman"/>
                <a:cs typeface="Times New Roman"/>
              </a:rPr>
              <a:t> </a:t>
            </a:r>
            <a:r>
              <a:rPr lang="en-US" sz="2000" dirty="0">
                <a:latin typeface="Arial MT"/>
                <a:cs typeface="Arial MT"/>
              </a:rPr>
              <a:t>another</a:t>
            </a:r>
            <a:r>
              <a:rPr lang="en-US" sz="2000" spc="10" dirty="0">
                <a:latin typeface="Times New Roman"/>
                <a:cs typeface="Times New Roman"/>
              </a:rPr>
              <a:t> </a:t>
            </a:r>
            <a:r>
              <a:rPr lang="en-US" sz="2000" dirty="0">
                <a:latin typeface="Arial MT"/>
                <a:cs typeface="Arial MT"/>
              </a:rPr>
              <a:t>entity</a:t>
            </a:r>
            <a:r>
              <a:rPr lang="en-US" sz="2000" spc="35" dirty="0">
                <a:latin typeface="Times New Roman"/>
                <a:cs typeface="Times New Roman"/>
              </a:rPr>
              <a:t> </a:t>
            </a:r>
            <a:r>
              <a:rPr lang="en-US" sz="2000" spc="-10" dirty="0">
                <a:latin typeface="Arial MT"/>
                <a:cs typeface="Arial MT"/>
              </a:rPr>
              <a:t>type.</a:t>
            </a:r>
            <a:endParaRPr lang="en-US" sz="2000" dirty="0">
              <a:latin typeface="Arial MT"/>
              <a:cs typeface="Arial MT"/>
            </a:endParaRPr>
          </a:p>
          <a:p>
            <a:pPr marL="355600" marR="60325" indent="-342900">
              <a:spcBef>
                <a:spcPts val="509"/>
              </a:spcBef>
              <a:buSzPct val="60000"/>
              <a:tabLst>
                <a:tab pos="355600" algn="l"/>
              </a:tabLst>
            </a:pPr>
            <a:r>
              <a:rPr lang="en-US" sz="2000" dirty="0">
                <a:latin typeface="Arial MT"/>
                <a:cs typeface="Arial MT"/>
              </a:rPr>
              <a:t>A</a:t>
            </a:r>
            <a:r>
              <a:rPr lang="en-US" sz="2000" spc="15" dirty="0">
                <a:latin typeface="Times New Roman"/>
                <a:cs typeface="Times New Roman"/>
              </a:rPr>
              <a:t> </a:t>
            </a:r>
            <a:r>
              <a:rPr lang="en-US" sz="2000" dirty="0">
                <a:latin typeface="Arial MT"/>
                <a:cs typeface="Arial MT"/>
              </a:rPr>
              <a:t>weak</a:t>
            </a:r>
            <a:r>
              <a:rPr lang="en-US" sz="2000" spc="20" dirty="0">
                <a:latin typeface="Times New Roman"/>
                <a:cs typeface="Times New Roman"/>
              </a:rPr>
              <a:t> </a:t>
            </a:r>
            <a:r>
              <a:rPr lang="en-US" sz="2000" dirty="0">
                <a:latin typeface="Arial MT"/>
                <a:cs typeface="Arial MT"/>
              </a:rPr>
              <a:t>entity</a:t>
            </a:r>
            <a:r>
              <a:rPr lang="en-US" sz="2000" spc="5" dirty="0">
                <a:latin typeface="Times New Roman"/>
                <a:cs typeface="Times New Roman"/>
              </a:rPr>
              <a:t> </a:t>
            </a:r>
            <a:r>
              <a:rPr lang="en-US" sz="2000" dirty="0">
                <a:latin typeface="Arial MT"/>
                <a:cs typeface="Arial MT"/>
              </a:rPr>
              <a:t>must</a:t>
            </a:r>
            <a:r>
              <a:rPr lang="en-US" sz="2000" spc="10" dirty="0">
                <a:latin typeface="Times New Roman"/>
                <a:cs typeface="Times New Roman"/>
              </a:rPr>
              <a:t> </a:t>
            </a:r>
            <a:r>
              <a:rPr lang="en-US" sz="2000" dirty="0">
                <a:latin typeface="Arial MT"/>
                <a:cs typeface="Arial MT"/>
              </a:rPr>
              <a:t>participate</a:t>
            </a:r>
            <a:r>
              <a:rPr lang="en-US" sz="2000" spc="-15" dirty="0">
                <a:latin typeface="Times New Roman"/>
                <a:cs typeface="Times New Roman"/>
              </a:rPr>
              <a:t> </a:t>
            </a:r>
            <a:r>
              <a:rPr lang="en-US" sz="2000" dirty="0">
                <a:latin typeface="Arial MT"/>
                <a:cs typeface="Arial MT"/>
              </a:rPr>
              <a:t>in</a:t>
            </a:r>
            <a:r>
              <a:rPr lang="en-US" sz="2000" spc="30" dirty="0">
                <a:latin typeface="Times New Roman"/>
                <a:cs typeface="Times New Roman"/>
              </a:rPr>
              <a:t> </a:t>
            </a:r>
            <a:r>
              <a:rPr lang="en-US" sz="2000" dirty="0">
                <a:latin typeface="Arial MT"/>
                <a:cs typeface="Arial MT"/>
              </a:rPr>
              <a:t>an</a:t>
            </a:r>
            <a:r>
              <a:rPr lang="en-US" sz="2000" spc="30" dirty="0">
                <a:latin typeface="Times New Roman"/>
                <a:cs typeface="Times New Roman"/>
              </a:rPr>
              <a:t> </a:t>
            </a:r>
            <a:r>
              <a:rPr lang="en-US" sz="2000" dirty="0">
                <a:latin typeface="Arial MT"/>
                <a:cs typeface="Arial MT"/>
              </a:rPr>
              <a:t>identifying</a:t>
            </a:r>
            <a:r>
              <a:rPr lang="en-US" sz="2000" spc="15" dirty="0">
                <a:latin typeface="Times New Roman"/>
                <a:cs typeface="Times New Roman"/>
              </a:rPr>
              <a:t> </a:t>
            </a:r>
            <a:r>
              <a:rPr lang="en-US" sz="2000" dirty="0">
                <a:latin typeface="Arial MT"/>
                <a:cs typeface="Arial MT"/>
              </a:rPr>
              <a:t>relationship</a:t>
            </a:r>
            <a:r>
              <a:rPr lang="en-US" sz="2000" dirty="0">
                <a:latin typeface="Times New Roman"/>
                <a:cs typeface="Times New Roman"/>
              </a:rPr>
              <a:t> </a:t>
            </a:r>
            <a:r>
              <a:rPr lang="en-US" sz="2000" dirty="0">
                <a:latin typeface="Arial MT"/>
                <a:cs typeface="Arial MT"/>
              </a:rPr>
              <a:t>type</a:t>
            </a:r>
            <a:r>
              <a:rPr lang="en-US" sz="2000" spc="25" dirty="0">
                <a:latin typeface="Times New Roman"/>
                <a:cs typeface="Times New Roman"/>
              </a:rPr>
              <a:t> </a:t>
            </a:r>
            <a:r>
              <a:rPr lang="en-US" sz="2000" spc="-20" dirty="0">
                <a:latin typeface="Arial MT"/>
                <a:cs typeface="Arial MT"/>
              </a:rPr>
              <a:t>with</a:t>
            </a:r>
            <a:r>
              <a:rPr lang="en-US" sz="2000" spc="-20" dirty="0">
                <a:latin typeface="Times New Roman"/>
                <a:cs typeface="Times New Roman"/>
              </a:rPr>
              <a:t> </a:t>
            </a:r>
            <a:r>
              <a:rPr lang="en-US" sz="2000" dirty="0">
                <a:latin typeface="Arial MT"/>
                <a:cs typeface="Arial MT"/>
              </a:rPr>
              <a:t>an</a:t>
            </a:r>
            <a:r>
              <a:rPr lang="en-US" sz="2000" spc="20" dirty="0">
                <a:latin typeface="Times New Roman"/>
                <a:cs typeface="Times New Roman"/>
              </a:rPr>
              <a:t> </a:t>
            </a:r>
            <a:r>
              <a:rPr lang="en-US" sz="2000" dirty="0">
                <a:latin typeface="Arial MT"/>
                <a:cs typeface="Arial MT"/>
              </a:rPr>
              <a:t>owner</a:t>
            </a:r>
            <a:r>
              <a:rPr lang="en-US" sz="2000" spc="10" dirty="0">
                <a:latin typeface="Times New Roman"/>
                <a:cs typeface="Times New Roman"/>
              </a:rPr>
              <a:t> </a:t>
            </a:r>
            <a:r>
              <a:rPr lang="en-US" sz="2000" dirty="0">
                <a:latin typeface="Arial MT"/>
                <a:cs typeface="Arial MT"/>
              </a:rPr>
              <a:t>or</a:t>
            </a:r>
            <a:r>
              <a:rPr lang="en-US" sz="2000" spc="25" dirty="0">
                <a:latin typeface="Times New Roman"/>
                <a:cs typeface="Times New Roman"/>
              </a:rPr>
              <a:t> </a:t>
            </a:r>
            <a:r>
              <a:rPr lang="en-US" sz="2000" dirty="0">
                <a:latin typeface="Arial MT"/>
                <a:cs typeface="Arial MT"/>
              </a:rPr>
              <a:t>identifying</a:t>
            </a:r>
            <a:r>
              <a:rPr lang="en-US" sz="2000" spc="35" dirty="0">
                <a:latin typeface="Times New Roman"/>
                <a:cs typeface="Times New Roman"/>
              </a:rPr>
              <a:t> </a:t>
            </a:r>
            <a:r>
              <a:rPr lang="en-US" sz="2000" dirty="0">
                <a:latin typeface="Arial MT"/>
                <a:cs typeface="Arial MT"/>
              </a:rPr>
              <a:t>entity</a:t>
            </a:r>
            <a:r>
              <a:rPr lang="en-US" sz="2000" spc="25" dirty="0">
                <a:latin typeface="Times New Roman"/>
                <a:cs typeface="Times New Roman"/>
              </a:rPr>
              <a:t> </a:t>
            </a:r>
            <a:r>
              <a:rPr lang="en-US" sz="2000" spc="-20" dirty="0">
                <a:latin typeface="Arial MT"/>
                <a:cs typeface="Arial MT"/>
              </a:rPr>
              <a:t>type</a:t>
            </a:r>
            <a:endParaRPr lang="en-US" sz="2000" dirty="0">
              <a:latin typeface="Arial MT"/>
              <a:cs typeface="Arial MT"/>
            </a:endParaRPr>
          </a:p>
          <a:p>
            <a:pPr marL="355600" indent="-342900">
              <a:spcBef>
                <a:spcPts val="209"/>
              </a:spcBef>
              <a:buSzPct val="60000"/>
              <a:tabLst>
                <a:tab pos="354965" algn="l"/>
              </a:tabLst>
            </a:pPr>
            <a:r>
              <a:rPr lang="en-US" sz="2000" dirty="0">
                <a:latin typeface="Arial MT"/>
                <a:cs typeface="Arial MT"/>
              </a:rPr>
              <a:t>Entities</a:t>
            </a:r>
            <a:r>
              <a:rPr lang="en-US" sz="2000" spc="30" dirty="0">
                <a:latin typeface="Times New Roman"/>
                <a:cs typeface="Times New Roman"/>
              </a:rPr>
              <a:t> </a:t>
            </a:r>
            <a:r>
              <a:rPr lang="en-US" sz="2000" dirty="0">
                <a:latin typeface="Arial MT"/>
                <a:cs typeface="Arial MT"/>
              </a:rPr>
              <a:t>are</a:t>
            </a:r>
            <a:r>
              <a:rPr lang="en-US" sz="2000" spc="5" dirty="0">
                <a:latin typeface="Times New Roman"/>
                <a:cs typeface="Times New Roman"/>
              </a:rPr>
              <a:t> </a:t>
            </a:r>
            <a:r>
              <a:rPr lang="en-US" sz="2000" dirty="0">
                <a:latin typeface="Arial MT"/>
                <a:cs typeface="Arial MT"/>
              </a:rPr>
              <a:t>identified</a:t>
            </a:r>
            <a:r>
              <a:rPr lang="en-US" sz="2000" spc="30" dirty="0">
                <a:latin typeface="Times New Roman"/>
                <a:cs typeface="Times New Roman"/>
              </a:rPr>
              <a:t> </a:t>
            </a:r>
            <a:r>
              <a:rPr lang="en-US" sz="2000" dirty="0">
                <a:latin typeface="Arial MT"/>
                <a:cs typeface="Arial MT"/>
              </a:rPr>
              <a:t>by</a:t>
            </a:r>
            <a:r>
              <a:rPr lang="en-US" sz="2000" spc="25" dirty="0">
                <a:latin typeface="Times New Roman"/>
                <a:cs typeface="Times New Roman"/>
              </a:rPr>
              <a:t> </a:t>
            </a:r>
            <a:r>
              <a:rPr lang="en-US" sz="2000" dirty="0">
                <a:latin typeface="Arial MT"/>
                <a:cs typeface="Arial MT"/>
              </a:rPr>
              <a:t>the</a:t>
            </a:r>
            <a:r>
              <a:rPr lang="en-US" sz="2000" spc="15" dirty="0">
                <a:latin typeface="Times New Roman"/>
                <a:cs typeface="Times New Roman"/>
              </a:rPr>
              <a:t> </a:t>
            </a:r>
            <a:r>
              <a:rPr lang="en-US" sz="2000" dirty="0">
                <a:latin typeface="Arial MT"/>
                <a:cs typeface="Arial MT"/>
              </a:rPr>
              <a:t>combination</a:t>
            </a:r>
            <a:r>
              <a:rPr lang="en-US" sz="2000" spc="-10" dirty="0">
                <a:latin typeface="Times New Roman"/>
                <a:cs typeface="Times New Roman"/>
              </a:rPr>
              <a:t> </a:t>
            </a:r>
            <a:r>
              <a:rPr lang="en-US" sz="2000" spc="-25" dirty="0">
                <a:latin typeface="Arial MT"/>
                <a:cs typeface="Arial MT"/>
              </a:rPr>
              <a:t>of:</a:t>
            </a:r>
            <a:endParaRPr lang="en-US" sz="2000" dirty="0">
              <a:latin typeface="Arial MT"/>
              <a:cs typeface="Arial MT"/>
            </a:endParaRPr>
          </a:p>
          <a:p>
            <a:pPr marL="812800" lvl="1" indent="-342900">
              <a:spcBef>
                <a:spcPts val="240"/>
              </a:spcBef>
              <a:buSzPct val="55000"/>
              <a:tabLst>
                <a:tab pos="756285" algn="l"/>
              </a:tabLst>
            </a:pPr>
            <a:r>
              <a:rPr lang="en-US" sz="2000" dirty="0">
                <a:latin typeface="Arial MT"/>
                <a:cs typeface="Arial MT"/>
              </a:rPr>
              <a:t>A</a:t>
            </a:r>
            <a:r>
              <a:rPr lang="en-US" sz="2000" spc="35" dirty="0">
                <a:latin typeface="Times New Roman"/>
                <a:cs typeface="Times New Roman"/>
              </a:rPr>
              <a:t> </a:t>
            </a:r>
            <a:r>
              <a:rPr lang="en-US" sz="2000" dirty="0">
                <a:latin typeface="Arial MT"/>
                <a:cs typeface="Arial MT"/>
              </a:rPr>
              <a:t>partial</a:t>
            </a:r>
            <a:r>
              <a:rPr lang="en-US" sz="2000" spc="25" dirty="0">
                <a:latin typeface="Times New Roman"/>
                <a:cs typeface="Times New Roman"/>
              </a:rPr>
              <a:t> </a:t>
            </a:r>
            <a:r>
              <a:rPr lang="en-US" sz="2000" dirty="0">
                <a:latin typeface="Arial MT"/>
                <a:cs typeface="Arial MT"/>
              </a:rPr>
              <a:t>key</a:t>
            </a:r>
            <a:r>
              <a:rPr lang="en-US" sz="2000" spc="25" dirty="0">
                <a:latin typeface="Times New Roman"/>
                <a:cs typeface="Times New Roman"/>
              </a:rPr>
              <a:t> </a:t>
            </a:r>
            <a:r>
              <a:rPr lang="en-US" sz="2000" dirty="0">
                <a:latin typeface="Arial MT"/>
                <a:cs typeface="Arial MT"/>
              </a:rPr>
              <a:t>of</a:t>
            </a:r>
            <a:r>
              <a:rPr lang="en-US" sz="2000" spc="35" dirty="0">
                <a:latin typeface="Times New Roman"/>
                <a:cs typeface="Times New Roman"/>
              </a:rPr>
              <a:t> </a:t>
            </a:r>
            <a:r>
              <a:rPr lang="en-US" sz="2000" dirty="0">
                <a:latin typeface="Arial MT"/>
                <a:cs typeface="Arial MT"/>
              </a:rPr>
              <a:t>the</a:t>
            </a:r>
            <a:r>
              <a:rPr lang="en-US" sz="2000" spc="25" dirty="0">
                <a:latin typeface="Times New Roman"/>
                <a:cs typeface="Times New Roman"/>
              </a:rPr>
              <a:t> </a:t>
            </a:r>
            <a:r>
              <a:rPr lang="en-US" sz="2000" dirty="0">
                <a:latin typeface="Arial MT"/>
                <a:cs typeface="Arial MT"/>
              </a:rPr>
              <a:t>weak</a:t>
            </a:r>
            <a:r>
              <a:rPr lang="en-US" sz="2000" spc="25" dirty="0">
                <a:latin typeface="Times New Roman"/>
                <a:cs typeface="Times New Roman"/>
              </a:rPr>
              <a:t> </a:t>
            </a:r>
            <a:r>
              <a:rPr lang="en-US" sz="2000" dirty="0">
                <a:latin typeface="Arial MT"/>
                <a:cs typeface="Arial MT"/>
              </a:rPr>
              <a:t>entity</a:t>
            </a:r>
            <a:r>
              <a:rPr lang="en-US" sz="2000" spc="30" dirty="0">
                <a:latin typeface="Times New Roman"/>
                <a:cs typeface="Times New Roman"/>
              </a:rPr>
              <a:t> </a:t>
            </a:r>
            <a:r>
              <a:rPr lang="en-US" sz="2000" spc="-20" dirty="0">
                <a:latin typeface="Arial MT"/>
                <a:cs typeface="Arial MT"/>
              </a:rPr>
              <a:t>type</a:t>
            </a:r>
            <a:endParaRPr lang="en-US" sz="2000" dirty="0">
              <a:latin typeface="Arial MT"/>
              <a:cs typeface="Arial MT"/>
            </a:endParaRPr>
          </a:p>
          <a:p>
            <a:pPr marL="812165" marR="1059180" lvl="1" indent="-342900">
              <a:spcBef>
                <a:spcPts val="509"/>
              </a:spcBef>
              <a:buSzPct val="55000"/>
              <a:tabLst>
                <a:tab pos="756285" algn="l"/>
                <a:tab pos="2196465" algn="l"/>
              </a:tabLst>
            </a:pPr>
            <a:r>
              <a:rPr lang="en-US" sz="2000" dirty="0">
                <a:latin typeface="Arial MT"/>
                <a:cs typeface="Arial MT"/>
              </a:rPr>
              <a:t>The</a:t>
            </a:r>
            <a:r>
              <a:rPr lang="en-US" sz="2000" spc="30" dirty="0">
                <a:latin typeface="Times New Roman"/>
                <a:cs typeface="Times New Roman"/>
              </a:rPr>
              <a:t> </a:t>
            </a:r>
            <a:r>
              <a:rPr lang="en-US" sz="2000" dirty="0">
                <a:latin typeface="Arial MT"/>
                <a:cs typeface="Arial MT"/>
              </a:rPr>
              <a:t>particular</a:t>
            </a:r>
            <a:r>
              <a:rPr lang="en-US" sz="2000" spc="20" dirty="0">
                <a:latin typeface="Times New Roman"/>
                <a:cs typeface="Times New Roman"/>
              </a:rPr>
              <a:t> </a:t>
            </a:r>
            <a:r>
              <a:rPr lang="en-US" sz="2000" dirty="0">
                <a:latin typeface="Arial MT"/>
                <a:cs typeface="Arial MT"/>
              </a:rPr>
              <a:t>entity</a:t>
            </a:r>
            <a:r>
              <a:rPr lang="en-US" sz="2000" spc="20" dirty="0">
                <a:latin typeface="Times New Roman"/>
                <a:cs typeface="Times New Roman"/>
              </a:rPr>
              <a:t> </a:t>
            </a:r>
            <a:r>
              <a:rPr lang="en-US" sz="2000" dirty="0">
                <a:latin typeface="Arial MT"/>
                <a:cs typeface="Arial MT"/>
              </a:rPr>
              <a:t>they</a:t>
            </a:r>
            <a:r>
              <a:rPr lang="en-US" sz="2000" spc="35" dirty="0">
                <a:latin typeface="Times New Roman"/>
                <a:cs typeface="Times New Roman"/>
              </a:rPr>
              <a:t> </a:t>
            </a:r>
            <a:r>
              <a:rPr lang="en-US" sz="2000" dirty="0">
                <a:latin typeface="Arial MT"/>
                <a:cs typeface="Arial MT"/>
              </a:rPr>
              <a:t>are</a:t>
            </a:r>
            <a:r>
              <a:rPr lang="en-US" sz="2000" spc="20" dirty="0">
                <a:latin typeface="Times New Roman"/>
                <a:cs typeface="Times New Roman"/>
              </a:rPr>
              <a:t> </a:t>
            </a:r>
            <a:r>
              <a:rPr lang="en-US" sz="2000" dirty="0">
                <a:latin typeface="Arial MT"/>
                <a:cs typeface="Arial MT"/>
              </a:rPr>
              <a:t>related</a:t>
            </a:r>
            <a:r>
              <a:rPr lang="en-US" sz="2000" spc="15" dirty="0">
                <a:latin typeface="Times New Roman"/>
                <a:cs typeface="Times New Roman"/>
              </a:rPr>
              <a:t> </a:t>
            </a:r>
            <a:r>
              <a:rPr lang="en-US" sz="2000" dirty="0">
                <a:latin typeface="Arial MT"/>
                <a:cs typeface="Arial MT"/>
              </a:rPr>
              <a:t>to</a:t>
            </a:r>
            <a:r>
              <a:rPr lang="en-US" sz="2000" spc="35" dirty="0">
                <a:latin typeface="Times New Roman"/>
                <a:cs typeface="Times New Roman"/>
              </a:rPr>
              <a:t> </a:t>
            </a:r>
            <a:r>
              <a:rPr lang="en-US" sz="2000" dirty="0">
                <a:latin typeface="Arial MT"/>
                <a:cs typeface="Arial MT"/>
              </a:rPr>
              <a:t>in</a:t>
            </a:r>
            <a:r>
              <a:rPr lang="en-US" sz="2000" spc="45" dirty="0">
                <a:latin typeface="Times New Roman"/>
                <a:cs typeface="Times New Roman"/>
              </a:rPr>
              <a:t> </a:t>
            </a:r>
            <a:r>
              <a:rPr lang="en-US" sz="2000" dirty="0">
                <a:latin typeface="Arial MT"/>
                <a:cs typeface="Arial MT"/>
              </a:rPr>
              <a:t>the</a:t>
            </a:r>
            <a:r>
              <a:rPr lang="en-US" sz="2000" spc="30" dirty="0">
                <a:latin typeface="Times New Roman"/>
                <a:cs typeface="Times New Roman"/>
              </a:rPr>
              <a:t> </a:t>
            </a:r>
            <a:r>
              <a:rPr lang="en-US" sz="2000" spc="-10" dirty="0">
                <a:latin typeface="Arial MT"/>
                <a:cs typeface="Arial MT"/>
              </a:rPr>
              <a:t>identifying</a:t>
            </a:r>
            <a:r>
              <a:rPr lang="en-US" sz="2000" spc="-10" dirty="0">
                <a:latin typeface="Times New Roman"/>
                <a:cs typeface="Times New Roman"/>
              </a:rPr>
              <a:t> </a:t>
            </a:r>
            <a:r>
              <a:rPr lang="en-US" sz="2000" spc="-10" dirty="0">
                <a:latin typeface="Arial MT"/>
                <a:cs typeface="Arial MT"/>
              </a:rPr>
              <a:t>relationship </a:t>
            </a:r>
            <a:r>
              <a:rPr lang="en-US" sz="2000" spc="-20" dirty="0">
                <a:latin typeface="Arial MT"/>
                <a:cs typeface="Arial MT"/>
              </a:rPr>
              <a:t>type</a:t>
            </a:r>
            <a:endParaRPr lang="en-US" sz="2000" dirty="0">
              <a:latin typeface="Arial MT"/>
              <a:cs typeface="Arial MT"/>
            </a:endParaRPr>
          </a:p>
          <a:p>
            <a:pPr marL="355600" indent="-342900">
              <a:spcBef>
                <a:spcPts val="210"/>
              </a:spcBef>
              <a:buSzPct val="60000"/>
              <a:tabLst>
                <a:tab pos="354965" algn="l"/>
              </a:tabLst>
            </a:pPr>
            <a:r>
              <a:rPr lang="en-US" sz="2000" b="1" spc="-10" dirty="0">
                <a:cs typeface="Arial"/>
              </a:rPr>
              <a:t>Example:</a:t>
            </a:r>
          </a:p>
          <a:p>
            <a:pPr marL="812800" lvl="1" indent="-342900">
              <a:spcBef>
                <a:spcPts val="210"/>
              </a:spcBef>
              <a:buSzPct val="60000"/>
              <a:tabLst>
                <a:tab pos="354965" algn="l"/>
              </a:tabLst>
            </a:pPr>
            <a:r>
              <a:rPr lang="en-US" sz="1600" dirty="0">
                <a:latin typeface="Arial MT"/>
                <a:cs typeface="Arial MT"/>
              </a:rPr>
              <a:t>A</a:t>
            </a:r>
            <a:r>
              <a:rPr lang="en-US" sz="1600" spc="20" dirty="0">
                <a:latin typeface="Times New Roman"/>
                <a:cs typeface="Times New Roman"/>
              </a:rPr>
              <a:t> </a:t>
            </a:r>
            <a:r>
              <a:rPr lang="en-US" sz="1600" dirty="0">
                <a:latin typeface="Arial MT"/>
                <a:cs typeface="Arial MT"/>
              </a:rPr>
              <a:t>DEPENDENT</a:t>
            </a:r>
            <a:r>
              <a:rPr lang="en-US" sz="1600" spc="35" dirty="0">
                <a:latin typeface="Times New Roman"/>
                <a:cs typeface="Times New Roman"/>
              </a:rPr>
              <a:t> </a:t>
            </a:r>
            <a:r>
              <a:rPr lang="en-US" sz="1600" dirty="0">
                <a:latin typeface="Arial MT"/>
                <a:cs typeface="Arial MT"/>
              </a:rPr>
              <a:t>entity</a:t>
            </a:r>
            <a:r>
              <a:rPr lang="en-US" sz="1600" spc="20" dirty="0">
                <a:latin typeface="Times New Roman"/>
                <a:cs typeface="Times New Roman"/>
              </a:rPr>
              <a:t> </a:t>
            </a:r>
            <a:r>
              <a:rPr lang="en-US" sz="1600" dirty="0">
                <a:latin typeface="Arial MT"/>
                <a:cs typeface="Arial MT"/>
              </a:rPr>
              <a:t>is</a:t>
            </a:r>
            <a:r>
              <a:rPr lang="en-US" sz="1600" spc="30" dirty="0">
                <a:latin typeface="Times New Roman"/>
                <a:cs typeface="Times New Roman"/>
              </a:rPr>
              <a:t> </a:t>
            </a:r>
            <a:r>
              <a:rPr lang="en-US" sz="1600" dirty="0">
                <a:latin typeface="Arial MT"/>
                <a:cs typeface="Arial MT"/>
              </a:rPr>
              <a:t>identified</a:t>
            </a:r>
            <a:r>
              <a:rPr lang="en-US" sz="1600" spc="5" dirty="0">
                <a:latin typeface="Times New Roman"/>
                <a:cs typeface="Times New Roman"/>
              </a:rPr>
              <a:t> </a:t>
            </a:r>
            <a:r>
              <a:rPr lang="en-US" sz="1600" dirty="0">
                <a:latin typeface="Arial MT"/>
                <a:cs typeface="Arial MT"/>
              </a:rPr>
              <a:t>by</a:t>
            </a:r>
            <a:r>
              <a:rPr lang="en-US" sz="1600" spc="25" dirty="0">
                <a:latin typeface="Times New Roman"/>
                <a:cs typeface="Times New Roman"/>
              </a:rPr>
              <a:t> </a:t>
            </a:r>
            <a:r>
              <a:rPr lang="en-US" sz="1600" dirty="0">
                <a:latin typeface="Arial MT"/>
                <a:cs typeface="Arial MT"/>
              </a:rPr>
              <a:t>the</a:t>
            </a:r>
            <a:r>
              <a:rPr lang="en-US" sz="1600" spc="15" dirty="0">
                <a:latin typeface="Times New Roman"/>
                <a:cs typeface="Times New Roman"/>
              </a:rPr>
              <a:t> </a:t>
            </a:r>
            <a:r>
              <a:rPr lang="en-US" sz="1600" dirty="0">
                <a:latin typeface="Arial MT"/>
                <a:cs typeface="Arial MT"/>
              </a:rPr>
              <a:t>dependent’s</a:t>
            </a:r>
            <a:r>
              <a:rPr lang="en-US" sz="1600" spc="-5" dirty="0">
                <a:latin typeface="Times New Roman"/>
                <a:cs typeface="Times New Roman"/>
              </a:rPr>
              <a:t> </a:t>
            </a:r>
            <a:r>
              <a:rPr lang="en-US" sz="1600" dirty="0">
                <a:latin typeface="Arial MT"/>
                <a:cs typeface="Arial MT"/>
              </a:rPr>
              <a:t>first</a:t>
            </a:r>
            <a:r>
              <a:rPr lang="en-US" sz="1600" spc="5" dirty="0">
                <a:latin typeface="Times New Roman"/>
                <a:cs typeface="Times New Roman"/>
              </a:rPr>
              <a:t> </a:t>
            </a:r>
            <a:r>
              <a:rPr lang="en-US" sz="1600" spc="-10" dirty="0">
                <a:latin typeface="Arial MT"/>
                <a:cs typeface="Arial MT"/>
              </a:rPr>
              <a:t>name, </a:t>
            </a:r>
            <a:r>
              <a:rPr lang="en-US" sz="1600" i="1" dirty="0">
                <a:cs typeface="Arial"/>
              </a:rPr>
              <a:t>and</a:t>
            </a:r>
            <a:r>
              <a:rPr lang="en-US" sz="1600" spc="20" dirty="0">
                <a:latin typeface="Times New Roman"/>
                <a:cs typeface="Times New Roman"/>
              </a:rPr>
              <a:t> </a:t>
            </a:r>
            <a:r>
              <a:rPr lang="en-US" sz="1600" dirty="0">
                <a:latin typeface="Arial MT"/>
                <a:cs typeface="Arial MT"/>
              </a:rPr>
              <a:t>the</a:t>
            </a:r>
            <a:r>
              <a:rPr lang="en-US" sz="1600" spc="15" dirty="0">
                <a:latin typeface="Times New Roman"/>
                <a:cs typeface="Times New Roman"/>
              </a:rPr>
              <a:t> </a:t>
            </a:r>
            <a:r>
              <a:rPr lang="en-US" sz="1600" dirty="0">
                <a:latin typeface="Arial MT"/>
                <a:cs typeface="Arial MT"/>
              </a:rPr>
              <a:t>specific</a:t>
            </a:r>
            <a:r>
              <a:rPr lang="en-US" sz="1600" spc="15" dirty="0">
                <a:latin typeface="Times New Roman"/>
                <a:cs typeface="Times New Roman"/>
              </a:rPr>
              <a:t> </a:t>
            </a:r>
            <a:r>
              <a:rPr lang="en-US" sz="1600" dirty="0">
                <a:latin typeface="Arial MT"/>
                <a:cs typeface="Arial MT"/>
              </a:rPr>
              <a:t>EMPLOYEE</a:t>
            </a:r>
            <a:r>
              <a:rPr lang="en-US" sz="1600" spc="35" dirty="0">
                <a:latin typeface="Times New Roman"/>
                <a:cs typeface="Times New Roman"/>
              </a:rPr>
              <a:t> </a:t>
            </a:r>
            <a:r>
              <a:rPr lang="en-US" sz="1600" dirty="0">
                <a:latin typeface="Arial MT"/>
                <a:cs typeface="Arial MT"/>
              </a:rPr>
              <a:t>with</a:t>
            </a:r>
            <a:r>
              <a:rPr lang="en-US" sz="1600" spc="10" dirty="0">
                <a:latin typeface="Times New Roman"/>
                <a:cs typeface="Times New Roman"/>
              </a:rPr>
              <a:t> </a:t>
            </a:r>
            <a:r>
              <a:rPr lang="en-US" sz="1600" dirty="0">
                <a:latin typeface="Arial MT"/>
                <a:cs typeface="Arial MT"/>
              </a:rPr>
              <a:t>whom</a:t>
            </a:r>
            <a:r>
              <a:rPr lang="en-US" sz="1600" spc="25" dirty="0">
                <a:latin typeface="Times New Roman"/>
                <a:cs typeface="Times New Roman"/>
              </a:rPr>
              <a:t> </a:t>
            </a:r>
            <a:r>
              <a:rPr lang="en-US" sz="1600" dirty="0">
                <a:latin typeface="Arial MT"/>
                <a:cs typeface="Arial MT"/>
              </a:rPr>
              <a:t>the</a:t>
            </a:r>
            <a:r>
              <a:rPr lang="en-US" sz="1600" spc="15" dirty="0">
                <a:latin typeface="Times New Roman"/>
                <a:cs typeface="Times New Roman"/>
              </a:rPr>
              <a:t> </a:t>
            </a:r>
            <a:r>
              <a:rPr lang="en-US" sz="1600" dirty="0">
                <a:latin typeface="Arial MT"/>
                <a:cs typeface="Arial MT"/>
              </a:rPr>
              <a:t>dependent</a:t>
            </a:r>
            <a:r>
              <a:rPr lang="en-US" sz="1600" spc="-5" dirty="0">
                <a:latin typeface="Times New Roman"/>
                <a:cs typeface="Times New Roman"/>
              </a:rPr>
              <a:t> </a:t>
            </a:r>
            <a:r>
              <a:rPr lang="en-US" sz="1600" dirty="0">
                <a:latin typeface="Arial MT"/>
                <a:cs typeface="Arial MT"/>
              </a:rPr>
              <a:t>is</a:t>
            </a:r>
            <a:r>
              <a:rPr lang="en-US" sz="1600" spc="35" dirty="0">
                <a:latin typeface="Times New Roman"/>
                <a:cs typeface="Times New Roman"/>
              </a:rPr>
              <a:t> </a:t>
            </a:r>
            <a:r>
              <a:rPr lang="en-US" sz="1600" spc="-10" dirty="0">
                <a:latin typeface="Arial MT"/>
                <a:cs typeface="Arial MT"/>
              </a:rPr>
              <a:t>related</a:t>
            </a:r>
          </a:p>
          <a:p>
            <a:pPr marL="812800" lvl="1" indent="-342900">
              <a:spcBef>
                <a:spcPts val="210"/>
              </a:spcBef>
              <a:buSzPct val="60000"/>
              <a:tabLst>
                <a:tab pos="354965" algn="l"/>
              </a:tabLst>
            </a:pPr>
            <a:r>
              <a:rPr lang="en-US" sz="1600" dirty="0">
                <a:latin typeface="Arial MT"/>
                <a:cs typeface="Arial MT"/>
              </a:rPr>
              <a:t>Name</a:t>
            </a:r>
            <a:r>
              <a:rPr lang="en-US" sz="1600" dirty="0">
                <a:latin typeface="Times New Roman"/>
                <a:cs typeface="Times New Roman"/>
              </a:rPr>
              <a:t> </a:t>
            </a:r>
            <a:r>
              <a:rPr lang="en-US" sz="1600" dirty="0">
                <a:latin typeface="Arial MT"/>
                <a:cs typeface="Arial MT"/>
              </a:rPr>
              <a:t>of</a:t>
            </a:r>
            <a:r>
              <a:rPr lang="en-US" sz="1600" spc="-5" dirty="0">
                <a:latin typeface="Times New Roman"/>
                <a:cs typeface="Times New Roman"/>
              </a:rPr>
              <a:t> </a:t>
            </a:r>
            <a:r>
              <a:rPr lang="en-US" sz="1600" dirty="0">
                <a:latin typeface="Arial MT"/>
                <a:cs typeface="Arial MT"/>
              </a:rPr>
              <a:t>DEPENDENT</a:t>
            </a:r>
            <a:r>
              <a:rPr lang="en-US" sz="1600" spc="25" dirty="0">
                <a:latin typeface="Times New Roman"/>
                <a:cs typeface="Times New Roman"/>
              </a:rPr>
              <a:t> </a:t>
            </a:r>
            <a:r>
              <a:rPr lang="en-US" sz="1600" dirty="0">
                <a:latin typeface="Arial MT"/>
                <a:cs typeface="Arial MT"/>
              </a:rPr>
              <a:t>is</a:t>
            </a:r>
            <a:r>
              <a:rPr lang="en-US" sz="1600" spc="15" dirty="0">
                <a:latin typeface="Times New Roman"/>
                <a:cs typeface="Times New Roman"/>
              </a:rPr>
              <a:t> </a:t>
            </a:r>
            <a:r>
              <a:rPr lang="en-US" sz="1600" dirty="0">
                <a:latin typeface="Arial MT"/>
                <a:cs typeface="Arial MT"/>
              </a:rPr>
              <a:t>the</a:t>
            </a:r>
            <a:r>
              <a:rPr lang="en-US" sz="1600" spc="5" dirty="0">
                <a:latin typeface="Times New Roman"/>
                <a:cs typeface="Times New Roman"/>
              </a:rPr>
              <a:t> </a:t>
            </a:r>
            <a:r>
              <a:rPr lang="en-US" sz="1600" i="1" dirty="0">
                <a:cs typeface="Arial"/>
              </a:rPr>
              <a:t>partial</a:t>
            </a:r>
            <a:r>
              <a:rPr lang="en-US" sz="1600" spc="-5" dirty="0">
                <a:latin typeface="Times New Roman"/>
                <a:cs typeface="Times New Roman"/>
              </a:rPr>
              <a:t> </a:t>
            </a:r>
            <a:r>
              <a:rPr lang="en-US" sz="1600" i="1" spc="-25" dirty="0">
                <a:cs typeface="Arial"/>
              </a:rPr>
              <a:t>key</a:t>
            </a:r>
          </a:p>
          <a:p>
            <a:pPr marL="812800" lvl="1" indent="-342900">
              <a:spcBef>
                <a:spcPts val="210"/>
              </a:spcBef>
              <a:buSzPct val="60000"/>
              <a:tabLst>
                <a:tab pos="354965" algn="l"/>
              </a:tabLst>
            </a:pPr>
            <a:r>
              <a:rPr lang="en-US" sz="1600" dirty="0">
                <a:latin typeface="Arial MT"/>
                <a:cs typeface="Arial MT"/>
              </a:rPr>
              <a:t>DEPENDENT</a:t>
            </a:r>
            <a:r>
              <a:rPr lang="en-US" sz="1600" spc="20" dirty="0">
                <a:latin typeface="Times New Roman"/>
                <a:cs typeface="Times New Roman"/>
              </a:rPr>
              <a:t> </a:t>
            </a:r>
            <a:r>
              <a:rPr lang="en-US" sz="1600" dirty="0">
                <a:latin typeface="Arial MT"/>
                <a:cs typeface="Arial MT"/>
              </a:rPr>
              <a:t>is</a:t>
            </a:r>
            <a:r>
              <a:rPr lang="en-US" sz="1600" spc="15" dirty="0">
                <a:latin typeface="Times New Roman"/>
                <a:cs typeface="Times New Roman"/>
              </a:rPr>
              <a:t> </a:t>
            </a:r>
            <a:r>
              <a:rPr lang="en-US" sz="1600" dirty="0">
                <a:latin typeface="Arial MT"/>
                <a:cs typeface="Arial MT"/>
              </a:rPr>
              <a:t>a</a:t>
            </a:r>
            <a:r>
              <a:rPr lang="en-US" sz="1600" spc="10" dirty="0">
                <a:latin typeface="Times New Roman"/>
                <a:cs typeface="Times New Roman"/>
              </a:rPr>
              <a:t> </a:t>
            </a:r>
            <a:r>
              <a:rPr lang="en-US" sz="1600" i="1" dirty="0">
                <a:cs typeface="Arial"/>
              </a:rPr>
              <a:t>weak</a:t>
            </a:r>
            <a:r>
              <a:rPr lang="en-US" sz="1600" spc="5" dirty="0">
                <a:latin typeface="Times New Roman"/>
                <a:cs typeface="Times New Roman"/>
              </a:rPr>
              <a:t> </a:t>
            </a:r>
            <a:r>
              <a:rPr lang="en-US" sz="1600" i="1" dirty="0">
                <a:cs typeface="Arial"/>
              </a:rPr>
              <a:t>entity</a:t>
            </a:r>
            <a:r>
              <a:rPr lang="en-US" sz="1600" spc="-5" dirty="0">
                <a:latin typeface="Times New Roman"/>
                <a:cs typeface="Times New Roman"/>
              </a:rPr>
              <a:t> </a:t>
            </a:r>
            <a:r>
              <a:rPr lang="en-US" sz="1600" i="1" spc="-20" dirty="0">
                <a:cs typeface="Arial"/>
              </a:rPr>
              <a:t>type</a:t>
            </a:r>
          </a:p>
          <a:p>
            <a:pPr marL="812800" lvl="1" indent="-342900">
              <a:spcBef>
                <a:spcPts val="210"/>
              </a:spcBef>
              <a:buSzPct val="60000"/>
              <a:tabLst>
                <a:tab pos="354965" algn="l"/>
              </a:tabLst>
            </a:pPr>
            <a:r>
              <a:rPr lang="en-US" sz="1600" dirty="0">
                <a:latin typeface="Arial MT"/>
                <a:cs typeface="Arial MT"/>
              </a:rPr>
              <a:t>EMPLOYEE</a:t>
            </a:r>
            <a:r>
              <a:rPr lang="en-US" sz="1600" spc="25" dirty="0">
                <a:latin typeface="Times New Roman"/>
                <a:cs typeface="Times New Roman"/>
              </a:rPr>
              <a:t> </a:t>
            </a:r>
            <a:r>
              <a:rPr lang="en-US" sz="1600" dirty="0">
                <a:latin typeface="Arial MT"/>
                <a:cs typeface="Arial MT"/>
              </a:rPr>
              <a:t>is</a:t>
            </a:r>
            <a:r>
              <a:rPr lang="en-US" sz="1600" spc="20" dirty="0">
                <a:latin typeface="Times New Roman"/>
                <a:cs typeface="Times New Roman"/>
              </a:rPr>
              <a:t> </a:t>
            </a:r>
            <a:r>
              <a:rPr lang="en-US" sz="1600" dirty="0">
                <a:latin typeface="Arial MT"/>
                <a:cs typeface="Arial MT"/>
              </a:rPr>
              <a:t>its</a:t>
            </a:r>
            <a:r>
              <a:rPr lang="en-US" sz="1600" spc="30" dirty="0">
                <a:latin typeface="Times New Roman"/>
                <a:cs typeface="Times New Roman"/>
              </a:rPr>
              <a:t> </a:t>
            </a:r>
            <a:r>
              <a:rPr lang="en-US" sz="1600" dirty="0">
                <a:latin typeface="Arial MT"/>
                <a:cs typeface="Arial MT"/>
              </a:rPr>
              <a:t>identifying</a:t>
            </a:r>
            <a:r>
              <a:rPr lang="en-US" sz="1600" spc="30" dirty="0">
                <a:latin typeface="Times New Roman"/>
                <a:cs typeface="Times New Roman"/>
              </a:rPr>
              <a:t> </a:t>
            </a:r>
            <a:r>
              <a:rPr lang="en-US" sz="1600" dirty="0">
                <a:latin typeface="Arial MT"/>
                <a:cs typeface="Arial MT"/>
              </a:rPr>
              <a:t>entity</a:t>
            </a:r>
            <a:r>
              <a:rPr lang="en-US" sz="1600" spc="5" dirty="0">
                <a:latin typeface="Times New Roman"/>
                <a:cs typeface="Times New Roman"/>
              </a:rPr>
              <a:t> </a:t>
            </a:r>
            <a:r>
              <a:rPr lang="en-US" sz="1600" dirty="0">
                <a:latin typeface="Arial MT"/>
                <a:cs typeface="Arial MT"/>
              </a:rPr>
              <a:t>type</a:t>
            </a:r>
            <a:r>
              <a:rPr lang="en-US" sz="1600" spc="30" dirty="0">
                <a:latin typeface="Times New Roman"/>
                <a:cs typeface="Times New Roman"/>
              </a:rPr>
              <a:t> </a:t>
            </a:r>
            <a:r>
              <a:rPr lang="en-US" sz="1600" dirty="0">
                <a:latin typeface="Arial MT"/>
                <a:cs typeface="Arial MT"/>
              </a:rPr>
              <a:t>via</a:t>
            </a:r>
            <a:r>
              <a:rPr lang="en-US" sz="1600" spc="30" dirty="0">
                <a:latin typeface="Times New Roman"/>
                <a:cs typeface="Times New Roman"/>
              </a:rPr>
              <a:t> </a:t>
            </a:r>
            <a:r>
              <a:rPr lang="en-US" sz="1600" dirty="0">
                <a:latin typeface="Arial MT"/>
                <a:cs typeface="Arial MT"/>
              </a:rPr>
              <a:t>the</a:t>
            </a:r>
            <a:r>
              <a:rPr lang="en-US" sz="1600" spc="15" dirty="0">
                <a:latin typeface="Times New Roman"/>
                <a:cs typeface="Times New Roman"/>
              </a:rPr>
              <a:t> </a:t>
            </a:r>
            <a:r>
              <a:rPr lang="en-US" sz="1600" spc="-10" dirty="0">
                <a:latin typeface="Arial MT"/>
                <a:cs typeface="Arial MT"/>
              </a:rPr>
              <a:t>identifying</a:t>
            </a:r>
            <a:r>
              <a:rPr lang="en-US" sz="1600" spc="-10" dirty="0">
                <a:latin typeface="Times New Roman"/>
                <a:cs typeface="Times New Roman"/>
              </a:rPr>
              <a:t> </a:t>
            </a:r>
            <a:r>
              <a:rPr lang="en-US" sz="1600" dirty="0">
                <a:latin typeface="Arial MT"/>
                <a:cs typeface="Arial MT"/>
              </a:rPr>
              <a:t>relationship</a:t>
            </a:r>
            <a:r>
              <a:rPr lang="en-US" sz="1600" spc="-15" dirty="0">
                <a:latin typeface="Times New Roman"/>
                <a:cs typeface="Times New Roman"/>
              </a:rPr>
              <a:t> </a:t>
            </a:r>
            <a:r>
              <a:rPr lang="en-US" sz="1600" dirty="0">
                <a:latin typeface="Arial MT"/>
                <a:cs typeface="Arial MT"/>
              </a:rPr>
              <a:t>type</a:t>
            </a:r>
            <a:r>
              <a:rPr lang="en-US" sz="1600" spc="-5" dirty="0">
                <a:latin typeface="Times New Roman"/>
                <a:cs typeface="Times New Roman"/>
              </a:rPr>
              <a:t> </a:t>
            </a:r>
            <a:r>
              <a:rPr lang="en-US" sz="1600" spc="-10" dirty="0">
                <a:latin typeface="Arial MT"/>
                <a:cs typeface="Arial MT"/>
              </a:rPr>
              <a:t>DEPENDENT_OF</a:t>
            </a:r>
            <a:endParaRPr lang="en-US" sz="1600" dirty="0">
              <a:latin typeface="Arial MT"/>
              <a:cs typeface="Arial MT"/>
            </a:endParaRPr>
          </a:p>
          <a:p>
            <a:endParaRPr lang="en-US" dirty="0"/>
          </a:p>
        </p:txBody>
      </p:sp>
    </p:spTree>
    <p:extLst>
      <p:ext uri="{BB962C8B-B14F-4D97-AF65-F5344CB8AC3E}">
        <p14:creationId xmlns="" xmlns:p14="http://schemas.microsoft.com/office/powerpoint/2010/main" val="360102395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E560E5-A48F-4FAF-BF5D-C2C9B69854AF}"/>
              </a:ext>
            </a:extLst>
          </p:cNvPr>
          <p:cNvSpPr>
            <a:spLocks noGrp="1"/>
          </p:cNvSpPr>
          <p:nvPr>
            <p:ph type="title"/>
          </p:nvPr>
        </p:nvSpPr>
        <p:spPr/>
        <p:txBody>
          <a:bodyPr/>
          <a:lstStyle/>
          <a:p>
            <a:r>
              <a:rPr lang="en-US" dirty="0"/>
              <a:t>Practice</a:t>
            </a:r>
          </a:p>
        </p:txBody>
      </p:sp>
      <p:sp>
        <p:nvSpPr>
          <p:cNvPr id="3" name="Content Placeholder 2">
            <a:extLst>
              <a:ext uri="{FF2B5EF4-FFF2-40B4-BE49-F238E27FC236}">
                <a16:creationId xmlns="" xmlns:a16="http://schemas.microsoft.com/office/drawing/2014/main" id="{2FE2F105-6ABF-480D-8289-8A5F75B71229}"/>
              </a:ext>
            </a:extLst>
          </p:cNvPr>
          <p:cNvSpPr>
            <a:spLocks noGrp="1"/>
          </p:cNvSpPr>
          <p:nvPr>
            <p:ph idx="1"/>
          </p:nvPr>
        </p:nvSpPr>
        <p:spPr/>
        <p:txBody>
          <a:bodyPr>
            <a:normAutofit fontScale="55000" lnSpcReduction="20000"/>
          </a:bodyPr>
          <a:lstStyle/>
          <a:p>
            <a:r>
              <a:rPr lang="en-US" sz="2700" b="1" dirty="0"/>
              <a:t>Library Management System</a:t>
            </a:r>
          </a:p>
          <a:p>
            <a:r>
              <a:rPr lang="en-US" b="1" dirty="0"/>
              <a:t>Entity Identification:</a:t>
            </a:r>
            <a:endParaRPr lang="en-US" dirty="0"/>
          </a:p>
          <a:p>
            <a:pPr lvl="1"/>
            <a:r>
              <a:rPr lang="en-US" dirty="0"/>
              <a:t>Draw an ER diagram for a Library Management System. Identify the main entities and their attributes.</a:t>
            </a:r>
          </a:p>
          <a:p>
            <a:r>
              <a:rPr lang="en-US" b="1" dirty="0"/>
              <a:t>Relationships:</a:t>
            </a:r>
            <a:endParaRPr lang="en-US" dirty="0"/>
          </a:p>
          <a:p>
            <a:pPr lvl="1"/>
            <a:r>
              <a:rPr lang="en-US" dirty="0"/>
              <a:t>Establish relationships between entities such as "Book," "Author," and "Borrower" in the context of a Library Management System.</a:t>
            </a:r>
          </a:p>
          <a:p>
            <a:r>
              <a:rPr lang="en-US" b="1" dirty="0"/>
              <a:t>Attributes and Keys:</a:t>
            </a:r>
            <a:endParaRPr lang="en-US" dirty="0"/>
          </a:p>
          <a:p>
            <a:pPr lvl="1"/>
            <a:r>
              <a:rPr lang="en-US" dirty="0"/>
              <a:t>Define the attributes for entities like "Book" and determine the primary key for each entity.</a:t>
            </a:r>
          </a:p>
          <a:p>
            <a:r>
              <a:rPr lang="en-US" b="1" dirty="0"/>
              <a:t>Cardinality and Participation Constraints:</a:t>
            </a:r>
            <a:endParaRPr lang="en-US" dirty="0"/>
          </a:p>
          <a:p>
            <a:pPr lvl="1"/>
            <a:r>
              <a:rPr lang="en-US" dirty="0"/>
              <a:t>Specify the cardinality and participation constraints for relationships like "Borrower borrows Book" and "Book written by Author."</a:t>
            </a:r>
          </a:p>
        </p:txBody>
      </p:sp>
    </p:spTree>
    <p:extLst>
      <p:ext uri="{BB962C8B-B14F-4D97-AF65-F5344CB8AC3E}">
        <p14:creationId xmlns="" xmlns:p14="http://schemas.microsoft.com/office/powerpoint/2010/main" val="334568962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E560E5-A48F-4FAF-BF5D-C2C9B69854AF}"/>
              </a:ext>
            </a:extLst>
          </p:cNvPr>
          <p:cNvSpPr>
            <a:spLocks noGrp="1"/>
          </p:cNvSpPr>
          <p:nvPr>
            <p:ph type="title"/>
          </p:nvPr>
        </p:nvSpPr>
        <p:spPr/>
        <p:txBody>
          <a:bodyPr/>
          <a:lstStyle/>
          <a:p>
            <a:r>
              <a:rPr lang="en-US" dirty="0"/>
              <a:t>Practice</a:t>
            </a:r>
          </a:p>
        </p:txBody>
      </p:sp>
      <p:sp>
        <p:nvSpPr>
          <p:cNvPr id="3" name="Content Placeholder 2">
            <a:extLst>
              <a:ext uri="{FF2B5EF4-FFF2-40B4-BE49-F238E27FC236}">
                <a16:creationId xmlns="" xmlns:a16="http://schemas.microsoft.com/office/drawing/2014/main" id="{2FE2F105-6ABF-480D-8289-8A5F75B71229}"/>
              </a:ext>
            </a:extLst>
          </p:cNvPr>
          <p:cNvSpPr>
            <a:spLocks noGrp="1"/>
          </p:cNvSpPr>
          <p:nvPr>
            <p:ph idx="1"/>
          </p:nvPr>
        </p:nvSpPr>
        <p:spPr/>
        <p:txBody>
          <a:bodyPr>
            <a:normAutofit fontScale="55000" lnSpcReduction="20000"/>
          </a:bodyPr>
          <a:lstStyle/>
          <a:p>
            <a:r>
              <a:rPr lang="en-US" b="1" dirty="0"/>
              <a:t>Hospital Management System:</a:t>
            </a:r>
          </a:p>
          <a:p>
            <a:r>
              <a:rPr lang="en-US" b="1" dirty="0"/>
              <a:t>Entity Identification:</a:t>
            </a:r>
            <a:endParaRPr lang="en-US" dirty="0"/>
          </a:p>
          <a:p>
            <a:pPr lvl="1"/>
            <a:r>
              <a:rPr lang="en-US" dirty="0"/>
              <a:t>Draw an ER diagram for a Hospital Management System. Identify the main entities, such as "Patient," "Doctor," and "Appointment," along with their attributes.</a:t>
            </a:r>
          </a:p>
          <a:p>
            <a:r>
              <a:rPr lang="en-US" b="1" dirty="0"/>
              <a:t>Relationships:</a:t>
            </a:r>
            <a:endParaRPr lang="en-US" dirty="0"/>
          </a:p>
          <a:p>
            <a:pPr lvl="1"/>
            <a:r>
              <a:rPr lang="en-US" dirty="0"/>
              <a:t>Establish relationships between entities in the context of a Hospital Management System, considering connections like "Patient is treated by Doctor" and "Appointment scheduled for Patient."</a:t>
            </a:r>
          </a:p>
          <a:p>
            <a:r>
              <a:rPr lang="en-US" b="1" dirty="0"/>
              <a:t>Attributes and Keys:</a:t>
            </a:r>
            <a:endParaRPr lang="en-US" dirty="0"/>
          </a:p>
          <a:p>
            <a:pPr lvl="1"/>
            <a:r>
              <a:rPr lang="en-US" dirty="0"/>
              <a:t>Define the attributes for entities like "Patient" and determine the primary key for each entity in the Hospital Management System.</a:t>
            </a:r>
          </a:p>
          <a:p>
            <a:r>
              <a:rPr lang="en-US" b="1" dirty="0"/>
              <a:t>Cardinality and Participation Constraints:</a:t>
            </a:r>
            <a:endParaRPr lang="en-US" dirty="0"/>
          </a:p>
          <a:p>
            <a:pPr lvl="1"/>
            <a:r>
              <a:rPr lang="en-US" dirty="0"/>
              <a:t>Specify the cardinality and participation constraints for relationships like "Doctor treats Patient" and "Patient has multiple Appointments."</a:t>
            </a:r>
          </a:p>
        </p:txBody>
      </p:sp>
    </p:spTree>
    <p:extLst>
      <p:ext uri="{BB962C8B-B14F-4D97-AF65-F5344CB8AC3E}">
        <p14:creationId xmlns="" xmlns:p14="http://schemas.microsoft.com/office/powerpoint/2010/main" val="11827332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E560E5-A48F-4FAF-BF5D-C2C9B69854AF}"/>
              </a:ext>
            </a:extLst>
          </p:cNvPr>
          <p:cNvSpPr>
            <a:spLocks noGrp="1"/>
          </p:cNvSpPr>
          <p:nvPr>
            <p:ph type="title"/>
          </p:nvPr>
        </p:nvSpPr>
        <p:spPr/>
        <p:txBody>
          <a:bodyPr/>
          <a:lstStyle/>
          <a:p>
            <a:r>
              <a:rPr lang="en-US" dirty="0"/>
              <a:t>Practice</a:t>
            </a:r>
          </a:p>
        </p:txBody>
      </p:sp>
      <p:sp>
        <p:nvSpPr>
          <p:cNvPr id="3" name="Content Placeholder 2">
            <a:extLst>
              <a:ext uri="{FF2B5EF4-FFF2-40B4-BE49-F238E27FC236}">
                <a16:creationId xmlns="" xmlns:a16="http://schemas.microsoft.com/office/drawing/2014/main" id="{2FE2F105-6ABF-480D-8289-8A5F75B71229}"/>
              </a:ext>
            </a:extLst>
          </p:cNvPr>
          <p:cNvSpPr>
            <a:spLocks noGrp="1"/>
          </p:cNvSpPr>
          <p:nvPr>
            <p:ph idx="1"/>
          </p:nvPr>
        </p:nvSpPr>
        <p:spPr/>
        <p:txBody>
          <a:bodyPr>
            <a:normAutofit fontScale="55000" lnSpcReduction="20000"/>
          </a:bodyPr>
          <a:lstStyle/>
          <a:p>
            <a:r>
              <a:rPr lang="en-US" b="1" dirty="0"/>
              <a:t>Online Shopping System:</a:t>
            </a:r>
          </a:p>
          <a:p>
            <a:r>
              <a:rPr lang="en-US" b="1" dirty="0"/>
              <a:t>Entity Identification:</a:t>
            </a:r>
            <a:endParaRPr lang="en-US" dirty="0"/>
          </a:p>
          <a:p>
            <a:pPr lvl="1"/>
            <a:r>
              <a:rPr lang="en-US" dirty="0"/>
              <a:t>Draw an ER diagram for an Online Shopping System. Identify the main entities, such as "Customer," "Product," and "Order," along with their attributes.</a:t>
            </a:r>
          </a:p>
          <a:p>
            <a:r>
              <a:rPr lang="en-US" b="1" dirty="0"/>
              <a:t>Relationships:</a:t>
            </a:r>
            <a:endParaRPr lang="en-US" dirty="0"/>
          </a:p>
          <a:p>
            <a:pPr lvl="1"/>
            <a:r>
              <a:rPr lang="en-US" dirty="0"/>
              <a:t>Establish relationships between entities in the context of an Online Shopping System, considering connections like "Customer places Order" and "Product is part of Order."</a:t>
            </a:r>
          </a:p>
          <a:p>
            <a:r>
              <a:rPr lang="en-US" b="1" dirty="0"/>
              <a:t>Attributes and Keys:</a:t>
            </a:r>
            <a:endParaRPr lang="en-US" dirty="0"/>
          </a:p>
          <a:p>
            <a:pPr lvl="1"/>
            <a:r>
              <a:rPr lang="en-US" dirty="0"/>
              <a:t>Define the attributes for entities like "Product" and determine the primary key for each entity in the Online Shopping System.</a:t>
            </a:r>
          </a:p>
          <a:p>
            <a:r>
              <a:rPr lang="en-US" b="1" dirty="0"/>
              <a:t>Cardinality and Participation Constraints:</a:t>
            </a:r>
            <a:endParaRPr lang="en-US" dirty="0"/>
          </a:p>
          <a:p>
            <a:pPr lvl="1"/>
            <a:r>
              <a:rPr lang="en-US" dirty="0"/>
              <a:t>Specify the cardinality and participation constraints for relationships like "Customer places multiple Orders" and "Order contains multiple Products."</a:t>
            </a:r>
          </a:p>
        </p:txBody>
      </p:sp>
    </p:spTree>
    <p:extLst>
      <p:ext uri="{BB962C8B-B14F-4D97-AF65-F5344CB8AC3E}">
        <p14:creationId xmlns="" xmlns:p14="http://schemas.microsoft.com/office/powerpoint/2010/main" val="336645462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ny Questions Vector Art, Icons, and Graphics for Free Download">
            <a:extLst>
              <a:ext uri="{FF2B5EF4-FFF2-40B4-BE49-F238E27FC236}">
                <a16:creationId xmlns="" xmlns:a16="http://schemas.microsoft.com/office/drawing/2014/main" id="{26E5D854-A832-4A8A-98EA-E88FC17BCF0C}"/>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292793" y="1611137"/>
            <a:ext cx="5747144" cy="382446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523159845"/>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2135</TotalTime>
  <Words>5992</Words>
  <Application>Microsoft Office PowerPoint</Application>
  <PresentationFormat>Custom</PresentationFormat>
  <Paragraphs>668</Paragraphs>
  <Slides>135</Slides>
  <Notes>4</Notes>
  <HiddenSlides>0</HiddenSlides>
  <MMClips>0</MMClips>
  <ScaleCrop>false</ScaleCrop>
  <HeadingPairs>
    <vt:vector size="4" baseType="variant">
      <vt:variant>
        <vt:lpstr>Theme</vt:lpstr>
      </vt:variant>
      <vt:variant>
        <vt:i4>1</vt:i4>
      </vt:variant>
      <vt:variant>
        <vt:lpstr>Slide Titles</vt:lpstr>
      </vt:variant>
      <vt:variant>
        <vt:i4>135</vt:i4>
      </vt:variant>
    </vt:vector>
  </HeadingPairs>
  <TitlesOfParts>
    <vt:vector size="136" baseType="lpstr">
      <vt:lpstr>Office Theme</vt:lpstr>
      <vt:lpstr>23AM2403 Database Management System</vt:lpstr>
      <vt:lpstr>Syllabus</vt:lpstr>
      <vt:lpstr>Syllabus</vt:lpstr>
      <vt:lpstr>CIE Mark Distribution</vt:lpstr>
      <vt:lpstr>Why DBMS?</vt:lpstr>
      <vt:lpstr>Why DBMS?</vt:lpstr>
      <vt:lpstr>Why DBMS?</vt:lpstr>
      <vt:lpstr>Why DBMS?</vt:lpstr>
      <vt:lpstr>Unit 1</vt:lpstr>
      <vt:lpstr>Basic Definitions</vt:lpstr>
      <vt:lpstr>Popular DBMSs</vt:lpstr>
      <vt:lpstr>Introduction</vt:lpstr>
      <vt:lpstr>Introduction</vt:lpstr>
      <vt:lpstr>Introduction</vt:lpstr>
      <vt:lpstr>Introduction</vt:lpstr>
      <vt:lpstr>Introduction</vt:lpstr>
      <vt:lpstr>Introduction</vt:lpstr>
      <vt:lpstr>Example</vt:lpstr>
      <vt:lpstr>Example</vt:lpstr>
      <vt:lpstr>Example</vt:lpstr>
      <vt:lpstr>Quiz</vt:lpstr>
      <vt:lpstr>Quiz</vt:lpstr>
      <vt:lpstr>Quiz</vt:lpstr>
      <vt:lpstr>Quiz</vt:lpstr>
      <vt:lpstr>Characteristics of the Database Approach</vt:lpstr>
      <vt:lpstr>Characteristics of the Database Approach</vt:lpstr>
      <vt:lpstr>Characteristics of the Database Approach</vt:lpstr>
      <vt:lpstr>Characteristics of the Database Approach</vt:lpstr>
      <vt:lpstr>Characteristics of the Database Approach</vt:lpstr>
      <vt:lpstr>Quiz</vt:lpstr>
      <vt:lpstr>Quiz</vt:lpstr>
      <vt:lpstr>Quiz</vt:lpstr>
      <vt:lpstr>Quiz</vt:lpstr>
      <vt:lpstr>Advantages of Using DBMS Approach</vt:lpstr>
      <vt:lpstr>Advantages of Using DBMS Approach</vt:lpstr>
      <vt:lpstr>Advantages of Using DBMS Approach</vt:lpstr>
      <vt:lpstr>Advantages of Using DBMS Approach</vt:lpstr>
      <vt:lpstr>Advantages of Using DBMS Approach</vt:lpstr>
      <vt:lpstr>Advantages of Using DBMS Approach</vt:lpstr>
      <vt:lpstr>Quiz</vt:lpstr>
      <vt:lpstr>Quiz</vt:lpstr>
      <vt:lpstr>Quiz</vt:lpstr>
      <vt:lpstr>Quiz</vt:lpstr>
      <vt:lpstr>Data Models</vt:lpstr>
      <vt:lpstr>Data Models</vt:lpstr>
      <vt:lpstr>Data Models</vt:lpstr>
      <vt:lpstr>Data Models</vt:lpstr>
      <vt:lpstr>Data Models</vt:lpstr>
      <vt:lpstr>Data Models</vt:lpstr>
      <vt:lpstr>Data Models</vt:lpstr>
      <vt:lpstr>Data Models</vt:lpstr>
      <vt:lpstr>Data Models</vt:lpstr>
      <vt:lpstr>Data Models</vt:lpstr>
      <vt:lpstr>Data Models</vt:lpstr>
      <vt:lpstr>Data Models</vt:lpstr>
      <vt:lpstr>Data Models</vt:lpstr>
      <vt:lpstr>Data Models</vt:lpstr>
      <vt:lpstr>Data Models</vt:lpstr>
      <vt:lpstr>Quiz</vt:lpstr>
      <vt:lpstr>Quiz</vt:lpstr>
      <vt:lpstr>Schema</vt:lpstr>
      <vt:lpstr>Schema</vt:lpstr>
      <vt:lpstr>Quiz</vt:lpstr>
      <vt:lpstr>Quiz</vt:lpstr>
      <vt:lpstr>Instance</vt:lpstr>
      <vt:lpstr>Data Independence</vt:lpstr>
      <vt:lpstr>Data Independence</vt:lpstr>
      <vt:lpstr>Data Independence</vt:lpstr>
      <vt:lpstr>Quiz</vt:lpstr>
      <vt:lpstr>Quiz</vt:lpstr>
      <vt:lpstr>Quiz</vt:lpstr>
      <vt:lpstr>Quiz</vt:lpstr>
      <vt:lpstr>Three-Schema Architecture</vt:lpstr>
      <vt:lpstr>Three-Schema Architecture</vt:lpstr>
      <vt:lpstr>Three-Schema Architecture</vt:lpstr>
      <vt:lpstr>Three-Schema Architecture</vt:lpstr>
      <vt:lpstr>Various Components of a DBMS</vt:lpstr>
      <vt:lpstr>Various Components of a DBMS</vt:lpstr>
      <vt:lpstr>Various Components of a DBMS</vt:lpstr>
      <vt:lpstr>Various Components of a DBMS</vt:lpstr>
      <vt:lpstr>Various Components of a DBMS</vt:lpstr>
      <vt:lpstr>Various Components of a DBMS</vt:lpstr>
      <vt:lpstr>Various Components of a DBMS</vt:lpstr>
      <vt:lpstr>Various Components of a DBMS</vt:lpstr>
      <vt:lpstr>Entity Relationship Model</vt:lpstr>
      <vt:lpstr>Slide 86</vt:lpstr>
      <vt:lpstr>Slide 87</vt:lpstr>
      <vt:lpstr>Entity Types</vt:lpstr>
      <vt:lpstr>Entity Sets</vt:lpstr>
      <vt:lpstr>Entity Sets</vt:lpstr>
      <vt:lpstr>Entity Sets</vt:lpstr>
      <vt:lpstr>Attributes</vt:lpstr>
      <vt:lpstr>Attributes</vt:lpstr>
      <vt:lpstr>Attributes</vt:lpstr>
      <vt:lpstr>Attributes</vt:lpstr>
      <vt:lpstr>Attributes</vt:lpstr>
      <vt:lpstr>Attributes</vt:lpstr>
      <vt:lpstr>Attributes</vt:lpstr>
      <vt:lpstr>Attributes</vt:lpstr>
      <vt:lpstr>Attributes</vt:lpstr>
      <vt:lpstr>Attributes</vt:lpstr>
      <vt:lpstr>Relationship Types and Sets</vt:lpstr>
      <vt:lpstr>Relationship Types and Sets</vt:lpstr>
      <vt:lpstr>Relationship Types and Sets</vt:lpstr>
      <vt:lpstr>Relationship Types and Sets</vt:lpstr>
      <vt:lpstr>Relationship Types and Sets</vt:lpstr>
      <vt:lpstr>Relationship Types and Sets</vt:lpstr>
      <vt:lpstr>Relationship Types and Sets</vt:lpstr>
      <vt:lpstr>Relationship Types and Sets</vt:lpstr>
      <vt:lpstr>Relationship Types and Sets</vt:lpstr>
      <vt:lpstr>Relationship Types and Sets</vt:lpstr>
      <vt:lpstr>Mapping Cardinalities</vt:lpstr>
      <vt:lpstr>Cardinality Ratios</vt:lpstr>
      <vt:lpstr>Mapping Cardinalities</vt:lpstr>
      <vt:lpstr>Mapping Cardinalities </vt:lpstr>
      <vt:lpstr>     Cardinality Ratio</vt:lpstr>
      <vt:lpstr>     Cardinality Ratio</vt:lpstr>
      <vt:lpstr>Cardinality Ratio</vt:lpstr>
      <vt:lpstr>Cardinality Ratio</vt:lpstr>
      <vt:lpstr>Participation Constraint</vt:lpstr>
      <vt:lpstr>Slide 121</vt:lpstr>
      <vt:lpstr>Slide 122</vt:lpstr>
      <vt:lpstr>Slide 123</vt:lpstr>
      <vt:lpstr>Slide 124</vt:lpstr>
      <vt:lpstr>Structural Constraints</vt:lpstr>
      <vt:lpstr>Notations of ER Diagram</vt:lpstr>
      <vt:lpstr>ER Diagram</vt:lpstr>
      <vt:lpstr>ER Diagram</vt:lpstr>
      <vt:lpstr>ER Diagram</vt:lpstr>
      <vt:lpstr>Slide 130</vt:lpstr>
      <vt:lpstr>Weak Entity Types</vt:lpstr>
      <vt:lpstr>Practice</vt:lpstr>
      <vt:lpstr>Practice</vt:lpstr>
      <vt:lpstr>Practice</vt:lpstr>
      <vt:lpstr>Slide 135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dc:creator>
  <cp:lastModifiedBy>Admin</cp:lastModifiedBy>
  <cp:revision>69</cp:revision>
  <dcterms:created xsi:type="dcterms:W3CDTF">2024-02-19T05:37:06Z</dcterms:created>
  <dcterms:modified xsi:type="dcterms:W3CDTF">2025-02-21T05:49:11Z</dcterms:modified>
</cp:coreProperties>
</file>