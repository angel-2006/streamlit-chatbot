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305" r:id="rId12"/>
    <p:sldId id="306" r:id="rId13"/>
    <p:sldId id="307" r:id="rId14"/>
    <p:sldId id="266" r:id="rId15"/>
    <p:sldId id="267" r:id="rId16"/>
    <p:sldId id="268" r:id="rId17"/>
    <p:sldId id="269" r:id="rId18"/>
    <p:sldId id="270" r:id="rId19"/>
    <p:sldId id="272" r:id="rId20"/>
    <p:sldId id="273" r:id="rId21"/>
    <p:sldId id="304" r:id="rId22"/>
    <p:sldId id="302" r:id="rId23"/>
    <p:sldId id="274" r:id="rId24"/>
    <p:sldId id="275" r:id="rId25"/>
    <p:sldId id="276" r:id="rId26"/>
    <p:sldId id="303" r:id="rId27"/>
    <p:sldId id="277" r:id="rId28"/>
    <p:sldId id="279" r:id="rId29"/>
    <p:sldId id="278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308" r:id="rId44"/>
    <p:sldId id="309" r:id="rId45"/>
    <p:sldId id="310" r:id="rId46"/>
    <p:sldId id="293" r:id="rId47"/>
    <p:sldId id="294" r:id="rId48"/>
    <p:sldId id="295" r:id="rId49"/>
    <p:sldId id="296" r:id="rId50"/>
    <p:sldId id="297" r:id="rId51"/>
    <p:sldId id="311" r:id="rId52"/>
    <p:sldId id="298" r:id="rId53"/>
    <p:sldId id="312" r:id="rId54"/>
    <p:sldId id="299" r:id="rId55"/>
    <p:sldId id="300" r:id="rId56"/>
    <p:sldId id="301" r:id="rId57"/>
    <p:sldId id="313" r:id="rId58"/>
    <p:sldId id="314" r:id="rId5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66F50-6E29-ECBB-4542-0A9B48E9F2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19EC4-1E10-FA67-B5CD-BD4F57A49C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0957A-85E6-DC28-D226-28878034A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E2A52-5D9A-4C5D-8576-8F0FD34B05A5}" type="datetimeFigureOut">
              <a:rPr lang="en-IN" smtClean="0"/>
              <a:t>25-02-2025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62C1A-BFA6-2963-1958-202B5C93A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E9889-8E76-9A08-E80C-49805160B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8643B-74E8-4E1E-8987-15E63DBB3E5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3930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AC39E-3C06-9715-0617-7454622DC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B7404-F9E5-6B3C-A70F-F81B2849B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70AB3-F3D5-3C2A-2A4F-7731FD7CC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E2A52-5D9A-4C5D-8576-8F0FD34B05A5}" type="datetimeFigureOut">
              <a:rPr lang="en-IN" smtClean="0"/>
              <a:t>25-02-2025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3DBE2-1CED-AAA7-6F1A-108059471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46CCB-D73B-F0DF-04D0-B9AA09ED7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8643B-74E8-4E1E-8987-15E63DBB3E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2330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2A664-3360-E346-D2F4-D76D1C5CD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7EDC65-F639-9A2E-5B7F-5A18476FD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1D602-9507-7E5B-4350-804F38C81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E2A52-5D9A-4C5D-8576-8F0FD34B05A5}" type="datetimeFigureOut">
              <a:rPr lang="en-IN" smtClean="0"/>
              <a:t>25-02-2025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91A7D-3514-E63D-25F2-B956CCB3B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9D832-BBD8-B78D-2EF8-475284FF8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8643B-74E8-4E1E-8987-15E63DBB3E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016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35501-0D2C-A8C0-C3E9-51807E5DB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48304-7D25-FDB7-1BC3-8778652258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199388-3280-E5CD-D206-D3F6413D8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1E8ED4-3732-680D-D7C8-7C0E1BBA8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E2A52-5D9A-4C5D-8576-8F0FD34B05A5}" type="datetimeFigureOut">
              <a:rPr lang="en-IN" smtClean="0"/>
              <a:t>25-02-2025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3E7483-AB47-D726-CED1-0CE471A6A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C64DB6-9361-D05D-9224-987747F88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8643B-74E8-4E1E-8987-15E63DBB3E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2263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09D79-FAD7-503E-EBF9-0CD587F7E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D5A523-FDD3-A488-ED67-5A0BE02FD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B85C13-D1FD-5752-C1BC-749A1751F6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A59267-3506-48F5-2848-94ED99CCBF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FBFBB3-DC06-E450-6560-37EBE19631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E24E32-547B-00DF-CD6D-9AF00A9EB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E2A52-5D9A-4C5D-8576-8F0FD34B05A5}" type="datetimeFigureOut">
              <a:rPr lang="en-IN" smtClean="0"/>
              <a:t>25-02-2025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DB6CBE-BA51-7388-56AF-61A7A2C5C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78FF93-7F7C-D42D-D66D-1A4A6990F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8643B-74E8-4E1E-8987-15E63DBB3E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6891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8BCCD-1DB4-02AE-E5D6-21FE611B7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D2E328-8885-4461-591B-E912203FE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E2A52-5D9A-4C5D-8576-8F0FD34B05A5}" type="datetimeFigureOut">
              <a:rPr lang="en-IN" smtClean="0"/>
              <a:t>25-02-2025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213C72-576D-7F83-9B9E-C564E8381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24D986-6474-8D57-F387-99D044B39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8643B-74E8-4E1E-8987-15E63DBB3E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7121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3F3E98-83B8-55A3-8E7D-00B65D271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E2A52-5D9A-4C5D-8576-8F0FD34B05A5}" type="datetimeFigureOut">
              <a:rPr lang="en-IN" smtClean="0"/>
              <a:t>25-02-2025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EBB593-4991-4457-5F45-BFB05B102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B61A5F-B111-2451-32E3-32B7F9588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8643B-74E8-4E1E-8987-15E63DBB3E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098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8270D-3583-EE69-2AA5-E4AEB9DF3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4ACFD-9818-F811-6BCF-F0BFA1276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C8FB25-088E-3EDC-C7C2-B089F08CE8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CB885F-71A2-1ACF-35FE-EC1573144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E2A52-5D9A-4C5D-8576-8F0FD34B05A5}" type="datetimeFigureOut">
              <a:rPr lang="en-IN" smtClean="0"/>
              <a:t>25-02-2025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C00618-5A9F-06C3-79E5-82BA11AC6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BCF7D3-2003-1265-D758-27C5D15B2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8643B-74E8-4E1E-8987-15E63DBB3E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9882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D2DD2-B072-ED8C-59A5-862D054DF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FEE178-5C4C-6254-0C04-E9DDB8833A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0520A2-1EC6-758B-5BBB-A54C11327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EE9F3C-0560-A09E-973B-B5E66F1F5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E2A52-5D9A-4C5D-8576-8F0FD34B05A5}" type="datetimeFigureOut">
              <a:rPr lang="en-IN" smtClean="0"/>
              <a:t>25-02-2025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3D2508-DBD5-4D78-F801-A078D8F57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7AB7D2-6AB9-C26B-E252-E42D7F44D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8643B-74E8-4E1E-8987-15E63DBB3E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0633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48C32-2435-4740-BF1D-338EEB8F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A3E1AF-761B-AA18-4554-97D23180F5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EB97B-9562-DA9B-26EE-15C60EE22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E2A52-5D9A-4C5D-8576-8F0FD34B05A5}" type="datetimeFigureOut">
              <a:rPr lang="en-IN" smtClean="0"/>
              <a:t>25-02-2025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CB2961-5424-C23F-D6DF-3CFDD5D1A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E9556-3F19-D3F2-6559-8A0316535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8643B-74E8-4E1E-8987-15E63DBB3E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4969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89D163-5593-D30E-5C0C-BF8D1920F9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09AA29-34B1-1416-29A7-7DC592FED8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74C36-9683-03D8-8355-BEF4AC769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E2A52-5D9A-4C5D-8576-8F0FD34B05A5}" type="datetimeFigureOut">
              <a:rPr lang="en-IN" smtClean="0"/>
              <a:t>25-02-2025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1C52E-8C0E-6108-D7B2-63B511879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F8B10-71BE-EBB7-2A94-B5B477FB7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8643B-74E8-4E1E-8987-15E63DBB3E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6387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3B00A-0CA4-4E5B-925F-951D759CB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6B003-4D1B-8E0F-DECC-4BBC592C5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544E1-F474-AB94-9EA2-B87841F001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E2A52-5D9A-4C5D-8576-8F0FD34B05A5}" type="datetimeFigureOut">
              <a:rPr lang="en-IN" smtClean="0"/>
              <a:t>25-02-2025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D52732-A9BC-1282-BACE-A920C858C8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44CD7-E226-CCCC-A5BE-C1C8663A81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98643B-74E8-4E1E-8987-15E63DBB3E54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object 5">
            <a:extLst>
              <a:ext uri="{FF2B5EF4-FFF2-40B4-BE49-F238E27FC236}">
                <a16:creationId xmlns:a16="http://schemas.microsoft.com/office/drawing/2014/main" id="{525D1A3D-337F-3285-F367-21BF96B2FA36}"/>
              </a:ext>
            </a:extLst>
          </p:cNvPr>
          <p:cNvPicPr/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0" y="0"/>
            <a:ext cx="2226183" cy="713206"/>
          </a:xfrm>
          <a:prstGeom prst="rect">
            <a:avLst/>
          </a:prstGeom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ED5D3EF2-7E45-EEE1-B429-14A2BD02DA0E}"/>
              </a:ext>
            </a:extLst>
          </p:cNvPr>
          <p:cNvPicPr/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11353800" y="0"/>
            <a:ext cx="733744" cy="75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387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ss/css_pseudo_classes.asp" TargetMode="External"/><Relationship Id="rId2" Type="http://schemas.openxmlformats.org/officeDocument/2006/relationships/hyperlink" Target="https://www.w3schools.com/css/css_combinators.asp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w3schools.com/css/css_attribute_selectors.asp" TargetMode="External"/><Relationship Id="rId4" Type="http://schemas.openxmlformats.org/officeDocument/2006/relationships/hyperlink" Target="https://www.w3schools.com/css/css_pseudo_elements.asp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DB2C7-9CB3-029D-A2D6-5384E1ACC1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31034" y="173457"/>
            <a:ext cx="9144000" cy="499403"/>
          </a:xfrm>
        </p:spPr>
        <p:txBody>
          <a:bodyPr>
            <a:noAutofit/>
          </a:bodyPr>
          <a:lstStyle/>
          <a:p>
            <a:r>
              <a:rPr lang="en-IN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Dayananda Sagar University</a:t>
            </a: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578BB208-306B-D095-1397-9DAB57589938}"/>
              </a:ext>
            </a:extLst>
          </p:cNvPr>
          <p:cNvSpPr txBox="1"/>
          <p:nvPr/>
        </p:nvSpPr>
        <p:spPr>
          <a:xfrm>
            <a:off x="1240814" y="1298945"/>
            <a:ext cx="10124440" cy="3718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2800" b="1" spc="195" dirty="0">
                <a:solidFill>
                  <a:srgbClr val="002060"/>
                </a:solidFill>
                <a:latin typeface="Cambria"/>
                <a:cs typeface="Cambria"/>
              </a:rPr>
              <a:t>School</a:t>
            </a:r>
            <a:r>
              <a:rPr sz="2800" b="1" spc="345" dirty="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sz="2800" b="1" spc="135" dirty="0">
                <a:solidFill>
                  <a:srgbClr val="002060"/>
                </a:solidFill>
                <a:latin typeface="Cambria"/>
                <a:cs typeface="Cambria"/>
              </a:rPr>
              <a:t>of</a:t>
            </a:r>
            <a:r>
              <a:rPr sz="2800" b="1" spc="340" dirty="0">
                <a:solidFill>
                  <a:srgbClr val="002060"/>
                </a:solidFill>
                <a:latin typeface="Cambria"/>
                <a:cs typeface="Cambria"/>
              </a:rPr>
              <a:t> </a:t>
            </a:r>
            <a:r>
              <a:rPr sz="2800" b="1" spc="145" dirty="0">
                <a:solidFill>
                  <a:srgbClr val="002060"/>
                </a:solidFill>
                <a:latin typeface="Cambria"/>
                <a:cs typeface="Cambria"/>
              </a:rPr>
              <a:t>Engineering</a:t>
            </a:r>
            <a:endParaRPr sz="2800" dirty="0">
              <a:solidFill>
                <a:srgbClr val="002060"/>
              </a:solidFill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1800" b="1" spc="85" dirty="0">
                <a:latin typeface="Cambria"/>
                <a:cs typeface="Cambria"/>
              </a:rPr>
              <a:t>Devarakaggalahalli,</a:t>
            </a:r>
            <a:r>
              <a:rPr sz="1800" b="1" spc="275" dirty="0">
                <a:latin typeface="Cambria"/>
                <a:cs typeface="Cambria"/>
              </a:rPr>
              <a:t> </a:t>
            </a:r>
            <a:r>
              <a:rPr sz="1800" b="1" spc="80" dirty="0">
                <a:latin typeface="Cambria"/>
                <a:cs typeface="Cambria"/>
              </a:rPr>
              <a:t>Harohalli</a:t>
            </a:r>
            <a:r>
              <a:rPr sz="1800" b="1" spc="250" dirty="0">
                <a:latin typeface="Cambria"/>
                <a:cs typeface="Cambria"/>
              </a:rPr>
              <a:t> </a:t>
            </a:r>
            <a:r>
              <a:rPr sz="1800" b="1" spc="85" dirty="0">
                <a:latin typeface="Cambria"/>
                <a:cs typeface="Cambria"/>
              </a:rPr>
              <a:t>Kanakapura</a:t>
            </a:r>
            <a:r>
              <a:rPr sz="1800" b="1" spc="260" dirty="0">
                <a:latin typeface="Cambria"/>
                <a:cs typeface="Cambria"/>
              </a:rPr>
              <a:t> </a:t>
            </a:r>
            <a:r>
              <a:rPr sz="1800" b="1" spc="125" dirty="0">
                <a:latin typeface="Cambria"/>
                <a:cs typeface="Cambria"/>
              </a:rPr>
              <a:t>Road,</a:t>
            </a:r>
            <a:r>
              <a:rPr sz="1800" b="1" spc="245" dirty="0">
                <a:latin typeface="Cambria"/>
                <a:cs typeface="Cambria"/>
              </a:rPr>
              <a:t> </a:t>
            </a:r>
            <a:r>
              <a:rPr sz="1800" b="1" spc="160" dirty="0">
                <a:latin typeface="Cambria"/>
                <a:cs typeface="Cambria"/>
              </a:rPr>
              <a:t>Dt,</a:t>
            </a:r>
            <a:r>
              <a:rPr sz="1800" b="1" spc="220" dirty="0">
                <a:latin typeface="Cambria"/>
                <a:cs typeface="Cambria"/>
              </a:rPr>
              <a:t> </a:t>
            </a:r>
            <a:r>
              <a:rPr sz="1800" b="1" spc="105" dirty="0">
                <a:latin typeface="Cambria"/>
                <a:cs typeface="Cambria"/>
              </a:rPr>
              <a:t>Ramanagara,</a:t>
            </a:r>
            <a:r>
              <a:rPr sz="1800" b="1" spc="280" dirty="0">
                <a:latin typeface="Cambria"/>
                <a:cs typeface="Cambria"/>
              </a:rPr>
              <a:t> </a:t>
            </a:r>
            <a:r>
              <a:rPr sz="1800" b="1" spc="95" dirty="0">
                <a:latin typeface="Cambria"/>
                <a:cs typeface="Cambria"/>
              </a:rPr>
              <a:t>Karnataka</a:t>
            </a:r>
            <a:r>
              <a:rPr sz="1800" b="1" spc="250" dirty="0">
                <a:latin typeface="Cambria"/>
                <a:cs typeface="Cambria"/>
              </a:rPr>
              <a:t> </a:t>
            </a:r>
            <a:r>
              <a:rPr sz="1800" b="1" spc="100" dirty="0">
                <a:latin typeface="Cambria"/>
                <a:cs typeface="Cambria"/>
              </a:rPr>
              <a:t>562112</a:t>
            </a:r>
            <a:endParaRPr sz="1800" dirty="0">
              <a:latin typeface="Cambria"/>
              <a:cs typeface="Cambria"/>
            </a:endParaRPr>
          </a:p>
          <a:p>
            <a:pPr marR="190500" algn="ctr">
              <a:lnSpc>
                <a:spcPct val="100000"/>
              </a:lnSpc>
              <a:spcBef>
                <a:spcPts val="1885"/>
              </a:spcBef>
            </a:pPr>
            <a:r>
              <a:rPr sz="2000" b="1" spc="120" dirty="0">
                <a:latin typeface="Cambria"/>
                <a:cs typeface="Cambria"/>
              </a:rPr>
              <a:t>Department</a:t>
            </a:r>
            <a:r>
              <a:rPr sz="2000" b="1" spc="220" dirty="0">
                <a:latin typeface="Cambria"/>
                <a:cs typeface="Cambria"/>
              </a:rPr>
              <a:t> </a:t>
            </a:r>
            <a:r>
              <a:rPr sz="2000" b="1" spc="105" dirty="0">
                <a:latin typeface="Cambria"/>
                <a:cs typeface="Cambria"/>
              </a:rPr>
              <a:t>of</a:t>
            </a:r>
            <a:r>
              <a:rPr sz="2000" b="1" spc="240" dirty="0">
                <a:latin typeface="Cambria"/>
                <a:cs typeface="Cambria"/>
              </a:rPr>
              <a:t> </a:t>
            </a:r>
            <a:r>
              <a:rPr sz="2000" b="1" spc="135" dirty="0">
                <a:latin typeface="Cambria"/>
                <a:cs typeface="Cambria"/>
              </a:rPr>
              <a:t>Computer</a:t>
            </a:r>
            <a:r>
              <a:rPr sz="2000" b="1" spc="210" dirty="0">
                <a:latin typeface="Cambria"/>
                <a:cs typeface="Cambria"/>
              </a:rPr>
              <a:t> </a:t>
            </a:r>
            <a:r>
              <a:rPr sz="2000" b="1" spc="160" dirty="0">
                <a:latin typeface="Cambria"/>
                <a:cs typeface="Cambria"/>
              </a:rPr>
              <a:t>Science</a:t>
            </a:r>
            <a:r>
              <a:rPr sz="2000" b="1" spc="260" dirty="0">
                <a:latin typeface="Cambria"/>
                <a:cs typeface="Cambria"/>
              </a:rPr>
              <a:t> </a:t>
            </a:r>
            <a:r>
              <a:rPr sz="2000" b="1" spc="114" dirty="0">
                <a:latin typeface="Cambria"/>
                <a:cs typeface="Cambria"/>
              </a:rPr>
              <a:t>&amp;</a:t>
            </a:r>
            <a:r>
              <a:rPr sz="2000" b="1" spc="235" dirty="0">
                <a:latin typeface="Cambria"/>
                <a:cs typeface="Cambria"/>
              </a:rPr>
              <a:t> </a:t>
            </a:r>
            <a:r>
              <a:rPr sz="2000" b="1" spc="105" dirty="0">
                <a:latin typeface="Cambria"/>
                <a:cs typeface="Cambria"/>
              </a:rPr>
              <a:t>Engineering</a:t>
            </a:r>
            <a:endParaRPr sz="2000" dirty="0">
              <a:latin typeface="Cambria"/>
              <a:cs typeface="Cambria"/>
            </a:endParaRPr>
          </a:p>
          <a:p>
            <a:pPr marR="191135" algn="ctr">
              <a:lnSpc>
                <a:spcPct val="100000"/>
              </a:lnSpc>
            </a:pPr>
            <a:r>
              <a:rPr sz="2000" b="1" spc="80" dirty="0">
                <a:latin typeface="Cambria"/>
                <a:cs typeface="Cambria"/>
              </a:rPr>
              <a:t>(Artificial</a:t>
            </a:r>
            <a:r>
              <a:rPr sz="2000" b="1" spc="240" dirty="0">
                <a:latin typeface="Cambria"/>
                <a:cs typeface="Cambria"/>
              </a:rPr>
              <a:t> </a:t>
            </a:r>
            <a:r>
              <a:rPr sz="2000" b="1" spc="114" dirty="0">
                <a:latin typeface="Cambria"/>
                <a:cs typeface="Cambria"/>
              </a:rPr>
              <a:t>Intelligence</a:t>
            </a:r>
            <a:r>
              <a:rPr sz="2000" b="1" spc="229" dirty="0">
                <a:latin typeface="Cambria"/>
                <a:cs typeface="Cambria"/>
              </a:rPr>
              <a:t> </a:t>
            </a:r>
            <a:r>
              <a:rPr sz="2000" b="1" spc="114" dirty="0">
                <a:latin typeface="Cambria"/>
                <a:cs typeface="Cambria"/>
              </a:rPr>
              <a:t>&amp;</a:t>
            </a:r>
            <a:r>
              <a:rPr sz="2000" b="1" spc="229" dirty="0">
                <a:latin typeface="Cambria"/>
                <a:cs typeface="Cambria"/>
              </a:rPr>
              <a:t> </a:t>
            </a:r>
            <a:r>
              <a:rPr sz="2000" b="1" spc="130" dirty="0">
                <a:latin typeface="Cambria"/>
                <a:cs typeface="Cambria"/>
              </a:rPr>
              <a:t>Machine</a:t>
            </a:r>
            <a:r>
              <a:rPr sz="2000" b="1" spc="235" dirty="0">
                <a:latin typeface="Cambria"/>
                <a:cs typeface="Cambria"/>
              </a:rPr>
              <a:t> </a:t>
            </a:r>
            <a:r>
              <a:rPr sz="2000" b="1" spc="60" dirty="0">
                <a:latin typeface="Cambria"/>
                <a:cs typeface="Cambria"/>
              </a:rPr>
              <a:t>Learning)</a:t>
            </a:r>
            <a:endParaRPr sz="20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885"/>
              </a:spcBef>
            </a:pPr>
            <a:endParaRPr sz="2000" dirty="0">
              <a:latin typeface="Cambria"/>
              <a:cs typeface="Cambria"/>
            </a:endParaRPr>
          </a:p>
          <a:p>
            <a:pPr marL="148590" algn="ctr">
              <a:lnSpc>
                <a:spcPct val="100000"/>
              </a:lnSpc>
              <a:spcBef>
                <a:spcPts val="5"/>
              </a:spcBef>
              <a:tabLst>
                <a:tab pos="2138680" algn="l"/>
                <a:tab pos="3382645" algn="l"/>
              </a:tabLst>
            </a:pPr>
            <a:r>
              <a:rPr lang="en-IN" sz="3600" b="1" spc="180" dirty="0">
                <a:latin typeface="Cambria"/>
                <a:cs typeface="Cambria"/>
              </a:rPr>
              <a:t>FULL STACK DEVELOPMENT</a:t>
            </a:r>
            <a:endParaRPr sz="3600" dirty="0">
              <a:latin typeface="Cambria"/>
              <a:cs typeface="Cambria"/>
            </a:endParaRPr>
          </a:p>
          <a:p>
            <a:pPr marL="250825" algn="ctr">
              <a:lnSpc>
                <a:spcPct val="100000"/>
              </a:lnSpc>
              <a:spcBef>
                <a:spcPts val="1814"/>
              </a:spcBef>
            </a:pPr>
            <a:r>
              <a:rPr sz="2400" b="1" spc="290" dirty="0">
                <a:latin typeface="Cambria"/>
                <a:cs typeface="Cambria"/>
              </a:rPr>
              <a:t>SEMESTER</a:t>
            </a:r>
            <a:r>
              <a:rPr sz="2400" b="1" spc="254" dirty="0">
                <a:latin typeface="Cambria"/>
                <a:cs typeface="Cambria"/>
              </a:rPr>
              <a:t> </a:t>
            </a:r>
            <a:r>
              <a:rPr sz="2400" b="1" dirty="0">
                <a:latin typeface="Cambria"/>
                <a:cs typeface="Cambria"/>
              </a:rPr>
              <a:t>–</a:t>
            </a:r>
            <a:r>
              <a:rPr sz="2400" b="1" spc="280" dirty="0">
                <a:latin typeface="Cambria"/>
                <a:cs typeface="Cambria"/>
              </a:rPr>
              <a:t> </a:t>
            </a:r>
            <a:r>
              <a:rPr lang="en-IN" sz="2400" b="1" spc="145" dirty="0">
                <a:latin typeface="Cambria"/>
                <a:cs typeface="Cambria"/>
              </a:rPr>
              <a:t>IV</a:t>
            </a:r>
            <a:endParaRPr sz="2400" dirty="0">
              <a:latin typeface="Cambria"/>
              <a:cs typeface="Cambria"/>
            </a:endParaRPr>
          </a:p>
          <a:p>
            <a:pPr marL="250190" algn="ctr">
              <a:lnSpc>
                <a:spcPct val="100000"/>
              </a:lnSpc>
              <a:spcBef>
                <a:spcPts val="705"/>
              </a:spcBef>
            </a:pPr>
            <a:r>
              <a:rPr sz="2400" b="1" spc="140" dirty="0">
                <a:latin typeface="Cambria"/>
                <a:cs typeface="Cambria"/>
              </a:rPr>
              <a:t>Unit-</a:t>
            </a:r>
            <a:r>
              <a:rPr lang="en-IN" sz="2400" b="1" spc="105" dirty="0">
                <a:latin typeface="Cambria"/>
                <a:cs typeface="Cambria"/>
              </a:rPr>
              <a:t>1</a:t>
            </a:r>
            <a:endParaRPr sz="2400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229271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B20D1-FE94-41EC-701F-0ABF6CC97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25" y="0"/>
            <a:ext cx="10515600" cy="687298"/>
          </a:xfrm>
        </p:spPr>
        <p:txBody>
          <a:bodyPr>
            <a:noAutofit/>
          </a:bodyPr>
          <a:lstStyle/>
          <a:p>
            <a:pPr algn="ctr"/>
            <a:r>
              <a:rPr lang="en-IN" b="1" spc="335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Syllabus</a:t>
            </a:r>
            <a:endParaRPr lang="en-IN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FBC917FD-3385-2A29-8AC8-C3CC896491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9744194"/>
              </p:ext>
            </p:extLst>
          </p:nvPr>
        </p:nvGraphicFramePr>
        <p:xfrm>
          <a:off x="442260" y="893809"/>
          <a:ext cx="10996930" cy="51193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96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3070">
                <a:tc>
                  <a:txBody>
                    <a:bodyPr/>
                    <a:lstStyle/>
                    <a:p>
                      <a:pPr algn="ctr">
                        <a:lnSpc>
                          <a:spcPts val="3265"/>
                        </a:lnSpc>
                      </a:pPr>
                      <a:r>
                        <a:rPr sz="2800" b="1" spc="1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UNIT</a:t>
                      </a:r>
                      <a:r>
                        <a:rPr sz="2800" b="1" spc="34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r>
                        <a:rPr sz="2800" b="1" spc="3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800" b="1" spc="14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2870">
                <a:tc>
                  <a:txBody>
                    <a:bodyPr/>
                    <a:lstStyle/>
                    <a:p>
                      <a:pPr marL="29845">
                        <a:lnSpc>
                          <a:spcPts val="3265"/>
                        </a:lnSpc>
                      </a:pPr>
                      <a:r>
                        <a:rPr lang="en-IN" sz="3200" b="1" i="0" u="sng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Introduction to HTML</a:t>
                      </a:r>
                      <a:r>
                        <a:rPr sz="3200" b="1" u="sng" spc="229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sz="3200" b="1" u="sn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000" b="1" i="0" u="none" strike="noStrike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HTML syntax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000" b="1" i="0" u="none" strike="noStrike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HTML elements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000" b="1" i="0" u="none" strike="noStrike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HTML document structure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000" b="1" i="0" u="none" strike="noStrike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CSS selectors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000" b="1" i="0" u="none" strike="noStrike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properties, and values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000" b="1" i="0" u="none" strike="noStrike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Build your first web page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000" b="1" i="0" u="none" strike="noStrike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Semantics of HTML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000" b="1" i="0" u="none" strike="noStrike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Block and inline elements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000" b="1" i="0" u="none" strike="noStrike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Hyperlinks, Lists, Tables, Forms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000" b="1" i="0" u="none" strike="noStrike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Create a basic multi page website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000" b="1" i="0" u="none" strike="noStrike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Cascading effect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000" b="1" i="0" u="none" strike="noStrike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Advanced selectors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000" b="1" i="0" u="none" strike="noStrike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CSS resets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000" b="1" i="0" u="none" strike="noStrike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Positioning</a:t>
                      </a:r>
                      <a:r>
                        <a:rPr sz="2000" b="1" spc="10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5886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EA6E0-F462-893A-422E-2C260E848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178" y="10992"/>
            <a:ext cx="10515600" cy="670045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29F47-37DA-4317-90FE-F40EA3838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2" y="1066501"/>
            <a:ext cx="12186968" cy="4351338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HyperText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Markup Language 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the standard language used to create and design webpages. 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the structure of a webpage by using elements like headings, paragraphs, images, links, and tables . 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works alongside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(Cascading Style Sheets)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styling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interactivity.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5816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3309E-61A2-2356-0D7C-04A0A436E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143" y="0"/>
            <a:ext cx="10515600" cy="825320"/>
          </a:xfrm>
        </p:spPr>
        <p:txBody>
          <a:bodyPr>
            <a:normAutofit fontScale="90000"/>
          </a:bodyPr>
          <a:lstStyle/>
          <a:p>
            <a:pPr algn="ctr"/>
            <a:br>
              <a:rPr lang="en-IN" sz="4400" b="1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en-IN" sz="4400" b="1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HTML syntax</a:t>
            </a:r>
            <a:br>
              <a:rPr lang="en-IN" sz="4400" b="1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7AFC27-489E-666A-DE6C-310D8571B17D}"/>
              </a:ext>
            </a:extLst>
          </p:cNvPr>
          <p:cNvSpPr txBox="1"/>
          <p:nvPr/>
        </p:nvSpPr>
        <p:spPr>
          <a:xfrm>
            <a:off x="189781" y="1135549"/>
            <a:ext cx="790179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&lt;!DOCTYPE </a:t>
            </a:r>
            <a:r>
              <a:rPr 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&gt;My First Webpage&lt;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/title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body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h1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&gt;Welcome to My Website&lt;/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h1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&gt;This is a simple webpage using HTML.&lt;/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="https://www.example.com"&gt;Click here&lt;/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to visit an example site.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body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196131-0383-8D84-7871-3075AFCB41CF}"/>
              </a:ext>
            </a:extLst>
          </p:cNvPr>
          <p:cNvSpPr txBox="1"/>
          <p:nvPr/>
        </p:nvSpPr>
        <p:spPr>
          <a:xfrm>
            <a:off x="8034068" y="1691999"/>
            <a:ext cx="415793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Where,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&gt;: The root element of an HTML document.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&gt;: Contains metadata like the title and links to stylesheets.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&gt;: Defines the title of the webpage (shown on the browser tab).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body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&gt;: Contains the content of the webpage (text, images, links, etc.)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.&lt;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to &lt;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h6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&gt;: Headings, where &lt;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is the largest and &lt;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h6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is the smallest.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&gt;: Paragraphs for text content.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&gt;: Anchor tag for hyperlinks.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&gt;: Displays images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.&lt;table&gt;, &lt;div&gt;, &lt;span&gt;, &lt;form&gt;,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etc.:Used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layout and forms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91406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F8A2D-84C0-7914-EF63-D32918EB9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662782"/>
          </a:xfrm>
        </p:spPr>
        <p:txBody>
          <a:bodyPr>
            <a:normAutofit fontScale="90000"/>
          </a:bodyPr>
          <a:lstStyle/>
          <a:p>
            <a:pPr algn="ctr"/>
            <a:br>
              <a:rPr lang="en-IN" sz="4400" b="1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en-IN" sz="4400" b="1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HTML elements</a:t>
            </a:r>
            <a:br>
              <a:rPr lang="en-IN" sz="4400" b="1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43B0A-25A3-B7A6-5B77-4AD3F41C5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40" y="1014741"/>
            <a:ext cx="12026660" cy="5368805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HTML element is defined by a start tag, some content, and an end tag.</a:t>
            </a:r>
          </a:p>
          <a:p>
            <a:pPr marL="0" indent="0">
              <a:buNone/>
            </a:pPr>
            <a:r>
              <a:rPr lang="en-IN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  <a:p>
            <a:pPr marL="0" indent="0" algn="ctr">
              <a:buNone/>
            </a:pP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Syntax: </a:t>
            </a:r>
            <a:r>
              <a:rPr lang="en-IN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IN" b="0" i="0" dirty="0" err="1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tagname</a:t>
            </a:r>
            <a:r>
              <a:rPr lang="en-IN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Content goes here...</a:t>
            </a:r>
            <a:r>
              <a:rPr lang="en-IN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IN" b="0" i="0" dirty="0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IN" b="0" i="0" dirty="0" err="1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tagname</a:t>
            </a:r>
            <a:r>
              <a:rPr lang="en-IN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Examples of some HTML elements:</a:t>
            </a:r>
          </a:p>
          <a:p>
            <a:pPr marL="0" indent="0" algn="ctr">
              <a:spcAft>
                <a:spcPts val="750"/>
              </a:spcAft>
              <a:buNone/>
            </a:pPr>
            <a:r>
              <a:rPr lang="en-US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h1</a:t>
            </a:r>
            <a:r>
              <a:rPr lang="en-US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 First Heading</a:t>
            </a:r>
            <a:r>
              <a:rPr lang="en-US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/h1</a:t>
            </a:r>
            <a:r>
              <a:rPr lang="en-US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spcAft>
                <a:spcPts val="750"/>
              </a:spcAft>
              <a:buNone/>
            </a:pPr>
            <a:r>
              <a:rPr lang="en-US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 first paragraph.</a:t>
            </a:r>
            <a:r>
              <a:rPr lang="en-US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/p</a:t>
            </a:r>
            <a:r>
              <a:rPr lang="en-US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HTML elements can be nested (this means that elements can contain other elements).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Empty HTML Elements (no content)</a:t>
            </a:r>
          </a:p>
          <a:p>
            <a:pPr marL="0" indent="0" algn="ctr">
              <a:buNone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&lt;</a:t>
            </a:r>
            <a:r>
              <a:rPr lang="en-US" b="0" i="0" dirty="0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is a </a:t>
            </a:r>
            <a:r>
              <a:rPr lang="en-US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b="0" i="0" dirty="0" err="1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US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paragraph with a line break.</a:t>
            </a:r>
            <a:r>
              <a:rPr lang="en-US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/p</a:t>
            </a:r>
            <a:r>
              <a:rPr lang="en-US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IN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7793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C7CB7-EB20-DE13-62C2-CC3C98920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844387"/>
          </a:xfrm>
        </p:spPr>
        <p:txBody>
          <a:bodyPr>
            <a:normAutofit fontScale="90000"/>
          </a:bodyPr>
          <a:lstStyle/>
          <a:p>
            <a:pPr algn="ctr"/>
            <a:br>
              <a:rPr lang="en-IN" sz="4400" b="1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en-IN" sz="4400" b="1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HTML document structure</a:t>
            </a:r>
            <a:br>
              <a:rPr lang="en-IN" sz="4400" b="1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C62CB-7220-0BA8-941F-8F396B8EF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70" y="862642"/>
            <a:ext cx="12026660" cy="844387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document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follows a standard structure that defines the layout and elements of a webpage.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E5098D-1102-B335-3074-EDCD00FDCE52}"/>
              </a:ext>
            </a:extLst>
          </p:cNvPr>
          <p:cNvSpPr txBox="1"/>
          <p:nvPr/>
        </p:nvSpPr>
        <p:spPr>
          <a:xfrm>
            <a:off x="-1" y="1707029"/>
            <a:ext cx="12026659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&lt;!DOCTYPE html&gt;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&lt;html lang="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"&gt;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&lt;head&gt;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&lt;meta charset="UTF-8"&gt;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&lt;meta name="viewport" content="width=device-width, initial-scale=1.0"&gt; 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&lt;title&gt;Simple Webpage&lt;/title&gt;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&lt;/head&gt;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&lt;body&gt;   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&lt;h1&gt;Welcome to My Website&lt;/h1&gt;   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&lt;p&gt;This is a simple webpage created using HTML.&lt;/p&gt;       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&lt;a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="https://www.example.com"&gt;Visit Example&lt;/a&gt;       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&lt;h2&gt;My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Favorite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Fruits&lt;/h2&gt;   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&lt;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      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&lt;li&gt;Apple&lt;/li&gt;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&lt;li&gt;Banana&lt;/li&gt;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&lt;li&gt;Orange&lt;/li&gt;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&lt;/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     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&lt;p&gt;&amp;copy; 2025 My Website&lt;/p&gt;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&lt;/body&gt;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10033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F200D-9A3E-38CD-0E99-C38F5588C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902" y="0"/>
            <a:ext cx="10515600" cy="618286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400" b="1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CSS selectors and advanced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9E571-2864-A73C-E562-4F0AD196A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45730"/>
            <a:ext cx="12192000" cy="574836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CSS selector selects the HTML element(s) we want to style.</a:t>
            </a:r>
          </a:p>
          <a:p>
            <a:pPr marL="0" indent="0">
              <a:buNone/>
            </a:pP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Wingdings" panose="05000000000000000000" pitchFamily="2" charset="2"/>
              <a:buChar char="v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CSS selectors are used to "find" (or select) the HTML elements we want to style. We can divide CSS selectors into five categories:</a:t>
            </a:r>
          </a:p>
          <a:p>
            <a:pPr marL="0" indent="0" algn="l">
              <a:buNone/>
            </a:pP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0" i="0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Simple selectors 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(select elements based on name, id, class)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Combinator selectors</a:t>
            </a:r>
            <a:r>
              <a:rPr lang="en-US" b="0" i="0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(select elements based on a specific relationship between them)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Pseudo-class selectors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(select elements based on a certain state)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Pseudo-elements selectors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(select and style a part of an element)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Attribute selectors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(select elements based on an attribute or attribute value)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3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Wingdings" panose="05000000000000000000" pitchFamily="2" charset="2"/>
              <a:buChar char="v"/>
            </a:pPr>
            <a:endParaRPr lang="en-US" sz="3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2098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8C177-51CF-8D6E-B386-C57DC1D28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498"/>
            <a:ext cx="10515600" cy="635539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en-IN" sz="4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CSS selectors continued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5705A-04B5-89DF-EE9F-90A2524CF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83752"/>
            <a:ext cx="12192000" cy="5558587"/>
          </a:xfrm>
        </p:spPr>
        <p:txBody>
          <a:bodyPr>
            <a:normAutofit fontScale="625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4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CSS element Selector-</a:t>
            </a:r>
            <a:r>
              <a:rPr lang="en-US" sz="4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element selector selects HTML elements based on the element name.</a:t>
            </a:r>
          </a:p>
          <a:p>
            <a:pPr algn="l">
              <a:spcBef>
                <a:spcPts val="750"/>
              </a:spcBef>
              <a:spcAft>
                <a:spcPts val="750"/>
              </a:spcAft>
            </a:pPr>
            <a:r>
              <a:rPr lang="en-US" sz="4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 Here, all &lt;p&gt; elements on the page will be center-aligned, with a red text color: </a:t>
            </a:r>
          </a:p>
          <a:p>
            <a:pPr marL="0" indent="0"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4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200" b="0" i="0" dirty="0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 </a:t>
            </a:r>
            <a:r>
              <a:rPr lang="en-IN" sz="4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br>
              <a:rPr lang="en-IN" sz="42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2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text-align</a:t>
            </a:r>
            <a:r>
              <a:rPr lang="en-IN" sz="4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4200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4200" b="0" i="0" dirty="0" err="1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sz="4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lang="en-IN" sz="42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2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r>
              <a:rPr lang="en-IN" sz="4200" b="0" i="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4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4200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red</a:t>
            </a:r>
            <a:r>
              <a:rPr lang="en-IN" sz="4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lang="en-IN" sz="42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2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l">
              <a:spcBef>
                <a:spcPts val="750"/>
              </a:spcBef>
              <a:spcAft>
                <a:spcPts val="750"/>
              </a:spcAft>
              <a:buFont typeface="Wingdings" panose="05000000000000000000" pitchFamily="2" charset="2"/>
              <a:buChar char="v"/>
            </a:pPr>
            <a:r>
              <a:rPr lang="en-US" sz="4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CSS id Selector-The id selector uses the id attribute of an HTML element to select a specific element.</a:t>
            </a:r>
          </a:p>
          <a:p>
            <a:pPr>
              <a:spcBef>
                <a:spcPts val="750"/>
              </a:spcBef>
              <a:spcAft>
                <a:spcPts val="750"/>
              </a:spcAft>
            </a:pPr>
            <a:r>
              <a:rPr lang="en-US" sz="42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Example:The</a:t>
            </a:r>
            <a:r>
              <a:rPr lang="en-US" sz="4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CSS rule below will be applied to the HTML element with id="para1": </a:t>
            </a:r>
          </a:p>
          <a:p>
            <a:pPr>
              <a:spcBef>
                <a:spcPts val="750"/>
              </a:spcBef>
              <a:spcAft>
                <a:spcPts val="750"/>
              </a:spcAft>
            </a:pPr>
            <a:r>
              <a:rPr lang="es-ES" sz="42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#para1 </a:t>
            </a:r>
            <a:r>
              <a:rPr lang="es-ES" sz="4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s-ES" sz="42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s-ES" sz="42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s-ES" sz="4200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text-align</a:t>
            </a:r>
            <a:r>
              <a:rPr lang="es-ES" sz="4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s-ES" sz="42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center</a:t>
            </a:r>
            <a:r>
              <a:rPr lang="es-ES" sz="4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s-ES" sz="42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s-ES" sz="42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 color</a:t>
            </a:r>
            <a:r>
              <a:rPr lang="es-ES" sz="4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s-ES" sz="42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red</a:t>
            </a:r>
            <a:r>
              <a:rPr lang="es-ES" sz="4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s-ES" sz="42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s-ES" sz="4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42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IN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4325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C8C53-C9AE-2A55-A451-A3406EAD7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81037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en-IN" sz="4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CSS selectors continued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05D22-8AD6-80B8-DB05-453401A90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62984"/>
            <a:ext cx="12192000" cy="5895016"/>
          </a:xfrm>
        </p:spPr>
        <p:txBody>
          <a:bodyPr>
            <a:normAutofit lnSpcReduction="10000"/>
          </a:bodyPr>
          <a:lstStyle/>
          <a:p>
            <a:pPr algn="l">
              <a:spcBef>
                <a:spcPts val="750"/>
              </a:spcBef>
              <a:spcAft>
                <a:spcPts val="750"/>
              </a:spcAft>
              <a:buFont typeface="Wingdings" panose="05000000000000000000" pitchFamily="2" charset="2"/>
              <a:buChar char="v"/>
            </a:pP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CSS Class Selector-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class selector styles multiple elements with the same class name.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750"/>
              </a:spcBef>
              <a:spcAft>
                <a:spcPts val="750"/>
              </a:spcAft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 In this example all HTML elements with class="center" will be red and center-aligned: </a:t>
            </a:r>
          </a:p>
          <a:p>
            <a:pPr marL="0" indent="0">
              <a:buNone/>
            </a:pPr>
            <a:r>
              <a:rPr lang="en-IN" b="0" i="0" dirty="0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b="0" i="0" dirty="0" err="1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b="0" i="0" dirty="0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br>
              <a:rPr lang="en-IN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text-align</a:t>
            </a: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b="0" i="0" dirty="0" err="1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lang="en-IN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r>
              <a:rPr lang="en-IN" b="0" i="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red</a:t>
            </a: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lang="en-IN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CSS Universal Selector-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universal selector (*) selects all HTML elements on the page.</a:t>
            </a:r>
          </a:p>
          <a:p>
            <a:pPr marL="0" indent="0">
              <a:buNone/>
            </a:pPr>
            <a:r>
              <a:rPr lang="en-IN" b="0" i="0" dirty="0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 </a:t>
            </a: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br>
              <a:rPr lang="en-IN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text-align</a:t>
            </a: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b="0" i="0" dirty="0" err="1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lang="en-IN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r>
              <a:rPr lang="en-IN" b="0" i="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blue</a:t>
            </a: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lang="en-IN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5241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57D61-EFBE-E576-5EC1-3C60954BF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662782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en-IN" sz="4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CSS selectors continued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565A-91B7-F439-7F11-ED827DBF6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162842"/>
            <a:ext cx="10943303" cy="5676902"/>
          </a:xfrm>
        </p:spPr>
        <p:txBody>
          <a:bodyPr>
            <a:normAutofit fontScale="92500" lnSpcReduction="20000"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IN" sz="51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23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 CSS Grouping Selector-</a:t>
            </a:r>
            <a:r>
              <a:rPr lang="en-US" sz="23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Instead of writing separate rules, we can group multiple elements.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2300" b="0" i="0" u="none" strike="noStrike" kern="1200" cap="none" spc="0" normalizeH="0" baseline="0" noProof="0" dirty="0">
                <a:ln>
                  <a:noFill/>
                </a:ln>
                <a:solidFill>
                  <a:srgbClr val="A52A2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h1 </a:t>
            </a:r>
            <a:r>
              <a:rPr kumimoji="0" lang="en-IN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br>
              <a:rPr kumimoji="0" lang="en-IN" sz="23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IN" sz="23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  text-align</a:t>
            </a:r>
            <a:r>
              <a:rPr kumimoji="0" lang="en-IN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IN" sz="2300" b="0" i="0" u="none" strike="noStrike" kern="1200" cap="none" spc="0" normalizeH="0" baseline="0" noProof="0" dirty="0">
                <a:ln>
                  <a:noFill/>
                </a:ln>
                <a:solidFill>
                  <a:srgbClr val="0000C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IN" sz="2300" b="0" i="0" u="none" strike="noStrike" kern="1200" cap="none" spc="0" normalizeH="0" baseline="0" noProof="0" dirty="0" err="1">
                <a:ln>
                  <a:noFill/>
                </a:ln>
                <a:solidFill>
                  <a:srgbClr val="0000C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kumimoji="0" lang="en-IN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kumimoji="0" lang="en-IN" sz="23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IN" sz="23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r>
              <a:rPr kumimoji="0" lang="en-IN" sz="23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kumimoji="0" lang="en-IN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IN" sz="2300" b="0" i="0" u="none" strike="noStrike" kern="1200" cap="none" spc="0" normalizeH="0" baseline="0" noProof="0" dirty="0">
                <a:ln>
                  <a:noFill/>
                </a:ln>
                <a:solidFill>
                  <a:srgbClr val="0000C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 red</a:t>
            </a:r>
            <a:r>
              <a:rPr kumimoji="0" lang="en-IN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kumimoji="0" lang="en-IN" sz="23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IN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br>
              <a:rPr kumimoji="0" lang="en-IN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en-IN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IN" sz="2300" b="0" i="0" u="none" strike="noStrike" kern="1200" cap="none" spc="0" normalizeH="0" baseline="0" noProof="0" dirty="0">
                <a:ln>
                  <a:noFill/>
                </a:ln>
                <a:solidFill>
                  <a:srgbClr val="A52A2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h2 </a:t>
            </a:r>
            <a:r>
              <a:rPr kumimoji="0" lang="en-IN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br>
              <a:rPr kumimoji="0" lang="en-IN" sz="23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IN" sz="23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  text-align</a:t>
            </a:r>
            <a:r>
              <a:rPr kumimoji="0" lang="en-IN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IN" sz="2300" b="0" i="0" u="none" strike="noStrike" kern="1200" cap="none" spc="0" normalizeH="0" baseline="0" noProof="0" dirty="0">
                <a:ln>
                  <a:noFill/>
                </a:ln>
                <a:solidFill>
                  <a:srgbClr val="0000C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IN" sz="2300" b="0" i="0" u="none" strike="noStrike" kern="1200" cap="none" spc="0" normalizeH="0" baseline="0" noProof="0" dirty="0" err="1">
                <a:ln>
                  <a:noFill/>
                </a:ln>
                <a:solidFill>
                  <a:srgbClr val="0000C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kumimoji="0" lang="en-IN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kumimoji="0" lang="en-IN" sz="23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IN" sz="23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kumimoji="0" lang="en-IN" sz="23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kumimoji="0" lang="en-IN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IN" sz="2300" b="0" i="0" u="none" strike="noStrike" kern="1200" cap="none" spc="0" normalizeH="0" baseline="0" noProof="0" dirty="0">
                <a:ln>
                  <a:noFill/>
                </a:ln>
                <a:solidFill>
                  <a:srgbClr val="0000C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 red</a:t>
            </a:r>
            <a:r>
              <a:rPr kumimoji="0" lang="en-IN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kumimoji="0" lang="en-IN" sz="23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IN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br>
              <a:rPr kumimoji="0" lang="en-IN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en-IN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IN" sz="2300" b="0" i="0" u="none" strike="noStrike" kern="1200" cap="none" spc="0" normalizeH="0" baseline="0" noProof="0" dirty="0">
                <a:ln>
                  <a:noFill/>
                </a:ln>
                <a:solidFill>
                  <a:srgbClr val="A52A2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 </a:t>
            </a:r>
            <a:r>
              <a:rPr kumimoji="0" lang="en-IN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br>
              <a:rPr kumimoji="0" lang="en-IN" sz="23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IN" sz="23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  text-align</a:t>
            </a:r>
            <a:r>
              <a:rPr kumimoji="0" lang="en-IN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IN" sz="2300" b="0" i="0" u="none" strike="noStrike" kern="1200" cap="none" spc="0" normalizeH="0" baseline="0" noProof="0" dirty="0">
                <a:ln>
                  <a:noFill/>
                </a:ln>
                <a:solidFill>
                  <a:srgbClr val="0000C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IN" sz="2300" b="0" i="0" u="none" strike="noStrike" kern="1200" cap="none" spc="0" normalizeH="0" baseline="0" noProof="0" dirty="0" err="1">
                <a:ln>
                  <a:noFill/>
                </a:ln>
                <a:solidFill>
                  <a:srgbClr val="0000C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kumimoji="0" lang="en-IN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kumimoji="0" lang="en-IN" sz="23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IN" sz="23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r>
              <a:rPr kumimoji="0" lang="en-IN" sz="23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kumimoji="0" lang="en-IN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IN" sz="2300" b="0" i="0" u="none" strike="noStrike" kern="1200" cap="none" spc="0" normalizeH="0" baseline="0" noProof="0" dirty="0">
                <a:ln>
                  <a:noFill/>
                </a:ln>
                <a:solidFill>
                  <a:srgbClr val="0000C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 red</a:t>
            </a:r>
            <a:r>
              <a:rPr kumimoji="0" lang="en-IN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kumimoji="0" lang="en-IN" sz="23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IN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IN" sz="23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2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sz="23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h1, h2, p { text-align: </a:t>
            </a:r>
            <a:r>
              <a:rPr lang="en-IN" sz="23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sz="23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IN" sz="23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23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red; } 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sz="23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&lt;h1&gt;,&lt;h2&gt;, and &lt;p&gt; elements will have the same styles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IN" sz="23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IN" sz="23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IN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0911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7AF22-3A2E-9A99-C0C7-E139DA62A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3335" y="458941"/>
            <a:ext cx="10495851" cy="5705376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IN" b="1" dirty="0"/>
              <a:t>Example of applying different CSS styling</a:t>
            </a:r>
          </a:p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 lang="</a:t>
            </a:r>
            <a:r>
              <a:rPr lang="en-IN" dirty="0" err="1"/>
              <a:t>en</a:t>
            </a:r>
            <a:r>
              <a:rPr lang="en-IN" dirty="0"/>
              <a:t>"&gt;</a:t>
            </a:r>
          </a:p>
          <a:p>
            <a:pPr marL="0" indent="0">
              <a:buNone/>
            </a:pPr>
            <a:r>
              <a:rPr lang="en-IN" dirty="0"/>
              <a:t>&lt;head&gt;</a:t>
            </a:r>
          </a:p>
          <a:p>
            <a:pPr marL="0" indent="0">
              <a:buNone/>
            </a:pPr>
            <a:r>
              <a:rPr lang="en-US" dirty="0"/>
              <a:t> &lt;meta charset="UTF-8"&gt;  </a:t>
            </a:r>
          </a:p>
          <a:p>
            <a:pPr marL="0" indent="0">
              <a:buNone/>
            </a:pPr>
            <a:r>
              <a:rPr lang="en-US" dirty="0"/>
              <a:t>  &lt;meta name="viewport" content="width=device-width, initial-scale=1.0"&gt;</a:t>
            </a:r>
          </a:p>
          <a:p>
            <a:pPr marL="0" indent="0">
              <a:buNone/>
            </a:pPr>
            <a:r>
              <a:rPr lang="en-US" dirty="0"/>
              <a:t> &lt;title&gt;CSS Selectors Example&lt;/title&gt;   </a:t>
            </a:r>
          </a:p>
          <a:p>
            <a:pPr marL="0" indent="0">
              <a:buNone/>
            </a:pPr>
            <a:r>
              <a:rPr lang="en-US" dirty="0"/>
              <a:t> &lt;style&gt;   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n-US" b="1" dirty="0"/>
              <a:t>/* Element Selector */ </a:t>
            </a:r>
          </a:p>
          <a:p>
            <a:pPr marL="0" indent="0">
              <a:buNone/>
            </a:pPr>
            <a:r>
              <a:rPr lang="en-US" dirty="0"/>
              <a:t>       p {            text-align: center;            color: red;    </a:t>
            </a:r>
          </a:p>
          <a:p>
            <a:pPr marL="0" indent="0">
              <a:buNone/>
            </a:pPr>
            <a:r>
              <a:rPr lang="en-US" dirty="0"/>
              <a:t>           }</a:t>
            </a:r>
          </a:p>
          <a:p>
            <a:pPr marL="0" indent="0">
              <a:buNone/>
            </a:pPr>
            <a:r>
              <a:rPr lang="en-IN" b="1" dirty="0"/>
              <a:t>      /* ID Selector */     </a:t>
            </a:r>
          </a:p>
          <a:p>
            <a:pPr marL="0" indent="0">
              <a:buNone/>
            </a:pPr>
            <a:r>
              <a:rPr lang="en-IN" dirty="0"/>
              <a:t>   #para1 {            </a:t>
            </a:r>
          </a:p>
          <a:p>
            <a:pPr marL="0" indent="0">
              <a:buNone/>
            </a:pPr>
            <a:r>
              <a:rPr lang="en-IN" dirty="0"/>
              <a:t>font-size: 20px;        </a:t>
            </a:r>
          </a:p>
          <a:p>
            <a:pPr marL="0" indent="0">
              <a:buNone/>
            </a:pPr>
            <a:r>
              <a:rPr lang="en-IN" dirty="0"/>
              <a:t>    font-weight: bold;  </a:t>
            </a:r>
          </a:p>
          <a:p>
            <a:pPr marL="0" indent="0">
              <a:buNone/>
            </a:pPr>
            <a:r>
              <a:rPr lang="en-IN" dirty="0"/>
              <a:t>      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1075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38436-AA7E-F169-690D-51FC07482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D77B1-AE26-83D8-3D10-CFACC3647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155" y="763741"/>
            <a:ext cx="10495851" cy="5705376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dirty="0"/>
              <a:t> </a:t>
            </a:r>
            <a:r>
              <a:rPr lang="en-IN" b="1" dirty="0"/>
              <a:t>Example of applying different CSS styling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/>
              <a:t>/* Class Selector */      </a:t>
            </a:r>
          </a:p>
          <a:p>
            <a:pPr marL="0" indent="0">
              <a:buNone/>
            </a:pPr>
            <a:r>
              <a:rPr lang="en-US" dirty="0"/>
              <a:t>  .center {        </a:t>
            </a:r>
          </a:p>
          <a:p>
            <a:pPr marL="0" indent="0">
              <a:buNone/>
            </a:pPr>
            <a:r>
              <a:rPr lang="en-US" dirty="0"/>
              <a:t>    text-align: center;     </a:t>
            </a:r>
          </a:p>
          <a:p>
            <a:pPr marL="0" indent="0">
              <a:buNone/>
            </a:pPr>
            <a:r>
              <a:rPr lang="en-US" dirty="0"/>
              <a:t>       color: red;    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IN" b="1" dirty="0"/>
              <a:t>  /* Universal Selector */      </a:t>
            </a:r>
          </a:p>
          <a:p>
            <a:pPr marL="0" indent="0">
              <a:buNone/>
            </a:pPr>
            <a:r>
              <a:rPr lang="en-IN" dirty="0"/>
              <a:t>  * {            font-family: Arial, sans-serif;    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US" b="1" dirty="0"/>
              <a:t>  /* Grouping Selector */   </a:t>
            </a:r>
          </a:p>
          <a:p>
            <a:pPr marL="0" indent="0">
              <a:buNone/>
            </a:pPr>
            <a:r>
              <a:rPr lang="en-US" dirty="0"/>
              <a:t>     h1, h2, p {      </a:t>
            </a:r>
          </a:p>
          <a:p>
            <a:pPr marL="0" indent="0">
              <a:buNone/>
            </a:pPr>
            <a:r>
              <a:rPr lang="en-US" dirty="0"/>
              <a:t>      text-align: center;      </a:t>
            </a:r>
          </a:p>
          <a:p>
            <a:pPr marL="0" indent="0">
              <a:buNone/>
            </a:pPr>
            <a:r>
              <a:rPr lang="en-US" dirty="0"/>
              <a:t>      color: red;      </a:t>
            </a:r>
          </a:p>
          <a:p>
            <a:pPr marL="0" indent="0">
              <a:buNone/>
            </a:pPr>
            <a:r>
              <a:rPr lang="en-US" dirty="0"/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27145769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ECA11-A76E-08A5-ACD8-14017ED3D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429F0-52C5-E557-3E7B-6C6F76551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3335" y="458941"/>
            <a:ext cx="10495851" cy="5705376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dirty="0"/>
              <a:t> </a:t>
            </a:r>
            <a:r>
              <a:rPr lang="en-IN" b="1" dirty="0"/>
              <a:t>Example of applying different CSS styling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&lt;/style&gt;</a:t>
            </a:r>
          </a:p>
          <a:p>
            <a:pPr marL="0" indent="0">
              <a:buNone/>
            </a:pPr>
            <a:r>
              <a:rPr lang="en-US" dirty="0"/>
              <a:t>&lt;/head&gt;</a:t>
            </a:r>
          </a:p>
          <a:p>
            <a:pPr marL="0" indent="0">
              <a:buNone/>
            </a:pPr>
            <a:r>
              <a:rPr lang="en-US" dirty="0"/>
              <a:t>&lt;body&gt;   </a:t>
            </a:r>
          </a:p>
          <a:p>
            <a:pPr marL="0" indent="0">
              <a:buNone/>
            </a:pPr>
            <a:r>
              <a:rPr lang="en-US" dirty="0"/>
              <a:t> &lt;h1&gt;Welcome to My Website&lt;/h1&gt;</a:t>
            </a:r>
          </a:p>
          <a:p>
            <a:pPr marL="0" indent="0">
              <a:buNone/>
            </a:pPr>
            <a:r>
              <a:rPr lang="en-US" dirty="0"/>
              <a:t>    &lt;h2&gt;CSS Selectors Example&lt;/h2&gt; </a:t>
            </a:r>
          </a:p>
          <a:p>
            <a:pPr marL="0" indent="0">
              <a:buNone/>
            </a:pPr>
            <a:r>
              <a:rPr lang="en-US" dirty="0"/>
              <a:t>   &lt;p&gt;This is a paragraph styled by the **element selector**.&lt;/p&gt;</a:t>
            </a:r>
          </a:p>
          <a:p>
            <a:pPr marL="0" indent="0">
              <a:buNone/>
            </a:pPr>
            <a:r>
              <a:rPr lang="en-US" dirty="0"/>
              <a:t>    &lt;p id="para1"&gt;This paragraph is styled by the **ID selector**.&lt;/p&gt;   </a:t>
            </a:r>
          </a:p>
          <a:p>
            <a:pPr marL="0" indent="0">
              <a:buNone/>
            </a:pPr>
            <a:r>
              <a:rPr lang="en-US" dirty="0"/>
              <a:t> &lt;p class="center"&gt;This paragraph is styled by the **class selector**.&lt;/p&gt; </a:t>
            </a:r>
          </a:p>
          <a:p>
            <a:pPr marL="0" indent="0">
              <a:buNone/>
            </a:pPr>
            <a:r>
              <a:rPr lang="en-US" dirty="0"/>
              <a:t>   &lt;p&gt;This is another paragraph that follows the **grouping selector**.&lt;/p&gt;</a:t>
            </a:r>
          </a:p>
          <a:p>
            <a:pPr marL="0" indent="0">
              <a:buNone/>
            </a:pPr>
            <a:r>
              <a:rPr lang="en-US" dirty="0"/>
              <a:t>&lt;/body&gt;</a:t>
            </a:r>
          </a:p>
          <a:p>
            <a:pPr marL="0" indent="0">
              <a:buNone/>
            </a:pPr>
            <a:r>
              <a:rPr lang="en-US" dirty="0"/>
              <a:t>&lt;/html&gt;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24F720-17AB-3B36-4AE3-09FC7C9FA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1260" y="4893638"/>
            <a:ext cx="4910905" cy="1964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4375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083E5-BA04-BF6B-DEB0-B45534887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662782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 Properties and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76911-546F-1120-25E8-9EA8D59B8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93973"/>
            <a:ext cx="121920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HTML,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properties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(often called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provide additional information about elements. They are written inside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opening tag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an element and have corresponding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FC12839-6426-39DF-1149-911BCFDFEF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1560626"/>
              </p:ext>
            </p:extLst>
          </p:nvPr>
        </p:nvGraphicFramePr>
        <p:xfrm>
          <a:off x="479246" y="2133045"/>
          <a:ext cx="11494218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3184">
                  <a:extLst>
                    <a:ext uri="{9D8B030D-6E8A-4147-A177-3AD203B41FA5}">
                      <a16:colId xmlns:a16="http://schemas.microsoft.com/office/drawing/2014/main" val="2849749068"/>
                    </a:ext>
                  </a:extLst>
                </a:gridCol>
                <a:gridCol w="3795622">
                  <a:extLst>
                    <a:ext uri="{9D8B030D-6E8A-4147-A177-3AD203B41FA5}">
                      <a16:colId xmlns:a16="http://schemas.microsoft.com/office/drawing/2014/main" val="1417758911"/>
                    </a:ext>
                  </a:extLst>
                </a:gridCol>
                <a:gridCol w="5555412">
                  <a:extLst>
                    <a:ext uri="{9D8B030D-6E8A-4147-A177-3AD203B41FA5}">
                      <a16:colId xmlns:a16="http://schemas.microsoft.com/office/drawing/2014/main" val="38816385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Attribute (Property)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863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Unique identifier for an element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&lt;div id="header"&gt;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684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Assigns one or more classes for styling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&lt;p class="intro"&gt;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5595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style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Inline CSS styles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&lt;h1 style="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color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blue;"&gt;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22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Tooltip text on hover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abbr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title="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HyperText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Markup Language"&gt;HTML&lt;/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abbr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907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href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URL link for &lt;a&gt; elements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&lt;a href="https://example.com"&gt;Visit&lt;/a&gt;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2202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src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 or media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img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src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="image.jpg"&gt;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040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Alternative text for 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img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src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="logo.png" alt="Website Logo"&gt;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9998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width &amp; height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 or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iframe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img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src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="photo.jpg" width="300" height="200"&gt;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9620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57397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51D2A-442E-201F-CD1F-E7F324124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21803"/>
          </a:xfrm>
        </p:spPr>
        <p:txBody>
          <a:bodyPr>
            <a:normAutofit/>
          </a:bodyPr>
          <a:lstStyle/>
          <a:p>
            <a:pPr algn="ctr"/>
            <a:r>
              <a:rPr lang="en-US" sz="4000" b="1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your first web page</a:t>
            </a:r>
            <a:endParaRPr lang="en-IN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3B31F4-C565-F456-F384-73BFBC80C8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98" t="21316" r="3251" b="11291"/>
          <a:stretch/>
        </p:blipFill>
        <p:spPr>
          <a:xfrm>
            <a:off x="-12000" y="1811528"/>
            <a:ext cx="12204000" cy="4586343"/>
          </a:xfrm>
        </p:spPr>
      </p:pic>
    </p:spTree>
    <p:extLst>
      <p:ext uri="{BB962C8B-B14F-4D97-AF65-F5344CB8AC3E}">
        <p14:creationId xmlns:p14="http://schemas.microsoft.com/office/powerpoint/2010/main" val="1239886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2664C-3D18-2413-3D23-5E61E6250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662782"/>
          </a:xfrm>
        </p:spPr>
        <p:txBody>
          <a:bodyPr/>
          <a:lstStyle/>
          <a:p>
            <a:pPr algn="ctr"/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Build your first web page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96648-0220-FDC3-22AE-3193FEE8C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38556"/>
            <a:ext cx="12192000" cy="6428402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the HTML File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the following code as index.html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&lt;!DOCTYPE html&gt;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&lt;html lang="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"&gt;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&lt;head&gt;    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&lt;meta charset="UTF-8"&gt; 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&lt;meta name="viewport" content="width=device-width, initial-scale=1.0"&gt;                           &lt;title&gt;My First Web Page&lt;/title&gt;   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&lt;link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="stylesheet"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="styles.css"&gt;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&lt;/head&gt;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&lt;body&gt;    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&lt;header&gt;        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&lt;h1&gt;Welcome to My Website&lt;/h1&gt;    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&lt;/header&gt;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6713885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2CC6F-1A80-D895-4238-12D940EB6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48914"/>
            <a:ext cx="12192000" cy="606754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&lt;nav&gt; 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&lt;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&lt;li&gt;&lt;a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="#"&gt;Home&lt;/a&gt;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&lt;/li&gt; &lt;li&gt;&lt;a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="#"&gt;About&lt;/a&gt;&lt;/li&gt; 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&lt;li&gt;&lt;a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="#"&gt;Contact&lt;/a&gt;&lt;/li&gt; 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&lt;/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&lt;/nav&gt;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&lt;section&gt; 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&lt;h2&gt;About Me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&lt;/h2&gt; &lt;p&gt;This is my first web page, and I am excited to learn HTML!&lt;/p&gt; 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&lt;/section&gt; 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&lt;footer&gt;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&lt;p&gt;&amp;copy; 2025 My Website. All rights reserved.&lt;/p&gt; 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&lt;/footer&gt; 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&lt;/body&gt;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&lt;/html&gt;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8BD0F0-6541-6B36-3BEF-A4C6D32CFF88}"/>
              </a:ext>
            </a:extLst>
          </p:cNvPr>
          <p:cNvSpPr txBox="1"/>
          <p:nvPr/>
        </p:nvSpPr>
        <p:spPr>
          <a:xfrm>
            <a:off x="2825152" y="0"/>
            <a:ext cx="80613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Build your first web page continued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57134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3A470D5-AA71-ED4B-67E8-12C269FF37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18426" y="0"/>
            <a:ext cx="9789543" cy="662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Build your first web page continued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5835411-4BCC-532B-7BD1-B0703E3553B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0" y="949325"/>
            <a:ext cx="12422038" cy="60393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the CSS File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the following as styles.css in the same folder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body {    </a:t>
            </a:r>
          </a:p>
          <a:p>
            <a:pPr marL="0" indent="0">
              <a:buNone/>
            </a:pPr>
            <a:r>
              <a:rPr lang="en-IN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font-family: Arial, sans-serif;    </a:t>
            </a:r>
          </a:p>
          <a:p>
            <a:pPr marL="0" indent="0">
              <a:buNone/>
            </a:pPr>
            <a:r>
              <a:rPr lang="en-IN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margin: 0;    </a:t>
            </a:r>
          </a:p>
          <a:p>
            <a:pPr marL="0" indent="0">
              <a:buNone/>
            </a:pPr>
            <a:r>
              <a:rPr lang="en-IN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padding: 0;    </a:t>
            </a:r>
          </a:p>
          <a:p>
            <a:pPr marL="0" indent="0">
              <a:buNone/>
            </a:pPr>
            <a:r>
              <a:rPr lang="en-IN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text-align: </a:t>
            </a:r>
            <a:r>
              <a:rPr lang="en-IN" sz="17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  </a:t>
            </a:r>
          </a:p>
          <a:p>
            <a:pPr marL="0" indent="0">
              <a:buNone/>
            </a:pPr>
            <a:r>
              <a:rPr lang="en-IN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background-</a:t>
            </a:r>
            <a:r>
              <a:rPr lang="en-IN" sz="17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#f4f4f4;</a:t>
            </a:r>
          </a:p>
          <a:p>
            <a:pPr marL="0" indent="0">
              <a:buNone/>
            </a:pPr>
            <a:r>
              <a:rPr lang="en-IN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IN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header {    </a:t>
            </a:r>
          </a:p>
          <a:p>
            <a:pPr marL="0" indent="0">
              <a:buNone/>
            </a:pPr>
            <a:r>
              <a:rPr lang="en-IN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background: #333; </a:t>
            </a:r>
          </a:p>
          <a:p>
            <a:pPr marL="0" indent="0">
              <a:buNone/>
            </a:pPr>
            <a:r>
              <a:rPr lang="en-IN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sz="17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white;    </a:t>
            </a:r>
          </a:p>
          <a:p>
            <a:pPr marL="0" indent="0">
              <a:buNone/>
            </a:pPr>
            <a:r>
              <a:rPr lang="en-IN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padding: 20px;}</a:t>
            </a:r>
          </a:p>
          <a:p>
            <a:pPr marL="0" indent="0">
              <a:buNone/>
            </a:pPr>
            <a:r>
              <a:rPr lang="pl-PL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 ul {    </a:t>
            </a:r>
            <a:endParaRPr lang="en-IN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l-PL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list-style: none;    </a:t>
            </a:r>
            <a:endParaRPr lang="en-IN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l-PL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padding: 0;</a:t>
            </a:r>
            <a:endParaRPr lang="en-IN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l-PL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55286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42E1B91-E806-4066-AA9A-EA0D4E08D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3808" y="0"/>
            <a:ext cx="10515600" cy="414068"/>
          </a:xfrm>
        </p:spPr>
        <p:txBody>
          <a:bodyPr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b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Build your first web page continued</a:t>
            </a:r>
            <a:b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F90D829-4973-9C6A-7F7B-3E2BCCDEB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90454"/>
            <a:ext cx="4986068" cy="60675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 </a:t>
            </a:r>
            <a:r>
              <a:rPr lang="en-IN" sz="17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</a:t>
            </a:r>
            <a:r>
              <a:rPr lang="en-IN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 { </a:t>
            </a:r>
          </a:p>
          <a:p>
            <a:pPr marL="0" indent="0">
              <a:buNone/>
            </a:pPr>
            <a:r>
              <a:rPr lang="en-IN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display: inline;  </a:t>
            </a:r>
          </a:p>
          <a:p>
            <a:pPr marL="0" indent="0">
              <a:buNone/>
            </a:pPr>
            <a:r>
              <a:rPr lang="en-IN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margin: 10px;</a:t>
            </a:r>
          </a:p>
          <a:p>
            <a:pPr marL="0" indent="0">
              <a:buNone/>
            </a:pPr>
            <a:r>
              <a:rPr lang="en-IN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pPr marL="0" indent="0">
              <a:buNone/>
            </a:pP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 </a:t>
            </a:r>
            <a:r>
              <a:rPr lang="en-US" sz="17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</a:t>
            </a: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 a { </a:t>
            </a:r>
          </a:p>
          <a:p>
            <a:pPr marL="0" indent="0">
              <a:buNone/>
            </a:pP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text-decoration: none; </a:t>
            </a:r>
          </a:p>
          <a:p>
            <a:pPr marL="0" indent="0">
              <a:buNone/>
            </a:pP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color: #333; </a:t>
            </a:r>
          </a:p>
          <a:p>
            <a:pPr marL="0" indent="0">
              <a:buNone/>
            </a:pP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font-weight: bold; </a:t>
            </a:r>
          </a:p>
          <a:p>
            <a:pPr marL="0" indent="0">
              <a:buNone/>
            </a:pP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IN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 {    </a:t>
            </a:r>
          </a:p>
          <a:p>
            <a:pPr marL="0" indent="0">
              <a:buNone/>
            </a:pPr>
            <a:r>
              <a:rPr lang="en-IN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margin: 20px;</a:t>
            </a:r>
          </a:p>
          <a:p>
            <a:pPr marL="0" indent="0">
              <a:buNone/>
            </a:pPr>
            <a:r>
              <a:rPr lang="en-IN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padding: 20px;    </a:t>
            </a:r>
          </a:p>
          <a:p>
            <a:pPr marL="0" indent="0">
              <a:buNone/>
            </a:pPr>
            <a:r>
              <a:rPr lang="en-IN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background: white;    </a:t>
            </a:r>
          </a:p>
          <a:p>
            <a:pPr marL="0" indent="0">
              <a:buNone/>
            </a:pPr>
            <a:r>
              <a:rPr lang="en-IN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border-radius: 5px;   </a:t>
            </a:r>
          </a:p>
          <a:p>
            <a:pPr marL="0" indent="0">
              <a:buNone/>
            </a:pPr>
            <a:r>
              <a:rPr lang="en-IN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box-shadow: 0 0 10px </a:t>
            </a:r>
            <a:r>
              <a:rPr lang="en-IN" sz="17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rgba</a:t>
            </a:r>
            <a:r>
              <a:rPr lang="en-IN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 0, 0, 0.1);</a:t>
            </a:r>
          </a:p>
          <a:p>
            <a:pPr marL="0" indent="0">
              <a:buNone/>
            </a:pPr>
            <a:r>
              <a:rPr lang="en-IN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416130-821B-DC1E-F3CE-BAC19E65DEAD}"/>
              </a:ext>
            </a:extLst>
          </p:cNvPr>
          <p:cNvSpPr txBox="1"/>
          <p:nvPr/>
        </p:nvSpPr>
        <p:spPr>
          <a:xfrm>
            <a:off x="6478438" y="790454"/>
            <a:ext cx="5530970" cy="4078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footer {</a:t>
            </a:r>
          </a:p>
          <a:p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background: #333; </a:t>
            </a:r>
          </a:p>
          <a:p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color: white;</a:t>
            </a:r>
          </a:p>
          <a:p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padding: 10px; </a:t>
            </a:r>
          </a:p>
          <a:p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position: absolute; </a:t>
            </a:r>
          </a:p>
          <a:p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width: 100%; </a:t>
            </a:r>
          </a:p>
          <a:p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bottom: 0; </a:t>
            </a:r>
          </a:p>
          <a:p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Your Web Page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Double-click index.html to open it in a web browser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88817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43A56-B363-4689-EF67-12CE2B0B2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21803"/>
          </a:xfrm>
        </p:spPr>
        <p:txBody>
          <a:bodyPr>
            <a:normAutofit/>
          </a:bodyPr>
          <a:lstStyle/>
          <a:p>
            <a:pPr algn="ctr"/>
            <a:r>
              <a:rPr lang="en-IN" sz="4000" b="1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Semantics of HTML</a:t>
            </a:r>
            <a:endParaRPr lang="en-IN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6D7F3-9520-C402-91F2-342ECB5F3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77220"/>
            <a:ext cx="12192000" cy="561034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semantic element clearly describes its meaning to both the browser and the developer.</a:t>
            </a:r>
            <a:r>
              <a:rPr lang="en-US" dirty="0"/>
              <a:t> This improves accessibility, readability, and search engine optimization (SEO).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of non-semantic elements: &lt;div&gt; =division and &lt;span&gt;=span of text - Tells nothing about its content.</a:t>
            </a:r>
            <a:r>
              <a:rPr lang="en-US" dirty="0"/>
              <a:t> Instead, they are generic containers used for styling and layout purposes.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9344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7FBF3-4EB7-EAAD-8517-78F5BB89E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5585"/>
          </a:xfrm>
        </p:spPr>
        <p:txBody>
          <a:bodyPr/>
          <a:lstStyle/>
          <a:p>
            <a:pPr algn="ctr"/>
            <a:r>
              <a:rPr lang="en-IN" sz="4400" b="1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Semantics of HTML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28372B-C2AE-3237-99F7-6190461F61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130710"/>
            <a:ext cx="5870626" cy="552890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908674-CE87-C23E-E496-FA48AD5F1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7419" y="1262600"/>
            <a:ext cx="5354581" cy="2484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6108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61A4C-D99F-50FE-DEC3-3B63749DB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6423"/>
          </a:xfrm>
        </p:spPr>
        <p:txBody>
          <a:bodyPr/>
          <a:lstStyle/>
          <a:p>
            <a:pPr algn="ctr"/>
            <a:r>
              <a:rPr lang="en-IN" sz="4400" b="1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Semantics of HTML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E5571-7593-6452-8D08-A9471BAC3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0323" y="100954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of semantic elements: &lt;form&gt;, &lt;table&gt;, and &lt;article&gt; - Clearly defines its content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Elements in HTML                            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web sites contain HTML code like:</a:t>
            </a:r>
          </a:p>
          <a:p>
            <a:pPr marL="0" indent="0">
              <a:buNone/>
            </a:pPr>
            <a:r>
              <a:rPr lang="en-US" dirty="0"/>
              <a:t>&lt;div id="nav"&gt;Home | About | Contact&lt;/div&gt;</a:t>
            </a:r>
          </a:p>
          <a:p>
            <a:pPr marL="0" indent="0">
              <a:buNone/>
            </a:pPr>
            <a:r>
              <a:rPr lang="en-US" dirty="0"/>
              <a:t> &lt;div class="header"&gt;Welcome to My Website&lt;/div&gt;</a:t>
            </a:r>
          </a:p>
          <a:p>
            <a:pPr marL="0" indent="0">
              <a:buNone/>
            </a:pPr>
            <a:r>
              <a:rPr lang="en-US" dirty="0"/>
              <a:t> &lt;div id="footer"&gt;© 2025 My Website&lt;/div&gt;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1E384A-E35D-E2FA-EA86-D6ED3D83F1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3168" y="1693160"/>
            <a:ext cx="2622755" cy="29841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775D72-107E-DAD0-EC36-4E27E0298E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8833" y="4674654"/>
            <a:ext cx="5524156" cy="205607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438333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A268C-F370-2AD6-B1FB-6ED99051E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01033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en-IN" sz="4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Semantics of HTML continued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A4F80-74A1-5ADD-FA07-F1543A141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42214"/>
            <a:ext cx="12192000" cy="6015786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&lt;section&gt; element defines a section in a document. Examples- </a:t>
            </a: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Chapters, Introduction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News items, Contact information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&lt;article&gt; element specifies independent, self-contained content. Examples- Forum posts, Blog posts, User comments, Product cards, Newspaper articles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&lt;header&gt; element represents a container for introductory content or a set of navigational links. Examples-one or more heading elements (&lt;h1&gt; - &lt;h6&gt;),logo or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icon,authorship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information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&lt;footer&gt; element defines a footer for a document or section. Examples-authorship information, copyright information, contact information, sitemap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&lt;nav&gt; element defines a set of navigation links.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&lt;aside&gt; element defines some content aside from the content it is placed in (like a sidebar).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IN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90195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F6BFD-9E28-FF68-4FB5-C3DCC80AE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499330"/>
          </a:xfrm>
        </p:spPr>
        <p:txBody>
          <a:bodyPr>
            <a:noAutofit/>
          </a:bodyPr>
          <a:lstStyle/>
          <a:p>
            <a:pPr algn="ctr"/>
            <a:r>
              <a:rPr lang="en-IN" sz="4000" b="1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 and inline elements</a:t>
            </a:r>
            <a:endParaRPr lang="en-IN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98669-DC86-52C4-5D0F-AB4121F3FA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9466"/>
            <a:ext cx="12192000" cy="5489575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HTML element has a default display value, depending on what type of element it is. The two most common display values are block and inline.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Block-level Elements: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block-level element always starts on a new line, and the browsers automatically add some space (a margin) before and after the element.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block-level element always takes up the full width available (stretches out to the left and right as far as it can).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commonly used block elements are: &lt;p&gt; and &lt;div&gt;.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&lt;p&gt; element defines a paragraph in an HTML document.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&lt;div&gt; element defines a division or a section in an HTML document.</a:t>
            </a:r>
          </a:p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Hello World</a:t>
            </a:r>
            <a:r>
              <a:rPr lang="en-US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/p</a:t>
            </a:r>
            <a:r>
              <a:rPr lang="en-US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en-US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Hello World</a:t>
            </a:r>
            <a:r>
              <a:rPr lang="en-US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/div</a:t>
            </a:r>
            <a:r>
              <a:rPr lang="en-US" b="0" i="0" dirty="0">
                <a:solidFill>
                  <a:srgbClr val="0000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91062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98C94-83B4-D9EB-5C80-831B92DC9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514769"/>
          </a:xfrm>
        </p:spPr>
        <p:txBody>
          <a:bodyPr>
            <a:noAutofit/>
          </a:bodyPr>
          <a:lstStyle/>
          <a:p>
            <a:pPr algn="ctr"/>
            <a:r>
              <a:rPr kumimoji="0" lang="en-IN" sz="4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Block and inline elements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8C8BF-20C8-D546-3DC0-B8F89CEE0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93972"/>
            <a:ext cx="12192000" cy="4351338"/>
          </a:xfrm>
        </p:spPr>
        <p:txBody>
          <a:bodyPr/>
          <a:lstStyle/>
          <a:p>
            <a:pPr algn="l">
              <a:spcBef>
                <a:spcPts val="750"/>
              </a:spcBef>
              <a:spcAft>
                <a:spcPts val="750"/>
              </a:spcAft>
              <a:buFont typeface="Wingdings" panose="05000000000000000000" pitchFamily="2" charset="2"/>
              <a:buChar char="v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Inline Elements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inline element does not start on a new line.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inline element only takes up as much width as necessary.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dirty="0"/>
              <a:t>&lt;p&gt;This is &lt;span style="</a:t>
            </a:r>
            <a:r>
              <a:rPr lang="en-US" dirty="0" err="1"/>
              <a:t>color:red</a:t>
            </a:r>
            <a:r>
              <a:rPr lang="en-US" dirty="0"/>
              <a:t>;"&gt;inline&lt;/span&gt; text.&lt;/p&gt;</a:t>
            </a:r>
          </a:p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dirty="0"/>
              <a:t>The word </a:t>
            </a:r>
            <a:r>
              <a:rPr lang="en-US" b="1" dirty="0"/>
              <a:t>"inline"</a:t>
            </a:r>
            <a:r>
              <a:rPr lang="en-US" dirty="0"/>
              <a:t> is colored red but stays within the same line as the rest of the sentence.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42727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53165-8F2C-FEB6-6937-4C72FC56A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8480"/>
            <a:ext cx="10515600" cy="608269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en-IN" sz="4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Block and inline elements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C6FAE-B5CF-B815-C271-6505FA2F3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4678" y="776749"/>
            <a:ext cx="10515600" cy="4351338"/>
          </a:xfrm>
        </p:spPr>
        <p:txBody>
          <a:bodyPr/>
          <a:lstStyle/>
          <a:p>
            <a:pPr marL="0" indent="0">
              <a:lnSpc>
                <a:spcPts val="1425"/>
              </a:lnSpc>
              <a:buNone/>
            </a:pPr>
            <a:endParaRPr lang="en-US" b="0" dirty="0"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&lt;nav&gt;Home | About | Contact&lt;/nav&gt;</a:t>
            </a:r>
          </a:p>
          <a:p>
            <a:pPr marL="0" indent="0">
              <a:lnSpc>
                <a:spcPts val="1425"/>
              </a:lnSpc>
              <a:buNone/>
            </a:pPr>
            <a:endParaRPr lang="en-US" b="0" dirty="0"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&lt;header&gt;Welcome to My Website&lt;/header&gt;</a:t>
            </a:r>
          </a:p>
          <a:p>
            <a:pPr marL="0" indent="0">
              <a:lnSpc>
                <a:spcPts val="1425"/>
              </a:lnSpc>
              <a:buNone/>
            </a:pPr>
            <a:endParaRPr lang="en-US" b="0" dirty="0"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&lt;footer&gt;© 2025 My Website&lt;/footer&gt;</a:t>
            </a:r>
          </a:p>
          <a:p>
            <a:pPr marL="0" indent="0">
              <a:lnSpc>
                <a:spcPts val="1425"/>
              </a:lnSpc>
              <a:buNone/>
            </a:pPr>
            <a:endParaRPr lang="en-US" b="0" dirty="0"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&lt;p&gt;This is &lt;span style="color: red;"&gt;a span</a:t>
            </a:r>
          </a:p>
          <a:p>
            <a:pPr marL="0" indent="0">
              <a:lnSpc>
                <a:spcPts val="14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 element&lt;/span&gt; inside a paragraph.&lt;/p&gt;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B0E5A4-EDC6-0945-5F09-E3615ADDE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547" y="3937880"/>
            <a:ext cx="7178662" cy="179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0345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2C5B6-2722-1F7F-D3FE-457C840C5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751"/>
            <a:ext cx="10515600" cy="618286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b="1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Hyperlinks</a:t>
            </a:r>
            <a:endParaRPr lang="en-IN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7BACF3F-91C1-DF46-CB9C-C90B259081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012954"/>
            <a:ext cx="11963531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Hyperlinks (&lt;a&gt; tag) are used to link pages, external websites, sections within 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page, emails, and more.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Hyperlink Syntax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&lt;a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="https://www.google.com"&gt;Visit Google&lt;/a&gt;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Specifies the URL. Clicking on "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Visit Google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 will open Google.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 to Another Page in the Same Website syntax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&lt;a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="about.html"&gt;About Us&lt;/a&gt;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Links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about.html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(another page in the same directory).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72165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A9B00-CFD6-C53C-A2A9-0C726FD5E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514769"/>
          </a:xfrm>
        </p:spPr>
        <p:txBody>
          <a:bodyPr>
            <a:noAutofit/>
          </a:bodyPr>
          <a:lstStyle/>
          <a:p>
            <a:pPr algn="ctr"/>
            <a:r>
              <a:rPr kumimoji="0" lang="en-IN" sz="4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Hyperlinks</a:t>
            </a:r>
            <a:endParaRPr lang="en-IN" sz="40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0CB15B-28A2-9173-6549-A4653142F10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0" y="858838"/>
            <a:ext cx="12192000" cy="59729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&lt;!DOCTYPE html&gt;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&lt;html lang="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"&gt;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&lt;head&gt;   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&lt;meta charset="UTF-8"&gt;  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&lt;title&gt;Hyperlink Examples&lt;/title&gt;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&lt;/head&gt;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&lt;body&gt;   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&lt;h1&gt;Hyperlink Examples&lt;/h1&gt;  &lt;p&gt;&lt;a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="https://www.google.com" target="_blank"&gt;Open Google in a new tab&lt;/a&gt;&lt;/p&gt;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&lt;/body&gt;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&lt;/html&gt;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38088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36760-F4E1-B090-68E4-5D8975F0D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662782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400" b="1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Lists</a:t>
            </a:r>
            <a:endParaRPr lang="en-IN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34739-570C-65ED-C468-006CE5724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11225"/>
            <a:ext cx="121920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lists allow web developers to group a set of related items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lists:Ordered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unordered lists.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Unordered HTML List-An unordered list starts with the &lt;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tag. Each list item starts with the &lt;li&gt; tag.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B49E77-AE9E-F27C-FEAB-2BAE805720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00" y="3086894"/>
            <a:ext cx="11628000" cy="3106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5200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B6ED8-1FD2-491A-8AA9-98E1C8E10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844387"/>
          </a:xfrm>
        </p:spPr>
        <p:txBody>
          <a:bodyPr/>
          <a:lstStyle/>
          <a:p>
            <a:pPr algn="ctr"/>
            <a:r>
              <a:rPr kumimoji="0" lang="en-IN" sz="4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Lists continued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6172B-F88A-0387-D40C-3D275780D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62642"/>
            <a:ext cx="121920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Ordered HTML List-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ordered list starts with the &lt;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 tag. Each list item starts with the &lt;li&gt; tag</a:t>
            </a:r>
            <a:endParaRPr lang="en-IN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95ACD3-6E40-35A3-7764-7EC023EC6E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00" y="2119420"/>
            <a:ext cx="11052000" cy="309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4267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EFDB2-428A-48A1-8F03-B4AB8189B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662782"/>
          </a:xfrm>
        </p:spPr>
        <p:txBody>
          <a:bodyPr>
            <a:normAutofit/>
          </a:bodyPr>
          <a:lstStyle/>
          <a:p>
            <a:pPr algn="ctr"/>
            <a:r>
              <a:rPr lang="en-IN" sz="4000" b="1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Tables</a:t>
            </a:r>
            <a:endParaRPr lang="en-IN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41327-70F2-B684-8CDB-1FA2CE969E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93972"/>
            <a:ext cx="121920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tables allow web developers to arrange data into rows and columns-A ta</a:t>
            </a: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HTML consists of table cells inside rows and columns.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509DB3-1C66-CDBD-55B4-69AE5CCB28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66797"/>
            <a:ext cx="12192000" cy="27659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1F1AD1-0D5B-D9A0-1941-EDF5FEBBE0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1783" y="4755422"/>
            <a:ext cx="5166808" cy="165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771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D8675-9660-41BD-9BD6-262FD75AF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982" y="20068"/>
            <a:ext cx="10515600" cy="660969"/>
          </a:xfrm>
        </p:spPr>
        <p:txBody>
          <a:bodyPr>
            <a:normAutofit/>
          </a:bodyPr>
          <a:lstStyle/>
          <a:p>
            <a:pPr algn="ctr"/>
            <a:r>
              <a:rPr kumimoji="0" lang="en-IN" sz="4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Tables continued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995D056-27AE-B0D0-8675-E081C4421F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" y="482727"/>
            <a:ext cx="12192000" cy="147214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88872" rIns="0" bIns="8887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Table Cells-Each table cell is defined by a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&lt;td&gt;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 a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&lt;/td&gt;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tag.</a:t>
            </a:r>
          </a:p>
          <a:p>
            <a:pPr>
              <a:lnSpc>
                <a:spcPct val="100000"/>
              </a:lnSpc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td stands for table data. Everything between &lt;td&gt; and &lt;/td&gt; are the content of the table cell.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2DC6E6-33A1-3316-CB93-3FA42745E0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17527"/>
            <a:ext cx="12192000" cy="373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7680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BD92C-DCE1-45F4-667B-66FABE3C4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480264"/>
          </a:xfrm>
        </p:spPr>
        <p:txBody>
          <a:bodyPr>
            <a:noAutofit/>
          </a:bodyPr>
          <a:lstStyle/>
          <a:p>
            <a:pPr algn="ctr"/>
            <a:r>
              <a:rPr kumimoji="0" lang="en-IN" sz="4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Tables continued</a:t>
            </a:r>
            <a:endParaRPr lang="en-IN" sz="4000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26C54-5FA6-2F9F-1267-F74CDE097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11225"/>
            <a:ext cx="121920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Rows-Each table row starts with a &lt;tr&gt; and ends with a &lt;/tr&gt; tag. tr stands for table row.</a:t>
            </a: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7D28C0-DD06-6BA9-B76C-C13DA59724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23270"/>
            <a:ext cx="12192000" cy="377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4959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33CED-AE91-F68F-13D6-73A2941C4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39056"/>
          </a:xfrm>
        </p:spPr>
        <p:txBody>
          <a:bodyPr/>
          <a:lstStyle/>
          <a:p>
            <a:pPr algn="ctr"/>
            <a:r>
              <a:rPr kumimoji="0" lang="en-IN" sz="4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Tables continued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2C394-28C0-9C9C-9F0D-5D80AD0CB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7489"/>
            <a:ext cx="121920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Headers- To make 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cells to be table header cells. In those cases use the &lt;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tag instead of the &lt;td&gt; tag.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stands for table header.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329DC6-4F64-CF26-3ED2-F3BB5779C1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66611"/>
            <a:ext cx="12192000" cy="397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9103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8FBF2-022B-3D96-A572-AD299D869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662782"/>
          </a:xfrm>
        </p:spPr>
        <p:txBody>
          <a:bodyPr>
            <a:normAutofit/>
          </a:bodyPr>
          <a:lstStyle/>
          <a:p>
            <a:pPr algn="ctr"/>
            <a:r>
              <a:rPr lang="en-IN" sz="4000" b="1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Forms</a:t>
            </a:r>
            <a:endParaRPr lang="en-IN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93515-802E-834F-DDBE-055EB346E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45730"/>
            <a:ext cx="121920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HTML form is used to collect user input. The user input is most often sent to a server for processing.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E81541-EA6F-063A-8B5D-DCE24E6532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82728"/>
            <a:ext cx="12192000" cy="3214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1151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9C2F2-FCE5-A802-3997-D4E3DD7E9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061" y="0"/>
            <a:ext cx="10515600" cy="53202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a Basic Multi-Page Website</a:t>
            </a:r>
            <a:endParaRPr lang="en-IN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8E8E6-453B-C90D-F467-D94C76D4A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93973"/>
            <a:ext cx="121920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Home Page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About Page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Contact Page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Navigation Menu</a:t>
            </a:r>
          </a:p>
          <a:p>
            <a:pPr>
              <a:buFont typeface="Wingdings" panose="05000000000000000000" pitchFamily="2" charset="2"/>
              <a:buChar char="v"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Home Page (index.html)</a:t>
            </a:r>
          </a:p>
          <a:p>
            <a:pPr>
              <a:buFont typeface="Wingdings" panose="05000000000000000000" pitchFamily="2" charset="2"/>
              <a:buChar char="v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5A7D021-AE7A-069A-895D-0AB2716B13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3"/>
          <a:stretch/>
        </p:blipFill>
        <p:spPr>
          <a:xfrm>
            <a:off x="4158053" y="1612689"/>
            <a:ext cx="7868608" cy="52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8610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AA636-D8F1-176D-206E-D185A3A1A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80988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Creating a Basic Multi-Page Website</a:t>
            </a:r>
            <a:endParaRPr lang="en-IN" sz="4000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91E469F-D426-1A22-BAC3-13AF043050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8000" y="1194296"/>
            <a:ext cx="7416000" cy="5389168"/>
          </a:xfrm>
        </p:spPr>
      </p:pic>
    </p:spTree>
    <p:extLst>
      <p:ext uri="{BB962C8B-B14F-4D97-AF65-F5344CB8AC3E}">
        <p14:creationId xmlns:p14="http://schemas.microsoft.com/office/powerpoint/2010/main" val="5081395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8B422-1A89-50C9-0BF3-A5FDDCF7A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93" y="18256"/>
            <a:ext cx="10515600" cy="662782"/>
          </a:xfrm>
        </p:spPr>
        <p:txBody>
          <a:bodyPr/>
          <a:lstStyle/>
          <a:p>
            <a:pPr algn="ctr"/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Creating a Basic Multi-Page Website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CD6FB-F5E5-5B3B-CCF3-859D2951DA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9467"/>
            <a:ext cx="121920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About Page (about.html)</a:t>
            </a: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E21908-035E-70DE-A7AA-5899D886B3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378"/>
          <a:stretch/>
        </p:blipFill>
        <p:spPr>
          <a:xfrm>
            <a:off x="0" y="1570403"/>
            <a:ext cx="6264000" cy="4299836"/>
          </a:xfrm>
          <a:prstGeom prst="rect">
            <a:avLst/>
          </a:prstGeo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C028E3EE-C78A-3571-F338-3DA636DC82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4" r="15421"/>
          <a:stretch/>
        </p:blipFill>
        <p:spPr>
          <a:xfrm>
            <a:off x="6432000" y="1570403"/>
            <a:ext cx="5760000" cy="4323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1923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E0935-F7BD-33C0-2497-587199C93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5785" y="18255"/>
            <a:ext cx="10515600" cy="662782"/>
          </a:xfrm>
        </p:spPr>
        <p:txBody>
          <a:bodyPr/>
          <a:lstStyle/>
          <a:p>
            <a:pPr algn="ctr"/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Creating a Basic Multi-Page Website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268F-8616-2284-5DF1-97861E4B7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80236"/>
            <a:ext cx="121920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Contact Page (contact.html) 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160E16-ABFD-3CBD-0DB5-7EE94A2239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1385" y="1152765"/>
            <a:ext cx="7020000" cy="5409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7804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CE3B8-3253-F480-609B-995C10AD0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970" y="18256"/>
            <a:ext cx="10515600" cy="662782"/>
          </a:xfrm>
        </p:spPr>
        <p:txBody>
          <a:bodyPr/>
          <a:lstStyle/>
          <a:p>
            <a:pPr algn="ctr"/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Creating a Basic Multi-Page Website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DFA0B6-1C87-1BF4-CF61-E15119C8F1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8007" y="935744"/>
            <a:ext cx="6762508" cy="5904000"/>
          </a:xfrm>
        </p:spPr>
      </p:pic>
    </p:spTree>
    <p:extLst>
      <p:ext uri="{BB962C8B-B14F-4D97-AF65-F5344CB8AC3E}">
        <p14:creationId xmlns:p14="http://schemas.microsoft.com/office/powerpoint/2010/main" val="9118726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F5925-D1F7-02DA-E717-022AFE8F6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662782"/>
          </a:xfrm>
        </p:spPr>
        <p:txBody>
          <a:bodyPr/>
          <a:lstStyle/>
          <a:p>
            <a:pPr algn="ctr"/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 Creating a Basic Multi-Page Website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5E86B-4111-63C8-0044-DC20E46BE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28477"/>
            <a:ext cx="121920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File (styles.css)</a:t>
            </a:r>
          </a:p>
          <a:p>
            <a:pPr>
              <a:buFont typeface="Wingdings" panose="05000000000000000000" pitchFamily="2" charset="2"/>
              <a:buChar char="v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E56678-BD34-4C80-DB52-A2AFCBF76B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862" y="1578185"/>
            <a:ext cx="3024000" cy="52416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699658B-162B-4D23-DC29-BE0DB5A781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3389" y="1578185"/>
            <a:ext cx="3744000" cy="44748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12E4038-518D-1BF5-0322-E7BB8C1E85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0642" y="827604"/>
            <a:ext cx="2815496" cy="59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5953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EC84B-D15D-E3D5-4389-5971E8947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256" y="835742"/>
            <a:ext cx="10515600" cy="681037"/>
          </a:xfrm>
        </p:spPr>
        <p:txBody>
          <a:bodyPr/>
          <a:lstStyle/>
          <a:p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TASK-Creating a Basic Multi-Page Website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186EE-7237-0C50-81FF-36C9D2154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09134"/>
            <a:ext cx="12192000" cy="3436175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the Website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all the files in a folder(Home.html,About.html,Contact.html,stles.css)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index.html in a web browser.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the navigation links to switch between pages.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226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40CBA-327A-4C9F-CAA7-CCB5FAEE1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Task OUTPUT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B662C7-63B2-5C27-B815-2CC8853175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240649" cy="4351338"/>
          </a:xfrm>
        </p:spPr>
      </p:pic>
    </p:spTree>
    <p:extLst>
      <p:ext uri="{BB962C8B-B14F-4D97-AF65-F5344CB8AC3E}">
        <p14:creationId xmlns:p14="http://schemas.microsoft.com/office/powerpoint/2010/main" val="27958608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C17DD-8DBE-5CAC-48D0-13EBDECF2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Task to create multi-Page website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3A95D5-56A0-4D55-2403-147DCF374C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3519981"/>
          </a:xfrm>
        </p:spPr>
      </p:pic>
    </p:spTree>
    <p:extLst>
      <p:ext uri="{BB962C8B-B14F-4D97-AF65-F5344CB8AC3E}">
        <p14:creationId xmlns:p14="http://schemas.microsoft.com/office/powerpoint/2010/main" val="42871319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DB9EA-9BB1-B6A7-E56B-BAB5FD95F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Task to create multi-Page website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8C32D0-E86B-D483-95A6-C7313F4AB2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78685"/>
            <a:ext cx="10515600" cy="4344473"/>
          </a:xfrm>
        </p:spPr>
      </p:pic>
    </p:spTree>
    <p:extLst>
      <p:ext uri="{BB962C8B-B14F-4D97-AF65-F5344CB8AC3E}">
        <p14:creationId xmlns:p14="http://schemas.microsoft.com/office/powerpoint/2010/main" val="6002554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B2495-E504-8A62-EC75-25421010C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81037"/>
          </a:xfrm>
        </p:spPr>
        <p:txBody>
          <a:bodyPr>
            <a:normAutofit/>
          </a:bodyPr>
          <a:lstStyle/>
          <a:p>
            <a:pPr algn="ctr"/>
            <a:r>
              <a:rPr lang="en-IN" sz="4000" b="1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Cascading effect</a:t>
            </a:r>
            <a:endParaRPr lang="en-IN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C7348-A1BD-C65D-063A-F437F5175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34037"/>
            <a:ext cx="12335774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Cascading in HTML -The term "Cascading" in Cascading Style Sheets (CSS) refers to how styles are applied to elements based on priority rules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0004C7-26F0-BB62-1A4A-EC3403C46F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4000" y="1672625"/>
            <a:ext cx="8064000" cy="4901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50236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50F58-F9A0-C9BC-28FE-A10F7D9E6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988" y="18256"/>
            <a:ext cx="7926238" cy="662782"/>
          </a:xfrm>
        </p:spPr>
        <p:txBody>
          <a:bodyPr>
            <a:normAutofit/>
          </a:bodyPr>
          <a:lstStyle/>
          <a:p>
            <a:pPr algn="ctr"/>
            <a:r>
              <a:rPr lang="en-IN" sz="4000" b="1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CSS Resets</a:t>
            </a:r>
            <a:endParaRPr lang="en-IN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CE941-5C02-D62C-893B-A24B1C82D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24961"/>
            <a:ext cx="12192000" cy="5731114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resets are used to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default browser styling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(like margins, paddings, font sizes, and heading styles) to create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baseline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different browsers. Each browser applies default styles differently, which can cause inconsistencies in the web design.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CSS Reset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For 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reset (small projects).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margin: 0;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padding: 0; 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box-sizing: 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border-box;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where, margin: 0; padding: 0; → removes default spacing.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box-sizing: border-box; → makes width calculations easier.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874009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322EB-E8B7-CBC9-81F5-B28D9527A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662782"/>
          </a:xfrm>
        </p:spPr>
        <p:txBody>
          <a:bodyPr/>
          <a:lstStyle/>
          <a:p>
            <a:pPr algn="ctr"/>
            <a:r>
              <a:rPr kumimoji="0" lang="en-IN" sz="4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CSS Resets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9BE03-49C0-970D-CA5E-B1CCFBFEB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52" y="1768274"/>
            <a:ext cx="5417389" cy="38930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dirty="0"/>
              <a:t>html, body, div, span, applet, object, </a:t>
            </a:r>
            <a:r>
              <a:rPr lang="en-IN" sz="1800" dirty="0" err="1"/>
              <a:t>iframe</a:t>
            </a:r>
            <a:r>
              <a:rPr lang="en-IN" sz="1800" dirty="0"/>
              <a:t>, h1, h2, h3, h4, h5, h6, p, blockquote, pre, a, </a:t>
            </a:r>
            <a:r>
              <a:rPr lang="en-IN" sz="1800" dirty="0" err="1"/>
              <a:t>abbr</a:t>
            </a:r>
            <a:r>
              <a:rPr lang="en-IN" sz="1800" dirty="0"/>
              <a:t>, acronym, address, big, cite, code, del, </a:t>
            </a:r>
            <a:r>
              <a:rPr lang="en-IN" sz="1800" dirty="0" err="1"/>
              <a:t>dfn</a:t>
            </a:r>
            <a:r>
              <a:rPr lang="en-IN" sz="1800" dirty="0"/>
              <a:t>, </a:t>
            </a:r>
            <a:r>
              <a:rPr lang="en-IN" sz="1800" dirty="0" err="1"/>
              <a:t>em</a:t>
            </a:r>
            <a:r>
              <a:rPr lang="en-IN" sz="1800" dirty="0"/>
              <a:t>, </a:t>
            </a:r>
            <a:r>
              <a:rPr lang="en-IN" sz="1800" dirty="0" err="1"/>
              <a:t>img</a:t>
            </a:r>
            <a:r>
              <a:rPr lang="en-IN" sz="1800" dirty="0"/>
              <a:t>, ins, </a:t>
            </a:r>
            <a:r>
              <a:rPr lang="en-IN" sz="1800" dirty="0" err="1"/>
              <a:t>kbd</a:t>
            </a:r>
            <a:r>
              <a:rPr lang="en-IN" sz="1800" dirty="0"/>
              <a:t>, q, s, samp, small, strike, strong, sub, sup, </a:t>
            </a:r>
            <a:r>
              <a:rPr lang="en-IN" sz="1800" dirty="0" err="1"/>
              <a:t>tt</a:t>
            </a:r>
            <a:r>
              <a:rPr lang="en-IN" sz="1800" dirty="0"/>
              <a:t>, var, b, u, </a:t>
            </a:r>
            <a:r>
              <a:rPr lang="en-IN" sz="1800" dirty="0" err="1"/>
              <a:t>i</a:t>
            </a:r>
            <a:r>
              <a:rPr lang="en-IN" sz="1800" dirty="0"/>
              <a:t>, </a:t>
            </a:r>
            <a:r>
              <a:rPr lang="en-IN" sz="1800" dirty="0" err="1"/>
              <a:t>center</a:t>
            </a:r>
            <a:r>
              <a:rPr lang="en-IN" sz="1800" dirty="0"/>
              <a:t>, dl, dt, dd, </a:t>
            </a:r>
            <a:r>
              <a:rPr lang="en-IN" sz="1800" dirty="0" err="1"/>
              <a:t>ol</a:t>
            </a:r>
            <a:r>
              <a:rPr lang="en-IN" sz="1800" dirty="0"/>
              <a:t>, </a:t>
            </a:r>
            <a:r>
              <a:rPr lang="en-IN" sz="1800" dirty="0" err="1"/>
              <a:t>ul</a:t>
            </a:r>
            <a:r>
              <a:rPr lang="en-IN" sz="1800" dirty="0"/>
              <a:t>, li, </a:t>
            </a:r>
            <a:r>
              <a:rPr lang="en-IN" sz="1800" dirty="0" err="1"/>
              <a:t>fieldset</a:t>
            </a:r>
            <a:r>
              <a:rPr lang="en-IN" sz="1800" dirty="0"/>
              <a:t>, form, label, legend, table, caption, </a:t>
            </a:r>
            <a:r>
              <a:rPr lang="en-IN" sz="1800" dirty="0" err="1"/>
              <a:t>tbody</a:t>
            </a:r>
            <a:r>
              <a:rPr lang="en-IN" sz="1800" dirty="0"/>
              <a:t>, </a:t>
            </a:r>
            <a:r>
              <a:rPr lang="en-IN" sz="1800" dirty="0" err="1"/>
              <a:t>tfoot</a:t>
            </a:r>
            <a:r>
              <a:rPr lang="en-IN" sz="1800" dirty="0"/>
              <a:t>, </a:t>
            </a:r>
            <a:r>
              <a:rPr lang="en-IN" sz="1800" dirty="0" err="1"/>
              <a:t>thead</a:t>
            </a:r>
            <a:r>
              <a:rPr lang="en-IN" sz="1800" dirty="0"/>
              <a:t>, tr, </a:t>
            </a:r>
            <a:r>
              <a:rPr lang="en-IN" sz="1800" dirty="0" err="1"/>
              <a:t>th</a:t>
            </a:r>
            <a:r>
              <a:rPr lang="en-IN" sz="1800" dirty="0"/>
              <a:t>, td, article, aside, canvas, details, embed, figure, </a:t>
            </a:r>
            <a:r>
              <a:rPr lang="en-IN" sz="1800" dirty="0" err="1"/>
              <a:t>figcaption</a:t>
            </a:r>
            <a:r>
              <a:rPr lang="en-IN" sz="1800" dirty="0"/>
              <a:t>, footer, header, </a:t>
            </a:r>
            <a:r>
              <a:rPr lang="en-IN" sz="1800" dirty="0" err="1"/>
              <a:t>hgroup</a:t>
            </a:r>
            <a:r>
              <a:rPr lang="en-IN" sz="1800" dirty="0"/>
              <a:t>, menu, nav, output, ruby, section, summary, time, mark, audio, video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margin: 0; 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padding: 0; 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border: 0; 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font-size: 100%; 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font: inherit; </a:t>
            </a:r>
          </a:p>
          <a:p>
            <a:pPr marL="0" indent="0">
              <a:buNone/>
            </a:pPr>
            <a:r>
              <a:rPr lang="en-IN" sz="18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vertical-align: baseline; 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pPr marL="0" indent="0">
              <a:buNone/>
            </a:pP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D2FA94E-65AE-F878-7C17-C9847C87AB8E}"/>
              </a:ext>
            </a:extLst>
          </p:cNvPr>
          <p:cNvSpPr txBox="1">
            <a:spLocks/>
          </p:cNvSpPr>
          <p:nvPr/>
        </p:nvSpPr>
        <p:spPr>
          <a:xfrm>
            <a:off x="5745194" y="1768274"/>
            <a:ext cx="6590580" cy="51090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 Set default styles */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body { 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IN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line-height: 1;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list-style: none;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}table { 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border-collapse: collapse; 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border-spacing: 0;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360BD1-6F67-623A-3333-55F0DBBF037A}"/>
              </a:ext>
            </a:extLst>
          </p:cNvPr>
          <p:cNvSpPr txBox="1"/>
          <p:nvPr/>
        </p:nvSpPr>
        <p:spPr>
          <a:xfrm>
            <a:off x="-163902" y="900344"/>
            <a:ext cx="12499676" cy="86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Eric Meyer’s CSS Reset</a:t>
            </a: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</a:t>
            </a: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Resets almost all elements</a:t>
            </a: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Removes list bullets, table spacing, and border styling, Normalizes font and vertical alignment.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E259A6-12B3-BBE0-4AD1-1BFD4B144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5780" y="2044115"/>
            <a:ext cx="3623731" cy="19520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8C099C2-3070-62CD-8A43-1F6043934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0422" y="4272025"/>
            <a:ext cx="3587343" cy="21769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B15FB3A-E104-5AE0-1ECF-37FF8C126F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5473" y="4029194"/>
            <a:ext cx="3147695" cy="1928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225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B0C5E-207C-E38D-B6DA-46A5DD710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662782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en-IN" sz="4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CSS Resets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7C0C6-1FB4-21A1-A994-9C2F8082E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93972"/>
            <a:ext cx="12192000" cy="934828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Custom Modern Reset: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minimal but effective reset. Keeps a clean layout while maintaining readability. Useful for modern web designs.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862850-01DC-E7B6-F644-CB1BEDEEAFD7}"/>
              </a:ext>
            </a:extLst>
          </p:cNvPr>
          <p:cNvSpPr txBox="1"/>
          <p:nvPr/>
        </p:nvSpPr>
        <p:spPr>
          <a:xfrm>
            <a:off x="0" y="1955470"/>
            <a:ext cx="615926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margin: 0;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padding: 0;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box-sizing: border-box;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body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font-family: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Arial, sans-serif;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line-height: 1.6; </a:t>
            </a:r>
          </a:p>
          <a:p>
            <a:r>
              <a:rPr lang="en-IN" sz="28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28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: #333;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68A4FA-6190-D0EB-E5B1-67749F333A3B}"/>
              </a:ext>
            </a:extLst>
          </p:cNvPr>
          <p:cNvSpPr txBox="1"/>
          <p:nvPr/>
        </p:nvSpPr>
        <p:spPr>
          <a:xfrm>
            <a:off x="5654615" y="1955470"/>
            <a:ext cx="616788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background-</a:t>
            </a:r>
            <a:r>
              <a:rPr kumimoji="0" lang="en-I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: #f8f9fa;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}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{ text-decoration: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none;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}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ul</a:t>
            </a: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I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ol</a:t>
            </a: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list-style: none;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5076371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A9B82-B573-0610-CD69-96D00B0A0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662782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400" b="1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Positioning</a:t>
            </a:r>
            <a:endParaRPr lang="en-IN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23BE8-DF56-1C60-4E1B-6F5702B90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11224"/>
            <a:ext cx="12192000" cy="612793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positioning helps in setting the element/object on a desired location of your choice.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Addition to it, we can add different values with it to make it more reliable and attractive.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five main position values: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(default)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Relative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Absolute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Sticky</a:t>
            </a:r>
          </a:p>
        </p:txBody>
      </p:sp>
    </p:spTree>
    <p:extLst>
      <p:ext uri="{BB962C8B-B14F-4D97-AF65-F5344CB8AC3E}">
        <p14:creationId xmlns:p14="http://schemas.microsoft.com/office/powerpoint/2010/main" val="21260580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FCEFC-1595-59DD-B215-5910DFAC5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00E45-1627-AC7E-0FB7-A1976B389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662782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400" b="1" i="0" u="none" strike="noStrike" baseline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Positioning</a:t>
            </a:r>
            <a:endParaRPr lang="en-IN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315DE-F421-9A5C-0F37-321AB8AA6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11224"/>
            <a:ext cx="12192000" cy="612793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Position (Default)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 Positioning: Every element in HTML has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default position of static unless specified otherwise.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of the Document: Elements with position: static; are positioned according to the normal document flow.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follow the order they appear in the HTML.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Offset Properties: When an element is set to static, the properties top, right, bottom, and left do not apply. Any values set for these properties will be ignored.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 {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position: static;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4864DC-26F0-A14E-5B74-F6E6D9532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0603" y="18256"/>
            <a:ext cx="1900184" cy="2576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7609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0BF8C-F176-9545-7D83-19C29A7C0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662782"/>
          </a:xfrm>
        </p:spPr>
        <p:txBody>
          <a:bodyPr/>
          <a:lstStyle/>
          <a:p>
            <a:pPr algn="ctr"/>
            <a:r>
              <a:rPr kumimoji="0" lang="en-IN" sz="4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Positioning continued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156D6-56A4-86D2-41FB-72045E389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11224"/>
            <a:ext cx="12192000" cy="594677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Relative Position-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element is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positioned relative to its original position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move top, left, right, bottom , </a:t>
            </a:r>
            <a:r>
              <a:rPr lang="en-US" dirty="0"/>
              <a:t>while still maintaining its allocated space in the document flow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.box {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position: relative;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left: 50px; /* Moves right by 50px */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top: 20px; /* Moves down by 20px */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F75B4F-1C04-980A-A075-6C6058E32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9741" y="3540775"/>
            <a:ext cx="2622259" cy="30370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8645F4-7196-71D5-1F8F-ACDBD60D60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0469" y="3744362"/>
            <a:ext cx="3275714" cy="2629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01059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00D66-36A2-0AF2-70F5-4C1D4B846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15164-990E-9D60-E16E-369289391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662782"/>
          </a:xfrm>
        </p:spPr>
        <p:txBody>
          <a:bodyPr/>
          <a:lstStyle/>
          <a:p>
            <a:pPr algn="ctr"/>
            <a:r>
              <a:rPr kumimoji="0" lang="en-IN" sz="4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Positioning continued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0D05D-8D90-5D97-A99A-33718193D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11224"/>
            <a:ext cx="12192000" cy="5946775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Absolute Position-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means the element is removed from the normal flow of the page and placed exactly where you want it, using top, left, right, or bottom.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positioned relative to the nearest positioned ancestor (an element with position: relative;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absolute;fixed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or sticky;). 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no positioned ancestor exists, it will be placed relative to the entire page (&lt;html&gt; or &lt;body&gt;).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placed anywhere inside a parent container.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C2C2CC-7034-68CA-3498-2BB3B00BE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8056" y="3884611"/>
            <a:ext cx="4663944" cy="2918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59658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3281E-A739-3472-302B-C139A7535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981" y="0"/>
            <a:ext cx="10515600" cy="681037"/>
          </a:xfrm>
        </p:spPr>
        <p:txBody>
          <a:bodyPr/>
          <a:lstStyle/>
          <a:p>
            <a:pPr algn="ctr"/>
            <a:r>
              <a:rPr kumimoji="0" lang="en-IN" sz="4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Positioning continued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2AFB6-3E5F-E63C-C836-B0A9A9418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28478"/>
            <a:ext cx="12192000" cy="59295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div.relative</a:t>
            </a:r>
            <a:r>
              <a:rPr lang="en-IN" sz="28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IN" sz="28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en-IN" sz="28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  position</a:t>
            </a:r>
            <a:r>
              <a:rPr lang="en-IN" sz="2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28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 relative</a:t>
            </a:r>
            <a:r>
              <a:rPr lang="en-IN" sz="2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N" sz="28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en-IN" sz="28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  width</a:t>
            </a:r>
            <a:r>
              <a:rPr lang="en-IN" sz="2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28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 400px</a:t>
            </a:r>
            <a:r>
              <a:rPr lang="en-IN" sz="2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N" sz="28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en-IN" sz="28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  height</a:t>
            </a:r>
            <a:r>
              <a:rPr lang="en-IN" sz="2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28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 200px</a:t>
            </a:r>
            <a:r>
              <a:rPr lang="en-IN" sz="2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N" sz="28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en-IN" sz="28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  border</a:t>
            </a:r>
            <a:r>
              <a:rPr lang="en-IN" sz="2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28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 3px solid #73AD21</a:t>
            </a:r>
            <a:r>
              <a:rPr lang="en-IN" sz="2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N" sz="28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en-IN" sz="2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IN" sz="2800" dirty="0"/>
            </a:br>
            <a:br>
              <a:rPr lang="en-IN" sz="2800" dirty="0"/>
            </a:br>
            <a:r>
              <a:rPr lang="en-IN" sz="2800" b="0" i="0" dirty="0" err="1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div.absolute</a:t>
            </a:r>
            <a:r>
              <a:rPr lang="en-IN" sz="28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2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IN" sz="28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en-IN" sz="28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  position</a:t>
            </a:r>
            <a:r>
              <a:rPr lang="en-IN" sz="2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28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 absolute</a:t>
            </a:r>
            <a:r>
              <a:rPr lang="en-IN" sz="2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N" sz="28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en-IN" sz="28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  top</a:t>
            </a:r>
            <a:r>
              <a:rPr lang="en-IN" sz="2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28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 80px</a:t>
            </a:r>
            <a:r>
              <a:rPr lang="en-IN" sz="2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N" sz="28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en-IN" sz="28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  right</a:t>
            </a:r>
            <a:r>
              <a:rPr lang="en-IN" sz="2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28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 0</a:t>
            </a:r>
            <a:r>
              <a:rPr lang="en-IN" sz="2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N" sz="28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en-IN" sz="28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  width</a:t>
            </a:r>
            <a:r>
              <a:rPr lang="en-IN" sz="2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28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 200px</a:t>
            </a:r>
            <a:r>
              <a:rPr lang="en-IN" sz="2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N" sz="28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en-IN" sz="28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  height</a:t>
            </a:r>
            <a:r>
              <a:rPr lang="en-IN" sz="2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28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 100px</a:t>
            </a:r>
            <a:r>
              <a:rPr lang="en-IN" sz="2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N" sz="28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en-IN" sz="28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  border</a:t>
            </a:r>
            <a:r>
              <a:rPr lang="en-IN" sz="2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28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 3px solid #73AD21</a:t>
            </a:r>
            <a:r>
              <a:rPr lang="en-IN" sz="2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N" sz="2800" b="0" i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</a:br>
            <a:r>
              <a:rPr lang="en-IN" sz="28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429074-2161-AC64-6F93-CFED0E504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58" y="2563549"/>
            <a:ext cx="5261275" cy="2726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97726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7ADA4-F870-7057-033A-C05539B2D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81037"/>
          </a:xfrm>
        </p:spPr>
        <p:txBody>
          <a:bodyPr/>
          <a:lstStyle/>
          <a:p>
            <a:pPr algn="ctr"/>
            <a:r>
              <a:rPr kumimoji="0" lang="en-IN" sz="4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Positioning continued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90B2A-C776-D021-7BC0-B019D247B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45731"/>
            <a:ext cx="6282813" cy="3911404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Position-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staying fixed even when scrolling. Always stays in the same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place.Useful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navigation bars, floating buttons, etc.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.fixed-nav {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position: fixed;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top: 0;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width: 100%;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background: black;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color: white;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padding: 10px;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>
              <a:buFont typeface="Wingdings" panose="05000000000000000000" pitchFamily="2" charset="2"/>
              <a:buChar char="v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106329-5BE7-6F52-471B-7646ACD93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148" y="2326157"/>
            <a:ext cx="7905401" cy="4005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5079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8F2E7-6D40-FD45-481B-BF4F07C8A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662782"/>
          </a:xfrm>
        </p:spPr>
        <p:txBody>
          <a:bodyPr/>
          <a:lstStyle/>
          <a:p>
            <a:pPr algn="ctr"/>
            <a:r>
              <a:rPr kumimoji="0" lang="en-IN" sz="4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Positioning continued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030D9-1F97-648C-4BED-C17145410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76719"/>
            <a:ext cx="12192000" cy="5041002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Sticky Position-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element acts like relative until scrolling reaches a certain point, then sticks like fixed. Great for sticky headers or sidebars. Only works if parent has enough height.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.sticky-header {</a:t>
            </a:r>
          </a:p>
          <a:p>
            <a:pPr marL="0" indent="0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position: sticky;</a:t>
            </a:r>
          </a:p>
          <a:p>
            <a:pPr marL="0" indent="0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top: 0;</a:t>
            </a:r>
          </a:p>
          <a:p>
            <a:pPr marL="0" indent="0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background: yellow;</a:t>
            </a:r>
          </a:p>
          <a:p>
            <a:pPr marL="0" indent="0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padding: 10px;</a:t>
            </a:r>
          </a:p>
          <a:p>
            <a:pPr marL="0" indent="0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B5218E-717E-3375-2999-DD2F2C7F0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3978" y="2853872"/>
            <a:ext cx="3501542" cy="306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79174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73FFC-FCAF-00A1-E851-00D21EFA8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6DA3E-0D0C-E522-C17D-DBE03B8709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799" y="1253331"/>
            <a:ext cx="10786533" cy="5384536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en-IN" b="1" dirty="0">
                <a:latin typeface="Courier New" pitchFamily="49" charset="0"/>
                <a:ea typeface="Verdana" pitchFamily="34" charset="0"/>
                <a:cs typeface="Courier New" pitchFamily="49" charset="0"/>
              </a:rPr>
              <a:t>You have been assigned to design a simple webpage for a local bakery called "Sweet Treats." The webpage should include the following:</a:t>
            </a:r>
          </a:p>
          <a:p>
            <a:pPr marL="360363" indent="-360363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IN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A title header displaying the bakery name "Sweet Treats" at the top of the page.</a:t>
            </a:r>
          </a:p>
          <a:p>
            <a:pPr marL="360363" indent="-360363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IN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A short introduction about the bakery with a paragraph describing the specialties.</a:t>
            </a:r>
          </a:p>
          <a:p>
            <a:pPr marL="360363" indent="-360363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IN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A list of three popular bakery items with prices.</a:t>
            </a:r>
          </a:p>
          <a:p>
            <a:pPr marL="360363" indent="-360363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IN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An image of the bakery or its products (you can use a placeholder image).</a:t>
            </a:r>
          </a:p>
          <a:p>
            <a:pPr marL="360363" indent="-360363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IN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A footer with the text "Visit Us Today!" and the bakery's location.</a:t>
            </a:r>
          </a:p>
          <a:p>
            <a:pPr marL="360363" indent="-360363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IN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The webpage should be designed using basic HTML tags like headings, paragraphs, lists, images, and a footer. Apply simple CSS for styling the page to make it visually appealing.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Requirements</a:t>
            </a:r>
            <a:r>
              <a:rPr lang="en-IN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:</a:t>
            </a:r>
          </a:p>
          <a:p>
            <a:pPr marL="360363" indent="-360363" algn="just">
              <a:buFont typeface="Wingdings" pitchFamily="2" charset="2"/>
              <a:buChar char="§"/>
            </a:pPr>
            <a:r>
              <a:rPr lang="en-IN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The page should have a clean layout with a pleasant background </a:t>
            </a:r>
            <a:r>
              <a:rPr lang="en-IN" dirty="0" err="1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color</a:t>
            </a:r>
            <a:r>
              <a:rPr lang="en-IN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.</a:t>
            </a:r>
          </a:p>
          <a:p>
            <a:pPr marL="360363" indent="-360363" algn="just">
              <a:buFont typeface="Wingdings" pitchFamily="2" charset="2"/>
              <a:buChar char="§"/>
            </a:pPr>
            <a:r>
              <a:rPr lang="en-IN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The title should be large and </a:t>
            </a:r>
            <a:r>
              <a:rPr lang="en-IN" dirty="0" err="1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centered</a:t>
            </a:r>
            <a:r>
              <a:rPr lang="en-IN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.</a:t>
            </a:r>
          </a:p>
          <a:p>
            <a:pPr marL="360363" indent="-360363" algn="just">
              <a:buFont typeface="Wingdings" pitchFamily="2" charset="2"/>
              <a:buChar char="§"/>
            </a:pPr>
            <a:r>
              <a:rPr lang="en-IN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The introduction text should be smaller and aligned to the left.</a:t>
            </a:r>
          </a:p>
          <a:p>
            <a:pPr marL="360363" indent="-360363" algn="just">
              <a:buFont typeface="Wingdings" pitchFamily="2" charset="2"/>
              <a:buChar char="§"/>
            </a:pPr>
            <a:r>
              <a:rPr lang="en-IN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The list of bakery items should have a neat design with item names and prices.</a:t>
            </a:r>
          </a:p>
          <a:p>
            <a:pPr marL="360363" indent="-360363" algn="just">
              <a:buFont typeface="Wingdings" pitchFamily="2" charset="2"/>
              <a:buChar char="§"/>
            </a:pPr>
            <a:r>
              <a:rPr lang="en-IN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The footer text should be </a:t>
            </a:r>
            <a:r>
              <a:rPr lang="en-IN" dirty="0" err="1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centered</a:t>
            </a:r>
            <a:r>
              <a:rPr lang="en-IN" dirty="0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 at the bottom of the page.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40066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63833-A561-916A-600A-1F3164282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TASK OUTPUT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6CB6723-49B3-77D9-8FC7-BAFD50D3514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370433" y="1825624"/>
            <a:ext cx="8476300" cy="4896909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53348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1205</TotalTime>
  <Words>4242</Words>
  <Application>Microsoft Office PowerPoint</Application>
  <PresentationFormat>Widescreen</PresentationFormat>
  <Paragraphs>501</Paragraphs>
  <Slides>58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8" baseType="lpstr">
      <vt:lpstr>Arial</vt:lpstr>
      <vt:lpstr>Calibri</vt:lpstr>
      <vt:lpstr>Calibri Light</vt:lpstr>
      <vt:lpstr>Cambria</vt:lpstr>
      <vt:lpstr>Consolas</vt:lpstr>
      <vt:lpstr>Courier New</vt:lpstr>
      <vt:lpstr>Segoe UI</vt:lpstr>
      <vt:lpstr>Times New Roman</vt:lpstr>
      <vt:lpstr>Wingdings</vt:lpstr>
      <vt:lpstr>Office Theme</vt:lpstr>
      <vt:lpstr>Dayananda Sagar University</vt:lpstr>
      <vt:lpstr>Syllabus</vt:lpstr>
      <vt:lpstr>WHAT IS HTML</vt:lpstr>
      <vt:lpstr> HTML syntax </vt:lpstr>
      <vt:lpstr> HTML elements </vt:lpstr>
      <vt:lpstr> HTML document structure </vt:lpstr>
      <vt:lpstr>CSS selectors and advanced</vt:lpstr>
      <vt:lpstr>CSS selectors continued</vt:lpstr>
      <vt:lpstr>CSS selectors continued</vt:lpstr>
      <vt:lpstr>CSS selectors continued</vt:lpstr>
      <vt:lpstr>PowerPoint Presentation</vt:lpstr>
      <vt:lpstr>PowerPoint Presentation</vt:lpstr>
      <vt:lpstr>PowerPoint Presentation</vt:lpstr>
      <vt:lpstr>HTML Properties and Values</vt:lpstr>
      <vt:lpstr>Build your first web page</vt:lpstr>
      <vt:lpstr>Build your first web page</vt:lpstr>
      <vt:lpstr>PowerPoint Presentation</vt:lpstr>
      <vt:lpstr>Build your first web page continued</vt:lpstr>
      <vt:lpstr> Build your first web page continued </vt:lpstr>
      <vt:lpstr>Semantics of HTML</vt:lpstr>
      <vt:lpstr>Semantics of HTML</vt:lpstr>
      <vt:lpstr>Semantics of HTML</vt:lpstr>
      <vt:lpstr>Semantics of HTML continued</vt:lpstr>
      <vt:lpstr>Block and inline elements</vt:lpstr>
      <vt:lpstr>Block and inline elements</vt:lpstr>
      <vt:lpstr>Block and inline elements</vt:lpstr>
      <vt:lpstr>Hyperlinks</vt:lpstr>
      <vt:lpstr>Hyperlinks</vt:lpstr>
      <vt:lpstr>Lists</vt:lpstr>
      <vt:lpstr>Lists continued</vt:lpstr>
      <vt:lpstr>Tables</vt:lpstr>
      <vt:lpstr>Tables continued</vt:lpstr>
      <vt:lpstr>Tables continued</vt:lpstr>
      <vt:lpstr>Tables continued</vt:lpstr>
      <vt:lpstr>Forms</vt:lpstr>
      <vt:lpstr>Creating a Basic Multi-Page Website</vt:lpstr>
      <vt:lpstr>     Creating a Basic Multi-Page Website</vt:lpstr>
      <vt:lpstr>Creating a Basic Multi-Page Website</vt:lpstr>
      <vt:lpstr>Creating a Basic Multi-Page Website</vt:lpstr>
      <vt:lpstr>   Creating a Basic Multi-Page Website</vt:lpstr>
      <vt:lpstr>      Creating a Basic Multi-Page Website</vt:lpstr>
      <vt:lpstr>TASK-Creating a Basic Multi-Page Website</vt:lpstr>
      <vt:lpstr>Task OUTPUT</vt:lpstr>
      <vt:lpstr>Task to create multi-Page website</vt:lpstr>
      <vt:lpstr>Task to create multi-Page website</vt:lpstr>
      <vt:lpstr>Cascading effect</vt:lpstr>
      <vt:lpstr>CSS Resets</vt:lpstr>
      <vt:lpstr>CSS Resets</vt:lpstr>
      <vt:lpstr>CSS Resets</vt:lpstr>
      <vt:lpstr>Positioning</vt:lpstr>
      <vt:lpstr>Positioning</vt:lpstr>
      <vt:lpstr>Positioning continued</vt:lpstr>
      <vt:lpstr>Positioning continued</vt:lpstr>
      <vt:lpstr>Positioning continued</vt:lpstr>
      <vt:lpstr>Positioning continued</vt:lpstr>
      <vt:lpstr>Positioning continued</vt:lpstr>
      <vt:lpstr>TASK</vt:lpstr>
      <vt:lpstr>TASK OUTPUT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Venkata Kanaka Raja Rajeswari Satuluri</dc:creator>
  <cp:lastModifiedBy>Sugandha Saxena</cp:lastModifiedBy>
  <cp:revision>45</cp:revision>
  <dcterms:created xsi:type="dcterms:W3CDTF">2025-01-30T03:26:50Z</dcterms:created>
  <dcterms:modified xsi:type="dcterms:W3CDTF">2025-02-25T06:33:32Z</dcterms:modified>
</cp:coreProperties>
</file>